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9"/>
  </p:notesMasterIdLst>
  <p:sldIdLst>
    <p:sldId id="256" r:id="rId2"/>
    <p:sldId id="257" r:id="rId3"/>
    <p:sldId id="258" r:id="rId4"/>
    <p:sldId id="461" r:id="rId5"/>
    <p:sldId id="460" r:id="rId6"/>
    <p:sldId id="459" r:id="rId7"/>
    <p:sldId id="463" r:id="rId8"/>
    <p:sldId id="259" r:id="rId9"/>
    <p:sldId id="260" r:id="rId10"/>
    <p:sldId id="465" r:id="rId11"/>
    <p:sldId id="261" r:id="rId12"/>
    <p:sldId id="262" r:id="rId13"/>
    <p:sldId id="263" r:id="rId14"/>
    <p:sldId id="264" r:id="rId15"/>
    <p:sldId id="265" r:id="rId16"/>
    <p:sldId id="266" r:id="rId17"/>
    <p:sldId id="464" r:id="rId18"/>
    <p:sldId id="267" r:id="rId19"/>
    <p:sldId id="268" r:id="rId20"/>
    <p:sldId id="269" r:id="rId21"/>
    <p:sldId id="503" r:id="rId22"/>
    <p:sldId id="270" r:id="rId23"/>
    <p:sldId id="271" r:id="rId24"/>
    <p:sldId id="272" r:id="rId25"/>
    <p:sldId id="273" r:id="rId26"/>
    <p:sldId id="274" r:id="rId27"/>
    <p:sldId id="275" r:id="rId28"/>
    <p:sldId id="276" r:id="rId29"/>
    <p:sldId id="277" r:id="rId30"/>
    <p:sldId id="498"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466" r:id="rId47"/>
    <p:sldId id="293" r:id="rId48"/>
    <p:sldId id="294" r:id="rId49"/>
    <p:sldId id="467" r:id="rId50"/>
    <p:sldId id="295" r:id="rId51"/>
    <p:sldId id="502" r:id="rId52"/>
    <p:sldId id="296" r:id="rId53"/>
    <p:sldId id="297" r:id="rId54"/>
    <p:sldId id="496" r:id="rId55"/>
    <p:sldId id="298" r:id="rId56"/>
    <p:sldId id="299" r:id="rId57"/>
    <p:sldId id="300" r:id="rId58"/>
    <p:sldId id="468" r:id="rId59"/>
    <p:sldId id="301" r:id="rId60"/>
    <p:sldId id="302" r:id="rId61"/>
    <p:sldId id="303" r:id="rId62"/>
    <p:sldId id="304" r:id="rId63"/>
    <p:sldId id="305" r:id="rId64"/>
    <p:sldId id="306" r:id="rId65"/>
    <p:sldId id="307" r:id="rId66"/>
    <p:sldId id="309" r:id="rId67"/>
    <p:sldId id="308" r:id="rId68"/>
    <p:sldId id="310" r:id="rId69"/>
    <p:sldId id="486" r:id="rId70"/>
    <p:sldId id="311" r:id="rId71"/>
    <p:sldId id="312" r:id="rId72"/>
    <p:sldId id="313" r:id="rId73"/>
    <p:sldId id="314" r:id="rId74"/>
    <p:sldId id="469" r:id="rId75"/>
    <p:sldId id="315" r:id="rId76"/>
    <p:sldId id="316" r:id="rId77"/>
    <p:sldId id="470" r:id="rId78"/>
    <p:sldId id="317" r:id="rId79"/>
    <p:sldId id="318" r:id="rId80"/>
    <p:sldId id="471" r:id="rId81"/>
    <p:sldId id="319" r:id="rId82"/>
    <p:sldId id="320" r:id="rId83"/>
    <p:sldId id="472" r:id="rId84"/>
    <p:sldId id="321" r:id="rId85"/>
    <p:sldId id="322" r:id="rId86"/>
    <p:sldId id="473" r:id="rId87"/>
    <p:sldId id="323" r:id="rId88"/>
    <p:sldId id="324" r:id="rId89"/>
    <p:sldId id="325" r:id="rId90"/>
    <p:sldId id="326" r:id="rId91"/>
    <p:sldId id="327" r:id="rId92"/>
    <p:sldId id="328" r:id="rId93"/>
    <p:sldId id="329" r:id="rId94"/>
    <p:sldId id="330" r:id="rId95"/>
    <p:sldId id="331" r:id="rId96"/>
    <p:sldId id="332" r:id="rId97"/>
    <p:sldId id="333" r:id="rId98"/>
    <p:sldId id="487" r:id="rId99"/>
    <p:sldId id="334" r:id="rId100"/>
    <p:sldId id="335" r:id="rId101"/>
    <p:sldId id="336" r:id="rId102"/>
    <p:sldId id="337" r:id="rId103"/>
    <p:sldId id="488" r:id="rId104"/>
    <p:sldId id="338" r:id="rId105"/>
    <p:sldId id="339" r:id="rId106"/>
    <p:sldId id="481" r:id="rId107"/>
    <p:sldId id="482" r:id="rId108"/>
    <p:sldId id="480" r:id="rId109"/>
    <p:sldId id="340" r:id="rId110"/>
    <p:sldId id="341" r:id="rId111"/>
    <p:sldId id="342" r:id="rId112"/>
    <p:sldId id="343" r:id="rId113"/>
    <p:sldId id="479" r:id="rId114"/>
    <p:sldId id="478" r:id="rId115"/>
    <p:sldId id="344" r:id="rId116"/>
    <p:sldId id="345" r:id="rId117"/>
    <p:sldId id="346" r:id="rId118"/>
    <p:sldId id="347" r:id="rId119"/>
    <p:sldId id="348" r:id="rId120"/>
    <p:sldId id="349" r:id="rId121"/>
    <p:sldId id="350" r:id="rId122"/>
    <p:sldId id="351" r:id="rId123"/>
    <p:sldId id="352" r:id="rId124"/>
    <p:sldId id="353" r:id="rId125"/>
    <p:sldId id="354" r:id="rId126"/>
    <p:sldId id="355" r:id="rId127"/>
    <p:sldId id="356" r:id="rId128"/>
    <p:sldId id="357" r:id="rId129"/>
    <p:sldId id="494" r:id="rId130"/>
    <p:sldId id="358" r:id="rId131"/>
    <p:sldId id="360" r:id="rId132"/>
    <p:sldId id="495" r:id="rId133"/>
    <p:sldId id="359" r:id="rId134"/>
    <p:sldId id="361" r:id="rId135"/>
    <p:sldId id="474" r:id="rId136"/>
    <p:sldId id="362" r:id="rId137"/>
    <p:sldId id="363" r:id="rId138"/>
    <p:sldId id="364" r:id="rId139"/>
    <p:sldId id="365" r:id="rId140"/>
    <p:sldId id="475" r:id="rId141"/>
    <p:sldId id="367" r:id="rId142"/>
    <p:sldId id="368" r:id="rId143"/>
    <p:sldId id="369" r:id="rId144"/>
    <p:sldId id="370" r:id="rId145"/>
    <p:sldId id="371" r:id="rId146"/>
    <p:sldId id="372" r:id="rId147"/>
    <p:sldId id="483" r:id="rId148"/>
    <p:sldId id="373" r:id="rId149"/>
    <p:sldId id="374" r:id="rId150"/>
    <p:sldId id="375" r:id="rId151"/>
    <p:sldId id="376" r:id="rId152"/>
    <p:sldId id="377" r:id="rId153"/>
    <p:sldId id="477" r:id="rId154"/>
    <p:sldId id="378" r:id="rId155"/>
    <p:sldId id="379" r:id="rId156"/>
    <p:sldId id="380" r:id="rId157"/>
    <p:sldId id="381" r:id="rId158"/>
    <p:sldId id="382" r:id="rId159"/>
    <p:sldId id="476" r:id="rId160"/>
    <p:sldId id="383" r:id="rId161"/>
    <p:sldId id="384" r:id="rId162"/>
    <p:sldId id="385" r:id="rId163"/>
    <p:sldId id="386" r:id="rId164"/>
    <p:sldId id="387" r:id="rId165"/>
    <p:sldId id="388" r:id="rId166"/>
    <p:sldId id="389" r:id="rId167"/>
    <p:sldId id="390" r:id="rId168"/>
    <p:sldId id="485" r:id="rId169"/>
    <p:sldId id="391" r:id="rId170"/>
    <p:sldId id="497" r:id="rId171"/>
    <p:sldId id="392" r:id="rId172"/>
    <p:sldId id="393" r:id="rId173"/>
    <p:sldId id="394" r:id="rId174"/>
    <p:sldId id="396" r:id="rId175"/>
    <p:sldId id="397" r:id="rId176"/>
    <p:sldId id="504" r:id="rId177"/>
    <p:sldId id="505" r:id="rId178"/>
    <p:sldId id="506" r:id="rId179"/>
    <p:sldId id="398" r:id="rId180"/>
    <p:sldId id="399" r:id="rId181"/>
    <p:sldId id="400" r:id="rId182"/>
    <p:sldId id="401" r:id="rId183"/>
    <p:sldId id="402" r:id="rId184"/>
    <p:sldId id="403" r:id="rId185"/>
    <p:sldId id="404" r:id="rId186"/>
    <p:sldId id="405" r:id="rId187"/>
    <p:sldId id="406" r:id="rId188"/>
    <p:sldId id="407" r:id="rId189"/>
    <p:sldId id="408" r:id="rId190"/>
    <p:sldId id="409" r:id="rId191"/>
    <p:sldId id="491" r:id="rId192"/>
    <p:sldId id="410" r:id="rId193"/>
    <p:sldId id="411" r:id="rId194"/>
    <p:sldId id="492" r:id="rId195"/>
    <p:sldId id="493" r:id="rId196"/>
    <p:sldId id="412" r:id="rId197"/>
    <p:sldId id="413" r:id="rId198"/>
    <p:sldId id="414" r:id="rId199"/>
    <p:sldId id="501" r:id="rId200"/>
    <p:sldId id="415" r:id="rId201"/>
    <p:sldId id="416" r:id="rId202"/>
    <p:sldId id="417" r:id="rId203"/>
    <p:sldId id="418" r:id="rId204"/>
    <p:sldId id="419" r:id="rId205"/>
    <p:sldId id="489" r:id="rId206"/>
    <p:sldId id="420" r:id="rId207"/>
    <p:sldId id="421" r:id="rId208"/>
    <p:sldId id="422" r:id="rId209"/>
    <p:sldId id="423" r:id="rId210"/>
    <p:sldId id="490" r:id="rId211"/>
    <p:sldId id="424" r:id="rId212"/>
    <p:sldId id="425" r:id="rId213"/>
    <p:sldId id="426" r:id="rId214"/>
    <p:sldId id="427" r:id="rId215"/>
    <p:sldId id="428" r:id="rId216"/>
    <p:sldId id="429" r:id="rId217"/>
    <p:sldId id="430" r:id="rId218"/>
    <p:sldId id="434" r:id="rId219"/>
    <p:sldId id="431" r:id="rId220"/>
    <p:sldId id="435" r:id="rId221"/>
    <p:sldId id="432" r:id="rId222"/>
    <p:sldId id="436" r:id="rId223"/>
    <p:sldId id="437" r:id="rId224"/>
    <p:sldId id="438" r:id="rId225"/>
    <p:sldId id="439" r:id="rId226"/>
    <p:sldId id="440" r:id="rId227"/>
    <p:sldId id="484" r:id="rId228"/>
    <p:sldId id="441" r:id="rId229"/>
    <p:sldId id="442" r:id="rId230"/>
    <p:sldId id="443" r:id="rId231"/>
    <p:sldId id="444" r:id="rId232"/>
    <p:sldId id="445" r:id="rId233"/>
    <p:sldId id="446" r:id="rId234"/>
    <p:sldId id="447" r:id="rId235"/>
    <p:sldId id="448" r:id="rId236"/>
    <p:sldId id="449" r:id="rId237"/>
    <p:sldId id="450" r:id="rId238"/>
    <p:sldId id="451" r:id="rId239"/>
    <p:sldId id="452" r:id="rId240"/>
    <p:sldId id="453" r:id="rId241"/>
    <p:sldId id="454" r:id="rId242"/>
    <p:sldId id="455" r:id="rId243"/>
    <p:sldId id="456" r:id="rId244"/>
    <p:sldId id="457" r:id="rId245"/>
    <p:sldId id="458" r:id="rId246"/>
    <p:sldId id="500" r:id="rId247"/>
    <p:sldId id="499" r:id="rId2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28" autoAdjust="0"/>
    <p:restoredTop sz="94796" autoAdjust="0"/>
  </p:normalViewPr>
  <p:slideViewPr>
    <p:cSldViewPr snapToGrid="0">
      <p:cViewPr varScale="1">
        <p:scale>
          <a:sx n="68" d="100"/>
          <a:sy n="68" d="100"/>
        </p:scale>
        <p:origin x="900" y="4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presProps" Target="presProp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AD2BB5-7F33-452C-8D1E-6D72445438ED}" type="datetimeFigureOut">
              <a:rPr lang="en-US" smtClean="0"/>
              <a:t>7/27/2025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D07C0-C604-4274-A558-13916864F18D}" type="slidenum">
              <a:rPr lang="en-US" smtClean="0"/>
              <a:t>‹#›</a:t>
            </a:fld>
            <a:endParaRPr lang="en-US"/>
          </a:p>
        </p:txBody>
      </p:sp>
    </p:spTree>
    <p:extLst>
      <p:ext uri="{BB962C8B-B14F-4D97-AF65-F5344CB8AC3E}">
        <p14:creationId xmlns:p14="http://schemas.microsoft.com/office/powerpoint/2010/main" val="228588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a:t>
            </a:fld>
            <a:endParaRPr lang="en-US"/>
          </a:p>
        </p:txBody>
      </p:sp>
    </p:spTree>
    <p:extLst>
      <p:ext uri="{BB962C8B-B14F-4D97-AF65-F5344CB8AC3E}">
        <p14:creationId xmlns:p14="http://schemas.microsoft.com/office/powerpoint/2010/main" val="892765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Regulatory Sign</a:t>
            </a:r>
            <a:r>
              <a:rPr lang="en-US" dirty="0"/>
              <a:t>: These signs usually have a </a:t>
            </a:r>
            <a:r>
              <a:rPr lang="en-US" b="1" dirty="0"/>
              <a:t>white background</a:t>
            </a:r>
            <a:r>
              <a:rPr lang="en-US" dirty="0"/>
              <a:t> with </a:t>
            </a:r>
            <a:r>
              <a:rPr lang="en-US" b="1" dirty="0"/>
              <a:t>black symbols or text</a:t>
            </a:r>
            <a:r>
              <a:rPr lang="en-US" dirty="0"/>
              <a:t>, and they provide instructions that must be followed (e.g., speed limits, stop signs, etc.). They are not typically green.</a:t>
            </a:r>
          </a:p>
          <a:p>
            <a:r>
              <a:rPr lang="en-US" b="1" dirty="0"/>
              <a:t>Warning Sign</a:t>
            </a:r>
            <a:r>
              <a:rPr lang="en-US" dirty="0"/>
              <a:t>: These signs often have a </a:t>
            </a:r>
            <a:r>
              <a:rPr lang="en-US" b="1" dirty="0"/>
              <a:t>yellow or orange background</a:t>
            </a:r>
            <a:r>
              <a:rPr lang="en-US" dirty="0"/>
              <a:t> with </a:t>
            </a:r>
            <a:r>
              <a:rPr lang="en-US" b="1" dirty="0"/>
              <a:t>black symbols or text</a:t>
            </a:r>
            <a:r>
              <a:rPr lang="en-US" dirty="0"/>
              <a:t> to indicate potential hazards or unsafe conditions. They alert individuals to possible dangers or hazards.</a:t>
            </a:r>
          </a:p>
          <a:p>
            <a:r>
              <a:rPr lang="en-US" b="1" dirty="0"/>
              <a:t>Prohibition Sign</a:t>
            </a:r>
            <a:r>
              <a:rPr lang="en-US" dirty="0"/>
              <a:t>: These signs typically have a </a:t>
            </a:r>
            <a:r>
              <a:rPr lang="en-US" b="1" dirty="0"/>
              <a:t>red circle with a diagonal line</a:t>
            </a:r>
            <a:r>
              <a:rPr lang="en-US" dirty="0"/>
              <a:t> and a </a:t>
            </a:r>
            <a:r>
              <a:rPr lang="en-US" b="1" dirty="0"/>
              <a:t>black symbol or text</a:t>
            </a:r>
            <a:r>
              <a:rPr lang="en-US" dirty="0"/>
              <a:t> on a white background. They indicate actions that are not allowed (e.g., no smoking, no entry).</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3</a:t>
            </a:fld>
            <a:endParaRPr lang="en-US"/>
          </a:p>
        </p:txBody>
      </p:sp>
    </p:spTree>
    <p:extLst>
      <p:ext uri="{BB962C8B-B14F-4D97-AF65-F5344CB8AC3E}">
        <p14:creationId xmlns:p14="http://schemas.microsoft.com/office/powerpoint/2010/main" val="2413087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a:t>
            </a:fld>
            <a:endParaRPr lang="en-US"/>
          </a:p>
        </p:txBody>
      </p:sp>
    </p:spTree>
    <p:extLst>
      <p:ext uri="{BB962C8B-B14F-4D97-AF65-F5344CB8AC3E}">
        <p14:creationId xmlns:p14="http://schemas.microsoft.com/office/powerpoint/2010/main" val="2737801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PW=−P−A(P/A,i,n)+F(P/F,i,n)</a:t>
            </a:r>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20</a:t>
            </a:fld>
            <a:endParaRPr lang="en-US"/>
          </a:p>
        </p:txBody>
      </p:sp>
    </p:spTree>
    <p:extLst>
      <p:ext uri="{BB962C8B-B14F-4D97-AF65-F5344CB8AC3E}">
        <p14:creationId xmlns:p14="http://schemas.microsoft.com/office/powerpoint/2010/main" val="1040642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PW=−P−A(P/A,i,n)+F(P/F,i,n)</a:t>
            </a:r>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21</a:t>
            </a:fld>
            <a:endParaRPr lang="en-US"/>
          </a:p>
        </p:txBody>
      </p:sp>
    </p:spTree>
    <p:extLst>
      <p:ext uri="{BB962C8B-B14F-4D97-AF65-F5344CB8AC3E}">
        <p14:creationId xmlns:p14="http://schemas.microsoft.com/office/powerpoint/2010/main" val="2314422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marketing, </a:t>
            </a:r>
            <a:r>
              <a:rPr lang="en-US" b="1" dirty="0"/>
              <a:t>facilitating activities</a:t>
            </a:r>
            <a:r>
              <a:rPr lang="en-US" dirty="0"/>
              <a:t> are those that </a:t>
            </a:r>
            <a:r>
              <a:rPr lang="en-US" b="1" dirty="0"/>
              <a:t>support and enhance</a:t>
            </a:r>
            <a:r>
              <a:rPr lang="en-US" dirty="0"/>
              <a:t> the efficiency and effectiveness of other core marketing activities. These activities don't directly involve the exchange or physical distribution of the product but help to make these processes smoother, faster, and more effective.</a:t>
            </a:r>
          </a:p>
          <a:p>
            <a:endParaRPr lang="en-US" dirty="0"/>
          </a:p>
          <a:p>
            <a:r>
              <a:rPr lang="en-US" b="1" dirty="0"/>
              <a:t>Examples of Facilitating Activities:</a:t>
            </a:r>
          </a:p>
          <a:p>
            <a:r>
              <a:rPr lang="en-US" b="1" dirty="0"/>
              <a:t>Market Research</a:t>
            </a:r>
            <a:r>
              <a:rPr lang="en-US" dirty="0"/>
              <a:t>: Gathering data about consumer preferences, trends, and behaviors to guide decisions.</a:t>
            </a:r>
          </a:p>
          <a:p>
            <a:r>
              <a:rPr lang="en-US" b="1" dirty="0"/>
              <a:t>Financing</a:t>
            </a:r>
            <a:r>
              <a:rPr lang="en-US" dirty="0"/>
              <a:t>: Providing credit or financing options to customers or partners.</a:t>
            </a:r>
          </a:p>
          <a:p>
            <a:r>
              <a:rPr lang="en-US" b="1" dirty="0"/>
              <a:t>Advertising and Promotion</a:t>
            </a:r>
            <a:r>
              <a:rPr lang="en-US" dirty="0"/>
              <a:t>: Helping create awareness and demand, making transactions smoother.</a:t>
            </a:r>
          </a:p>
          <a:p>
            <a:r>
              <a:rPr lang="en-US" b="1" dirty="0"/>
              <a:t>Logistics Support</a:t>
            </a:r>
            <a:r>
              <a:rPr lang="en-US" dirty="0"/>
              <a:t>: Coordination to ensure timely delivery and availability of products.</a:t>
            </a:r>
          </a:p>
          <a:p>
            <a:r>
              <a:rPr lang="en-US" dirty="0"/>
              <a:t>These activities </a:t>
            </a:r>
            <a:r>
              <a:rPr lang="en-US" b="1" dirty="0"/>
              <a:t>facilitate</a:t>
            </a:r>
            <a:r>
              <a:rPr lang="en-US" dirty="0"/>
              <a:t> the core transactional and physical distribution activities by ensuring everything works more efficiently.</a:t>
            </a:r>
          </a:p>
          <a:p>
            <a:endParaRPr lang="en-US" dirty="0"/>
          </a:p>
          <a:p>
            <a:r>
              <a:rPr lang="en-US" b="1" dirty="0"/>
              <a:t>Why the Other Options Are Incorrect:</a:t>
            </a:r>
          </a:p>
          <a:p>
            <a:r>
              <a:rPr lang="en-US" b="1" dirty="0"/>
              <a:t>Transactional Activities</a:t>
            </a:r>
            <a:r>
              <a:rPr lang="en-US" dirty="0"/>
              <a:t>: These are directly involved with the </a:t>
            </a:r>
            <a:r>
              <a:rPr lang="en-US" b="1" dirty="0"/>
              <a:t>exchange process</a:t>
            </a:r>
            <a:r>
              <a:rPr lang="en-US" dirty="0"/>
              <a:t>, like buying and selling, negotiating prices, and transferring ownership. These activities focus on the transaction itself, not the support processes.</a:t>
            </a:r>
          </a:p>
          <a:p>
            <a:r>
              <a:rPr lang="en-US" b="1" dirty="0"/>
              <a:t>Physical Handling and Distribution of Products</a:t>
            </a:r>
            <a:r>
              <a:rPr lang="en-US" dirty="0"/>
              <a:t>: These involve the </a:t>
            </a:r>
            <a:r>
              <a:rPr lang="en-US" b="1" dirty="0"/>
              <a:t>actual movement</a:t>
            </a:r>
            <a:r>
              <a:rPr lang="en-US" dirty="0"/>
              <a:t> and </a:t>
            </a:r>
            <a:r>
              <a:rPr lang="en-US" b="1" dirty="0"/>
              <a:t>storage</a:t>
            </a:r>
            <a:r>
              <a:rPr lang="en-US" dirty="0"/>
              <a:t> of goods. This is a crucial marketing activity, but it's not classified as a facilitating activity. It's part of the </a:t>
            </a:r>
            <a:r>
              <a:rPr lang="en-US" b="1" dirty="0"/>
              <a:t>core</a:t>
            </a:r>
            <a:r>
              <a:rPr lang="en-US" dirty="0"/>
              <a:t> functions that help get the product to the consumer.</a:t>
            </a:r>
          </a:p>
          <a:p>
            <a:r>
              <a:rPr lang="en-US" b="1" dirty="0" err="1"/>
              <a:t>Agroservices</a:t>
            </a:r>
            <a:r>
              <a:rPr lang="en-US" b="1" dirty="0"/>
              <a:t> Activities</a:t>
            </a:r>
            <a:r>
              <a:rPr lang="en-US" dirty="0"/>
              <a:t>: These are specialized services provided to support agricultural practices, such as crop management, irrigation, or pest control. They are </a:t>
            </a:r>
            <a:r>
              <a:rPr lang="en-US" b="1" dirty="0"/>
              <a:t>service-oriented</a:t>
            </a:r>
            <a:r>
              <a:rPr lang="en-US" dirty="0"/>
              <a:t> but don't encompass the broader facilitating activities in marketing.</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24</a:t>
            </a:fld>
            <a:endParaRPr lang="en-US"/>
          </a:p>
        </p:txBody>
      </p:sp>
    </p:spTree>
    <p:extLst>
      <p:ext uri="{BB962C8B-B14F-4D97-AF65-F5344CB8AC3E}">
        <p14:creationId xmlns:p14="http://schemas.microsoft.com/office/powerpoint/2010/main" val="2781166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26</a:t>
            </a:fld>
            <a:endParaRPr lang="en-US"/>
          </a:p>
        </p:txBody>
      </p:sp>
    </p:spTree>
    <p:extLst>
      <p:ext uri="{BB962C8B-B14F-4D97-AF65-F5344CB8AC3E}">
        <p14:creationId xmlns:p14="http://schemas.microsoft.com/office/powerpoint/2010/main" val="370310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P1</a:t>
            </a:r>
            <a:r>
              <a:rPr lang="en-US" dirty="0"/>
              <a:t> </a:t>
            </a:r>
            <a:r>
              <a:rPr lang="pl-PL" dirty="0"/>
              <a:t>​=</a:t>
            </a:r>
            <a:r>
              <a:rPr lang="en-US" dirty="0"/>
              <a:t> </a:t>
            </a:r>
            <a:r>
              <a:rPr lang="pl-PL" dirty="0"/>
              <a:t>V1</a:t>
            </a:r>
            <a:r>
              <a:rPr lang="en-US" dirty="0"/>
              <a:t> </a:t>
            </a:r>
            <a:r>
              <a:rPr lang="pl-PL" dirty="0"/>
              <a:t>​×</a:t>
            </a:r>
            <a:r>
              <a:rPr lang="en-US" dirty="0"/>
              <a:t> </a:t>
            </a:r>
            <a:r>
              <a:rPr lang="pl-PL" dirty="0"/>
              <a:t>I1</a:t>
            </a:r>
            <a:r>
              <a:rPr lang="en-US" dirty="0"/>
              <a:t> </a:t>
            </a:r>
            <a:r>
              <a:rPr lang="pl-PL" dirty="0"/>
              <a:t>​=</a:t>
            </a:r>
            <a:r>
              <a:rPr lang="en-US" dirty="0"/>
              <a:t> </a:t>
            </a:r>
            <a:r>
              <a:rPr lang="pl-PL" dirty="0"/>
              <a:t>220</a:t>
            </a:r>
            <a:r>
              <a:rPr lang="en-US" dirty="0"/>
              <a:t> </a:t>
            </a:r>
            <a:r>
              <a:rPr lang="pl-PL" dirty="0"/>
              <a:t>V</a:t>
            </a:r>
            <a:r>
              <a:rPr lang="en-US" dirty="0"/>
              <a:t> </a:t>
            </a:r>
            <a:r>
              <a:rPr lang="pl-PL" dirty="0"/>
              <a:t>×</a:t>
            </a:r>
            <a:r>
              <a:rPr lang="en-US" dirty="0"/>
              <a:t> </a:t>
            </a:r>
            <a:r>
              <a:rPr lang="pl-PL" dirty="0"/>
              <a:t>4.8</a:t>
            </a:r>
            <a:r>
              <a:rPr lang="en-US" dirty="0"/>
              <a:t> </a:t>
            </a:r>
            <a:r>
              <a:rPr lang="pl-PL" dirty="0"/>
              <a:t>A</a:t>
            </a:r>
            <a:r>
              <a:rPr lang="en-US" dirty="0"/>
              <a:t> </a:t>
            </a:r>
            <a:r>
              <a:rPr lang="pl-PL" dirty="0"/>
              <a:t>=</a:t>
            </a:r>
            <a:r>
              <a:rPr lang="en-US" dirty="0"/>
              <a:t> </a:t>
            </a:r>
            <a:r>
              <a:rPr lang="pl-PL" dirty="0"/>
              <a:t>1056</a:t>
            </a:r>
            <a:r>
              <a:rPr lang="en-US" dirty="0"/>
              <a:t> </a:t>
            </a:r>
            <a:r>
              <a:rPr lang="pl-PL" dirty="0"/>
              <a:t>W</a:t>
            </a:r>
            <a:endParaRPr lang="en-US" dirty="0"/>
          </a:p>
          <a:p>
            <a:r>
              <a:rPr lang="en-US" dirty="0"/>
              <a:t>1056 W = 110 V × I2​</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28</a:t>
            </a:fld>
            <a:endParaRPr lang="en-US"/>
          </a:p>
        </p:txBody>
      </p:sp>
    </p:spTree>
    <p:extLst>
      <p:ext uri="{BB962C8B-B14F-4D97-AF65-F5344CB8AC3E}">
        <p14:creationId xmlns:p14="http://schemas.microsoft.com/office/powerpoint/2010/main" val="2009508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32</a:t>
            </a:fld>
            <a:endParaRPr lang="en-US"/>
          </a:p>
        </p:txBody>
      </p:sp>
    </p:spTree>
    <p:extLst>
      <p:ext uri="{BB962C8B-B14F-4D97-AF65-F5344CB8AC3E}">
        <p14:creationId xmlns:p14="http://schemas.microsoft.com/office/powerpoint/2010/main" val="2690004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Cetane number</a:t>
            </a:r>
            <a:r>
              <a:rPr lang="en-US" dirty="0"/>
              <a:t> is a measure of the ignition quality of diesel fuel. A </a:t>
            </a:r>
            <a:r>
              <a:rPr lang="en-US" b="1" dirty="0"/>
              <a:t>higher cetane number</a:t>
            </a:r>
            <a:r>
              <a:rPr lang="en-US" dirty="0"/>
              <a:t> means that the fuel ignites more easily, which is desirable for easier cold starts and smooth engine operation. On the other hand, </a:t>
            </a:r>
            <a:r>
              <a:rPr lang="en-US" b="1" dirty="0"/>
              <a:t>low cetane fuel</a:t>
            </a:r>
            <a:r>
              <a:rPr lang="en-US" dirty="0"/>
              <a:t> has poorer ignition quality and is harder to ignite, especially at lower temperatures. Therefore, </a:t>
            </a:r>
            <a:r>
              <a:rPr lang="en-US" b="1" dirty="0"/>
              <a:t>low cetane fuel</a:t>
            </a:r>
            <a:r>
              <a:rPr lang="en-US" dirty="0"/>
              <a:t> actually </a:t>
            </a:r>
            <a:r>
              <a:rPr lang="en-US" b="1" dirty="0"/>
              <a:t>requires higher temperatures</a:t>
            </a:r>
            <a:r>
              <a:rPr lang="en-US" dirty="0"/>
              <a:t> to start the engine effectively, rather than allowing it to start at lower temperatures.</a:t>
            </a:r>
          </a:p>
          <a:p>
            <a:endParaRPr lang="en-US" dirty="0"/>
          </a:p>
          <a:p>
            <a:r>
              <a:rPr lang="en-US" dirty="0"/>
              <a:t>Diesel fuels are heavier and less refined compared to gasoline and typically have a higher density. Diesel engines use this heavier fuel because it contains more energy per liter, which is suitable for combustion in high-compression engines.</a:t>
            </a:r>
          </a:p>
          <a:p>
            <a:endParaRPr lang="en-US" dirty="0"/>
          </a:p>
          <a:p>
            <a:r>
              <a:rPr lang="en-US" dirty="0"/>
              <a:t>Diesel knock occurs when there is a delay in ignition (ignition lag), causing an explosive detonation of unburned fuel in the combustion chamber. This can result in rough engine operation, often referred to as "knocking.“</a:t>
            </a:r>
          </a:p>
          <a:p>
            <a:endParaRPr lang="en-US" dirty="0"/>
          </a:p>
          <a:p>
            <a:r>
              <a:rPr lang="en-US" dirty="0"/>
              <a:t>The </a:t>
            </a:r>
            <a:r>
              <a:rPr lang="en-US" b="1" dirty="0"/>
              <a:t>pour point</a:t>
            </a:r>
            <a:r>
              <a:rPr lang="en-US" dirty="0"/>
              <a:t> is the lowest temperature at which a fuel will flow under standard testing conditions. This property is important for ensuring that fuel remains fluid in cold weather conditions, allowing it to flow and be pumped to the engine.</a:t>
            </a:r>
          </a:p>
        </p:txBody>
      </p:sp>
      <p:sp>
        <p:nvSpPr>
          <p:cNvPr id="4" name="Slide Number Placeholder 3"/>
          <p:cNvSpPr>
            <a:spLocks noGrp="1"/>
          </p:cNvSpPr>
          <p:nvPr>
            <p:ph type="sldNum" sz="quarter" idx="5"/>
          </p:nvPr>
        </p:nvSpPr>
        <p:spPr/>
        <p:txBody>
          <a:bodyPr/>
          <a:lstStyle/>
          <a:p>
            <a:fld id="{88FD07C0-C604-4274-A558-13916864F18D}" type="slidenum">
              <a:rPr lang="en-US" smtClean="0"/>
              <a:t>33</a:t>
            </a:fld>
            <a:endParaRPr lang="en-US"/>
          </a:p>
        </p:txBody>
      </p:sp>
    </p:spTree>
    <p:extLst>
      <p:ext uri="{BB962C8B-B14F-4D97-AF65-F5344CB8AC3E}">
        <p14:creationId xmlns:p14="http://schemas.microsoft.com/office/powerpoint/2010/main" val="1259293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ii. Formulation of the mission, vision, goals, objectives, and activities of the organization </a:t>
            </a:r>
            <a:r>
              <a:rPr lang="en-US" b="0" dirty="0"/>
              <a:t>(The </a:t>
            </a:r>
            <a:r>
              <a:rPr lang="en-US" dirty="0"/>
              <a:t>management process starts with setting the overall direction and purpose for the organization. This step involves defining the organization's mission and vision, establishing goals and objectives, and planning the activities that will help achieve these goals.)</a:t>
            </a:r>
          </a:p>
          <a:p>
            <a:endParaRPr lang="en-US" b="1" dirty="0"/>
          </a:p>
          <a:p>
            <a:r>
              <a:rPr lang="en-US" b="1" dirty="0" err="1"/>
              <a:t>i</a:t>
            </a:r>
            <a:r>
              <a:rPr lang="en-US" b="1" dirty="0"/>
              <a:t>. Selecting the right employees for the right position </a:t>
            </a:r>
            <a:r>
              <a:rPr lang="en-US" dirty="0"/>
              <a:t>(once the organization’s goals and objectives are set, the next step is to recruit and select the employees who will help achieve them. This involves ensuring that the right people are hired for the right roles based on their skills, qualifications, and fit with the organization's needs.)</a:t>
            </a:r>
          </a:p>
          <a:p>
            <a:endParaRPr lang="en-US" b="1" dirty="0"/>
          </a:p>
          <a:p>
            <a:r>
              <a:rPr lang="en-US" b="1" dirty="0"/>
              <a:t>v. Orientation of personnel for the proper achievement of goals </a:t>
            </a:r>
            <a:r>
              <a:rPr lang="en-US" dirty="0"/>
              <a:t>(once employees are hired, they need to be properly oriented to the organization. This involves familiarizing them with the organization’s culture, values, goals, and expectations so they can effectively contribute to achieving the objectives.)</a:t>
            </a:r>
          </a:p>
          <a:p>
            <a:endParaRPr lang="en-US" b="1" dirty="0"/>
          </a:p>
          <a:p>
            <a:r>
              <a:rPr lang="en-US" b="1" dirty="0"/>
              <a:t>iv. Coordinating the employees and material resources of the organization </a:t>
            </a:r>
            <a:r>
              <a:rPr lang="en-US" b="0" dirty="0"/>
              <a:t>(coordination </a:t>
            </a:r>
            <a:r>
              <a:rPr lang="en-US" dirty="0"/>
              <a:t>is the next step after orientation. Management must ensure that resources (both human and material) are aligned and utilized effectively in the pursuit of the organization's goals. This involves overseeing the activities and ensuring that everything runs smoothly, efficiently, and in alignment with the goals.)</a:t>
            </a:r>
          </a:p>
          <a:p>
            <a:endParaRPr lang="en-US" dirty="0"/>
          </a:p>
          <a:p>
            <a:r>
              <a:rPr lang="en-US" b="1" dirty="0"/>
              <a:t>iii. Conducting of annual performance evaluation of employees </a:t>
            </a:r>
            <a:r>
              <a:rPr lang="en-US" dirty="0"/>
              <a:t>(After coordinating and executing activities, it’s essential to evaluate employee performance to measure progress, provide feedback, and make necessary adjustments for future improvement.)</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35</a:t>
            </a:fld>
            <a:endParaRPr lang="en-US"/>
          </a:p>
        </p:txBody>
      </p:sp>
    </p:spTree>
    <p:extLst>
      <p:ext uri="{BB962C8B-B14F-4D97-AF65-F5344CB8AC3E}">
        <p14:creationId xmlns:p14="http://schemas.microsoft.com/office/powerpoint/2010/main" val="1676575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38</a:t>
            </a:fld>
            <a:endParaRPr lang="en-US"/>
          </a:p>
        </p:txBody>
      </p:sp>
    </p:spTree>
    <p:extLst>
      <p:ext uri="{BB962C8B-B14F-4D97-AF65-F5344CB8AC3E}">
        <p14:creationId xmlns:p14="http://schemas.microsoft.com/office/powerpoint/2010/main" val="1698111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economics, </a:t>
            </a:r>
            <a:r>
              <a:rPr lang="en-US" b="1" dirty="0"/>
              <a:t>inelastic demand</a:t>
            </a:r>
            <a:r>
              <a:rPr lang="en-US" dirty="0"/>
              <a:t> refers to a situation where the quantity demanded of a good does not significantly change in response to price changes. In contrast, </a:t>
            </a:r>
            <a:r>
              <a:rPr lang="en-US" b="1" dirty="0"/>
              <a:t>elastic demand</a:t>
            </a:r>
            <a:r>
              <a:rPr lang="en-US" dirty="0"/>
              <a:t> means that a small price change leads to a significant change in quantity demanded.</a:t>
            </a:r>
          </a:p>
          <a:p>
            <a:r>
              <a:rPr lang="en-US" dirty="0"/>
              <a:t>When bad weather reduces the supply of agricultural products (like crops), the supply curve shifts </a:t>
            </a:r>
            <a:r>
              <a:rPr lang="en-US" b="1" dirty="0"/>
              <a:t>leftward</a:t>
            </a:r>
            <a:r>
              <a:rPr lang="en-US" dirty="0"/>
              <a:t>, meaning the quantity available decreases. If the </a:t>
            </a:r>
            <a:r>
              <a:rPr lang="en-US" b="1" dirty="0"/>
              <a:t>demand is inelastic</a:t>
            </a:r>
            <a:r>
              <a:rPr lang="en-US" dirty="0"/>
              <a:t>, the quantity demanded does not decrease much in response to higher prices because consumers still need the product, even at higher prices.</a:t>
            </a:r>
          </a:p>
          <a:p>
            <a:endParaRPr lang="en-US" dirty="0"/>
          </a:p>
          <a:p>
            <a:r>
              <a:rPr lang="en-US" dirty="0"/>
              <a:t>As a result:</a:t>
            </a:r>
          </a:p>
          <a:p>
            <a:r>
              <a:rPr lang="en-US" b="1" dirty="0"/>
              <a:t>Prices rise</a:t>
            </a:r>
            <a:r>
              <a:rPr lang="en-US" dirty="0"/>
              <a:t> because of the decreased supply.</a:t>
            </a:r>
          </a:p>
          <a:p>
            <a:r>
              <a:rPr lang="en-US" b="1" dirty="0"/>
              <a:t>Revenues can increase</a:t>
            </a:r>
            <a:r>
              <a:rPr lang="en-US" dirty="0"/>
              <a:t> despite lower quantities being sold because the price increase compensates for the reduced supply.</a:t>
            </a:r>
          </a:p>
          <a:p>
            <a:endParaRPr lang="en-US" b="1" dirty="0"/>
          </a:p>
          <a:p>
            <a:r>
              <a:rPr lang="en-US" b="1" dirty="0"/>
              <a:t>Why the other options are not correct:</a:t>
            </a:r>
          </a:p>
          <a:p>
            <a:r>
              <a:rPr lang="en-US" b="1" dirty="0"/>
              <a:t>Demand is more elastic than supply</a:t>
            </a:r>
            <a:r>
              <a:rPr lang="en-US" dirty="0"/>
              <a:t>: If demand were elastic, the price increase from reduced supply would lead to a significant reduction in the quantity demanded. This would lower, rather than raise, revenues.</a:t>
            </a:r>
          </a:p>
          <a:p>
            <a:r>
              <a:rPr lang="en-US" b="1" dirty="0"/>
              <a:t>Supply is perfectly elastic</a:t>
            </a:r>
            <a:r>
              <a:rPr lang="en-US" dirty="0"/>
              <a:t>: This would mean that the quantity supplied can increase or decrease without affecting the price. However, agricultural supply is usually not perfectly elastic because it's affected by factors like weather and land limitations.</a:t>
            </a:r>
          </a:p>
          <a:p>
            <a:r>
              <a:rPr lang="en-US" b="1" dirty="0"/>
              <a:t>Supply is inelastic</a:t>
            </a:r>
            <a:r>
              <a:rPr lang="en-US" dirty="0"/>
              <a:t>: While it's true that agricultural supply can be inelastic (meaning it cannot quickly adjust to changes), the key factor in this case is </a:t>
            </a:r>
            <a:r>
              <a:rPr lang="en-US" b="1" dirty="0"/>
              <a:t>demand</a:t>
            </a:r>
            <a:r>
              <a:rPr lang="en-US" dirty="0"/>
              <a:t>, not supply. Supply being inelastic doesn't directly explain the higher revenues due to weather-related production issues.</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39</a:t>
            </a:fld>
            <a:endParaRPr lang="en-US"/>
          </a:p>
        </p:txBody>
      </p:sp>
    </p:spTree>
    <p:extLst>
      <p:ext uri="{BB962C8B-B14F-4D97-AF65-F5344CB8AC3E}">
        <p14:creationId xmlns:p14="http://schemas.microsoft.com/office/powerpoint/2010/main" val="4086151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m:rPr>
                              <m:nor/>
                            </m:rPr>
                            <a:rPr lang="en-US" dirty="0" smtClean="0"/>
                            <m:t>(0.3</m:t>
                          </m:r>
                          <m:r>
                            <m:rPr>
                              <m:nor/>
                            </m:rPr>
                            <a:rPr lang="en-US" b="0" i="0" dirty="0" smtClean="0"/>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𝑙𝑏</m:t>
                              </m:r>
                            </m:num>
                            <m:den>
                              <m:r>
                                <a:rPr lang="en-US" b="0" i="1" dirty="0" smtClean="0">
                                  <a:latin typeface="Cambria Math" panose="02040503050406030204" pitchFamily="18" charset="0"/>
                                </a:rPr>
                                <m:t>𝐵𝐻𝑃</m:t>
                              </m:r>
                              <m:r>
                                <a:rPr lang="en-US" b="0" i="1" dirty="0" smtClean="0">
                                  <a:latin typeface="Cambria Math" panose="02040503050406030204" pitchFamily="18" charset="0"/>
                                </a:rPr>
                                <m:t>−</m:t>
                              </m:r>
                              <m:r>
                                <a:rPr lang="en-US" b="0" i="1" dirty="0" smtClean="0">
                                  <a:latin typeface="Cambria Math" panose="02040503050406030204" pitchFamily="18" charset="0"/>
                                </a:rPr>
                                <m:t>h𝑟</m:t>
                              </m:r>
                            </m:den>
                          </m:f>
                          <m:r>
                            <m:rPr>
                              <m:nor/>
                            </m:rPr>
                            <a:rPr lang="en-US" dirty="0" smtClean="0"/>
                            <m:t> ∗ 19,500</m:t>
                          </m:r>
                          <m:r>
                            <m:rPr>
                              <m:nor/>
                            </m:rPr>
                            <a:rPr lang="en-US" b="0" i="0" dirty="0" smtClean="0"/>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𝐵𝑇𝑈</m:t>
                              </m:r>
                            </m:num>
                            <m:den>
                              <m:r>
                                <a:rPr lang="en-US" b="0" i="1" dirty="0" smtClean="0">
                                  <a:latin typeface="Cambria Math" panose="02040503050406030204" pitchFamily="18" charset="0"/>
                                </a:rPr>
                                <m:t>𝑙𝑏</m:t>
                              </m:r>
                            </m:den>
                          </m:f>
                          <m:r>
                            <m:rPr>
                              <m:nor/>
                            </m:rPr>
                            <a:rPr lang="en-US" dirty="0" smtClean="0"/>
                            <m:t>)</m:t>
                          </m:r>
                          <m:r>
                            <m:rPr>
                              <m:nor/>
                            </m:rPr>
                            <a:rPr lang="en-US" b="0" i="0" dirty="0" smtClean="0"/>
                            <m:t> </m:t>
                          </m:r>
                          <m:r>
                            <m:rPr>
                              <m:nor/>
                            </m:rPr>
                            <a:rPr lang="en-US" dirty="0"/>
                            <m:t>∗</m:t>
                          </m:r>
                          <m:r>
                            <m:rPr>
                              <m:nor/>
                            </m:rPr>
                            <a:rPr lang="en-US" b="0" i="0" dirty="0" smtClean="0"/>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1 </m:t>
                              </m:r>
                              <m:r>
                                <a:rPr lang="en-US" b="0" i="1" dirty="0" smtClean="0">
                                  <a:latin typeface="Cambria Math" panose="02040503050406030204" pitchFamily="18" charset="0"/>
                                </a:rPr>
                                <m:t>𝐻𝑃</m:t>
                              </m:r>
                            </m:num>
                            <m:den>
                              <m:r>
                                <a:rPr lang="en-US" b="0" i="1" dirty="0" smtClean="0">
                                  <a:latin typeface="Cambria Math" panose="02040503050406030204" pitchFamily="18" charset="0"/>
                                </a:rPr>
                                <m:t>2545.5 </m:t>
                              </m:r>
                              <m:r>
                                <a:rPr lang="en-US" b="0" i="1" dirty="0" smtClean="0">
                                  <a:latin typeface="Cambria Math" panose="02040503050406030204" pitchFamily="18" charset="0"/>
                                </a:rPr>
                                <m:t>𝐵𝑇𝑈</m:t>
                              </m:r>
                              <m:r>
                                <a:rPr lang="en-US" b="0" i="1" dirty="0" smtClean="0">
                                  <a:latin typeface="Cambria Math" panose="02040503050406030204" pitchFamily="18" charset="0"/>
                                </a:rPr>
                                <m:t>/</m:t>
                              </m:r>
                              <m:r>
                                <a:rPr lang="en-US" b="0" i="1" dirty="0" smtClean="0">
                                  <a:latin typeface="Cambria Math" panose="02040503050406030204" pitchFamily="18" charset="0"/>
                                </a:rPr>
                                <m:t>h𝑟</m:t>
                              </m:r>
                            </m:den>
                          </m:f>
                          <m:r>
                            <m:rPr>
                              <m:nor/>
                            </m:rPr>
                            <a:rPr lang="en-US" dirty="0"/>
                            <m:t>  </m:t>
                          </m:r>
                        </m:den>
                      </m:f>
                    </m:oMath>
                  </m:oMathPara>
                </a14:m>
                <a:endParaRPr lang="en-US" dirty="0"/>
              </a:p>
              <a:p>
                <a:endParaRPr lang="en-US" dirty="0"/>
              </a:p>
              <a:p>
                <a:r>
                  <a:rPr lang="en-US" b="1" dirty="0"/>
                  <a:t>Specific Fuel Consumption (SFC)</a:t>
                </a:r>
                <a:r>
                  <a:rPr lang="en-US" dirty="0"/>
                  <a:t> is a measure of the </a:t>
                </a:r>
                <a:r>
                  <a:rPr lang="en-US" b="1" dirty="0"/>
                  <a:t>fuel efficiency</a:t>
                </a:r>
                <a:r>
                  <a:rPr lang="en-US" dirty="0"/>
                  <a:t> of an engine, particularly in relation to its power output. It represents the amount of fuel consumed by the engine to produce a certain amount of power over a specific time period.</a:t>
                </a:r>
              </a:p>
              <a:p>
                <a:r>
                  <a:rPr lang="en-US" dirty="0"/>
                  <a:t>If an engine consumes </a:t>
                </a:r>
                <a:r>
                  <a:rPr lang="en-US" b="1" dirty="0"/>
                  <a:t>0.3 pounds of fuel per brake horsepower per hour</a:t>
                </a:r>
                <a:r>
                  <a:rPr lang="en-US" dirty="0"/>
                  <a:t> (0.3 </a:t>
                </a:r>
                <a:r>
                  <a:rPr lang="en-US" dirty="0" err="1"/>
                  <a:t>lbs</a:t>
                </a:r>
                <a:r>
                  <a:rPr lang="en-US" dirty="0"/>
                  <a:t>/BHP-</a:t>
                </a:r>
                <a:r>
                  <a:rPr lang="en-US" dirty="0" err="1"/>
                  <a:t>hr</a:t>
                </a:r>
                <a:r>
                  <a:rPr lang="en-US" dirty="0"/>
                  <a:t>), this means that for every </a:t>
                </a:r>
                <a:r>
                  <a:rPr lang="en-US" b="1" dirty="0"/>
                  <a:t>1 horsepower</a:t>
                </a:r>
                <a:r>
                  <a:rPr lang="en-US" dirty="0"/>
                  <a:t> the engine produces, it uses </a:t>
                </a:r>
                <a:r>
                  <a:rPr lang="en-US" b="1" dirty="0"/>
                  <a:t>0.3 pounds</a:t>
                </a:r>
                <a:r>
                  <a:rPr lang="en-US" dirty="0"/>
                  <a:t> of fuel every hour.</a:t>
                </a:r>
              </a:p>
              <a:p>
                <a:endParaRPr lang="en-US" dirty="0"/>
              </a:p>
              <a:p>
                <a:r>
                  <a:rPr lang="en-US" b="1" dirty="0"/>
                  <a:t>Brake Thermal Efficiency (BTE)</a:t>
                </a:r>
                <a:r>
                  <a:rPr lang="en-US" dirty="0"/>
                  <a:t> is a measure of the efficiency of an internal combustion engine in converting the energy contained in the fuel into useful mechanical work (brake power). It represents the percentage of the energy in the fuel that is effectively used to produce work, as opposed to being lost as heat or other forms of energy.</a:t>
                </a:r>
              </a:p>
              <a:p>
                <a:r>
                  <a:rPr lang="en-US" dirty="0"/>
                  <a:t>A higher brake thermal efficiency means that the engine is converting a larger proportion of the energy in the fuel into useful work. It indicates a more efficient engine.</a:t>
                </a:r>
              </a:p>
              <a:p>
                <a:r>
                  <a:rPr lang="en-US" dirty="0"/>
                  <a:t>A lower brake thermal efficiency means that more of the fuel’s energy is being lost as heat, which is typically the case with engines that have poor combustion efficiency or are not well-designed.</a:t>
                </a:r>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1/(</a:t>
                </a:r>
                <a:r>
                  <a:rPr lang="en-US" b="0" i="0" dirty="0">
                    <a:latin typeface="Cambria Math" panose="02040503050406030204" pitchFamily="18" charset="0"/>
                  </a:rPr>
                  <a:t>"</a:t>
                </a:r>
                <a:r>
                  <a:rPr lang="en-US" i="0" dirty="0"/>
                  <a:t>(0.3</a:t>
                </a:r>
                <a:r>
                  <a:rPr lang="en-US" b="0" i="0" dirty="0"/>
                  <a:t> </a:t>
                </a:r>
                <a:r>
                  <a:rPr lang="en-US" b="0" i="0" dirty="0">
                    <a:latin typeface="Cambria Math" panose="02040503050406030204" pitchFamily="18" charset="0"/>
                  </a:rPr>
                  <a:t>"  𝑙𝑏/(𝐵𝐻𝑃−ℎ𝑟) "</a:t>
                </a:r>
                <a:r>
                  <a:rPr lang="en-US" i="0" dirty="0"/>
                  <a:t> * 19,500</a:t>
                </a:r>
                <a:r>
                  <a:rPr lang="en-US" b="0" i="0" dirty="0"/>
                  <a:t> </a:t>
                </a:r>
                <a:r>
                  <a:rPr lang="en-US" b="0" i="0" dirty="0">
                    <a:latin typeface="Cambria Math" panose="02040503050406030204" pitchFamily="18" charset="0"/>
                  </a:rPr>
                  <a:t>"  𝐵𝑇𝑈/𝑙𝑏 "</a:t>
                </a:r>
                <a:r>
                  <a:rPr lang="en-US" i="0" dirty="0"/>
                  <a:t>)</a:t>
                </a:r>
                <a:r>
                  <a:rPr lang="en-US" b="0" i="0" dirty="0"/>
                  <a:t> </a:t>
                </a:r>
                <a:r>
                  <a:rPr lang="en-US" i="0" dirty="0"/>
                  <a:t>*</a:t>
                </a:r>
                <a:r>
                  <a:rPr lang="en-US" b="0" i="0" dirty="0"/>
                  <a:t> </a:t>
                </a:r>
                <a:r>
                  <a:rPr lang="en-US" b="0" i="0" dirty="0">
                    <a:latin typeface="Cambria Math" panose="02040503050406030204" pitchFamily="18" charset="0"/>
                  </a:rPr>
                  <a:t>"  (1 𝐻𝑃)/(2545.5 𝐵𝑇𝑈/ℎ𝑟) "</a:t>
                </a:r>
                <a:r>
                  <a:rPr lang="en-US" i="0" dirty="0"/>
                  <a:t>  </a:t>
                </a:r>
                <a:r>
                  <a:rPr lang="en-US" i="0">
                    <a:latin typeface="Cambria Math" panose="02040503050406030204" pitchFamily="18" charset="0"/>
                  </a:rPr>
                  <a:t>" )</a:t>
                </a:r>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41</a:t>
            </a:fld>
            <a:endParaRPr lang="en-US"/>
          </a:p>
        </p:txBody>
      </p:sp>
    </p:spTree>
    <p:extLst>
      <p:ext uri="{BB962C8B-B14F-4D97-AF65-F5344CB8AC3E}">
        <p14:creationId xmlns:p14="http://schemas.microsoft.com/office/powerpoint/2010/main" val="22810847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IHP = </a:t>
            </a:r>
            <a:r>
              <a:rPr lang="en-US" dirty="0" err="1"/>
              <a:t>PLANn</a:t>
            </a:r>
            <a:r>
              <a:rPr lang="en-US" dirty="0"/>
              <a:t>/33000 C (English Unit); IHP = </a:t>
            </a:r>
            <a:r>
              <a:rPr lang="en-US" dirty="0" err="1"/>
              <a:t>PLANn</a:t>
            </a:r>
            <a:r>
              <a:rPr lang="en-US" dirty="0"/>
              <a:t>/746 C (SI)</a:t>
            </a:r>
          </a:p>
          <a:p>
            <a:endParaRPr lang="en-US" dirty="0"/>
          </a:p>
          <a:p>
            <a:r>
              <a:rPr lang="en-US" dirty="0"/>
              <a:t>For </a:t>
            </a:r>
            <a:r>
              <a:rPr lang="en-US" b="1" dirty="0"/>
              <a:t>4-stroke engines</a:t>
            </a:r>
            <a:r>
              <a:rPr lang="en-US" dirty="0"/>
              <a:t>, power is generated every </a:t>
            </a:r>
            <a:r>
              <a:rPr lang="en-US" b="1" dirty="0"/>
              <a:t>two revolutions</a:t>
            </a:r>
            <a:r>
              <a:rPr lang="en-US" dirty="0"/>
              <a:t> of the crankshaft, so you effectively use </a:t>
            </a:r>
            <a:r>
              <a:rPr lang="en-US" b="1" dirty="0"/>
              <a:t>half the displacement volume</a:t>
            </a:r>
            <a:r>
              <a:rPr lang="en-US" dirty="0"/>
              <a:t> per revolution.</a:t>
            </a:r>
          </a:p>
          <a:p>
            <a:r>
              <a:rPr lang="en-US" dirty="0"/>
              <a:t>For </a:t>
            </a:r>
            <a:r>
              <a:rPr lang="en-US" b="1" dirty="0"/>
              <a:t>2-stroke engines</a:t>
            </a:r>
            <a:r>
              <a:rPr lang="en-US" dirty="0"/>
              <a:t>, power is generated every </a:t>
            </a:r>
            <a:r>
              <a:rPr lang="en-US" b="1" dirty="0"/>
              <a:t>single revolution</a:t>
            </a:r>
            <a:r>
              <a:rPr lang="en-US" dirty="0"/>
              <a:t>, so the </a:t>
            </a:r>
            <a:r>
              <a:rPr lang="en-US" b="1" dirty="0"/>
              <a:t>full displacement volume</a:t>
            </a:r>
            <a:r>
              <a:rPr lang="en-US" dirty="0"/>
              <a:t> is used.</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43</a:t>
            </a:fld>
            <a:endParaRPr lang="en-US"/>
          </a:p>
        </p:txBody>
      </p:sp>
    </p:spTree>
    <p:extLst>
      <p:ext uri="{BB962C8B-B14F-4D97-AF65-F5344CB8AC3E}">
        <p14:creationId xmlns:p14="http://schemas.microsoft.com/office/powerpoint/2010/main" val="860254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International Standard Organization (ISO)</a:t>
            </a:r>
            <a:r>
              <a:rPr lang="en-US" dirty="0"/>
              <a:t> defines three signal words used to indicate the level of hazard associated with a product or situation:</a:t>
            </a:r>
          </a:p>
          <a:p>
            <a:endParaRPr lang="en-US" b="1" dirty="0"/>
          </a:p>
          <a:p>
            <a:r>
              <a:rPr lang="en-US" b="1" dirty="0"/>
              <a:t>DANGER</a:t>
            </a:r>
            <a:r>
              <a:rPr lang="en-US" dirty="0"/>
              <a:t> – Used for the most severe level of hazard.</a:t>
            </a:r>
          </a:p>
          <a:p>
            <a:r>
              <a:rPr lang="en-US" b="1" dirty="0"/>
              <a:t>WARNING</a:t>
            </a:r>
            <a:r>
              <a:rPr lang="en-US" dirty="0"/>
              <a:t> – Used for moderately severe hazards.</a:t>
            </a:r>
          </a:p>
          <a:p>
            <a:r>
              <a:rPr lang="en-US" b="1" dirty="0"/>
              <a:t>CAUTION</a:t>
            </a:r>
            <a:r>
              <a:rPr lang="en-US" dirty="0"/>
              <a:t> – Used for the least severe hazards.</a:t>
            </a:r>
          </a:p>
          <a:p>
            <a:endParaRPr lang="en-US" dirty="0"/>
          </a:p>
          <a:p>
            <a:r>
              <a:rPr lang="en-US" b="1" dirty="0"/>
              <a:t>NOTICE</a:t>
            </a:r>
            <a:r>
              <a:rPr lang="en-US" dirty="0"/>
              <a:t> does not belong to this group, as it is typically used to indicate information or instructions, not a level of hazard. It is not associated with a level of danger or severity, unlike the other three.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45</a:t>
            </a:fld>
            <a:endParaRPr lang="en-US"/>
          </a:p>
        </p:txBody>
      </p:sp>
    </p:spTree>
    <p:extLst>
      <p:ext uri="{BB962C8B-B14F-4D97-AF65-F5344CB8AC3E}">
        <p14:creationId xmlns:p14="http://schemas.microsoft.com/office/powerpoint/2010/main" val="578543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International Standard Organization (ISO)</a:t>
            </a:r>
            <a:r>
              <a:rPr lang="en-US" dirty="0"/>
              <a:t> defines three signal words used to indicate the level of hazard associated with a product or situation:</a:t>
            </a:r>
          </a:p>
          <a:p>
            <a:endParaRPr lang="en-US" b="1" dirty="0"/>
          </a:p>
          <a:p>
            <a:r>
              <a:rPr lang="en-US" b="1" dirty="0"/>
              <a:t>DANGER</a:t>
            </a:r>
            <a:r>
              <a:rPr lang="en-US" dirty="0"/>
              <a:t> – Used for the most severe level of hazard.</a:t>
            </a:r>
          </a:p>
          <a:p>
            <a:r>
              <a:rPr lang="en-US" b="1" dirty="0"/>
              <a:t>WARNING</a:t>
            </a:r>
            <a:r>
              <a:rPr lang="en-US" dirty="0"/>
              <a:t> – Used for moderately severe hazards.</a:t>
            </a:r>
          </a:p>
          <a:p>
            <a:r>
              <a:rPr lang="en-US" b="1" dirty="0"/>
              <a:t>CAUTION</a:t>
            </a:r>
            <a:r>
              <a:rPr lang="en-US" dirty="0"/>
              <a:t> – Used for the least severe hazards.</a:t>
            </a:r>
          </a:p>
          <a:p>
            <a:endParaRPr lang="en-US" dirty="0"/>
          </a:p>
          <a:p>
            <a:r>
              <a:rPr lang="en-US" b="1" dirty="0"/>
              <a:t>NOTICE</a:t>
            </a:r>
            <a:r>
              <a:rPr lang="en-US" dirty="0"/>
              <a:t> does not belong to this group, as it is typically used to indicate information or instructions, not a level of hazard. It is not associated with a level of danger or severity, unlike the other three.</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46</a:t>
            </a:fld>
            <a:endParaRPr lang="en-US"/>
          </a:p>
        </p:txBody>
      </p:sp>
    </p:spTree>
    <p:extLst>
      <p:ext uri="{BB962C8B-B14F-4D97-AF65-F5344CB8AC3E}">
        <p14:creationId xmlns:p14="http://schemas.microsoft.com/office/powerpoint/2010/main" val="2006243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Reference: [ PRC BOARD OF AGRICULTURAL ENGINEERING RESOLUTION NO. 02, May 12, 2005 ]</a:t>
            </a:r>
          </a:p>
          <a:p>
            <a:r>
              <a:rPr lang="en-US" sz="1200" b="1" i="1" kern="1200" dirty="0">
                <a:solidFill>
                  <a:schemeClr val="tx1"/>
                </a:solidFill>
                <a:effectLst/>
                <a:latin typeface="+mn-lt"/>
                <a:ea typeface="+mn-ea"/>
                <a:cs typeface="+mn-cs"/>
              </a:rPr>
              <a:t>THE CODE OF ETHICS AND PROFESSIONAL STANDARDS FOR AGRICULTURAL ENGINEERS</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48</a:t>
            </a:fld>
            <a:endParaRPr lang="en-US"/>
          </a:p>
        </p:txBody>
      </p:sp>
    </p:spTree>
    <p:extLst>
      <p:ext uri="{BB962C8B-B14F-4D97-AF65-F5344CB8AC3E}">
        <p14:creationId xmlns:p14="http://schemas.microsoft.com/office/powerpoint/2010/main" val="3418220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49</a:t>
            </a:fld>
            <a:endParaRPr lang="en-US"/>
          </a:p>
        </p:txBody>
      </p:sp>
    </p:spTree>
    <p:extLst>
      <p:ext uri="{BB962C8B-B14F-4D97-AF65-F5344CB8AC3E}">
        <p14:creationId xmlns:p14="http://schemas.microsoft.com/office/powerpoint/2010/main" val="4181614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P=A⋅(P/A,i,n)⋅(P/F,i,9)</a:t>
            </a:r>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50</a:t>
            </a:fld>
            <a:endParaRPr lang="en-US"/>
          </a:p>
        </p:txBody>
      </p:sp>
    </p:spTree>
    <p:extLst>
      <p:ext uri="{BB962C8B-B14F-4D97-AF65-F5344CB8AC3E}">
        <p14:creationId xmlns:p14="http://schemas.microsoft.com/office/powerpoint/2010/main" val="3335127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P=A⋅(P/A,i,n)⋅(P/F,i,9)</a:t>
            </a:r>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51</a:t>
            </a:fld>
            <a:endParaRPr lang="en-US"/>
          </a:p>
        </p:txBody>
      </p:sp>
    </p:spTree>
    <p:extLst>
      <p:ext uri="{BB962C8B-B14F-4D97-AF65-F5344CB8AC3E}">
        <p14:creationId xmlns:p14="http://schemas.microsoft.com/office/powerpoint/2010/main" val="473184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OR Gate</a:t>
            </a:r>
            <a:r>
              <a:rPr lang="en-US" dirty="0"/>
              <a:t>: The output is TRUE if </a:t>
            </a:r>
            <a:r>
              <a:rPr lang="en-US" b="1" dirty="0"/>
              <a:t>at least one input is TRUE</a:t>
            </a:r>
            <a:r>
              <a:rPr lang="en-US" dirty="0"/>
              <a:t>.</a:t>
            </a:r>
          </a:p>
          <a:p>
            <a:r>
              <a:rPr lang="en-US" b="1" dirty="0"/>
              <a:t>XOR Gate</a:t>
            </a:r>
            <a:r>
              <a:rPr lang="en-US" dirty="0"/>
              <a:t>: The output is TRUE if </a:t>
            </a:r>
            <a:r>
              <a:rPr lang="en-US" b="1" dirty="0"/>
              <a:t>exactly one input is TRUE</a:t>
            </a:r>
            <a:r>
              <a:rPr lang="en-US" dirty="0"/>
              <a:t>, but not both.</a:t>
            </a:r>
          </a:p>
          <a:p>
            <a:r>
              <a:rPr lang="en-US" b="1" dirty="0"/>
              <a:t>NOT Gate</a:t>
            </a:r>
            <a:r>
              <a:rPr lang="en-US" dirty="0"/>
              <a:t>: It inverts the input; if the input is TRUE, the output will be FALSE, and vice versa.</a:t>
            </a:r>
          </a:p>
          <a:p>
            <a:r>
              <a:rPr lang="en-US" b="1" dirty="0"/>
              <a:t>NOR Gate</a:t>
            </a:r>
            <a:r>
              <a:rPr lang="en-US" dirty="0"/>
              <a:t>: The output is TRUE only if </a:t>
            </a:r>
            <a:r>
              <a:rPr lang="en-US" b="1" dirty="0"/>
              <a:t>both inputs are FALSE</a:t>
            </a:r>
            <a:r>
              <a:rPr lang="en-US" dirty="0"/>
              <a:t>.</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57</a:t>
            </a:fld>
            <a:endParaRPr lang="en-US"/>
          </a:p>
        </p:txBody>
      </p:sp>
    </p:spTree>
    <p:extLst>
      <p:ext uri="{BB962C8B-B14F-4D97-AF65-F5344CB8AC3E}">
        <p14:creationId xmlns:p14="http://schemas.microsoft.com/office/powerpoint/2010/main" val="30382806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OR Gate</a:t>
            </a:r>
            <a:r>
              <a:rPr lang="en-US" dirty="0"/>
              <a:t>: The output is TRUE if </a:t>
            </a:r>
            <a:r>
              <a:rPr lang="en-US" b="1" dirty="0"/>
              <a:t>at least one input is TRUE</a:t>
            </a:r>
            <a:r>
              <a:rPr lang="en-US" dirty="0"/>
              <a:t>.</a:t>
            </a:r>
          </a:p>
          <a:p>
            <a:r>
              <a:rPr lang="en-US" b="1" dirty="0"/>
              <a:t>XOR Gate</a:t>
            </a:r>
            <a:r>
              <a:rPr lang="en-US" dirty="0"/>
              <a:t>: The output is TRUE if </a:t>
            </a:r>
            <a:r>
              <a:rPr lang="en-US" b="1" dirty="0"/>
              <a:t>exactly one input is TRUE</a:t>
            </a:r>
            <a:r>
              <a:rPr lang="en-US" dirty="0"/>
              <a:t>, but not both.</a:t>
            </a:r>
          </a:p>
          <a:p>
            <a:r>
              <a:rPr lang="en-US" b="1" dirty="0"/>
              <a:t>NOT Gate</a:t>
            </a:r>
            <a:r>
              <a:rPr lang="en-US" dirty="0"/>
              <a:t>: It inverts the input; if the input is TRUE, the output will be FALSE, and vice versa.</a:t>
            </a:r>
          </a:p>
          <a:p>
            <a:r>
              <a:rPr lang="en-US" b="1" dirty="0"/>
              <a:t>NOR Gate</a:t>
            </a:r>
            <a:r>
              <a:rPr lang="en-US" dirty="0"/>
              <a:t>: The output is TRUE only if </a:t>
            </a:r>
            <a:r>
              <a:rPr lang="en-US" b="1" dirty="0"/>
              <a:t>both inputs are FALSE</a:t>
            </a:r>
            <a:r>
              <a:rPr lang="en-US" dirty="0"/>
              <a:t>.</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58</a:t>
            </a:fld>
            <a:endParaRPr lang="en-US"/>
          </a:p>
        </p:txBody>
      </p:sp>
    </p:spTree>
    <p:extLst>
      <p:ext uri="{BB962C8B-B14F-4D97-AF65-F5344CB8AC3E}">
        <p14:creationId xmlns:p14="http://schemas.microsoft.com/office/powerpoint/2010/main" val="2978093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𝑃𝐸𝐷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𝑃𝑒𝑟𝑐𝑒𝑛𝑡𝑎𝑔𝑒</m:t>
                          </m:r>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𝑄𝑢𝑎𝑛𝑡𝑖𝑡𝑦</m:t>
                          </m:r>
                        </m:num>
                        <m:den>
                          <m:r>
                            <a:rPr lang="en-US" b="0" i="1" smtClean="0">
                              <a:latin typeface="Cambria Math" panose="02040503050406030204" pitchFamily="18" charset="0"/>
                            </a:rPr>
                            <m:t>𝑃𝑒𝑟𝑐𝑒𝑛𝑡𝑎𝑔𝑒</m:t>
                          </m:r>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𝑃𝑟𝑖𝑐𝑒</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460−500</m:t>
                              </m:r>
                            </m:num>
                            <m:den>
                              <m:f>
                                <m:fPr>
                                  <m:ctrlPr>
                                    <a:rPr lang="en-US" b="0" i="1" smtClean="0">
                                      <a:latin typeface="Cambria Math" panose="02040503050406030204" pitchFamily="18" charset="0"/>
                                    </a:rPr>
                                  </m:ctrlPr>
                                </m:fPr>
                                <m:num>
                                  <m:r>
                                    <a:rPr lang="en-US" b="0" i="1" smtClean="0">
                                      <a:latin typeface="Cambria Math" panose="02040503050406030204" pitchFamily="18" charset="0"/>
                                    </a:rPr>
                                    <m:t>500+460</m:t>
                                  </m:r>
                                </m:num>
                                <m:den>
                                  <m:r>
                                    <a:rPr lang="en-US" b="0" i="1" smtClean="0">
                                      <a:latin typeface="Cambria Math" panose="02040503050406030204" pitchFamily="18" charset="0"/>
                                    </a:rPr>
                                    <m:t>2</m:t>
                                  </m:r>
                                </m:den>
                              </m:f>
                            </m:den>
                          </m:f>
                        </m:num>
                        <m:den>
                          <m:f>
                            <m:fPr>
                              <m:ctrlPr>
                                <a:rPr lang="en-US" b="0" i="1" smtClean="0">
                                  <a:latin typeface="Cambria Math" panose="02040503050406030204" pitchFamily="18" charset="0"/>
                                </a:rPr>
                              </m:ctrlPr>
                            </m:fPr>
                            <m:num>
                              <m:r>
                                <a:rPr lang="en-US" b="0" i="1" smtClean="0">
                                  <a:latin typeface="Cambria Math" panose="02040503050406030204" pitchFamily="18" charset="0"/>
                                </a:rPr>
                                <m:t>7−6</m:t>
                              </m:r>
                            </m:num>
                            <m:den>
                              <m:f>
                                <m:fPr>
                                  <m:ctrlPr>
                                    <a:rPr lang="en-US" b="0" i="1" smtClean="0">
                                      <a:latin typeface="Cambria Math" panose="02040503050406030204" pitchFamily="18" charset="0"/>
                                    </a:rPr>
                                  </m:ctrlPr>
                                </m:fPr>
                                <m:num>
                                  <m:r>
                                    <a:rPr lang="en-US" b="0" i="1" smtClean="0">
                                      <a:latin typeface="Cambria Math" panose="02040503050406030204" pitchFamily="18" charset="0"/>
                                    </a:rPr>
                                    <m:t>7+6</m:t>
                                  </m:r>
                                </m:num>
                                <m:den>
                                  <m:r>
                                    <a:rPr lang="en-US" b="0" i="1" smtClean="0">
                                      <a:latin typeface="Cambria Math" panose="02040503050406030204" pitchFamily="18" charset="0"/>
                                    </a:rPr>
                                    <m:t>2</m:t>
                                  </m:r>
                                </m:den>
                              </m:f>
                            </m:den>
                          </m:f>
                        </m:den>
                      </m:f>
                      <m:r>
                        <a:rPr lang="en-US" b="0" i="1" smtClean="0">
                          <a:latin typeface="Cambria Math" panose="02040503050406030204" pitchFamily="18" charset="0"/>
                        </a:rPr>
                        <m:t>=0.54</m:t>
                      </m:r>
                    </m:oMath>
                  </m:oMathPara>
                </a14:m>
                <a:endParaRPr lang="en-US" b="0" dirty="0"/>
              </a:p>
              <a:p>
                <a:endParaRPr lang="en-US" b="1" dirty="0"/>
              </a:p>
              <a:p>
                <a:r>
                  <a:rPr lang="en-US" b="1" dirty="0"/>
                  <a:t>Elastic demand</a:t>
                </a:r>
                <a:r>
                  <a:rPr lang="en-US" dirty="0"/>
                  <a:t> occurs when the price elasticity of demand (PED) is </a:t>
                </a:r>
                <a:r>
                  <a:rPr lang="en-US" b="1" dirty="0"/>
                  <a:t>greater than 1</a:t>
                </a:r>
                <a:r>
                  <a:rPr lang="en-US" dirty="0"/>
                  <a:t>. This means that the quantity demanded changes by a larger percentage than the percentage change in price.</a:t>
                </a:r>
              </a:p>
              <a:p>
                <a:r>
                  <a:rPr lang="en-US" b="1" dirty="0"/>
                  <a:t>Inelastic demand</a:t>
                </a:r>
                <a:r>
                  <a:rPr lang="en-US" dirty="0"/>
                  <a:t> occurs when the price elasticity of demand (PED) is </a:t>
                </a:r>
                <a:r>
                  <a:rPr lang="en-US" b="1" dirty="0"/>
                  <a:t>less than 1</a:t>
                </a:r>
                <a:r>
                  <a:rPr lang="en-US" dirty="0"/>
                  <a:t>. This means that the quantity demanded changes by a smaller percentage than the percentage change in price.</a:t>
                </a:r>
              </a:p>
              <a:p>
                <a:r>
                  <a:rPr lang="en-US" dirty="0"/>
                  <a:t>If </a:t>
                </a:r>
                <a:r>
                  <a:rPr lang="en-US" b="1" dirty="0"/>
                  <a:t>PED = 1</a:t>
                </a:r>
                <a:r>
                  <a:rPr lang="en-US" dirty="0"/>
                  <a:t>, the demand is said to be </a:t>
                </a:r>
                <a:r>
                  <a:rPr lang="en-US" b="1" dirty="0"/>
                  <a:t>unitary elastic</a:t>
                </a:r>
                <a:r>
                  <a:rPr lang="en-US" dirty="0"/>
                  <a:t>, meaning the percentage change in quantity demanded is exactly equal to the percentage change in price.</a:t>
                </a:r>
              </a:p>
              <a:p>
                <a:endParaRPr lang="en-US" dirty="0"/>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𝑃𝐸𝐷=(𝑃𝑒𝑟𝑐𝑒𝑛𝑡𝑎𝑔𝑒 𝐶ℎ𝑎𝑛𝑔𝑒 𝑖𝑛 𝑄𝑢𝑎𝑛𝑡𝑖𝑡𝑦)/(𝑃𝑒𝑟𝑐𝑒𝑛𝑡𝑎𝑔𝑒 𝐶ℎ𝑎𝑛𝑔𝑒 𝑖𝑛 𝑃𝑟𝑖𝑐𝑒)=((460−500)/500)/((7−6)/7)=0.48</a:t>
                </a:r>
                <a:endParaRPr lang="en-US" b="0" dirty="0"/>
              </a:p>
              <a:p>
                <a:endParaRPr lang="en-US" b="1" dirty="0"/>
              </a:p>
              <a:p>
                <a:r>
                  <a:rPr lang="en-US" b="1" dirty="0"/>
                  <a:t>Elastic demand</a:t>
                </a:r>
                <a:r>
                  <a:rPr lang="en-US" dirty="0"/>
                  <a:t> occurs when the price elasticity of demand (PED) is </a:t>
                </a:r>
                <a:r>
                  <a:rPr lang="en-US" b="1" dirty="0"/>
                  <a:t>greater than 1</a:t>
                </a:r>
                <a:r>
                  <a:rPr lang="en-US" dirty="0"/>
                  <a:t>. This means that the quantity demanded changes by a larger percentage than the percentage change in price.</a:t>
                </a:r>
              </a:p>
              <a:p>
                <a:r>
                  <a:rPr lang="en-US" b="1" dirty="0"/>
                  <a:t>Inelastic demand</a:t>
                </a:r>
                <a:r>
                  <a:rPr lang="en-US" dirty="0"/>
                  <a:t> occurs when the price elasticity of demand (PED) is </a:t>
                </a:r>
                <a:r>
                  <a:rPr lang="en-US" b="1" dirty="0"/>
                  <a:t>less than 1</a:t>
                </a:r>
                <a:r>
                  <a:rPr lang="en-US" dirty="0"/>
                  <a:t>. This means that the quantity demanded changes by a smaller percentage than the percentage change in price.</a:t>
                </a:r>
              </a:p>
              <a:p>
                <a:r>
                  <a:rPr lang="en-US" dirty="0"/>
                  <a:t>If </a:t>
                </a:r>
                <a:r>
                  <a:rPr lang="en-US" b="1" dirty="0"/>
                  <a:t>PED = 1</a:t>
                </a:r>
                <a:r>
                  <a:rPr lang="en-US" dirty="0"/>
                  <a:t>, the demand is said to be </a:t>
                </a:r>
                <a:r>
                  <a:rPr lang="en-US" b="1" dirty="0"/>
                  <a:t>unitary elastic</a:t>
                </a:r>
                <a:r>
                  <a:rPr lang="en-US" dirty="0"/>
                  <a:t>, meaning the percentage change in quantity demanded is exactly equal to the percentage change in price.</a:t>
                </a:r>
              </a:p>
              <a:p>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60</a:t>
            </a:fld>
            <a:endParaRPr lang="en-US"/>
          </a:p>
        </p:txBody>
      </p:sp>
    </p:spTree>
    <p:extLst>
      <p:ext uri="{BB962C8B-B14F-4D97-AF65-F5344CB8AC3E}">
        <p14:creationId xmlns:p14="http://schemas.microsoft.com/office/powerpoint/2010/main" val="1534104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4-wheel tractors</a:t>
            </a:r>
            <a:r>
              <a:rPr lang="en-US" dirty="0"/>
              <a:t>: These tractors often use engines for mobility and to operate attachments or implements.</a:t>
            </a:r>
          </a:p>
          <a:p>
            <a:r>
              <a:rPr lang="en-US" b="1" dirty="0"/>
              <a:t>4-row harvesters</a:t>
            </a:r>
            <a:r>
              <a:rPr lang="en-US" dirty="0"/>
              <a:t>: These machines usually require engines to operate and harvest multiple rows of crops simultaneously.</a:t>
            </a:r>
          </a:p>
          <a:p>
            <a:r>
              <a:rPr lang="en-US" b="1" dirty="0"/>
              <a:t>Power sprayers</a:t>
            </a:r>
            <a:r>
              <a:rPr lang="en-US" dirty="0"/>
              <a:t>: These are used for spraying pesticides or fertilizers and are usually powered by engines to operate the pump and spray mechanisms.</a:t>
            </a:r>
          </a:p>
          <a:p>
            <a:r>
              <a:rPr lang="en-US" dirty="0"/>
              <a:t>However, </a:t>
            </a:r>
            <a:r>
              <a:rPr lang="en-US" b="1" dirty="0"/>
              <a:t>1-ton rice mills</a:t>
            </a:r>
            <a:r>
              <a:rPr lang="en-US" dirty="0"/>
              <a:t> typically don't require engines for their operation in the traditional sense. Instead, they often rely on electric motors or other mechanical systems for processing rice. The </a:t>
            </a:r>
            <a:r>
              <a:rPr lang="en-US" b="1" dirty="0"/>
              <a:t>1-ton rice mill</a:t>
            </a:r>
            <a:r>
              <a:rPr lang="en-US" dirty="0"/>
              <a:t> is more likely to be powered by </a:t>
            </a:r>
            <a:r>
              <a:rPr lang="en-US" b="1" dirty="0"/>
              <a:t>electricity</a:t>
            </a:r>
            <a:r>
              <a:rPr lang="en-US" dirty="0"/>
              <a:t> rather than a combustion engine.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62</a:t>
            </a:fld>
            <a:endParaRPr lang="en-US"/>
          </a:p>
        </p:txBody>
      </p:sp>
    </p:spTree>
    <p:extLst>
      <p:ext uri="{BB962C8B-B14F-4D97-AF65-F5344CB8AC3E}">
        <p14:creationId xmlns:p14="http://schemas.microsoft.com/office/powerpoint/2010/main" val="899612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 Anything ANDed with a 0 is equal to 0.</a:t>
            </a:r>
            <a:endParaRPr lang="en-US" dirty="0"/>
          </a:p>
          <a:p>
            <a:r>
              <a:rPr lang="en-US" b="1" dirty="0"/>
              <a:t>True.</a:t>
            </a:r>
            <a:r>
              <a:rPr lang="en-US" dirty="0"/>
              <a:t> In Boolean logic, if you perform an AND operation with 0 (i.e., 0 AND X), the result is always 0, regardless of the other value. This follows the rule: X AND 0=0</a:t>
            </a:r>
          </a:p>
          <a:p>
            <a:endParaRPr lang="en-US" dirty="0"/>
          </a:p>
          <a:p>
            <a:r>
              <a:rPr lang="en-US" b="1" dirty="0"/>
              <a:t>(II) Anything ANDed with a 1 is equal to itself.</a:t>
            </a:r>
            <a:endParaRPr lang="en-US" dirty="0"/>
          </a:p>
          <a:p>
            <a:r>
              <a:rPr lang="en-US" b="1" dirty="0"/>
              <a:t>True.</a:t>
            </a:r>
            <a:r>
              <a:rPr lang="en-US" dirty="0"/>
              <a:t> In Boolean logic, if you perform an AND operation with 1 (i.e., 1 AND X), the result is always the value of X. This follows the rule: X AND 1=X</a:t>
            </a:r>
          </a:p>
          <a:p>
            <a:endParaRPr lang="en-US" b="1" dirty="0"/>
          </a:p>
          <a:p>
            <a:r>
              <a:rPr lang="en-US" b="1" dirty="0"/>
              <a:t>(III) Anything </a:t>
            </a:r>
            <a:r>
              <a:rPr lang="en-US" b="1" dirty="0" err="1"/>
              <a:t>ORed</a:t>
            </a:r>
            <a:r>
              <a:rPr lang="en-US" b="1" dirty="0"/>
              <a:t> with a 0 is equal to 0.</a:t>
            </a:r>
            <a:endParaRPr lang="en-US" dirty="0"/>
          </a:p>
          <a:p>
            <a:r>
              <a:rPr lang="en-US" b="1" dirty="0"/>
              <a:t>False.</a:t>
            </a:r>
            <a:r>
              <a:rPr lang="en-US" dirty="0"/>
              <a:t> In Boolean logic, if you perform an OR operation with 0 (i.e., 0 OR X), the result is always X, not 0. This rule should be: X OR 0=X</a:t>
            </a:r>
          </a:p>
          <a:p>
            <a:endParaRPr lang="en-US" dirty="0"/>
          </a:p>
          <a:p>
            <a:r>
              <a:rPr lang="en-US" b="1" dirty="0"/>
              <a:t>(IV) Anything </a:t>
            </a:r>
            <a:r>
              <a:rPr lang="en-US" b="1" dirty="0" err="1"/>
              <a:t>ORed</a:t>
            </a:r>
            <a:r>
              <a:rPr lang="en-US" b="1" dirty="0"/>
              <a:t> with a 1 is equal to itself.</a:t>
            </a:r>
            <a:endParaRPr lang="en-US" dirty="0"/>
          </a:p>
          <a:p>
            <a:r>
              <a:rPr lang="en-US" b="1" dirty="0"/>
              <a:t>True.</a:t>
            </a:r>
            <a:r>
              <a:rPr lang="en-US" dirty="0"/>
              <a:t> In Boolean logic, if you perform an OR operation with 1 (i.e., 1 OR X), the result is always 1, regardless of X This follows the rule: X OR 1=1</a:t>
            </a:r>
          </a:p>
        </p:txBody>
      </p:sp>
      <p:sp>
        <p:nvSpPr>
          <p:cNvPr id="4" name="Slide Number Placeholder 3"/>
          <p:cNvSpPr>
            <a:spLocks noGrp="1"/>
          </p:cNvSpPr>
          <p:nvPr>
            <p:ph type="sldNum" sz="quarter" idx="5"/>
          </p:nvPr>
        </p:nvSpPr>
        <p:spPr/>
        <p:txBody>
          <a:bodyPr/>
          <a:lstStyle/>
          <a:p>
            <a:fld id="{88FD07C0-C604-4274-A558-13916864F18D}" type="slidenum">
              <a:rPr lang="en-US" smtClean="0"/>
              <a:t>64</a:t>
            </a:fld>
            <a:endParaRPr lang="en-US"/>
          </a:p>
        </p:txBody>
      </p:sp>
    </p:spTree>
    <p:extLst>
      <p:ext uri="{BB962C8B-B14F-4D97-AF65-F5344CB8AC3E}">
        <p14:creationId xmlns:p14="http://schemas.microsoft.com/office/powerpoint/2010/main" val="4151458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left"/>
                    </m:oMathParaPr>
                    <m:oMath xmlns:m="http://schemas.openxmlformats.org/officeDocument/2006/math">
                      <m:r>
                        <m:rPr>
                          <m:nor/>
                        </m:rPr>
                        <a:rPr lang="en-US" sz="1200" dirty="0" smtClean="0"/>
                        <m:t>No</m:t>
                      </m:r>
                      <m:r>
                        <m:rPr>
                          <m:nor/>
                        </m:rPr>
                        <a:rPr lang="en-US" sz="1200" dirty="0" smtClean="0"/>
                        <m:t>. </m:t>
                      </m:r>
                      <m:r>
                        <m:rPr>
                          <m:nor/>
                        </m:rPr>
                        <a:rPr lang="en-US" sz="1200" dirty="0" smtClean="0"/>
                        <m:t>of</m:t>
                      </m:r>
                      <m:r>
                        <m:rPr>
                          <m:nor/>
                        </m:rPr>
                        <a:rPr lang="en-US" sz="1200" dirty="0" smtClean="0"/>
                        <m:t> </m:t>
                      </m:r>
                      <m:r>
                        <m:rPr>
                          <m:nor/>
                        </m:rPr>
                        <a:rPr lang="en-US" sz="1200" dirty="0" smtClean="0"/>
                        <m:t>rows</m:t>
                      </m:r>
                      <m:r>
                        <a:rPr lang="en-US" sz="1200" b="0" i="1" dirty="0"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45 </m:t>
                          </m:r>
                          <m:r>
                            <a:rPr lang="en-US" sz="1200" b="0" i="1" smtClean="0">
                              <a:latin typeface="Cambria Math" panose="02040503050406030204" pitchFamily="18" charset="0"/>
                            </a:rPr>
                            <m:t>𝑚</m:t>
                          </m:r>
                        </m:num>
                        <m:den>
                          <m:r>
                            <a:rPr lang="en-US" sz="1200" b="0" i="1" smtClean="0">
                              <a:latin typeface="Cambria Math" panose="02040503050406030204" pitchFamily="18" charset="0"/>
                            </a:rPr>
                            <m:t>1 </m:t>
                          </m:r>
                          <m:r>
                            <a:rPr lang="en-US" sz="1200" b="0" i="1" smtClean="0">
                              <a:latin typeface="Cambria Math" panose="02040503050406030204" pitchFamily="18" charset="0"/>
                            </a:rPr>
                            <m:t>𝑚</m:t>
                          </m:r>
                          <m:r>
                            <a:rPr lang="en-US" sz="1200" b="0" i="1" smtClean="0">
                              <a:latin typeface="Cambria Math" panose="02040503050406030204" pitchFamily="18" charset="0"/>
                            </a:rPr>
                            <m:t> −(10% ∗1</m:t>
                          </m:r>
                          <m:r>
                            <a:rPr lang="en-US" sz="1200" b="0" i="1" smtClean="0">
                              <a:latin typeface="Cambria Math" panose="02040503050406030204" pitchFamily="18" charset="0"/>
                            </a:rPr>
                            <m:t>𝑚</m:t>
                          </m:r>
                          <m:r>
                            <a:rPr lang="en-US" sz="1200" b="0" i="1" smtClean="0">
                              <a:latin typeface="Cambria Math" panose="02040503050406030204" pitchFamily="18" charset="0"/>
                            </a:rPr>
                            <m:t>)</m:t>
                          </m:r>
                        </m:den>
                      </m:f>
                      <m:r>
                        <a:rPr lang="en-US" sz="1200" b="0" i="1" smtClean="0">
                          <a:latin typeface="Cambria Math" panose="02040503050406030204" pitchFamily="18" charset="0"/>
                        </a:rPr>
                        <m:t>=50 </m:t>
                      </m:r>
                      <m:r>
                        <a:rPr lang="en-US" sz="1200" b="0" i="1" smtClean="0">
                          <a:latin typeface="Cambria Math" panose="02040503050406030204" pitchFamily="18" charset="0"/>
                        </a:rPr>
                        <m:t>𝑟𝑜𝑤𝑠</m:t>
                      </m:r>
                    </m:oMath>
                  </m:oMathPara>
                </a14:m>
                <a:endParaRPr lang="en-US" sz="1200" dirty="0"/>
              </a:p>
              <a:p>
                <a:endParaRPr lang="en-US" sz="1200" dirty="0"/>
              </a:p>
              <a:p>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𝑡𝑖𝑚𝑒</m:t>
                      </m:r>
                      <m:r>
                        <a:rPr lang="en-US" sz="1200" b="0" i="1" smtClean="0">
                          <a:latin typeface="Cambria Math" panose="02040503050406030204" pitchFamily="18" charset="0"/>
                        </a:rPr>
                        <m:t> </m:t>
                      </m:r>
                      <m:r>
                        <a:rPr lang="en-US" sz="1200" b="0" i="1" smtClean="0">
                          <a:latin typeface="Cambria Math" panose="02040503050406030204" pitchFamily="18" charset="0"/>
                        </a:rPr>
                        <m:t>𝑜𝑓</m:t>
                      </m:r>
                      <m:r>
                        <a:rPr lang="en-US" sz="1200" b="0" i="1" smtClean="0">
                          <a:latin typeface="Cambria Math" panose="02040503050406030204" pitchFamily="18" charset="0"/>
                        </a:rPr>
                        <m:t> </m:t>
                      </m:r>
                      <m:r>
                        <a:rPr lang="en-US" sz="1200" b="0" i="1" smtClean="0">
                          <a:latin typeface="Cambria Math" panose="02040503050406030204" pitchFamily="18" charset="0"/>
                        </a:rPr>
                        <m:t>𝑡𝑖𝑙𝑙𝑖𝑛𝑔</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50 </m:t>
                          </m:r>
                          <m:r>
                            <a:rPr lang="en-US" sz="1200" b="0" i="1" smtClean="0">
                              <a:latin typeface="Cambria Math" panose="02040503050406030204" pitchFamily="18" charset="0"/>
                            </a:rPr>
                            <m:t>𝑟𝑜𝑤𝑠</m:t>
                          </m:r>
                          <m:r>
                            <a:rPr lang="en-US" sz="1200" b="0" i="1" smtClean="0">
                              <a:latin typeface="Cambria Math" panose="02040503050406030204" pitchFamily="18" charset="0"/>
                            </a:rPr>
                            <m:t> ∗</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90 </m:t>
                              </m:r>
                              <m:r>
                                <a:rPr lang="en-US" sz="1200" b="0" i="1" smtClean="0">
                                  <a:latin typeface="Cambria Math" panose="02040503050406030204" pitchFamily="18" charset="0"/>
                                </a:rPr>
                                <m:t>𝑚</m:t>
                              </m:r>
                            </m:num>
                            <m:den>
                              <m:r>
                                <a:rPr lang="en-US" sz="1200" b="0" i="1" smtClean="0">
                                  <a:latin typeface="Cambria Math" panose="02040503050406030204" pitchFamily="18" charset="0"/>
                                </a:rPr>
                                <m:t>𝑟𝑜𝑤</m:t>
                              </m:r>
                            </m:den>
                          </m:f>
                        </m:num>
                        <m:den>
                          <m:r>
                            <a:rPr lang="en-US" sz="1200" b="0" i="1" smtClean="0">
                              <a:latin typeface="Cambria Math" panose="02040503050406030204" pitchFamily="18" charset="0"/>
                            </a:rPr>
                            <m:t>3000 </m:t>
                          </m:r>
                          <m:r>
                            <a:rPr lang="en-US" sz="1200" b="0" i="1" smtClean="0">
                              <a:latin typeface="Cambria Math" panose="02040503050406030204" pitchFamily="18" charset="0"/>
                            </a:rPr>
                            <m:t>𝑚</m:t>
                          </m:r>
                          <m:r>
                            <a:rPr lang="en-US" sz="1200" b="0" i="1" smtClean="0">
                              <a:latin typeface="Cambria Math" panose="02040503050406030204" pitchFamily="18" charset="0"/>
                            </a:rPr>
                            <m:t>/</m:t>
                          </m:r>
                          <m:r>
                            <a:rPr lang="en-US" sz="1200" b="0" i="1" smtClean="0">
                              <a:latin typeface="Cambria Math" panose="02040503050406030204" pitchFamily="18" charset="0"/>
                            </a:rPr>
                            <m:t>h𝑟</m:t>
                          </m:r>
                        </m:den>
                      </m:f>
                      <m:r>
                        <a:rPr lang="en-US" sz="1200" b="0" i="1" smtClean="0">
                          <a:latin typeface="Cambria Math" panose="02040503050406030204" pitchFamily="18" charset="0"/>
                        </a:rPr>
                        <m:t>=1.5 </m:t>
                      </m:r>
                      <m:r>
                        <a:rPr lang="en-US" sz="1200" b="0" i="1" smtClean="0">
                          <a:latin typeface="Cambria Math" panose="02040503050406030204" pitchFamily="18" charset="0"/>
                        </a:rPr>
                        <m:t>h𝑟𝑠</m:t>
                      </m:r>
                    </m:oMath>
                  </m:oMathPara>
                </a14:m>
                <a:endParaRPr lang="en-US" sz="1200" dirty="0"/>
              </a:p>
              <a:p>
                <a:endParaRPr lang="en-US" sz="1200" dirty="0"/>
              </a:p>
              <a:p>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𝑡𝑢𝑟𝑛𝑎𝑟𝑜𝑢𝑛𝑑</m:t>
                      </m:r>
                      <m:r>
                        <a:rPr lang="en-US" sz="1200" b="0" i="1" smtClean="0">
                          <a:latin typeface="Cambria Math" panose="02040503050406030204" pitchFamily="18" charset="0"/>
                        </a:rPr>
                        <m:t> </m:t>
                      </m:r>
                      <m:r>
                        <a:rPr lang="en-US" sz="1200" b="0" i="1" smtClean="0">
                          <a:latin typeface="Cambria Math" panose="02040503050406030204" pitchFamily="18" charset="0"/>
                        </a:rPr>
                        <m:t>𝑡𝑖𝑚𝑒</m:t>
                      </m:r>
                      <m:r>
                        <a:rPr lang="en-US" sz="1200" b="0" i="1" smtClean="0">
                          <a:latin typeface="Cambria Math" panose="02040503050406030204" pitchFamily="18" charset="0"/>
                        </a:rPr>
                        <m:t>=50 </m:t>
                      </m:r>
                      <m:r>
                        <a:rPr lang="en-US" sz="1200" b="0" i="1" smtClean="0">
                          <a:latin typeface="Cambria Math" panose="02040503050406030204" pitchFamily="18" charset="0"/>
                        </a:rPr>
                        <m:t>𝑟𝑜𝑤𝑠</m:t>
                      </m:r>
                      <m:r>
                        <a:rPr lang="en-US" sz="1200" b="0" i="1" smtClean="0">
                          <a:latin typeface="Cambria Math" panose="02040503050406030204" pitchFamily="18" charset="0"/>
                        </a:rPr>
                        <m:t> ∗9</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𝑠𝑒𝑐𝑜𝑛𝑑𝑠</m:t>
                          </m:r>
                        </m:num>
                        <m:den>
                          <m:r>
                            <a:rPr lang="en-US" sz="1200" b="0" i="1" smtClean="0">
                              <a:latin typeface="Cambria Math" panose="02040503050406030204" pitchFamily="18" charset="0"/>
                            </a:rPr>
                            <m:t>𝑟𝑜𝑤</m:t>
                          </m:r>
                        </m:den>
                      </m:f>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1 </m:t>
                          </m:r>
                          <m:r>
                            <a:rPr lang="en-US" sz="1200" b="0" i="1" smtClean="0">
                              <a:latin typeface="Cambria Math" panose="02040503050406030204" pitchFamily="18" charset="0"/>
                            </a:rPr>
                            <m:t>h𝑟</m:t>
                          </m:r>
                        </m:num>
                        <m:den>
                          <m:r>
                            <a:rPr lang="en-US" sz="1200" b="0" i="1" smtClean="0">
                              <a:latin typeface="Cambria Math" panose="02040503050406030204" pitchFamily="18" charset="0"/>
                            </a:rPr>
                            <m:t>3600 </m:t>
                          </m:r>
                          <m:r>
                            <a:rPr lang="en-US" sz="1200" b="0" i="1" smtClean="0">
                              <a:latin typeface="Cambria Math" panose="02040503050406030204" pitchFamily="18" charset="0"/>
                            </a:rPr>
                            <m:t>𝑠</m:t>
                          </m:r>
                        </m:den>
                      </m:f>
                      <m:r>
                        <a:rPr lang="en-US" sz="1200" b="0" i="1" smtClean="0">
                          <a:latin typeface="Cambria Math" panose="02040503050406030204" pitchFamily="18" charset="0"/>
                        </a:rPr>
                        <m:t>=0.125 </m:t>
                      </m:r>
                      <m:r>
                        <a:rPr lang="en-US" sz="1200" b="0" i="1" smtClean="0">
                          <a:latin typeface="Cambria Math" panose="02040503050406030204" pitchFamily="18" charset="0"/>
                        </a:rPr>
                        <m:t>h𝑟</m:t>
                      </m:r>
                    </m:oMath>
                  </m:oMathPara>
                </a14:m>
                <a:endParaRPr lang="en-US" sz="1200" dirty="0"/>
              </a:p>
              <a:p>
                <a:endParaRPr lang="en-US" sz="1200" dirty="0"/>
              </a:p>
              <a:p>
                <a:r>
                  <a:rPr lang="en-US" sz="1200" dirty="0"/>
                  <a:t>T = 1.5 + 0.125 = 1.625 </a:t>
                </a:r>
                <a:r>
                  <a:rPr lang="en-US" sz="1200" dirty="0" err="1"/>
                  <a:t>hr</a:t>
                </a:r>
                <a:endParaRPr lang="en-US" sz="1200" dirty="0"/>
              </a:p>
              <a:p>
                <a:endParaRPr lang="en-US" sz="1200" dirty="0"/>
              </a:p>
              <a:p>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𝐴𝑐𝑡𝑢𝑎𝑙</m:t>
                      </m:r>
                      <m:r>
                        <a:rPr lang="en-US" sz="1200" b="0" i="1" smtClean="0">
                          <a:latin typeface="Cambria Math" panose="02040503050406030204" pitchFamily="18" charset="0"/>
                        </a:rPr>
                        <m:t> </m:t>
                      </m:r>
                      <m:r>
                        <a:rPr lang="en-US" sz="1200" b="0" i="1" smtClean="0">
                          <a:latin typeface="Cambria Math" panose="02040503050406030204" pitchFamily="18" charset="0"/>
                        </a:rPr>
                        <m:t>𝐹𝐶</m:t>
                      </m:r>
                      <m:r>
                        <a:rPr lang="en-US" sz="1200" b="0" i="1" smtClean="0">
                          <a:latin typeface="Cambria Math" panose="02040503050406030204" pitchFamily="18" charset="0"/>
                        </a:rPr>
                        <m:t>= </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45 </m:t>
                          </m:r>
                          <m:r>
                            <a:rPr lang="en-US" sz="1200" b="0" i="1" smtClean="0">
                              <a:latin typeface="Cambria Math" panose="02040503050406030204" pitchFamily="18" charset="0"/>
                            </a:rPr>
                            <m:t>𝑚</m:t>
                          </m:r>
                          <m:r>
                            <a:rPr lang="en-US" sz="1200" b="0" i="1" smtClean="0">
                              <a:latin typeface="Cambria Math" panose="02040503050406030204" pitchFamily="18" charset="0"/>
                            </a:rPr>
                            <m:t> ∗90 </m:t>
                          </m:r>
                          <m:r>
                            <a:rPr lang="en-US" sz="1200" b="0" i="1" smtClean="0">
                              <a:latin typeface="Cambria Math" panose="02040503050406030204" pitchFamily="18" charset="0"/>
                            </a:rPr>
                            <m:t>𝑚</m:t>
                          </m:r>
                        </m:num>
                        <m:den>
                          <m:r>
                            <a:rPr lang="en-US" sz="1200" b="0" i="1" smtClean="0">
                              <a:latin typeface="Cambria Math" panose="02040503050406030204" pitchFamily="18" charset="0"/>
                            </a:rPr>
                            <m:t>1.625 </m:t>
                          </m:r>
                          <m:r>
                            <a:rPr lang="en-US" sz="1200" b="0" i="1" smtClean="0">
                              <a:latin typeface="Cambria Math" panose="02040503050406030204" pitchFamily="18" charset="0"/>
                            </a:rPr>
                            <m:t>h𝑟</m:t>
                          </m:r>
                        </m:den>
                      </m:f>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r>
                            <a:rPr lang="en-US" sz="1200" b="0" i="1" smtClean="0">
                              <a:latin typeface="Cambria Math" panose="02040503050406030204" pitchFamily="18" charset="0"/>
                            </a:rPr>
                            <m:t>h𝑎</m:t>
                          </m:r>
                        </m:num>
                        <m:den>
                          <m:r>
                            <a:rPr lang="en-US" sz="1200" b="0" i="1" smtClean="0">
                              <a:latin typeface="Cambria Math" panose="02040503050406030204" pitchFamily="18" charset="0"/>
                            </a:rPr>
                            <m:t>10,000</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2</m:t>
                              </m:r>
                            </m:sup>
                          </m:sSup>
                        </m:den>
                      </m:f>
                      <m:r>
                        <a:rPr lang="en-US" sz="1200" b="0" i="1" smtClean="0">
                          <a:latin typeface="Cambria Math" panose="02040503050406030204" pitchFamily="18" charset="0"/>
                        </a:rPr>
                        <m:t>=0.25</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h𝑎</m:t>
                          </m:r>
                        </m:num>
                        <m:den>
                          <m:r>
                            <a:rPr lang="en-US" sz="1200" b="0" i="1" smtClean="0">
                              <a:latin typeface="Cambria Math" panose="02040503050406030204" pitchFamily="18" charset="0"/>
                            </a:rPr>
                            <m:t>h𝑟</m:t>
                          </m:r>
                        </m:den>
                      </m:f>
                    </m:oMath>
                  </m:oMathPara>
                </a14:m>
                <a:endParaRPr lang="en-US" sz="1200" b="0" dirty="0"/>
              </a:p>
              <a:p>
                <a:endParaRPr lang="en-US" sz="1200" dirty="0"/>
              </a:p>
              <a:p>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𝑒𝑓𝑓</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𝐴𝐹𝐶</m:t>
                          </m:r>
                        </m:num>
                        <m:den>
                          <m:r>
                            <a:rPr lang="en-US" sz="1200" b="0" i="1" smtClean="0">
                              <a:latin typeface="Cambria Math" panose="02040503050406030204" pitchFamily="18" charset="0"/>
                            </a:rPr>
                            <m:t>𝑇𝐹𝐶</m:t>
                          </m:r>
                        </m:den>
                      </m:f>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0.25</m:t>
                          </m:r>
                        </m:num>
                        <m:den>
                          <m:r>
                            <a:rPr lang="en-US" sz="1200" b="0" i="1" smtClean="0">
                              <a:latin typeface="Cambria Math" panose="02040503050406030204" pitchFamily="18" charset="0"/>
                            </a:rPr>
                            <m:t>.1∗3∗1</m:t>
                          </m:r>
                        </m:den>
                      </m:f>
                      <m:r>
                        <a:rPr lang="en-US" sz="1200" b="0" i="1" smtClean="0">
                          <a:latin typeface="Cambria Math" panose="02040503050406030204" pitchFamily="18" charset="0"/>
                        </a:rPr>
                        <m:t>=83%</m:t>
                      </m:r>
                    </m:oMath>
                  </m:oMathPara>
                </a14:m>
                <a:endParaRPr lang="en-US" sz="1200" dirty="0"/>
              </a:p>
            </p:txBody>
          </p:sp>
        </mc:Choice>
        <mc:Fallback xmlns="">
          <p:sp>
            <p:nvSpPr>
              <p:cNvPr id="3" name="Notes Placeholder 2"/>
              <p:cNvSpPr>
                <a:spLocks noGrp="1"/>
              </p:cNvSpPr>
              <p:nvPr>
                <p:ph type="body" idx="1"/>
              </p:nvPr>
            </p:nvSpPr>
            <p:spPr/>
            <p:txBody>
              <a:bodyPr/>
              <a:lstStyle/>
              <a:p>
                <a:pPr/>
                <a:r>
                  <a:rPr lang="en-US" sz="1200" i="0" dirty="0">
                    <a:latin typeface="Cambria Math" panose="02040503050406030204" pitchFamily="18" charset="0"/>
                  </a:rPr>
                  <a:t>"No. of rows</a:t>
                </a:r>
                <a:r>
                  <a:rPr lang="en-US" sz="1200" b="0" i="0" dirty="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45 𝑚)/(1 𝑚 −(10% ∗1𝑚))=50 𝑟𝑜𝑤𝑠</a:t>
                </a:r>
                <a:endParaRPr lang="en-US" sz="1200" dirty="0"/>
              </a:p>
              <a:p>
                <a:pPr/>
                <a:endParaRPr lang="en-US" sz="1200" dirty="0"/>
              </a:p>
              <a:p>
                <a:pPr/>
                <a:r>
                  <a:rPr lang="en-US" sz="1200" b="0" i="0">
                    <a:latin typeface="Cambria Math" panose="02040503050406030204" pitchFamily="18" charset="0"/>
                  </a:rPr>
                  <a:t>𝑡𝑖𝑚𝑒 𝑜𝑓 𝑡𝑖𝑙𝑙𝑖𝑛𝑔=(50 𝑟𝑜𝑤𝑠 ∗(90 𝑚)/𝑟𝑜𝑤)/(3000 𝑚/ℎ𝑟)=1.5 ℎ𝑟𝑠</a:t>
                </a:r>
                <a:endParaRPr lang="en-US" sz="1200" dirty="0"/>
              </a:p>
              <a:p>
                <a:pPr/>
                <a:endParaRPr lang="en-US" sz="1200" dirty="0"/>
              </a:p>
              <a:p>
                <a:pPr/>
                <a:r>
                  <a:rPr lang="en-US" sz="1200" b="0" i="0">
                    <a:latin typeface="Cambria Math" panose="02040503050406030204" pitchFamily="18" charset="0"/>
                  </a:rPr>
                  <a:t>𝑡𝑢𝑟𝑛𝑎𝑟𝑜𝑢𝑛𝑑 𝑡𝑖𝑚𝑒=50 𝑟𝑜𝑤𝑠 ∗9 𝑠𝑒𝑐𝑜𝑛𝑑𝑠/𝑟𝑜𝑤∗(1 ℎ𝑟)/(3600 𝑠)=0.125 ℎ𝑟</a:t>
                </a:r>
                <a:endParaRPr lang="en-US" sz="1200" dirty="0"/>
              </a:p>
              <a:p>
                <a:pPr/>
                <a:endParaRPr lang="en-US" sz="1200" dirty="0"/>
              </a:p>
              <a:p>
                <a:pPr/>
                <a:r>
                  <a:rPr lang="en-US" sz="1200" dirty="0"/>
                  <a:t>T = 1.5 + 0.125 = 1.625 </a:t>
                </a:r>
                <a:r>
                  <a:rPr lang="en-US" sz="1200" dirty="0" err="1"/>
                  <a:t>hr</a:t>
                </a:r>
                <a:endParaRPr lang="en-US" sz="1200" dirty="0"/>
              </a:p>
              <a:p>
                <a:pPr/>
                <a:endParaRPr lang="en-US" sz="1200" dirty="0"/>
              </a:p>
              <a:p>
                <a:pPr/>
                <a:r>
                  <a:rPr lang="en-US" sz="1200" b="0" i="0">
                    <a:latin typeface="Cambria Math" panose="02040503050406030204" pitchFamily="18" charset="0"/>
                  </a:rPr>
                  <a:t>𝐴𝑐𝑡𝑢𝑎𝑙 𝐹𝐶=  (45 𝑚 ∗90 𝑚)/(1.625 ℎ𝑟)∗1ℎ𝑎/(10,000𝑚^2 )=0.25 ℎ𝑎/ℎ𝑟</a:t>
                </a:r>
                <a:endParaRPr lang="en-US" sz="1200" b="0" dirty="0"/>
              </a:p>
              <a:p>
                <a:pPr/>
                <a:endParaRPr lang="en-US" sz="1200" dirty="0"/>
              </a:p>
              <a:p>
                <a:pPr/>
                <a:r>
                  <a:rPr lang="en-US" sz="1200" b="0" i="0">
                    <a:latin typeface="Cambria Math" panose="02040503050406030204" pitchFamily="18" charset="0"/>
                  </a:rPr>
                  <a:t>𝑒𝑓𝑓=𝐴𝐹𝐶/𝑇𝐹𝐶=0.25/(.1∗3∗1)=83%</a:t>
                </a:r>
                <a:endParaRPr lang="en-US" sz="1200"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66</a:t>
            </a:fld>
            <a:endParaRPr lang="en-US"/>
          </a:p>
        </p:txBody>
      </p:sp>
    </p:spTree>
    <p:extLst>
      <p:ext uri="{BB962C8B-B14F-4D97-AF65-F5344CB8AC3E}">
        <p14:creationId xmlns:p14="http://schemas.microsoft.com/office/powerpoint/2010/main" val="3490990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67</a:t>
            </a:fld>
            <a:endParaRPr lang="en-US"/>
          </a:p>
        </p:txBody>
      </p:sp>
    </p:spTree>
    <p:extLst>
      <p:ext uri="{BB962C8B-B14F-4D97-AF65-F5344CB8AC3E}">
        <p14:creationId xmlns:p14="http://schemas.microsoft.com/office/powerpoint/2010/main" val="2171334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 No. 3927</a:t>
            </a:r>
            <a:r>
              <a:rPr lang="en-US" dirty="0"/>
              <a:t> is the </a:t>
            </a:r>
            <a:r>
              <a:rPr lang="en-US" b="1" dirty="0"/>
              <a:t>Philippine Agricultural Engineering Law</a:t>
            </a:r>
            <a:r>
              <a:rPr lang="en-US" dirty="0"/>
              <a:t>, which was enacted in </a:t>
            </a:r>
            <a:r>
              <a:rPr lang="en-US" b="1" dirty="0"/>
              <a:t>1964</a:t>
            </a:r>
            <a:r>
              <a:rPr lang="en-US" dirty="0"/>
              <a:t>. The law established the practice of agricultural engineering in the Philippines, and the seal of the </a:t>
            </a:r>
            <a:r>
              <a:rPr lang="en-US" b="1" dirty="0"/>
              <a:t>Professional Regulation Commission (PRC) Agricultural and Biosystems Engineering (PRBABE)</a:t>
            </a:r>
            <a:r>
              <a:rPr lang="en-US" dirty="0"/>
              <a:t> reflects this with the year </a:t>
            </a:r>
            <a:r>
              <a:rPr lang="en-US" b="1" dirty="0"/>
              <a:t>1964</a:t>
            </a:r>
            <a:r>
              <a:rPr lang="en-US" dirty="0"/>
              <a:t> embedded in the design.</a:t>
            </a:r>
          </a:p>
        </p:txBody>
      </p:sp>
      <p:sp>
        <p:nvSpPr>
          <p:cNvPr id="4" name="Slide Number Placeholder 3"/>
          <p:cNvSpPr>
            <a:spLocks noGrp="1"/>
          </p:cNvSpPr>
          <p:nvPr>
            <p:ph type="sldNum" sz="quarter" idx="5"/>
          </p:nvPr>
        </p:nvSpPr>
        <p:spPr/>
        <p:txBody>
          <a:bodyPr/>
          <a:lstStyle/>
          <a:p>
            <a:fld id="{88FD07C0-C604-4274-A558-13916864F18D}" type="slidenum">
              <a:rPr lang="en-US" smtClean="0"/>
              <a:t>68</a:t>
            </a:fld>
            <a:endParaRPr lang="en-US"/>
          </a:p>
        </p:txBody>
      </p:sp>
    </p:spTree>
    <p:extLst>
      <p:ext uri="{BB962C8B-B14F-4D97-AF65-F5344CB8AC3E}">
        <p14:creationId xmlns:p14="http://schemas.microsoft.com/office/powerpoint/2010/main" val="3053422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RA No. 3927</a:t>
            </a:r>
            <a:r>
              <a:rPr lang="en-US" dirty="0"/>
              <a:t> is the </a:t>
            </a:r>
            <a:r>
              <a:rPr lang="en-US" b="1" dirty="0"/>
              <a:t>Philippine Agricultural Engineering Law</a:t>
            </a:r>
            <a:r>
              <a:rPr lang="en-US" dirty="0"/>
              <a:t>, which was enacted in </a:t>
            </a:r>
            <a:r>
              <a:rPr lang="en-US" b="1" dirty="0"/>
              <a:t>1964</a:t>
            </a:r>
            <a:r>
              <a:rPr lang="en-US" dirty="0"/>
              <a:t>. The law established the practice of agricultural engineering in the Philippines, and the seal of the </a:t>
            </a:r>
            <a:r>
              <a:rPr lang="en-US" b="1" dirty="0"/>
              <a:t>Professional Regulation Commission (PRC) Agricultural and Biosystems Engineering (PRBABE)</a:t>
            </a:r>
            <a:r>
              <a:rPr lang="en-US" dirty="0"/>
              <a:t> reflects this with the year </a:t>
            </a:r>
            <a:r>
              <a:rPr lang="en-US" b="1" dirty="0"/>
              <a:t>1964</a:t>
            </a:r>
            <a:r>
              <a:rPr lang="en-US" dirty="0"/>
              <a:t> embedded in the design.</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69</a:t>
            </a:fld>
            <a:endParaRPr lang="en-US"/>
          </a:p>
        </p:txBody>
      </p:sp>
    </p:spTree>
    <p:extLst>
      <p:ext uri="{BB962C8B-B14F-4D97-AF65-F5344CB8AC3E}">
        <p14:creationId xmlns:p14="http://schemas.microsoft.com/office/powerpoint/2010/main" val="29219054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74</a:t>
            </a:fld>
            <a:endParaRPr lang="en-US"/>
          </a:p>
        </p:txBody>
      </p:sp>
    </p:spTree>
    <p:extLst>
      <p:ext uri="{BB962C8B-B14F-4D97-AF65-F5344CB8AC3E}">
        <p14:creationId xmlns:p14="http://schemas.microsoft.com/office/powerpoint/2010/main" val="2595691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77</a:t>
            </a:fld>
            <a:endParaRPr lang="en-US"/>
          </a:p>
        </p:txBody>
      </p:sp>
    </p:spTree>
    <p:extLst>
      <p:ext uri="{BB962C8B-B14F-4D97-AF65-F5344CB8AC3E}">
        <p14:creationId xmlns:p14="http://schemas.microsoft.com/office/powerpoint/2010/main" val="1662658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80</a:t>
            </a:fld>
            <a:endParaRPr lang="en-US"/>
          </a:p>
        </p:txBody>
      </p:sp>
    </p:spTree>
    <p:extLst>
      <p:ext uri="{BB962C8B-B14F-4D97-AF65-F5344CB8AC3E}">
        <p14:creationId xmlns:p14="http://schemas.microsoft.com/office/powerpoint/2010/main" val="21337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83</a:t>
            </a:fld>
            <a:endParaRPr lang="en-US"/>
          </a:p>
        </p:txBody>
      </p:sp>
    </p:spTree>
    <p:extLst>
      <p:ext uri="{BB962C8B-B14F-4D97-AF65-F5344CB8AC3E}">
        <p14:creationId xmlns:p14="http://schemas.microsoft.com/office/powerpoint/2010/main" val="13231466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N1D1 = N2D2</a:t>
            </a:r>
          </a:p>
        </p:txBody>
      </p:sp>
      <p:sp>
        <p:nvSpPr>
          <p:cNvPr id="4" name="Slide Number Placeholder 3"/>
          <p:cNvSpPr>
            <a:spLocks noGrp="1"/>
          </p:cNvSpPr>
          <p:nvPr>
            <p:ph type="sldNum" sz="quarter" idx="5"/>
          </p:nvPr>
        </p:nvSpPr>
        <p:spPr/>
        <p:txBody>
          <a:bodyPr/>
          <a:lstStyle/>
          <a:p>
            <a:fld id="{88FD07C0-C604-4274-A558-13916864F18D}" type="slidenum">
              <a:rPr lang="en-US" smtClean="0"/>
              <a:t>91</a:t>
            </a:fld>
            <a:endParaRPr lang="en-US"/>
          </a:p>
        </p:txBody>
      </p:sp>
    </p:spTree>
    <p:extLst>
      <p:ext uri="{BB962C8B-B14F-4D97-AF65-F5344CB8AC3E}">
        <p14:creationId xmlns:p14="http://schemas.microsoft.com/office/powerpoint/2010/main" val="4987158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42</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60</m:t>
                          </m:r>
                        </m:den>
                      </m:f>
                      <m:r>
                        <a:rPr lang="en-US" b="0" i="1" smtClean="0">
                          <a:latin typeface="Cambria Math" panose="02040503050406030204" pitchFamily="18" charset="0"/>
                        </a:rPr>
                        <m:t>=1.4 </m:t>
                      </m:r>
                      <m:r>
                        <a:rPr lang="en-US" b="0" i="1" smtClean="0">
                          <a:latin typeface="Cambria Math" panose="02040503050406030204" pitchFamily="18" charset="0"/>
                        </a:rPr>
                        <m:t>h𝑜𝑢𝑟𝑠</m:t>
                      </m:r>
                    </m:oMath>
                  </m:oMathPara>
                </a14:m>
                <a:endParaRPr lang="en-US" dirty="0"/>
              </a:p>
              <a:p>
                <a:endParaRPr lang="en-US" dirty="0"/>
              </a:p>
              <a:p>
                <a:pPr/>
                <a14:m>
                  <m:oMathPara xmlns:m="http://schemas.openxmlformats.org/officeDocument/2006/math">
                    <m:oMathParaPr>
                      <m:jc m:val="left"/>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(20∗10000)</m:t>
                          </m:r>
                        </m:num>
                        <m:den>
                          <m:r>
                            <a:rPr lang="en-US" b="0" i="1" smtClean="0">
                              <a:latin typeface="Cambria Math" panose="02040503050406030204" pitchFamily="18" charset="0"/>
                            </a:rPr>
                            <m:t>500/5</m:t>
                          </m:r>
                        </m:den>
                      </m:f>
                      <m:r>
                        <a:rPr lang="en-US" b="0" i="1" smtClean="0">
                          <a:latin typeface="Cambria Math" panose="02040503050406030204" pitchFamily="18" charset="0"/>
                        </a:rPr>
                        <m:t>𝑟𝑜𝑤𝑠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15</m:t>
                          </m:r>
                        </m:num>
                        <m:den>
                          <m:r>
                            <a:rPr lang="en-US" b="0" i="1" smtClean="0">
                              <a:latin typeface="Cambria Math" panose="02040503050406030204" pitchFamily="18" charset="0"/>
                            </a:rPr>
                            <m:t>3600</m:t>
                          </m:r>
                        </m:den>
                      </m:f>
                      <m:r>
                        <a:rPr lang="en-US" b="0" i="1" smtClean="0">
                          <a:latin typeface="Cambria Math" panose="02040503050406030204" pitchFamily="18" charset="0"/>
                        </a:rPr>
                        <m:t>=0.33 </m:t>
                      </m:r>
                      <m:r>
                        <a:rPr lang="en-US" b="0" i="1" smtClean="0">
                          <a:latin typeface="Cambria Math" panose="02040503050406030204" pitchFamily="18" charset="0"/>
                        </a:rPr>
                        <m:t>h𝑜𝑢𝑟</m:t>
                      </m:r>
                    </m:oMath>
                  </m:oMathPara>
                </a14:m>
                <a:endParaRPr lang="en-US" dirty="0"/>
              </a:p>
              <a:p>
                <a:endParaRPr lang="en-US" dirty="0"/>
              </a:p>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80 </m:t>
                              </m:r>
                              <m:r>
                                <a:rPr lang="en-US" b="0" i="1" smtClean="0">
                                  <a:latin typeface="Cambria Math" panose="02040503050406030204" pitchFamily="18" charset="0"/>
                                </a:rPr>
                                <m:t>𝑟𝑜𝑤𝑠</m:t>
                              </m:r>
                              <m:r>
                                <a:rPr lang="en-US" b="0" i="1" smtClean="0">
                                  <a:latin typeface="Cambria Math" panose="02040503050406030204" pitchFamily="18" charset="0"/>
                                </a:rPr>
                                <m:t> ∗500</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𝑟𝑜𝑤</m:t>
                                  </m:r>
                                </m:den>
                              </m:f>
                            </m:e>
                          </m:d>
                        </m:num>
                        <m:den>
                          <m:r>
                            <a:rPr lang="en-US" b="0" i="1" smtClean="0">
                              <a:latin typeface="Cambria Math" panose="02040503050406030204" pitchFamily="18" charset="0"/>
                            </a:rPr>
                            <m:t>4800 </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h𝑟</m:t>
                          </m:r>
                        </m:den>
                      </m:f>
                      <m:r>
                        <a:rPr lang="en-US" b="0" i="1" smtClean="0">
                          <a:latin typeface="Cambria Math" panose="02040503050406030204" pitchFamily="18" charset="0"/>
                        </a:rPr>
                        <m:t>=8.33 </m:t>
                      </m:r>
                      <m:r>
                        <a:rPr lang="en-US" b="0" i="1" smtClean="0">
                          <a:latin typeface="Cambria Math" panose="02040503050406030204" pitchFamily="18" charset="0"/>
                        </a:rPr>
                        <m:t>h𝑟𝑠</m:t>
                      </m:r>
                    </m:oMath>
                  </m:oMathPara>
                </a14:m>
                <a:endParaRPr lang="en-US" dirty="0"/>
              </a:p>
              <a:p>
                <a:r>
                  <a:rPr lang="en-US" dirty="0"/>
                  <a:t>T = 1.4+0.33+8.33 = 10.06 </a:t>
                </a:r>
                <a:r>
                  <a:rPr lang="en-US" dirty="0" err="1"/>
                  <a:t>hrs</a:t>
                </a:r>
                <a:endParaRPr lang="en-US" dirty="0"/>
              </a:p>
              <a:p>
                <a:endParaRPr lang="en-US"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𝑒𝑓𝑓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𝐴𝐹𝐶</m:t>
                          </m:r>
                        </m:num>
                        <m:den>
                          <m:r>
                            <a:rPr lang="en-US" b="0" i="1" smtClean="0">
                              <a:latin typeface="Cambria Math" panose="02040503050406030204" pitchFamily="18" charset="0"/>
                            </a:rPr>
                            <m:t>𝑇𝐹𝐶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10.06</m:t>
                              </m:r>
                            </m:den>
                          </m:f>
                        </m:num>
                        <m:den>
                          <m:r>
                            <a:rPr lang="en-US" b="0" i="1" smtClean="0">
                              <a:latin typeface="Cambria Math" panose="02040503050406030204" pitchFamily="18" charset="0"/>
                            </a:rPr>
                            <m:t>0.1 ∗ 4.8 ∗5</m:t>
                          </m:r>
                        </m:den>
                      </m:f>
                    </m:oMath>
                  </m:oMathPara>
                </a14:m>
                <a:endParaRPr lang="en-US" dirty="0"/>
              </a:p>
            </p:txBody>
          </p:sp>
        </mc:Choice>
        <mc:Fallback xmlns="">
          <p:sp>
            <p:nvSpPr>
              <p:cNvPr id="3" name="Notes Placeholder 2"/>
              <p:cNvSpPr>
                <a:spLocks noGrp="1"/>
              </p:cNvSpPr>
              <p:nvPr>
                <p:ph type="body" idx="1"/>
              </p:nvPr>
            </p:nvSpPr>
            <p:spPr/>
            <p:txBody>
              <a:bodyPr/>
              <a:lstStyle/>
              <a:p>
                <a:pPr/>
                <a:r>
                  <a:rPr lang="en-US" b="0" i="0">
                    <a:latin typeface="Cambria Math" panose="02040503050406030204" pitchFamily="18" charset="0"/>
                  </a:rPr>
                  <a:t>42/2∗4/60=1.4 ℎ𝑜𝑢𝑟𝑠</a:t>
                </a:r>
                <a:endParaRPr lang="en-US" dirty="0"/>
              </a:p>
              <a:p>
                <a:endParaRPr lang="en-US" dirty="0"/>
              </a:p>
              <a:p>
                <a:pPr/>
                <a:r>
                  <a:rPr lang="en-US" i="0">
                    <a:latin typeface="Cambria Math" panose="02040503050406030204" pitchFamily="18" charset="0"/>
                  </a:rPr>
                  <a:t>(</a:t>
                </a:r>
                <a:r>
                  <a:rPr lang="en-US" b="0" i="0">
                    <a:latin typeface="Cambria Math" panose="02040503050406030204" pitchFamily="18" charset="0"/>
                  </a:rPr>
                  <a:t>(20∗10000))/(500/5) 𝑟𝑜𝑤𝑠∗15/3600=0.33 ℎ𝑜𝑢𝑟</a:t>
                </a:r>
                <a:endParaRPr lang="en-US" dirty="0"/>
              </a:p>
              <a:p>
                <a:pPr/>
                <a:endParaRPr lang="en-US" dirty="0"/>
              </a:p>
              <a:p>
                <a:pPr/>
                <a:r>
                  <a:rPr lang="en-US" b="0" i="0">
                    <a:latin typeface="Cambria Math" panose="02040503050406030204" pitchFamily="18" charset="0"/>
                  </a:rPr>
                  <a:t>((80 𝑟𝑜𝑤𝑠 ∗500 𝑚/𝑟𝑜𝑤))/(4800 𝑚/ℎ𝑟)=8.33 ℎ𝑟𝑠</a:t>
                </a:r>
                <a:endParaRPr lang="en-US" dirty="0"/>
              </a:p>
              <a:p>
                <a:pPr/>
                <a:r>
                  <a:rPr lang="en-US" dirty="0"/>
                  <a:t>T = 1.4+0.33+8.33 = 10.06 </a:t>
                </a:r>
                <a:r>
                  <a:rPr lang="en-US" dirty="0" err="1"/>
                  <a:t>hrs</a:t>
                </a:r>
                <a:endParaRPr lang="en-US" dirty="0"/>
              </a:p>
              <a:p>
                <a:pPr/>
                <a:endParaRPr lang="en-US" dirty="0"/>
              </a:p>
              <a:p>
                <a:pPr/>
                <a:r>
                  <a:rPr lang="en-US" b="0" i="0">
                    <a:latin typeface="Cambria Math" panose="02040503050406030204" pitchFamily="18" charset="0"/>
                  </a:rPr>
                  <a:t>𝑒𝑓𝑓=𝐴𝐹𝐶/𝑇𝐹𝐶=(20/10.06)/(0.1 ∗ 4.8 ∗5)</a:t>
                </a:r>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92</a:t>
            </a:fld>
            <a:endParaRPr lang="en-US"/>
          </a:p>
        </p:txBody>
      </p:sp>
    </p:spTree>
    <p:extLst>
      <p:ext uri="{BB962C8B-B14F-4D97-AF65-F5344CB8AC3E}">
        <p14:creationId xmlns:p14="http://schemas.microsoft.com/office/powerpoint/2010/main" val="11558379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FD07C0-C604-4274-A558-13916864F18D}" type="slidenum">
              <a:rPr lang="en-US" smtClean="0"/>
              <a:t>93</a:t>
            </a:fld>
            <a:endParaRPr lang="en-US"/>
          </a:p>
        </p:txBody>
      </p:sp>
    </p:spTree>
    <p:extLst>
      <p:ext uri="{BB962C8B-B14F-4D97-AF65-F5344CB8AC3E}">
        <p14:creationId xmlns:p14="http://schemas.microsoft.com/office/powerpoint/2010/main" val="3486662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FD07C0-C604-4274-A558-13916864F18D}" type="slidenum">
              <a:rPr lang="en-US" smtClean="0"/>
              <a:t>94</a:t>
            </a:fld>
            <a:endParaRPr lang="en-US"/>
          </a:p>
        </p:txBody>
      </p:sp>
    </p:spTree>
    <p:extLst>
      <p:ext uri="{BB962C8B-B14F-4D97-AF65-F5344CB8AC3E}">
        <p14:creationId xmlns:p14="http://schemas.microsoft.com/office/powerpoint/2010/main" val="31855639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a:t>
                </a:r>
                <a:r>
                  <a:rPr lang="en-US" b="1" dirty="0"/>
                  <a:t>performance index</a:t>
                </a:r>
                <a:r>
                  <a:rPr lang="en-US" dirty="0"/>
                  <a:t> is a measure used to evaluate the efficiency and effectiveness of agricultural machinery in performing a specific task, such as weeding, planting, or harvesting. It helps to quantify how well the machine performs relative to its power output (usually horsepower) and the work it accomplishes over a given period or area.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T Hoves" panose="020B0604020202020204" charset="0"/>
                  </a:rPr>
                  <a:t>Perf. Index = </a:t>
                </a:r>
                <a14:m>
                  <m:oMath xmlns:m="http://schemas.openxmlformats.org/officeDocument/2006/math">
                    <m:f>
                      <m:fPr>
                        <m:ctrlPr>
                          <a:rPr lang="en-US" sz="1200" i="1">
                            <a:latin typeface="Cambria Math" panose="02040503050406030204" pitchFamily="18" charset="0"/>
                          </a:rPr>
                        </m:ctrlPr>
                      </m:fPr>
                      <m:num>
                        <m:r>
                          <m:rPr>
                            <m:nor/>
                          </m:rPr>
                          <a:rPr lang="en-US" sz="1200" b="0" i="0" smtClean="0">
                            <a:latin typeface="TT Hoves" panose="020B0604020202020204" charset="0"/>
                          </a:rPr>
                          <m:t>FC</m:t>
                        </m:r>
                        <m:r>
                          <m:rPr>
                            <m:nor/>
                          </m:rPr>
                          <a:rPr lang="en-US" sz="1200" b="0" i="0" smtClean="0">
                            <a:latin typeface="TT Hoves" panose="020B0604020202020204" charset="0"/>
                          </a:rPr>
                          <m:t> </m:t>
                        </m:r>
                        <m:r>
                          <m:rPr>
                            <m:nor/>
                          </m:rPr>
                          <a:rPr lang="en-US" sz="1200" b="0" i="0" smtClean="0">
                            <a:latin typeface="TT Hoves" panose="020B0604020202020204" charset="0"/>
                          </a:rPr>
                          <m:t>x</m:t>
                        </m:r>
                        <m:r>
                          <m:rPr>
                            <m:nor/>
                          </m:rPr>
                          <a:rPr lang="en-US" sz="1200" b="0" i="0" smtClean="0">
                            <a:latin typeface="TT Hoves" panose="020B0604020202020204" charset="0"/>
                          </a:rPr>
                          <m:t> </m:t>
                        </m:r>
                        <m:d>
                          <m:dPr>
                            <m:ctrlPr>
                              <a:rPr lang="en-US" sz="1200" b="0" i="1" smtClean="0">
                                <a:latin typeface="Cambria Math" panose="02040503050406030204" pitchFamily="18" charset="0"/>
                              </a:rPr>
                            </m:ctrlPr>
                          </m:dPr>
                          <m:e>
                            <m:r>
                              <m:rPr>
                                <m:nor/>
                              </m:rPr>
                              <a:rPr lang="en-US" sz="1200" b="0" i="0" smtClean="0">
                                <a:latin typeface="TT Hoves" panose="020B0604020202020204" charset="0"/>
                              </a:rPr>
                              <m:t>100 −%</m:t>
                            </m:r>
                            <m:r>
                              <m:rPr>
                                <m:nor/>
                              </m:rPr>
                              <a:rPr lang="en-US" sz="1200" b="0" i="0" smtClean="0">
                                <a:latin typeface="TT Hoves" panose="020B0604020202020204" charset="0"/>
                              </a:rPr>
                              <m:t>Damage</m:t>
                            </m:r>
                          </m:e>
                        </m:d>
                        <m:r>
                          <m:rPr>
                            <m:nor/>
                          </m:rPr>
                          <a:rPr lang="en-US" sz="1200" b="0" i="0" smtClean="0">
                            <a:latin typeface="TT Hoves" panose="020B0604020202020204" charset="0"/>
                          </a:rPr>
                          <m:t>x</m:t>
                        </m:r>
                        <m:r>
                          <m:rPr>
                            <m:nor/>
                          </m:rPr>
                          <a:rPr lang="en-US" sz="1200" b="0" i="0" smtClean="0">
                            <a:latin typeface="TT Hoves" panose="020B0604020202020204" charset="0"/>
                          </a:rPr>
                          <m:t> </m:t>
                        </m:r>
                        <m:r>
                          <m:rPr>
                            <m:nor/>
                          </m:rPr>
                          <a:rPr lang="en-US" sz="1200" b="0" i="0" smtClean="0">
                            <a:latin typeface="TT Hoves" panose="020B0604020202020204" charset="0"/>
                          </a:rPr>
                          <m:t>Eff</m:t>
                        </m:r>
                      </m:num>
                      <m:den>
                        <m:r>
                          <m:rPr>
                            <m:nor/>
                          </m:rPr>
                          <a:rPr lang="en-US" sz="1200" b="0" i="0" smtClean="0">
                            <a:latin typeface="TT Hoves" panose="020B0604020202020204" charset="0"/>
                          </a:rPr>
                          <m:t>Power</m:t>
                        </m:r>
                      </m:den>
                    </m:f>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0.1∗2.5∗0.5∗0.75</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100−8</m:t>
                            </m:r>
                          </m:e>
                        </m:d>
                        <m:d>
                          <m:dPr>
                            <m:ctrlPr>
                              <a:rPr lang="en-US" sz="1200" b="0" i="1" smtClean="0">
                                <a:latin typeface="Cambria Math" panose="02040503050406030204" pitchFamily="18" charset="0"/>
                              </a:rPr>
                            </m:ctrlPr>
                          </m:dPr>
                          <m:e>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400−30</m:t>
                                </m:r>
                              </m:num>
                              <m:den>
                                <m:r>
                                  <a:rPr lang="en-US" sz="1200" b="0" i="1" smtClean="0">
                                    <a:latin typeface="Cambria Math" panose="02040503050406030204" pitchFamily="18" charset="0"/>
                                  </a:rPr>
                                  <m:t>400</m:t>
                                </m:r>
                              </m:den>
                            </m:f>
                          </m:e>
                        </m:d>
                      </m:num>
                      <m:den>
                        <m:r>
                          <a:rPr lang="en-US" sz="1200" b="0" i="1" smtClean="0">
                            <a:latin typeface="Cambria Math" panose="02040503050406030204" pitchFamily="18" charset="0"/>
                          </a:rPr>
                          <m:t>1</m:t>
                        </m:r>
                      </m:den>
                    </m:f>
                    <m:r>
                      <a:rPr lang="en-US" sz="1200" b="0" i="1" smtClean="0">
                        <a:latin typeface="Cambria Math" panose="02040503050406030204" pitchFamily="18" charset="0"/>
                      </a:rPr>
                      <m:t>=797</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h𝑎</m:t>
                        </m:r>
                      </m:num>
                      <m:den>
                        <m:r>
                          <a:rPr lang="en-US" sz="1200" b="0" i="1" smtClean="0">
                            <a:latin typeface="Cambria Math" panose="02040503050406030204" pitchFamily="18" charset="0"/>
                          </a:rPr>
                          <m:t>h𝑟</m:t>
                        </m:r>
                        <m:r>
                          <a:rPr lang="en-US" sz="1200" b="0" i="1" smtClean="0">
                            <a:latin typeface="Cambria Math" panose="02040503050406030204" pitchFamily="18" charset="0"/>
                          </a:rPr>
                          <m:t>−</m:t>
                        </m:r>
                        <m:r>
                          <a:rPr lang="en-US" sz="1200" b="0" i="1" smtClean="0">
                            <a:latin typeface="Cambria Math" panose="02040503050406030204" pitchFamily="18" charset="0"/>
                          </a:rPr>
                          <m:t>h𝑝</m:t>
                        </m:r>
                      </m:den>
                    </m:f>
                  </m:oMath>
                </a14:m>
                <a:endParaRPr lang="en-US" sz="1200" dirty="0">
                  <a:latin typeface="TT Hoves" panose="020B0604020202020204" charset="0"/>
                </a:endParaRPr>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The </a:t>
                </a:r>
                <a:r>
                  <a:rPr lang="en-US" b="1" dirty="0"/>
                  <a:t>performance index</a:t>
                </a:r>
                <a:r>
                  <a:rPr lang="en-US" dirty="0"/>
                  <a:t> is a measure used to evaluate the efficiency and effectiveness of agricultural machinery in performing a specific task, such as weeding, planting, or harvesting. It helps to quantify how well the machine performs relative to its power output (usually horsepower) and the work it accomplishes over a given period or area.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T Hoves" panose="020B0604020202020204" charset="0"/>
                  </a:rPr>
                  <a:t>Perf. Index = </a:t>
                </a:r>
                <a:r>
                  <a:rPr lang="en-US" sz="1200" b="0" i="0">
                    <a:latin typeface="TT Hoves" panose="020B0604020202020204" charset="0"/>
                  </a:rPr>
                  <a:t>"FC x </a:t>
                </a:r>
                <a:r>
                  <a:rPr lang="en-US" sz="1200" b="0" i="0">
                    <a:latin typeface="Cambria Math" panose="02040503050406030204" pitchFamily="18" charset="0"/>
                  </a:rPr>
                  <a:t>" ("</a:t>
                </a:r>
                <a:r>
                  <a:rPr lang="en-US" sz="1200" b="0" i="0">
                    <a:latin typeface="TT Hoves" panose="020B0604020202020204" charset="0"/>
                  </a:rPr>
                  <a:t>100 −%Damage</a:t>
                </a:r>
                <a:r>
                  <a:rPr lang="en-US" sz="1200" b="0" i="0">
                    <a:latin typeface="Cambria Math" panose="02040503050406030204" pitchFamily="18" charset="0"/>
                  </a:rPr>
                  <a:t>" )"</a:t>
                </a:r>
                <a:r>
                  <a:rPr lang="en-US" sz="1200" b="0" i="0">
                    <a:latin typeface="TT Hoves" panose="020B0604020202020204" charset="0"/>
                  </a:rPr>
                  <a:t>x Eff</a:t>
                </a:r>
                <a:r>
                  <a:rPr lang="en-US" sz="1200" b="0" i="0">
                    <a:latin typeface="Cambria Math" panose="02040503050406030204" pitchFamily="18" charset="0"/>
                  </a:rPr>
                  <a:t>" /"</a:t>
                </a:r>
                <a:r>
                  <a:rPr lang="en-US" sz="1200" b="0" i="0">
                    <a:latin typeface="TT Hoves" panose="020B0604020202020204" charset="0"/>
                  </a:rPr>
                  <a:t>Power</a:t>
                </a:r>
                <a:r>
                  <a:rPr lang="en-US" sz="1200" b="0" i="0">
                    <a:latin typeface="Cambria Math" panose="02040503050406030204" pitchFamily="18" charset="0"/>
                  </a:rPr>
                  <a:t>" =(0.1∗2.5∗0.5∗0.75(100−8)((400−30)/400))/1=797 ℎ𝑎/(ℎ𝑟−ℎ𝑝)</a:t>
                </a:r>
                <a:endParaRPr lang="en-US" sz="1200" dirty="0">
                  <a:latin typeface="TT Hoves" panose="020B0604020202020204" charset="0"/>
                </a:endParaRP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95</a:t>
            </a:fld>
            <a:endParaRPr lang="en-US"/>
          </a:p>
        </p:txBody>
      </p:sp>
    </p:spTree>
    <p:extLst>
      <p:ext uri="{BB962C8B-B14F-4D97-AF65-F5344CB8AC3E}">
        <p14:creationId xmlns:p14="http://schemas.microsoft.com/office/powerpoint/2010/main" val="2159855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98</a:t>
            </a:fld>
            <a:endParaRPr lang="en-US"/>
          </a:p>
        </p:txBody>
      </p:sp>
    </p:spTree>
    <p:extLst>
      <p:ext uri="{BB962C8B-B14F-4D97-AF65-F5344CB8AC3E}">
        <p14:creationId xmlns:p14="http://schemas.microsoft.com/office/powerpoint/2010/main" val="4225300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6*120*4= 2880 ha</a:t>
            </a:r>
          </a:p>
          <a:p>
            <a:r>
              <a:rPr lang="en-US" dirty="0"/>
              <a:t>4*120*5 = 2400 ha</a:t>
            </a:r>
          </a:p>
          <a:p>
            <a:endParaRPr lang="en-US" dirty="0"/>
          </a:p>
          <a:p>
            <a:r>
              <a:rPr lang="en-US" dirty="0"/>
              <a:t>4 tractors * X ha/tractor/day * 5 days = 2880</a:t>
            </a:r>
          </a:p>
          <a:p>
            <a:r>
              <a:rPr lang="en-US" dirty="0"/>
              <a:t>20X = 2880</a:t>
            </a:r>
          </a:p>
          <a:p>
            <a:endParaRPr lang="en-US" dirty="0"/>
          </a:p>
          <a:p>
            <a:r>
              <a:rPr lang="en-US" dirty="0"/>
              <a:t>X = 2880/20=144 ha</a:t>
            </a:r>
          </a:p>
        </p:txBody>
      </p:sp>
      <p:sp>
        <p:nvSpPr>
          <p:cNvPr id="4" name="Slide Number Placeholder 3"/>
          <p:cNvSpPr>
            <a:spLocks noGrp="1"/>
          </p:cNvSpPr>
          <p:nvPr>
            <p:ph type="sldNum" sz="quarter" idx="5"/>
          </p:nvPr>
        </p:nvSpPr>
        <p:spPr/>
        <p:txBody>
          <a:bodyPr/>
          <a:lstStyle/>
          <a:p>
            <a:fld id="{88FD07C0-C604-4274-A558-13916864F18D}" type="slidenum">
              <a:rPr lang="en-US" smtClean="0"/>
              <a:t>100</a:t>
            </a:fld>
            <a:endParaRPr lang="en-US"/>
          </a:p>
        </p:txBody>
      </p:sp>
    </p:spTree>
    <p:extLst>
      <p:ext uri="{BB962C8B-B14F-4D97-AF65-F5344CB8AC3E}">
        <p14:creationId xmlns:p14="http://schemas.microsoft.com/office/powerpoint/2010/main" val="40045920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Based on </a:t>
            </a:r>
            <a:r>
              <a:rPr lang="en-US" sz="1200" b="0" i="0" kern="1200" dirty="0" err="1">
                <a:solidFill>
                  <a:schemeClr val="tx1"/>
                </a:solidFill>
                <a:effectLst/>
                <a:latin typeface="+mn-lt"/>
                <a:ea typeface="+mn-ea"/>
                <a:cs typeface="+mn-cs"/>
              </a:rPr>
              <a:t>PHilMech’s</a:t>
            </a:r>
            <a:r>
              <a:rPr lang="en-US" sz="1200" b="0" i="0" kern="1200" dirty="0">
                <a:solidFill>
                  <a:schemeClr val="tx1"/>
                </a:solidFill>
                <a:effectLst/>
                <a:latin typeface="+mn-lt"/>
                <a:ea typeface="+mn-ea"/>
                <a:cs typeface="+mn-cs"/>
              </a:rPr>
              <a:t> assessment, the highest mechanization level was logged in Region 2 with 3.5079 hp/ha, while the lowest was in the Bangsamoro Autonomous Region in Muslim Mindanao (BARRM) with 0.9031 hp/ha.</a:t>
            </a:r>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103</a:t>
            </a:fld>
            <a:endParaRPr lang="en-US"/>
          </a:p>
        </p:txBody>
      </p:sp>
    </p:spTree>
    <p:extLst>
      <p:ext uri="{BB962C8B-B14F-4D97-AF65-F5344CB8AC3E}">
        <p14:creationId xmlns:p14="http://schemas.microsoft.com/office/powerpoint/2010/main" val="40811227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a:t>
            </a:r>
            <a:r>
              <a:rPr lang="en-US" b="1" dirty="0"/>
              <a:t>perfect competition</a:t>
            </a:r>
            <a:r>
              <a:rPr lang="en-US" dirty="0"/>
              <a:t> market, there are a </a:t>
            </a:r>
            <a:r>
              <a:rPr lang="en-US" b="1" dirty="0"/>
              <a:t>large number of vendors</a:t>
            </a:r>
            <a:r>
              <a:rPr lang="en-US" dirty="0"/>
              <a:t> supplying an identical product. </a:t>
            </a:r>
            <a:r>
              <a:rPr lang="en-US" b="1" dirty="0"/>
              <a:t>No restrictions</a:t>
            </a:r>
            <a:r>
              <a:rPr lang="en-US" dirty="0"/>
              <a:t> exist for new vendors to enter the market, and each vendor has no control over the price—prices are determined by supply and demand.</a:t>
            </a:r>
          </a:p>
          <a:p>
            <a:endParaRPr lang="en-US" dirty="0"/>
          </a:p>
          <a:p>
            <a:r>
              <a:rPr lang="en-US" b="1" dirty="0"/>
              <a:t>Oligopoly</a:t>
            </a:r>
            <a:r>
              <a:rPr lang="en-US" dirty="0"/>
              <a:t>: A market where a </a:t>
            </a:r>
            <a:r>
              <a:rPr lang="en-US" b="1" dirty="0"/>
              <a:t>few large sellers</a:t>
            </a:r>
            <a:r>
              <a:rPr lang="en-US" dirty="0"/>
              <a:t> dominate the market, and entry by new competitors is typically difficult due to barriers like high capital costs or patents.</a:t>
            </a:r>
          </a:p>
          <a:p>
            <a:r>
              <a:rPr lang="en-US" b="1" dirty="0"/>
              <a:t>Oligopsony</a:t>
            </a:r>
            <a:r>
              <a:rPr lang="en-US" dirty="0"/>
              <a:t>: A market where there are </a:t>
            </a:r>
            <a:r>
              <a:rPr lang="en-US" b="1" dirty="0"/>
              <a:t>few buyers</a:t>
            </a:r>
            <a:r>
              <a:rPr lang="en-US" dirty="0"/>
              <a:t> controlling demand for a product.</a:t>
            </a:r>
          </a:p>
          <a:p>
            <a:r>
              <a:rPr lang="en-US" b="1" dirty="0"/>
              <a:t>Monopoly</a:t>
            </a:r>
            <a:r>
              <a:rPr lang="en-US" dirty="0"/>
              <a:t>: A market dominated by a </a:t>
            </a:r>
            <a:r>
              <a:rPr lang="en-US" b="1" dirty="0"/>
              <a:t>single seller</a:t>
            </a:r>
            <a:r>
              <a:rPr lang="en-US" dirty="0"/>
              <a:t>, with no competition and significant barriers to entry for others.</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105</a:t>
            </a:fld>
            <a:endParaRPr lang="en-US"/>
          </a:p>
        </p:txBody>
      </p:sp>
    </p:spTree>
    <p:extLst>
      <p:ext uri="{BB962C8B-B14F-4D97-AF65-F5344CB8AC3E}">
        <p14:creationId xmlns:p14="http://schemas.microsoft.com/office/powerpoint/2010/main" val="3137213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a:t>
            </a:r>
            <a:r>
              <a:rPr lang="en-US" b="1" dirty="0"/>
              <a:t>perfect competition</a:t>
            </a:r>
            <a:r>
              <a:rPr lang="en-US" dirty="0"/>
              <a:t> market, there are a </a:t>
            </a:r>
            <a:r>
              <a:rPr lang="en-US" b="1" dirty="0"/>
              <a:t>large number of vendors</a:t>
            </a:r>
            <a:r>
              <a:rPr lang="en-US" dirty="0"/>
              <a:t> supplying an identical product. </a:t>
            </a:r>
            <a:r>
              <a:rPr lang="en-US" b="1" dirty="0"/>
              <a:t>No restrictions</a:t>
            </a:r>
            <a:r>
              <a:rPr lang="en-US" dirty="0"/>
              <a:t> exist for new vendors to enter the market, and each vendor has no control over the price—prices are determined by supply and demand.</a:t>
            </a:r>
          </a:p>
          <a:p>
            <a:endParaRPr lang="en-US" dirty="0"/>
          </a:p>
          <a:p>
            <a:r>
              <a:rPr lang="en-US" b="1" dirty="0"/>
              <a:t>Oligopoly</a:t>
            </a:r>
            <a:r>
              <a:rPr lang="en-US" dirty="0"/>
              <a:t>: A market where a </a:t>
            </a:r>
            <a:r>
              <a:rPr lang="en-US" b="1" dirty="0"/>
              <a:t>few large sellers</a:t>
            </a:r>
            <a:r>
              <a:rPr lang="en-US" dirty="0"/>
              <a:t> dominate the market, and entry by new competitors is typically difficult due to barriers like high capital costs or patents.</a:t>
            </a:r>
          </a:p>
          <a:p>
            <a:r>
              <a:rPr lang="en-US" b="1" dirty="0"/>
              <a:t>Oligopsony</a:t>
            </a:r>
            <a:r>
              <a:rPr lang="en-US" dirty="0"/>
              <a:t>: A market where there are </a:t>
            </a:r>
            <a:r>
              <a:rPr lang="en-US" b="1" dirty="0"/>
              <a:t>few buyers</a:t>
            </a:r>
            <a:r>
              <a:rPr lang="en-US" dirty="0"/>
              <a:t> controlling demand for a product.</a:t>
            </a:r>
          </a:p>
          <a:p>
            <a:r>
              <a:rPr lang="en-US" b="1" dirty="0"/>
              <a:t>Monopoly</a:t>
            </a:r>
            <a:r>
              <a:rPr lang="en-US" dirty="0"/>
              <a:t>: A market dominated by a </a:t>
            </a:r>
            <a:r>
              <a:rPr lang="en-US" b="1" dirty="0"/>
              <a:t>single seller</a:t>
            </a:r>
            <a:r>
              <a:rPr lang="en-US" dirty="0"/>
              <a:t>, with no competition and significant barriers to entry for others.</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106</a:t>
            </a:fld>
            <a:endParaRPr lang="en-US"/>
          </a:p>
        </p:txBody>
      </p:sp>
    </p:spTree>
    <p:extLst>
      <p:ext uri="{BB962C8B-B14F-4D97-AF65-F5344CB8AC3E}">
        <p14:creationId xmlns:p14="http://schemas.microsoft.com/office/powerpoint/2010/main" val="34426705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a:t>
            </a:r>
            <a:r>
              <a:rPr lang="en-US" b="1" dirty="0"/>
              <a:t>perfect competition</a:t>
            </a:r>
            <a:r>
              <a:rPr lang="en-US" dirty="0"/>
              <a:t> market, there are a </a:t>
            </a:r>
            <a:r>
              <a:rPr lang="en-US" b="1" dirty="0"/>
              <a:t>large number of vendors</a:t>
            </a:r>
            <a:r>
              <a:rPr lang="en-US" dirty="0"/>
              <a:t> supplying an identical product. </a:t>
            </a:r>
            <a:r>
              <a:rPr lang="en-US" b="1" dirty="0"/>
              <a:t>No restrictions</a:t>
            </a:r>
            <a:r>
              <a:rPr lang="en-US" dirty="0"/>
              <a:t> exist for new vendors to enter the market, and each vendor has no control over the price—prices are determined by supply and demand.</a:t>
            </a:r>
          </a:p>
          <a:p>
            <a:endParaRPr lang="en-US" dirty="0"/>
          </a:p>
          <a:p>
            <a:r>
              <a:rPr lang="en-US" b="1" dirty="0"/>
              <a:t>Oligopoly</a:t>
            </a:r>
            <a:r>
              <a:rPr lang="en-US" dirty="0"/>
              <a:t>: A market where a </a:t>
            </a:r>
            <a:r>
              <a:rPr lang="en-US" b="1" dirty="0"/>
              <a:t>few large sellers</a:t>
            </a:r>
            <a:r>
              <a:rPr lang="en-US" dirty="0"/>
              <a:t> dominate the market, and entry by new competitors is typically difficult due to barriers like high capital costs or patents.</a:t>
            </a:r>
          </a:p>
          <a:p>
            <a:r>
              <a:rPr lang="en-US" b="1" dirty="0"/>
              <a:t>Oligopsony</a:t>
            </a:r>
            <a:r>
              <a:rPr lang="en-US" dirty="0"/>
              <a:t>: A market where there are </a:t>
            </a:r>
            <a:r>
              <a:rPr lang="en-US" b="1" dirty="0"/>
              <a:t>few buyers</a:t>
            </a:r>
            <a:r>
              <a:rPr lang="en-US" dirty="0"/>
              <a:t> controlling demand for a product.</a:t>
            </a:r>
          </a:p>
          <a:p>
            <a:r>
              <a:rPr lang="en-US" b="1" dirty="0"/>
              <a:t>Monopoly</a:t>
            </a:r>
            <a:r>
              <a:rPr lang="en-US" dirty="0"/>
              <a:t>: A market dominated by a </a:t>
            </a:r>
            <a:r>
              <a:rPr lang="en-US" b="1" dirty="0"/>
              <a:t>single seller</a:t>
            </a:r>
            <a:r>
              <a:rPr lang="en-US" dirty="0"/>
              <a:t>, with no competition and significant barriers to entry for others.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107</a:t>
            </a:fld>
            <a:endParaRPr lang="en-US"/>
          </a:p>
        </p:txBody>
      </p:sp>
    </p:spTree>
    <p:extLst>
      <p:ext uri="{BB962C8B-B14F-4D97-AF65-F5344CB8AC3E}">
        <p14:creationId xmlns:p14="http://schemas.microsoft.com/office/powerpoint/2010/main" val="32917470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109</a:t>
            </a:fld>
            <a:endParaRPr lang="en-US"/>
          </a:p>
        </p:txBody>
      </p:sp>
    </p:spTree>
    <p:extLst>
      <p:ext uri="{BB962C8B-B14F-4D97-AF65-F5344CB8AC3E}">
        <p14:creationId xmlns:p14="http://schemas.microsoft.com/office/powerpoint/2010/main" val="5480889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API (American Petroleum Institute) Service Classification for gasoline engines</a:t>
            </a:r>
            <a:r>
              <a:rPr lang="en-US" dirty="0"/>
              <a:t> uses the </a:t>
            </a:r>
            <a:r>
              <a:rPr lang="en-US" b="1" dirty="0"/>
              <a:t>S-series</a:t>
            </a:r>
            <a:r>
              <a:rPr lang="en-US" dirty="0"/>
              <a:t>. This series is specifically designed for </a:t>
            </a:r>
            <a:r>
              <a:rPr lang="en-US" b="1" dirty="0"/>
              <a:t>spark ignition engines</a:t>
            </a:r>
            <a:r>
              <a:rPr lang="en-US" dirty="0"/>
              <a:t> (gasoline engines).</a:t>
            </a:r>
          </a:p>
          <a:p>
            <a:endParaRPr lang="en-US" dirty="0"/>
          </a:p>
          <a:p>
            <a:r>
              <a:rPr lang="en-US" b="1" dirty="0"/>
              <a:t>G-series</a:t>
            </a:r>
            <a:r>
              <a:rPr lang="en-US" dirty="0"/>
              <a:t>: Not an API classification for engine oils.</a:t>
            </a:r>
          </a:p>
          <a:p>
            <a:r>
              <a:rPr lang="en-US" b="1" dirty="0"/>
              <a:t>C-series</a:t>
            </a:r>
            <a:r>
              <a:rPr lang="en-US" dirty="0"/>
              <a:t>: This is for </a:t>
            </a:r>
            <a:r>
              <a:rPr lang="en-US" b="1" dirty="0"/>
              <a:t>diesel engine oils</a:t>
            </a:r>
            <a:r>
              <a:rPr lang="en-US" dirty="0"/>
              <a:t> (stands for "Compression" engines), like </a:t>
            </a:r>
            <a:r>
              <a:rPr lang="en-US" b="1" dirty="0"/>
              <a:t>API CF, CJ-4</a:t>
            </a:r>
            <a:r>
              <a:rPr lang="en-US" dirty="0"/>
              <a:t>, etc.</a:t>
            </a:r>
          </a:p>
          <a:p>
            <a:r>
              <a:rPr lang="en-US" b="1" dirty="0"/>
              <a:t>F-series</a:t>
            </a:r>
            <a:r>
              <a:rPr lang="en-US" dirty="0"/>
              <a:t>: Not a standard API classification.</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110</a:t>
            </a:fld>
            <a:endParaRPr lang="en-US"/>
          </a:p>
        </p:txBody>
      </p:sp>
    </p:spTree>
    <p:extLst>
      <p:ext uri="{BB962C8B-B14F-4D97-AF65-F5344CB8AC3E}">
        <p14:creationId xmlns:p14="http://schemas.microsoft.com/office/powerpoint/2010/main" val="25581741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a:t>
            </a:r>
            <a:r>
              <a:rPr lang="en-US" dirty="0"/>
              <a:t>: A </a:t>
            </a:r>
            <a:r>
              <a:rPr lang="en-US" b="1" dirty="0"/>
              <a:t>key</a:t>
            </a:r>
            <a:r>
              <a:rPr lang="en-US" dirty="0"/>
              <a:t> is a component used to </a:t>
            </a:r>
            <a:r>
              <a:rPr lang="en-US" b="1" dirty="0"/>
              <a:t>secure rotating parts</a:t>
            </a:r>
            <a:r>
              <a:rPr lang="en-US" dirty="0"/>
              <a:t> (like a shaft and a wheel) to prevent them from slipping relative to each other. It does not allow rotation itself.</a:t>
            </a:r>
          </a:p>
          <a:p>
            <a:r>
              <a:rPr lang="en-US" b="1" dirty="0"/>
              <a:t>Shaft</a:t>
            </a:r>
            <a:r>
              <a:rPr lang="en-US" dirty="0"/>
              <a:t>: A </a:t>
            </a:r>
            <a:r>
              <a:rPr lang="en-US" b="1" dirty="0"/>
              <a:t>shaft</a:t>
            </a:r>
            <a:r>
              <a:rPr lang="en-US" dirty="0"/>
              <a:t> is a component that </a:t>
            </a:r>
            <a:r>
              <a:rPr lang="en-US" b="1" dirty="0"/>
              <a:t>transmits torque</a:t>
            </a:r>
            <a:r>
              <a:rPr lang="en-US" dirty="0"/>
              <a:t> and rotation, but it doesn't specifically reduce friction or support rotation.</a:t>
            </a:r>
          </a:p>
          <a:p>
            <a:r>
              <a:rPr lang="en-US" b="1" dirty="0"/>
              <a:t>Spline</a:t>
            </a:r>
            <a:r>
              <a:rPr lang="en-US" dirty="0"/>
              <a:t>: A </a:t>
            </a:r>
            <a:r>
              <a:rPr lang="en-US" b="1" dirty="0"/>
              <a:t>spline</a:t>
            </a:r>
            <a:r>
              <a:rPr lang="en-US" dirty="0"/>
              <a:t> is a mechanical feature used to transmit torque, typically by allowing a </a:t>
            </a:r>
            <a:r>
              <a:rPr lang="en-US" b="1" dirty="0"/>
              <a:t>keyed connection</a:t>
            </a:r>
            <a:r>
              <a:rPr lang="en-US" dirty="0"/>
              <a:t> between a shaft and another component, but it does not specifically reduce friction or support rotation in the same way bearings do.</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112</a:t>
            </a:fld>
            <a:endParaRPr lang="en-US"/>
          </a:p>
        </p:txBody>
      </p:sp>
    </p:spTree>
    <p:extLst>
      <p:ext uri="{BB962C8B-B14F-4D97-AF65-F5344CB8AC3E}">
        <p14:creationId xmlns:p14="http://schemas.microsoft.com/office/powerpoint/2010/main" val="18887127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a:t>
            </a:r>
            <a:r>
              <a:rPr lang="en-US" dirty="0"/>
              <a:t>: A </a:t>
            </a:r>
            <a:r>
              <a:rPr lang="en-US" b="1" dirty="0"/>
              <a:t>key</a:t>
            </a:r>
            <a:r>
              <a:rPr lang="en-US" dirty="0"/>
              <a:t> is a component used to </a:t>
            </a:r>
            <a:r>
              <a:rPr lang="en-US" b="1" dirty="0"/>
              <a:t>secure rotating parts</a:t>
            </a:r>
            <a:r>
              <a:rPr lang="en-US" dirty="0"/>
              <a:t> (like a shaft and a wheel) to prevent them from slipping relative to each other. It does not allow rotation itself.</a:t>
            </a:r>
          </a:p>
          <a:p>
            <a:r>
              <a:rPr lang="en-US" b="1" dirty="0"/>
              <a:t>Shaft</a:t>
            </a:r>
            <a:r>
              <a:rPr lang="en-US" dirty="0"/>
              <a:t>: A </a:t>
            </a:r>
            <a:r>
              <a:rPr lang="en-US" b="1" dirty="0"/>
              <a:t>shaft</a:t>
            </a:r>
            <a:r>
              <a:rPr lang="en-US" dirty="0"/>
              <a:t> is a component that </a:t>
            </a:r>
            <a:r>
              <a:rPr lang="en-US" b="1" dirty="0"/>
              <a:t>transmits torque</a:t>
            </a:r>
            <a:r>
              <a:rPr lang="en-US" dirty="0"/>
              <a:t> and rotation, but it doesn't specifically reduce friction or support rotation.</a:t>
            </a:r>
          </a:p>
          <a:p>
            <a:r>
              <a:rPr lang="en-US" b="1" dirty="0"/>
              <a:t>Spline</a:t>
            </a:r>
            <a:r>
              <a:rPr lang="en-US" dirty="0"/>
              <a:t>: A </a:t>
            </a:r>
            <a:r>
              <a:rPr lang="en-US" b="1" dirty="0"/>
              <a:t>spline</a:t>
            </a:r>
            <a:r>
              <a:rPr lang="en-US" dirty="0"/>
              <a:t> is a mechanical feature used to transmit torque, typically by allowing a </a:t>
            </a:r>
            <a:r>
              <a:rPr lang="en-US" b="1" dirty="0"/>
              <a:t>keyed connection</a:t>
            </a:r>
            <a:r>
              <a:rPr lang="en-US" dirty="0"/>
              <a:t> between a shaft and another component, but it does not specifically reduce friction or support rotation in the same way bearings do.</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113</a:t>
            </a:fld>
            <a:endParaRPr lang="en-US"/>
          </a:p>
        </p:txBody>
      </p:sp>
    </p:spTree>
    <p:extLst>
      <p:ext uri="{BB962C8B-B14F-4D97-AF65-F5344CB8AC3E}">
        <p14:creationId xmlns:p14="http://schemas.microsoft.com/office/powerpoint/2010/main" val="3610521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a:t>
            </a:r>
            <a:r>
              <a:rPr lang="en-US" dirty="0"/>
              <a:t>: A </a:t>
            </a:r>
            <a:r>
              <a:rPr lang="en-US" b="1" dirty="0"/>
              <a:t>key</a:t>
            </a:r>
            <a:r>
              <a:rPr lang="en-US" dirty="0"/>
              <a:t> is a component used to </a:t>
            </a:r>
            <a:r>
              <a:rPr lang="en-US" b="1" dirty="0"/>
              <a:t>secure rotating parts</a:t>
            </a:r>
            <a:r>
              <a:rPr lang="en-US" dirty="0"/>
              <a:t> (like a shaft and a wheel) to prevent them from slipping relative to each other. It does not allow rotation itself.</a:t>
            </a:r>
          </a:p>
          <a:p>
            <a:r>
              <a:rPr lang="en-US" b="1" dirty="0"/>
              <a:t>Shaft</a:t>
            </a:r>
            <a:r>
              <a:rPr lang="en-US" dirty="0"/>
              <a:t>: A </a:t>
            </a:r>
            <a:r>
              <a:rPr lang="en-US" b="1" dirty="0"/>
              <a:t>shaft</a:t>
            </a:r>
            <a:r>
              <a:rPr lang="en-US" dirty="0"/>
              <a:t> is a component that </a:t>
            </a:r>
            <a:r>
              <a:rPr lang="en-US" b="1" dirty="0"/>
              <a:t>transmits torque</a:t>
            </a:r>
            <a:r>
              <a:rPr lang="en-US" dirty="0"/>
              <a:t> and rotation, but it doesn't specifically reduce friction or support rotation.</a:t>
            </a:r>
          </a:p>
          <a:p>
            <a:r>
              <a:rPr lang="en-US" b="1" dirty="0"/>
              <a:t>Spline</a:t>
            </a:r>
            <a:r>
              <a:rPr lang="en-US" dirty="0"/>
              <a:t>: A </a:t>
            </a:r>
            <a:r>
              <a:rPr lang="en-US" b="1" dirty="0"/>
              <a:t>spline</a:t>
            </a:r>
            <a:r>
              <a:rPr lang="en-US" dirty="0"/>
              <a:t> is a mechanical feature used to transmit torque, typically by allowing a </a:t>
            </a:r>
            <a:r>
              <a:rPr lang="en-US" b="1" dirty="0"/>
              <a:t>keyed connection</a:t>
            </a:r>
            <a:r>
              <a:rPr lang="en-US" dirty="0"/>
              <a:t> between a shaft and another component, but it does not specifically reduce friction or support rotation in the same way bearings do.</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114</a:t>
            </a:fld>
            <a:endParaRPr lang="en-US"/>
          </a:p>
        </p:txBody>
      </p:sp>
    </p:spTree>
    <p:extLst>
      <p:ext uri="{BB962C8B-B14F-4D97-AF65-F5344CB8AC3E}">
        <p14:creationId xmlns:p14="http://schemas.microsoft.com/office/powerpoint/2010/main" val="12980665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 </a:t>
            </a:r>
            <a:r>
              <a:rPr lang="en-US" dirty="0" err="1"/>
              <a:t>Yanmar</a:t>
            </a:r>
            <a:r>
              <a:rPr lang="en-US" dirty="0"/>
              <a:t>, Kubota</a:t>
            </a:r>
          </a:p>
          <a:p>
            <a:r>
              <a:rPr lang="en-US" dirty="0"/>
              <a:t>Korea – Goldstar</a:t>
            </a:r>
          </a:p>
          <a:p>
            <a:r>
              <a:rPr lang="en-US" dirty="0"/>
              <a:t>USA – Kohler, John Deer, Ford Tractor, Briggs Station</a:t>
            </a:r>
          </a:p>
          <a:p>
            <a:r>
              <a:rPr lang="en-US" dirty="0"/>
              <a:t>UK – Massey </a:t>
            </a:r>
            <a:r>
              <a:rPr lang="en-US" dirty="0" err="1"/>
              <a:t>Fergyson</a:t>
            </a:r>
            <a:endParaRPr lang="en-US" dirty="0"/>
          </a:p>
          <a:p>
            <a:r>
              <a:rPr lang="en-US" dirty="0"/>
              <a:t>Finland – </a:t>
            </a:r>
            <a:r>
              <a:rPr lang="en-US" dirty="0" err="1"/>
              <a:t>Valtra</a:t>
            </a:r>
            <a:r>
              <a:rPr lang="en-US" dirty="0"/>
              <a:t> </a:t>
            </a:r>
            <a:r>
              <a:rPr lang="en-US" dirty="0" err="1"/>
              <a:t>Velmet</a:t>
            </a:r>
            <a:endParaRPr lang="en-US" dirty="0"/>
          </a:p>
          <a:p>
            <a:r>
              <a:rPr lang="en-US" dirty="0"/>
              <a:t>Switzerland – MAG</a:t>
            </a:r>
          </a:p>
          <a:p>
            <a:r>
              <a:rPr lang="en-US" dirty="0"/>
              <a:t>Brazil – </a:t>
            </a:r>
            <a:r>
              <a:rPr lang="en-US" dirty="0" err="1"/>
              <a:t>Maxion</a:t>
            </a:r>
            <a:r>
              <a:rPr lang="en-US" dirty="0"/>
              <a:t> Tractor</a:t>
            </a:r>
          </a:p>
          <a:p>
            <a:endParaRPr lang="en-US" dirty="0"/>
          </a:p>
          <a:p>
            <a:r>
              <a:rPr lang="en-US" dirty="0"/>
              <a:t>Engines:</a:t>
            </a:r>
          </a:p>
          <a:p>
            <a:r>
              <a:rPr lang="en-US" dirty="0"/>
              <a:t>Italy – ACME, Ducati</a:t>
            </a:r>
          </a:p>
          <a:p>
            <a:r>
              <a:rPr lang="en-US" dirty="0"/>
              <a:t>Japan – Honda, Kubota, Robin</a:t>
            </a:r>
          </a:p>
          <a:p>
            <a:r>
              <a:rPr lang="en-US" dirty="0"/>
              <a:t>China – Mitsubishi, </a:t>
            </a:r>
            <a:r>
              <a:rPr lang="en-US" dirty="0" err="1"/>
              <a:t>Katsura</a:t>
            </a:r>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118</a:t>
            </a:fld>
            <a:endParaRPr lang="en-US"/>
          </a:p>
        </p:txBody>
      </p:sp>
    </p:spTree>
    <p:extLst>
      <p:ext uri="{BB962C8B-B14F-4D97-AF65-F5344CB8AC3E}">
        <p14:creationId xmlns:p14="http://schemas.microsoft.com/office/powerpoint/2010/main" val="37821905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Fuel stabilizing additives</a:t>
            </a:r>
            <a:r>
              <a:rPr lang="en-US" dirty="0"/>
              <a:t>: These are used to </a:t>
            </a:r>
            <a:r>
              <a:rPr lang="en-US" b="1" dirty="0"/>
              <a:t>prevent fuel from deteriorating or spoiling</a:t>
            </a:r>
            <a:r>
              <a:rPr lang="en-US" dirty="0"/>
              <a:t>, especially for long-term storage. They don’t speed up ignition or reduce fuel consumption.</a:t>
            </a:r>
          </a:p>
          <a:p>
            <a:r>
              <a:rPr lang="en-US" b="1" dirty="0"/>
              <a:t>Fuel injector detergents</a:t>
            </a:r>
            <a:r>
              <a:rPr lang="en-US" dirty="0"/>
              <a:t>: These additives are designed to </a:t>
            </a:r>
            <a:r>
              <a:rPr lang="en-US" b="1" dirty="0"/>
              <a:t>clean the fuel injectors</a:t>
            </a:r>
            <a:r>
              <a:rPr lang="en-US" dirty="0"/>
              <a:t>, improving the fuel spray pattern and overall engine performance. While they help maintain engine efficiency, they do not directly impact fuel consumption or ignition speed.</a:t>
            </a:r>
          </a:p>
          <a:p>
            <a:r>
              <a:rPr lang="en-US" b="1" dirty="0"/>
              <a:t>Anti-gel and corrosion additives</a:t>
            </a:r>
            <a:r>
              <a:rPr lang="en-US" dirty="0"/>
              <a:t>: These additives are used in </a:t>
            </a:r>
            <a:r>
              <a:rPr lang="en-US" b="1" dirty="0"/>
              <a:t>cold weather</a:t>
            </a:r>
            <a:r>
              <a:rPr lang="en-US" dirty="0"/>
              <a:t> to prevent </a:t>
            </a:r>
            <a:r>
              <a:rPr lang="en-US" b="1" dirty="0"/>
              <a:t>fuel from freezing</a:t>
            </a:r>
            <a:r>
              <a:rPr lang="en-US" dirty="0"/>
              <a:t> and to protect the engine from rust or corrosion. They don't have an effect on the ignition speed or fuel consumption.</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122</a:t>
            </a:fld>
            <a:endParaRPr lang="en-US"/>
          </a:p>
        </p:txBody>
      </p:sp>
    </p:spTree>
    <p:extLst>
      <p:ext uri="{BB962C8B-B14F-4D97-AF65-F5344CB8AC3E}">
        <p14:creationId xmlns:p14="http://schemas.microsoft.com/office/powerpoint/2010/main" val="34080367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123</a:t>
            </a:fld>
            <a:endParaRPr lang="en-US"/>
          </a:p>
        </p:txBody>
      </p:sp>
    </p:spTree>
    <p:extLst>
      <p:ext uri="{BB962C8B-B14F-4D97-AF65-F5344CB8AC3E}">
        <p14:creationId xmlns:p14="http://schemas.microsoft.com/office/powerpoint/2010/main" val="37141439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Free on Board (FOB)</a:t>
            </a:r>
            <a:r>
              <a:rPr lang="en-US" dirty="0"/>
              <a:t> is an international shipping term used in trade that means: The </a:t>
            </a:r>
            <a:r>
              <a:rPr lang="en-US" b="1" dirty="0"/>
              <a:t>seller is responsible</a:t>
            </a:r>
            <a:r>
              <a:rPr lang="en-US" dirty="0"/>
              <a:t> for the goods </a:t>
            </a:r>
            <a:r>
              <a:rPr lang="en-US" b="1" dirty="0"/>
              <a:t>only until they are loaded onto the shipping vessel</a:t>
            </a:r>
            <a:r>
              <a:rPr lang="en-US" dirty="0"/>
              <a:t>.</a:t>
            </a:r>
          </a:p>
          <a:p>
            <a:r>
              <a:rPr lang="en-US" dirty="0"/>
              <a:t>Once the goods are </a:t>
            </a:r>
            <a:r>
              <a:rPr lang="en-US" b="1" dirty="0"/>
              <a:t>on board</a:t>
            </a:r>
            <a:r>
              <a:rPr lang="en-US" dirty="0"/>
              <a:t>, the </a:t>
            </a:r>
            <a:r>
              <a:rPr lang="en-US" b="1" dirty="0"/>
              <a:t>risk and responsibility shift to the buyer</a:t>
            </a:r>
            <a:r>
              <a:rPr lang="en-US" dirty="0"/>
              <a:t>, including freight costs, insurance (if not agreed otherwise), and any further handling.</a:t>
            </a:r>
          </a:p>
          <a:p>
            <a:endParaRPr lang="en-US" b="1" dirty="0"/>
          </a:p>
          <a:p>
            <a:endParaRPr lang="en-US" b="1" dirty="0"/>
          </a:p>
          <a:p>
            <a:r>
              <a:rPr lang="en-US" b="1" dirty="0"/>
              <a:t>Cost and Freight (CFR)</a:t>
            </a:r>
            <a:r>
              <a:rPr lang="en-US" dirty="0"/>
              <a:t>: The seller </a:t>
            </a:r>
            <a:r>
              <a:rPr lang="en-US" b="1" dirty="0"/>
              <a:t>pays for the cost and freight</a:t>
            </a:r>
            <a:r>
              <a:rPr lang="en-US" dirty="0"/>
              <a:t> to bring the goods to the destination port, but the </a:t>
            </a:r>
            <a:r>
              <a:rPr lang="en-US" b="1" dirty="0"/>
              <a:t>risk transfers to the buyer</a:t>
            </a:r>
            <a:r>
              <a:rPr lang="en-US" dirty="0"/>
              <a:t> once the goods are loaded on the vessel.</a:t>
            </a:r>
          </a:p>
          <a:p>
            <a:r>
              <a:rPr lang="en-US" b="1" dirty="0"/>
              <a:t>Cost, Insurance, and Freight (CIF)</a:t>
            </a:r>
            <a:r>
              <a:rPr lang="en-US" dirty="0"/>
              <a:t>: Similar to CFR, but here the seller also </a:t>
            </a:r>
            <a:r>
              <a:rPr lang="en-US" b="1" dirty="0"/>
              <a:t>provides insurance</a:t>
            </a:r>
            <a:r>
              <a:rPr lang="en-US" dirty="0"/>
              <a:t> for the goods up to the destination port. Risk still transfers once the goods are on board.</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124</a:t>
            </a:fld>
            <a:endParaRPr lang="en-US"/>
          </a:p>
        </p:txBody>
      </p:sp>
    </p:spTree>
    <p:extLst>
      <p:ext uri="{BB962C8B-B14F-4D97-AF65-F5344CB8AC3E}">
        <p14:creationId xmlns:p14="http://schemas.microsoft.com/office/powerpoint/2010/main" val="8833589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129</a:t>
            </a:fld>
            <a:endParaRPr lang="en-US"/>
          </a:p>
        </p:txBody>
      </p:sp>
    </p:spTree>
    <p:extLst>
      <p:ext uri="{BB962C8B-B14F-4D97-AF65-F5344CB8AC3E}">
        <p14:creationId xmlns:p14="http://schemas.microsoft.com/office/powerpoint/2010/main" val="41122356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a:t>
            </a:r>
            <a:r>
              <a:rPr lang="en-US" b="1" dirty="0"/>
              <a:t>2-stroke-cycle internal combustion engine (ICE)</a:t>
            </a:r>
            <a:r>
              <a:rPr lang="en-US" dirty="0"/>
              <a:t>, there is one </a:t>
            </a:r>
            <a:r>
              <a:rPr lang="en-US" b="1" dirty="0"/>
              <a:t>explosion (power stroke)</a:t>
            </a:r>
            <a:r>
              <a:rPr lang="en-US" dirty="0"/>
              <a:t> for every </a:t>
            </a:r>
            <a:r>
              <a:rPr lang="en-US" b="1" dirty="0"/>
              <a:t>revolution</a:t>
            </a:r>
            <a:r>
              <a:rPr lang="en-US" dirty="0"/>
              <a:t> of the crankshaft. This is because the engine completes a power stroke every time the crankshaft turns.</a:t>
            </a:r>
          </a:p>
        </p:txBody>
      </p:sp>
      <p:sp>
        <p:nvSpPr>
          <p:cNvPr id="4" name="Slide Number Placeholder 3"/>
          <p:cNvSpPr>
            <a:spLocks noGrp="1"/>
          </p:cNvSpPr>
          <p:nvPr>
            <p:ph type="sldNum" sz="quarter" idx="5"/>
          </p:nvPr>
        </p:nvSpPr>
        <p:spPr/>
        <p:txBody>
          <a:bodyPr/>
          <a:lstStyle/>
          <a:p>
            <a:fld id="{88FD07C0-C604-4274-A558-13916864F18D}" type="slidenum">
              <a:rPr lang="en-US" smtClean="0"/>
              <a:t>131</a:t>
            </a:fld>
            <a:endParaRPr lang="en-US"/>
          </a:p>
        </p:txBody>
      </p:sp>
    </p:spTree>
    <p:extLst>
      <p:ext uri="{BB962C8B-B14F-4D97-AF65-F5344CB8AC3E}">
        <p14:creationId xmlns:p14="http://schemas.microsoft.com/office/powerpoint/2010/main" val="3691902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135</a:t>
            </a:fld>
            <a:endParaRPr lang="en-US"/>
          </a:p>
        </p:txBody>
      </p:sp>
    </p:spTree>
    <p:extLst>
      <p:ext uri="{BB962C8B-B14F-4D97-AF65-F5344CB8AC3E}">
        <p14:creationId xmlns:p14="http://schemas.microsoft.com/office/powerpoint/2010/main" val="39524293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ME=BHP/IHP</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137</a:t>
            </a:fld>
            <a:endParaRPr lang="en-US"/>
          </a:p>
        </p:txBody>
      </p:sp>
    </p:spTree>
    <p:extLst>
      <p:ext uri="{BB962C8B-B14F-4D97-AF65-F5344CB8AC3E}">
        <p14:creationId xmlns:p14="http://schemas.microsoft.com/office/powerpoint/2010/main" val="20055929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Water in the fuel</a:t>
            </a:r>
            <a:r>
              <a:rPr lang="en-US" dirty="0"/>
              <a:t>: Water in the fuel can cause incomplete combustion, leading to the production of smoke with a gray color. This is often accompanied by a rough engine performance and a decrease in power.</a:t>
            </a:r>
          </a:p>
          <a:p>
            <a:r>
              <a:rPr lang="en-US" b="1" dirty="0"/>
              <a:t>Leaky valve seats or rings</a:t>
            </a:r>
            <a:r>
              <a:rPr lang="en-US" dirty="0"/>
              <a:t>: If the valve seals or piston rings are damaged, oil can leak into the combustion chamber. This oil may burn and produce grayish smoke along with blue or black smoke, depending on the extent of the issue.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139</a:t>
            </a:fld>
            <a:endParaRPr lang="en-US"/>
          </a:p>
        </p:txBody>
      </p:sp>
    </p:spTree>
    <p:extLst>
      <p:ext uri="{BB962C8B-B14F-4D97-AF65-F5344CB8AC3E}">
        <p14:creationId xmlns:p14="http://schemas.microsoft.com/office/powerpoint/2010/main" val="22740392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141</a:t>
            </a:fld>
            <a:endParaRPr lang="en-US"/>
          </a:p>
        </p:txBody>
      </p:sp>
    </p:spTree>
    <p:extLst>
      <p:ext uri="{BB962C8B-B14F-4D97-AF65-F5344CB8AC3E}">
        <p14:creationId xmlns:p14="http://schemas.microsoft.com/office/powerpoint/2010/main" val="23433975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Flour, sugar, eggs, and butter are examples of </a:t>
            </a:r>
            <a:r>
              <a:rPr lang="en-US" b="1" dirty="0"/>
              <a:t>semi-finished</a:t>
            </a:r>
            <a:r>
              <a:rPr lang="en-US" dirty="0"/>
              <a:t> agricultural products.</a:t>
            </a:r>
          </a:p>
          <a:p>
            <a:endParaRPr lang="en-US" dirty="0"/>
          </a:p>
          <a:p>
            <a:r>
              <a:rPr lang="en-US" dirty="0"/>
              <a:t>They are not completely raw (like wheat, sugarcane, or unprocessed milk).</a:t>
            </a:r>
          </a:p>
          <a:p>
            <a:r>
              <a:rPr lang="en-US" dirty="0"/>
              <a:t>They are not always fresh in the perishable sense (especially flour and sugar).</a:t>
            </a:r>
          </a:p>
          <a:p>
            <a:r>
              <a:rPr lang="en-US" dirty="0"/>
              <a:t>They are not fully processed into final food products like cake or bread.</a:t>
            </a:r>
          </a:p>
          <a:p>
            <a:r>
              <a:rPr lang="en-US" dirty="0"/>
              <a:t>They’ve undergone some processing (e.g., milling wheat into flour, extracting and refining sugar, churning cream into butter), making them </a:t>
            </a:r>
            <a:r>
              <a:rPr lang="en-US" b="1" dirty="0"/>
              <a:t>semi-finished</a:t>
            </a:r>
            <a:r>
              <a:rPr lang="en-US" dirty="0"/>
              <a:t> ingredients commonly used in further food preparation.</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142</a:t>
            </a:fld>
            <a:endParaRPr lang="en-US"/>
          </a:p>
        </p:txBody>
      </p:sp>
    </p:spTree>
    <p:extLst>
      <p:ext uri="{BB962C8B-B14F-4D97-AF65-F5344CB8AC3E}">
        <p14:creationId xmlns:p14="http://schemas.microsoft.com/office/powerpoint/2010/main" val="16873859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144</a:t>
            </a:fld>
            <a:endParaRPr lang="en-US"/>
          </a:p>
        </p:txBody>
      </p:sp>
    </p:spTree>
    <p:extLst>
      <p:ext uri="{BB962C8B-B14F-4D97-AF65-F5344CB8AC3E}">
        <p14:creationId xmlns:p14="http://schemas.microsoft.com/office/powerpoint/2010/main" val="3061854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from Rice </a:t>
            </a:r>
            <a:r>
              <a:rPr lang="en-US" dirty="0" err="1"/>
              <a:t>Tariffication</a:t>
            </a:r>
            <a:r>
              <a:rPr lang="en-US" dirty="0"/>
              <a:t> Law</a:t>
            </a:r>
          </a:p>
        </p:txBody>
      </p:sp>
      <p:sp>
        <p:nvSpPr>
          <p:cNvPr id="4" name="Slide Number Placeholder 3"/>
          <p:cNvSpPr>
            <a:spLocks noGrp="1"/>
          </p:cNvSpPr>
          <p:nvPr>
            <p:ph type="sldNum" sz="quarter" idx="5"/>
          </p:nvPr>
        </p:nvSpPr>
        <p:spPr/>
        <p:txBody>
          <a:bodyPr/>
          <a:lstStyle/>
          <a:p>
            <a:fld id="{88FD07C0-C604-4274-A558-13916864F18D}" type="slidenum">
              <a:rPr lang="en-US" smtClean="0"/>
              <a:t>146</a:t>
            </a:fld>
            <a:endParaRPr lang="en-US"/>
          </a:p>
        </p:txBody>
      </p:sp>
    </p:spTree>
    <p:extLst>
      <p:ext uri="{BB962C8B-B14F-4D97-AF65-F5344CB8AC3E}">
        <p14:creationId xmlns:p14="http://schemas.microsoft.com/office/powerpoint/2010/main" val="29900530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147</a:t>
            </a:fld>
            <a:endParaRPr lang="en-US"/>
          </a:p>
        </p:txBody>
      </p:sp>
    </p:spTree>
    <p:extLst>
      <p:ext uri="{BB962C8B-B14F-4D97-AF65-F5344CB8AC3E}">
        <p14:creationId xmlns:p14="http://schemas.microsoft.com/office/powerpoint/2010/main" val="42433641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=1700∗</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90</m:t>
                              </m:r>
                            </m:num>
                            <m:den>
                              <m:r>
                                <a:rPr lang="en-US" b="0" i="1" smtClean="0">
                                  <a:latin typeface="Cambria Math" panose="02040503050406030204" pitchFamily="18" charset="0"/>
                                </a:rPr>
                                <m:t>366</m:t>
                              </m:r>
                            </m:den>
                          </m:f>
                        </m:e>
                      </m:d>
                      <m:r>
                        <a:rPr lang="en-US" b="0" i="1" smtClean="0">
                          <a:latin typeface="Cambria Math" panose="02040503050406030204" pitchFamily="18" charset="0"/>
                        </a:rPr>
                        <m:t>∗0.08=</m:t>
                      </m:r>
                    </m:oMath>
                  </m:oMathPara>
                </a14:m>
                <a:endParaRPr lang="en-US" dirty="0"/>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𝐼=1700∗(90/366)∗0.08=</a:t>
                </a:r>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149</a:t>
            </a:fld>
            <a:endParaRPr lang="en-US"/>
          </a:p>
        </p:txBody>
      </p:sp>
    </p:spTree>
    <p:extLst>
      <p:ext uri="{BB962C8B-B14F-4D97-AF65-F5344CB8AC3E}">
        <p14:creationId xmlns:p14="http://schemas.microsoft.com/office/powerpoint/2010/main" val="33411354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Load rating</a:t>
            </a:r>
            <a:r>
              <a:rPr lang="en-US" dirty="0"/>
              <a:t> refers to the </a:t>
            </a:r>
            <a:r>
              <a:rPr lang="en-US" b="1" dirty="0"/>
              <a:t>maximum load or output</a:t>
            </a:r>
            <a:r>
              <a:rPr lang="en-US" dirty="0"/>
              <a:t> a motor can handle </a:t>
            </a:r>
            <a:r>
              <a:rPr lang="en-US" b="1" dirty="0"/>
              <a:t>safely and continuously</a:t>
            </a:r>
            <a:r>
              <a:rPr lang="en-US" dirty="0"/>
              <a:t> under specified conditions without overheating or sustaining damage.</a:t>
            </a:r>
          </a:p>
          <a:p>
            <a:endParaRPr lang="en-US" b="1" dirty="0"/>
          </a:p>
          <a:p>
            <a:r>
              <a:rPr lang="en-US" b="1" dirty="0"/>
              <a:t>Ampacity</a:t>
            </a:r>
            <a:r>
              <a:rPr lang="en-US" dirty="0"/>
              <a:t>: This is the </a:t>
            </a:r>
            <a:r>
              <a:rPr lang="en-US" b="1" dirty="0"/>
              <a:t>maximum amount of electric current</a:t>
            </a:r>
            <a:r>
              <a:rPr lang="en-US" dirty="0"/>
              <a:t> (in amps) that a conductor (like a wire or cable) can carry safely, </a:t>
            </a:r>
            <a:r>
              <a:rPr lang="en-US" b="1" dirty="0"/>
              <a:t>not a motor</a:t>
            </a:r>
            <a:r>
              <a:rPr lang="en-US" dirty="0"/>
              <a:t> rating.</a:t>
            </a:r>
          </a:p>
          <a:p>
            <a:r>
              <a:rPr lang="en-US" b="1" dirty="0"/>
              <a:t>Duty rating</a:t>
            </a:r>
            <a:r>
              <a:rPr lang="en-US" dirty="0"/>
              <a:t>: Indicates how </a:t>
            </a:r>
            <a:r>
              <a:rPr lang="en-US" b="1" dirty="0"/>
              <a:t>frequently and for how long</a:t>
            </a:r>
            <a:r>
              <a:rPr lang="en-US" dirty="0"/>
              <a:t> a motor can run under load (e.g., continuous, intermittent, short-time duty). It relates to the </a:t>
            </a:r>
            <a:r>
              <a:rPr lang="en-US" b="1" dirty="0"/>
              <a:t>usage pattern</a:t>
            </a:r>
            <a:r>
              <a:rPr lang="en-US" dirty="0"/>
              <a:t>, not the maximum load.</a:t>
            </a:r>
          </a:p>
          <a:p>
            <a:r>
              <a:rPr lang="en-US" b="1" dirty="0"/>
              <a:t>Service factor</a:t>
            </a:r>
            <a:r>
              <a:rPr lang="en-US" dirty="0"/>
              <a:t>: A multiplier that shows how much </a:t>
            </a:r>
            <a:r>
              <a:rPr lang="en-US" b="1" dirty="0"/>
              <a:t>overload</a:t>
            </a:r>
            <a:r>
              <a:rPr lang="en-US" dirty="0"/>
              <a:t> a motor can handle </a:t>
            </a:r>
            <a:r>
              <a:rPr lang="en-US" b="1" dirty="0"/>
              <a:t>for short periods</a:t>
            </a:r>
            <a:r>
              <a:rPr lang="en-US" dirty="0"/>
              <a:t>. For example, a service factor of 1.15 means the motor can handle 115% of its rated load temporarily.</a:t>
            </a:r>
          </a:p>
          <a:p>
            <a:endParaRPr lang="en-US" dirty="0"/>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151</a:t>
            </a:fld>
            <a:endParaRPr lang="en-US"/>
          </a:p>
        </p:txBody>
      </p:sp>
    </p:spTree>
    <p:extLst>
      <p:ext uri="{BB962C8B-B14F-4D97-AF65-F5344CB8AC3E}">
        <p14:creationId xmlns:p14="http://schemas.microsoft.com/office/powerpoint/2010/main" val="17376309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153</a:t>
            </a:fld>
            <a:endParaRPr lang="en-US"/>
          </a:p>
        </p:txBody>
      </p:sp>
    </p:spTree>
    <p:extLst>
      <p:ext uri="{BB962C8B-B14F-4D97-AF65-F5344CB8AC3E}">
        <p14:creationId xmlns:p14="http://schemas.microsoft.com/office/powerpoint/2010/main" val="40660932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155</a:t>
            </a:fld>
            <a:endParaRPr lang="en-US"/>
          </a:p>
        </p:txBody>
      </p:sp>
    </p:spTree>
    <p:extLst>
      <p:ext uri="{BB962C8B-B14F-4D97-AF65-F5344CB8AC3E}">
        <p14:creationId xmlns:p14="http://schemas.microsoft.com/office/powerpoint/2010/main" val="6712733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high cetane number</a:t>
            </a:r>
            <a:r>
              <a:rPr lang="en-US" dirty="0"/>
              <a:t> means the </a:t>
            </a:r>
            <a:r>
              <a:rPr lang="en-US" b="1" dirty="0"/>
              <a:t>fuel ignites quickly</a:t>
            </a:r>
            <a:r>
              <a:rPr lang="en-US" dirty="0"/>
              <a:t> after injection, which is usually </a:t>
            </a:r>
            <a:r>
              <a:rPr lang="en-US" b="1" dirty="0"/>
              <a:t>desirable in diesel engines</a:t>
            </a:r>
            <a:r>
              <a:rPr lang="en-US" dirty="0"/>
              <a:t>. However, </a:t>
            </a:r>
            <a:r>
              <a:rPr lang="en-US" b="1" dirty="0"/>
              <a:t>too high</a:t>
            </a:r>
            <a:r>
              <a:rPr lang="en-US" dirty="0"/>
              <a:t> a cetane number can lead to:</a:t>
            </a:r>
          </a:p>
          <a:p>
            <a:pPr marL="171450" indent="-171450">
              <a:buFont typeface="Wingdings" panose="05000000000000000000" pitchFamily="2" charset="2"/>
              <a:buChar char="ü"/>
            </a:pPr>
            <a:r>
              <a:rPr lang="en-US" b="1" dirty="0"/>
              <a:t>Incomplete mixing of fuel and air</a:t>
            </a:r>
            <a:r>
              <a:rPr lang="en-US" dirty="0"/>
              <a:t> (since combustion starts very early) → </a:t>
            </a:r>
            <a:r>
              <a:rPr lang="en-US" b="1" dirty="0"/>
              <a:t>incomplete combustion</a:t>
            </a:r>
            <a:endParaRPr lang="en-US" dirty="0"/>
          </a:p>
          <a:p>
            <a:pPr marL="171450" indent="-171450">
              <a:buFont typeface="Wingdings" panose="05000000000000000000" pitchFamily="2" charset="2"/>
              <a:buChar char="ü"/>
            </a:pPr>
            <a:r>
              <a:rPr lang="en-US" b="1" dirty="0"/>
              <a:t>Lower thermal efficiency</a:t>
            </a:r>
            <a:r>
              <a:rPr lang="en-US" dirty="0"/>
              <a:t> due to less-than-optimal combustion timing</a:t>
            </a:r>
          </a:p>
          <a:p>
            <a:pPr marL="171450" indent="-171450">
              <a:buFont typeface="Wingdings" panose="05000000000000000000" pitchFamily="2" charset="2"/>
              <a:buChar char="ü"/>
            </a:pPr>
            <a:r>
              <a:rPr lang="en-US" b="1" dirty="0"/>
              <a:t>Rough engine operation</a:t>
            </a:r>
            <a:endParaRPr lang="en-US" dirty="0"/>
          </a:p>
          <a:p>
            <a:pPr marL="171450" indent="-171450">
              <a:buFont typeface="Wingdings" panose="05000000000000000000" pitchFamily="2" charset="2"/>
              <a:buChar char="ü"/>
            </a:pPr>
            <a:r>
              <a:rPr lang="en-US" b="1" dirty="0"/>
              <a:t>Combustion starting too soon</a:t>
            </a:r>
            <a:r>
              <a:rPr lang="en-US" dirty="0"/>
              <a:t>, which can reduce power and cause knocking</a:t>
            </a:r>
          </a:p>
          <a:p>
            <a:endParaRPr lang="en-US" dirty="0"/>
          </a:p>
          <a:p>
            <a:r>
              <a:rPr lang="en-US" dirty="0"/>
              <a:t>"</a:t>
            </a:r>
            <a:r>
              <a:rPr lang="en-US" b="1" dirty="0"/>
              <a:t>Causes a very large, fast pressure rise at the start of combustion</a:t>
            </a:r>
            <a:r>
              <a:rPr lang="en-US" dirty="0"/>
              <a:t>"</a:t>
            </a:r>
          </a:p>
          <a:p>
            <a:r>
              <a:rPr lang="en-US" dirty="0"/>
              <a:t>This happens when </a:t>
            </a:r>
            <a:r>
              <a:rPr lang="en-US" b="1" dirty="0"/>
              <a:t>cetane number is too low</a:t>
            </a:r>
            <a:r>
              <a:rPr lang="en-US" dirty="0"/>
              <a:t>, </a:t>
            </a:r>
            <a:r>
              <a:rPr lang="en-US" b="1" dirty="0"/>
              <a:t>not too high</a:t>
            </a:r>
            <a:r>
              <a:rPr lang="en-US" dirty="0"/>
              <a:t>.</a:t>
            </a:r>
          </a:p>
          <a:p>
            <a:r>
              <a:rPr lang="en-US" dirty="0"/>
              <a:t>With </a:t>
            </a:r>
            <a:r>
              <a:rPr lang="en-US" b="1" dirty="0"/>
              <a:t>low cetane fuels</a:t>
            </a:r>
            <a:r>
              <a:rPr lang="en-US" dirty="0"/>
              <a:t>, there’s a </a:t>
            </a:r>
            <a:r>
              <a:rPr lang="en-US" b="1" dirty="0"/>
              <a:t>long ignition delay</a:t>
            </a:r>
            <a:r>
              <a:rPr lang="en-US" dirty="0"/>
              <a:t>, allowing more fuel to accumulate before combustion starts.</a:t>
            </a:r>
          </a:p>
          <a:p>
            <a:r>
              <a:rPr lang="en-US" dirty="0"/>
              <a:t>When it finally ignites, it burns all at once — causing a </a:t>
            </a:r>
            <a:r>
              <a:rPr lang="en-US" b="1" dirty="0"/>
              <a:t>sudden pressure spike</a:t>
            </a:r>
            <a:r>
              <a:rPr lang="en-US" dirty="0"/>
              <a:t>, knocking, and engine damage.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156</a:t>
            </a:fld>
            <a:endParaRPr lang="en-US"/>
          </a:p>
        </p:txBody>
      </p:sp>
    </p:spTree>
    <p:extLst>
      <p:ext uri="{BB962C8B-B14F-4D97-AF65-F5344CB8AC3E}">
        <p14:creationId xmlns:p14="http://schemas.microsoft.com/office/powerpoint/2010/main" val="39526080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PhilMech</a:t>
            </a:r>
            <a:r>
              <a:rPr lang="en-US" dirty="0"/>
              <a:t> – Focused on </a:t>
            </a:r>
            <a:r>
              <a:rPr lang="en-US" b="1" dirty="0"/>
              <a:t>postharvest development and farm mechanization</a:t>
            </a:r>
            <a:r>
              <a:rPr lang="en-US" dirty="0"/>
              <a:t>.</a:t>
            </a:r>
          </a:p>
          <a:p>
            <a:r>
              <a:rPr lang="en-US" dirty="0"/>
              <a:t>RAED – </a:t>
            </a:r>
            <a:r>
              <a:rPr lang="en-US" b="1" dirty="0"/>
              <a:t>technical arm of the DA Regional Field Offices</a:t>
            </a:r>
            <a:r>
              <a:rPr lang="en-US" dirty="0"/>
              <a:t> that focuses on </a:t>
            </a:r>
            <a:r>
              <a:rPr lang="en-US" b="1" dirty="0"/>
              <a:t>agricultural engineering services</a:t>
            </a:r>
            <a:r>
              <a:rPr lang="en-US" dirty="0"/>
              <a:t>.</a:t>
            </a:r>
          </a:p>
        </p:txBody>
      </p:sp>
      <p:sp>
        <p:nvSpPr>
          <p:cNvPr id="4" name="Slide Number Placeholder 3"/>
          <p:cNvSpPr>
            <a:spLocks noGrp="1"/>
          </p:cNvSpPr>
          <p:nvPr>
            <p:ph type="sldNum" sz="quarter" idx="5"/>
          </p:nvPr>
        </p:nvSpPr>
        <p:spPr/>
        <p:txBody>
          <a:bodyPr/>
          <a:lstStyle/>
          <a:p>
            <a:fld id="{88FD07C0-C604-4274-A558-13916864F18D}" type="slidenum">
              <a:rPr lang="en-US" smtClean="0"/>
              <a:t>158</a:t>
            </a:fld>
            <a:endParaRPr lang="en-US"/>
          </a:p>
        </p:txBody>
      </p:sp>
    </p:spTree>
    <p:extLst>
      <p:ext uri="{BB962C8B-B14F-4D97-AF65-F5344CB8AC3E}">
        <p14:creationId xmlns:p14="http://schemas.microsoft.com/office/powerpoint/2010/main" val="4471978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159</a:t>
            </a:fld>
            <a:endParaRPr lang="en-US"/>
          </a:p>
        </p:txBody>
      </p:sp>
    </p:spTree>
    <p:extLst>
      <p:ext uri="{BB962C8B-B14F-4D97-AF65-F5344CB8AC3E}">
        <p14:creationId xmlns:p14="http://schemas.microsoft.com/office/powerpoint/2010/main" val="21442779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Direct marketing requires more effort in terms of time, labor, and logistics. It becomes </a:t>
            </a:r>
            <a:r>
              <a:rPr lang="en-US" b="1" dirty="0"/>
              <a:t>more profitable and worthwhile</a:t>
            </a:r>
            <a:r>
              <a:rPr lang="en-US" dirty="0"/>
              <a:t> if the product being sold has a </a:t>
            </a:r>
            <a:r>
              <a:rPr lang="en-US" b="1" dirty="0"/>
              <a:t>high value per unit</a:t>
            </a:r>
            <a:r>
              <a:rPr lang="en-US" dirty="0"/>
              <a:t> (e.g., artisanal cheese, organic honey, specialty coffee). This allows the seller to </a:t>
            </a:r>
            <a:r>
              <a:rPr lang="en-US" b="1" dirty="0"/>
              <a:t>recover costs</a:t>
            </a:r>
            <a:r>
              <a:rPr lang="en-US" dirty="0"/>
              <a:t> and earn a </a:t>
            </a:r>
            <a:r>
              <a:rPr lang="en-US" b="1" dirty="0"/>
              <a:t>better profit margin</a:t>
            </a:r>
            <a:r>
              <a:rPr lang="en-US" dirty="0"/>
              <a:t> without going through middlemen.</a:t>
            </a:r>
          </a:p>
          <a:p>
            <a:endParaRPr lang="en-US" b="1" dirty="0"/>
          </a:p>
          <a:p>
            <a:r>
              <a:rPr lang="en-US" b="1" dirty="0"/>
              <a:t>Total sales volume is small</a:t>
            </a:r>
            <a:r>
              <a:rPr lang="en-US" dirty="0"/>
              <a:t>: Not necessarily ideal—direct marketing often involves significant time and effort per sale, which might not be worth it for low overall sales.</a:t>
            </a:r>
          </a:p>
          <a:p>
            <a:endParaRPr lang="en-US" dirty="0"/>
          </a:p>
          <a:p>
            <a:r>
              <a:rPr lang="en-US" b="1" dirty="0"/>
              <a:t>Market is scattered</a:t>
            </a:r>
            <a:r>
              <a:rPr lang="en-US" dirty="0"/>
              <a:t>: Direct marketing works best when the market is </a:t>
            </a:r>
            <a:r>
              <a:rPr lang="en-US" b="1" dirty="0"/>
              <a:t>concentrated</a:t>
            </a:r>
            <a:r>
              <a:rPr lang="en-US" dirty="0"/>
              <a:t> and accessible.</a:t>
            </a:r>
          </a:p>
          <a:p>
            <a:endParaRPr lang="en-US" dirty="0"/>
          </a:p>
          <a:p>
            <a:r>
              <a:rPr lang="en-US" b="1" dirty="0"/>
              <a:t>(Sometimes correct) The product is highly perishable</a:t>
            </a:r>
            <a:br>
              <a:rPr lang="en-US" dirty="0"/>
            </a:br>
            <a:r>
              <a:rPr lang="en-US" dirty="0"/>
              <a:t>It's true that if a product spoils easily (like lettuce, milk, or seafood), direct marketing can be useful.</a:t>
            </a:r>
          </a:p>
          <a:p>
            <a:r>
              <a:rPr lang="en-US" dirty="0"/>
              <a:t>However, if the market is far or the product has a low value per unit, direct selling can still be difficult.</a:t>
            </a:r>
          </a:p>
        </p:txBody>
      </p:sp>
      <p:sp>
        <p:nvSpPr>
          <p:cNvPr id="4" name="Slide Number Placeholder 3"/>
          <p:cNvSpPr>
            <a:spLocks noGrp="1"/>
          </p:cNvSpPr>
          <p:nvPr>
            <p:ph type="sldNum" sz="quarter" idx="5"/>
          </p:nvPr>
        </p:nvSpPr>
        <p:spPr/>
        <p:txBody>
          <a:bodyPr/>
          <a:lstStyle/>
          <a:p>
            <a:fld id="{88FD07C0-C604-4274-A558-13916864F18D}" type="slidenum">
              <a:rPr lang="en-US" smtClean="0"/>
              <a:t>163</a:t>
            </a:fld>
            <a:endParaRPr lang="en-US"/>
          </a:p>
        </p:txBody>
      </p:sp>
    </p:spTree>
    <p:extLst>
      <p:ext uri="{BB962C8B-B14F-4D97-AF65-F5344CB8AC3E}">
        <p14:creationId xmlns:p14="http://schemas.microsoft.com/office/powerpoint/2010/main" val="22039441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164</a:t>
            </a:fld>
            <a:endParaRPr lang="en-US"/>
          </a:p>
        </p:txBody>
      </p:sp>
    </p:spTree>
    <p:extLst>
      <p:ext uri="{BB962C8B-B14F-4D97-AF65-F5344CB8AC3E}">
        <p14:creationId xmlns:p14="http://schemas.microsoft.com/office/powerpoint/2010/main" val="158785927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Ignition Delay Time</a:t>
            </a:r>
            <a:r>
              <a:rPr lang="en-US" dirty="0"/>
              <a:t> is the time interval between the </a:t>
            </a:r>
            <a:r>
              <a:rPr lang="en-US" b="1" dirty="0"/>
              <a:t>start of injection</a:t>
            </a:r>
            <a:r>
              <a:rPr lang="en-US" dirty="0"/>
              <a:t> (or mixing) of the fuel-oxidizer mixture and the </a:t>
            </a:r>
            <a:r>
              <a:rPr lang="en-US" b="1" dirty="0"/>
              <a:t>start of combustion</a:t>
            </a:r>
            <a:r>
              <a:rPr lang="en-US" dirty="0"/>
              <a:t>. It reflects the </a:t>
            </a:r>
            <a:r>
              <a:rPr lang="en-US" b="1" dirty="0"/>
              <a:t>chemical reaction delay</a:t>
            </a:r>
            <a:r>
              <a:rPr lang="en-US" dirty="0"/>
              <a:t> under specific temperature and pressure conditions. This is important in engines and combustion systems because it affects performance, efficiency, and emissions.</a:t>
            </a:r>
            <a:endParaRPr lang="en-US" b="1" dirty="0"/>
          </a:p>
          <a:p>
            <a:endParaRPr lang="en-US" b="1" dirty="0"/>
          </a:p>
          <a:p>
            <a:r>
              <a:rPr lang="en-US" b="1" dirty="0"/>
              <a:t>a. Clearance Period –</a:t>
            </a:r>
            <a:r>
              <a:rPr lang="en-US" dirty="0"/>
              <a:t> This refers to the </a:t>
            </a:r>
            <a:r>
              <a:rPr lang="en-US" b="1" dirty="0"/>
              <a:t>small space</a:t>
            </a:r>
            <a:r>
              <a:rPr lang="en-US" dirty="0"/>
              <a:t> between the piston and the cylinder head when the piston is at its topmost position (Top Dead Center) in an engine. It has </a:t>
            </a:r>
            <a:r>
              <a:rPr lang="en-US" b="1" dirty="0"/>
              <a:t>nothing to do with reaction time or fuel-oxidizer mixtures</a:t>
            </a:r>
            <a:r>
              <a:rPr lang="en-US" dirty="0"/>
              <a:t>. It's a mechanical term related to engine design, not combustion timing.</a:t>
            </a:r>
          </a:p>
          <a:p>
            <a:endParaRPr lang="en-US" dirty="0"/>
          </a:p>
          <a:p>
            <a:r>
              <a:rPr lang="en-US" b="1" dirty="0"/>
              <a:t>b. Combustion Reaction Time –</a:t>
            </a:r>
            <a:r>
              <a:rPr lang="en-US" dirty="0"/>
              <a:t> This might sound close, but it's a </a:t>
            </a:r>
            <a:r>
              <a:rPr lang="en-US" b="1" dirty="0"/>
              <a:t>non-standard or vague term</a:t>
            </a:r>
            <a:r>
              <a:rPr lang="en-US" dirty="0"/>
              <a:t>. It could refer to the </a:t>
            </a:r>
            <a:r>
              <a:rPr lang="en-US" b="1" dirty="0"/>
              <a:t>entire time combustion takes</a:t>
            </a:r>
            <a:r>
              <a:rPr lang="en-US" dirty="0"/>
              <a:t>, but it's not a specific technical term in combustion theory.</a:t>
            </a:r>
          </a:p>
          <a:p>
            <a:endParaRPr lang="en-US" dirty="0"/>
          </a:p>
          <a:p>
            <a:r>
              <a:rPr lang="en-US" b="1" dirty="0"/>
              <a:t>c. Mixture Period – </a:t>
            </a:r>
            <a:r>
              <a:rPr lang="en-US" dirty="0"/>
              <a:t>This would refer to the time during which </a:t>
            </a:r>
            <a:r>
              <a:rPr lang="en-US" b="1" dirty="0"/>
              <a:t>fuel and oxidizer are being mixed</a:t>
            </a:r>
            <a:r>
              <a:rPr lang="en-US" dirty="0"/>
              <a:t> before combustion. It doesn’t include the </a:t>
            </a:r>
            <a:r>
              <a:rPr lang="en-US" b="1" dirty="0"/>
              <a:t>chemical reaction</a:t>
            </a:r>
            <a:r>
              <a:rPr lang="en-US" dirty="0"/>
              <a:t> part. Mixing and reacting are two different phases. </a:t>
            </a:r>
            <a:r>
              <a:rPr lang="en-US" b="1" dirty="0"/>
              <a:t>Ignition delay</a:t>
            </a:r>
            <a:r>
              <a:rPr lang="en-US" dirty="0"/>
              <a:t> specifically refers to the </a:t>
            </a:r>
            <a:r>
              <a:rPr lang="en-US" b="1" dirty="0"/>
              <a:t>delay before chemical reaction begins</a:t>
            </a:r>
            <a:r>
              <a:rPr lang="en-US" dirty="0"/>
              <a:t>, not just the mixing.</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165</a:t>
            </a:fld>
            <a:endParaRPr lang="en-US"/>
          </a:p>
        </p:txBody>
      </p:sp>
    </p:spTree>
    <p:extLst>
      <p:ext uri="{BB962C8B-B14F-4D97-AF65-F5344CB8AC3E}">
        <p14:creationId xmlns:p14="http://schemas.microsoft.com/office/powerpoint/2010/main" val="24744199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174</a:t>
            </a:fld>
            <a:endParaRPr lang="en-US"/>
          </a:p>
        </p:txBody>
      </p:sp>
    </p:spTree>
    <p:extLst>
      <p:ext uri="{BB962C8B-B14F-4D97-AF65-F5344CB8AC3E}">
        <p14:creationId xmlns:p14="http://schemas.microsoft.com/office/powerpoint/2010/main" val="35137480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175</a:t>
            </a:fld>
            <a:endParaRPr lang="en-US"/>
          </a:p>
        </p:txBody>
      </p:sp>
    </p:spTree>
    <p:extLst>
      <p:ext uri="{BB962C8B-B14F-4D97-AF65-F5344CB8AC3E}">
        <p14:creationId xmlns:p14="http://schemas.microsoft.com/office/powerpoint/2010/main" val="28958616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 6541</a:t>
            </a:r>
            <a:r>
              <a:rPr lang="en-US" dirty="0"/>
              <a:t> – National Building Code of the Philippines</a:t>
            </a:r>
          </a:p>
          <a:p>
            <a:r>
              <a:rPr lang="en-US" b="1" dirty="0"/>
              <a:t>RA 10912</a:t>
            </a:r>
            <a:r>
              <a:rPr lang="en-US" dirty="0"/>
              <a:t> – Continuing Professional Development (CPD) Act of 2016</a:t>
            </a:r>
          </a:p>
          <a:p>
            <a:r>
              <a:rPr lang="en-US" b="1" dirty="0"/>
              <a:t>RA 11285</a:t>
            </a:r>
            <a:r>
              <a:rPr lang="en-US" dirty="0"/>
              <a:t> – Energy Efficiency and Conservation Act</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180</a:t>
            </a:fld>
            <a:endParaRPr lang="en-US"/>
          </a:p>
        </p:txBody>
      </p:sp>
    </p:spTree>
    <p:extLst>
      <p:ext uri="{BB962C8B-B14F-4D97-AF65-F5344CB8AC3E}">
        <p14:creationId xmlns:p14="http://schemas.microsoft.com/office/powerpoint/2010/main" val="41705412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187</a:t>
            </a:fld>
            <a:endParaRPr lang="en-US"/>
          </a:p>
        </p:txBody>
      </p:sp>
    </p:spTree>
    <p:extLst>
      <p:ext uri="{BB962C8B-B14F-4D97-AF65-F5344CB8AC3E}">
        <p14:creationId xmlns:p14="http://schemas.microsoft.com/office/powerpoint/2010/main" val="5799309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Place utility</a:t>
            </a:r>
            <a:r>
              <a:rPr lang="en-US" dirty="0"/>
              <a:t> refers to the value created when </a:t>
            </a:r>
            <a:r>
              <a:rPr lang="en-US" b="1" dirty="0"/>
              <a:t>products are made available at the location</a:t>
            </a:r>
            <a:r>
              <a:rPr lang="en-US" dirty="0"/>
              <a:t> where they are </a:t>
            </a:r>
            <a:r>
              <a:rPr lang="en-US" b="1" dirty="0"/>
              <a:t>most wanted or needed</a:t>
            </a:r>
            <a:r>
              <a:rPr lang="en-US" dirty="0"/>
              <a:t> by consumers. It ensures that goods are accessible in the </a:t>
            </a:r>
            <a:r>
              <a:rPr lang="en-US" b="1" dirty="0"/>
              <a:t>right geographic location</a:t>
            </a:r>
            <a:r>
              <a:rPr lang="en-US" dirty="0"/>
              <a:t>, improving convenience and likelihood of purchase.</a:t>
            </a:r>
          </a:p>
          <a:p>
            <a:endParaRPr lang="en-US" dirty="0"/>
          </a:p>
          <a:p>
            <a:r>
              <a:rPr lang="en-US" b="1" dirty="0"/>
              <a:t>Form</a:t>
            </a:r>
            <a:r>
              <a:rPr lang="en-US" dirty="0"/>
              <a:t> – Utility created by </a:t>
            </a:r>
            <a:r>
              <a:rPr lang="en-US" b="1" dirty="0"/>
              <a:t>changing raw materials into finished products</a:t>
            </a:r>
            <a:r>
              <a:rPr lang="en-US" dirty="0"/>
              <a:t> (e.g., turning wheat into bread).</a:t>
            </a:r>
          </a:p>
          <a:p>
            <a:r>
              <a:rPr lang="en-US" b="1" dirty="0"/>
              <a:t>Time</a:t>
            </a:r>
            <a:r>
              <a:rPr lang="en-US" dirty="0"/>
              <a:t> – Utility created by having a product </a:t>
            </a:r>
            <a:r>
              <a:rPr lang="en-US" b="1" dirty="0"/>
              <a:t>available when it is needed</a:t>
            </a:r>
            <a:r>
              <a:rPr lang="en-US" dirty="0"/>
              <a:t> (e.g., umbrellas during rainy season).</a:t>
            </a:r>
          </a:p>
          <a:p>
            <a:r>
              <a:rPr lang="en-US" b="1" dirty="0"/>
              <a:t>Possession</a:t>
            </a:r>
            <a:r>
              <a:rPr lang="en-US" dirty="0"/>
              <a:t> – Utility created by </a:t>
            </a:r>
            <a:r>
              <a:rPr lang="en-US" b="1" dirty="0"/>
              <a:t>transferring ownership</a:t>
            </a:r>
            <a:r>
              <a:rPr lang="en-US" dirty="0"/>
              <a:t> from seller to buyer (e.g., through purchase or rental).</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188</a:t>
            </a:fld>
            <a:endParaRPr lang="en-US"/>
          </a:p>
        </p:txBody>
      </p:sp>
    </p:spTree>
    <p:extLst>
      <p:ext uri="{BB962C8B-B14F-4D97-AF65-F5344CB8AC3E}">
        <p14:creationId xmlns:p14="http://schemas.microsoft.com/office/powerpoint/2010/main" val="26580342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 9184</a:t>
            </a:r>
          </a:p>
        </p:txBody>
      </p:sp>
      <p:sp>
        <p:nvSpPr>
          <p:cNvPr id="4" name="Slide Number Placeholder 3"/>
          <p:cNvSpPr>
            <a:spLocks noGrp="1"/>
          </p:cNvSpPr>
          <p:nvPr>
            <p:ph type="sldNum" sz="quarter" idx="5"/>
          </p:nvPr>
        </p:nvSpPr>
        <p:spPr/>
        <p:txBody>
          <a:bodyPr/>
          <a:lstStyle/>
          <a:p>
            <a:fld id="{88FD07C0-C604-4274-A558-13916864F18D}" type="slidenum">
              <a:rPr lang="en-US" smtClean="0"/>
              <a:t>190</a:t>
            </a:fld>
            <a:endParaRPr lang="en-US"/>
          </a:p>
        </p:txBody>
      </p:sp>
    </p:spTree>
    <p:extLst>
      <p:ext uri="{BB962C8B-B14F-4D97-AF65-F5344CB8AC3E}">
        <p14:creationId xmlns:p14="http://schemas.microsoft.com/office/powerpoint/2010/main" val="40022567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191</a:t>
            </a:fld>
            <a:endParaRPr lang="en-US"/>
          </a:p>
        </p:txBody>
      </p:sp>
    </p:spTree>
    <p:extLst>
      <p:ext uri="{BB962C8B-B14F-4D97-AF65-F5344CB8AC3E}">
        <p14:creationId xmlns:p14="http://schemas.microsoft.com/office/powerpoint/2010/main" val="9538650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194</a:t>
            </a:fld>
            <a:endParaRPr lang="en-US"/>
          </a:p>
        </p:txBody>
      </p:sp>
    </p:spTree>
    <p:extLst>
      <p:ext uri="{BB962C8B-B14F-4D97-AF65-F5344CB8AC3E}">
        <p14:creationId xmlns:p14="http://schemas.microsoft.com/office/powerpoint/2010/main" val="340537088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𝑟𝑎𝑑𝑖𝑎𝑛𝑠</m:t>
                      </m:r>
                      <m:r>
                        <a:rPr lang="en-US" b="0" i="1" smtClean="0">
                          <a:latin typeface="Cambria Math" panose="02040503050406030204" pitchFamily="18" charset="0"/>
                          <a:ea typeface="Cambria Math" panose="02040503050406030204" pitchFamily="18" charset="0"/>
                        </a:rPr>
                        <m:t>=360°</m:t>
                      </m:r>
                    </m:oMath>
                  </m:oMathPara>
                </a14:m>
                <a:endParaRPr lang="en-US" b="0" i="1" dirty="0">
                  <a:latin typeface="Cambria Math" panose="02040503050406030204" pitchFamily="18" charset="0"/>
                </a:endParaRPr>
              </a:p>
              <a:p>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240∗</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180</m:t>
                          </m:r>
                        </m:den>
                      </m:f>
                      <m:r>
                        <a:rPr lang="en-US" b="0" i="1" smtClean="0">
                          <a:latin typeface="Cambria Math" panose="02040503050406030204" pitchFamily="18" charset="0"/>
                        </a:rPr>
                        <m:t>=4/3</m:t>
                      </m:r>
                      <m:r>
                        <a:rPr lang="en-US" b="0" i="1" smtClean="0">
                          <a:latin typeface="Cambria Math" panose="02040503050406030204" pitchFamily="18" charset="0"/>
                          <a:ea typeface="Cambria Math" panose="02040503050406030204" pitchFamily="18" charset="0"/>
                        </a:rPr>
                        <m:t>𝜋</m:t>
                      </m:r>
                    </m:oMath>
                  </m:oMathPara>
                </a14:m>
                <a:endParaRPr lang="en-US" dirty="0"/>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2</a:t>
                </a:r>
                <a:r>
                  <a:rPr lang="en-US" b="0" i="0">
                    <a:latin typeface="Cambria Math" panose="02040503050406030204" pitchFamily="18" charset="0"/>
                    <a:ea typeface="Cambria Math" panose="02040503050406030204" pitchFamily="18" charset="0"/>
                  </a:rPr>
                  <a:t>𝜋 𝑟𝑎𝑑𝑖𝑎𝑛𝑠=360°</a:t>
                </a:r>
                <a:endParaRPr lang="en-US" b="0" i="1" dirty="0">
                  <a:latin typeface="Cambria Math" panose="02040503050406030204" pitchFamily="18" charset="0"/>
                </a:endParaRPr>
              </a:p>
              <a:p>
                <a:endParaRPr lang="en-US" b="0" i="1" dirty="0">
                  <a:latin typeface="Cambria Math" panose="02040503050406030204" pitchFamily="18" charset="0"/>
                </a:endParaRPr>
              </a:p>
              <a:p>
                <a:r>
                  <a:rPr lang="en-US" b="0" i="0">
                    <a:latin typeface="Cambria Math" panose="02040503050406030204" pitchFamily="18" charset="0"/>
                  </a:rPr>
                  <a:t>240∗</a:t>
                </a:r>
                <a:r>
                  <a:rPr lang="en-US" b="0" i="0">
                    <a:latin typeface="Cambria Math" panose="02040503050406030204" pitchFamily="18" charset="0"/>
                    <a:ea typeface="Cambria Math" panose="02040503050406030204" pitchFamily="18" charset="0"/>
                  </a:rPr>
                  <a:t>𝜋/</a:t>
                </a:r>
                <a:r>
                  <a:rPr lang="en-US" b="0" i="0">
                    <a:latin typeface="Cambria Math" panose="02040503050406030204" pitchFamily="18" charset="0"/>
                  </a:rPr>
                  <a:t>180=4/3</a:t>
                </a:r>
                <a:r>
                  <a:rPr lang="en-US" b="0" i="0">
                    <a:latin typeface="Cambria Math" panose="02040503050406030204" pitchFamily="18" charset="0"/>
                    <a:ea typeface="Cambria Math" panose="02040503050406030204" pitchFamily="18" charset="0"/>
                  </a:rPr>
                  <a:t>𝜋</a:t>
                </a:r>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202</a:t>
            </a:fld>
            <a:endParaRPr lang="en-US"/>
          </a:p>
        </p:txBody>
      </p:sp>
    </p:spTree>
    <p:extLst>
      <p:ext uri="{BB962C8B-B14F-4D97-AF65-F5344CB8AC3E}">
        <p14:creationId xmlns:p14="http://schemas.microsoft.com/office/powerpoint/2010/main" val="21902511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300*100*90%</a:t>
            </a:r>
          </a:p>
        </p:txBody>
      </p:sp>
      <p:sp>
        <p:nvSpPr>
          <p:cNvPr id="4" name="Slide Number Placeholder 3"/>
          <p:cNvSpPr>
            <a:spLocks noGrp="1"/>
          </p:cNvSpPr>
          <p:nvPr>
            <p:ph type="sldNum" sz="quarter" idx="5"/>
          </p:nvPr>
        </p:nvSpPr>
        <p:spPr/>
        <p:txBody>
          <a:bodyPr/>
          <a:lstStyle/>
          <a:p>
            <a:fld id="{88FD07C0-C604-4274-A558-13916864F18D}" type="slidenum">
              <a:rPr lang="en-US" smtClean="0"/>
              <a:t>207</a:t>
            </a:fld>
            <a:endParaRPr lang="en-US"/>
          </a:p>
        </p:txBody>
      </p:sp>
    </p:spTree>
    <p:extLst>
      <p:ext uri="{BB962C8B-B14F-4D97-AF65-F5344CB8AC3E}">
        <p14:creationId xmlns:p14="http://schemas.microsoft.com/office/powerpoint/2010/main" val="355711323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Discounting</a:t>
            </a:r>
            <a:r>
              <a:rPr lang="en-US" dirty="0"/>
              <a:t> is the process of translating future values into their present value (PV) by applying a </a:t>
            </a:r>
            <a:r>
              <a:rPr lang="en-US" b="1" dirty="0"/>
              <a:t>discount rate</a:t>
            </a:r>
            <a:r>
              <a:rPr lang="en-US" dirty="0"/>
              <a:t>. This method reflects the </a:t>
            </a:r>
            <a:r>
              <a:rPr lang="en-US" b="1" dirty="0"/>
              <a:t>diminishing value of money</a:t>
            </a:r>
            <a:r>
              <a:rPr lang="en-US" dirty="0"/>
              <a:t> over time, meaning that money in the future is worth less than money today due to factors like inflation, risk, and the opportunity cost of capital.</a:t>
            </a:r>
          </a:p>
          <a:p>
            <a:endParaRPr lang="en-US" dirty="0"/>
          </a:p>
          <a:p>
            <a:r>
              <a:rPr lang="en-US" b="1" dirty="0"/>
              <a:t>a. Benefits-Cost Ratio</a:t>
            </a:r>
            <a:r>
              <a:rPr lang="en-US" dirty="0"/>
              <a:t>: This is a ratio that compares the </a:t>
            </a:r>
            <a:r>
              <a:rPr lang="en-US" b="1" dirty="0"/>
              <a:t>benefits</a:t>
            </a:r>
            <a:r>
              <a:rPr lang="en-US" dirty="0"/>
              <a:t> of a project to its </a:t>
            </a:r>
            <a:r>
              <a:rPr lang="en-US" b="1" dirty="0"/>
              <a:t>costs</a:t>
            </a:r>
            <a:r>
              <a:rPr lang="en-US" dirty="0"/>
              <a:t>. It doesn’t involve the process of translating future values into present values.</a:t>
            </a:r>
          </a:p>
          <a:p>
            <a:r>
              <a:rPr lang="en-US" b="1" dirty="0"/>
              <a:t>c. Net Present Value (NPV)</a:t>
            </a:r>
            <a:r>
              <a:rPr lang="en-US" dirty="0"/>
              <a:t>: NPV is the difference between the </a:t>
            </a:r>
            <a:r>
              <a:rPr lang="en-US" b="1" dirty="0"/>
              <a:t>present value of cash inflows</a:t>
            </a:r>
            <a:r>
              <a:rPr lang="en-US" dirty="0"/>
              <a:t> (benefits) and </a:t>
            </a:r>
            <a:r>
              <a:rPr lang="en-US" b="1" dirty="0"/>
              <a:t>present value of cash outflows</a:t>
            </a:r>
            <a:r>
              <a:rPr lang="en-US" dirty="0"/>
              <a:t> (costs) over time. While NPV uses discounting in its calculation, the definition in the question specifically refers to the process of discounting, not the outcome (which is NPV).</a:t>
            </a:r>
          </a:p>
          <a:p>
            <a:r>
              <a:rPr lang="en-US" b="1" dirty="0"/>
              <a:t>d. Return on Investment (ROI)</a:t>
            </a:r>
            <a:r>
              <a:rPr lang="en-US" dirty="0"/>
              <a:t>: ROI is a financial metric used to evaluate the profitability of an investment. It doesn’t involve discounting future values or converting them to present value.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214</a:t>
            </a:fld>
            <a:endParaRPr lang="en-US"/>
          </a:p>
        </p:txBody>
      </p:sp>
    </p:spTree>
    <p:extLst>
      <p:ext uri="{BB962C8B-B14F-4D97-AF65-F5344CB8AC3E}">
        <p14:creationId xmlns:p14="http://schemas.microsoft.com/office/powerpoint/2010/main" val="4898477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starting a tractor, it is crucial </a:t>
            </a:r>
            <a:r>
              <a:rPr lang="en-US" b="1" dirty="0"/>
              <a:t>that the tractor is in neutral gear</a:t>
            </a:r>
            <a:r>
              <a:rPr lang="en-US" dirty="0"/>
              <a:t>, not in gear. Starting the tractor when it is in gear could cause it to move unexpectedly, posing a serious risk of injury or damage. This is why it’s important to make sure the tractor is in </a:t>
            </a:r>
            <a:r>
              <a:rPr lang="en-US" b="1" dirty="0"/>
              <a:t>neutral</a:t>
            </a:r>
            <a:r>
              <a:rPr lang="en-US" dirty="0"/>
              <a:t> before starting.</a:t>
            </a:r>
          </a:p>
          <a:p>
            <a:endParaRPr lang="en-US" dirty="0"/>
          </a:p>
          <a:p>
            <a:r>
              <a:rPr lang="en-US" b="1" dirty="0"/>
              <a:t>Option a: "Always keep shields and guards over power shafts, chains, and gears"</a:t>
            </a:r>
            <a:r>
              <a:rPr lang="en-US" dirty="0"/>
              <a:t>: This is true because keeping safety guards in place protects operators from coming into contact with dangerous moving parts. Safety shields prevent accidents and injuries.</a:t>
            </a:r>
          </a:p>
          <a:p>
            <a:r>
              <a:rPr lang="en-US" b="1" dirty="0"/>
              <a:t>Option c: "When pulling heavy objects, hitch under the center of the tractor"</a:t>
            </a:r>
            <a:r>
              <a:rPr lang="en-US" dirty="0"/>
              <a:t>: This is true because hitching at the correct point, usually close to the tractor's center, improves stability and control when pulling heavy loads. It helps prevent tipping or loss of control during operation.</a:t>
            </a:r>
          </a:p>
          <a:p>
            <a:r>
              <a:rPr lang="en-US" b="1" dirty="0"/>
              <a:t>Option d: "Do not get in front of moving machines to make adjustments"</a:t>
            </a:r>
            <a:r>
              <a:rPr lang="en-US" dirty="0"/>
              <a:t>: This is also true because standing in front of a moving machine exposes the operator to danger from moving parts. It is important to ensure the machine is stopped and powered off before making adjustments.</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216</a:t>
            </a:fld>
            <a:endParaRPr lang="en-US"/>
          </a:p>
        </p:txBody>
      </p:sp>
    </p:spTree>
    <p:extLst>
      <p:ext uri="{BB962C8B-B14F-4D97-AF65-F5344CB8AC3E}">
        <p14:creationId xmlns:p14="http://schemas.microsoft.com/office/powerpoint/2010/main" val="10621373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mortgage</a:t>
            </a:r>
            <a:r>
              <a:rPr lang="en-US" dirty="0"/>
              <a:t> is a type of </a:t>
            </a:r>
            <a:r>
              <a:rPr lang="en-US" b="1" dirty="0"/>
              <a:t>loan</a:t>
            </a:r>
            <a:r>
              <a:rPr lang="en-US" dirty="0"/>
              <a:t> specifically used to purchase property, such as a home or commercial real estate. It's typically a long-term loan where the property being purchased serves as </a:t>
            </a:r>
            <a:r>
              <a:rPr lang="en-US" b="1" dirty="0"/>
              <a:t>collateral</a:t>
            </a:r>
            <a:r>
              <a:rPr lang="en-US" dirty="0"/>
              <a:t> (security) for the loan.</a:t>
            </a:r>
          </a:p>
          <a:p>
            <a:endParaRPr lang="en-US" dirty="0"/>
          </a:p>
          <a:p>
            <a:r>
              <a:rPr lang="en-US" dirty="0"/>
              <a:t>A </a:t>
            </a:r>
            <a:r>
              <a:rPr lang="en-US" b="1" dirty="0"/>
              <a:t>mortgage</a:t>
            </a:r>
            <a:r>
              <a:rPr lang="en-US" dirty="0"/>
              <a:t> is a </a:t>
            </a:r>
            <a:r>
              <a:rPr lang="en-US" b="1" dirty="0"/>
              <a:t>fixed cost</a:t>
            </a:r>
            <a:r>
              <a:rPr lang="en-US" dirty="0"/>
              <a:t> because it involves regular, consistent payments that do not vary based on the level of production or business activity. These payments are typically the same amount every month regardless of how much or how little a business produces or sells.</a:t>
            </a:r>
          </a:p>
          <a:p>
            <a:endParaRPr lang="en-US" dirty="0"/>
          </a:p>
          <a:p>
            <a:r>
              <a:rPr lang="en-US" b="1" dirty="0"/>
              <a:t>Variable cost</a:t>
            </a:r>
            <a:r>
              <a:rPr lang="en-US" dirty="0"/>
              <a:t>: Variable costs change depending on the level of production or business activity. Examples include raw materials or direct labor costs that fluctuate with production volume. A mortgage does not change based on production, so it’s not a variable cost.</a:t>
            </a:r>
          </a:p>
          <a:p>
            <a:endParaRPr lang="en-US" dirty="0"/>
          </a:p>
          <a:p>
            <a:r>
              <a:rPr lang="en-US" b="1" dirty="0"/>
              <a:t>Direct cost</a:t>
            </a:r>
            <a:r>
              <a:rPr lang="en-US" dirty="0"/>
              <a:t>: Direct costs are expenses that can be directly attributed to the production of goods or services, such as materials or labor directly involved in manufacturing. A mortgage is not directly tied to production, so it’s not a direct cost.</a:t>
            </a:r>
          </a:p>
          <a:p>
            <a:endParaRPr lang="en-US" dirty="0"/>
          </a:p>
          <a:p>
            <a:r>
              <a:rPr lang="en-US" b="1" dirty="0"/>
              <a:t>Indirect cost</a:t>
            </a:r>
            <a:r>
              <a:rPr lang="en-US" dirty="0"/>
              <a:t>: Indirect costs are expenses that are not directly tied to the production of goods or services, such as utilities, office rent, or administrative salaries. A mortgage could be considered an indirect cost if it’s related to office or building space, but in most cases, it is considered a fixed cost for its regular, predictable nature.</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218</a:t>
            </a:fld>
            <a:endParaRPr lang="en-US"/>
          </a:p>
        </p:txBody>
      </p:sp>
    </p:spTree>
    <p:extLst>
      <p:ext uri="{BB962C8B-B14F-4D97-AF65-F5344CB8AC3E}">
        <p14:creationId xmlns:p14="http://schemas.microsoft.com/office/powerpoint/2010/main" val="40441203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Raw materials</a:t>
            </a:r>
            <a:r>
              <a:rPr lang="en-US" dirty="0"/>
              <a:t> such as </a:t>
            </a:r>
            <a:r>
              <a:rPr lang="en-US" b="1" dirty="0"/>
              <a:t>sugar, butter, and flour</a:t>
            </a:r>
            <a:r>
              <a:rPr lang="en-US" dirty="0"/>
              <a:t> are considered </a:t>
            </a:r>
            <a:r>
              <a:rPr lang="en-US" b="1" dirty="0"/>
              <a:t>variable costs</a:t>
            </a:r>
            <a:r>
              <a:rPr lang="en-US" dirty="0"/>
              <a:t> because their total cost </a:t>
            </a:r>
            <a:r>
              <a:rPr lang="en-US" b="1" dirty="0"/>
              <a:t>varies directly</a:t>
            </a:r>
            <a:r>
              <a:rPr lang="en-US" dirty="0"/>
              <a:t> with the level of production. As Ms. Colet makes more bread, she will need more sugar, butter, and flour. So, the more bread she bakes, the more raw materials she needs, which makes these costs </a:t>
            </a:r>
            <a:r>
              <a:rPr lang="en-US" b="1" dirty="0"/>
              <a:t>variable</a:t>
            </a:r>
            <a:r>
              <a:rPr lang="en-US" dirty="0"/>
              <a:t>.</a:t>
            </a:r>
          </a:p>
          <a:p>
            <a:endParaRPr lang="en-US" dirty="0"/>
          </a:p>
          <a:p>
            <a:r>
              <a:rPr lang="en-US" b="1" dirty="0"/>
              <a:t>Fixed cost</a:t>
            </a:r>
            <a:r>
              <a:rPr lang="en-US" dirty="0"/>
              <a:t>: Fixed costs do not change with the level of production. Examples include rent, salaries of permanent employees, and insurance. Raw materials are </a:t>
            </a:r>
            <a:r>
              <a:rPr lang="en-US" b="1" dirty="0"/>
              <a:t>not fixed</a:t>
            </a:r>
            <a:r>
              <a:rPr lang="en-US" dirty="0"/>
              <a:t> because their usage increases with production.</a:t>
            </a:r>
          </a:p>
          <a:p>
            <a:r>
              <a:rPr lang="en-US" b="1" dirty="0"/>
              <a:t>Direct cost</a:t>
            </a:r>
            <a:r>
              <a:rPr lang="en-US" dirty="0"/>
              <a:t>: While raw materials are </a:t>
            </a:r>
            <a:r>
              <a:rPr lang="en-US" b="1" dirty="0"/>
              <a:t>direct costs</a:t>
            </a:r>
            <a:r>
              <a:rPr lang="en-US" dirty="0"/>
              <a:t> (they can be directly traced to the production of the bread), the more precise classification here is </a:t>
            </a:r>
            <a:r>
              <a:rPr lang="en-US" b="1" dirty="0"/>
              <a:t>variable cost</a:t>
            </a:r>
            <a:r>
              <a:rPr lang="en-US" dirty="0"/>
              <a:t> because these costs </a:t>
            </a:r>
            <a:r>
              <a:rPr lang="en-US" b="1" dirty="0"/>
              <a:t>change based on production volume</a:t>
            </a:r>
            <a:r>
              <a:rPr lang="en-US" dirty="0"/>
              <a:t>. Since the question is asking about costs that vary with production, </a:t>
            </a:r>
            <a:r>
              <a:rPr lang="en-US" b="1" dirty="0"/>
              <a:t>variable cost</a:t>
            </a:r>
            <a:r>
              <a:rPr lang="en-US" dirty="0"/>
              <a:t> is a better fit.</a:t>
            </a:r>
          </a:p>
          <a:p>
            <a:r>
              <a:rPr lang="en-US" b="1" dirty="0"/>
              <a:t>Indirect cost</a:t>
            </a:r>
            <a:r>
              <a:rPr lang="en-US" dirty="0"/>
              <a:t>: Indirect costs are those that cannot be directly attributed to a specific product. Examples include utilities, administrative expenses, or rent. Raw materials are </a:t>
            </a:r>
            <a:r>
              <a:rPr lang="en-US" b="1" dirty="0"/>
              <a:t>directly involved in making bread</a:t>
            </a:r>
            <a:r>
              <a:rPr lang="en-US" dirty="0"/>
              <a:t>, so they are not indirect costs.</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219</a:t>
            </a:fld>
            <a:endParaRPr lang="en-US"/>
          </a:p>
        </p:txBody>
      </p:sp>
    </p:spTree>
    <p:extLst>
      <p:ext uri="{BB962C8B-B14F-4D97-AF65-F5344CB8AC3E}">
        <p14:creationId xmlns:p14="http://schemas.microsoft.com/office/powerpoint/2010/main" val="68365214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224</a:t>
            </a:fld>
            <a:endParaRPr lang="en-US"/>
          </a:p>
        </p:txBody>
      </p:sp>
    </p:spTree>
    <p:extLst>
      <p:ext uri="{BB962C8B-B14F-4D97-AF65-F5344CB8AC3E}">
        <p14:creationId xmlns:p14="http://schemas.microsoft.com/office/powerpoint/2010/main" val="14842272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227</a:t>
            </a:fld>
            <a:endParaRPr lang="en-US"/>
          </a:p>
        </p:txBody>
      </p:sp>
    </p:spTree>
    <p:extLst>
      <p:ext uri="{BB962C8B-B14F-4D97-AF65-F5344CB8AC3E}">
        <p14:creationId xmlns:p14="http://schemas.microsoft.com/office/powerpoint/2010/main" val="152303063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1−.25</m:t>
                          </m:r>
                        </m:num>
                        <m:den>
                          <m:r>
                            <a:rPr lang="en-US" b="0" i="1" smtClean="0">
                              <a:latin typeface="Cambria Math" panose="02040503050406030204" pitchFamily="18" charset="0"/>
                            </a:rPr>
                            <m:t>1+.20</m:t>
                          </m:r>
                        </m:den>
                      </m:f>
                    </m:oMath>
                  </m:oMathPara>
                </a14:m>
                <a:endParaRPr lang="en-US" dirty="0"/>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a:t>
                </a:r>
                <a:r>
                  <a:rPr lang="en-US" b="0" i="0">
                    <a:latin typeface="Cambria Math" panose="02040503050406030204" pitchFamily="18" charset="0"/>
                  </a:rPr>
                  <a:t>1−.25)/(1+.20)</a:t>
                </a:r>
                <a:endParaRPr lang="en-US" dirty="0"/>
              </a:p>
            </p:txBody>
          </p:sp>
        </mc:Fallback>
      </mc:AlternateContent>
      <p:sp>
        <p:nvSpPr>
          <p:cNvPr id="4" name="Slide Number Placeholder 3"/>
          <p:cNvSpPr>
            <a:spLocks noGrp="1"/>
          </p:cNvSpPr>
          <p:nvPr>
            <p:ph type="sldNum" sz="quarter" idx="5"/>
          </p:nvPr>
        </p:nvSpPr>
        <p:spPr/>
        <p:txBody>
          <a:bodyPr/>
          <a:lstStyle/>
          <a:p>
            <a:fld id="{88FD07C0-C604-4274-A558-13916864F18D}" type="slidenum">
              <a:rPr lang="en-US" smtClean="0"/>
              <a:t>229</a:t>
            </a:fld>
            <a:endParaRPr lang="en-US"/>
          </a:p>
        </p:txBody>
      </p:sp>
    </p:spTree>
    <p:extLst>
      <p:ext uri="{BB962C8B-B14F-4D97-AF65-F5344CB8AC3E}">
        <p14:creationId xmlns:p14="http://schemas.microsoft.com/office/powerpoint/2010/main" val="8098752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Overall height</a:t>
            </a:r>
            <a:r>
              <a:rPr lang="en-US" dirty="0"/>
              <a:t> refers to the vertical distance from the horizontal supporting surface to the highest point of the machine. This would include any protruding parts on top.</a:t>
            </a:r>
          </a:p>
          <a:p>
            <a:r>
              <a:rPr lang="en-US" b="1" dirty="0"/>
              <a:t>Overall length</a:t>
            </a:r>
            <a:r>
              <a:rPr lang="en-US" dirty="0"/>
              <a:t> refers to the horizontal distance from the front to the back of the machine.</a:t>
            </a:r>
          </a:p>
          <a:p>
            <a:r>
              <a:rPr lang="en-US" b="1" dirty="0"/>
              <a:t>Overall width</a:t>
            </a:r>
            <a:r>
              <a:rPr lang="en-US" dirty="0"/>
              <a:t> is the measurement from one side of the machine to the other, horizontally.</a:t>
            </a:r>
          </a:p>
          <a:p>
            <a:r>
              <a:rPr lang="en-US" b="1" dirty="0"/>
              <a:t>Overall clearance</a:t>
            </a:r>
            <a:r>
              <a:rPr lang="en-US" dirty="0"/>
              <a:t> refers to the distance between the lowest part of the machine (often the ground) and the surface it sits on.</a:t>
            </a:r>
          </a:p>
          <a:p>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241</a:t>
            </a:fld>
            <a:endParaRPr lang="en-US"/>
          </a:p>
        </p:txBody>
      </p:sp>
    </p:spTree>
    <p:extLst>
      <p:ext uri="{BB962C8B-B14F-4D97-AF65-F5344CB8AC3E}">
        <p14:creationId xmlns:p14="http://schemas.microsoft.com/office/powerpoint/2010/main" val="23330624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Diesel engines</a:t>
            </a:r>
            <a:r>
              <a:rPr lang="en-US" dirty="0"/>
              <a:t> typically have an energy conversion efficiency of </a:t>
            </a:r>
            <a:r>
              <a:rPr lang="en-US" b="1" dirty="0"/>
              <a:t>30% to 36%</a:t>
            </a:r>
            <a:r>
              <a:rPr lang="en-US" dirty="0"/>
              <a:t>, sometimes even higher in optimized conditions.</a:t>
            </a:r>
          </a:p>
          <a:p>
            <a:r>
              <a:rPr lang="en-US" b="1" dirty="0"/>
              <a:t>Gasoline engines</a:t>
            </a:r>
            <a:r>
              <a:rPr lang="en-US" dirty="0"/>
              <a:t> are generally less efficient, with efficiencies around </a:t>
            </a:r>
            <a:r>
              <a:rPr lang="en-US" b="1" dirty="0"/>
              <a:t>20% to 30%</a:t>
            </a:r>
            <a:r>
              <a:rPr lang="en-US" dirty="0"/>
              <a:t>.</a:t>
            </a:r>
          </a:p>
          <a:p>
            <a:r>
              <a:rPr lang="en-US" b="1" dirty="0"/>
              <a:t>Electric motors</a:t>
            </a:r>
            <a:r>
              <a:rPr lang="en-US" dirty="0"/>
              <a:t>, on the other hand, are much more efficient—</a:t>
            </a:r>
            <a:r>
              <a:rPr lang="en-US" b="1" dirty="0"/>
              <a:t>typically 85% to 95%.</a:t>
            </a:r>
            <a:endParaRPr lang="en-US" dirty="0"/>
          </a:p>
        </p:txBody>
      </p:sp>
      <p:sp>
        <p:nvSpPr>
          <p:cNvPr id="4" name="Slide Number Placeholder 3"/>
          <p:cNvSpPr>
            <a:spLocks noGrp="1"/>
          </p:cNvSpPr>
          <p:nvPr>
            <p:ph type="sldNum" sz="quarter" idx="5"/>
          </p:nvPr>
        </p:nvSpPr>
        <p:spPr/>
        <p:txBody>
          <a:bodyPr/>
          <a:lstStyle/>
          <a:p>
            <a:fld id="{88FD07C0-C604-4274-A558-13916864F18D}" type="slidenum">
              <a:rPr lang="en-US" smtClean="0"/>
              <a:t>243</a:t>
            </a:fld>
            <a:endParaRPr lang="en-US"/>
          </a:p>
        </p:txBody>
      </p:sp>
    </p:spTree>
    <p:extLst>
      <p:ext uri="{BB962C8B-B14F-4D97-AF65-F5344CB8AC3E}">
        <p14:creationId xmlns:p14="http://schemas.microsoft.com/office/powerpoint/2010/main" val="211057603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GDP</a:t>
            </a:r>
            <a:r>
              <a:rPr lang="en-US" dirty="0"/>
              <a:t> measures the total value of all goods and services produced </a:t>
            </a:r>
            <a:r>
              <a:rPr lang="en-US" b="1" dirty="0"/>
              <a:t>within a country's geographical boundaries</a:t>
            </a:r>
            <a:r>
              <a:rPr lang="en-US" dirty="0"/>
              <a:t>, regardless of who owns the production assets.</a:t>
            </a:r>
          </a:p>
          <a:p>
            <a:r>
              <a:rPr lang="en-US" b="1" dirty="0"/>
              <a:t>GNP (Gross National Product)</a:t>
            </a:r>
            <a:r>
              <a:rPr lang="en-US" dirty="0"/>
              <a:t> measures the total income earned by a country's residents and businesses, including any income earned abroad, but </a:t>
            </a:r>
            <a:r>
              <a:rPr lang="en-US" b="1" dirty="0"/>
              <a:t>excluding</a:t>
            </a:r>
            <a:r>
              <a:rPr lang="en-US" dirty="0"/>
              <a:t> income earned by foreigners within the country.</a:t>
            </a:r>
          </a:p>
          <a:p>
            <a:r>
              <a:rPr lang="en-US" b="1" dirty="0"/>
              <a:t>Inflation</a:t>
            </a:r>
            <a:r>
              <a:rPr lang="en-US" dirty="0"/>
              <a:t> is the rate at which the general level of prices for goods and services rises.</a:t>
            </a:r>
          </a:p>
          <a:p>
            <a:r>
              <a:rPr lang="en-US" b="1" dirty="0"/>
              <a:t>NFIA (Net Factor Income from Abroad)</a:t>
            </a:r>
            <a:r>
              <a:rPr lang="en-US" dirty="0"/>
              <a:t> is part of the calculation of GNP and is the difference between income residents receive from abroad and income paid to foreign residents.</a:t>
            </a:r>
          </a:p>
        </p:txBody>
      </p:sp>
      <p:sp>
        <p:nvSpPr>
          <p:cNvPr id="4" name="Slide Number Placeholder 3"/>
          <p:cNvSpPr>
            <a:spLocks noGrp="1"/>
          </p:cNvSpPr>
          <p:nvPr>
            <p:ph type="sldNum" sz="quarter" idx="5"/>
          </p:nvPr>
        </p:nvSpPr>
        <p:spPr/>
        <p:txBody>
          <a:bodyPr/>
          <a:lstStyle/>
          <a:p>
            <a:fld id="{88FD07C0-C604-4274-A558-13916864F18D}" type="slidenum">
              <a:rPr lang="en-US" smtClean="0"/>
              <a:t>245</a:t>
            </a:fld>
            <a:endParaRPr lang="en-US"/>
          </a:p>
        </p:txBody>
      </p:sp>
    </p:spTree>
    <p:extLst>
      <p:ext uri="{BB962C8B-B14F-4D97-AF65-F5344CB8AC3E}">
        <p14:creationId xmlns:p14="http://schemas.microsoft.com/office/powerpoint/2010/main" val="3277229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5E87-6F69-4E1E-98BD-48C698CBF2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5227A2-A0A7-4365-B069-4F70D21933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D7E8F8-79FE-4683-BEA3-CFEBE731695E}"/>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2FC09CB3-CB7B-4860-ABD5-0F61B8C26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873E96-C6DD-4B05-893D-E4D285D73A8E}"/>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2430791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39E9-94E0-45A4-8C46-82BD73C328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32DE30-967C-488E-A802-9C4CA0A5C67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5E7C24-6A72-4F58-9A16-5E51307E7DE9}"/>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860ED1BF-DAAA-4F92-BE31-C58C401B02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5D0335-091A-4C2D-842E-DAA8EAB7A499}"/>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4177785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A30D-8559-453C-BEBA-C574498064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914BB-DE4B-405A-99A4-935F664183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DB9B4-19B6-4814-8903-64CF722AF308}"/>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A42A7DFE-8EE3-4F7C-9DC2-0AB51A01DC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A0633C-94CE-482A-9FA9-C24505DC97E3}"/>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211696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CF14-2B3D-4857-BD25-F5B2872F4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7C96E4-CD57-49C5-9EA5-531F8AAB0D7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4A630-E08B-4AF3-8A5C-E6E25D1A59A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6D4F0D-D08B-4688-BF41-7B29A9E9C4BF}"/>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6" name="Footer Placeholder 5">
            <a:extLst>
              <a:ext uri="{FF2B5EF4-FFF2-40B4-BE49-F238E27FC236}">
                <a16:creationId xmlns:a16="http://schemas.microsoft.com/office/drawing/2014/main" id="{35E4C15D-B6B7-4538-97A1-CF541F19A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AA2FC-D8AF-423E-AA9D-F13DABF34B62}"/>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86220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6BE5-D7BC-421A-B801-F2C76E7202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0AF07C-0C49-449D-A307-C85216AD2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DA0E7C-DAEA-4234-84AC-D9609F3A13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FEA7CC-570C-46F4-B076-4FE6FBE704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E26A439-E7F6-4FF4-89E8-31E44724F7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AE01B6-FB74-4B81-AEA0-DA12E86AAF5D}"/>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8" name="Footer Placeholder 7">
            <a:extLst>
              <a:ext uri="{FF2B5EF4-FFF2-40B4-BE49-F238E27FC236}">
                <a16:creationId xmlns:a16="http://schemas.microsoft.com/office/drawing/2014/main" id="{916E1A63-FCEF-4DCA-8DF6-1B36749F01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3B9C66-9A8B-4781-A300-67DFCC9BFB5F}"/>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1612417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C2E8-2121-41F1-8488-7FB6A438A2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82575E-4DCA-4B77-BE63-5152BD122EE0}"/>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4" name="Footer Placeholder 3">
            <a:extLst>
              <a:ext uri="{FF2B5EF4-FFF2-40B4-BE49-F238E27FC236}">
                <a16:creationId xmlns:a16="http://schemas.microsoft.com/office/drawing/2014/main" id="{A5D6C973-F8DD-4EB1-BDB1-5024B15D85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3A9712-F70A-4978-BA77-0D5D549B7161}"/>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881487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3A6709-36E1-48B8-9805-DAAD149D3FB1}"/>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3" name="Footer Placeholder 2">
            <a:extLst>
              <a:ext uri="{FF2B5EF4-FFF2-40B4-BE49-F238E27FC236}">
                <a16:creationId xmlns:a16="http://schemas.microsoft.com/office/drawing/2014/main" id="{D27FD41D-3D7E-40BF-956F-12EF1C3EEA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1CE6C5-FE86-4213-A183-4A5B34B1F3BA}"/>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318368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9B28-DE9C-4AC3-8D4F-C8D49F5C8E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1AD247-1D5B-4F38-AFB9-3F4ACF00BF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0AF302-7B7C-475B-8AA5-208D1E761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3F8290-5688-4820-ABF2-929AECD993F3}"/>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6" name="Footer Placeholder 5">
            <a:extLst>
              <a:ext uri="{FF2B5EF4-FFF2-40B4-BE49-F238E27FC236}">
                <a16:creationId xmlns:a16="http://schemas.microsoft.com/office/drawing/2014/main" id="{DDFA3729-17F0-4343-88C8-A49C23A65D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51FD7-78D0-4978-A4BC-AE81629C4ABD}"/>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1975248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2F584-B7B4-48A5-BD44-F060AD288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ADF4E1-9A3F-4E7E-973B-5A8224F55B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F55BA6-19FB-4C23-9790-B02C8A7042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B575792-9783-4C01-9846-A7E86BB29FCA}"/>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6" name="Footer Placeholder 5">
            <a:extLst>
              <a:ext uri="{FF2B5EF4-FFF2-40B4-BE49-F238E27FC236}">
                <a16:creationId xmlns:a16="http://schemas.microsoft.com/office/drawing/2014/main" id="{BD2195C5-5A48-4F00-A4DD-722D04B3F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CE8BF-7D71-49DC-9D3D-AE361481DB65}"/>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186749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0E82-FD25-4B1C-85EF-EBB01F7D01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8F391A-A2B4-4C4E-9B48-CBED90AC7A4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1B2AD-3901-4726-BFD2-7360731F9CDD}"/>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41336E35-42EF-466A-A09A-5B8535620B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A405F-4A62-45CE-857E-9F120D9465D7}"/>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2665292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B71E0A-0404-4C03-A78D-AC3E8B78AD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4328F6-5DDA-4EF3-A01E-A0BD157B543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9C2DBF-6F85-4FFB-A597-EFAE4F5C71F5}"/>
              </a:ext>
            </a:extLst>
          </p:cNvPr>
          <p:cNvSpPr>
            <a:spLocks noGrp="1"/>
          </p:cNvSpPr>
          <p:nvPr>
            <p:ph type="dt" sz="half" idx="10"/>
          </p:nvPr>
        </p:nvSpPr>
        <p:spPr/>
        <p:txBody>
          <a:body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46F2EAB0-F6BE-456C-B8AA-177A50906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FE796-9726-4802-AED6-721D92C4E016}"/>
              </a:ext>
            </a:extLst>
          </p:cNvPr>
          <p:cNvSpPr>
            <a:spLocks noGrp="1"/>
          </p:cNvSpPr>
          <p:nvPr>
            <p:ph type="sldNum" sz="quarter" idx="12"/>
          </p:nvPr>
        </p:nvSpPr>
        <p:spPr/>
        <p:txBody>
          <a:bodyPr/>
          <a:lstStyle/>
          <a:p>
            <a:fld id="{C4C9E700-8C9F-4368-97DE-77466B73EA18}" type="slidenum">
              <a:rPr lang="en-US" smtClean="0"/>
              <a:t>‹#›</a:t>
            </a:fld>
            <a:endParaRPr lang="en-US"/>
          </a:p>
        </p:txBody>
      </p:sp>
    </p:spTree>
    <p:extLst>
      <p:ext uri="{BB962C8B-B14F-4D97-AF65-F5344CB8AC3E}">
        <p14:creationId xmlns:p14="http://schemas.microsoft.com/office/powerpoint/2010/main" val="3620832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6A7A1B-DA6D-41AB-B6B2-464018A0DD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9CC5F3-7228-4477-B56E-79CC122E98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BDFB9-F167-4FCE-91B9-1BBC32569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F663D7-8ECD-4408-B2A7-5F5A1953E1F5}" type="datetimeFigureOut">
              <a:rPr lang="en-US" smtClean="0"/>
              <a:t>7/27/2025</a:t>
            </a:fld>
            <a:endParaRPr lang="en-US"/>
          </a:p>
        </p:txBody>
      </p:sp>
      <p:sp>
        <p:nvSpPr>
          <p:cNvPr id="5" name="Footer Placeholder 4">
            <a:extLst>
              <a:ext uri="{FF2B5EF4-FFF2-40B4-BE49-F238E27FC236}">
                <a16:creationId xmlns:a16="http://schemas.microsoft.com/office/drawing/2014/main" id="{A3944C4C-DDCF-4D12-87D2-9BACC9A632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5041680-E007-48E6-B92B-22694978DA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C9E700-8C9F-4368-97DE-77466B73EA18}" type="slidenum">
              <a:rPr lang="en-US" smtClean="0"/>
              <a:t>‹#›</a:t>
            </a:fld>
            <a:endParaRPr lang="en-US"/>
          </a:p>
        </p:txBody>
      </p:sp>
    </p:spTree>
    <p:extLst>
      <p:ext uri="{BB962C8B-B14F-4D97-AF65-F5344CB8AC3E}">
        <p14:creationId xmlns:p14="http://schemas.microsoft.com/office/powerpoint/2010/main" val="1896957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prc.gov.ph/sites/default/files/2023-05%20publishedAgriBio.pdf"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s://lawphil.net/executive/execord/eo2022/eo_168_2022.html"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hyperlink" Target="https://www.officialgazette.gov.ph/downloads/1977/02feb/19770219-PD-1096-FM.pdf" TargetMode="External"/><Relationship Id="rId4"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s://lawphil.net/statutes/repacts/ra2010/ra_10068_2010.html" TargetMode="External"/><Relationship Id="rId4"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hyperlink" Target="https://lawphil.net/statutes/repacts/ra2016/ra_10915_2016.html" TargetMode="External"/><Relationship Id="rId4" Type="http://schemas.openxmlformats.org/officeDocument/2006/relationships/image" Target="../media/image2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11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hyperlink" Target="https://amtec.uplb.edu.ph/wp-content/uploads/2019/07/paes-224-rice-combine-specs.pdf"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hyperlink" Target="https://lawphil.net/statutes/repacts/ra2019/ra_11203_2019.html" TargetMode="External"/><Relationship Id="rId4" Type="http://schemas.openxmlformats.org/officeDocument/2006/relationships/image" Target="../media/image4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hyperlink" Target="https://www.gppb.gov.ph/wp-content/uploads/2023/06/Amended-Guidelines.pdf" TargetMode="External"/><Relationship Id="rId4" Type="http://schemas.openxmlformats.org/officeDocument/2006/relationships/image" Target="../media/image47.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hyperlink" Target="https://lawphil.net/executive/execord/eo1987/eo_116_1987.html"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hyperlink" Target="https://www.dilg.gov.ph/PDF_File/issuances/republic_acts/RA_9184.PDF"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9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prc.gov.ph/sites/default/files/CPD-FAQs-2020.pdf" TargetMode="Externa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hyperlink" Target="https://bafe.gov.ph/" TargetMode="External"/><Relationship Id="rId2" Type="http://schemas.openxmlformats.org/officeDocument/2006/relationships/hyperlink" Target="https://rcef.philmech.gov.ph/"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2D158-74F3-42A7-97FF-62D5573D3F87}"/>
              </a:ext>
            </a:extLst>
          </p:cNvPr>
          <p:cNvSpPr>
            <a:spLocks noGrp="1"/>
          </p:cNvSpPr>
          <p:nvPr>
            <p:ph type="ctrTitle"/>
          </p:nvPr>
        </p:nvSpPr>
        <p:spPr>
          <a:xfrm>
            <a:off x="1524000" y="2647445"/>
            <a:ext cx="9144000" cy="2387600"/>
          </a:xfrm>
        </p:spPr>
        <p:txBody>
          <a:bodyPr>
            <a:normAutofit fontScale="90000"/>
          </a:bodyPr>
          <a:lstStyle/>
          <a:p>
            <a:r>
              <a:rPr lang="en-US" sz="11500" b="1" dirty="0"/>
              <a:t>AREA I</a:t>
            </a:r>
            <a:br>
              <a:rPr lang="en-US" dirty="0"/>
            </a:br>
            <a:r>
              <a:rPr lang="en-US" dirty="0"/>
              <a:t>DIAGNOSTIC EXAM</a:t>
            </a:r>
          </a:p>
        </p:txBody>
      </p:sp>
      <p:sp>
        <p:nvSpPr>
          <p:cNvPr id="3" name="Subtitle 2">
            <a:extLst>
              <a:ext uri="{FF2B5EF4-FFF2-40B4-BE49-F238E27FC236}">
                <a16:creationId xmlns:a16="http://schemas.microsoft.com/office/drawing/2014/main" id="{04DA37B1-A5A7-4BFF-A868-0FFBF00503CB}"/>
              </a:ext>
            </a:extLst>
          </p:cNvPr>
          <p:cNvSpPr>
            <a:spLocks noGrp="1"/>
          </p:cNvSpPr>
          <p:nvPr>
            <p:ph type="subTitle" idx="1"/>
          </p:nvPr>
        </p:nvSpPr>
        <p:spPr/>
        <p:txBody>
          <a:bodyPr>
            <a:normAutofit/>
          </a:bodyPr>
          <a:lstStyle/>
          <a:p>
            <a:endParaRPr lang="en-US" dirty="0"/>
          </a:p>
          <a:p>
            <a:endParaRPr lang="en-US" dirty="0"/>
          </a:p>
          <a:p>
            <a:endParaRPr lang="en-US" dirty="0"/>
          </a:p>
        </p:txBody>
      </p:sp>
      <p:sp>
        <p:nvSpPr>
          <p:cNvPr id="8" name="Rectangle 7">
            <a:extLst>
              <a:ext uri="{FF2B5EF4-FFF2-40B4-BE49-F238E27FC236}">
                <a16:creationId xmlns:a16="http://schemas.microsoft.com/office/drawing/2014/main" id="{70B2F1F2-D9C3-4D3D-A120-9F4CDF672A09}"/>
              </a:ext>
            </a:extLst>
          </p:cNvPr>
          <p:cNvSpPr/>
          <p:nvPr/>
        </p:nvSpPr>
        <p:spPr>
          <a:xfrm>
            <a:off x="0" y="6614160"/>
            <a:ext cx="12192000" cy="24384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BD54693-5F20-4748-80DC-59420A13161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00" b="13214"/>
          <a:stretch/>
        </p:blipFill>
        <p:spPr>
          <a:xfrm>
            <a:off x="4825460" y="524067"/>
            <a:ext cx="2541080" cy="2123378"/>
          </a:xfrm>
          <a:prstGeom prst="rect">
            <a:avLst/>
          </a:prstGeom>
        </p:spPr>
      </p:pic>
    </p:spTree>
    <p:extLst>
      <p:ext uri="{BB962C8B-B14F-4D97-AF65-F5344CB8AC3E}">
        <p14:creationId xmlns:p14="http://schemas.microsoft.com/office/powerpoint/2010/main" val="273371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US" sz="3600" dirty="0">
                <a:latin typeface="Courier New" panose="02070309020205020404" pitchFamily="49" charset="0"/>
                <a:cs typeface="Courier New" panose="02070309020205020404" pitchFamily="49" charset="0"/>
              </a:rPr>
              <a:t>1. This classification of safety sign features a white symbol and/or text on a green background.</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Regulatory Sign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Emergency Information Sign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Warning Sign</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Prohibition Sign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5916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US" sz="3600" dirty="0">
                <a:latin typeface="Courier New" panose="02070309020205020404" pitchFamily="49" charset="0"/>
                <a:cs typeface="Courier New" panose="02070309020205020404" pitchFamily="49" charset="0"/>
              </a:rPr>
              <a:t>1. This classification of safety sign features a white symbol and/or text on a green background.</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Regulatory Sign	</a:t>
            </a:r>
          </a:p>
          <a:p>
            <a:pPr marL="914400" lvl="1" indent="-45720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Emergency Information Sign</a:t>
            </a:r>
            <a:r>
              <a:rPr lang="en-US" sz="3600" b="1"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Warning Sign</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Prohibition Sign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2420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mergency Information Signs">
            <a:extLst>
              <a:ext uri="{FF2B5EF4-FFF2-40B4-BE49-F238E27FC236}">
                <a16:creationId xmlns:a16="http://schemas.microsoft.com/office/drawing/2014/main" id="{B90A1B3F-B8E5-4A44-9100-4B9040D358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0185" y="1230078"/>
            <a:ext cx="6551629" cy="555250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DDBA26F-72E2-44F9-9FCD-EE7C4DFCA47E}"/>
              </a:ext>
            </a:extLst>
          </p:cNvPr>
          <p:cNvSpPr/>
          <p:nvPr/>
        </p:nvSpPr>
        <p:spPr>
          <a:xfrm>
            <a:off x="587604" y="393099"/>
            <a:ext cx="10507744" cy="584775"/>
          </a:xfrm>
          <a:prstGeom prst="rect">
            <a:avLst/>
          </a:prstGeom>
        </p:spPr>
        <p:txBody>
          <a:bodyPr wrap="square">
            <a:spAutoFit/>
          </a:bodyPr>
          <a:lstStyle/>
          <a:p>
            <a:pPr fontAlgn="base"/>
            <a:r>
              <a:rPr lang="en-US" sz="3200" b="1" dirty="0">
                <a:solidFill>
                  <a:srgbClr val="16161A"/>
                </a:solidFill>
                <a:latin typeface="Roboto"/>
              </a:rPr>
              <a:t>Emergency Information Sign </a:t>
            </a:r>
          </a:p>
        </p:txBody>
      </p:sp>
    </p:spTree>
    <p:extLst>
      <p:ext uri="{BB962C8B-B14F-4D97-AF65-F5344CB8AC3E}">
        <p14:creationId xmlns:p14="http://schemas.microsoft.com/office/powerpoint/2010/main" val="32796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3A11AD2-DCE3-46B9-890C-14918A6C6F04}"/>
              </a:ext>
            </a:extLst>
          </p:cNvPr>
          <p:cNvSpPr/>
          <p:nvPr/>
        </p:nvSpPr>
        <p:spPr>
          <a:xfrm>
            <a:off x="587604" y="393099"/>
            <a:ext cx="10507744" cy="2123658"/>
          </a:xfrm>
          <a:prstGeom prst="rect">
            <a:avLst/>
          </a:prstGeom>
        </p:spPr>
        <p:txBody>
          <a:bodyPr wrap="square">
            <a:spAutoFit/>
          </a:bodyPr>
          <a:lstStyle/>
          <a:p>
            <a:pPr fontAlgn="base"/>
            <a:r>
              <a:rPr lang="en-US" sz="3200" b="1" dirty="0">
                <a:solidFill>
                  <a:srgbClr val="16161A"/>
                </a:solidFill>
                <a:latin typeface="Roboto"/>
              </a:rPr>
              <a:t>Warning Sign </a:t>
            </a:r>
          </a:p>
          <a:p>
            <a:pPr fontAlgn="base"/>
            <a:endParaRPr lang="en-US" sz="2000" b="1" dirty="0">
              <a:solidFill>
                <a:srgbClr val="16161A"/>
              </a:solidFill>
              <a:latin typeface="Roboto"/>
            </a:endParaRPr>
          </a:p>
          <a:p>
            <a:pPr fontAlgn="base"/>
            <a:r>
              <a:rPr lang="en-US" sz="2000" dirty="0">
                <a:solidFill>
                  <a:srgbClr val="626262"/>
                </a:solidFill>
                <a:latin typeface="Roboto"/>
              </a:rPr>
              <a:t>A sign giving a warning of a hazard or danger. </a:t>
            </a:r>
          </a:p>
          <a:p>
            <a:pPr fontAlgn="base"/>
            <a:r>
              <a:rPr lang="en-US" sz="2000" dirty="0">
                <a:solidFill>
                  <a:srgbClr val="626262"/>
                </a:solidFill>
                <a:latin typeface="Roboto"/>
              </a:rPr>
              <a:t>These signs are generally </a:t>
            </a:r>
            <a:r>
              <a:rPr lang="en-US" sz="2000" b="1" dirty="0">
                <a:solidFill>
                  <a:srgbClr val="626262"/>
                </a:solidFill>
                <a:latin typeface="Roboto"/>
              </a:rPr>
              <a:t>triangular</a:t>
            </a:r>
            <a:r>
              <a:rPr lang="en-US" sz="2000" dirty="0">
                <a:solidFill>
                  <a:srgbClr val="626262"/>
                </a:solidFill>
                <a:latin typeface="Roboto"/>
              </a:rPr>
              <a:t>, with a </a:t>
            </a:r>
            <a:r>
              <a:rPr lang="en-US" sz="2000" b="1" dirty="0">
                <a:solidFill>
                  <a:srgbClr val="626262"/>
                </a:solidFill>
                <a:latin typeface="Roboto"/>
              </a:rPr>
              <a:t>black pictogram</a:t>
            </a:r>
            <a:r>
              <a:rPr lang="en-US" sz="2000" dirty="0">
                <a:solidFill>
                  <a:srgbClr val="626262"/>
                </a:solidFill>
                <a:latin typeface="Roboto"/>
              </a:rPr>
              <a:t>, </a:t>
            </a:r>
            <a:r>
              <a:rPr lang="en-US" sz="2000" b="1" dirty="0">
                <a:solidFill>
                  <a:srgbClr val="626262"/>
                </a:solidFill>
                <a:latin typeface="Roboto"/>
              </a:rPr>
              <a:t>yellow background</a:t>
            </a:r>
            <a:r>
              <a:rPr lang="en-US" sz="2000" dirty="0">
                <a:solidFill>
                  <a:srgbClr val="626262"/>
                </a:solidFill>
                <a:latin typeface="Roboto"/>
              </a:rPr>
              <a:t>, and </a:t>
            </a:r>
            <a:r>
              <a:rPr lang="en-US" sz="2000" b="1" dirty="0">
                <a:solidFill>
                  <a:srgbClr val="626262"/>
                </a:solidFill>
                <a:latin typeface="Roboto"/>
              </a:rPr>
              <a:t>black edging</a:t>
            </a:r>
            <a:r>
              <a:rPr lang="en-US" sz="2000" dirty="0">
                <a:solidFill>
                  <a:srgbClr val="626262"/>
                </a:solidFill>
                <a:latin typeface="Roboto"/>
              </a:rPr>
              <a:t>. A warning sign indicates a potential hazard, obstacle, or condition requiring special attention.</a:t>
            </a:r>
          </a:p>
        </p:txBody>
      </p:sp>
      <p:pic>
        <p:nvPicPr>
          <p:cNvPr id="2050" name="Picture 2" descr="https://blogger.googleusercontent.com/img/b/R29vZ2xl/AVvXsEgdFWLnjg8KwKRW9GSlHPthYw-rVSCPRO674OOZkPionzGh5vnqAfoC0Yla5O02C2MeAYId4k7hhrNY7ROsXT34JAbX-MG6si2pdbf2w_fW-5Z59DguGjOF-grGMY88FVk2s9je9eDJci6OxUL-7NFseVWIBo7lUWQethCFkv3AmhVjwZmWIsEEG7cYXg/s1378/Warning.jpg">
            <a:extLst>
              <a:ext uri="{FF2B5EF4-FFF2-40B4-BE49-F238E27FC236}">
                <a16:creationId xmlns:a16="http://schemas.microsoft.com/office/drawing/2014/main" id="{0C605CEF-42FE-4DA5-BA31-724B97DCD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5765" y="2535809"/>
            <a:ext cx="6826668" cy="3750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blogger.googleusercontent.com/img/b/R29vZ2xl/AVvXsEjhOyW_ntmNIViDw3VCvyiN9dB39BKvp2pjEF6yHjgQK8MBm9rkb-tcgpyC-qzgkGfvtVR4dtHkT6a0MP0PbDETNXtzMAHn-C01BwilihRHjhcyJtrrWR807zKt5pmEilEGwUvLWscVd5xdbXjWA8GR9pzCmtu2Bzk3E3mxPtg-9dYrKjBIoib0isGmcg/s1443/Prohibition.jpg">
            <a:extLst>
              <a:ext uri="{FF2B5EF4-FFF2-40B4-BE49-F238E27FC236}">
                <a16:creationId xmlns:a16="http://schemas.microsoft.com/office/drawing/2014/main" id="{33F68AF0-125C-4B5B-8230-AF3A61229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8993" y="2444652"/>
            <a:ext cx="7403183" cy="411994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6C2A531-13CE-463D-9473-97A2543C5ABC}"/>
              </a:ext>
            </a:extLst>
          </p:cNvPr>
          <p:cNvSpPr/>
          <p:nvPr/>
        </p:nvSpPr>
        <p:spPr>
          <a:xfrm>
            <a:off x="587604" y="393099"/>
            <a:ext cx="10865963" cy="1815882"/>
          </a:xfrm>
          <a:prstGeom prst="rect">
            <a:avLst/>
          </a:prstGeom>
        </p:spPr>
        <p:txBody>
          <a:bodyPr wrap="square">
            <a:spAutoFit/>
          </a:bodyPr>
          <a:lstStyle/>
          <a:p>
            <a:pPr fontAlgn="base"/>
            <a:r>
              <a:rPr lang="en-US" sz="3200" b="1" dirty="0">
                <a:solidFill>
                  <a:srgbClr val="16161A"/>
                </a:solidFill>
                <a:latin typeface="Roboto"/>
              </a:rPr>
              <a:t>Prohibition Sign </a:t>
            </a:r>
          </a:p>
          <a:p>
            <a:pPr fontAlgn="base"/>
            <a:endParaRPr lang="en-US" sz="2000" b="1" dirty="0">
              <a:solidFill>
                <a:srgbClr val="16161A"/>
              </a:solidFill>
              <a:latin typeface="Roboto"/>
            </a:endParaRPr>
          </a:p>
          <a:p>
            <a:pPr fontAlgn="base"/>
            <a:r>
              <a:rPr lang="en-US" sz="2000" dirty="0">
                <a:solidFill>
                  <a:srgbClr val="626262"/>
                </a:solidFill>
                <a:latin typeface="Roboto"/>
              </a:rPr>
              <a:t>A sign prohibiting behavior likely to increase or cause danger. </a:t>
            </a:r>
          </a:p>
          <a:p>
            <a:pPr fontAlgn="base"/>
            <a:r>
              <a:rPr lang="en-US" sz="2000" dirty="0">
                <a:solidFill>
                  <a:srgbClr val="626262"/>
                </a:solidFill>
                <a:latin typeface="Roboto"/>
              </a:rPr>
              <a:t>These signs are </a:t>
            </a:r>
            <a:r>
              <a:rPr lang="en-US" sz="2000" b="1" dirty="0">
                <a:solidFill>
                  <a:srgbClr val="626262"/>
                </a:solidFill>
                <a:latin typeface="Roboto"/>
              </a:rPr>
              <a:t>round</a:t>
            </a:r>
            <a:r>
              <a:rPr lang="en-US" sz="2000" dirty="0">
                <a:solidFill>
                  <a:srgbClr val="626262"/>
                </a:solidFill>
                <a:latin typeface="Roboto"/>
              </a:rPr>
              <a:t> in shape, with a </a:t>
            </a:r>
            <a:r>
              <a:rPr lang="en-US" sz="2000" b="1" dirty="0">
                <a:solidFill>
                  <a:srgbClr val="626262"/>
                </a:solidFill>
                <a:latin typeface="Roboto"/>
              </a:rPr>
              <a:t>black pictogram </a:t>
            </a:r>
            <a:r>
              <a:rPr lang="en-US" sz="2000" dirty="0">
                <a:solidFill>
                  <a:srgbClr val="626262"/>
                </a:solidFill>
                <a:latin typeface="Roboto"/>
              </a:rPr>
              <a:t>on a </a:t>
            </a:r>
            <a:r>
              <a:rPr lang="en-US" sz="2000" b="1" dirty="0">
                <a:solidFill>
                  <a:srgbClr val="626262"/>
                </a:solidFill>
                <a:latin typeface="Roboto"/>
              </a:rPr>
              <a:t>white background</a:t>
            </a:r>
            <a:r>
              <a:rPr lang="en-US" sz="2000" dirty="0">
                <a:solidFill>
                  <a:srgbClr val="626262"/>
                </a:solidFill>
                <a:latin typeface="Roboto"/>
              </a:rPr>
              <a:t>, </a:t>
            </a:r>
            <a:r>
              <a:rPr lang="en-US" sz="2000" b="1" dirty="0">
                <a:solidFill>
                  <a:srgbClr val="626262"/>
                </a:solidFill>
                <a:latin typeface="Roboto"/>
              </a:rPr>
              <a:t>red edging</a:t>
            </a:r>
            <a:r>
              <a:rPr lang="en-US" sz="2000" dirty="0">
                <a:solidFill>
                  <a:srgbClr val="626262"/>
                </a:solidFill>
                <a:latin typeface="Roboto"/>
              </a:rPr>
              <a:t>, and a </a:t>
            </a:r>
            <a:r>
              <a:rPr lang="en-US" sz="2000" b="1" dirty="0">
                <a:solidFill>
                  <a:srgbClr val="626262"/>
                </a:solidFill>
                <a:latin typeface="Roboto"/>
              </a:rPr>
              <a:t>diagonal line</a:t>
            </a:r>
            <a:r>
              <a:rPr lang="en-US" sz="2000" dirty="0">
                <a:solidFill>
                  <a:srgbClr val="626262"/>
                </a:solidFill>
                <a:latin typeface="Roboto"/>
              </a:rPr>
              <a:t>. A prohibition sign shall show only what or who is forbidden.</a:t>
            </a:r>
            <a:endParaRPr lang="en-US" sz="2000" b="0" i="0" u="none" strike="noStrike" dirty="0">
              <a:solidFill>
                <a:srgbClr val="626262"/>
              </a:solidFill>
              <a:effectLst/>
              <a:latin typeface="Roboto"/>
            </a:endParaRPr>
          </a:p>
        </p:txBody>
      </p:sp>
    </p:spTree>
    <p:extLst>
      <p:ext uri="{BB962C8B-B14F-4D97-AF65-F5344CB8AC3E}">
        <p14:creationId xmlns:p14="http://schemas.microsoft.com/office/powerpoint/2010/main" val="3177637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The Importance Of Safety Signs On Construction Sites | TTFS">
            <a:extLst>
              <a:ext uri="{FF2B5EF4-FFF2-40B4-BE49-F238E27FC236}">
                <a16:creationId xmlns:a16="http://schemas.microsoft.com/office/drawing/2014/main" id="{B48AE4F4-32D2-4273-9450-D04430DFB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4200" y="1171575"/>
            <a:ext cx="4514850" cy="45148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0CFA4CA-D8EA-42D0-8C20-0990FE13CA9E}"/>
              </a:ext>
            </a:extLst>
          </p:cNvPr>
          <p:cNvSpPr/>
          <p:nvPr/>
        </p:nvSpPr>
        <p:spPr>
          <a:xfrm>
            <a:off x="587604" y="393099"/>
            <a:ext cx="6689889" cy="5509200"/>
          </a:xfrm>
          <a:prstGeom prst="rect">
            <a:avLst/>
          </a:prstGeom>
        </p:spPr>
        <p:txBody>
          <a:bodyPr wrap="square">
            <a:spAutoFit/>
          </a:bodyPr>
          <a:lstStyle/>
          <a:p>
            <a:pPr fontAlgn="base"/>
            <a:r>
              <a:rPr lang="en-US" sz="3200" b="1" dirty="0">
                <a:solidFill>
                  <a:srgbClr val="16161A"/>
                </a:solidFill>
                <a:latin typeface="Roboto"/>
              </a:rPr>
              <a:t>Mandatory Safety Sign </a:t>
            </a:r>
          </a:p>
          <a:p>
            <a:pPr fontAlgn="base"/>
            <a:endParaRPr lang="en-US" sz="2000" b="1" dirty="0">
              <a:solidFill>
                <a:srgbClr val="16161A"/>
              </a:solidFill>
              <a:latin typeface="Roboto"/>
            </a:endParaRPr>
          </a:p>
          <a:p>
            <a:pPr fontAlgn="base"/>
            <a:r>
              <a:rPr lang="en-US" sz="2000" dirty="0">
                <a:solidFill>
                  <a:schemeClr val="tx1">
                    <a:lumMod val="65000"/>
                    <a:lumOff val="35000"/>
                  </a:schemeClr>
                </a:solidFill>
                <a:latin typeface="Roboto"/>
              </a:rPr>
              <a:t>Mandatory signs command a specific action that must be followed in certain circumstances. </a:t>
            </a:r>
          </a:p>
          <a:p>
            <a:pPr fontAlgn="base"/>
            <a:endParaRPr lang="en-US" sz="2000" dirty="0">
              <a:solidFill>
                <a:schemeClr val="tx1">
                  <a:lumMod val="65000"/>
                  <a:lumOff val="35000"/>
                </a:schemeClr>
              </a:solidFill>
              <a:latin typeface="Roboto"/>
            </a:endParaRPr>
          </a:p>
          <a:p>
            <a:pPr fontAlgn="base"/>
            <a:r>
              <a:rPr lang="en-US" sz="2000" dirty="0">
                <a:solidFill>
                  <a:schemeClr val="tx1">
                    <a:lumMod val="65000"/>
                    <a:lumOff val="35000"/>
                  </a:schemeClr>
                </a:solidFill>
                <a:latin typeface="Roboto"/>
              </a:rPr>
              <a:t>They are used for such commands as “Do This”, “You Must”, or “Obey” to protect people from possible dangers where precautions are needed.</a:t>
            </a:r>
          </a:p>
          <a:p>
            <a:pPr fontAlgn="base"/>
            <a:endParaRPr lang="en-US" sz="2000" dirty="0">
              <a:solidFill>
                <a:schemeClr val="tx1">
                  <a:lumMod val="65000"/>
                  <a:lumOff val="35000"/>
                </a:schemeClr>
              </a:solidFill>
              <a:latin typeface="Roboto"/>
            </a:endParaRPr>
          </a:p>
          <a:p>
            <a:pPr fontAlgn="base"/>
            <a:r>
              <a:rPr lang="en-US" sz="2000" dirty="0">
                <a:solidFill>
                  <a:schemeClr val="tx1">
                    <a:lumMod val="65000"/>
                    <a:lumOff val="35000"/>
                  </a:schemeClr>
                </a:solidFill>
                <a:latin typeface="Roboto"/>
              </a:rPr>
              <a:t>They appear as a </a:t>
            </a:r>
            <a:r>
              <a:rPr lang="en-US" sz="2000" b="1" dirty="0">
                <a:solidFill>
                  <a:schemeClr val="tx1">
                    <a:lumMod val="65000"/>
                    <a:lumOff val="35000"/>
                  </a:schemeClr>
                </a:solidFill>
                <a:latin typeface="Roboto"/>
              </a:rPr>
              <a:t>white imagery or symbol </a:t>
            </a:r>
            <a:r>
              <a:rPr lang="en-US" sz="2000" dirty="0">
                <a:solidFill>
                  <a:schemeClr val="tx1">
                    <a:lumMod val="65000"/>
                    <a:lumOff val="35000"/>
                  </a:schemeClr>
                </a:solidFill>
                <a:latin typeface="Roboto"/>
              </a:rPr>
              <a:t>and text within a </a:t>
            </a:r>
            <a:r>
              <a:rPr lang="en-US" sz="2000" b="1" dirty="0">
                <a:solidFill>
                  <a:schemeClr val="tx1">
                    <a:lumMod val="65000"/>
                    <a:lumOff val="35000"/>
                  </a:schemeClr>
                </a:solidFill>
                <a:latin typeface="Roboto"/>
              </a:rPr>
              <a:t>blue circle on a white frame</a:t>
            </a:r>
            <a:r>
              <a:rPr lang="en-US" sz="2000" dirty="0">
                <a:solidFill>
                  <a:schemeClr val="tx1">
                    <a:lumMod val="65000"/>
                    <a:lumOff val="35000"/>
                  </a:schemeClr>
                </a:solidFill>
                <a:latin typeface="Roboto"/>
              </a:rPr>
              <a:t>. </a:t>
            </a:r>
          </a:p>
          <a:p>
            <a:pPr fontAlgn="base"/>
            <a:endParaRPr lang="en-US" sz="2000" dirty="0">
              <a:solidFill>
                <a:schemeClr val="tx1">
                  <a:lumMod val="65000"/>
                  <a:lumOff val="35000"/>
                </a:schemeClr>
              </a:solidFill>
              <a:latin typeface="Roboto"/>
            </a:endParaRPr>
          </a:p>
          <a:p>
            <a:pPr fontAlgn="base"/>
            <a:r>
              <a:rPr lang="en-US" sz="2000" dirty="0">
                <a:solidFill>
                  <a:schemeClr val="tx1">
                    <a:lumMod val="65000"/>
                    <a:lumOff val="35000"/>
                  </a:schemeClr>
                </a:solidFill>
                <a:latin typeface="Roboto"/>
              </a:rPr>
              <a:t>These mandatory signs can also appear with just a single word without any symbol or imagery. </a:t>
            </a:r>
          </a:p>
          <a:p>
            <a:pPr fontAlgn="base"/>
            <a:endParaRPr lang="en-US" sz="2000" dirty="0">
              <a:solidFill>
                <a:schemeClr val="tx1">
                  <a:lumMod val="65000"/>
                  <a:lumOff val="35000"/>
                </a:schemeClr>
              </a:solidFill>
              <a:latin typeface="Roboto"/>
            </a:endParaRPr>
          </a:p>
          <a:p>
            <a:pPr fontAlgn="base"/>
            <a:r>
              <a:rPr lang="en-US" sz="2000" dirty="0">
                <a:solidFill>
                  <a:schemeClr val="tx1">
                    <a:lumMod val="65000"/>
                    <a:lumOff val="35000"/>
                  </a:schemeClr>
                </a:solidFill>
                <a:latin typeface="Roboto"/>
              </a:rPr>
              <a:t>The words are written in black on a rectangular white background.</a:t>
            </a:r>
          </a:p>
        </p:txBody>
      </p:sp>
    </p:spTree>
    <p:extLst>
      <p:ext uri="{BB962C8B-B14F-4D97-AF65-F5344CB8AC3E}">
        <p14:creationId xmlns:p14="http://schemas.microsoft.com/office/powerpoint/2010/main" val="2221943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PH" sz="3600" dirty="0">
                <a:latin typeface="Courier New" panose="02070309020205020404" pitchFamily="49" charset="0"/>
                <a:cs typeface="Courier New" panose="02070309020205020404" pitchFamily="49" charset="0"/>
              </a:rPr>
              <a:t>2. The distance from the center of the crankshaft to the center of the crankpin.</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Crank-throw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Cam shaft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Crank rod</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Crank stroke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384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PH" sz="3600" dirty="0">
                <a:latin typeface="Courier New" panose="02070309020205020404" pitchFamily="49" charset="0"/>
                <a:cs typeface="Courier New" panose="02070309020205020404" pitchFamily="49" charset="0"/>
              </a:rPr>
              <a:t>2. The distance from the center of the crankshaft to the center of the crankpin.</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Crank-throw</a:t>
            </a:r>
            <a:r>
              <a:rPr lang="en-US" sz="36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Cam shaft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Crank rod</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Crank stroke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patcrank.gif">
            <a:extLst>
              <a:ext uri="{FF2B5EF4-FFF2-40B4-BE49-F238E27FC236}">
                <a16:creationId xmlns:a16="http://schemas.microsoft.com/office/drawing/2014/main" id="{638A5939-E6EC-4EE4-BED7-DCD8BFC61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200" y="2406650"/>
            <a:ext cx="57150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350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D95C5E8-E8D1-4F82-9B24-B8DAAF359C12}"/>
              </a:ext>
            </a:extLst>
          </p:cNvPr>
          <p:cNvGrpSpPr/>
          <p:nvPr/>
        </p:nvGrpSpPr>
        <p:grpSpPr>
          <a:xfrm>
            <a:off x="2118401" y="1710691"/>
            <a:ext cx="7955198" cy="4388451"/>
            <a:chOff x="2885627" y="1823813"/>
            <a:chExt cx="6420746" cy="3210373"/>
          </a:xfrm>
        </p:grpSpPr>
        <p:pic>
          <p:nvPicPr>
            <p:cNvPr id="4" name="Picture 3">
              <a:extLst>
                <a:ext uri="{FF2B5EF4-FFF2-40B4-BE49-F238E27FC236}">
                  <a16:creationId xmlns:a16="http://schemas.microsoft.com/office/drawing/2014/main" id="{25F01D23-6BB4-4221-A20E-3EBBE0641449}"/>
                </a:ext>
              </a:extLst>
            </p:cNvPr>
            <p:cNvPicPr>
              <a:picLocks noChangeAspect="1"/>
            </p:cNvPicPr>
            <p:nvPr/>
          </p:nvPicPr>
          <p:blipFill>
            <a:blip r:embed="rId2"/>
            <a:stretch>
              <a:fillRect/>
            </a:stretch>
          </p:blipFill>
          <p:spPr>
            <a:xfrm>
              <a:off x="2885627" y="1823813"/>
              <a:ext cx="6420746" cy="3210373"/>
            </a:xfrm>
            <a:prstGeom prst="rect">
              <a:avLst/>
            </a:prstGeom>
          </p:spPr>
        </p:pic>
        <p:pic>
          <p:nvPicPr>
            <p:cNvPr id="5" name="Picture 4">
              <a:extLst>
                <a:ext uri="{FF2B5EF4-FFF2-40B4-BE49-F238E27FC236}">
                  <a16:creationId xmlns:a16="http://schemas.microsoft.com/office/drawing/2014/main" id="{DB828871-57F3-4DA3-B6CA-E47B209A1C76}"/>
                </a:ext>
              </a:extLst>
            </p:cNvPr>
            <p:cNvPicPr>
              <a:picLocks noChangeAspect="1"/>
            </p:cNvPicPr>
            <p:nvPr/>
          </p:nvPicPr>
          <p:blipFill>
            <a:blip r:embed="rId3"/>
            <a:stretch>
              <a:fillRect/>
            </a:stretch>
          </p:blipFill>
          <p:spPr>
            <a:xfrm>
              <a:off x="7410633" y="4052974"/>
              <a:ext cx="1895740" cy="981212"/>
            </a:xfrm>
            <a:prstGeom prst="rect">
              <a:avLst/>
            </a:prstGeom>
          </p:spPr>
        </p:pic>
      </p:grpSp>
    </p:spTree>
    <p:extLst>
      <p:ext uri="{BB962C8B-B14F-4D97-AF65-F5344CB8AC3E}">
        <p14:creationId xmlns:p14="http://schemas.microsoft.com/office/powerpoint/2010/main" val="518419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US" sz="3200" dirty="0">
                <a:latin typeface="Courier New" panose="02070309020205020404" pitchFamily="49" charset="0"/>
                <a:cs typeface="Courier New" panose="02070309020205020404" pitchFamily="49" charset="0"/>
              </a:rPr>
              <a:t>3. A tractor with a 7-in pulley is belted to a </a:t>
            </a:r>
            <a:r>
              <a:rPr lang="en-US" sz="3200" dirty="0" err="1">
                <a:latin typeface="Courier New" panose="02070309020205020404" pitchFamily="49" charset="0"/>
                <a:cs typeface="Courier New" panose="02070309020205020404" pitchFamily="49" charset="0"/>
              </a:rPr>
              <a:t>prony</a:t>
            </a:r>
            <a:r>
              <a:rPr lang="en-US" sz="3200" dirty="0">
                <a:latin typeface="Courier New" panose="02070309020205020404" pitchFamily="49" charset="0"/>
                <a:cs typeface="Courier New" panose="02070309020205020404" pitchFamily="49" charset="0"/>
              </a:rPr>
              <a:t> brake having a 21-in pulley.  If the tractor engine pulley speed is 950 rpm, the brake arm is 54 in, and the net load is 60 lb., what is the hp developed?</a:t>
            </a:r>
          </a:p>
          <a:p>
            <a:pPr marL="914400" lvl="1" indent="-457200" algn="just">
              <a:buFont typeface="+mj-lt"/>
              <a:buAutoNum type="alphaLcPeriod"/>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2,930.31 hp</a:t>
            </a:r>
            <a:r>
              <a:rPr lang="en-US" sz="3200" baseline="-25000" dirty="0">
                <a:latin typeface="Courier New" panose="02070309020205020404" pitchFamily="49" charset="0"/>
                <a:cs typeface="Courier New" panose="02070309020205020404" pitchFamily="49" charset="0"/>
              </a:rPr>
              <a:t> 	</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48.84 hp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1,611,673.031 ft-lb/min</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1,465.16 hp</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05212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rmAutofit/>
          </a:bodyPr>
          <a:lstStyle/>
          <a:p>
            <a:pPr marL="0" lvl="0" indent="0" algn="just">
              <a:buNone/>
            </a:pPr>
            <a:r>
              <a:rPr lang="en-US" sz="3200" dirty="0">
                <a:latin typeface="Courier New" panose="02070309020205020404" pitchFamily="49" charset="0"/>
                <a:cs typeface="Courier New" panose="02070309020205020404" pitchFamily="49" charset="0"/>
              </a:rPr>
              <a:t>3. A tractor with a 7-in pulley is belted to a </a:t>
            </a:r>
            <a:r>
              <a:rPr lang="en-US" sz="3200" dirty="0" err="1">
                <a:latin typeface="Courier New" panose="02070309020205020404" pitchFamily="49" charset="0"/>
                <a:cs typeface="Courier New" panose="02070309020205020404" pitchFamily="49" charset="0"/>
              </a:rPr>
              <a:t>prony</a:t>
            </a:r>
            <a:r>
              <a:rPr lang="en-US" sz="3200" dirty="0">
                <a:latin typeface="Courier New" panose="02070309020205020404" pitchFamily="49" charset="0"/>
                <a:cs typeface="Courier New" panose="02070309020205020404" pitchFamily="49" charset="0"/>
              </a:rPr>
              <a:t> brake having a 21-in pulley.  If the tractor engine pulley speed is 950 rpm, the brake arm is 54 in, and the net load is 60 lb., what is the hp developed?</a:t>
            </a:r>
          </a:p>
          <a:p>
            <a:pPr marL="914400" lvl="1" indent="-457200" algn="just">
              <a:buFont typeface="+mj-lt"/>
              <a:buAutoNum type="alphaLcPeriod"/>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2,930.31 hp</a:t>
            </a:r>
            <a:r>
              <a:rPr lang="en-US" sz="3200" baseline="-25000" dirty="0">
                <a:latin typeface="Courier New" panose="02070309020205020404" pitchFamily="49" charset="0"/>
                <a:cs typeface="Courier New" panose="02070309020205020404" pitchFamily="49" charset="0"/>
              </a:rPr>
              <a:t> 	</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48.84 hp</a:t>
            </a:r>
            <a:r>
              <a:rPr lang="en-US" sz="32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1,611,673.031 ft-lb/min</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1,465.16 hp</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7053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4. Artificial Lighting Systems provide precise control over the specific needs of different crops and growth stages. What color is meaningful for plant morphology?</a:t>
            </a:r>
          </a:p>
          <a:p>
            <a:pPr marL="0" lvl="0" indent="0" algn="just">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Blue-rays</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Green rays</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Red rays</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FR rays</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03888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4. Artificial Lighting Systems provide precise control over the specific needs of different crops and growth stages. What color is meaningful for plant morphology?</a:t>
            </a:r>
          </a:p>
          <a:p>
            <a:pPr marL="0" lvl="0" indent="0" algn="just">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Blue-rays</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Green rays</a:t>
            </a:r>
            <a:endParaRPr lang="en-US" sz="3200" b="1" dirty="0">
              <a:solidFill>
                <a:srgbClr val="FF0000"/>
              </a:solidFill>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Red rays</a:t>
            </a: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200" dirty="0">
                <a:latin typeface="Courier New" panose="02070309020205020404" pitchFamily="49" charset="0"/>
                <a:cs typeface="Courier New" panose="02070309020205020404" pitchFamily="49" charset="0"/>
              </a:rPr>
              <a:t>FR rays</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4215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5. No coconut tree or trees shall be cut unless a permit therefore, upon due application being made, has been issued by the PCA pursuant to Section 6 of the Republic Act No. 10593. The applicant shall pay an application fee in the amount of _________ for every tree intended to be cut payable to the PCA.	</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50			</a:t>
            </a: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100			</a:t>
            </a: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250			</a:t>
            </a: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500</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7756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5. No coconut tree or trees shall be cut unless a permit therefore, upon due application being made, has been issued by the PCA pursuant to Section 6 of the Republic Act No. 10593. The applicant shall pay an application fee in the amount of _________ for every tree intended to be cut payable to the PCA.	</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50			</a:t>
            </a:r>
          </a:p>
          <a:p>
            <a:pPr marL="971550" lvl="1" indent="-514350">
              <a:buFont typeface="+mj-lt"/>
              <a:buAutoNum type="alphaLcPeriod"/>
            </a:pPr>
            <a:r>
              <a:rPr lang="en-PH" sz="2800" b="1" dirty="0">
                <a:solidFill>
                  <a:srgbClr val="FF0000"/>
                </a:solidFill>
                <a:latin typeface="Courier New" panose="02070309020205020404" pitchFamily="49" charset="0"/>
                <a:cs typeface="Courier New" panose="02070309020205020404" pitchFamily="49" charset="0"/>
              </a:rPr>
              <a:t>100</a:t>
            </a:r>
            <a:r>
              <a:rPr lang="en-PH" sz="2800" dirty="0">
                <a:latin typeface="Courier New" panose="02070309020205020404" pitchFamily="49" charset="0"/>
                <a:cs typeface="Courier New" panose="02070309020205020404" pitchFamily="49" charset="0"/>
              </a:rPr>
              <a:t>			</a:t>
            </a: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250			</a:t>
            </a:r>
          </a:p>
          <a:p>
            <a:pPr marL="971550" lvl="1" indent="-514350">
              <a:buFont typeface="+mj-lt"/>
              <a:buAutoNum type="alphaLcPeriod"/>
            </a:pPr>
            <a:r>
              <a:rPr lang="en-PH" sz="2800" dirty="0">
                <a:latin typeface="Courier New" panose="02070309020205020404" pitchFamily="49" charset="0"/>
                <a:cs typeface="Courier New" panose="02070309020205020404" pitchFamily="49" charset="0"/>
              </a:rPr>
              <a:t>500</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45547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52E90A-3C99-4B44-8A73-5858FBEC6A9B}"/>
              </a:ext>
            </a:extLst>
          </p:cNvPr>
          <p:cNvPicPr>
            <a:picLocks noChangeAspect="1"/>
          </p:cNvPicPr>
          <p:nvPr/>
        </p:nvPicPr>
        <p:blipFill>
          <a:blip r:embed="rId2"/>
          <a:stretch>
            <a:fillRect/>
          </a:stretch>
        </p:blipFill>
        <p:spPr>
          <a:xfrm>
            <a:off x="675518" y="218627"/>
            <a:ext cx="10840963" cy="6420746"/>
          </a:xfrm>
          <a:prstGeom prst="rect">
            <a:avLst/>
          </a:prstGeom>
        </p:spPr>
      </p:pic>
    </p:spTree>
    <p:extLst>
      <p:ext uri="{BB962C8B-B14F-4D97-AF65-F5344CB8AC3E}">
        <p14:creationId xmlns:p14="http://schemas.microsoft.com/office/powerpoint/2010/main" val="3600777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37328" y="801279"/>
            <a:ext cx="11095872" cy="4948548"/>
          </a:xfrm>
        </p:spPr>
        <p:txBody>
          <a:bodyPr>
            <a:noAutofit/>
          </a:bodyPr>
          <a:lstStyle/>
          <a:p>
            <a:pPr marL="0" lvl="0" indent="0">
              <a:buNone/>
            </a:pPr>
            <a:r>
              <a:rPr lang="en-PH" sz="3600" dirty="0">
                <a:latin typeface="Courier New" panose="02070309020205020404" pitchFamily="49" charset="0"/>
                <a:cs typeface="Courier New" panose="02070309020205020404" pitchFamily="49" charset="0"/>
              </a:rPr>
              <a:t>6. Theoretically, the intake valve:</a:t>
            </a:r>
            <a:endParaRPr lang="en-US" sz="3600" dirty="0">
              <a:latin typeface="Courier New" panose="02070309020205020404" pitchFamily="49" charset="0"/>
              <a:cs typeface="Courier New" panose="02070309020205020404" pitchFamily="49" charset="0"/>
            </a:endParaRPr>
          </a:p>
          <a:p>
            <a:pPr marL="457200" lvl="1" indent="0">
              <a:buNone/>
            </a:pPr>
            <a:endParaRPr lang="en-PH" sz="3600"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PH" sz="3600" dirty="0">
                <a:latin typeface="Courier New" panose="02070309020205020404" pitchFamily="49" charset="0"/>
                <a:cs typeface="Courier New" panose="02070309020205020404" pitchFamily="49" charset="0"/>
              </a:rPr>
              <a:t>opens at BDC/closes at BDC</a:t>
            </a:r>
            <a:endParaRPr lang="en-US" sz="3600"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opens at TDC/closes at TDC</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opens at BDC/closes at TDC</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opens at TDC/ closes at BDC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24129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37328" y="801279"/>
            <a:ext cx="11095872" cy="4948548"/>
          </a:xfrm>
        </p:spPr>
        <p:txBody>
          <a:bodyPr>
            <a:noAutofit/>
          </a:bodyPr>
          <a:lstStyle/>
          <a:p>
            <a:pPr marL="0" lvl="0" indent="0">
              <a:buNone/>
            </a:pPr>
            <a:r>
              <a:rPr lang="en-PH" sz="2400" dirty="0">
                <a:latin typeface="Courier New" panose="02070309020205020404" pitchFamily="49" charset="0"/>
                <a:cs typeface="Courier New" panose="02070309020205020404" pitchFamily="49" charset="0"/>
              </a:rPr>
              <a:t>6. Theoretically, the intake valve:</a:t>
            </a:r>
            <a:endParaRPr lang="en-US" sz="2400" dirty="0">
              <a:latin typeface="Courier New" panose="02070309020205020404" pitchFamily="49" charset="0"/>
              <a:cs typeface="Courier New" panose="02070309020205020404" pitchFamily="49" charset="0"/>
            </a:endParaRPr>
          </a:p>
          <a:p>
            <a:pPr marL="457200" lvl="1" indent="0">
              <a:buNone/>
            </a:pPr>
            <a:endParaRPr lang="en-PH"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PH" dirty="0">
                <a:latin typeface="Courier New" panose="02070309020205020404" pitchFamily="49" charset="0"/>
                <a:cs typeface="Courier New" panose="02070309020205020404" pitchFamily="49" charset="0"/>
              </a:rPr>
              <a:t>opens at BDC/closes at BDC</a:t>
            </a:r>
            <a:endParaRPr lang="en-US"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US" dirty="0">
                <a:latin typeface="Courier New" panose="02070309020205020404" pitchFamily="49" charset="0"/>
                <a:cs typeface="Courier New" panose="02070309020205020404" pitchFamily="49" charset="0"/>
              </a:rPr>
              <a:t>opens at TDC/closes at TDC</a:t>
            </a:r>
          </a:p>
          <a:p>
            <a:pPr marL="1200150" lvl="1" indent="-742950">
              <a:buFont typeface="+mj-lt"/>
              <a:buAutoNum type="alphaLcPeriod"/>
            </a:pPr>
            <a:r>
              <a:rPr lang="en-US" b="1" dirty="0">
                <a:solidFill>
                  <a:srgbClr val="FF0000"/>
                </a:solidFill>
                <a:latin typeface="Courier New" panose="02070309020205020404" pitchFamily="49" charset="0"/>
                <a:cs typeface="Courier New" panose="02070309020205020404" pitchFamily="49" charset="0"/>
              </a:rPr>
              <a:t>opens at BDC/closes at TDC</a:t>
            </a:r>
          </a:p>
          <a:p>
            <a:pPr marL="1200150" lvl="1" indent="-742950">
              <a:buFont typeface="+mj-lt"/>
              <a:buAutoNum type="alphaLcPeriod"/>
            </a:pPr>
            <a:r>
              <a:rPr lang="en-US" dirty="0">
                <a:latin typeface="Courier New" panose="02070309020205020404" pitchFamily="49" charset="0"/>
                <a:cs typeface="Courier New" panose="02070309020205020404" pitchFamily="49" charset="0"/>
              </a:rPr>
              <a:t>opens at TDC/ closes at BDC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1. TDC (Top Dead Center): The highest point of the piston's stroke in an  engine cylinder, where the piston is closest to the cylinder head. 2. BDC (Bottom  Dead Center): The lowest">
            <a:extLst>
              <a:ext uri="{FF2B5EF4-FFF2-40B4-BE49-F238E27FC236}">
                <a16:creationId xmlns:a16="http://schemas.microsoft.com/office/drawing/2014/main" id="{7F35BB82-0218-4B93-9E58-F634C8596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5066" y="1183260"/>
            <a:ext cx="4976813" cy="418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760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37328" y="782425"/>
            <a:ext cx="11095872" cy="4948548"/>
          </a:xfrm>
        </p:spPr>
        <p:txBody>
          <a:bodyPr>
            <a:noAutofit/>
          </a:bodyPr>
          <a:lstStyle/>
          <a:p>
            <a:pPr marL="0" lvl="0" indent="0" algn="just">
              <a:buNone/>
            </a:pPr>
            <a:r>
              <a:rPr lang="en-PH" sz="2500" dirty="0">
                <a:latin typeface="Courier New" panose="02070309020205020404" pitchFamily="49" charset="0"/>
                <a:cs typeface="Courier New" panose="02070309020205020404" pitchFamily="49" charset="0"/>
              </a:rPr>
              <a:t>7. Mr. Mars plans to buy a van for the delivery of his agricultural products. He can buy a European model that will have a first cost of Php 22 000, an operating cost of Php 2 000 per year, and a salvage value of Php 12 000 after 3 years. Alternatively, he can buy a Japanese model that will have a first cost of Php 26 000, an operating cost of Php 1 200 per year, and a Php 15 000 resale value after 3 years. At an interest rate of 15% per year, which model should Mr. Mars buy?</a:t>
            </a:r>
            <a:endParaRPr lang="en-US" sz="2500" dirty="0">
              <a:latin typeface="Courier New" panose="02070309020205020404" pitchFamily="49" charset="0"/>
              <a:cs typeface="Courier New" panose="02070309020205020404" pitchFamily="49" charset="0"/>
            </a:endParaRPr>
          </a:p>
          <a:p>
            <a:pPr marL="457200" lvl="1" indent="0" algn="just">
              <a:buNone/>
            </a:pPr>
            <a:endParaRPr lang="en-PH"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European model at Php -18 676</a:t>
            </a:r>
            <a:endParaRPr lang="en-US"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Japanese model at Php -18 877</a:t>
            </a:r>
            <a:endParaRPr lang="en-US"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European model at Php -18 877</a:t>
            </a:r>
            <a:endParaRPr lang="en-US"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Japanese model at Php -18 676</a:t>
            </a:r>
            <a:endParaRPr lang="en-US" sz="25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4762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8B2DC7-DF39-44E0-8A65-A9FCE05F408D}"/>
              </a:ext>
            </a:extLst>
          </p:cNvPr>
          <p:cNvPicPr>
            <a:picLocks noChangeAspect="1"/>
          </p:cNvPicPr>
          <p:nvPr/>
        </p:nvPicPr>
        <p:blipFill>
          <a:blip r:embed="rId3"/>
          <a:stretch>
            <a:fillRect/>
          </a:stretch>
        </p:blipFill>
        <p:spPr>
          <a:xfrm>
            <a:off x="2761784" y="9047"/>
            <a:ext cx="6668431" cy="6839905"/>
          </a:xfrm>
          <a:prstGeom prst="rect">
            <a:avLst/>
          </a:prstGeom>
        </p:spPr>
      </p:pic>
    </p:spTree>
    <p:extLst>
      <p:ext uri="{BB962C8B-B14F-4D97-AF65-F5344CB8AC3E}">
        <p14:creationId xmlns:p14="http://schemas.microsoft.com/office/powerpoint/2010/main" val="400676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37328" y="782425"/>
            <a:ext cx="11095872" cy="4948548"/>
          </a:xfrm>
        </p:spPr>
        <p:txBody>
          <a:bodyPr>
            <a:noAutofit/>
          </a:bodyPr>
          <a:lstStyle/>
          <a:p>
            <a:pPr marL="0" lvl="0" indent="0" algn="just">
              <a:buNone/>
            </a:pPr>
            <a:r>
              <a:rPr lang="en-PH" sz="2500" dirty="0">
                <a:latin typeface="Courier New" panose="02070309020205020404" pitchFamily="49" charset="0"/>
                <a:cs typeface="Courier New" panose="02070309020205020404" pitchFamily="49" charset="0"/>
              </a:rPr>
              <a:t>7. Mr. Mars plans to buy a van for the delivery of his agricultural products. He can buy a European model that will have a first cost of Php 22 000, an operating cost of Php 2 000 per year, and a salvage value of Php 12 000 after 3 years. Alternatively, he can buy a Japanese model that will have a first cost of Php 26 000, an operating cost of Php 1 200 per year, and a Php 15 000 resale value after 3 years. At an interest rate of 15% per year, which model should Mr. Mars buy?</a:t>
            </a:r>
            <a:endParaRPr lang="en-US" sz="2500" dirty="0">
              <a:latin typeface="Courier New" panose="02070309020205020404" pitchFamily="49" charset="0"/>
              <a:cs typeface="Courier New" panose="02070309020205020404" pitchFamily="49" charset="0"/>
            </a:endParaRPr>
          </a:p>
          <a:p>
            <a:pPr marL="457200" lvl="1" indent="0" algn="just">
              <a:buNone/>
            </a:pPr>
            <a:endParaRPr lang="en-PH"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b="1" dirty="0">
                <a:solidFill>
                  <a:srgbClr val="FF0000"/>
                </a:solidFill>
                <a:latin typeface="Courier New" panose="02070309020205020404" pitchFamily="49" charset="0"/>
                <a:cs typeface="Courier New" panose="02070309020205020404" pitchFamily="49" charset="0"/>
              </a:rPr>
              <a:t>European model at Php -18 676</a:t>
            </a:r>
            <a:endParaRPr lang="en-US" sz="2500" b="1" dirty="0">
              <a:solidFill>
                <a:srgbClr val="FF0000"/>
              </a:solidFill>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Japanese model at Php - 18 877</a:t>
            </a:r>
            <a:endParaRPr lang="en-US"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European model at Php - 18 877</a:t>
            </a:r>
            <a:endParaRPr lang="en-US" sz="25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500" dirty="0">
                <a:latin typeface="Courier New" panose="02070309020205020404" pitchFamily="49" charset="0"/>
                <a:cs typeface="Courier New" panose="02070309020205020404" pitchFamily="49" charset="0"/>
              </a:rPr>
              <a:t>Japanese model at Php - 18 676</a:t>
            </a:r>
            <a:endParaRPr lang="en-US" sz="25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89371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indent="0" algn="just">
              <a:buNone/>
            </a:pPr>
            <a:r>
              <a:rPr lang="en-US" sz="3600" dirty="0">
                <a:latin typeface="Courier New" panose="02070309020205020404" pitchFamily="49" charset="0"/>
                <a:cs typeface="Courier New" panose="02070309020205020404" pitchFamily="49" charset="0"/>
              </a:rPr>
              <a:t>8. These are activities which create faster and more efficient performance of other marketing activities.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Transactional activities </a:t>
            </a:r>
          </a:p>
          <a:p>
            <a:pPr marL="971550" lvl="1" indent="-514350" algn="just">
              <a:buAutoNum type="alphaLcPeriod"/>
            </a:pPr>
            <a:r>
              <a:rPr lang="en-US" sz="3200" dirty="0">
                <a:latin typeface="Courier New" panose="02070309020205020404" pitchFamily="49" charset="0"/>
                <a:cs typeface="Courier New" panose="02070309020205020404" pitchFamily="49" charset="0"/>
              </a:rPr>
              <a:t>Physical handling and distribution of products</a:t>
            </a:r>
          </a:p>
          <a:p>
            <a:pPr marL="971550" lvl="1" indent="-514350" algn="just">
              <a:buAutoNum type="alphaLcPeriod"/>
            </a:pPr>
            <a:r>
              <a:rPr lang="en-US" sz="3200" dirty="0">
                <a:latin typeface="Courier New" panose="02070309020205020404" pitchFamily="49" charset="0"/>
                <a:cs typeface="Courier New" panose="02070309020205020404" pitchFamily="49" charset="0"/>
              </a:rPr>
              <a:t>Facilitating activities</a:t>
            </a:r>
          </a:p>
          <a:p>
            <a:pPr marL="971550" lvl="1" indent="-514350" algn="just">
              <a:buAutoNum type="alphaLcPeriod"/>
            </a:pPr>
            <a:r>
              <a:rPr lang="en-US" sz="3200" dirty="0" err="1">
                <a:latin typeface="Courier New" panose="02070309020205020404" pitchFamily="49" charset="0"/>
                <a:cs typeface="Courier New" panose="02070309020205020404" pitchFamily="49" charset="0"/>
              </a:rPr>
              <a:t>Agroservices</a:t>
            </a:r>
            <a:r>
              <a:rPr lang="en-US" sz="3200" dirty="0">
                <a:latin typeface="Courier New" panose="02070309020205020404" pitchFamily="49" charset="0"/>
                <a:cs typeface="Courier New" panose="02070309020205020404" pitchFamily="49" charset="0"/>
              </a:rPr>
              <a:t> activities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94528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indent="0" algn="just">
              <a:buNone/>
            </a:pPr>
            <a:r>
              <a:rPr lang="en-US" sz="3600" dirty="0">
                <a:latin typeface="Courier New" panose="02070309020205020404" pitchFamily="49" charset="0"/>
                <a:cs typeface="Courier New" panose="02070309020205020404" pitchFamily="49" charset="0"/>
              </a:rPr>
              <a:t>8. These are activities which create faster and more efficient performance of other marketing activities.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Transactional activities </a:t>
            </a:r>
          </a:p>
          <a:p>
            <a:pPr marL="971550" lvl="1" indent="-514350" algn="just">
              <a:buAutoNum type="alphaLcPeriod"/>
            </a:pPr>
            <a:r>
              <a:rPr lang="en-US" sz="3200" dirty="0">
                <a:latin typeface="Courier New" panose="02070309020205020404" pitchFamily="49" charset="0"/>
                <a:cs typeface="Courier New" panose="02070309020205020404" pitchFamily="49" charset="0"/>
              </a:rPr>
              <a:t>Physical handling and distribution of products</a:t>
            </a:r>
          </a:p>
          <a:p>
            <a:pPr marL="971550" lvl="1" indent="-514350" algn="just">
              <a:buAutoNum type="alphaLcPeriod"/>
            </a:pPr>
            <a:r>
              <a:rPr lang="en-US" sz="3200" b="1" dirty="0">
                <a:solidFill>
                  <a:srgbClr val="FF0000"/>
                </a:solidFill>
                <a:latin typeface="Courier New" panose="02070309020205020404" pitchFamily="49" charset="0"/>
                <a:cs typeface="Courier New" panose="02070309020205020404" pitchFamily="49" charset="0"/>
              </a:rPr>
              <a:t>Facilitating activities</a:t>
            </a:r>
          </a:p>
          <a:p>
            <a:pPr marL="971550" lvl="1" indent="-514350" algn="just">
              <a:buAutoNum type="alphaLcPeriod"/>
            </a:pPr>
            <a:r>
              <a:rPr lang="en-US" sz="3200" dirty="0" err="1">
                <a:latin typeface="Courier New" panose="02070309020205020404" pitchFamily="49" charset="0"/>
                <a:cs typeface="Courier New" panose="02070309020205020404" pitchFamily="49" charset="0"/>
              </a:rPr>
              <a:t>Agroservices</a:t>
            </a:r>
            <a:r>
              <a:rPr lang="en-US" sz="3200" dirty="0">
                <a:latin typeface="Courier New" panose="02070309020205020404" pitchFamily="49" charset="0"/>
                <a:cs typeface="Courier New" panose="02070309020205020404" pitchFamily="49" charset="0"/>
              </a:rPr>
              <a:t> activities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8731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9. This republic act is a game-changing piece of legislation curated to enhance the existing procurement systems under the 21-year-old Government Procurement Reform Act.</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9184</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1989</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12009</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10902</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27720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9. This republic act is a game-changing piece of legislation curated to enhance the existing procurement systems under the 21-year-old Government Procurement Reform Act.</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9184 - </a:t>
            </a:r>
            <a:r>
              <a:rPr lang="en-PH" sz="3200" b="1" dirty="0">
                <a:latin typeface="Courier New" panose="02070309020205020404" pitchFamily="49" charset="0"/>
                <a:cs typeface="Courier New" panose="02070309020205020404" pitchFamily="49" charset="0"/>
              </a:rPr>
              <a:t>Government Procurement Reform Act of 2016</a:t>
            </a:r>
            <a:endParaRPr lang="en-US" sz="3200" b="1"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1989</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Republic Act (RA) No. 12009</a:t>
            </a:r>
            <a:endParaRPr lang="en-US" sz="3200" b="1" dirty="0">
              <a:solidFill>
                <a:srgbClr val="FF0000"/>
              </a:solidFill>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Republic Act (RA) No. 10902</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9892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10. If an electric motor rated at 220 volts and 4.8 amperes is converted to 110 volts, then its rated current will be:</a:t>
            </a:r>
          </a:p>
          <a:p>
            <a:pPr marL="0" lvl="0" indent="0">
              <a:buNone/>
            </a:pPr>
            <a:endParaRPr lang="en-US" sz="3600"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2.4 A                    </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4.8 A	               </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7.2 A	 </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9.6 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58971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10. If an electric motor rated at 220 volts and 4.8 amperes is converted to 110 volts, then its rated current will be:</a:t>
            </a:r>
          </a:p>
          <a:p>
            <a:pPr marL="0" lvl="0" indent="0">
              <a:buNone/>
            </a:pPr>
            <a:endParaRPr lang="en-US" sz="3600" dirty="0">
              <a:latin typeface="Courier New" panose="02070309020205020404" pitchFamily="49" charset="0"/>
              <a:cs typeface="Courier New" panose="02070309020205020404" pitchFamily="49" charset="0"/>
            </a:endParaRP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2.4 A                    </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4.8 A	               </a:t>
            </a:r>
          </a:p>
          <a:p>
            <a:pPr marL="1200150" lvl="1" indent="-742950">
              <a:buFont typeface="+mj-lt"/>
              <a:buAutoNum type="alphaLcPeriod"/>
            </a:pPr>
            <a:r>
              <a:rPr lang="en-US" sz="3600" dirty="0">
                <a:latin typeface="Courier New" panose="02070309020205020404" pitchFamily="49" charset="0"/>
                <a:cs typeface="Courier New" panose="02070309020205020404" pitchFamily="49" charset="0"/>
              </a:rPr>
              <a:t>	7.2 A	 </a:t>
            </a:r>
          </a:p>
          <a:p>
            <a:pPr marL="1200150" lvl="1" indent="-742950">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	9.6 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8166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11. An agricultural and biosystems engineer shall be required to indicate on the documents he/she signs, uses or issues in connection with the practice of his/her profession all of the following EXCEPT:</a:t>
            </a:r>
            <a:endParaRPr lang="en-US" sz="3200" dirty="0">
              <a:latin typeface="Courier New" panose="02070309020205020404" pitchFamily="49" charset="0"/>
              <a:cs typeface="Courier New" panose="02070309020205020404" pitchFamily="49" charset="0"/>
            </a:endParaRPr>
          </a:p>
          <a:p>
            <a:pPr marL="457200" lvl="1" indent="0">
              <a:buNone/>
            </a:pPr>
            <a:endParaRPr lang="en-PH"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date of registration</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professional license number</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the duration of its validity</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professional tax receipt number</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84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0C55-B6E3-4A06-8375-30ADA4C4904C}"/>
              </a:ext>
            </a:extLst>
          </p:cNvPr>
          <p:cNvSpPr>
            <a:spLocks noGrp="1"/>
          </p:cNvSpPr>
          <p:nvPr>
            <p:ph type="title"/>
          </p:nvPr>
        </p:nvSpPr>
        <p:spPr/>
        <p:txBody>
          <a:bodyPr/>
          <a:lstStyle/>
          <a:p>
            <a:r>
              <a:rPr lang="en-US" dirty="0"/>
              <a:t>Excerpt from RA10915 IRR</a:t>
            </a:r>
          </a:p>
        </p:txBody>
      </p:sp>
      <p:pic>
        <p:nvPicPr>
          <p:cNvPr id="4" name="Content Placeholder 3">
            <a:extLst>
              <a:ext uri="{FF2B5EF4-FFF2-40B4-BE49-F238E27FC236}">
                <a16:creationId xmlns:a16="http://schemas.microsoft.com/office/drawing/2014/main" id="{E9E543AD-C054-4CD6-9827-B2A2A7577A32}"/>
              </a:ext>
            </a:extLst>
          </p:cNvPr>
          <p:cNvPicPr>
            <a:picLocks noGrp="1" noChangeAspect="1"/>
          </p:cNvPicPr>
          <p:nvPr>
            <p:ph idx="1"/>
          </p:nvPr>
        </p:nvPicPr>
        <p:blipFill>
          <a:blip r:embed="rId2"/>
          <a:stretch>
            <a:fillRect/>
          </a:stretch>
        </p:blipFill>
        <p:spPr>
          <a:xfrm>
            <a:off x="838200" y="3114064"/>
            <a:ext cx="10515600" cy="1774459"/>
          </a:xfrm>
          <a:prstGeom prst="rect">
            <a:avLst/>
          </a:prstGeom>
        </p:spPr>
      </p:pic>
    </p:spTree>
    <p:extLst>
      <p:ext uri="{BB962C8B-B14F-4D97-AF65-F5344CB8AC3E}">
        <p14:creationId xmlns:p14="http://schemas.microsoft.com/office/powerpoint/2010/main" val="848110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11. An agricultural and biosystems engineer shall be required to indicate on the documents he/she signs, uses or issues in connection with the practice of his/her profession all of the following EXCEPT:</a:t>
            </a:r>
            <a:endParaRPr lang="en-US" sz="3200" dirty="0">
              <a:latin typeface="Courier New" panose="02070309020205020404" pitchFamily="49" charset="0"/>
              <a:cs typeface="Courier New" panose="02070309020205020404" pitchFamily="49" charset="0"/>
            </a:endParaRPr>
          </a:p>
          <a:p>
            <a:pPr marL="457200" lvl="1" indent="0">
              <a:buNone/>
            </a:pPr>
            <a:endParaRPr lang="en-PH"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date of registration</a:t>
            </a:r>
            <a:endParaRPr lang="en-US" sz="3200" b="1" dirty="0">
              <a:solidFill>
                <a:srgbClr val="FF0000"/>
              </a:solidFill>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professional license number</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the duration of its validity</a:t>
            </a:r>
            <a:endParaRPr lang="en-US" sz="32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PH" sz="3200" dirty="0">
                <a:latin typeface="Courier New" panose="02070309020205020404" pitchFamily="49" charset="0"/>
                <a:cs typeface="Courier New" panose="02070309020205020404" pitchFamily="49" charset="0"/>
              </a:rPr>
              <a:t>professional tax receipt number</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50426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2700" dirty="0">
                <a:latin typeface="Courier New" panose="02070309020205020404" pitchFamily="49" charset="0"/>
                <a:cs typeface="Courier New" panose="02070309020205020404" pitchFamily="49" charset="0"/>
              </a:rPr>
              <a:t>12. Which of the following is NOT true about the statements below:</a:t>
            </a:r>
            <a:endParaRPr lang="en-US" sz="2700" dirty="0">
              <a:latin typeface="Courier New" panose="02070309020205020404" pitchFamily="49" charset="0"/>
              <a:cs typeface="Courier New" panose="02070309020205020404" pitchFamily="49" charset="0"/>
            </a:endParaRPr>
          </a:p>
          <a:p>
            <a:pPr marL="457200" lvl="1" indent="0" algn="just">
              <a:buNone/>
            </a:pPr>
            <a:endParaRPr lang="en-PH"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Diesel includes the heaviest oils used in internal combustion engine.</a:t>
            </a:r>
            <a:endParaRPr lang="en-US"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Excessive ignition lag results in the accumulation of unburned fuel which when subjected to high pressure and temperature may detonate giving rise to the diesel knock.</a:t>
            </a:r>
            <a:endParaRPr lang="en-US"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Low cetane fuel permits an engine to be started at lower temperature.</a:t>
            </a:r>
            <a:endParaRPr lang="en-US"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The lowest temperature at which the fuel ceases to flow is known as pour point</a:t>
            </a:r>
            <a:endParaRPr lang="en-US" sz="27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5936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2700" dirty="0">
                <a:latin typeface="Courier New" panose="02070309020205020404" pitchFamily="49" charset="0"/>
                <a:cs typeface="Courier New" panose="02070309020205020404" pitchFamily="49" charset="0"/>
              </a:rPr>
              <a:t>12. Which of the following is NOT true about the statements below:</a:t>
            </a:r>
            <a:endParaRPr lang="en-US" sz="2700" dirty="0">
              <a:latin typeface="Courier New" panose="02070309020205020404" pitchFamily="49" charset="0"/>
              <a:cs typeface="Courier New" panose="02070309020205020404" pitchFamily="49" charset="0"/>
            </a:endParaRPr>
          </a:p>
          <a:p>
            <a:pPr marL="457200" lvl="1" indent="0" algn="just">
              <a:buNone/>
            </a:pPr>
            <a:endParaRPr lang="en-PH"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Diesel includes the heaviest oils used in internal combustion engine.</a:t>
            </a:r>
            <a:endParaRPr lang="en-US"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Excessive ignition lag results in the accumulation of unburned fuel which when subjected to high pressure and temperature may detonate giving rise to the diesel knock.</a:t>
            </a:r>
            <a:endParaRPr lang="en-US" sz="27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b="1" dirty="0">
                <a:solidFill>
                  <a:srgbClr val="FF0000"/>
                </a:solidFill>
                <a:latin typeface="Courier New" panose="02070309020205020404" pitchFamily="49" charset="0"/>
                <a:cs typeface="Courier New" panose="02070309020205020404" pitchFamily="49" charset="0"/>
              </a:rPr>
              <a:t>Low cetane fuel permits an engine to be started at lower temperature.</a:t>
            </a:r>
            <a:endParaRPr lang="en-US" sz="2700" b="1" dirty="0">
              <a:solidFill>
                <a:srgbClr val="FF0000"/>
              </a:solidFill>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700" dirty="0">
                <a:latin typeface="Courier New" panose="02070309020205020404" pitchFamily="49" charset="0"/>
                <a:cs typeface="Courier New" panose="02070309020205020404" pitchFamily="49" charset="0"/>
              </a:rPr>
              <a:t>The lowest temperature at which the fuel ceases to flow is known as pour point</a:t>
            </a:r>
            <a:endParaRPr lang="en-US" sz="27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61396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210083"/>
            <a:ext cx="11074400" cy="4917440"/>
          </a:xfrm>
        </p:spPr>
        <p:txBody>
          <a:bodyPr>
            <a:noAutofit/>
          </a:bodyPr>
          <a:lstStyle/>
          <a:p>
            <a:pPr marL="0" lvl="0" indent="0" algn="just">
              <a:buNone/>
            </a:pPr>
            <a:r>
              <a:rPr lang="en-US" sz="2300" dirty="0">
                <a:latin typeface="Courier New" panose="02070309020205020404" pitchFamily="49" charset="0"/>
                <a:cs typeface="Courier New" panose="02070309020205020404" pitchFamily="49" charset="0"/>
              </a:rPr>
              <a:t>13. Arrange the following according to the process of management.</a:t>
            </a:r>
          </a:p>
          <a:p>
            <a:pPr marL="0" lvl="0" indent="0" algn="just">
              <a:buNone/>
            </a:pPr>
            <a:endParaRPr lang="en-US" sz="2300" dirty="0">
              <a:latin typeface="Courier New" panose="02070309020205020404" pitchFamily="49" charset="0"/>
              <a:cs typeface="Courier New" panose="02070309020205020404" pitchFamily="49" charset="0"/>
            </a:endParaRPr>
          </a:p>
          <a:p>
            <a:pPr marL="0" indent="0" algn="just">
              <a:buNone/>
            </a:pPr>
            <a:r>
              <a:rPr lang="en-US" sz="2300" dirty="0" err="1">
                <a:latin typeface="Courier New" panose="02070309020205020404" pitchFamily="49" charset="0"/>
                <a:cs typeface="Courier New" panose="02070309020205020404" pitchFamily="49" charset="0"/>
              </a:rPr>
              <a:t>i</a:t>
            </a:r>
            <a:r>
              <a:rPr lang="en-US" sz="2300" dirty="0">
                <a:latin typeface="Courier New" panose="02070309020205020404" pitchFamily="49" charset="0"/>
                <a:cs typeface="Courier New" panose="02070309020205020404" pitchFamily="49" charset="0"/>
              </a:rPr>
              <a:t>. Selecting the right employees for the right position</a:t>
            </a:r>
          </a:p>
          <a:p>
            <a:pPr marL="0" indent="0" algn="just">
              <a:buNone/>
            </a:pPr>
            <a:r>
              <a:rPr lang="en-US" sz="2300" dirty="0">
                <a:latin typeface="Courier New" panose="02070309020205020404" pitchFamily="49" charset="0"/>
                <a:cs typeface="Courier New" panose="02070309020205020404" pitchFamily="49" charset="0"/>
              </a:rPr>
              <a:t>ii. Formulation of the mission, vision, goals, objectives and activities of the organization</a:t>
            </a:r>
          </a:p>
          <a:p>
            <a:pPr marL="0" indent="0" algn="just">
              <a:buNone/>
            </a:pPr>
            <a:r>
              <a:rPr lang="en-US" sz="2300" dirty="0">
                <a:latin typeface="Courier New" panose="02070309020205020404" pitchFamily="49" charset="0"/>
                <a:cs typeface="Courier New" panose="02070309020205020404" pitchFamily="49" charset="0"/>
              </a:rPr>
              <a:t>iii. Conducting of annual performance evaluation of employees.</a:t>
            </a:r>
          </a:p>
          <a:p>
            <a:pPr marL="0" indent="0" algn="just">
              <a:buNone/>
            </a:pPr>
            <a:r>
              <a:rPr lang="en-US" sz="2300" dirty="0">
                <a:latin typeface="Courier New" panose="02070309020205020404" pitchFamily="49" charset="0"/>
                <a:cs typeface="Courier New" panose="02070309020205020404" pitchFamily="49" charset="0"/>
              </a:rPr>
              <a:t>iv. Coordinating the employees and material resources of the organization.</a:t>
            </a:r>
          </a:p>
          <a:p>
            <a:pPr marL="0" indent="0" algn="just">
              <a:buNone/>
            </a:pPr>
            <a:r>
              <a:rPr lang="en-US" sz="2300" dirty="0">
                <a:latin typeface="Courier New" panose="02070309020205020404" pitchFamily="49" charset="0"/>
                <a:cs typeface="Courier New" panose="02070309020205020404" pitchFamily="49" charset="0"/>
              </a:rPr>
              <a:t>v. Orientation of personnel for the proper achievement of goals</a:t>
            </a:r>
          </a:p>
          <a:p>
            <a:pPr marL="457200" lvl="1" indent="0" algn="just">
              <a:buNone/>
            </a:pPr>
            <a:endParaRPr lang="en-PH"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ii, iii, iv, v</a:t>
            </a:r>
            <a:endParaRPr lang="en-US"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a:latin typeface="Courier New" panose="02070309020205020404" pitchFamily="49" charset="0"/>
                <a:cs typeface="Courier New" panose="02070309020205020404" pitchFamily="49" charset="0"/>
              </a:rPr>
              <a:t>ii, iv, </a:t>
            </a: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iii, v</a:t>
            </a:r>
            <a:endParaRPr lang="en-US"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a:latin typeface="Courier New" panose="02070309020205020404" pitchFamily="49" charset="0"/>
                <a:cs typeface="Courier New" panose="02070309020205020404" pitchFamily="49" charset="0"/>
              </a:rPr>
              <a:t>ii, </a:t>
            </a: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v, iv, iii</a:t>
            </a:r>
            <a:endParaRPr lang="en-US"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a:latin typeface="Courier New" panose="02070309020205020404" pitchFamily="49" charset="0"/>
                <a:cs typeface="Courier New" panose="02070309020205020404" pitchFamily="49" charset="0"/>
              </a:rPr>
              <a:t>ii, iv, </a:t>
            </a: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v, iii</a:t>
            </a:r>
            <a:endParaRPr lang="en-US" sz="23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9215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213655"/>
            <a:ext cx="11074400" cy="4917440"/>
          </a:xfrm>
        </p:spPr>
        <p:txBody>
          <a:bodyPr>
            <a:noAutofit/>
          </a:bodyPr>
          <a:lstStyle/>
          <a:p>
            <a:pPr marL="0" lvl="0" indent="0" algn="just">
              <a:buNone/>
            </a:pPr>
            <a:r>
              <a:rPr lang="en-US" sz="2300" dirty="0">
                <a:latin typeface="Courier New" panose="02070309020205020404" pitchFamily="49" charset="0"/>
                <a:cs typeface="Courier New" panose="02070309020205020404" pitchFamily="49" charset="0"/>
              </a:rPr>
              <a:t>13. Arrange the following according to the process of management.</a:t>
            </a:r>
          </a:p>
          <a:p>
            <a:pPr marL="0" lvl="0" indent="0" algn="just">
              <a:buNone/>
            </a:pPr>
            <a:endParaRPr lang="en-US" sz="2300" dirty="0">
              <a:latin typeface="Courier New" panose="02070309020205020404" pitchFamily="49" charset="0"/>
              <a:cs typeface="Courier New" panose="02070309020205020404" pitchFamily="49" charset="0"/>
            </a:endParaRPr>
          </a:p>
          <a:p>
            <a:pPr marL="0" indent="0" algn="just">
              <a:buNone/>
            </a:pPr>
            <a:r>
              <a:rPr lang="en-US" sz="2300" dirty="0" err="1">
                <a:latin typeface="Courier New" panose="02070309020205020404" pitchFamily="49" charset="0"/>
                <a:cs typeface="Courier New" panose="02070309020205020404" pitchFamily="49" charset="0"/>
              </a:rPr>
              <a:t>i</a:t>
            </a:r>
            <a:r>
              <a:rPr lang="en-US" sz="2300" dirty="0">
                <a:latin typeface="Courier New" panose="02070309020205020404" pitchFamily="49" charset="0"/>
                <a:cs typeface="Courier New" panose="02070309020205020404" pitchFamily="49" charset="0"/>
              </a:rPr>
              <a:t>. Selecting the right employees for the right position</a:t>
            </a:r>
          </a:p>
          <a:p>
            <a:pPr marL="0" indent="0" algn="just">
              <a:buNone/>
            </a:pPr>
            <a:r>
              <a:rPr lang="en-US" sz="2300" dirty="0">
                <a:latin typeface="Courier New" panose="02070309020205020404" pitchFamily="49" charset="0"/>
                <a:cs typeface="Courier New" panose="02070309020205020404" pitchFamily="49" charset="0"/>
              </a:rPr>
              <a:t>ii. Formulation of the mission, vision, goals, objectives and activities of the organization</a:t>
            </a:r>
          </a:p>
          <a:p>
            <a:pPr marL="0" indent="0" algn="just">
              <a:buNone/>
            </a:pPr>
            <a:r>
              <a:rPr lang="en-US" sz="2300" dirty="0">
                <a:latin typeface="Courier New" panose="02070309020205020404" pitchFamily="49" charset="0"/>
                <a:cs typeface="Courier New" panose="02070309020205020404" pitchFamily="49" charset="0"/>
              </a:rPr>
              <a:t>iii. Conducting of annual performance evaluation of employees.</a:t>
            </a:r>
          </a:p>
          <a:p>
            <a:pPr marL="0" indent="0" algn="just">
              <a:buNone/>
            </a:pPr>
            <a:r>
              <a:rPr lang="en-US" sz="2300" dirty="0">
                <a:latin typeface="Courier New" panose="02070309020205020404" pitchFamily="49" charset="0"/>
                <a:cs typeface="Courier New" panose="02070309020205020404" pitchFamily="49" charset="0"/>
              </a:rPr>
              <a:t>iv. Coordinating the employees and material resources of the organization.</a:t>
            </a:r>
          </a:p>
          <a:p>
            <a:pPr marL="0" indent="0" algn="just">
              <a:buNone/>
            </a:pPr>
            <a:r>
              <a:rPr lang="en-US" sz="2300" dirty="0">
                <a:latin typeface="Courier New" panose="02070309020205020404" pitchFamily="49" charset="0"/>
                <a:cs typeface="Courier New" panose="02070309020205020404" pitchFamily="49" charset="0"/>
              </a:rPr>
              <a:t>v. Orientation of personnel for the proper achievement of goals</a:t>
            </a:r>
          </a:p>
          <a:p>
            <a:pPr marL="457200" lvl="1" indent="0" algn="just">
              <a:buNone/>
            </a:pPr>
            <a:endParaRPr lang="en-PH"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ii, iii, iv, v</a:t>
            </a:r>
            <a:endParaRPr lang="en-US"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a:latin typeface="Courier New" panose="02070309020205020404" pitchFamily="49" charset="0"/>
                <a:cs typeface="Courier New" panose="02070309020205020404" pitchFamily="49" charset="0"/>
              </a:rPr>
              <a:t>ii, iv, </a:t>
            </a: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iii, v</a:t>
            </a:r>
            <a:endParaRPr lang="en-US" sz="23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b="1" dirty="0">
                <a:solidFill>
                  <a:srgbClr val="FF0000"/>
                </a:solidFill>
                <a:latin typeface="Courier New" panose="02070309020205020404" pitchFamily="49" charset="0"/>
                <a:cs typeface="Courier New" panose="02070309020205020404" pitchFamily="49" charset="0"/>
              </a:rPr>
              <a:t>ii, </a:t>
            </a:r>
            <a:r>
              <a:rPr lang="en-PH" sz="2300" b="1" dirty="0" err="1">
                <a:solidFill>
                  <a:srgbClr val="FF0000"/>
                </a:solidFill>
                <a:latin typeface="Courier New" panose="02070309020205020404" pitchFamily="49" charset="0"/>
                <a:cs typeface="Courier New" panose="02070309020205020404" pitchFamily="49" charset="0"/>
              </a:rPr>
              <a:t>i</a:t>
            </a:r>
            <a:r>
              <a:rPr lang="en-PH" sz="2300" b="1" dirty="0">
                <a:solidFill>
                  <a:srgbClr val="FF0000"/>
                </a:solidFill>
                <a:latin typeface="Courier New" panose="02070309020205020404" pitchFamily="49" charset="0"/>
                <a:cs typeface="Courier New" panose="02070309020205020404" pitchFamily="49" charset="0"/>
              </a:rPr>
              <a:t>, v, iv, iii</a:t>
            </a:r>
            <a:endParaRPr lang="en-US" sz="2300" b="1" dirty="0">
              <a:solidFill>
                <a:srgbClr val="FF0000"/>
              </a:solidFill>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300" dirty="0">
                <a:latin typeface="Courier New" panose="02070309020205020404" pitchFamily="49" charset="0"/>
                <a:cs typeface="Courier New" panose="02070309020205020404" pitchFamily="49" charset="0"/>
              </a:rPr>
              <a:t>ii, iv, </a:t>
            </a:r>
            <a:r>
              <a:rPr lang="en-PH" sz="2300" dirty="0" err="1">
                <a:latin typeface="Courier New" panose="02070309020205020404" pitchFamily="49" charset="0"/>
                <a:cs typeface="Courier New" panose="02070309020205020404" pitchFamily="49" charset="0"/>
              </a:rPr>
              <a:t>i</a:t>
            </a:r>
            <a:r>
              <a:rPr lang="en-PH" sz="2300" dirty="0">
                <a:latin typeface="Courier New" panose="02070309020205020404" pitchFamily="49" charset="0"/>
                <a:cs typeface="Courier New" panose="02070309020205020404" pitchFamily="49" charset="0"/>
              </a:rPr>
              <a:t>, v, iii</a:t>
            </a:r>
            <a:endParaRPr lang="en-US" sz="23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0038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3657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14. Mr. Rick Riordan noticed that the percentage of </a:t>
            </a:r>
            <a:r>
              <a:rPr lang="en-US" sz="3200" dirty="0" err="1">
                <a:latin typeface="Courier New" panose="02070309020205020404" pitchFamily="49" charset="0"/>
                <a:cs typeface="Courier New" panose="02070309020205020404" pitchFamily="49" charset="0"/>
              </a:rPr>
              <a:t>unthreshed</a:t>
            </a:r>
            <a:r>
              <a:rPr lang="en-US" sz="3200" dirty="0">
                <a:latin typeface="Courier New" panose="02070309020205020404" pitchFamily="49" charset="0"/>
                <a:cs typeface="Courier New" panose="02070309020205020404" pitchFamily="49" charset="0"/>
              </a:rPr>
              <a:t> rice crop is relatively high when using his rice combine harvester. Determine the cause of this problem. </a:t>
            </a:r>
          </a:p>
          <a:p>
            <a:pPr marL="0" lvl="0" indent="0" algn="just">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The header may be too high</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Weak airflow from the fan</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Clogged fuel lines due to neglected filters</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Flow on the concave screen is blocked due to high moisture content</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6343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ntent Placeholder 2">
            <a:extLst>
              <a:ext uri="{FF2B5EF4-FFF2-40B4-BE49-F238E27FC236}">
                <a16:creationId xmlns:a16="http://schemas.microsoft.com/office/drawing/2014/main" id="{716D5E9F-157B-4150-B703-A9BD255C0EB7}"/>
              </a:ext>
            </a:extLst>
          </p:cNvPr>
          <p:cNvSpPr txBox="1">
            <a:spLocks/>
          </p:cNvSpPr>
          <p:nvPr/>
        </p:nvSpPr>
        <p:spPr>
          <a:xfrm>
            <a:off x="558800" y="365760"/>
            <a:ext cx="11074400" cy="49174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3200" dirty="0">
                <a:latin typeface="Courier New" panose="02070309020205020404" pitchFamily="49" charset="0"/>
                <a:cs typeface="Courier New" panose="02070309020205020404" pitchFamily="49" charset="0"/>
              </a:rPr>
              <a:t>14. Mr. Rick Riordan noticed that the percentage of </a:t>
            </a:r>
            <a:r>
              <a:rPr lang="en-US" sz="3200" dirty="0" err="1">
                <a:latin typeface="Courier New" panose="02070309020205020404" pitchFamily="49" charset="0"/>
                <a:cs typeface="Courier New" panose="02070309020205020404" pitchFamily="49" charset="0"/>
              </a:rPr>
              <a:t>unthreshed</a:t>
            </a:r>
            <a:r>
              <a:rPr lang="en-US" sz="3200" dirty="0">
                <a:latin typeface="Courier New" panose="02070309020205020404" pitchFamily="49" charset="0"/>
                <a:cs typeface="Courier New" panose="02070309020205020404" pitchFamily="49" charset="0"/>
              </a:rPr>
              <a:t> rice crop is relatively high when using his rice combine harvester. Determine the cause of this problem. </a:t>
            </a:r>
          </a:p>
          <a:p>
            <a:pPr marL="0" indent="0" algn="just">
              <a:buFont typeface="Arial" panose="020B0604020202020204" pitchFamily="34" charset="0"/>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The header may be too high</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Weak airflow from the fan</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Clogged fuel lines due to neglected filters</a:t>
            </a:r>
          </a:p>
          <a:p>
            <a:pPr marL="914400" lvl="1" indent="-45720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Flow on the concave screen is blocked due to high moisture content</a:t>
            </a:r>
          </a:p>
        </p:txBody>
      </p:sp>
    </p:spTree>
    <p:extLst>
      <p:ext uri="{BB962C8B-B14F-4D97-AF65-F5344CB8AC3E}">
        <p14:creationId xmlns:p14="http://schemas.microsoft.com/office/powerpoint/2010/main" val="19603589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15. Why are farm revenues higher in years of lower production due to bad weather?</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Demand is more elastic than supply</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Supply is perfectly elastic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Demand is inelastic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Supply is inelastic</a:t>
            </a:r>
            <a:endParaRPr lang="en-US" sz="3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83555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15. Why are farm revenues higher in years of lower production due to bad weather?</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Demand is more elastic than supply</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Supply is perfectly elastic	</a:t>
            </a:r>
          </a:p>
          <a:p>
            <a:pPr marL="1200150" lvl="1" indent="-7429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Demand is inelastic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Supply is inelastic</a:t>
            </a:r>
            <a:endParaRPr lang="en-US" sz="3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6171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16. The specific fuel consumption of a tractor is 0.3lbs/BHP-hr. If the heating value is 19,500BTU/lb., what is the Brake Thermal Efficiency?</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435%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23.05%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230%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43.5%</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56157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16. The specific fuel consumption of a tractor is 0.3lbs/BHP-hr. If the heating value is 19,500BTU/lb., what is the Brake Thermal Efficiency?</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435%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23.05%		</a:t>
            </a:r>
          </a:p>
          <a:p>
            <a:pPr marL="1200150" lvl="1" indent="-742950" algn="just">
              <a:buFont typeface="+mj-lt"/>
              <a:buAutoNum type="alphaLcPeriod"/>
            </a:pPr>
            <a:r>
              <a:rPr lang="en-US" sz="3600" dirty="0">
                <a:latin typeface="Courier New" panose="02070309020205020404" pitchFamily="49" charset="0"/>
                <a:cs typeface="Courier New" panose="02070309020205020404" pitchFamily="49" charset="0"/>
              </a:rPr>
              <a:t>230%		</a:t>
            </a:r>
          </a:p>
          <a:p>
            <a:pPr marL="1200150" lvl="1" indent="-7429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43.5%</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87906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17. A 4-stroke</a:t>
            </a:r>
            <a:r>
              <a:rPr lang="en-US" sz="3600" dirty="0">
                <a:latin typeface="Courier New" panose="02070309020205020404" pitchFamily="49" charset="0"/>
                <a:cs typeface="Courier New" panose="02070309020205020404" pitchFamily="49" charset="0"/>
              </a:rPr>
              <a:t>,</a:t>
            </a:r>
            <a:r>
              <a:rPr lang="en-PH" sz="3600" dirty="0">
                <a:latin typeface="Courier New" panose="02070309020205020404" pitchFamily="49" charset="0"/>
                <a:cs typeface="Courier New" panose="02070309020205020404" pitchFamily="49" charset="0"/>
              </a:rPr>
              <a:t> 4-cylinder engine having a cylinder dimension of 25 by 20 cm rotates at 154 rpm. What is the IHP when the IMEP is 7.5 kPa.</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0.51 hp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24.35 hp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0.41 hp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30.43 hp</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33200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17. A 4-stroke</a:t>
            </a:r>
            <a:r>
              <a:rPr lang="en-US" sz="3600" dirty="0">
                <a:latin typeface="Courier New" panose="02070309020205020404" pitchFamily="49" charset="0"/>
                <a:cs typeface="Courier New" panose="02070309020205020404" pitchFamily="49" charset="0"/>
              </a:rPr>
              <a:t>,</a:t>
            </a:r>
            <a:r>
              <a:rPr lang="en-PH" sz="3600" dirty="0">
                <a:latin typeface="Courier New" panose="02070309020205020404" pitchFamily="49" charset="0"/>
                <a:cs typeface="Courier New" panose="02070309020205020404" pitchFamily="49" charset="0"/>
              </a:rPr>
              <a:t> 4-cylinder engine having a cylinder dimension of 25 by 20 cm rotates at 154 rpm. What is the IHP when the IMEP is 7.5 kPa.</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0.51 hp</a:t>
            </a:r>
            <a:r>
              <a:rPr lang="en-PH" sz="3600" dirty="0">
                <a:latin typeface="Courier New" panose="02070309020205020404" pitchFamily="49" charset="0"/>
                <a:cs typeface="Courier New" panose="02070309020205020404" pitchFamily="49" charset="0"/>
              </a:rPr>
              <a:t>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24.35 hp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0.41 hp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30.43 hp</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8578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18. A</a:t>
            </a:r>
            <a:r>
              <a:rPr lang="en-US" sz="3600" dirty="0" err="1">
                <a:latin typeface="Courier New" panose="02070309020205020404" pitchFamily="49" charset="0"/>
                <a:cs typeface="Courier New" panose="02070309020205020404" pitchFamily="49" charset="0"/>
              </a:rPr>
              <a:t>ccording</a:t>
            </a:r>
            <a:r>
              <a:rPr lang="en-US" sz="3600" dirty="0">
                <a:latin typeface="Courier New" panose="02070309020205020404" pitchFamily="49" charset="0"/>
                <a:cs typeface="Courier New" panose="02070309020205020404" pitchFamily="49" charset="0"/>
              </a:rPr>
              <a:t> to International Standard Organization (ISO), there are three (3) choices for a signal word. Which of the following does NOT belong to the group?</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NOTICE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CAUTION</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WARNING</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DANGER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078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18. A</a:t>
            </a:r>
            <a:r>
              <a:rPr lang="en-US" sz="3600" dirty="0" err="1">
                <a:latin typeface="Courier New" panose="02070309020205020404" pitchFamily="49" charset="0"/>
                <a:cs typeface="Courier New" panose="02070309020205020404" pitchFamily="49" charset="0"/>
              </a:rPr>
              <a:t>ccording</a:t>
            </a:r>
            <a:r>
              <a:rPr lang="en-US" sz="3600" dirty="0">
                <a:latin typeface="Courier New" panose="02070309020205020404" pitchFamily="49" charset="0"/>
                <a:cs typeface="Courier New" panose="02070309020205020404" pitchFamily="49" charset="0"/>
              </a:rPr>
              <a:t> to International Standard Organization (ISO), there are three (3) choices for a signal word. Which of the following does NOT belong to the group?</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NOTICE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CAUTION</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WARNING</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DANGER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30698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Difference Between Life and Death: Choosing the Right Safety Signal ...">
            <a:extLst>
              <a:ext uri="{FF2B5EF4-FFF2-40B4-BE49-F238E27FC236}">
                <a16:creationId xmlns:a16="http://schemas.microsoft.com/office/drawing/2014/main" id="{5245BFA2-9768-4192-A119-F476BE8883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330" y="591499"/>
            <a:ext cx="6943339" cy="5675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34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18474" y="509047"/>
            <a:ext cx="11114726" cy="4939122"/>
          </a:xfrm>
        </p:spPr>
        <p:txBody>
          <a:bodyPr>
            <a:noAutofit/>
          </a:bodyPr>
          <a:lstStyle/>
          <a:p>
            <a:pPr marL="0" lvl="0" indent="0" algn="just">
              <a:buNone/>
            </a:pPr>
            <a:r>
              <a:rPr lang="en-US" sz="2200" dirty="0">
                <a:latin typeface="Courier New" panose="02070309020205020404" pitchFamily="49" charset="0"/>
                <a:cs typeface="Courier New" panose="02070309020205020404" pitchFamily="49" charset="0"/>
              </a:rPr>
              <a:t>19. All Agricultural and Biosystems Engineers shall establish and maintain good relations with fellow Agricultural and Biosystems Engineers and other allied professionals and, accordingly, shall:</a:t>
            </a:r>
          </a:p>
          <a:p>
            <a:pPr marL="0" lvl="0" indent="0" algn="just">
              <a:buNone/>
            </a:pPr>
            <a:endParaRPr lang="en-US" sz="2200" dirty="0">
              <a:latin typeface="Courier New" panose="02070309020205020404" pitchFamily="49" charset="0"/>
              <a:cs typeface="Courier New" panose="02070309020205020404" pitchFamily="49" charset="0"/>
            </a:endParaRPr>
          </a:p>
          <a:p>
            <a:pPr marL="457200" lvl="1" indent="0" algn="just">
              <a:buNone/>
            </a:pPr>
            <a:r>
              <a:rPr lang="en-US" sz="2200" dirty="0">
                <a:latin typeface="Courier New" panose="02070309020205020404" pitchFamily="49" charset="0"/>
                <a:cs typeface="Courier New" panose="02070309020205020404" pitchFamily="49" charset="0"/>
              </a:rPr>
              <a:t>a. Refrain from publicly expressing opinion on any Agricultural and Biosystems Engineering-related issue unless they are well-informed of the facts relating thereto.</a:t>
            </a:r>
          </a:p>
          <a:p>
            <a:pPr marL="457200" lvl="1" indent="0" algn="just">
              <a:buNone/>
            </a:pPr>
            <a:r>
              <a:rPr lang="en-US" sz="2200" dirty="0">
                <a:latin typeface="Courier New" panose="02070309020205020404" pitchFamily="49" charset="0"/>
                <a:cs typeface="Courier New" panose="02070309020205020404" pitchFamily="49" charset="0"/>
              </a:rPr>
              <a:t>b. Avoid engaging in any activity or practice that would taint or be detrimental to the interest, dignity and honor of the profession.</a:t>
            </a:r>
          </a:p>
          <a:p>
            <a:pPr marL="457200" lvl="1" indent="0" algn="just">
              <a:buNone/>
            </a:pPr>
            <a:r>
              <a:rPr lang="en-US" sz="2200" dirty="0">
                <a:latin typeface="Courier New" panose="02070309020205020404" pitchFamily="49" charset="0"/>
                <a:cs typeface="Courier New" panose="02070309020205020404" pitchFamily="49" charset="0"/>
              </a:rPr>
              <a:t>c. Disclose clearly the consequences that might arise if deviations from their Agricultural and Biosystems Engineering works or opinion would be overruled by nontechnical authority.</a:t>
            </a:r>
          </a:p>
          <a:p>
            <a:pPr marL="457200" lvl="1" indent="0" algn="just">
              <a:buNone/>
            </a:pPr>
            <a:r>
              <a:rPr lang="en-US" sz="2200" dirty="0">
                <a:latin typeface="Courier New" panose="02070309020205020404" pitchFamily="49" charset="0"/>
                <a:cs typeface="Courier New" panose="02070309020205020404" pitchFamily="49" charset="0"/>
              </a:rPr>
              <a:t>d. Refrain from associating with Agricultural and Biosystems Engineers who engage in unethical or illegal practices, and who refuse to share responsibility for their work.</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00715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18474" y="509047"/>
            <a:ext cx="11114726" cy="4939122"/>
          </a:xfrm>
        </p:spPr>
        <p:txBody>
          <a:bodyPr>
            <a:noAutofit/>
          </a:bodyPr>
          <a:lstStyle/>
          <a:p>
            <a:pPr marL="0" lvl="0" indent="0" algn="just">
              <a:buNone/>
            </a:pPr>
            <a:r>
              <a:rPr lang="en-US" sz="2200" dirty="0">
                <a:latin typeface="Courier New" panose="02070309020205020404" pitchFamily="49" charset="0"/>
                <a:cs typeface="Courier New" panose="02070309020205020404" pitchFamily="49" charset="0"/>
              </a:rPr>
              <a:t>19. All Agricultural and Biosystems Engineers shall establish and </a:t>
            </a:r>
            <a:r>
              <a:rPr lang="en-US" sz="2200" b="1" dirty="0">
                <a:latin typeface="Courier New" panose="02070309020205020404" pitchFamily="49" charset="0"/>
                <a:cs typeface="Courier New" panose="02070309020205020404" pitchFamily="49" charset="0"/>
              </a:rPr>
              <a:t>maintain good relations with fellow Agricultural and Biosystems Engineers </a:t>
            </a:r>
            <a:r>
              <a:rPr lang="en-US" sz="2200" dirty="0">
                <a:latin typeface="Courier New" panose="02070309020205020404" pitchFamily="49" charset="0"/>
                <a:cs typeface="Courier New" panose="02070309020205020404" pitchFamily="49" charset="0"/>
              </a:rPr>
              <a:t>and other allied professionals and, accordingly, shall:</a:t>
            </a:r>
          </a:p>
          <a:p>
            <a:pPr marL="0" lvl="0" indent="0" algn="just">
              <a:buNone/>
            </a:pPr>
            <a:endParaRPr lang="en-US" sz="2200" dirty="0">
              <a:latin typeface="Courier New" panose="02070309020205020404" pitchFamily="49" charset="0"/>
              <a:cs typeface="Courier New" panose="02070309020205020404" pitchFamily="49" charset="0"/>
            </a:endParaRPr>
          </a:p>
          <a:p>
            <a:pPr marL="457200" lvl="1" indent="0" algn="just">
              <a:buNone/>
            </a:pPr>
            <a:r>
              <a:rPr lang="en-US" sz="2200" dirty="0">
                <a:latin typeface="Courier New" panose="02070309020205020404" pitchFamily="49" charset="0"/>
                <a:cs typeface="Courier New" panose="02070309020205020404" pitchFamily="49" charset="0"/>
              </a:rPr>
              <a:t>a. Refrain from publicly expressing opinion on any Agricultural and Biosystems Engineering-related issue unless they are well-informed of the facts relating thereto.</a:t>
            </a:r>
          </a:p>
          <a:p>
            <a:pPr marL="457200" lvl="1" indent="0" algn="just">
              <a:buNone/>
            </a:pPr>
            <a:r>
              <a:rPr lang="en-US" sz="2200" dirty="0">
                <a:latin typeface="Courier New" panose="02070309020205020404" pitchFamily="49" charset="0"/>
                <a:cs typeface="Courier New" panose="02070309020205020404" pitchFamily="49" charset="0"/>
              </a:rPr>
              <a:t>b. Avoid engaging in any activity or practice that would taint or be detrimental to the interest, dignity and honor of the profession.</a:t>
            </a:r>
          </a:p>
          <a:p>
            <a:pPr marL="457200" lvl="1" indent="0" algn="just">
              <a:buNone/>
            </a:pPr>
            <a:r>
              <a:rPr lang="en-US" sz="2200" dirty="0">
                <a:latin typeface="Courier New" panose="02070309020205020404" pitchFamily="49" charset="0"/>
                <a:cs typeface="Courier New" panose="02070309020205020404" pitchFamily="49" charset="0"/>
              </a:rPr>
              <a:t>c. Disclose clearly the consequences that might arise if deviations from their Agricultural and Biosystems Engineering works or opinion would be overruled by nontechnical authority.</a:t>
            </a:r>
          </a:p>
          <a:p>
            <a:pPr marL="457200" lvl="1" indent="0" algn="just">
              <a:buNone/>
            </a:pPr>
            <a:r>
              <a:rPr lang="en-US" sz="2200" b="1" dirty="0">
                <a:solidFill>
                  <a:srgbClr val="FF0000"/>
                </a:solidFill>
                <a:latin typeface="Courier New" panose="02070309020205020404" pitchFamily="49" charset="0"/>
                <a:cs typeface="Courier New" panose="02070309020205020404" pitchFamily="49" charset="0"/>
              </a:rPr>
              <a:t>d. Refrain from associating with Agricultural and Biosystems Engineers who engage in unethical or illegal practices, and who refuse to share responsibility for their work.</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87832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3D5F46-6393-4F25-A1CE-A3B8501B88E9}"/>
              </a:ext>
            </a:extLst>
          </p:cNvPr>
          <p:cNvSpPr/>
          <p:nvPr/>
        </p:nvSpPr>
        <p:spPr>
          <a:xfrm>
            <a:off x="5638800" y="5619919"/>
            <a:ext cx="6096000"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r>
              <a:rPr lang="en-US" dirty="0">
                <a:solidFill>
                  <a:schemeClr val="bg1"/>
                </a:solidFill>
                <a:hlinkClick r:id="rId3">
                  <a:extLst>
                    <a:ext uri="{A12FA001-AC4F-418D-AE19-62706E023703}">
                      <ahyp:hlinkClr xmlns:ahyp="http://schemas.microsoft.com/office/drawing/2018/hyperlinkcolor" val="tx"/>
                    </a:ext>
                  </a:extLst>
                </a:hlinkClick>
              </a:rPr>
              <a:t>https://www.prc.gov.ph/sites/default/files/2023-05%20publishedAgriBio.pdf</a:t>
            </a:r>
            <a:r>
              <a:rPr lang="en-US" dirty="0">
                <a:solidFill>
                  <a:schemeClr val="bg1"/>
                </a:solidFill>
              </a:rPr>
              <a:t> </a:t>
            </a:r>
          </a:p>
        </p:txBody>
      </p:sp>
      <p:pic>
        <p:nvPicPr>
          <p:cNvPr id="2" name="Picture 1">
            <a:extLst>
              <a:ext uri="{FF2B5EF4-FFF2-40B4-BE49-F238E27FC236}">
                <a16:creationId xmlns:a16="http://schemas.microsoft.com/office/drawing/2014/main" id="{8B62051B-5DC2-4EC9-A43B-BCCC5E8E29F0}"/>
              </a:ext>
            </a:extLst>
          </p:cNvPr>
          <p:cNvPicPr>
            <a:picLocks noChangeAspect="1"/>
          </p:cNvPicPr>
          <p:nvPr/>
        </p:nvPicPr>
        <p:blipFill>
          <a:blip r:embed="rId4"/>
          <a:stretch>
            <a:fillRect/>
          </a:stretch>
        </p:blipFill>
        <p:spPr>
          <a:xfrm>
            <a:off x="1062182" y="599060"/>
            <a:ext cx="9802593" cy="2591162"/>
          </a:xfrm>
          <a:prstGeom prst="rect">
            <a:avLst/>
          </a:prstGeom>
        </p:spPr>
      </p:pic>
      <p:pic>
        <p:nvPicPr>
          <p:cNvPr id="3" name="Picture 2">
            <a:extLst>
              <a:ext uri="{FF2B5EF4-FFF2-40B4-BE49-F238E27FC236}">
                <a16:creationId xmlns:a16="http://schemas.microsoft.com/office/drawing/2014/main" id="{073A6DFC-BB03-4EF7-8EE2-A5ABD07C828C}"/>
              </a:ext>
            </a:extLst>
          </p:cNvPr>
          <p:cNvPicPr>
            <a:picLocks noChangeAspect="1"/>
          </p:cNvPicPr>
          <p:nvPr/>
        </p:nvPicPr>
        <p:blipFill>
          <a:blip r:embed="rId5"/>
          <a:stretch>
            <a:fillRect/>
          </a:stretch>
        </p:blipFill>
        <p:spPr>
          <a:xfrm>
            <a:off x="1070925" y="3578087"/>
            <a:ext cx="10305402" cy="1257281"/>
          </a:xfrm>
          <a:prstGeom prst="rect">
            <a:avLst/>
          </a:prstGeom>
        </p:spPr>
      </p:pic>
    </p:spTree>
    <p:extLst>
      <p:ext uri="{BB962C8B-B14F-4D97-AF65-F5344CB8AC3E}">
        <p14:creationId xmlns:p14="http://schemas.microsoft.com/office/powerpoint/2010/main" val="2914889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20. A farmer loans 247 100 pesos from a bank with an interest at 5% compounded annually. He agrees to pay his obligations by paying eight equal annual payments, the first being due at the end of 10 years. Find the annual payments.</a:t>
            </a:r>
          </a:p>
          <a:p>
            <a:pPr marL="457200" lvl="1"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53 931.18		</a:t>
            </a: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59 310.01	</a:t>
            </a: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56 485.72	</a:t>
            </a: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56 627.74		</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3540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408F00-4FF5-4284-801F-8DE1AA2CC6C9}"/>
              </a:ext>
            </a:extLst>
          </p:cNvPr>
          <p:cNvPicPr>
            <a:picLocks noChangeAspect="1"/>
          </p:cNvPicPr>
          <p:nvPr/>
        </p:nvPicPr>
        <p:blipFill>
          <a:blip r:embed="rId3"/>
          <a:stretch>
            <a:fillRect/>
          </a:stretch>
        </p:blipFill>
        <p:spPr>
          <a:xfrm>
            <a:off x="2761784" y="9047"/>
            <a:ext cx="6668431" cy="6839905"/>
          </a:xfrm>
          <a:prstGeom prst="rect">
            <a:avLst/>
          </a:prstGeom>
        </p:spPr>
      </p:pic>
    </p:spTree>
    <p:extLst>
      <p:ext uri="{BB962C8B-B14F-4D97-AF65-F5344CB8AC3E}">
        <p14:creationId xmlns:p14="http://schemas.microsoft.com/office/powerpoint/2010/main" val="381535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20. A farmer loans 247 100 pesos from a bank with an interest at 5% compounded annually. He agrees to pay his obligations by paying eight equal annual payments, the first being due at the end of 10 years. Find the annual payments.</a:t>
            </a:r>
          </a:p>
          <a:p>
            <a:pPr marL="457200" lvl="1"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53 931.18		</a:t>
            </a:r>
          </a:p>
          <a:p>
            <a:pPr marL="971550" lvl="1" indent="-514350" algn="just">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59 310.01</a:t>
            </a:r>
            <a:r>
              <a:rPr lang="en-PH" sz="32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56 485.72	</a:t>
            </a: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56 627.74		</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674287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21. What change in the loading of a ball bearing will cause the expected life to be quartered?</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26%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37%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48%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59%	</a:t>
            </a:r>
            <a:r>
              <a:rPr lang="en-PH" sz="3200" dirty="0">
                <a:latin typeface="Courier New" panose="02070309020205020404" pitchFamily="49" charset="0"/>
                <a:cs typeface="Courier New" panose="02070309020205020404" pitchFamily="49" charset="0"/>
              </a:rPr>
              <a:t>	</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299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3374A8-1BCD-4BD9-88B1-FFD92B30B9E8}"/>
              </a:ext>
            </a:extLst>
          </p:cNvPr>
          <p:cNvPicPr>
            <a:picLocks noChangeAspect="1"/>
          </p:cNvPicPr>
          <p:nvPr/>
        </p:nvPicPr>
        <p:blipFill>
          <a:blip r:embed="rId2"/>
          <a:stretch>
            <a:fillRect/>
          </a:stretch>
        </p:blipFill>
        <p:spPr>
          <a:xfrm>
            <a:off x="1156598" y="1066470"/>
            <a:ext cx="9878804" cy="4725059"/>
          </a:xfrm>
          <a:prstGeom prst="rect">
            <a:avLst/>
          </a:prstGeom>
        </p:spPr>
      </p:pic>
    </p:spTree>
    <p:extLst>
      <p:ext uri="{BB962C8B-B14F-4D97-AF65-F5344CB8AC3E}">
        <p14:creationId xmlns:p14="http://schemas.microsoft.com/office/powerpoint/2010/main" val="3983716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21. What change in the loading of a ball bearing will cause the expected life to be quartered?</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26%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37%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48%			</a:t>
            </a:r>
          </a:p>
          <a:p>
            <a:pPr marL="1200150" lvl="1" indent="-7429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59%</a:t>
            </a:r>
            <a:r>
              <a:rPr lang="en-PH" sz="3600" dirty="0">
                <a:latin typeface="Courier New" panose="02070309020205020404" pitchFamily="49" charset="0"/>
                <a:cs typeface="Courier New" panose="02070309020205020404" pitchFamily="49" charset="0"/>
              </a:rPr>
              <a:t>	</a:t>
            </a:r>
            <a:r>
              <a:rPr lang="en-PH" sz="3200" dirty="0">
                <a:latin typeface="Courier New" panose="02070309020205020404" pitchFamily="49" charset="0"/>
                <a:cs typeface="Courier New" panose="02070309020205020404" pitchFamily="49" charset="0"/>
              </a:rPr>
              <a:t>	</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0165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22. A type of logic gate which requires at least one of the input signals to be TRUE for the output to be TRUE.</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OR gate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XOR gate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NOT gate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NOR gate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117185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22. A type of logic gate which requires at least one of the input signals to be TRUE for the output to be TRUE.</a:t>
            </a:r>
          </a:p>
          <a:p>
            <a:pPr marL="0" lvl="0" indent="0" algn="just">
              <a:buNone/>
            </a:pPr>
            <a:endParaRPr lang="en-US" sz="3600" dirty="0">
              <a:latin typeface="Courier New" panose="02070309020205020404" pitchFamily="49" charset="0"/>
              <a:cs typeface="Courier New" panose="02070309020205020404" pitchFamily="49" charset="0"/>
            </a:endParaRPr>
          </a:p>
          <a:p>
            <a:pPr marL="1200150" lvl="1" indent="-7429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OR gate</a:t>
            </a:r>
            <a:r>
              <a:rPr lang="en-PH" sz="3600" dirty="0">
                <a:latin typeface="Courier New" panose="02070309020205020404" pitchFamily="49" charset="0"/>
                <a:cs typeface="Courier New" panose="02070309020205020404" pitchFamily="49" charset="0"/>
              </a:rPr>
              <a:t>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XOR gate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NOT gate		</a:t>
            </a:r>
          </a:p>
          <a:p>
            <a:pPr marL="1200150" lvl="1" indent="-742950" algn="just">
              <a:buFont typeface="+mj-lt"/>
              <a:buAutoNum type="alphaLcPeriod"/>
            </a:pPr>
            <a:r>
              <a:rPr lang="en-PH" sz="3600" dirty="0">
                <a:latin typeface="Courier New" panose="02070309020205020404" pitchFamily="49" charset="0"/>
                <a:cs typeface="Courier New" panose="02070309020205020404" pitchFamily="49" charset="0"/>
              </a:rPr>
              <a:t>NOR gate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54684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Role of the Logic Gate | demystifying digital electronics – Hacky Labs">
            <a:extLst>
              <a:ext uri="{FF2B5EF4-FFF2-40B4-BE49-F238E27FC236}">
                <a16:creationId xmlns:a16="http://schemas.microsoft.com/office/drawing/2014/main" id="{CFC156CF-5474-4080-9D9E-4DDBA2CD3E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5045"/>
          <a:stretch/>
        </p:blipFill>
        <p:spPr bwMode="auto">
          <a:xfrm>
            <a:off x="345989" y="1099807"/>
            <a:ext cx="5651157" cy="465838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2" descr="The Role of the Logic Gate | demystifying digital electronics – Hacky Labs">
            <a:extLst>
              <a:ext uri="{FF2B5EF4-FFF2-40B4-BE49-F238E27FC236}">
                <a16:creationId xmlns:a16="http://schemas.microsoft.com/office/drawing/2014/main" id="{3868BBB7-BDD3-453E-BA7D-709D4D70BA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955"/>
          <a:stretch/>
        </p:blipFill>
        <p:spPr bwMode="auto">
          <a:xfrm>
            <a:off x="6194856" y="1235565"/>
            <a:ext cx="5651157" cy="381834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3633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23. If a store sells 500 bottles of perfume a month when the price is P6, and only sells 460 bottles a month when the price rises to P7, then the price elasticity of demand is:</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0.54 and inelastic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1.85 and elastic</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1.85 and inelastic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0.54 and elastic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4006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23. If a store sells 500 bottles of perfume a month when the price is P6, and only sells 460 bottles a month when the price rises to P7, then the price elasticity of demand is:</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0.54 and inelastic</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1.85 and elastic</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1.85 and inelastic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0.54 and elastic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6550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24. Engines are not normally used for</a:t>
            </a:r>
            <a:endParaRPr lang="en-US" sz="3600" dirty="0">
              <a:latin typeface="Courier New" panose="02070309020205020404" pitchFamily="49" charset="0"/>
              <a:cs typeface="Courier New" panose="02070309020205020404" pitchFamily="49" charset="0"/>
            </a:endParaRP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4-wheel tractors					</a:t>
            </a: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4-row harvesters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power sprayers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1-ton rice mills</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462877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24. Engines are not normally used for</a:t>
            </a:r>
            <a:endParaRPr lang="en-US" sz="3600" dirty="0">
              <a:latin typeface="Courier New" panose="02070309020205020404" pitchFamily="49" charset="0"/>
              <a:cs typeface="Courier New" panose="02070309020205020404" pitchFamily="49" charset="0"/>
            </a:endParaRP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4-wheel tractors					</a:t>
            </a: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4-row harvesters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power sprayers 			</a:t>
            </a:r>
          </a:p>
          <a:p>
            <a:pPr marL="971550" lvl="1" indent="-5143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1-ton rice mills</a:t>
            </a:r>
            <a:endParaRPr lang="en-US" sz="3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67034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25. Which of the following is CORRECT?</a:t>
            </a:r>
          </a:p>
          <a:p>
            <a:pPr marL="0" lvl="0" indent="0" algn="just">
              <a:buNone/>
            </a:pP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 Anything ANDed with a 0 is equal to 0.</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(II) Anything ANDed with a 1 is equal to itself.</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(III) Anything </a:t>
            </a:r>
            <a:r>
              <a:rPr lang="en-PH" dirty="0" err="1">
                <a:latin typeface="Courier New" panose="02070309020205020404" pitchFamily="49" charset="0"/>
                <a:cs typeface="Courier New" panose="02070309020205020404" pitchFamily="49" charset="0"/>
              </a:rPr>
              <a:t>ORed</a:t>
            </a:r>
            <a:r>
              <a:rPr lang="en-PH" dirty="0">
                <a:latin typeface="Courier New" panose="02070309020205020404" pitchFamily="49" charset="0"/>
                <a:cs typeface="Courier New" panose="02070309020205020404" pitchFamily="49" charset="0"/>
              </a:rPr>
              <a:t> with a 0 is equal to 0.</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(IV) Anything </a:t>
            </a:r>
            <a:r>
              <a:rPr lang="en-PH" dirty="0" err="1">
                <a:latin typeface="Courier New" panose="02070309020205020404" pitchFamily="49" charset="0"/>
                <a:cs typeface="Courier New" panose="02070309020205020404" pitchFamily="49" charset="0"/>
              </a:rPr>
              <a:t>ORed</a:t>
            </a:r>
            <a:r>
              <a:rPr lang="en-PH" dirty="0">
                <a:latin typeface="Courier New" panose="02070309020205020404" pitchFamily="49" charset="0"/>
                <a:cs typeface="Courier New" panose="02070309020205020404" pitchFamily="49" charset="0"/>
              </a:rPr>
              <a:t> with a 1 is equal to itself</a:t>
            </a:r>
          </a:p>
          <a:p>
            <a:pPr marL="0" indent="0" algn="just">
              <a:buNone/>
            </a:pPr>
            <a:endParaRPr lang="en-US"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I,II, and III are correct.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I, II and IV are correct.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II, III, and IV are correct.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All are correct.</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8731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25. Which of the following is CORRECT?</a:t>
            </a:r>
          </a:p>
          <a:p>
            <a:pPr marL="0" lvl="0" indent="0" algn="just">
              <a:buNone/>
            </a:pP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 Anything ANDed with a 0 is equal to 0.</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(II) Anything ANDed with a 1 is equal to itself.</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(III) Anything </a:t>
            </a:r>
            <a:r>
              <a:rPr lang="en-PH" dirty="0" err="1">
                <a:latin typeface="Courier New" panose="02070309020205020404" pitchFamily="49" charset="0"/>
                <a:cs typeface="Courier New" panose="02070309020205020404" pitchFamily="49" charset="0"/>
              </a:rPr>
              <a:t>ORed</a:t>
            </a:r>
            <a:r>
              <a:rPr lang="en-PH" dirty="0">
                <a:latin typeface="Courier New" panose="02070309020205020404" pitchFamily="49" charset="0"/>
                <a:cs typeface="Courier New" panose="02070309020205020404" pitchFamily="49" charset="0"/>
              </a:rPr>
              <a:t> with a 0 is equal to 0.</a:t>
            </a:r>
            <a:endParaRPr lang="en-US"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(IV) Anything </a:t>
            </a:r>
            <a:r>
              <a:rPr lang="en-PH" dirty="0" err="1">
                <a:latin typeface="Courier New" panose="02070309020205020404" pitchFamily="49" charset="0"/>
                <a:cs typeface="Courier New" panose="02070309020205020404" pitchFamily="49" charset="0"/>
              </a:rPr>
              <a:t>ORed</a:t>
            </a:r>
            <a:r>
              <a:rPr lang="en-PH" dirty="0">
                <a:latin typeface="Courier New" panose="02070309020205020404" pitchFamily="49" charset="0"/>
                <a:cs typeface="Courier New" panose="02070309020205020404" pitchFamily="49" charset="0"/>
              </a:rPr>
              <a:t> with a 1 is equal to itself</a:t>
            </a:r>
          </a:p>
          <a:p>
            <a:pPr marL="0" indent="0" algn="just">
              <a:buNone/>
            </a:pPr>
            <a:endParaRPr lang="en-US"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I,II, and III are correct.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b="1" dirty="0">
                <a:solidFill>
                  <a:srgbClr val="FF0000"/>
                </a:solidFill>
                <a:latin typeface="Courier New" panose="02070309020205020404" pitchFamily="49" charset="0"/>
                <a:cs typeface="Courier New" panose="02070309020205020404" pitchFamily="49" charset="0"/>
              </a:rPr>
              <a:t>I, II and IV are correct.</a:t>
            </a:r>
            <a:r>
              <a:rPr lang="en-PH" sz="2800" dirty="0">
                <a:latin typeface="Courier New" panose="02070309020205020404" pitchFamily="49" charset="0"/>
                <a:cs typeface="Courier New" panose="02070309020205020404" pitchFamily="49" charset="0"/>
              </a:rPr>
              <a: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II, III, and IV are correct. </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2800" dirty="0">
                <a:latin typeface="Courier New" panose="02070309020205020404" pitchFamily="49" charset="0"/>
                <a:cs typeface="Courier New" panose="02070309020205020404" pitchFamily="49" charset="0"/>
              </a:rPr>
              <a:t>All are correct.</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26532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26. A field measuring 45 m X 90 m is to be prepared using a 1-m upland power tiller at a speed of 3 kph. Assume a 10% overlap between </a:t>
            </a:r>
            <a:r>
              <a:rPr lang="en-US" sz="3000" dirty="0" err="1">
                <a:latin typeface="Courier New" panose="02070309020205020404" pitchFamily="49" charset="0"/>
                <a:cs typeface="Courier New" panose="02070309020205020404" pitchFamily="49" charset="0"/>
              </a:rPr>
              <a:t>passings</a:t>
            </a:r>
            <a:r>
              <a:rPr lang="en-US" sz="3000" dirty="0">
                <a:latin typeface="Courier New" panose="02070309020205020404" pitchFamily="49" charset="0"/>
                <a:cs typeface="Courier New" panose="02070309020205020404" pitchFamily="49" charset="0"/>
              </a:rPr>
              <a:t> and 9 seconds turnaround time at the end of each pass. Determine the field efficiency in going the longer field direction.</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77%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80%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83%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86%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74295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26. A field measuring 45 m X 90 m is to be prepared using a 1-m upland power tiller at a speed of 3 kph. Assume a 10% overlap between </a:t>
            </a:r>
            <a:r>
              <a:rPr lang="en-US" sz="3000" dirty="0" err="1">
                <a:latin typeface="Courier New" panose="02070309020205020404" pitchFamily="49" charset="0"/>
                <a:cs typeface="Courier New" panose="02070309020205020404" pitchFamily="49" charset="0"/>
              </a:rPr>
              <a:t>passings</a:t>
            </a:r>
            <a:r>
              <a:rPr lang="en-US" sz="3000" dirty="0">
                <a:latin typeface="Courier New" panose="02070309020205020404" pitchFamily="49" charset="0"/>
                <a:cs typeface="Courier New" panose="02070309020205020404" pitchFamily="49" charset="0"/>
              </a:rPr>
              <a:t> and 9 seconds turnaround time at the end of each pass. Determine the field efficiency in going the longer field direction.</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77%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80%			</a:t>
            </a:r>
          </a:p>
          <a:p>
            <a:pPr marL="971550" lvl="1" indent="-514350" algn="just">
              <a:buFont typeface="+mj-lt"/>
              <a:buAutoNum type="alphaLcPeriod"/>
            </a:pPr>
            <a:r>
              <a:rPr lang="en-US" sz="3000" b="1" dirty="0">
                <a:solidFill>
                  <a:srgbClr val="FF0000"/>
                </a:solidFill>
                <a:latin typeface="Courier New" panose="02070309020205020404" pitchFamily="49" charset="0"/>
                <a:cs typeface="Courier New" panose="02070309020205020404" pitchFamily="49" charset="0"/>
              </a:rPr>
              <a:t>83%</a:t>
            </a:r>
            <a:r>
              <a:rPr lang="en-US"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86%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437866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27. The seal of the PRBABE shows an inner circle space in white color, the representation of a globe with a light blue droplet of water in which the year ______ is embedded, indicating the year of enactment of RA No. 3927, the first Philippine Agricultural Engineering Law.</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1964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1977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1997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1934</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136005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27. The seal of the PRBABE shows an inner circle space in white color, the representation of a globe with a light blue droplet of water in which the year ______ is embedded, indicating the year of enactment of RA No. 3927, the first Philippine Agricultural Engineering Law.</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b="1" dirty="0">
                <a:solidFill>
                  <a:srgbClr val="FF0000"/>
                </a:solidFill>
                <a:latin typeface="Courier New" panose="02070309020205020404" pitchFamily="49" charset="0"/>
                <a:cs typeface="Courier New" panose="02070309020205020404" pitchFamily="49" charset="0"/>
              </a:rPr>
              <a:t>1964</a:t>
            </a:r>
            <a:r>
              <a:rPr lang="en-US"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1977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1997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1934</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268437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DF9410-F339-45A2-849E-925B94FC66F5}"/>
              </a:ext>
            </a:extLst>
          </p:cNvPr>
          <p:cNvPicPr>
            <a:picLocks noChangeAspect="1"/>
          </p:cNvPicPr>
          <p:nvPr/>
        </p:nvPicPr>
        <p:blipFill>
          <a:blip r:embed="rId3"/>
          <a:stretch>
            <a:fillRect/>
          </a:stretch>
        </p:blipFill>
        <p:spPr>
          <a:xfrm>
            <a:off x="2904881" y="465238"/>
            <a:ext cx="6382238" cy="5927523"/>
          </a:xfrm>
          <a:prstGeom prst="rect">
            <a:avLst/>
          </a:prstGeom>
        </p:spPr>
      </p:pic>
    </p:spTree>
    <p:extLst>
      <p:ext uri="{BB962C8B-B14F-4D97-AF65-F5344CB8AC3E}">
        <p14:creationId xmlns:p14="http://schemas.microsoft.com/office/powerpoint/2010/main" val="23044693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596717"/>
            <a:ext cx="11074400" cy="4917440"/>
          </a:xfrm>
        </p:spPr>
        <p:txBody>
          <a:bodyPr>
            <a:noAutofit/>
          </a:bodyPr>
          <a:lstStyle/>
          <a:p>
            <a:pPr marL="0" lvl="0" indent="0" algn="just">
              <a:buNone/>
            </a:pPr>
            <a:r>
              <a:rPr lang="en-PH" sz="2200" dirty="0">
                <a:latin typeface="Courier New" panose="02070309020205020404" pitchFamily="49" charset="0"/>
                <a:cs typeface="Courier New" panose="02070309020205020404" pitchFamily="49" charset="0"/>
              </a:rPr>
              <a:t>28. In line with the national Organic Agricultural Program, the BAFPS shall submit to the Board for approval the following, EXCEPT:</a:t>
            </a:r>
          </a:p>
          <a:p>
            <a:pPr marL="0" lvl="0" indent="0" algn="just">
              <a:buNone/>
            </a:pP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a. A plan of bringing the program down to the grassroots, utilizing available personnel and facilities on the local level and those of LGUs</a:t>
            </a: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b. A status of the programs, projects and activities undertaken for the development and promotion of organic agriculture</a:t>
            </a: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c. A pattern of cooperation and mutual assistance with LGUs, POs and NGOs, which will maximize people empowerment and participatory approaches to program formulation, implementation and monitoring</a:t>
            </a: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d. A schedule of short-term, medium-term and long-term targets on research and development, marketing, trade promotion/initiatives, capacity building, among others.</a:t>
            </a:r>
            <a:endParaRPr lang="en-US" sz="2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2575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596717"/>
            <a:ext cx="11074400" cy="4917440"/>
          </a:xfrm>
        </p:spPr>
        <p:txBody>
          <a:bodyPr>
            <a:noAutofit/>
          </a:bodyPr>
          <a:lstStyle/>
          <a:p>
            <a:pPr marL="0" lvl="0" indent="0" algn="just">
              <a:buNone/>
            </a:pPr>
            <a:r>
              <a:rPr lang="en-PH" sz="2200" dirty="0">
                <a:latin typeface="Courier New" panose="02070309020205020404" pitchFamily="49" charset="0"/>
                <a:cs typeface="Courier New" panose="02070309020205020404" pitchFamily="49" charset="0"/>
              </a:rPr>
              <a:t>28. In line with the national Organic Agricultural Program, the BAFPS shall submit to the Board for approval the following, EXCEPT:</a:t>
            </a:r>
          </a:p>
          <a:p>
            <a:pPr marL="0" lvl="0" indent="0" algn="just">
              <a:buNone/>
            </a:pP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a. A plan of bringing the program down to the grassroots, utilizing available personnel and facilities on the local level and those of LGUs</a:t>
            </a: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b="1" dirty="0">
                <a:solidFill>
                  <a:srgbClr val="FF0000"/>
                </a:solidFill>
                <a:latin typeface="Courier New" panose="02070309020205020404" pitchFamily="49" charset="0"/>
                <a:cs typeface="Courier New" panose="02070309020205020404" pitchFamily="49" charset="0"/>
              </a:rPr>
              <a:t>b. A status of the programs, projects and activities undertaken for the development and promotion of organic agriculture</a:t>
            </a:r>
            <a:endParaRPr lang="en-US" sz="2200" b="1" dirty="0">
              <a:solidFill>
                <a:srgbClr val="FF0000"/>
              </a:solidFill>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c. A pattern of cooperation and mutual assistance with LGUs, POs and NGOs, which will maximize people empowerment and participatory approaches to program formulation, implementation and monitoring</a:t>
            </a:r>
            <a:endParaRPr lang="en-US" sz="2200" dirty="0">
              <a:latin typeface="Courier New" panose="02070309020205020404" pitchFamily="49" charset="0"/>
              <a:cs typeface="Courier New" panose="02070309020205020404" pitchFamily="49" charset="0"/>
            </a:endParaRPr>
          </a:p>
          <a:p>
            <a:pPr marL="457200" lvl="1" indent="0" algn="just">
              <a:buNone/>
            </a:pPr>
            <a:r>
              <a:rPr lang="en-PH" sz="2200" dirty="0">
                <a:latin typeface="Courier New" panose="02070309020205020404" pitchFamily="49" charset="0"/>
                <a:cs typeface="Courier New" panose="02070309020205020404" pitchFamily="49" charset="0"/>
              </a:rPr>
              <a:t>d. A schedule of short-term, medium-term and long-term targets on research and development, marketing, trade promotion/initiatives, capacity building, among others.</a:t>
            </a:r>
            <a:endParaRPr lang="en-US" sz="2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56589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29. The transfer of the NIA from the Office of the President to the Department of Agriculture is through what executive order?</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165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166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167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168 (s. 2014)</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50305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29. The transfer of the NIA from the Office of the President to the Department of Agriculture is through what executive order?</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165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166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dirty="0">
                <a:latin typeface="Courier New" panose="02070309020205020404" pitchFamily="49" charset="0"/>
                <a:cs typeface="Courier New" panose="02070309020205020404" pitchFamily="49" charset="0"/>
              </a:rPr>
              <a:t>Executive Order No. 167 (s. 2014)</a:t>
            </a: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Executive Order No. 168 (s. 2014)</a:t>
            </a:r>
            <a:endParaRPr lang="en-US" sz="3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37676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750302-77D9-491A-AE48-DAAC21DB1636}"/>
              </a:ext>
            </a:extLst>
          </p:cNvPr>
          <p:cNvPicPr>
            <a:picLocks noChangeAspect="1"/>
          </p:cNvPicPr>
          <p:nvPr/>
        </p:nvPicPr>
        <p:blipFill>
          <a:blip r:embed="rId3"/>
          <a:stretch>
            <a:fillRect/>
          </a:stretch>
        </p:blipFill>
        <p:spPr>
          <a:xfrm>
            <a:off x="1307807" y="355165"/>
            <a:ext cx="9576386" cy="5639236"/>
          </a:xfrm>
          <a:prstGeom prst="rect">
            <a:avLst/>
          </a:prstGeom>
        </p:spPr>
      </p:pic>
      <p:sp>
        <p:nvSpPr>
          <p:cNvPr id="5" name="Rectangle 4">
            <a:extLst>
              <a:ext uri="{FF2B5EF4-FFF2-40B4-BE49-F238E27FC236}">
                <a16:creationId xmlns:a16="http://schemas.microsoft.com/office/drawing/2014/main" id="{040A37CE-24EC-48E3-B650-C1796A48AE08}"/>
              </a:ext>
            </a:extLst>
          </p:cNvPr>
          <p:cNvSpPr/>
          <p:nvPr/>
        </p:nvSpPr>
        <p:spPr>
          <a:xfrm>
            <a:off x="8248925" y="5994401"/>
            <a:ext cx="32101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2400" dirty="0">
                <a:solidFill>
                  <a:schemeClr val="bg1"/>
                </a:solidFill>
                <a:hlinkClick r:id="rId4">
                  <a:extLst>
                    <a:ext uri="{A12FA001-AC4F-418D-AE19-62706E023703}">
                      <ahyp:hlinkClr xmlns:ahyp="http://schemas.microsoft.com/office/drawing/2018/hyperlinkcolor" val="tx"/>
                    </a:ext>
                  </a:extLst>
                </a:hlinkClick>
              </a:rPr>
              <a:t>Executive Order No. 168</a:t>
            </a:r>
            <a:endParaRPr lang="en-US" sz="2400" dirty="0">
              <a:solidFill>
                <a:schemeClr val="bg1"/>
              </a:solidFill>
            </a:endParaRPr>
          </a:p>
        </p:txBody>
      </p:sp>
    </p:spTree>
    <p:extLst>
      <p:ext uri="{BB962C8B-B14F-4D97-AF65-F5344CB8AC3E}">
        <p14:creationId xmlns:p14="http://schemas.microsoft.com/office/powerpoint/2010/main" val="1321089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30. Subject to existing budgetary, accounting and auditing rules and regulations, the Building Official is hereby authorized to retain not more than ______ of his collection for the operating expenses of his office. </a:t>
            </a:r>
            <a:endParaRPr lang="en-US" sz="3200" dirty="0">
              <a:latin typeface="Courier New" panose="02070309020205020404" pitchFamily="49" charset="0"/>
              <a:cs typeface="Courier New" panose="02070309020205020404" pitchFamily="49" charset="0"/>
            </a:endParaRPr>
          </a:p>
          <a:p>
            <a:pPr lvl="1" algn="just"/>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10%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20%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30%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40%</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92810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30. Subject to existing budgetary, accounting and auditing rules and regulations, the Building Official is hereby authorized to retain not more than ______ of his collection for the operating expenses of his office. </a:t>
            </a:r>
            <a:endParaRPr lang="en-US" sz="3200" dirty="0">
              <a:latin typeface="Courier New" panose="02070309020205020404" pitchFamily="49" charset="0"/>
              <a:cs typeface="Courier New" panose="02070309020205020404" pitchFamily="49" charset="0"/>
            </a:endParaRPr>
          </a:p>
          <a:p>
            <a:pPr lvl="1" algn="just"/>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10%			</a:t>
            </a:r>
          </a:p>
          <a:p>
            <a:pPr marL="914400" lvl="1" indent="-45720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20%</a:t>
            </a:r>
            <a:r>
              <a:rPr lang="en-US" sz="32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30%			</a:t>
            </a:r>
          </a:p>
          <a:p>
            <a:pPr marL="914400" lvl="1" indent="-457200" algn="just">
              <a:buFont typeface="+mj-lt"/>
              <a:buAutoNum type="alphaLcPeriod"/>
            </a:pPr>
            <a:r>
              <a:rPr lang="en-US" sz="3200" dirty="0">
                <a:latin typeface="Courier New" panose="02070309020205020404" pitchFamily="49" charset="0"/>
                <a:cs typeface="Courier New" panose="02070309020205020404" pitchFamily="49" charset="0"/>
              </a:rPr>
              <a:t>40%</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026212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0A51B9-5F04-4FC8-82A2-E261FB34A3DA}"/>
              </a:ext>
            </a:extLst>
          </p:cNvPr>
          <p:cNvPicPr>
            <a:picLocks noChangeAspect="1"/>
          </p:cNvPicPr>
          <p:nvPr/>
        </p:nvPicPr>
        <p:blipFill>
          <a:blip r:embed="rId3"/>
          <a:stretch>
            <a:fillRect/>
          </a:stretch>
        </p:blipFill>
        <p:spPr>
          <a:xfrm>
            <a:off x="1423335" y="2354029"/>
            <a:ext cx="9345329" cy="3343742"/>
          </a:xfrm>
          <a:prstGeom prst="rect">
            <a:avLst/>
          </a:prstGeom>
        </p:spPr>
      </p:pic>
      <p:pic>
        <p:nvPicPr>
          <p:cNvPr id="6" name="Picture 5">
            <a:extLst>
              <a:ext uri="{FF2B5EF4-FFF2-40B4-BE49-F238E27FC236}">
                <a16:creationId xmlns:a16="http://schemas.microsoft.com/office/drawing/2014/main" id="{E29D2C85-F291-4D14-A149-5A5B8A6793AD}"/>
              </a:ext>
            </a:extLst>
          </p:cNvPr>
          <p:cNvPicPr>
            <a:picLocks noChangeAspect="1"/>
          </p:cNvPicPr>
          <p:nvPr/>
        </p:nvPicPr>
        <p:blipFill>
          <a:blip r:embed="rId4"/>
          <a:stretch>
            <a:fillRect/>
          </a:stretch>
        </p:blipFill>
        <p:spPr>
          <a:xfrm>
            <a:off x="1423335" y="241300"/>
            <a:ext cx="9297698" cy="2086266"/>
          </a:xfrm>
          <a:prstGeom prst="rect">
            <a:avLst/>
          </a:prstGeom>
        </p:spPr>
      </p:pic>
      <p:sp>
        <p:nvSpPr>
          <p:cNvPr id="7" name="Rectangle 6">
            <a:extLst>
              <a:ext uri="{FF2B5EF4-FFF2-40B4-BE49-F238E27FC236}">
                <a16:creationId xmlns:a16="http://schemas.microsoft.com/office/drawing/2014/main" id="{1669C074-8154-435E-86E4-232D187274BB}"/>
              </a:ext>
            </a:extLst>
          </p:cNvPr>
          <p:cNvSpPr/>
          <p:nvPr/>
        </p:nvSpPr>
        <p:spPr>
          <a:xfrm>
            <a:off x="6095999" y="5822434"/>
            <a:ext cx="52873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2400" dirty="0">
                <a:solidFill>
                  <a:schemeClr val="bg1"/>
                </a:solidFill>
                <a:hlinkClick r:id="rId5">
                  <a:extLst>
                    <a:ext uri="{A12FA001-AC4F-418D-AE19-62706E023703}">
                      <ahyp:hlinkClr xmlns:ahyp="http://schemas.microsoft.com/office/drawing/2018/hyperlinkcolor" val="tx"/>
                    </a:ext>
                  </a:extLst>
                </a:hlinkClick>
              </a:rPr>
              <a:t>Microsoft Word - mdsPD1096of1977.doc</a:t>
            </a:r>
            <a:endParaRPr lang="en-US" sz="2400" dirty="0">
              <a:solidFill>
                <a:schemeClr val="bg1"/>
              </a:solidFill>
            </a:endParaRPr>
          </a:p>
        </p:txBody>
      </p:sp>
    </p:spTree>
    <p:extLst>
      <p:ext uri="{BB962C8B-B14F-4D97-AF65-F5344CB8AC3E}">
        <p14:creationId xmlns:p14="http://schemas.microsoft.com/office/powerpoint/2010/main" val="25399328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31. To carry out the policy and the program provided in the Republic Act No. 10068, there is hereby created _______ which shall be the policy-making body and shall provide direction and general guidelines for the implementation of the program.</a:t>
            </a:r>
            <a:endParaRPr lang="en-US" sz="3000" dirty="0">
              <a:latin typeface="Courier New" panose="02070309020205020404" pitchFamily="49" charset="0"/>
              <a:cs typeface="Courier New" panose="02070309020205020404" pitchFamily="49" charset="0"/>
            </a:endParaRPr>
          </a:p>
          <a:p>
            <a:pPr mar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NOAB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BAFE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BAFPS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CPES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879053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31. To carry out the policy and the program provided in the Republic Act No. 10068, there is hereby created _______ which shall be the policy-making body and shall provide direction and general guidelines for the implementation of the program.</a:t>
            </a:r>
            <a:endParaRPr lang="en-US" sz="3000" dirty="0">
              <a:latin typeface="Courier New" panose="02070309020205020404" pitchFamily="49" charset="0"/>
              <a:cs typeface="Courier New" panose="02070309020205020404" pitchFamily="49" charset="0"/>
            </a:endParaRPr>
          </a:p>
          <a:p>
            <a:pPr mar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b="1" dirty="0">
                <a:solidFill>
                  <a:srgbClr val="FF0000"/>
                </a:solidFill>
                <a:latin typeface="Courier New" panose="02070309020205020404" pitchFamily="49" charset="0"/>
                <a:cs typeface="Courier New" panose="02070309020205020404" pitchFamily="49" charset="0"/>
              </a:rPr>
              <a:t>NOAB</a:t>
            </a:r>
            <a:r>
              <a:rPr lang="en-US"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BAFE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BAFPS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CPES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91518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DB2857-90D5-41D6-9524-645660F41AC9}"/>
              </a:ext>
            </a:extLst>
          </p:cNvPr>
          <p:cNvPicPr>
            <a:picLocks noChangeAspect="1"/>
          </p:cNvPicPr>
          <p:nvPr/>
        </p:nvPicPr>
        <p:blipFill>
          <a:blip r:embed="rId3"/>
          <a:stretch>
            <a:fillRect/>
          </a:stretch>
        </p:blipFill>
        <p:spPr>
          <a:xfrm>
            <a:off x="0" y="2606846"/>
            <a:ext cx="12192000" cy="3574708"/>
          </a:xfrm>
          <a:prstGeom prst="rect">
            <a:avLst/>
          </a:prstGeom>
        </p:spPr>
      </p:pic>
      <p:pic>
        <p:nvPicPr>
          <p:cNvPr id="5" name="Picture 4">
            <a:extLst>
              <a:ext uri="{FF2B5EF4-FFF2-40B4-BE49-F238E27FC236}">
                <a16:creationId xmlns:a16="http://schemas.microsoft.com/office/drawing/2014/main" id="{878C8328-B136-427E-958B-28104593C28B}"/>
              </a:ext>
            </a:extLst>
          </p:cNvPr>
          <p:cNvPicPr>
            <a:picLocks noChangeAspect="1"/>
          </p:cNvPicPr>
          <p:nvPr/>
        </p:nvPicPr>
        <p:blipFill>
          <a:blip r:embed="rId4"/>
          <a:stretch>
            <a:fillRect/>
          </a:stretch>
        </p:blipFill>
        <p:spPr>
          <a:xfrm>
            <a:off x="101600" y="170861"/>
            <a:ext cx="12192000" cy="2325278"/>
          </a:xfrm>
          <a:prstGeom prst="rect">
            <a:avLst/>
          </a:prstGeom>
        </p:spPr>
      </p:pic>
      <p:sp>
        <p:nvSpPr>
          <p:cNvPr id="6" name="Rectangle 5">
            <a:extLst>
              <a:ext uri="{FF2B5EF4-FFF2-40B4-BE49-F238E27FC236}">
                <a16:creationId xmlns:a16="http://schemas.microsoft.com/office/drawing/2014/main" id="{FAACFA35-BD98-4210-B2BB-A4CC64423BC0}"/>
              </a:ext>
            </a:extLst>
          </p:cNvPr>
          <p:cNvSpPr/>
          <p:nvPr/>
        </p:nvSpPr>
        <p:spPr>
          <a:xfrm>
            <a:off x="9699438" y="5950721"/>
            <a:ext cx="2041200"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2400" dirty="0">
                <a:solidFill>
                  <a:schemeClr val="bg1"/>
                </a:solidFill>
                <a:hlinkClick r:id="rId5">
                  <a:extLst>
                    <a:ext uri="{A12FA001-AC4F-418D-AE19-62706E023703}">
                      <ahyp:hlinkClr xmlns:ahyp="http://schemas.microsoft.com/office/drawing/2018/hyperlinkcolor" val="tx"/>
                    </a:ext>
                  </a:extLst>
                </a:hlinkClick>
              </a:rPr>
              <a:t>R.A. No. 10068</a:t>
            </a:r>
            <a:endParaRPr lang="en-US" sz="2400" dirty="0">
              <a:solidFill>
                <a:schemeClr val="bg1"/>
              </a:solidFill>
            </a:endParaRPr>
          </a:p>
        </p:txBody>
      </p:sp>
    </p:spTree>
    <p:extLst>
      <p:ext uri="{BB962C8B-B14F-4D97-AF65-F5344CB8AC3E}">
        <p14:creationId xmlns:p14="http://schemas.microsoft.com/office/powerpoint/2010/main" val="8978978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32. All agricultural and biosystems engineering facilities/projects shall hire or engage the services of at least how many registered and licensed ABE?</a:t>
            </a:r>
          </a:p>
          <a:p>
            <a:pPr mar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1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2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3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4</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813320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32. All agricultural and biosystems engineering facilities/projects shall hire or engage the services of at least how many registered and licensed ABE?</a:t>
            </a:r>
          </a:p>
          <a:p>
            <a:pPr mar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1</a:t>
            </a:r>
            <a:r>
              <a:rPr lang="en-US" sz="36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2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3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4</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298688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14DA0F1-8355-4822-8767-DA0F69D73188}"/>
              </a:ext>
            </a:extLst>
          </p:cNvPr>
          <p:cNvGrpSpPr/>
          <p:nvPr/>
        </p:nvGrpSpPr>
        <p:grpSpPr>
          <a:xfrm>
            <a:off x="1609860" y="180772"/>
            <a:ext cx="8972280" cy="6195849"/>
            <a:chOff x="1968500" y="180772"/>
            <a:chExt cx="8972280" cy="6195849"/>
          </a:xfrm>
        </p:grpSpPr>
        <p:pic>
          <p:nvPicPr>
            <p:cNvPr id="4" name="Picture 3">
              <a:extLst>
                <a:ext uri="{FF2B5EF4-FFF2-40B4-BE49-F238E27FC236}">
                  <a16:creationId xmlns:a16="http://schemas.microsoft.com/office/drawing/2014/main" id="{5E43B78B-D188-4DC1-84A0-EEA7CA226040}"/>
                </a:ext>
              </a:extLst>
            </p:cNvPr>
            <p:cNvPicPr>
              <a:picLocks noChangeAspect="1"/>
            </p:cNvPicPr>
            <p:nvPr/>
          </p:nvPicPr>
          <p:blipFill>
            <a:blip r:embed="rId3"/>
            <a:stretch>
              <a:fillRect/>
            </a:stretch>
          </p:blipFill>
          <p:spPr>
            <a:xfrm>
              <a:off x="1968500" y="2664230"/>
              <a:ext cx="8972280" cy="3712391"/>
            </a:xfrm>
            <a:prstGeom prst="rect">
              <a:avLst/>
            </a:prstGeom>
          </p:spPr>
        </p:pic>
        <p:pic>
          <p:nvPicPr>
            <p:cNvPr id="5" name="Picture 4">
              <a:extLst>
                <a:ext uri="{FF2B5EF4-FFF2-40B4-BE49-F238E27FC236}">
                  <a16:creationId xmlns:a16="http://schemas.microsoft.com/office/drawing/2014/main" id="{6C47E27E-81FB-4A76-BEFB-37C7367E0EC4}"/>
                </a:ext>
              </a:extLst>
            </p:cNvPr>
            <p:cNvPicPr>
              <a:picLocks noChangeAspect="1"/>
            </p:cNvPicPr>
            <p:nvPr/>
          </p:nvPicPr>
          <p:blipFill>
            <a:blip r:embed="rId4"/>
            <a:stretch>
              <a:fillRect/>
            </a:stretch>
          </p:blipFill>
          <p:spPr>
            <a:xfrm>
              <a:off x="1984120" y="180772"/>
              <a:ext cx="8940207" cy="2445527"/>
            </a:xfrm>
            <a:prstGeom prst="rect">
              <a:avLst/>
            </a:prstGeom>
          </p:spPr>
        </p:pic>
      </p:grpSp>
      <p:sp>
        <p:nvSpPr>
          <p:cNvPr id="6" name="Rectangle 5">
            <a:extLst>
              <a:ext uri="{FF2B5EF4-FFF2-40B4-BE49-F238E27FC236}">
                <a16:creationId xmlns:a16="http://schemas.microsoft.com/office/drawing/2014/main" id="{BBC2F74E-35ED-4C4F-BE9B-9618D2114D86}"/>
              </a:ext>
            </a:extLst>
          </p:cNvPr>
          <p:cNvSpPr/>
          <p:nvPr/>
        </p:nvSpPr>
        <p:spPr>
          <a:xfrm>
            <a:off x="8038610" y="5853401"/>
            <a:ext cx="3587970"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2800" dirty="0">
                <a:solidFill>
                  <a:schemeClr val="bg1"/>
                </a:solidFill>
                <a:hlinkClick r:id="rId5">
                  <a:extLst>
                    <a:ext uri="{A12FA001-AC4F-418D-AE19-62706E023703}">
                      <ahyp:hlinkClr xmlns:ahyp="http://schemas.microsoft.com/office/drawing/2018/hyperlinkcolor" val="tx"/>
                    </a:ext>
                  </a:extLst>
                </a:hlinkClick>
              </a:rPr>
              <a:t>Republic Act No. 10915</a:t>
            </a:r>
            <a:endParaRPr lang="en-US" sz="2800" dirty="0">
              <a:solidFill>
                <a:schemeClr val="bg1"/>
              </a:solidFill>
            </a:endParaRPr>
          </a:p>
        </p:txBody>
      </p:sp>
    </p:spTree>
    <p:extLst>
      <p:ext uri="{BB962C8B-B14F-4D97-AF65-F5344CB8AC3E}">
        <p14:creationId xmlns:p14="http://schemas.microsoft.com/office/powerpoint/2010/main" val="34241860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33. This Standard specifies the minimum requirements for the fabrication, construction, and performance of egg incubators used for poultry breeding and production.</a:t>
            </a:r>
            <a:endParaRPr lang="en-US" sz="3200" dirty="0">
              <a:latin typeface="Courier New" panose="02070309020205020404" pitchFamily="49" charset="0"/>
              <a:cs typeface="Courier New" panose="02070309020205020404" pitchFamily="49" charset="0"/>
            </a:endParaRPr>
          </a:p>
          <a:p>
            <a:pPr marL="0" indent="0" algn="just">
              <a:buNone/>
            </a:pPr>
            <a:endParaRPr lang="en-PH"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356:2023</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357:2023</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358:2023</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359:2023</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5050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33. This Standard specifies the minimum requirements for the fabrication, construction, and performance of egg incubators used for poultry breeding and production.</a:t>
            </a:r>
            <a:endParaRPr lang="en-US" sz="3200" dirty="0">
              <a:latin typeface="Courier New" panose="02070309020205020404" pitchFamily="49" charset="0"/>
              <a:cs typeface="Courier New" panose="02070309020205020404" pitchFamily="49" charset="0"/>
            </a:endParaRPr>
          </a:p>
          <a:p>
            <a:pPr marL="0" indent="0" algn="just">
              <a:buNone/>
            </a:pPr>
            <a:endParaRPr lang="en-PH"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356:2023</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357:2023</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PNS/BAFS 358:2023</a:t>
            </a:r>
            <a:endParaRPr lang="en-US" sz="3200" b="1" dirty="0">
              <a:solidFill>
                <a:srgbClr val="FF0000"/>
              </a:solidFill>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PNS/BAFS 359:2023</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1599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897830-88FC-45E3-AD86-AD352DDF38B6}"/>
              </a:ext>
            </a:extLst>
          </p:cNvPr>
          <p:cNvPicPr>
            <a:picLocks noChangeAspect="1"/>
          </p:cNvPicPr>
          <p:nvPr/>
        </p:nvPicPr>
        <p:blipFill>
          <a:blip r:embed="rId2"/>
          <a:stretch>
            <a:fillRect/>
          </a:stretch>
        </p:blipFill>
        <p:spPr>
          <a:xfrm>
            <a:off x="241300" y="869704"/>
            <a:ext cx="11709400" cy="5118592"/>
          </a:xfrm>
          <a:prstGeom prst="rect">
            <a:avLst/>
          </a:prstGeom>
        </p:spPr>
      </p:pic>
    </p:spTree>
    <p:extLst>
      <p:ext uri="{BB962C8B-B14F-4D97-AF65-F5344CB8AC3E}">
        <p14:creationId xmlns:p14="http://schemas.microsoft.com/office/powerpoint/2010/main" val="7310813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395926" y="301658"/>
            <a:ext cx="11237274" cy="6226142"/>
          </a:xfrm>
        </p:spPr>
        <p:txBody>
          <a:bodyPr>
            <a:noAutofit/>
          </a:bodyPr>
          <a:lstStyle/>
          <a:p>
            <a:pPr marL="0" indent="0">
              <a:buNone/>
            </a:pPr>
            <a:endParaRPr lang="en-PH" dirty="0">
              <a:latin typeface="Courier New" panose="02070309020205020404" pitchFamily="49" charset="0"/>
              <a:cs typeface="Courier New" panose="02070309020205020404" pitchFamily="49" charset="0"/>
            </a:endParaRPr>
          </a:p>
          <a:p>
            <a:pPr marL="0" indent="0" algn="just">
              <a:buNone/>
            </a:pPr>
            <a:r>
              <a:rPr lang="en-PH" dirty="0">
                <a:latin typeface="Courier New" panose="02070309020205020404" pitchFamily="49" charset="0"/>
                <a:cs typeface="Courier New" panose="02070309020205020404" pitchFamily="49" charset="0"/>
              </a:rPr>
              <a:t>34-35. </a:t>
            </a:r>
            <a:r>
              <a:rPr lang="en-PH" dirty="0" err="1">
                <a:latin typeface="Courier New" panose="02070309020205020404" pitchFamily="49" charset="0"/>
                <a:cs typeface="Courier New" panose="02070309020205020404" pitchFamily="49" charset="0"/>
              </a:rPr>
              <a:t>Jhon</a:t>
            </a:r>
            <a:r>
              <a:rPr lang="en-PH" dirty="0">
                <a:latin typeface="Courier New" panose="02070309020205020404" pitchFamily="49" charset="0"/>
                <a:cs typeface="Courier New" panose="02070309020205020404" pitchFamily="49" charset="0"/>
              </a:rPr>
              <a:t> Hopkins is developing a program in leadership training for middle-level managers. He had listed a number of activities that must be completed before a training program of this nature can be conducted. The activities, immediate predecessors, and times appear in the accompanying table.</a:t>
            </a:r>
          </a:p>
          <a:p>
            <a:pPr marL="0" indent="0">
              <a:buNone/>
            </a:pPr>
            <a:endParaRPr lang="en-PH" dirty="0">
              <a:latin typeface="Courier New" panose="02070309020205020404" pitchFamily="49" charset="0"/>
              <a:cs typeface="Courier New" panose="02070309020205020404" pitchFamily="49" charset="0"/>
            </a:endParaRPr>
          </a:p>
          <a:p>
            <a:pPr marL="0" indent="0">
              <a:buNone/>
            </a:pPr>
            <a:endParaRPr lang="en-PH" dirty="0">
              <a:latin typeface="Courier New" panose="02070309020205020404" pitchFamily="49" charset="0"/>
              <a:cs typeface="Courier New" panose="02070309020205020404" pitchFamily="49" charset="0"/>
            </a:endParaRPr>
          </a:p>
          <a:p>
            <a:pPr marL="0" indent="0">
              <a:buNone/>
            </a:pPr>
            <a:endParaRPr lang="en-PH" dirty="0">
              <a:latin typeface="Courier New" panose="02070309020205020404" pitchFamily="49" charset="0"/>
              <a:cs typeface="Courier New" panose="02070309020205020404" pitchFamily="49" charset="0"/>
            </a:endParaRPr>
          </a:p>
          <a:p>
            <a:pPr marL="0" indent="0">
              <a:buNone/>
            </a:pPr>
            <a:endParaRPr lang="en-PH" dirty="0">
              <a:latin typeface="Courier New" panose="02070309020205020404" pitchFamily="49" charset="0"/>
              <a:cs typeface="Courier New" panose="02070309020205020404" pitchFamily="49" charset="0"/>
            </a:endParaRPr>
          </a:p>
          <a:p>
            <a:pPr marL="0" lvl="0" indent="0">
              <a:buNone/>
            </a:pPr>
            <a:r>
              <a:rPr lang="en-PH"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15B7BD2A-4E87-42B0-9B84-335E5FBD109F}"/>
              </a:ext>
            </a:extLst>
          </p:cNvPr>
          <p:cNvPicPr>
            <a:picLocks noChangeAspect="1"/>
          </p:cNvPicPr>
          <p:nvPr/>
        </p:nvPicPr>
        <p:blipFill>
          <a:blip r:embed="rId2"/>
          <a:stretch>
            <a:fillRect/>
          </a:stretch>
        </p:blipFill>
        <p:spPr>
          <a:xfrm>
            <a:off x="1161955" y="3632200"/>
            <a:ext cx="9868089" cy="2789887"/>
          </a:xfrm>
          <a:prstGeom prst="rect">
            <a:avLst/>
          </a:prstGeom>
        </p:spPr>
      </p:pic>
    </p:spTree>
    <p:extLst>
      <p:ext uri="{BB962C8B-B14F-4D97-AF65-F5344CB8AC3E}">
        <p14:creationId xmlns:p14="http://schemas.microsoft.com/office/powerpoint/2010/main" val="14754087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395926" y="241300"/>
            <a:ext cx="11237274" cy="6032500"/>
          </a:xfrm>
        </p:spPr>
        <p:txBody>
          <a:bodyPr>
            <a:noAutofit/>
          </a:bodyPr>
          <a:lstStyle/>
          <a:p>
            <a:pPr marL="0" indent="0">
              <a:buNone/>
            </a:pPr>
            <a:endParaRPr lang="en-PH" sz="2600" dirty="0">
              <a:latin typeface="Courier New" panose="02070309020205020404" pitchFamily="49" charset="0"/>
              <a:cs typeface="Courier New" panose="02070309020205020404" pitchFamily="49" charset="0"/>
            </a:endParaRPr>
          </a:p>
          <a:p>
            <a:pPr marL="0" indent="0">
              <a:buNone/>
            </a:pPr>
            <a:r>
              <a:rPr lang="en-PH" sz="2600" dirty="0">
                <a:latin typeface="Courier New" panose="02070309020205020404" pitchFamily="49" charset="0"/>
                <a:cs typeface="Courier New" panose="02070309020205020404" pitchFamily="49" charset="0"/>
              </a:rPr>
              <a:t>34. What is the critical path</a:t>
            </a:r>
            <a:r>
              <a:rPr lang="en-US" sz="2600" dirty="0">
                <a:latin typeface="Courier New" panose="02070309020205020404" pitchFamily="49" charset="0"/>
                <a:cs typeface="Courier New" panose="02070309020205020404" pitchFamily="49" charset="0"/>
              </a:rPr>
              <a:t>?</a:t>
            </a:r>
          </a:p>
          <a:p>
            <a:pPr marL="0" indent="0">
              <a:buNone/>
            </a:pP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B</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D</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E</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G</a:t>
            </a:r>
            <a:r>
              <a:rPr lang="en-US" sz="2600" dirty="0">
                <a:latin typeface="Courier New" panose="02070309020205020404" pitchFamily="49" charset="0"/>
                <a:cs typeface="Courier New" panose="02070309020205020404" pitchFamily="49" charset="0"/>
              </a:rPr>
              <a:t>					</a:t>
            </a:r>
            <a:endParaRPr lang="en-PH"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C</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F</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G						</a:t>
            </a: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A</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E</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G	</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NOTA							</a:t>
            </a:r>
            <a:endParaRPr lang="en-US" sz="2600" dirty="0">
              <a:latin typeface="Courier New" panose="02070309020205020404" pitchFamily="49" charset="0"/>
              <a:cs typeface="Courier New" panose="02070309020205020404" pitchFamily="49" charset="0"/>
            </a:endParaRPr>
          </a:p>
          <a:p>
            <a:pPr marL="0" indent="0">
              <a:buNone/>
            </a:pPr>
            <a:endParaRPr lang="en-US" sz="2600" dirty="0">
              <a:latin typeface="Courier New" panose="02070309020205020404" pitchFamily="49" charset="0"/>
              <a:cs typeface="Courier New" panose="02070309020205020404" pitchFamily="49" charset="0"/>
            </a:endParaRPr>
          </a:p>
          <a:p>
            <a:pPr marL="0" indent="0">
              <a:buNone/>
            </a:pPr>
            <a:r>
              <a:rPr lang="en-PH" sz="2600" dirty="0">
                <a:latin typeface="Courier New" panose="02070309020205020404" pitchFamily="49" charset="0"/>
                <a:cs typeface="Courier New" panose="02070309020205020404" pitchFamily="49" charset="0"/>
              </a:rPr>
              <a:t>35. What is the total project completion date?</a:t>
            </a:r>
            <a:r>
              <a:rPr lang="en-US" sz="2600" dirty="0">
                <a:latin typeface="Courier New" panose="02070309020205020404" pitchFamily="49" charset="0"/>
                <a:cs typeface="Courier New" panose="02070309020205020404" pitchFamily="49" charset="0"/>
              </a:rPr>
              <a:t>	</a:t>
            </a:r>
          </a:p>
          <a:p>
            <a:pPr marL="0" indent="0">
              <a:buNone/>
            </a:pP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24 days</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17 days</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13 days</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26 days</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46586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395926" y="241300"/>
            <a:ext cx="11237274" cy="6032500"/>
          </a:xfrm>
        </p:spPr>
        <p:txBody>
          <a:bodyPr>
            <a:noAutofit/>
          </a:bodyPr>
          <a:lstStyle/>
          <a:p>
            <a:pPr marL="0" indent="0">
              <a:buNone/>
            </a:pPr>
            <a:endParaRPr lang="en-PH" sz="2600" dirty="0">
              <a:latin typeface="Courier New" panose="02070309020205020404" pitchFamily="49" charset="0"/>
              <a:cs typeface="Courier New" panose="02070309020205020404" pitchFamily="49" charset="0"/>
            </a:endParaRPr>
          </a:p>
          <a:p>
            <a:pPr marL="0" indent="0">
              <a:buNone/>
            </a:pPr>
            <a:r>
              <a:rPr lang="en-PH" sz="2600" dirty="0">
                <a:latin typeface="Courier New" panose="02070309020205020404" pitchFamily="49" charset="0"/>
                <a:cs typeface="Courier New" panose="02070309020205020404" pitchFamily="49" charset="0"/>
              </a:rPr>
              <a:t>34. What is the critical path</a:t>
            </a:r>
            <a:r>
              <a:rPr lang="en-US" sz="2600" dirty="0">
                <a:latin typeface="Courier New" panose="02070309020205020404" pitchFamily="49" charset="0"/>
                <a:cs typeface="Courier New" panose="02070309020205020404" pitchFamily="49" charset="0"/>
              </a:rPr>
              <a:t>?</a:t>
            </a:r>
          </a:p>
          <a:p>
            <a:pPr marL="0" indent="0">
              <a:buNone/>
            </a:pP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b="1" dirty="0">
                <a:solidFill>
                  <a:srgbClr val="FF0000"/>
                </a:solidFill>
                <a:latin typeface="Courier New" panose="02070309020205020404" pitchFamily="49" charset="0"/>
                <a:cs typeface="Courier New" panose="02070309020205020404" pitchFamily="49" charset="0"/>
              </a:rPr>
              <a:t>B</a:t>
            </a:r>
            <a:r>
              <a:rPr lang="ja-JP" altLang="en-US" sz="2600" b="1" dirty="0">
                <a:solidFill>
                  <a:srgbClr val="FF0000"/>
                </a:solidFill>
                <a:latin typeface="Courier New" panose="02070309020205020404" pitchFamily="49" charset="0"/>
                <a:cs typeface="Courier New" panose="02070309020205020404" pitchFamily="49" charset="0"/>
              </a:rPr>
              <a:t>→</a:t>
            </a:r>
            <a:r>
              <a:rPr lang="en-PH" sz="2600" b="1" dirty="0">
                <a:solidFill>
                  <a:srgbClr val="FF0000"/>
                </a:solidFill>
                <a:latin typeface="Courier New" panose="02070309020205020404" pitchFamily="49" charset="0"/>
                <a:cs typeface="Courier New" panose="02070309020205020404" pitchFamily="49" charset="0"/>
              </a:rPr>
              <a:t>D</a:t>
            </a:r>
            <a:r>
              <a:rPr lang="ja-JP" altLang="en-US" sz="2600" b="1" dirty="0">
                <a:solidFill>
                  <a:srgbClr val="FF0000"/>
                </a:solidFill>
                <a:latin typeface="Courier New" panose="02070309020205020404" pitchFamily="49" charset="0"/>
                <a:cs typeface="Courier New" panose="02070309020205020404" pitchFamily="49" charset="0"/>
              </a:rPr>
              <a:t>→</a:t>
            </a:r>
            <a:r>
              <a:rPr lang="en-PH" sz="2600" b="1" dirty="0">
                <a:solidFill>
                  <a:srgbClr val="FF0000"/>
                </a:solidFill>
                <a:latin typeface="Courier New" panose="02070309020205020404" pitchFamily="49" charset="0"/>
                <a:cs typeface="Courier New" panose="02070309020205020404" pitchFamily="49" charset="0"/>
              </a:rPr>
              <a:t>E</a:t>
            </a:r>
            <a:r>
              <a:rPr lang="ja-JP" altLang="en-US" sz="2600" b="1" dirty="0">
                <a:solidFill>
                  <a:srgbClr val="FF0000"/>
                </a:solidFill>
                <a:latin typeface="Courier New" panose="02070309020205020404" pitchFamily="49" charset="0"/>
                <a:cs typeface="Courier New" panose="02070309020205020404" pitchFamily="49" charset="0"/>
              </a:rPr>
              <a:t>→</a:t>
            </a:r>
            <a:r>
              <a:rPr lang="en-PH" sz="2600" b="1" dirty="0">
                <a:solidFill>
                  <a:srgbClr val="FF0000"/>
                </a:solidFill>
                <a:latin typeface="Courier New" panose="02070309020205020404" pitchFamily="49" charset="0"/>
                <a:cs typeface="Courier New" panose="02070309020205020404" pitchFamily="49" charset="0"/>
              </a:rPr>
              <a:t>G</a:t>
            </a:r>
            <a:r>
              <a:rPr lang="en-US" sz="2600" dirty="0">
                <a:latin typeface="Courier New" panose="02070309020205020404" pitchFamily="49" charset="0"/>
                <a:cs typeface="Courier New" panose="02070309020205020404" pitchFamily="49" charset="0"/>
              </a:rPr>
              <a:t>					</a:t>
            </a:r>
            <a:endParaRPr lang="en-PH"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C</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F</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G						</a:t>
            </a: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A</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E</a:t>
            </a:r>
            <a:r>
              <a:rPr lang="ja-JP" altLang="en-US" sz="2600" dirty="0">
                <a:latin typeface="Courier New" panose="02070309020205020404" pitchFamily="49" charset="0"/>
                <a:cs typeface="Courier New" panose="02070309020205020404" pitchFamily="49" charset="0"/>
              </a:rPr>
              <a:t>→</a:t>
            </a:r>
            <a:r>
              <a:rPr lang="en-PH" sz="2600" dirty="0">
                <a:latin typeface="Courier New" panose="02070309020205020404" pitchFamily="49" charset="0"/>
                <a:cs typeface="Courier New" panose="02070309020205020404" pitchFamily="49" charset="0"/>
              </a:rPr>
              <a:t>G	</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NOTA							</a:t>
            </a:r>
            <a:endParaRPr lang="en-US" sz="2600" dirty="0">
              <a:latin typeface="Courier New" panose="02070309020205020404" pitchFamily="49" charset="0"/>
              <a:cs typeface="Courier New" panose="02070309020205020404" pitchFamily="49" charset="0"/>
            </a:endParaRPr>
          </a:p>
          <a:p>
            <a:pPr marL="0" indent="0">
              <a:buNone/>
            </a:pPr>
            <a:endParaRPr lang="en-US" sz="2600" dirty="0">
              <a:latin typeface="Courier New" panose="02070309020205020404" pitchFamily="49" charset="0"/>
              <a:cs typeface="Courier New" panose="02070309020205020404" pitchFamily="49" charset="0"/>
            </a:endParaRPr>
          </a:p>
          <a:p>
            <a:pPr marL="0" indent="0">
              <a:buNone/>
            </a:pPr>
            <a:r>
              <a:rPr lang="en-PH" sz="2600" dirty="0">
                <a:latin typeface="Courier New" panose="02070309020205020404" pitchFamily="49" charset="0"/>
                <a:cs typeface="Courier New" panose="02070309020205020404" pitchFamily="49" charset="0"/>
              </a:rPr>
              <a:t>35. What is the total project completion date?</a:t>
            </a:r>
            <a:r>
              <a:rPr lang="en-US" sz="2600" dirty="0">
                <a:latin typeface="Courier New" panose="02070309020205020404" pitchFamily="49" charset="0"/>
                <a:cs typeface="Courier New" panose="02070309020205020404" pitchFamily="49" charset="0"/>
              </a:rPr>
              <a:t>	</a:t>
            </a:r>
          </a:p>
          <a:p>
            <a:pPr marL="0" indent="0">
              <a:buNone/>
            </a:pPr>
            <a:endParaRPr lang="en-US" sz="2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24 days</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17 days</a:t>
            </a:r>
          </a:p>
          <a:p>
            <a:pPr marL="914400" lvl="1" indent="-457200">
              <a:buFont typeface="+mj-lt"/>
              <a:buAutoNum type="alphaLcPeriod"/>
            </a:pPr>
            <a:r>
              <a:rPr lang="en-PH" sz="2600" dirty="0">
                <a:latin typeface="Courier New" panose="02070309020205020404" pitchFamily="49" charset="0"/>
                <a:cs typeface="Courier New" panose="02070309020205020404" pitchFamily="49" charset="0"/>
              </a:rPr>
              <a:t>13 days</a:t>
            </a:r>
          </a:p>
          <a:p>
            <a:pPr marL="914400" lvl="1" indent="-457200">
              <a:buFont typeface="+mj-lt"/>
              <a:buAutoNum type="alphaLcPeriod"/>
            </a:pPr>
            <a:r>
              <a:rPr lang="en-PH" sz="2600" b="1" dirty="0">
                <a:solidFill>
                  <a:srgbClr val="FF0000"/>
                </a:solidFill>
                <a:latin typeface="Courier New" panose="02070309020205020404" pitchFamily="49" charset="0"/>
                <a:cs typeface="Courier New" panose="02070309020205020404" pitchFamily="49" charset="0"/>
              </a:rPr>
              <a:t>26 days</a:t>
            </a:r>
            <a:endParaRPr lang="en-US" sz="2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17020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36. A horizontal mixer is designed to incorporate soil and charcoal for composting laboratory experiment. The motor used series of belt and pulley drives, as follows: D1 = 4 in.; D2 = 12 in.; D3 = 2 in.; D4 = 12 in.; D5 = 2 in.; and D6 = 12 in. Determine the speed of the last shaft if the motor runs at 1720 rpm speed.</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95.55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15.9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573.3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31.8 rpm</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87790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36. A horizontal mixer is designed to incorporate soil and charcoal for composting laboratory experiment. The motor used series of belt and pulley drives, as follows: D1 = 4 in.; D2 = 12 in.; D3 = 2 in.; D4 = 12 in.; D5 = 2 in.; and D6 = 12 in. Determine the speed of the last shaft if the motor runs at 1720 rpm speed.</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95.55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15.9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573.3 rpm		</a:t>
            </a:r>
          </a:p>
          <a:p>
            <a:pPr marL="971550" lvl="1" indent="-514350" algn="just">
              <a:buFont typeface="+mj-lt"/>
              <a:buAutoNum type="alphaLcPeriod"/>
            </a:pPr>
            <a:r>
              <a:rPr lang="en-US" sz="3000" dirty="0">
                <a:latin typeface="Courier New" panose="02070309020205020404" pitchFamily="49" charset="0"/>
                <a:cs typeface="Courier New" panose="02070309020205020404" pitchFamily="49" charset="0"/>
              </a:rPr>
              <a:t>31.8 rpm</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44186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37. A 5-m self-propelled combine makes an average stop of 4 min every time its 2-ton grain tank is to be unloaded. Gross yield of the 20-ha field is 42 tons. The operating speed is 4.8 kph. The time for turning on the headland at the ends of the 500-m field is 15 seconds. Find the field efficiency.</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78%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83%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87%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90%</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28202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37. A 5-m self-propelled combine makes an average stop of 4 min every time its 2-ton grain tank is to be unloaded. Gross yield of the 20-ha field is 42 tons. The operating speed is 4.8 kph. The time for turning on the headland at the ends of the 500-m field is 15 seconds. Find the field efficiency.</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78%			</a:t>
            </a:r>
          </a:p>
          <a:p>
            <a:pPr marL="971550" lvl="1" indent="-514350" algn="just">
              <a:buFont typeface="+mj-lt"/>
              <a:buAutoNum type="alphaLcPeriod"/>
            </a:pPr>
            <a:r>
              <a:rPr lang="en-PH" sz="3000" b="1" dirty="0">
                <a:solidFill>
                  <a:srgbClr val="FF0000"/>
                </a:solidFill>
                <a:latin typeface="Courier New" panose="02070309020205020404" pitchFamily="49" charset="0"/>
                <a:cs typeface="Courier New" panose="02070309020205020404" pitchFamily="49" charset="0"/>
              </a:rPr>
              <a:t>83%</a:t>
            </a:r>
            <a:r>
              <a:rPr lang="en-PH"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87%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90%</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76146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38. Determine the performance index of a two-row upland </a:t>
            </a:r>
            <a:r>
              <a:rPr lang="en-PH" sz="3000" dirty="0" err="1">
                <a:latin typeface="Courier New" panose="02070309020205020404" pitchFamily="49" charset="0"/>
                <a:cs typeface="Courier New" panose="02070309020205020404" pitchFamily="49" charset="0"/>
              </a:rPr>
              <a:t>weeder</a:t>
            </a:r>
            <a:r>
              <a:rPr lang="en-PH" sz="3000" dirty="0">
                <a:latin typeface="Courier New" panose="02070309020205020404" pitchFamily="49" charset="0"/>
                <a:cs typeface="Courier New" panose="02070309020205020404" pitchFamily="49" charset="0"/>
              </a:rPr>
              <a:t> with an effective working width of 500 mm and field efficiency of 75%. The animal pulling the </a:t>
            </a:r>
            <a:r>
              <a:rPr lang="en-PH" sz="3000" dirty="0" err="1">
                <a:latin typeface="Courier New" panose="02070309020205020404" pitchFamily="49" charset="0"/>
                <a:cs typeface="Courier New" panose="02070309020205020404" pitchFamily="49" charset="0"/>
              </a:rPr>
              <a:t>weeder</a:t>
            </a:r>
            <a:r>
              <a:rPr lang="en-PH" sz="3000" dirty="0">
                <a:latin typeface="Courier New" panose="02070309020205020404" pitchFamily="49" charset="0"/>
                <a:cs typeface="Courier New" panose="02070309020205020404" pitchFamily="49" charset="0"/>
              </a:rPr>
              <a:t> is traveling at 2.5kph and the plant damage is 8% with weeds before using the planter of 400 and weeds after weeding of 30.</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798 ha/h-hp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797 ha/h-hp</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726 ha/h-hp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725 ha/h-hp</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5695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38. Determine the performance index of a two-row upland </a:t>
            </a:r>
            <a:r>
              <a:rPr lang="en-PH" sz="3000" dirty="0" err="1">
                <a:latin typeface="Courier New" panose="02070309020205020404" pitchFamily="49" charset="0"/>
                <a:cs typeface="Courier New" panose="02070309020205020404" pitchFamily="49" charset="0"/>
              </a:rPr>
              <a:t>weeder</a:t>
            </a:r>
            <a:r>
              <a:rPr lang="en-PH" sz="3000" dirty="0">
                <a:latin typeface="Courier New" panose="02070309020205020404" pitchFamily="49" charset="0"/>
                <a:cs typeface="Courier New" panose="02070309020205020404" pitchFamily="49" charset="0"/>
              </a:rPr>
              <a:t> with an effective working width of 500 mm and field efficiency of 75%. The animal pulling the </a:t>
            </a:r>
            <a:r>
              <a:rPr lang="en-PH" sz="3000" dirty="0" err="1">
                <a:latin typeface="Courier New" panose="02070309020205020404" pitchFamily="49" charset="0"/>
                <a:cs typeface="Courier New" panose="02070309020205020404" pitchFamily="49" charset="0"/>
              </a:rPr>
              <a:t>weeder</a:t>
            </a:r>
            <a:r>
              <a:rPr lang="en-PH" sz="3000" dirty="0">
                <a:latin typeface="Courier New" panose="02070309020205020404" pitchFamily="49" charset="0"/>
                <a:cs typeface="Courier New" panose="02070309020205020404" pitchFamily="49" charset="0"/>
              </a:rPr>
              <a:t> is traveling at 2.5kph and the plant damage is 8% with weeds before using the planter of 400 and weeds after weeding of 30.</a:t>
            </a:r>
          </a:p>
          <a:p>
            <a:pPr marL="0" lvl="0" indent="0" algn="just">
              <a:buNone/>
            </a:pPr>
            <a:endParaRPr lang="en-US"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798 ha/h-hp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797 ha/h-hp</a:t>
            </a:r>
          </a:p>
          <a:p>
            <a:pPr marL="971550" lvl="1" indent="-514350" algn="just">
              <a:buFont typeface="+mj-lt"/>
              <a:buAutoNum type="alphaLcPeriod"/>
            </a:pPr>
            <a:r>
              <a:rPr lang="en-PH" sz="3000" b="1" dirty="0">
                <a:solidFill>
                  <a:srgbClr val="FF0000"/>
                </a:solidFill>
                <a:latin typeface="Courier New" panose="02070309020205020404" pitchFamily="49" charset="0"/>
                <a:cs typeface="Courier New" panose="02070309020205020404" pitchFamily="49" charset="0"/>
              </a:rPr>
              <a:t>726 ha/h-hp	</a:t>
            </a:r>
            <a:r>
              <a:rPr lang="en-PH"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725 ha/h-hp</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07756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39. What is the field efficiency of a row-crop planter without fertilizer applicator??</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70%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65%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60%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55%</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452619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600" dirty="0">
                <a:latin typeface="Courier New" panose="02070309020205020404" pitchFamily="49" charset="0"/>
                <a:cs typeface="Courier New" panose="02070309020205020404" pitchFamily="49" charset="0"/>
              </a:rPr>
              <a:t>39. What is the field efficiency of a row-crop planter without fertilizer applicator??</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70%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65%			</a:t>
            </a:r>
          </a:p>
          <a:p>
            <a:pPr marL="971550" lvl="1" indent="-5143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60%</a:t>
            </a:r>
            <a:r>
              <a:rPr lang="en-PH"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55%</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5544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AC3A38-D26B-4090-9954-F8EE2564631D}"/>
              </a:ext>
            </a:extLst>
          </p:cNvPr>
          <p:cNvPicPr>
            <a:picLocks noChangeAspect="1"/>
          </p:cNvPicPr>
          <p:nvPr/>
        </p:nvPicPr>
        <p:blipFill>
          <a:blip r:embed="rId3"/>
          <a:stretch>
            <a:fillRect/>
          </a:stretch>
        </p:blipFill>
        <p:spPr>
          <a:xfrm>
            <a:off x="1832967" y="525270"/>
            <a:ext cx="8526065" cy="771633"/>
          </a:xfrm>
          <a:prstGeom prst="rect">
            <a:avLst/>
          </a:prstGeom>
        </p:spPr>
      </p:pic>
      <p:pic>
        <p:nvPicPr>
          <p:cNvPr id="5" name="Picture 4">
            <a:extLst>
              <a:ext uri="{FF2B5EF4-FFF2-40B4-BE49-F238E27FC236}">
                <a16:creationId xmlns:a16="http://schemas.microsoft.com/office/drawing/2014/main" id="{7CBA2028-AD1D-4E4A-8EA2-A8ECD2A5F980}"/>
              </a:ext>
            </a:extLst>
          </p:cNvPr>
          <p:cNvPicPr>
            <a:picLocks noChangeAspect="1"/>
          </p:cNvPicPr>
          <p:nvPr/>
        </p:nvPicPr>
        <p:blipFill>
          <a:blip r:embed="rId4"/>
          <a:stretch>
            <a:fillRect/>
          </a:stretch>
        </p:blipFill>
        <p:spPr>
          <a:xfrm>
            <a:off x="723290" y="2152906"/>
            <a:ext cx="10745420" cy="2552187"/>
          </a:xfrm>
          <a:prstGeom prst="rect">
            <a:avLst/>
          </a:prstGeom>
        </p:spPr>
      </p:pic>
      <p:sp>
        <p:nvSpPr>
          <p:cNvPr id="6" name="Rectangle 5">
            <a:extLst>
              <a:ext uri="{FF2B5EF4-FFF2-40B4-BE49-F238E27FC236}">
                <a16:creationId xmlns:a16="http://schemas.microsoft.com/office/drawing/2014/main" id="{397B2BA0-E543-4473-8153-B1C0AFF8AC61}"/>
              </a:ext>
            </a:extLst>
          </p:cNvPr>
          <p:cNvSpPr/>
          <p:nvPr/>
        </p:nvSpPr>
        <p:spPr>
          <a:xfrm>
            <a:off x="887896" y="3273287"/>
            <a:ext cx="8282608" cy="675861"/>
          </a:xfrm>
          <a:prstGeom prst="rect">
            <a:avLst/>
          </a:prstGeom>
          <a:solidFill>
            <a:srgbClr val="FFFF00">
              <a:alpha val="3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37926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40. A farming field can be plowed by 6 tractors in 4 days. When t tractors work together, each of them ploughs 120 hectares a day. If two of the tractors were moved to another field, then the remaining 4 tractors could plough the same field in 5 days. How many hectares would one tractor plough then?</a:t>
            </a:r>
          </a:p>
          <a:p>
            <a:pPr marL="971550" lvl="1" indent="-514350" algn="just">
              <a:buFont typeface="+mj-lt"/>
              <a:buAutoNum type="alphaLcPeriod"/>
            </a:pPr>
            <a:endParaRPr lang="en-PH"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144 ha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120 ha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169 ha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225 ha</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749502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000" dirty="0">
                <a:latin typeface="Courier New" panose="02070309020205020404" pitchFamily="49" charset="0"/>
                <a:cs typeface="Courier New" panose="02070309020205020404" pitchFamily="49" charset="0"/>
              </a:rPr>
              <a:t>40. A farming field can be plowed by 6 tractors in 4 days. When t tractors work together, each of them ploughs 120 hectares a day. If two of the tractors were moved to another field, then the remaining 4 tractors could plough the same field in 5 days. How many hectares would one tractor plough then?</a:t>
            </a:r>
          </a:p>
          <a:p>
            <a:pPr marL="971550" lvl="1" indent="-514350" algn="just">
              <a:buFont typeface="+mj-lt"/>
              <a:buAutoNum type="alphaLcPeriod"/>
            </a:pPr>
            <a:endParaRPr lang="en-PH" sz="30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000" b="1" dirty="0">
                <a:solidFill>
                  <a:srgbClr val="FF0000"/>
                </a:solidFill>
                <a:latin typeface="Courier New" panose="02070309020205020404" pitchFamily="49" charset="0"/>
                <a:cs typeface="Courier New" panose="02070309020205020404" pitchFamily="49" charset="0"/>
              </a:rPr>
              <a:t>144 ha</a:t>
            </a:r>
            <a:r>
              <a:rPr lang="en-PH" sz="30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120 ha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169 ha		</a:t>
            </a:r>
          </a:p>
          <a:p>
            <a:pPr marL="971550" lvl="1" indent="-514350" algn="just">
              <a:buFont typeface="+mj-lt"/>
              <a:buAutoNum type="alphaLcPeriod"/>
            </a:pPr>
            <a:r>
              <a:rPr lang="en-PH" sz="3000" dirty="0">
                <a:latin typeface="Courier New" panose="02070309020205020404" pitchFamily="49" charset="0"/>
                <a:cs typeface="Courier New" panose="02070309020205020404" pitchFamily="49" charset="0"/>
              </a:rPr>
              <a:t>225 ha</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99696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41. According to </a:t>
            </a:r>
            <a:r>
              <a:rPr lang="en-US" sz="3600" dirty="0" err="1">
                <a:latin typeface="Courier New" panose="02070309020205020404" pitchFamily="49" charset="0"/>
                <a:cs typeface="Courier New" panose="02070309020205020404" pitchFamily="49" charset="0"/>
              </a:rPr>
              <a:t>PHilMech</a:t>
            </a:r>
            <a:r>
              <a:rPr lang="en-US" sz="3600" dirty="0">
                <a:latin typeface="Courier New" panose="02070309020205020404" pitchFamily="49" charset="0"/>
                <a:cs typeface="Courier New" panose="02070309020205020404" pitchFamily="49" charset="0"/>
              </a:rPr>
              <a:t>, the farm mechanization level in the Philippines is now at _____, a marked increase from the 2.31 hp/ha pegged in 2013.</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2.679 hp/ha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2.769 hp/ha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2.976 hp/ha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NOTA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735182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41. According to </a:t>
            </a:r>
            <a:r>
              <a:rPr lang="en-US" sz="3600" dirty="0" err="1">
                <a:latin typeface="Courier New" panose="02070309020205020404" pitchFamily="49" charset="0"/>
                <a:cs typeface="Courier New" panose="02070309020205020404" pitchFamily="49" charset="0"/>
              </a:rPr>
              <a:t>PHilMech</a:t>
            </a:r>
            <a:r>
              <a:rPr lang="en-US" sz="3600" dirty="0">
                <a:latin typeface="Courier New" panose="02070309020205020404" pitchFamily="49" charset="0"/>
                <a:cs typeface="Courier New" panose="02070309020205020404" pitchFamily="49" charset="0"/>
              </a:rPr>
              <a:t>, the farm mechanization level in the Philippines is now at _____, a marked increase from the 2.31 hp/ha pegged in 2013.</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2.679 hp/ha</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2.769 hp/ha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2.976 hp/ha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NOTA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491584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HilMech">
            <a:extLst>
              <a:ext uri="{FF2B5EF4-FFF2-40B4-BE49-F238E27FC236}">
                <a16:creationId xmlns:a16="http://schemas.microsoft.com/office/drawing/2014/main" id="{4803BE46-59EE-4B7E-BF14-3E3290727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5183" y="1200978"/>
            <a:ext cx="8101634" cy="423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5261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42. What refers to the market situation in which any given product is supplied by a very large number of vendors and there is no restriction against additional vendors from entering the market??</a:t>
            </a:r>
            <a:endParaRPr lang="en-US" sz="3200" dirty="0">
              <a:latin typeface="Courier New" panose="02070309020205020404" pitchFamily="49" charset="0"/>
              <a:cs typeface="Courier New" panose="02070309020205020404" pitchFamily="49" charset="0"/>
            </a:endParaRP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Perfect competition</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Oligopoly</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Oligopsony</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Monopoly</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76289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sz="3200" dirty="0">
                <a:latin typeface="Courier New" panose="02070309020205020404" pitchFamily="49" charset="0"/>
                <a:cs typeface="Courier New" panose="02070309020205020404" pitchFamily="49" charset="0"/>
              </a:rPr>
              <a:t>42. What refers to the market situation in which any given product is supplied by a very large number of vendors and there is no restriction against additional vendors from entering the market??</a:t>
            </a:r>
            <a:endParaRPr lang="en-US" sz="3200" dirty="0">
              <a:latin typeface="Courier New" panose="02070309020205020404" pitchFamily="49" charset="0"/>
              <a:cs typeface="Courier New" panose="02070309020205020404" pitchFamily="49" charset="0"/>
            </a:endParaRP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b="1" dirty="0">
                <a:solidFill>
                  <a:srgbClr val="FF0000"/>
                </a:solidFill>
                <a:latin typeface="Courier New" panose="02070309020205020404" pitchFamily="49" charset="0"/>
                <a:cs typeface="Courier New" panose="02070309020205020404" pitchFamily="49" charset="0"/>
              </a:rPr>
              <a:t>Perfect competition</a:t>
            </a:r>
            <a:endParaRPr lang="en-US" sz="3200" b="1" dirty="0">
              <a:solidFill>
                <a:srgbClr val="FF0000"/>
              </a:solidFill>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Oligopoly</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Oligopsony</a:t>
            </a: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200" dirty="0">
                <a:latin typeface="Courier New" panose="02070309020205020404" pitchFamily="49" charset="0"/>
                <a:cs typeface="Courier New" panose="02070309020205020404" pitchFamily="49" charset="0"/>
              </a:rPr>
              <a:t>Monopoly</a:t>
            </a: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379142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Perfect Competition Definition | Examples, Characteristics &amp; Graph">
            <a:extLst>
              <a:ext uri="{FF2B5EF4-FFF2-40B4-BE49-F238E27FC236}">
                <a16:creationId xmlns:a16="http://schemas.microsoft.com/office/drawing/2014/main" id="{2F7F06C7-2804-4D9E-8C1E-9CEA9E203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82" y="1007814"/>
            <a:ext cx="8305635" cy="4842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5597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Oligopoly- Definition, Classification and Characteristics – Tutor's Tips">
            <a:extLst>
              <a:ext uri="{FF2B5EF4-FFF2-40B4-BE49-F238E27FC236}">
                <a16:creationId xmlns:a16="http://schemas.microsoft.com/office/drawing/2014/main" id="{2DDBA60C-C7A9-4938-871E-A8D82437E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932" y="790448"/>
            <a:ext cx="7988135" cy="527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6554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ligopsony - definition and meaning - Market Business News">
            <a:extLst>
              <a:ext uri="{FF2B5EF4-FFF2-40B4-BE49-F238E27FC236}">
                <a16:creationId xmlns:a16="http://schemas.microsoft.com/office/drawing/2014/main" id="{ED8DC7F0-9C5B-4D0E-93B0-FFF12D142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7410" y="685800"/>
            <a:ext cx="7237179"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5441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43. API Service Classification for gasoline engine is ________.</a:t>
            </a:r>
          </a:p>
          <a:p>
            <a:pPr marL="0" lvl="0" indent="0">
              <a:buNone/>
            </a:pPr>
            <a:endParaRPr lang="en-US" sz="3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G-series			</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S-series</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C-series</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F-series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470146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43. API Service Classification for gasoline engine is ________.</a:t>
            </a:r>
          </a:p>
          <a:p>
            <a:pPr marL="0" lvl="0" indent="0">
              <a:buNone/>
            </a:pPr>
            <a:endParaRPr lang="en-US" sz="3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G-series			</a:t>
            </a:r>
          </a:p>
          <a:p>
            <a:pPr marL="914400" lvl="1" indent="-457200">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S-series</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C-series</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F-series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086950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44. Machine element that transfers loads between rotating and stationary members and permit relatively free rotation with minimum friction.</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key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shaft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bearing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spline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63336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44. Machine element that transfers loads between rotating and stationary members and permit relatively free rotation with </a:t>
            </a:r>
            <a:r>
              <a:rPr lang="en-US" sz="3600" b="1" dirty="0">
                <a:latin typeface="Courier New" panose="02070309020205020404" pitchFamily="49" charset="0"/>
                <a:cs typeface="Courier New" panose="02070309020205020404" pitchFamily="49" charset="0"/>
              </a:rPr>
              <a:t>minimum friction</a:t>
            </a:r>
            <a:r>
              <a:rPr lang="en-US" sz="3600" dirty="0">
                <a:latin typeface="Courier New" panose="02070309020205020404" pitchFamily="49" charset="0"/>
                <a:cs typeface="Courier New" panose="02070309020205020404" pitchFamily="49" charset="0"/>
              </a:rPr>
              <a:t>.</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key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shaft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bearing</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spline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038224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hafts: Definition, Types, Application, Materials, Size, Used, Design ...">
            <a:extLst>
              <a:ext uri="{FF2B5EF4-FFF2-40B4-BE49-F238E27FC236}">
                <a16:creationId xmlns:a16="http://schemas.microsoft.com/office/drawing/2014/main" id="{1CEC200E-F7FE-4ACA-B1D1-02A78BAA1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0068" y="1384298"/>
            <a:ext cx="7412057" cy="39036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Keyways And Keys | informacionpublica.svet.gob.gt">
            <a:extLst>
              <a:ext uri="{FF2B5EF4-FFF2-40B4-BE49-F238E27FC236}">
                <a16:creationId xmlns:a16="http://schemas.microsoft.com/office/drawing/2014/main" id="{B366CB60-7A9F-477C-BF70-5289CCA00D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75" y="1973272"/>
            <a:ext cx="3951068" cy="272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88267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15 Types of Bearings and Their Applications">
            <a:extLst>
              <a:ext uri="{FF2B5EF4-FFF2-40B4-BE49-F238E27FC236}">
                <a16:creationId xmlns:a16="http://schemas.microsoft.com/office/drawing/2014/main" id="{10A13483-B35E-47DA-B5B6-36847378B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1" y="230187"/>
            <a:ext cx="5118100" cy="63976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pline Shaft Companies | Spline Shaft Services">
            <a:extLst>
              <a:ext uri="{FF2B5EF4-FFF2-40B4-BE49-F238E27FC236}">
                <a16:creationId xmlns:a16="http://schemas.microsoft.com/office/drawing/2014/main" id="{49F0F759-EEF5-4856-A48D-817D11FCEA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7301" y="1217611"/>
            <a:ext cx="5267325" cy="442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3910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000" dirty="0">
                <a:latin typeface="Courier New" panose="02070309020205020404" pitchFamily="49" charset="0"/>
                <a:cs typeface="Courier New" panose="02070309020205020404" pitchFamily="49" charset="0"/>
              </a:rPr>
              <a:t>45. Which of the following belongs under </a:t>
            </a:r>
            <a:r>
              <a:rPr lang="en-US" sz="3000" dirty="0" err="1">
                <a:latin typeface="Courier New" panose="02070309020205020404" pitchFamily="49" charset="0"/>
                <a:cs typeface="Courier New" panose="02070309020205020404" pitchFamily="49" charset="0"/>
              </a:rPr>
              <a:t>BiGSHOW</a:t>
            </a:r>
            <a:r>
              <a:rPr lang="en-US" sz="3000" dirty="0">
                <a:latin typeface="Courier New" panose="02070309020205020404" pitchFamily="49" charset="0"/>
                <a:cs typeface="Courier New" panose="02070309020205020404" pitchFamily="49" charset="0"/>
              </a:rPr>
              <a:t> Acronym.</a:t>
            </a:r>
          </a:p>
          <a:p>
            <a:pPr marL="0" lvl="0" indent="0">
              <a:buNone/>
            </a:pPr>
            <a:endParaRPr lang="en-US" sz="3000" dirty="0">
              <a:latin typeface="Courier New" panose="02070309020205020404" pitchFamily="49" charset="0"/>
              <a:cs typeface="Courier New" panose="02070309020205020404" pitchFamily="49" charset="0"/>
            </a:endParaRPr>
          </a:p>
          <a:p>
            <a:pPr marL="0" indent="0">
              <a:buNone/>
            </a:pPr>
            <a:r>
              <a:rPr lang="en-US" sz="3000" dirty="0">
                <a:latin typeface="Courier New" panose="02070309020205020404" pitchFamily="49" charset="0"/>
                <a:cs typeface="Courier New" panose="02070309020205020404" pitchFamily="49" charset="0"/>
              </a:rPr>
              <a:t>I. Biomass	III. Geothermal	 V. Hydro VII. Wind</a:t>
            </a:r>
          </a:p>
          <a:p>
            <a:pPr marL="0" indent="0">
              <a:buNone/>
            </a:pPr>
            <a:r>
              <a:rPr lang="en-US" sz="3000" dirty="0">
                <a:latin typeface="Courier New" panose="02070309020205020404" pitchFamily="49" charset="0"/>
                <a:cs typeface="Courier New" panose="02070309020205020404" pitchFamily="49" charset="0"/>
              </a:rPr>
              <a:t>II. Biofuel L 	IV. Solar	VI. Ocean Thermal</a:t>
            </a:r>
          </a:p>
          <a:p>
            <a:pPr marL="457200" lvl="1" indent="0">
              <a:buNone/>
            </a:pPr>
            <a:endParaRPr lang="en-US" sz="30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I,III,IV,V,VI,VII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I,II,III,IV,VI,VII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II,III,IV,V,VI,VII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I,II,III,IV,V,VI,VII</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4154803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000" dirty="0">
                <a:latin typeface="Courier New" panose="02070309020205020404" pitchFamily="49" charset="0"/>
                <a:cs typeface="Courier New" panose="02070309020205020404" pitchFamily="49" charset="0"/>
              </a:rPr>
              <a:t>45. Which of the following belongs under </a:t>
            </a:r>
            <a:r>
              <a:rPr lang="en-US" sz="3000" dirty="0" err="1">
                <a:latin typeface="Courier New" panose="02070309020205020404" pitchFamily="49" charset="0"/>
                <a:cs typeface="Courier New" panose="02070309020205020404" pitchFamily="49" charset="0"/>
              </a:rPr>
              <a:t>BiGSHOW</a:t>
            </a:r>
            <a:r>
              <a:rPr lang="en-US" sz="3000" dirty="0">
                <a:latin typeface="Courier New" panose="02070309020205020404" pitchFamily="49" charset="0"/>
                <a:cs typeface="Courier New" panose="02070309020205020404" pitchFamily="49" charset="0"/>
              </a:rPr>
              <a:t> Acronym.</a:t>
            </a:r>
          </a:p>
          <a:p>
            <a:pPr marL="0" lvl="0" indent="0">
              <a:buNone/>
            </a:pPr>
            <a:endParaRPr lang="en-US" sz="3000" dirty="0">
              <a:latin typeface="Courier New" panose="02070309020205020404" pitchFamily="49" charset="0"/>
              <a:cs typeface="Courier New" panose="02070309020205020404" pitchFamily="49" charset="0"/>
            </a:endParaRPr>
          </a:p>
          <a:p>
            <a:pPr marL="0" indent="0">
              <a:buNone/>
            </a:pPr>
            <a:r>
              <a:rPr lang="en-US" sz="3000" dirty="0">
                <a:latin typeface="Courier New" panose="02070309020205020404" pitchFamily="49" charset="0"/>
                <a:cs typeface="Courier New" panose="02070309020205020404" pitchFamily="49" charset="0"/>
              </a:rPr>
              <a:t>I. Biomass	III. Geothermal	 V. Hydro VII. Wind</a:t>
            </a:r>
          </a:p>
          <a:p>
            <a:pPr marL="0" indent="0">
              <a:buNone/>
            </a:pPr>
            <a:r>
              <a:rPr lang="en-US" sz="3000" dirty="0">
                <a:latin typeface="Courier New" panose="02070309020205020404" pitchFamily="49" charset="0"/>
                <a:cs typeface="Courier New" panose="02070309020205020404" pitchFamily="49" charset="0"/>
              </a:rPr>
              <a:t>II. Biofuel L 	IV. Solar	VI. Ocean Thermal</a:t>
            </a:r>
          </a:p>
          <a:p>
            <a:pPr marL="457200" lvl="1" indent="0">
              <a:buNone/>
            </a:pPr>
            <a:endParaRPr lang="en-US" sz="30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000" b="1" dirty="0">
                <a:solidFill>
                  <a:srgbClr val="FF0000"/>
                </a:solidFill>
                <a:latin typeface="Courier New" panose="02070309020205020404" pitchFamily="49" charset="0"/>
                <a:cs typeface="Courier New" panose="02070309020205020404" pitchFamily="49" charset="0"/>
              </a:rPr>
              <a:t>I,III,IV,V,VI,VII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I,II,III,IV,VI,VII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II,III,IV,V,VI,VII</a:t>
            </a:r>
          </a:p>
          <a:p>
            <a:pPr marL="914400" lvl="1" indent="-457200">
              <a:buFont typeface="+mj-lt"/>
              <a:buAutoNum type="alphaLcPeriod"/>
            </a:pPr>
            <a:r>
              <a:rPr lang="en-US" sz="3000" dirty="0">
                <a:latin typeface="Courier New" panose="02070309020205020404" pitchFamily="49" charset="0"/>
                <a:cs typeface="Courier New" panose="02070309020205020404" pitchFamily="49" charset="0"/>
              </a:rPr>
              <a:t>I,II,III,IV,V,VI,VII</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57653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46. ACME Tractor was made from _______.</a:t>
            </a: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Japan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USA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Mexico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Italy	</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978463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46. ACME Tractor was made from _______.</a:t>
            </a: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Japan			</a:t>
            </a:r>
          </a:p>
          <a:p>
            <a:pPr marL="971550" lvl="1" indent="-514350" algn="just">
              <a:buFont typeface="+mj-lt"/>
              <a:buAutoNum type="alphaLcPeriod"/>
            </a:pPr>
            <a:r>
              <a:rPr lang="en-PH" sz="3600" b="1" dirty="0">
                <a:latin typeface="Courier New" panose="02070309020205020404" pitchFamily="49" charset="0"/>
                <a:cs typeface="Courier New" panose="02070309020205020404" pitchFamily="49" charset="0"/>
              </a:rPr>
              <a:t>USA</a:t>
            </a:r>
            <a:r>
              <a:rPr lang="en-PH"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Mexico		</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Italy	</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471256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47. A flat belt, 8 mm thick and 100 mm wide transmits power between two pulleys, running at 1600 m/min. The mass of the belt is 0.9 kg/m length. The angle of lap in the smaller pulley is 165</a:t>
            </a:r>
            <a:r>
              <a:rPr lang="en-US" baseline="30000" dirty="0">
                <a:latin typeface="Courier New" panose="02070309020205020404" pitchFamily="49" charset="0"/>
                <a:cs typeface="Courier New" panose="02070309020205020404" pitchFamily="49" charset="0"/>
              </a:rPr>
              <a:t>o</a:t>
            </a:r>
            <a:r>
              <a:rPr lang="en-US" dirty="0">
                <a:latin typeface="Courier New" panose="02070309020205020404" pitchFamily="49" charset="0"/>
                <a:cs typeface="Courier New" panose="02070309020205020404" pitchFamily="49" charset="0"/>
              </a:rPr>
              <a:t> and the coefficient of friction between the belt and the pulley is 0.3. If the maximum permissible stress is 2MN/m</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find the maximum power transmitted.</a:t>
            </a:r>
          </a:p>
          <a:p>
            <a:pPr marL="457200" lvl="1" indent="0" algn="just">
              <a:buNone/>
            </a:pP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16.29 kW</a:t>
            </a: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14.81 kW</a:t>
            </a: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15.76 kW</a:t>
            </a: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12.48 kW</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341829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47. A flat belt, 8 mm thick and 100 mm wide transmits power between two pulleys, running at 1600 m/min. The mass of the belt is 0.9 kg/m length. The angle of lap in the smaller pulley is 165</a:t>
            </a:r>
            <a:r>
              <a:rPr lang="en-US" baseline="30000" dirty="0">
                <a:latin typeface="Courier New" panose="02070309020205020404" pitchFamily="49" charset="0"/>
                <a:cs typeface="Courier New" panose="02070309020205020404" pitchFamily="49" charset="0"/>
              </a:rPr>
              <a:t>o</a:t>
            </a:r>
            <a:r>
              <a:rPr lang="en-US" dirty="0">
                <a:latin typeface="Courier New" panose="02070309020205020404" pitchFamily="49" charset="0"/>
                <a:cs typeface="Courier New" panose="02070309020205020404" pitchFamily="49" charset="0"/>
              </a:rPr>
              <a:t> and the coefficient of friction between the belt and the pulley is 0.3. If the maximum permissible stress is 2MN/m</a:t>
            </a:r>
            <a:r>
              <a:rPr lang="en-US" baseline="30000" dirty="0">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find the maximum power transmitted.</a:t>
            </a:r>
          </a:p>
          <a:p>
            <a:pPr marL="457200" lvl="1" indent="0" algn="just">
              <a:buNone/>
            </a:pP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16.29 kW</a:t>
            </a:r>
          </a:p>
          <a:p>
            <a:pPr marL="914400" lvl="1" indent="-457200" algn="just">
              <a:buFont typeface="+mj-lt"/>
              <a:buAutoNum type="alphaLcPeriod"/>
            </a:pPr>
            <a:r>
              <a:rPr lang="en-US" sz="2800" b="1" dirty="0">
                <a:solidFill>
                  <a:srgbClr val="FF0000"/>
                </a:solidFill>
                <a:latin typeface="Courier New" panose="02070309020205020404" pitchFamily="49" charset="0"/>
                <a:cs typeface="Courier New" panose="02070309020205020404" pitchFamily="49" charset="0"/>
              </a:rPr>
              <a:t>14.81 kW</a:t>
            </a: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15.76 kW</a:t>
            </a:r>
          </a:p>
          <a:p>
            <a:pPr marL="914400" lvl="1" indent="-457200" algn="just">
              <a:buFont typeface="+mj-lt"/>
              <a:buAutoNum type="alphaLcPeriod"/>
            </a:pPr>
            <a:r>
              <a:rPr lang="en-US" sz="2800" dirty="0">
                <a:latin typeface="Courier New" panose="02070309020205020404" pitchFamily="49" charset="0"/>
                <a:cs typeface="Courier New" panose="02070309020205020404" pitchFamily="49" charset="0"/>
              </a:rPr>
              <a:t>12.48 kW</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112109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48. An additive is a matter which is added to improve fuel. This type of fuel additive decreases fuel consumption while also speeding up the ignition process in the engine</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Fuel stabilizing additives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Cetane boosters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fuel injector detergents</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anti-gel and corrosion additives</a:t>
            </a:r>
          </a:p>
          <a:p>
            <a:pPr marL="0" lvl="0" indent="0" algn="just">
              <a:buNone/>
            </a:pP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0150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48. An additive is a matter which is added to improve fuel. This type of fuel additive decreases fuel consumption while also speeding up the ignition process in the engine</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Fuel stabilizing additives			</a:t>
            </a:r>
          </a:p>
          <a:p>
            <a:pPr marL="971550" lvl="1" indent="-51435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Cetane boosters</a:t>
            </a:r>
            <a:r>
              <a:rPr lang="en-US" sz="32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fuel injector detergents</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anti-gel and corrosion additives</a:t>
            </a:r>
          </a:p>
          <a:p>
            <a:pPr marL="0" lvl="0" indent="0" algn="just">
              <a:buNone/>
            </a:pP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337334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49. It means the seller is responsible for the product only until it is loaded on board a shipping a vessel, at which point the buyer is responsible.</a:t>
            </a:r>
          </a:p>
          <a:p>
            <a:pPr marL="457200" lvl="1"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Cost and Freight</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Free on Board</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Cost, insurance, and freight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NOTA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7270337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49. It means the seller is responsible for the product only until it is loaded on board a shipping a vessel, at which point the buyer is responsible.</a:t>
            </a:r>
          </a:p>
          <a:p>
            <a:pPr marL="457200" lvl="1"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Cost and Freight</a:t>
            </a:r>
          </a:p>
          <a:p>
            <a:pPr marL="914400" lvl="1" indent="-45720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Free on Board</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Cost, insurance, and freight </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NOTA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971278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50. The cash flows associated with a coffee hulling machine are as follows:</a:t>
            </a:r>
          </a:p>
          <a:p>
            <a:pPr marL="0" lvl="0" indent="0" algn="just">
              <a:buNone/>
            </a:pP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Year 0 = - P50,000</a:t>
            </a: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Year 1 to 5 = P15,000</a:t>
            </a: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At a MARR of 10% per year, calculate the machine's net present value (NPV).</a:t>
            </a:r>
          </a:p>
          <a:p>
            <a:pPr marL="0" indent="0" algn="just">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6,862.00</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4,842.00</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7,317.00</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5,093.00</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904759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50. The cash flows associated with a coffee hulling machine are as follows:</a:t>
            </a:r>
          </a:p>
          <a:p>
            <a:pPr marL="0" lvl="0" indent="0" algn="just">
              <a:buNone/>
            </a:pP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Year 0 = - P50,000</a:t>
            </a: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Year 1 to 5 = P15,000</a:t>
            </a:r>
            <a:endParaRPr lang="en-US" sz="3200" dirty="0">
              <a:latin typeface="Courier New" panose="02070309020205020404" pitchFamily="49" charset="0"/>
              <a:cs typeface="Courier New" panose="02070309020205020404" pitchFamily="49" charset="0"/>
            </a:endParaRPr>
          </a:p>
          <a:p>
            <a:pPr marL="0" indent="0" algn="just">
              <a:buNone/>
            </a:pPr>
            <a:r>
              <a:rPr lang="en-US" dirty="0">
                <a:latin typeface="Courier New" panose="02070309020205020404" pitchFamily="49" charset="0"/>
                <a:cs typeface="Courier New" panose="02070309020205020404" pitchFamily="49" charset="0"/>
              </a:rPr>
              <a:t>At a MARR of 10% per year, calculate the machine's net present value (NPV).</a:t>
            </a:r>
          </a:p>
          <a:p>
            <a:pPr marL="0" indent="0" algn="just">
              <a:buNone/>
            </a:pPr>
            <a:endParaRPr lang="en-US" sz="32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b="1" dirty="0">
                <a:solidFill>
                  <a:srgbClr val="FF0000"/>
                </a:solidFill>
                <a:latin typeface="Courier New" panose="02070309020205020404" pitchFamily="49" charset="0"/>
                <a:cs typeface="Courier New" panose="02070309020205020404" pitchFamily="49" charset="0"/>
              </a:rPr>
              <a:t>Php 6,862.00</a:t>
            </a:r>
            <a:endParaRPr lang="en-US" sz="2800" b="1" dirty="0">
              <a:solidFill>
                <a:srgbClr val="FF0000"/>
              </a:solidFill>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4,842.00</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7,317.00</a:t>
            </a:r>
            <a:endParaRPr lang="en-US" sz="28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dirty="0">
                <a:latin typeface="Courier New" panose="02070309020205020404" pitchFamily="49" charset="0"/>
                <a:cs typeface="Courier New" panose="02070309020205020404" pitchFamily="49" charset="0"/>
              </a:rPr>
              <a:t>Php 5,093.00</a:t>
            </a:r>
            <a:endParaRPr lang="en-US" sz="28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13695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51. Purpose of extension which aims to achieve societal objectives and collective utilities</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Emancipatory extension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Formative extension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Information extension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Persuasive extension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3215172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51. Purpose of extension which aims to achieve societal objectives and collective utilities</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Emancipatory extension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Formative extension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Information extension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Persuasive extension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121522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AB35AE-5F3F-4F22-BA24-DD3A37A2088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tretch>
            <a:fillRect/>
          </a:stretch>
        </p:blipFill>
        <p:spPr>
          <a:xfrm>
            <a:off x="1490019" y="590154"/>
            <a:ext cx="9211961" cy="5677692"/>
          </a:xfrm>
          <a:prstGeom prst="rect">
            <a:avLst/>
          </a:prstGeom>
        </p:spPr>
      </p:pic>
    </p:spTree>
    <p:extLst>
      <p:ext uri="{BB962C8B-B14F-4D97-AF65-F5344CB8AC3E}">
        <p14:creationId xmlns:p14="http://schemas.microsoft.com/office/powerpoint/2010/main" val="73902384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52. A 2-stroke-cycle ICE has 20 explosions per second, what is the engine rpm?</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300 rpm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2400 rpm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600 rpm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1200 rpm</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028732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52. A 2-stroke-cycle ICE has 20 explosions per second, what is the engine rpm?</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300 rpm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2400 rpm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600 rpm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1200 rpm</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4367783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PT – Two-Stroke Engine PowerPoint presentation | free to download - id ...">
            <a:extLst>
              <a:ext uri="{FF2B5EF4-FFF2-40B4-BE49-F238E27FC236}">
                <a16:creationId xmlns:a16="http://schemas.microsoft.com/office/drawing/2014/main" id="{FDC4BCCA-8A9A-4EB7-BF18-4E391948DF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560"/>
          <a:stretch/>
        </p:blipFill>
        <p:spPr bwMode="auto">
          <a:xfrm>
            <a:off x="197842" y="260074"/>
            <a:ext cx="6251618" cy="39690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2" descr="PPT – Two-Stroke Engine PowerPoint presentation | free to download - id ...">
            <a:extLst>
              <a:ext uri="{FF2B5EF4-FFF2-40B4-BE49-F238E27FC236}">
                <a16:creationId xmlns:a16="http://schemas.microsoft.com/office/drawing/2014/main" id="{E91EC2E4-6F5A-4569-AC87-F29A89AFF3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723"/>
          <a:stretch/>
        </p:blipFill>
        <p:spPr bwMode="auto">
          <a:xfrm>
            <a:off x="5448437" y="2368827"/>
            <a:ext cx="6545721" cy="42290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2906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53. Minimum purity (%) for rice combine harvester with fan.</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100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97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95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92</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376808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53. Minimum purity (%) for rice combine harvester with fan.</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100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97</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95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92</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666962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A8B27-B71F-4322-8EAD-B2E1D9D39C09}"/>
              </a:ext>
            </a:extLst>
          </p:cNvPr>
          <p:cNvGrpSpPr/>
          <p:nvPr/>
        </p:nvGrpSpPr>
        <p:grpSpPr>
          <a:xfrm>
            <a:off x="2033723" y="1171316"/>
            <a:ext cx="8026707" cy="4775768"/>
            <a:chOff x="1266459" y="281017"/>
            <a:chExt cx="9659081" cy="6295965"/>
          </a:xfrm>
        </p:grpSpPr>
        <p:pic>
          <p:nvPicPr>
            <p:cNvPr id="4" name="Picture 3">
              <a:extLst>
                <a:ext uri="{FF2B5EF4-FFF2-40B4-BE49-F238E27FC236}">
                  <a16:creationId xmlns:a16="http://schemas.microsoft.com/office/drawing/2014/main" id="{80ED2627-662F-463E-93BE-77939865256F}"/>
                </a:ext>
              </a:extLst>
            </p:cNvPr>
            <p:cNvPicPr>
              <a:picLocks noChangeAspect="1"/>
            </p:cNvPicPr>
            <p:nvPr/>
          </p:nvPicPr>
          <p:blipFill>
            <a:blip r:embed="rId3"/>
            <a:stretch>
              <a:fillRect/>
            </a:stretch>
          </p:blipFill>
          <p:spPr>
            <a:xfrm>
              <a:off x="1266459" y="281017"/>
              <a:ext cx="9659081" cy="6295965"/>
            </a:xfrm>
            <a:prstGeom prst="rect">
              <a:avLst/>
            </a:prstGeom>
          </p:spPr>
        </p:pic>
        <p:sp>
          <p:nvSpPr>
            <p:cNvPr id="5" name="Rectangle 4">
              <a:extLst>
                <a:ext uri="{FF2B5EF4-FFF2-40B4-BE49-F238E27FC236}">
                  <a16:creationId xmlns:a16="http://schemas.microsoft.com/office/drawing/2014/main" id="{7AC18A57-7FCC-44BE-A57C-6880D519F62C}"/>
                </a:ext>
              </a:extLst>
            </p:cNvPr>
            <p:cNvSpPr/>
            <p:nvPr/>
          </p:nvSpPr>
          <p:spPr>
            <a:xfrm>
              <a:off x="1892300" y="3733800"/>
              <a:ext cx="7213600" cy="635000"/>
            </a:xfrm>
            <a:prstGeom prst="rect">
              <a:avLst/>
            </a:prstGeom>
            <a:solidFill>
              <a:srgbClr val="FFFF00">
                <a:alpha val="3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Rectangle 5">
            <a:extLst>
              <a:ext uri="{FF2B5EF4-FFF2-40B4-BE49-F238E27FC236}">
                <a16:creationId xmlns:a16="http://schemas.microsoft.com/office/drawing/2014/main" id="{C309D8F0-9465-4445-A9E6-97F075861DDC}"/>
              </a:ext>
            </a:extLst>
          </p:cNvPr>
          <p:cNvSpPr/>
          <p:nvPr/>
        </p:nvSpPr>
        <p:spPr>
          <a:xfrm>
            <a:off x="8225835" y="6207650"/>
            <a:ext cx="320792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it-IT" dirty="0">
                <a:solidFill>
                  <a:schemeClr val="bg1"/>
                </a:solidFill>
                <a:hlinkClick r:id="rId4">
                  <a:extLst>
                    <a:ext uri="{A12FA001-AC4F-418D-AE19-62706E023703}">
                      <ahyp:hlinkClr xmlns:ahyp="http://schemas.microsoft.com/office/drawing/2018/hyperlinkcolor" val="tx"/>
                    </a:ext>
                  </a:extLst>
                </a:hlinkClick>
              </a:rPr>
              <a:t>PAES 224 - Rice Combine - Specs</a:t>
            </a:r>
            <a:endParaRPr lang="en-US" dirty="0">
              <a:solidFill>
                <a:schemeClr val="bg1"/>
              </a:solidFill>
            </a:endParaRPr>
          </a:p>
        </p:txBody>
      </p:sp>
      <p:pic>
        <p:nvPicPr>
          <p:cNvPr id="8" name="Picture 7">
            <a:extLst>
              <a:ext uri="{FF2B5EF4-FFF2-40B4-BE49-F238E27FC236}">
                <a16:creationId xmlns:a16="http://schemas.microsoft.com/office/drawing/2014/main" id="{DCC532DA-95B0-4D2C-96A0-5D5432B87EA4}"/>
              </a:ext>
            </a:extLst>
          </p:cNvPr>
          <p:cNvPicPr>
            <a:picLocks noChangeAspect="1"/>
          </p:cNvPicPr>
          <p:nvPr/>
        </p:nvPicPr>
        <p:blipFill>
          <a:blip r:embed="rId5"/>
          <a:stretch>
            <a:fillRect/>
          </a:stretch>
        </p:blipFill>
        <p:spPr>
          <a:xfrm>
            <a:off x="2260600" y="228797"/>
            <a:ext cx="7799830" cy="681953"/>
          </a:xfrm>
          <a:prstGeom prst="rect">
            <a:avLst/>
          </a:prstGeom>
        </p:spPr>
      </p:pic>
    </p:spTree>
    <p:extLst>
      <p:ext uri="{BB962C8B-B14F-4D97-AF65-F5344CB8AC3E}">
        <p14:creationId xmlns:p14="http://schemas.microsoft.com/office/powerpoint/2010/main" val="192713143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54. Calculate the mechanical efficiency of a 4-stroke engine if the indicated mean effective pressure is 125 psi, displacement is 505 cubic inches, speed is 2200 rpm and torque is 358.1 </a:t>
            </a:r>
            <a:r>
              <a:rPr lang="en-US" sz="3200" dirty="0" err="1">
                <a:latin typeface="Courier New" panose="02070309020205020404" pitchFamily="49" charset="0"/>
                <a:cs typeface="Courier New" panose="02070309020205020404" pitchFamily="49" charset="0"/>
              </a:rPr>
              <a:t>lb</a:t>
            </a:r>
            <a:r>
              <a:rPr lang="en-US" sz="3200" dirty="0">
                <a:latin typeface="Courier New" panose="02070309020205020404" pitchFamily="49" charset="0"/>
                <a:cs typeface="Courier New" panose="02070309020205020404" pitchFamily="49" charset="0"/>
              </a:rPr>
              <a:t>-ft.</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62.77%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42.78%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85.57%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35.56%</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19001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54. Calculate the mechanical efficiency of a 4-stroke engine if the indicated mean effective pressure is 125 psi, displacement is 505 cubic inches, speed is 2200 rpm and torque is 358.1 </a:t>
            </a:r>
            <a:r>
              <a:rPr lang="en-US" sz="3200" dirty="0" err="1">
                <a:latin typeface="Courier New" panose="02070309020205020404" pitchFamily="49" charset="0"/>
                <a:cs typeface="Courier New" panose="02070309020205020404" pitchFamily="49" charset="0"/>
              </a:rPr>
              <a:t>lb</a:t>
            </a:r>
            <a:r>
              <a:rPr lang="en-US" sz="3200" dirty="0">
                <a:latin typeface="Courier New" panose="02070309020205020404" pitchFamily="49" charset="0"/>
                <a:cs typeface="Courier New" panose="02070309020205020404" pitchFamily="49" charset="0"/>
              </a:rPr>
              <a:t>-ft.</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62.77%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42.78%		</a:t>
            </a:r>
          </a:p>
          <a:p>
            <a:pPr marL="971550" lvl="1" indent="-51435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85.57%</a:t>
            </a:r>
            <a:r>
              <a:rPr lang="en-US" sz="32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35.56%</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95997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55. When excessive amount of water is mixed with the fuel or there is leaky valve set rings, the color of the smoke is _____ of</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Black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blue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gray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AOTA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191697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55. When excessive amount of water is mixed with the fuel or there is leaky valve set rings, the color of the smoke is _____ of</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Black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blue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gray</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AOTA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104225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ow to Fix Blue Smoke from Exhaust - Mudflap Fuel Discount Guide">
            <a:extLst>
              <a:ext uri="{FF2B5EF4-FFF2-40B4-BE49-F238E27FC236}">
                <a16:creationId xmlns:a16="http://schemas.microsoft.com/office/drawing/2014/main" id="{2359B259-18EF-46EA-97FA-0A1B3AF37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77" y="570599"/>
            <a:ext cx="5136678" cy="513667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r smoke signals : r/coolguides">
            <a:extLst>
              <a:ext uri="{FF2B5EF4-FFF2-40B4-BE49-F238E27FC236}">
                <a16:creationId xmlns:a16="http://schemas.microsoft.com/office/drawing/2014/main" id="{1BDC1E5A-3F20-4142-A9A1-27CD8820FC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632"/>
          <a:stretch/>
        </p:blipFill>
        <p:spPr bwMode="auto">
          <a:xfrm>
            <a:off x="5001185" y="692622"/>
            <a:ext cx="3411365" cy="48926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ar smoke signals : r/coolguides">
            <a:extLst>
              <a:ext uri="{FF2B5EF4-FFF2-40B4-BE49-F238E27FC236}">
                <a16:creationId xmlns:a16="http://schemas.microsoft.com/office/drawing/2014/main" id="{D5B304D4-188D-4D5F-A67F-CF9E5BA790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768"/>
          <a:stretch/>
        </p:blipFill>
        <p:spPr bwMode="auto">
          <a:xfrm>
            <a:off x="8433143" y="1488976"/>
            <a:ext cx="3589980" cy="3880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547598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56. Flour, sugar, eggs and butter are examples of what type of agricultural product?</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Raw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fresh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Semi-finished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Processed</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6507274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56. Flour, sugar, eggs and butter are examples of what type of agricultural product?</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Raw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fresh		</a:t>
            </a:r>
          </a:p>
          <a:p>
            <a:pPr marL="971550" lvl="1" indent="-514350">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Semi-finished</a:t>
            </a:r>
            <a:r>
              <a:rPr lang="en-US" sz="3600" dirty="0">
                <a:latin typeface="Courier New" panose="02070309020205020404" pitchFamily="49" charset="0"/>
                <a:cs typeface="Courier New" panose="02070309020205020404" pitchFamily="49" charset="0"/>
              </a:rPr>
              <a:t>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Processed</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0812352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57. Which of the following is NOT true:</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Electric motors are classified based on electrical service required as single-phase AC and three-phase AC.</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Select a motor whose torque required by the load is always greater than the torque output.</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Motors are built with four insulation classes that can withstand only certain amounts of operating temperature.</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For convenience, nameplate data often gives the maximum ambient temperature that will keep the motor temperature within limits.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40264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57. Which of the following is NOT true:</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Electric motors are classified based on electrical service required as single-phase AC and three-phase AC.</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Select a motor whose torque required by the load is always greater than the torque output.</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Motors are built with four insulation classes that can withstand only certain amounts of operating temperature.</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For convenience, nameplate data often gives the maximum ambient temperature that will keep the motor temperature within limits.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284690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58. __________ percent of the rice fund shall be released to and implemented by the PhilRice and shall be used for the development, propagation and promotion of inbred rice seeds to rice farmers and the organization of rice farmers into seed growers associations and/or cooperatives engaged in seed production and trade.	</a:t>
            </a:r>
          </a:p>
          <a:p>
            <a:pPr mar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10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30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50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25</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046919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58. __________ percent of the rice fund shall be released to and implemented by the PhilRice and shall be used for the development, propagation and promotion of inbred rice seeds to rice farmers and the organization of rice farmers into seed growers associations and/or cooperatives engaged in seed production and trade.	</a:t>
            </a:r>
          </a:p>
          <a:p>
            <a:pPr mar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10			</a:t>
            </a:r>
          </a:p>
          <a:p>
            <a:pPr marL="971550" lvl="1" indent="-514350" algn="just">
              <a:buFont typeface="+mj-lt"/>
              <a:buAutoNum type="alphaLcPeriod"/>
            </a:pPr>
            <a:r>
              <a:rPr lang="en-US" sz="2800" b="1" dirty="0">
                <a:solidFill>
                  <a:srgbClr val="FF0000"/>
                </a:solidFill>
                <a:latin typeface="Courier New" panose="02070309020205020404" pitchFamily="49" charset="0"/>
                <a:cs typeface="Courier New" panose="02070309020205020404" pitchFamily="49" charset="0"/>
              </a:rPr>
              <a:t>30</a:t>
            </a:r>
            <a:r>
              <a:rPr lang="en-US" sz="28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50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25</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30380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FFCA517-26E5-4F39-84A6-F58DF3AF4148}"/>
              </a:ext>
            </a:extLst>
          </p:cNvPr>
          <p:cNvGrpSpPr/>
          <p:nvPr/>
        </p:nvGrpSpPr>
        <p:grpSpPr>
          <a:xfrm>
            <a:off x="1715938" y="126557"/>
            <a:ext cx="8760123" cy="6458909"/>
            <a:chOff x="1715938" y="50357"/>
            <a:chExt cx="8760123" cy="6458909"/>
          </a:xfrm>
        </p:grpSpPr>
        <p:pic>
          <p:nvPicPr>
            <p:cNvPr id="4" name="Picture 3">
              <a:extLst>
                <a:ext uri="{FF2B5EF4-FFF2-40B4-BE49-F238E27FC236}">
                  <a16:creationId xmlns:a16="http://schemas.microsoft.com/office/drawing/2014/main" id="{05D0ABD9-C1D7-49EC-8333-7887D2A58FFC}"/>
                </a:ext>
              </a:extLst>
            </p:cNvPr>
            <p:cNvPicPr>
              <a:picLocks noChangeAspect="1"/>
            </p:cNvPicPr>
            <p:nvPr/>
          </p:nvPicPr>
          <p:blipFill>
            <a:blip r:embed="rId3"/>
            <a:stretch>
              <a:fillRect/>
            </a:stretch>
          </p:blipFill>
          <p:spPr>
            <a:xfrm>
              <a:off x="1995562" y="900733"/>
              <a:ext cx="7821538" cy="5608533"/>
            </a:xfrm>
            <a:prstGeom prst="rect">
              <a:avLst/>
            </a:prstGeom>
          </p:spPr>
        </p:pic>
        <p:pic>
          <p:nvPicPr>
            <p:cNvPr id="5" name="Picture 4">
              <a:extLst>
                <a:ext uri="{FF2B5EF4-FFF2-40B4-BE49-F238E27FC236}">
                  <a16:creationId xmlns:a16="http://schemas.microsoft.com/office/drawing/2014/main" id="{EBEE8F6B-7D35-4B04-9BFD-083991E98563}"/>
                </a:ext>
              </a:extLst>
            </p:cNvPr>
            <p:cNvPicPr>
              <a:picLocks noChangeAspect="1"/>
            </p:cNvPicPr>
            <p:nvPr/>
          </p:nvPicPr>
          <p:blipFill>
            <a:blip r:embed="rId4"/>
            <a:stretch>
              <a:fillRect/>
            </a:stretch>
          </p:blipFill>
          <p:spPr>
            <a:xfrm>
              <a:off x="1995562" y="50357"/>
              <a:ext cx="8332976" cy="863600"/>
            </a:xfrm>
            <a:prstGeom prst="rect">
              <a:avLst/>
            </a:prstGeom>
          </p:spPr>
        </p:pic>
        <p:pic>
          <p:nvPicPr>
            <p:cNvPr id="7" name="Picture 6">
              <a:extLst>
                <a:ext uri="{FF2B5EF4-FFF2-40B4-BE49-F238E27FC236}">
                  <a16:creationId xmlns:a16="http://schemas.microsoft.com/office/drawing/2014/main" id="{902A55DC-9A3F-4D3F-94E9-08DE54592D30}"/>
                </a:ext>
              </a:extLst>
            </p:cNvPr>
            <p:cNvPicPr>
              <a:picLocks noChangeAspect="1"/>
            </p:cNvPicPr>
            <p:nvPr/>
          </p:nvPicPr>
          <p:blipFill rotWithShape="1">
            <a:blip r:embed="rId3"/>
            <a:srcRect t="35569" b="41787"/>
            <a:stretch/>
          </p:blipFill>
          <p:spPr>
            <a:xfrm>
              <a:off x="1715938" y="2857500"/>
              <a:ext cx="8760123" cy="1422400"/>
            </a:xfrm>
            <a:prstGeom prst="rect">
              <a:avLst/>
            </a:prstGeom>
          </p:spPr>
        </p:pic>
      </p:grpSp>
      <p:sp>
        <p:nvSpPr>
          <p:cNvPr id="6" name="Rectangle 5">
            <a:extLst>
              <a:ext uri="{FF2B5EF4-FFF2-40B4-BE49-F238E27FC236}">
                <a16:creationId xmlns:a16="http://schemas.microsoft.com/office/drawing/2014/main" id="{F497F5C3-1166-45E9-9120-FBECD464F219}"/>
              </a:ext>
            </a:extLst>
          </p:cNvPr>
          <p:cNvSpPr/>
          <p:nvPr/>
        </p:nvSpPr>
        <p:spPr>
          <a:xfrm>
            <a:off x="8272734" y="6047601"/>
            <a:ext cx="3088731"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2400" dirty="0">
                <a:solidFill>
                  <a:schemeClr val="bg1"/>
                </a:solidFill>
                <a:hlinkClick r:id="rId5">
                  <a:extLst>
                    <a:ext uri="{A12FA001-AC4F-418D-AE19-62706E023703}">
                      <ahyp:hlinkClr xmlns:ahyp="http://schemas.microsoft.com/office/drawing/2018/hyperlinkcolor" val="tx"/>
                    </a:ext>
                  </a:extLst>
                </a:hlinkClick>
              </a:rPr>
              <a:t>Republic Act No. 11203</a:t>
            </a:r>
            <a:endParaRPr lang="en-US" sz="2400" dirty="0">
              <a:solidFill>
                <a:schemeClr val="bg1"/>
              </a:solidFill>
            </a:endParaRPr>
          </a:p>
        </p:txBody>
      </p:sp>
    </p:spTree>
    <p:extLst>
      <p:ext uri="{BB962C8B-B14F-4D97-AF65-F5344CB8AC3E}">
        <p14:creationId xmlns:p14="http://schemas.microsoft.com/office/powerpoint/2010/main" val="213997002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59. Determine the exact simple interest on Php 1,700.00 for the period of March 16 to June 14, 2024 at 8% interest.</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33.44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33.53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33.81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33.07</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652872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59. Determine the exact simple interest on Php1,700.00 for the period of March 16 to June 14, 2024 at 8% interest.</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Php 33.44</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33.53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33.81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Php 33.07</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272690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60. It indicates the maximum load that can be safely carried by the motor under continuous operation.</a:t>
            </a:r>
          </a:p>
          <a:p>
            <a:pPr marL="0" lvl="0" indent="0">
              <a:buNone/>
            </a:pPr>
            <a:r>
              <a:rPr lang="en-US" sz="3600" dirty="0">
                <a:latin typeface="Courier New" panose="02070309020205020404" pitchFamily="49" charset="0"/>
                <a:cs typeface="Courier New" panose="02070309020205020404" pitchFamily="49" charset="0"/>
              </a:rPr>
              <a:t>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Ampacity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Load rating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Duty rating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Service factor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342508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60. It indicates the maximum load that can be safely carried by the motor under continuous operation.</a:t>
            </a:r>
          </a:p>
          <a:p>
            <a:pPr marL="0" lvl="0" indent="0">
              <a:buNone/>
            </a:pPr>
            <a:r>
              <a:rPr lang="en-US" sz="3600" dirty="0">
                <a:latin typeface="Courier New" panose="02070309020205020404" pitchFamily="49" charset="0"/>
                <a:cs typeface="Courier New" panose="02070309020205020404" pitchFamily="49" charset="0"/>
              </a:rPr>
              <a:t>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Ampacity		</a:t>
            </a:r>
          </a:p>
          <a:p>
            <a:pPr marL="971550" lvl="1" indent="-514350">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Load rating</a:t>
            </a:r>
            <a:r>
              <a:rPr lang="en-US" sz="3600" dirty="0">
                <a:latin typeface="Courier New" panose="02070309020205020404" pitchFamily="49" charset="0"/>
                <a:cs typeface="Courier New" panose="02070309020205020404" pitchFamily="49" charset="0"/>
              </a:rPr>
              <a:t>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Duty rating	</a:t>
            </a:r>
          </a:p>
          <a:p>
            <a:pPr marL="971550" lvl="1" indent="-514350">
              <a:buFont typeface="+mj-lt"/>
              <a:buAutoNum type="alphaLcPeriod"/>
            </a:pPr>
            <a:r>
              <a:rPr lang="en-US" sz="3600" dirty="0">
                <a:latin typeface="Courier New" panose="02070309020205020404" pitchFamily="49" charset="0"/>
                <a:cs typeface="Courier New" panose="02070309020205020404" pitchFamily="49" charset="0"/>
              </a:rPr>
              <a:t>Service factor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89913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61. During construction, for contracts which do not involve the supply of construction materials or where the materials are supplied by the owner/agency, the maximum rating for Environmental, Safety and Health (ESH) shall be:</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0.40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0.20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0.05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0.10</a:t>
            </a:r>
            <a:endParaRPr lang="en-US" sz="32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1211966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236539-9106-4679-ADCD-F1D02B09155C}"/>
              </a:ext>
            </a:extLst>
          </p:cNvPr>
          <p:cNvPicPr>
            <a:picLocks noChangeAspect="1"/>
          </p:cNvPicPr>
          <p:nvPr/>
        </p:nvPicPr>
        <p:blipFill>
          <a:blip r:embed="rId3"/>
          <a:stretch>
            <a:fillRect/>
          </a:stretch>
        </p:blipFill>
        <p:spPr>
          <a:xfrm>
            <a:off x="2222500" y="1274465"/>
            <a:ext cx="8503286" cy="3894435"/>
          </a:xfrm>
          <a:prstGeom prst="rect">
            <a:avLst/>
          </a:prstGeom>
        </p:spPr>
      </p:pic>
      <p:pic>
        <p:nvPicPr>
          <p:cNvPr id="5" name="Picture 4">
            <a:extLst>
              <a:ext uri="{FF2B5EF4-FFF2-40B4-BE49-F238E27FC236}">
                <a16:creationId xmlns:a16="http://schemas.microsoft.com/office/drawing/2014/main" id="{3D8DB7EB-4930-400D-B3A6-545132281CAE}"/>
              </a:ext>
            </a:extLst>
          </p:cNvPr>
          <p:cNvPicPr>
            <a:picLocks noChangeAspect="1"/>
          </p:cNvPicPr>
          <p:nvPr/>
        </p:nvPicPr>
        <p:blipFill>
          <a:blip r:embed="rId4"/>
          <a:stretch>
            <a:fillRect/>
          </a:stretch>
        </p:blipFill>
        <p:spPr>
          <a:xfrm>
            <a:off x="2222501" y="193578"/>
            <a:ext cx="8382323" cy="1218943"/>
          </a:xfrm>
          <a:prstGeom prst="rect">
            <a:avLst/>
          </a:prstGeom>
        </p:spPr>
      </p:pic>
      <p:sp>
        <p:nvSpPr>
          <p:cNvPr id="6" name="Rectangle 5">
            <a:extLst>
              <a:ext uri="{FF2B5EF4-FFF2-40B4-BE49-F238E27FC236}">
                <a16:creationId xmlns:a16="http://schemas.microsoft.com/office/drawing/2014/main" id="{B7BE6E0F-473D-4A90-82FC-F378920640F2}"/>
              </a:ext>
            </a:extLst>
          </p:cNvPr>
          <p:cNvSpPr/>
          <p:nvPr/>
        </p:nvSpPr>
        <p:spPr>
          <a:xfrm>
            <a:off x="5482096" y="5341203"/>
            <a:ext cx="5952207"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dirty="0">
                <a:solidFill>
                  <a:schemeClr val="bg1"/>
                </a:solidFill>
                <a:hlinkClick r:id="rId5">
                  <a:extLst>
                    <a:ext uri="{A12FA001-AC4F-418D-AE19-62706E023703}">
                      <ahyp:hlinkClr xmlns:ahyp="http://schemas.microsoft.com/office/drawing/2018/hyperlinkcolor" val="tx"/>
                    </a:ext>
                  </a:extLst>
                </a:hlinkClick>
              </a:rPr>
              <a:t>CONSTRUCTORS’ PERFORMANCE EVALUATION SYSTEM (CPES)</a:t>
            </a:r>
            <a:endParaRPr lang="en-US" dirty="0">
              <a:solidFill>
                <a:schemeClr val="bg1"/>
              </a:solidFill>
            </a:endParaRPr>
          </a:p>
        </p:txBody>
      </p:sp>
      <p:sp>
        <p:nvSpPr>
          <p:cNvPr id="7" name="TextBox 6">
            <a:extLst>
              <a:ext uri="{FF2B5EF4-FFF2-40B4-BE49-F238E27FC236}">
                <a16:creationId xmlns:a16="http://schemas.microsoft.com/office/drawing/2014/main" id="{DCCE9C75-CE20-41B4-A38D-A05008E53A38}"/>
              </a:ext>
            </a:extLst>
          </p:cNvPr>
          <p:cNvSpPr txBox="1"/>
          <p:nvPr/>
        </p:nvSpPr>
        <p:spPr>
          <a:xfrm>
            <a:off x="2616503" y="5341203"/>
            <a:ext cx="2865593" cy="369332"/>
          </a:xfrm>
          <a:prstGeom prst="rect">
            <a:avLst/>
          </a:prstGeom>
          <a:noFill/>
        </p:spPr>
        <p:txBody>
          <a:bodyPr wrap="none" rtlCol="0">
            <a:spAutoFit/>
          </a:bodyPr>
          <a:lstStyle/>
          <a:p>
            <a:r>
              <a:rPr lang="en-US" i="1" dirty="0">
                <a:solidFill>
                  <a:schemeClr val="accent1"/>
                </a:solidFill>
              </a:rPr>
              <a:t>Click for the complete file </a:t>
            </a:r>
            <a:r>
              <a:rPr lang="en-US" i="1" dirty="0">
                <a:solidFill>
                  <a:schemeClr val="accent1"/>
                </a:solidFill>
                <a:latin typeface="Century Gothic" panose="020B0502020202020204" pitchFamily="34" charset="0"/>
              </a:rPr>
              <a:t>→</a:t>
            </a:r>
            <a:endParaRPr lang="en-US" i="1" dirty="0">
              <a:solidFill>
                <a:schemeClr val="accent1"/>
              </a:solidFill>
            </a:endParaRPr>
          </a:p>
        </p:txBody>
      </p:sp>
    </p:spTree>
    <p:extLst>
      <p:ext uri="{BB962C8B-B14F-4D97-AF65-F5344CB8AC3E}">
        <p14:creationId xmlns:p14="http://schemas.microsoft.com/office/powerpoint/2010/main" val="338765561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61. During construction, for contracts which do not involve the supply of construction materials or where the materials are supplied by the owner/agency, the maximum rating for Environmental, Safety and Health (ESH) shall be:</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0.40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0.20			</a:t>
            </a:r>
          </a:p>
          <a:p>
            <a:pPr marL="971550" lvl="1" indent="-514350" algn="just">
              <a:buFont typeface="+mj-lt"/>
              <a:buAutoNum type="alphaLcPeriod"/>
            </a:pPr>
            <a:r>
              <a:rPr lang="en-US" sz="3200" dirty="0">
                <a:latin typeface="Courier New" panose="02070309020205020404" pitchFamily="49" charset="0"/>
                <a:cs typeface="Courier New" panose="02070309020205020404" pitchFamily="49" charset="0"/>
              </a:rPr>
              <a:t>0.05			</a:t>
            </a:r>
          </a:p>
          <a:p>
            <a:pPr marL="971550" lvl="1" indent="-514350" algn="just">
              <a:buFont typeface="+mj-lt"/>
              <a:buAutoNum type="alphaLcPeriod"/>
            </a:pPr>
            <a:r>
              <a:rPr lang="en-US" sz="3200" b="1" dirty="0">
                <a:solidFill>
                  <a:srgbClr val="FF0000"/>
                </a:solidFill>
                <a:latin typeface="Courier New" panose="02070309020205020404" pitchFamily="49" charset="0"/>
                <a:cs typeface="Courier New" panose="02070309020205020404" pitchFamily="49" charset="0"/>
              </a:rPr>
              <a:t>0.10</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6896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62. All of the following happens when the cetane number is too high, EXCEPT:</a:t>
            </a:r>
          </a:p>
          <a:p>
            <a:pPr marL="0" lvl="0" indent="0" algn="just">
              <a:buNone/>
            </a:pPr>
            <a:endParaRPr lang="en-US" sz="3000" dirty="0">
              <a:latin typeface="Courier New" panose="02070309020205020404" pitchFamily="49" charset="0"/>
              <a:cs typeface="Courier New" panose="02070309020205020404" pitchFamily="49" charset="0"/>
            </a:endParaRPr>
          </a:p>
          <a:p>
            <a:pPr marL="457200" lvl="1" indent="0" algn="just">
              <a:buNone/>
            </a:pPr>
            <a:r>
              <a:rPr lang="en-US" sz="3000" dirty="0">
                <a:latin typeface="Courier New" panose="02070309020205020404" pitchFamily="49" charset="0"/>
                <a:cs typeface="Courier New" panose="02070309020205020404" pitchFamily="49" charset="0"/>
              </a:rPr>
              <a:t>a. Inadequate mixing of fuel and air, hence incomplete combustion</a:t>
            </a:r>
          </a:p>
          <a:p>
            <a:pPr marL="457200" lvl="1" indent="0" algn="just">
              <a:buNone/>
            </a:pPr>
            <a:r>
              <a:rPr lang="en-US" sz="3000" dirty="0">
                <a:latin typeface="Courier New" panose="02070309020205020404" pitchFamily="49" charset="0"/>
                <a:cs typeface="Courier New" panose="02070309020205020404" pitchFamily="49" charset="0"/>
              </a:rPr>
              <a:t>b. Causes a very large, fast pressure rise at the start of combustion</a:t>
            </a:r>
          </a:p>
          <a:p>
            <a:pPr marL="457200" lvl="1" indent="0" algn="just">
              <a:buNone/>
            </a:pPr>
            <a:r>
              <a:rPr lang="en-US" sz="3000" dirty="0">
                <a:latin typeface="Courier New" panose="02070309020205020404" pitchFamily="49" charset="0"/>
                <a:cs typeface="Courier New" panose="02070309020205020404" pitchFamily="49" charset="0"/>
              </a:rPr>
              <a:t>c. results in low thermal efficiency and a rough-running engine</a:t>
            </a:r>
          </a:p>
          <a:p>
            <a:pPr marL="457200" lvl="1" indent="0" algn="just">
              <a:buNone/>
            </a:pPr>
            <a:r>
              <a:rPr lang="en-US" sz="3000" dirty="0">
                <a:latin typeface="Courier New" panose="02070309020205020404" pitchFamily="49" charset="0"/>
                <a:cs typeface="Courier New" panose="02070309020205020404" pitchFamily="49" charset="0"/>
              </a:rPr>
              <a:t>d. combustion will start too soon in the cycle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340489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62. All of the following happens when the cetane number is too high, EXCEPT:</a:t>
            </a:r>
          </a:p>
          <a:p>
            <a:pPr marL="0" lvl="0" indent="0" algn="just">
              <a:buNone/>
            </a:pPr>
            <a:endParaRPr lang="en-US" sz="3000" dirty="0">
              <a:latin typeface="Courier New" panose="02070309020205020404" pitchFamily="49" charset="0"/>
              <a:cs typeface="Courier New" panose="02070309020205020404" pitchFamily="49" charset="0"/>
            </a:endParaRPr>
          </a:p>
          <a:p>
            <a:pPr marL="457200" lvl="1" indent="0" algn="just">
              <a:buNone/>
            </a:pPr>
            <a:r>
              <a:rPr lang="en-US" sz="3000" dirty="0">
                <a:latin typeface="Courier New" panose="02070309020205020404" pitchFamily="49" charset="0"/>
                <a:cs typeface="Courier New" panose="02070309020205020404" pitchFamily="49" charset="0"/>
              </a:rPr>
              <a:t>a. Inadequate mixing of fuel and air, hence incomplete combustion</a:t>
            </a:r>
          </a:p>
          <a:p>
            <a:pPr marL="457200" lvl="1" indent="0" algn="just">
              <a:buNone/>
            </a:pPr>
            <a:r>
              <a:rPr lang="en-US" sz="3000" b="1" dirty="0">
                <a:solidFill>
                  <a:srgbClr val="FF0000"/>
                </a:solidFill>
                <a:latin typeface="Courier New" panose="02070309020205020404" pitchFamily="49" charset="0"/>
                <a:cs typeface="Courier New" panose="02070309020205020404" pitchFamily="49" charset="0"/>
              </a:rPr>
              <a:t>b. Causes a very large, fast pressure rise at the start of combustion</a:t>
            </a:r>
          </a:p>
          <a:p>
            <a:pPr marL="457200" lvl="1" indent="0" algn="just">
              <a:buNone/>
            </a:pPr>
            <a:r>
              <a:rPr lang="en-US" sz="3000" dirty="0">
                <a:latin typeface="Courier New" panose="02070309020205020404" pitchFamily="49" charset="0"/>
                <a:cs typeface="Courier New" panose="02070309020205020404" pitchFamily="49" charset="0"/>
              </a:rPr>
              <a:t>c. results in low thermal efficiency and a rough-running engine</a:t>
            </a:r>
          </a:p>
          <a:p>
            <a:pPr marL="457200" lvl="1" indent="0" algn="just">
              <a:buNone/>
            </a:pPr>
            <a:r>
              <a:rPr lang="en-US" sz="3000" dirty="0">
                <a:latin typeface="Courier New" panose="02070309020205020404" pitchFamily="49" charset="0"/>
                <a:cs typeface="Courier New" panose="02070309020205020404" pitchFamily="49" charset="0"/>
              </a:rPr>
              <a:t>d. combustion will start too soon in the cycle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5713963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63. By virtue of Executive Order No. 116, series 1987, the ___ was created to be responsible for the training of all agricultural extension workers and other AF clients.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DA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ATI		</a:t>
            </a:r>
          </a:p>
          <a:p>
            <a:pPr marL="971550" lvl="1" indent="-514350" algn="just">
              <a:buFont typeface="+mj-lt"/>
              <a:buAutoNum type="alphaLcPeriod"/>
            </a:pPr>
            <a:r>
              <a:rPr lang="en-US" sz="3600" dirty="0" err="1">
                <a:latin typeface="Courier New" panose="02070309020205020404" pitchFamily="49" charset="0"/>
                <a:cs typeface="Courier New" panose="02070309020205020404" pitchFamily="49" charset="0"/>
              </a:rPr>
              <a:t>PhilMech</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RAED    </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4127547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63. By virtue of Executive Order No. 116, series 1987, the ___ was created to be responsible for the training of all agricultural extension workers and other AF clients.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DA				</a:t>
            </a:r>
          </a:p>
          <a:p>
            <a:pPr marL="971550" lvl="1" indent="-51435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ATI</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err="1">
                <a:latin typeface="Courier New" panose="02070309020205020404" pitchFamily="49" charset="0"/>
                <a:cs typeface="Courier New" panose="02070309020205020404" pitchFamily="49" charset="0"/>
              </a:rPr>
              <a:t>PhilMech</a:t>
            </a:r>
            <a:r>
              <a:rPr lang="en-US" sz="3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3600" dirty="0">
                <a:latin typeface="Courier New" panose="02070309020205020404" pitchFamily="49" charset="0"/>
                <a:cs typeface="Courier New" panose="02070309020205020404" pitchFamily="49" charset="0"/>
              </a:rPr>
              <a:t>RAED    </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474768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720BF-CD38-4825-98A7-F47089D1C19F}"/>
              </a:ext>
            </a:extLst>
          </p:cNvPr>
          <p:cNvPicPr>
            <a:picLocks noChangeAspect="1"/>
          </p:cNvPicPr>
          <p:nvPr/>
        </p:nvPicPr>
        <p:blipFill>
          <a:blip r:embed="rId3"/>
          <a:stretch>
            <a:fillRect/>
          </a:stretch>
        </p:blipFill>
        <p:spPr>
          <a:xfrm>
            <a:off x="718387" y="1399892"/>
            <a:ext cx="10755226" cy="4058216"/>
          </a:xfrm>
          <a:prstGeom prst="rect">
            <a:avLst/>
          </a:prstGeom>
        </p:spPr>
      </p:pic>
      <p:sp>
        <p:nvSpPr>
          <p:cNvPr id="5" name="Rectangle 4">
            <a:extLst>
              <a:ext uri="{FF2B5EF4-FFF2-40B4-BE49-F238E27FC236}">
                <a16:creationId xmlns:a16="http://schemas.microsoft.com/office/drawing/2014/main" id="{F20A7177-B1CE-4D23-9E06-FD6C0B7C5BAB}"/>
              </a:ext>
            </a:extLst>
          </p:cNvPr>
          <p:cNvSpPr/>
          <p:nvPr/>
        </p:nvSpPr>
        <p:spPr>
          <a:xfrm>
            <a:off x="9016145" y="5708134"/>
            <a:ext cx="245746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dirty="0">
                <a:solidFill>
                  <a:schemeClr val="bg1"/>
                </a:solidFill>
                <a:hlinkClick r:id="rId4">
                  <a:extLst>
                    <a:ext uri="{A12FA001-AC4F-418D-AE19-62706E023703}">
                      <ahyp:hlinkClr xmlns:ahyp="http://schemas.microsoft.com/office/drawing/2018/hyperlinkcolor" val="tx"/>
                    </a:ext>
                  </a:extLst>
                </a:hlinkClick>
              </a:rPr>
              <a:t>Executive Order No. 116</a:t>
            </a:r>
            <a:endParaRPr lang="en-US" dirty="0">
              <a:solidFill>
                <a:schemeClr val="bg1"/>
              </a:solidFill>
            </a:endParaRPr>
          </a:p>
        </p:txBody>
      </p:sp>
    </p:spTree>
    <p:extLst>
      <p:ext uri="{BB962C8B-B14F-4D97-AF65-F5344CB8AC3E}">
        <p14:creationId xmlns:p14="http://schemas.microsoft.com/office/powerpoint/2010/main" val="229138379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64. Determine the minimum capacity of a standby generator if it will be used to operate the following: Belt conveyor – 5kW, Hammer mill – 8 kW, </a:t>
            </a:r>
            <a:r>
              <a:rPr lang="en-US" dirty="0" err="1">
                <a:latin typeface="Courier New" panose="02070309020205020404" pitchFamily="49" charset="0"/>
                <a:cs typeface="Courier New" panose="02070309020205020404" pitchFamily="49" charset="0"/>
              </a:rPr>
              <a:t>Siever</a:t>
            </a:r>
            <a:r>
              <a:rPr lang="en-US" dirty="0">
                <a:latin typeface="Courier New" panose="02070309020205020404" pitchFamily="49" charset="0"/>
                <a:cs typeface="Courier New" panose="02070309020205020404" pitchFamily="49" charset="0"/>
              </a:rPr>
              <a:t> – 3 kW, Electronic weighing scale – 0.2 , lights – 1 KW, and exhaust fans – 0.6 KW. Assume that the starting power is 3X the running power for each of the equipment with electric motors and all the equipment have to be operated.</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24 kW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79 kW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53 kW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36 kW</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99340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64. Determine the minimum capacity of a standby generator if it will be used to operate the following: Belt conveyor – 5Kw, Hammer mill – 8 KW, </a:t>
            </a:r>
            <a:r>
              <a:rPr lang="en-US" dirty="0" err="1">
                <a:latin typeface="Courier New" panose="02070309020205020404" pitchFamily="49" charset="0"/>
                <a:cs typeface="Courier New" panose="02070309020205020404" pitchFamily="49" charset="0"/>
              </a:rPr>
              <a:t>Siever</a:t>
            </a:r>
            <a:r>
              <a:rPr lang="en-US" dirty="0">
                <a:latin typeface="Courier New" panose="02070309020205020404" pitchFamily="49" charset="0"/>
                <a:cs typeface="Courier New" panose="02070309020205020404" pitchFamily="49" charset="0"/>
              </a:rPr>
              <a:t> – 3 KW, Electronic weighing scale – 0.2 KW, lights – 1 KW, and exhaust fans – 0.6 KW. Assume that the starting power is 3X the running power for each of the equipment with electric motors and all the equipment have to be operated.</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24 kW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79 kW		</a:t>
            </a:r>
          </a:p>
          <a:p>
            <a:pPr marL="971550" lvl="1" indent="-514350" algn="just">
              <a:buFont typeface="+mj-lt"/>
              <a:buAutoNum type="alphaLcPeriod"/>
            </a:pPr>
            <a:r>
              <a:rPr lang="en-US" sz="2800" b="1" dirty="0">
                <a:solidFill>
                  <a:srgbClr val="FF0000"/>
                </a:solidFill>
                <a:latin typeface="Courier New" panose="02070309020205020404" pitchFamily="49" charset="0"/>
                <a:cs typeface="Courier New" panose="02070309020205020404" pitchFamily="49" charset="0"/>
              </a:rPr>
              <a:t>53 kW</a:t>
            </a:r>
            <a:r>
              <a:rPr lang="en-US" sz="28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US" sz="2800" dirty="0">
                <a:latin typeface="Courier New" panose="02070309020205020404" pitchFamily="49" charset="0"/>
                <a:cs typeface="Courier New" panose="02070309020205020404" pitchFamily="49" charset="0"/>
              </a:rPr>
              <a:t>36 kW</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440227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65. Direct marketing is advisable if</a:t>
            </a:r>
          </a:p>
          <a:p>
            <a:pPr marL="0" lvl="0" indent="0">
              <a:buNone/>
            </a:pPr>
            <a:endParaRPr lang="en-US" sz="3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total sales volume is small</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market is scattered</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product commands a high value per unit</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product is highly perishable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5062183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65. Direct marketing is advisable if</a:t>
            </a:r>
          </a:p>
          <a:p>
            <a:pPr marL="0" lvl="0" indent="0">
              <a:buNone/>
            </a:pPr>
            <a:endParaRPr lang="en-US" sz="3600" dirty="0">
              <a:latin typeface="Courier New" panose="02070309020205020404" pitchFamily="49" charset="0"/>
              <a:cs typeface="Courier New" panose="02070309020205020404" pitchFamily="49" charset="0"/>
            </a:endParaRP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total sales volume is small</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market is scattered</a:t>
            </a:r>
          </a:p>
          <a:p>
            <a:pPr marL="914400" lvl="1" indent="-457200">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The product commands a high value per unit</a:t>
            </a:r>
          </a:p>
          <a:p>
            <a:pPr marL="914400" lvl="1" indent="-457200">
              <a:buFont typeface="+mj-lt"/>
              <a:buAutoNum type="alphaLcPeriod"/>
            </a:pPr>
            <a:r>
              <a:rPr lang="en-US" sz="3600" dirty="0">
                <a:latin typeface="Courier New" panose="02070309020205020404" pitchFamily="49" charset="0"/>
                <a:cs typeface="Courier New" panose="02070309020205020404" pitchFamily="49" charset="0"/>
              </a:rPr>
              <a:t>The product is highly perishable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5638478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66. It is the time needed for a mixture of fuel and oxidizer to react at a certain temperature and pressure.</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Clearance Period</a:t>
            </a:r>
          </a:p>
          <a:p>
            <a:pPr marL="457200" lvl="1" indent="0" algn="just">
              <a:buNone/>
            </a:pPr>
            <a:r>
              <a:rPr lang="en-US" sz="3600" dirty="0">
                <a:latin typeface="Courier New" panose="02070309020205020404" pitchFamily="49" charset="0"/>
                <a:cs typeface="Courier New" panose="02070309020205020404" pitchFamily="49" charset="0"/>
              </a:rPr>
              <a:t>b. Combustion Reaction Time</a:t>
            </a:r>
          </a:p>
          <a:p>
            <a:pPr marL="457200" lvl="1" indent="0" algn="just">
              <a:buNone/>
            </a:pPr>
            <a:r>
              <a:rPr lang="en-US" sz="3600" dirty="0">
                <a:latin typeface="Courier New" panose="02070309020205020404" pitchFamily="49" charset="0"/>
                <a:cs typeface="Courier New" panose="02070309020205020404" pitchFamily="49" charset="0"/>
              </a:rPr>
              <a:t>c. Mixture Period</a:t>
            </a:r>
          </a:p>
          <a:p>
            <a:pPr marL="457200" lvl="1" indent="0" algn="just">
              <a:buNone/>
            </a:pPr>
            <a:r>
              <a:rPr lang="en-US" sz="3600" dirty="0">
                <a:latin typeface="Courier New" panose="02070309020205020404" pitchFamily="49" charset="0"/>
                <a:cs typeface="Courier New" panose="02070309020205020404" pitchFamily="49" charset="0"/>
              </a:rPr>
              <a:t>d. Ignition Delay Time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285845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66. It is the time needed for a mixture of fuel and oxidizer to react at a certain temperature and pressure.</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Clearance Period</a:t>
            </a:r>
          </a:p>
          <a:p>
            <a:pPr marL="457200" lvl="1" indent="0" algn="just">
              <a:buNone/>
            </a:pPr>
            <a:r>
              <a:rPr lang="en-US" sz="3600" dirty="0">
                <a:latin typeface="Courier New" panose="02070309020205020404" pitchFamily="49" charset="0"/>
                <a:cs typeface="Courier New" panose="02070309020205020404" pitchFamily="49" charset="0"/>
              </a:rPr>
              <a:t>b. Combustion Reaction Time</a:t>
            </a:r>
          </a:p>
          <a:p>
            <a:pPr marL="457200" lvl="1" indent="0" algn="just">
              <a:buNone/>
            </a:pPr>
            <a:r>
              <a:rPr lang="en-US" sz="3600" dirty="0">
                <a:latin typeface="Courier New" panose="02070309020205020404" pitchFamily="49" charset="0"/>
                <a:cs typeface="Courier New" panose="02070309020205020404" pitchFamily="49" charset="0"/>
              </a:rPr>
              <a:t>c. Mixture Period</a:t>
            </a:r>
          </a:p>
          <a:p>
            <a:pPr marL="457200" lvl="1" indent="0" algn="just">
              <a:buNone/>
            </a:pPr>
            <a:r>
              <a:rPr lang="en-US" sz="3600" b="1" dirty="0">
                <a:solidFill>
                  <a:srgbClr val="FF0000"/>
                </a:solidFill>
                <a:latin typeface="Courier New" panose="02070309020205020404" pitchFamily="49" charset="0"/>
                <a:cs typeface="Courier New" panose="02070309020205020404" pitchFamily="49" charset="0"/>
              </a:rPr>
              <a:t>d. Ignition Delay Time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854241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67. It may be accomplished with a very heavy-duty moldboard or disc plow which inverts the soil, or with a chisel plow or subsoiler which shatters the soil.</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deep tillage</a:t>
            </a:r>
          </a:p>
          <a:p>
            <a:pPr marL="457200" lvl="1" indent="0" algn="just">
              <a:buNone/>
            </a:pPr>
            <a:r>
              <a:rPr lang="en-US" sz="3600" dirty="0">
                <a:latin typeface="Courier New" panose="02070309020205020404" pitchFamily="49" charset="0"/>
                <a:cs typeface="Courier New" panose="02070309020205020404" pitchFamily="49" charset="0"/>
              </a:rPr>
              <a:t>b. earthmoving</a:t>
            </a:r>
          </a:p>
          <a:p>
            <a:pPr marL="457200" lvl="1" indent="0" algn="just">
              <a:buNone/>
            </a:pPr>
            <a:r>
              <a:rPr lang="en-US" sz="3600" dirty="0">
                <a:latin typeface="Courier New" panose="02070309020205020404" pitchFamily="49" charset="0"/>
                <a:cs typeface="Courier New" panose="02070309020205020404" pitchFamily="49" charset="0"/>
              </a:rPr>
              <a:t>c. land forming</a:t>
            </a:r>
          </a:p>
          <a:p>
            <a:pPr marL="457200" lvl="1" indent="0" algn="just">
              <a:buNone/>
            </a:pPr>
            <a:r>
              <a:rPr lang="en-US" sz="3600" dirty="0">
                <a:latin typeface="Courier New" panose="02070309020205020404" pitchFamily="49" charset="0"/>
                <a:cs typeface="Courier New" panose="02070309020205020404" pitchFamily="49" charset="0"/>
              </a:rPr>
              <a:t>d. land grading</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4881508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67. It may be accomplished with a very heavy-duty moldboard or disc plow which inverts the soil, or with a chisel plow or subsoiler which shatters the soil.</a:t>
            </a:r>
          </a:p>
          <a:p>
            <a:pPr marL="457200" lvl="1" indent="0" algn="just">
              <a:buNone/>
            </a:pPr>
            <a:br>
              <a:rPr lang="en-US" sz="3600" dirty="0">
                <a:latin typeface="Courier New" panose="02070309020205020404" pitchFamily="49" charset="0"/>
                <a:cs typeface="Courier New" panose="02070309020205020404" pitchFamily="49" charset="0"/>
              </a:rPr>
            </a:br>
            <a:r>
              <a:rPr lang="en-US" sz="3600" b="1" dirty="0">
                <a:solidFill>
                  <a:srgbClr val="FF0000"/>
                </a:solidFill>
                <a:latin typeface="Courier New" panose="02070309020205020404" pitchFamily="49" charset="0"/>
                <a:cs typeface="Courier New" panose="02070309020205020404" pitchFamily="49" charset="0"/>
              </a:rPr>
              <a:t>a. deep tillage</a:t>
            </a:r>
          </a:p>
          <a:p>
            <a:pPr marL="457200" lvl="1" indent="0" algn="just">
              <a:buNone/>
            </a:pPr>
            <a:r>
              <a:rPr lang="en-US" sz="3600" dirty="0">
                <a:latin typeface="Courier New" panose="02070309020205020404" pitchFamily="49" charset="0"/>
                <a:cs typeface="Courier New" panose="02070309020205020404" pitchFamily="49" charset="0"/>
              </a:rPr>
              <a:t>b. earthmoving</a:t>
            </a:r>
          </a:p>
          <a:p>
            <a:pPr marL="457200" lvl="1" indent="0" algn="just">
              <a:buNone/>
            </a:pPr>
            <a:r>
              <a:rPr lang="en-US" sz="3600" dirty="0">
                <a:latin typeface="Courier New" panose="02070309020205020404" pitchFamily="49" charset="0"/>
                <a:cs typeface="Courier New" panose="02070309020205020404" pitchFamily="49" charset="0"/>
              </a:rPr>
              <a:t>c. land forming</a:t>
            </a:r>
          </a:p>
          <a:p>
            <a:pPr marL="457200" lvl="1" indent="0" algn="just">
              <a:buNone/>
            </a:pPr>
            <a:r>
              <a:rPr lang="en-US" sz="3600" dirty="0">
                <a:latin typeface="Courier New" panose="02070309020205020404" pitchFamily="49" charset="0"/>
                <a:cs typeface="Courier New" panose="02070309020205020404" pitchFamily="49" charset="0"/>
              </a:rPr>
              <a:t>d. land grading</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562568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4E9C880-DC48-4980-B18E-FF9E592F8820}"/>
              </a:ext>
            </a:extLst>
          </p:cNvPr>
          <p:cNvGrpSpPr/>
          <p:nvPr/>
        </p:nvGrpSpPr>
        <p:grpSpPr>
          <a:xfrm>
            <a:off x="1790185" y="133426"/>
            <a:ext cx="8611630" cy="6591148"/>
            <a:chOff x="996196" y="0"/>
            <a:chExt cx="8821381" cy="7558557"/>
          </a:xfrm>
        </p:grpSpPr>
        <p:pic>
          <p:nvPicPr>
            <p:cNvPr id="4" name="Picture 3">
              <a:extLst>
                <a:ext uri="{FF2B5EF4-FFF2-40B4-BE49-F238E27FC236}">
                  <a16:creationId xmlns:a16="http://schemas.microsoft.com/office/drawing/2014/main" id="{B15BF06E-ECAD-44EC-8575-FCBB3F1F433C}"/>
                </a:ext>
              </a:extLst>
            </p:cNvPr>
            <p:cNvPicPr>
              <a:picLocks noChangeAspect="1"/>
            </p:cNvPicPr>
            <p:nvPr/>
          </p:nvPicPr>
          <p:blipFill>
            <a:blip r:embed="rId2"/>
            <a:stretch>
              <a:fillRect/>
            </a:stretch>
          </p:blipFill>
          <p:spPr>
            <a:xfrm>
              <a:off x="996196" y="0"/>
              <a:ext cx="8821381" cy="1286054"/>
            </a:xfrm>
            <a:prstGeom prst="rect">
              <a:avLst/>
            </a:prstGeom>
          </p:spPr>
        </p:pic>
        <p:pic>
          <p:nvPicPr>
            <p:cNvPr id="6" name="Picture 5">
              <a:extLst>
                <a:ext uri="{FF2B5EF4-FFF2-40B4-BE49-F238E27FC236}">
                  <a16:creationId xmlns:a16="http://schemas.microsoft.com/office/drawing/2014/main" id="{C26DB31A-9005-4EB6-85C6-0FC54C0FB450}"/>
                </a:ext>
              </a:extLst>
            </p:cNvPr>
            <p:cNvPicPr>
              <a:picLocks noChangeAspect="1"/>
            </p:cNvPicPr>
            <p:nvPr/>
          </p:nvPicPr>
          <p:blipFill>
            <a:blip r:embed="rId3"/>
            <a:stretch>
              <a:fillRect/>
            </a:stretch>
          </p:blipFill>
          <p:spPr>
            <a:xfrm>
              <a:off x="996196" y="1286054"/>
              <a:ext cx="8821381" cy="2935811"/>
            </a:xfrm>
            <a:prstGeom prst="rect">
              <a:avLst/>
            </a:prstGeom>
          </p:spPr>
        </p:pic>
        <p:pic>
          <p:nvPicPr>
            <p:cNvPr id="7" name="Picture 6">
              <a:extLst>
                <a:ext uri="{FF2B5EF4-FFF2-40B4-BE49-F238E27FC236}">
                  <a16:creationId xmlns:a16="http://schemas.microsoft.com/office/drawing/2014/main" id="{82592CD7-8533-4B0B-96A7-9EFD39DB9744}"/>
                </a:ext>
              </a:extLst>
            </p:cNvPr>
            <p:cNvPicPr>
              <a:picLocks noChangeAspect="1"/>
            </p:cNvPicPr>
            <p:nvPr/>
          </p:nvPicPr>
          <p:blipFill>
            <a:blip r:embed="rId4"/>
            <a:stretch>
              <a:fillRect/>
            </a:stretch>
          </p:blipFill>
          <p:spPr>
            <a:xfrm>
              <a:off x="996196" y="4221865"/>
              <a:ext cx="8821381" cy="3336692"/>
            </a:xfrm>
            <a:prstGeom prst="rect">
              <a:avLst/>
            </a:prstGeom>
          </p:spPr>
        </p:pic>
      </p:grpSp>
      <p:sp>
        <p:nvSpPr>
          <p:cNvPr id="9" name="Rectangle 8">
            <a:extLst>
              <a:ext uri="{FF2B5EF4-FFF2-40B4-BE49-F238E27FC236}">
                <a16:creationId xmlns:a16="http://schemas.microsoft.com/office/drawing/2014/main" id="{B09B9C9F-3E01-43E5-A75F-8570F02C1280}"/>
              </a:ext>
            </a:extLst>
          </p:cNvPr>
          <p:cNvSpPr/>
          <p:nvPr/>
        </p:nvSpPr>
        <p:spPr>
          <a:xfrm>
            <a:off x="1790185" y="1524000"/>
            <a:ext cx="8506754" cy="1219200"/>
          </a:xfrm>
          <a:prstGeom prst="rect">
            <a:avLst/>
          </a:prstGeom>
          <a:solidFill>
            <a:srgbClr val="FFFF00">
              <a:alpha val="3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512358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68. If a NSK 6200 single-row deep-groove ball bearing will be used to drive a pulley that delivers 119.8kgf, how many revolutions does the bearing last if the basic dynamic load of 6200 ball bearing is 400kgf?</a:t>
            </a:r>
          </a:p>
          <a:p>
            <a:pPr marL="457200" lvl="1" indent="0" algn="just">
              <a:buNone/>
            </a:pP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a. 37.22 x 10</a:t>
            </a:r>
            <a:r>
              <a:rPr lang="en-US" sz="3200" baseline="30000" dirty="0">
                <a:latin typeface="Courier New" panose="02070309020205020404" pitchFamily="49" charset="0"/>
                <a:cs typeface="Courier New" panose="02070309020205020404" pitchFamily="49" charset="0"/>
              </a:rPr>
              <a:t>6</a:t>
            </a:r>
            <a:r>
              <a:rPr lang="en-US" sz="3200" dirty="0">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b. 14.95 x 10</a:t>
            </a:r>
            <a:r>
              <a:rPr lang="en-US" sz="3200" baseline="30000" dirty="0">
                <a:latin typeface="Courier New" panose="02070309020205020404" pitchFamily="49" charset="0"/>
                <a:cs typeface="Courier New" panose="02070309020205020404" pitchFamily="49" charset="0"/>
              </a:rPr>
              <a:t>5</a:t>
            </a:r>
            <a:r>
              <a:rPr lang="en-US" sz="3200" dirty="0">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c. 25.39 x 10</a:t>
            </a:r>
            <a:r>
              <a:rPr lang="en-US" sz="3200" baseline="30000" dirty="0">
                <a:latin typeface="Courier New" panose="02070309020205020404" pitchFamily="49" charset="0"/>
                <a:cs typeface="Courier New" panose="02070309020205020404" pitchFamily="49" charset="0"/>
              </a:rPr>
              <a:t>5</a:t>
            </a:r>
            <a:r>
              <a:rPr lang="en-US" sz="3200" dirty="0">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d. 46.33 x 10</a:t>
            </a:r>
            <a:r>
              <a:rPr lang="en-US" sz="3200" baseline="30000" dirty="0">
                <a:latin typeface="Courier New" panose="02070309020205020404" pitchFamily="49" charset="0"/>
                <a:cs typeface="Courier New" panose="02070309020205020404" pitchFamily="49" charset="0"/>
              </a:rPr>
              <a:t>6</a:t>
            </a:r>
            <a:r>
              <a:rPr lang="en-US" sz="3200" dirty="0">
                <a:latin typeface="Courier New" panose="02070309020205020404" pitchFamily="49" charset="0"/>
                <a:cs typeface="Courier New" panose="02070309020205020404" pitchFamily="49" charset="0"/>
              </a:rPr>
              <a:t> rev</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3834922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3374A8-1BCD-4BD9-88B1-FFD92B30B9E8}"/>
              </a:ext>
            </a:extLst>
          </p:cNvPr>
          <p:cNvPicPr>
            <a:picLocks noChangeAspect="1"/>
          </p:cNvPicPr>
          <p:nvPr/>
        </p:nvPicPr>
        <p:blipFill>
          <a:blip r:embed="rId2"/>
          <a:stretch>
            <a:fillRect/>
          </a:stretch>
        </p:blipFill>
        <p:spPr>
          <a:xfrm>
            <a:off x="1156598" y="1066470"/>
            <a:ext cx="9878804" cy="4725059"/>
          </a:xfrm>
          <a:prstGeom prst="rect">
            <a:avLst/>
          </a:prstGeom>
        </p:spPr>
      </p:pic>
    </p:spTree>
    <p:extLst>
      <p:ext uri="{BB962C8B-B14F-4D97-AF65-F5344CB8AC3E}">
        <p14:creationId xmlns:p14="http://schemas.microsoft.com/office/powerpoint/2010/main" val="32363027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68. If a NSK 6200 single-row deep-groove ball bearing will be used to drive a pulley that delivers 119.8kgf, how many revolutions does the bearing last if the basic dynamic load of 6200 ball bearing is 400kgf?</a:t>
            </a:r>
          </a:p>
          <a:p>
            <a:pPr marL="457200" lvl="1" indent="0" algn="just">
              <a:buNone/>
            </a:pPr>
            <a:br>
              <a:rPr lang="en-US" sz="3200" dirty="0">
                <a:latin typeface="Courier New" panose="02070309020205020404" pitchFamily="49" charset="0"/>
                <a:cs typeface="Courier New" panose="02070309020205020404" pitchFamily="49" charset="0"/>
              </a:rPr>
            </a:br>
            <a:r>
              <a:rPr lang="en-US" sz="3200" b="1" dirty="0">
                <a:solidFill>
                  <a:srgbClr val="FF0000"/>
                </a:solidFill>
                <a:latin typeface="Courier New" panose="02070309020205020404" pitchFamily="49" charset="0"/>
                <a:cs typeface="Courier New" panose="02070309020205020404" pitchFamily="49" charset="0"/>
              </a:rPr>
              <a:t>a. 37.22 x 10</a:t>
            </a:r>
            <a:r>
              <a:rPr lang="en-US" sz="3200" b="1" baseline="30000" dirty="0">
                <a:solidFill>
                  <a:srgbClr val="FF0000"/>
                </a:solidFill>
                <a:latin typeface="Courier New" panose="02070309020205020404" pitchFamily="49" charset="0"/>
                <a:cs typeface="Courier New" panose="02070309020205020404" pitchFamily="49" charset="0"/>
              </a:rPr>
              <a:t>6</a:t>
            </a:r>
            <a:r>
              <a:rPr lang="en-US" sz="3200" b="1" dirty="0">
                <a:solidFill>
                  <a:srgbClr val="FF0000"/>
                </a:solidFill>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b. 14.95 x 10</a:t>
            </a:r>
            <a:r>
              <a:rPr lang="en-US" sz="3200" baseline="30000" dirty="0">
                <a:latin typeface="Courier New" panose="02070309020205020404" pitchFamily="49" charset="0"/>
                <a:cs typeface="Courier New" panose="02070309020205020404" pitchFamily="49" charset="0"/>
              </a:rPr>
              <a:t>5</a:t>
            </a:r>
            <a:r>
              <a:rPr lang="en-US" sz="3200" dirty="0">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c. 25.39 x 10</a:t>
            </a:r>
            <a:r>
              <a:rPr lang="en-US" sz="3200" baseline="30000" dirty="0">
                <a:latin typeface="Courier New" panose="02070309020205020404" pitchFamily="49" charset="0"/>
                <a:cs typeface="Courier New" panose="02070309020205020404" pitchFamily="49" charset="0"/>
              </a:rPr>
              <a:t>5</a:t>
            </a:r>
            <a:r>
              <a:rPr lang="en-US" sz="3200" dirty="0">
                <a:latin typeface="Courier New" panose="02070309020205020404" pitchFamily="49" charset="0"/>
                <a:cs typeface="Courier New" panose="02070309020205020404" pitchFamily="49" charset="0"/>
              </a:rPr>
              <a:t> rev</a:t>
            </a:r>
          </a:p>
          <a:p>
            <a:pPr marL="457200" lvl="1" indent="0" algn="just">
              <a:buNone/>
            </a:pPr>
            <a:r>
              <a:rPr lang="en-US" sz="3200" dirty="0">
                <a:latin typeface="Courier New" panose="02070309020205020404" pitchFamily="49" charset="0"/>
                <a:cs typeface="Courier New" panose="02070309020205020404" pitchFamily="49" charset="0"/>
              </a:rPr>
              <a:t>d. 46.33 x 10</a:t>
            </a:r>
            <a:r>
              <a:rPr lang="en-US" sz="3200" baseline="30000" dirty="0">
                <a:latin typeface="Courier New" panose="02070309020205020404" pitchFamily="49" charset="0"/>
                <a:cs typeface="Courier New" panose="02070309020205020404" pitchFamily="49" charset="0"/>
              </a:rPr>
              <a:t>6</a:t>
            </a:r>
            <a:r>
              <a:rPr lang="en-US" sz="3200" dirty="0">
                <a:latin typeface="Courier New" panose="02070309020205020404" pitchFamily="49" charset="0"/>
                <a:cs typeface="Courier New" panose="02070309020205020404" pitchFamily="49" charset="0"/>
              </a:rPr>
              <a:t> rev</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9003946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69. This occurs when fuel is injected into heated air and is burned as the surface of the stream, or droplets contact the air.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Combustion by explosion</a:t>
            </a:r>
          </a:p>
          <a:p>
            <a:pPr marL="457200" lvl="1" indent="0" algn="just">
              <a:buNone/>
            </a:pPr>
            <a:r>
              <a:rPr lang="en-US" sz="3600" dirty="0">
                <a:latin typeface="Courier New" panose="02070309020205020404" pitchFamily="49" charset="0"/>
                <a:cs typeface="Courier New" panose="02070309020205020404" pitchFamily="49" charset="0"/>
              </a:rPr>
              <a:t>b. Detonation</a:t>
            </a:r>
          </a:p>
          <a:p>
            <a:pPr marL="457200" lvl="1" indent="0" algn="just">
              <a:buNone/>
            </a:pPr>
            <a:r>
              <a:rPr lang="en-US" sz="3600" dirty="0">
                <a:latin typeface="Courier New" panose="02070309020205020404" pitchFamily="49" charset="0"/>
                <a:cs typeface="Courier New" panose="02070309020205020404" pitchFamily="49" charset="0"/>
              </a:rPr>
              <a:t>c. Knocking</a:t>
            </a:r>
          </a:p>
          <a:p>
            <a:pPr marL="457200" lvl="1" indent="0" algn="just">
              <a:buNone/>
            </a:pPr>
            <a:r>
              <a:rPr lang="en-US" sz="3600" dirty="0">
                <a:latin typeface="Courier New" panose="02070309020205020404" pitchFamily="49" charset="0"/>
                <a:cs typeface="Courier New" panose="02070309020205020404" pitchFamily="49" charset="0"/>
              </a:rPr>
              <a:t>d. Boundary combustion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885492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69. This occurs when fuel is injected into heated air and is burned as the surface of the stream, or droplets contact the air.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Combustion by explosion</a:t>
            </a:r>
          </a:p>
          <a:p>
            <a:pPr marL="457200" lvl="1" indent="0" algn="just">
              <a:buNone/>
            </a:pPr>
            <a:r>
              <a:rPr lang="en-US" sz="3600" dirty="0">
                <a:latin typeface="Courier New" panose="02070309020205020404" pitchFamily="49" charset="0"/>
                <a:cs typeface="Courier New" panose="02070309020205020404" pitchFamily="49" charset="0"/>
              </a:rPr>
              <a:t>b. Detonation</a:t>
            </a:r>
          </a:p>
          <a:p>
            <a:pPr marL="457200" lvl="1" indent="0" algn="just">
              <a:buNone/>
            </a:pPr>
            <a:r>
              <a:rPr lang="en-US" sz="3600" dirty="0">
                <a:latin typeface="Courier New" panose="02070309020205020404" pitchFamily="49" charset="0"/>
                <a:cs typeface="Courier New" panose="02070309020205020404" pitchFamily="49" charset="0"/>
              </a:rPr>
              <a:t>c. Knocking</a:t>
            </a:r>
          </a:p>
          <a:p>
            <a:pPr marL="457200" lvl="1" indent="0" algn="just">
              <a:buNone/>
            </a:pPr>
            <a:r>
              <a:rPr lang="en-US" sz="3600" b="1" dirty="0">
                <a:solidFill>
                  <a:srgbClr val="FF0000"/>
                </a:solidFill>
                <a:latin typeface="Courier New" panose="02070309020205020404" pitchFamily="49" charset="0"/>
                <a:cs typeface="Courier New" panose="02070309020205020404" pitchFamily="49" charset="0"/>
              </a:rPr>
              <a:t>d. Boundary combustion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39872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70. It prevents dangerous parts from being reached and protects the operator against accidents or hazards.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Shield or cover		</a:t>
            </a:r>
          </a:p>
          <a:p>
            <a:pPr marL="971550" lvl="1" indent="-514350" algn="just">
              <a:buAutoNum type="alphaLcPeriod"/>
            </a:pPr>
            <a:r>
              <a:rPr lang="en-US" sz="3600" dirty="0">
                <a:latin typeface="Courier New" panose="02070309020205020404" pitchFamily="49" charset="0"/>
                <a:cs typeface="Courier New" panose="02070309020205020404" pitchFamily="49" charset="0"/>
              </a:rPr>
              <a:t>Guard		</a:t>
            </a:r>
          </a:p>
          <a:p>
            <a:pPr marL="971550" lvl="1" indent="-514350" algn="just">
              <a:buAutoNum type="alphaLcPeriod"/>
            </a:pPr>
            <a:r>
              <a:rPr lang="en-US" sz="3600" dirty="0">
                <a:latin typeface="Courier New" panose="02070309020205020404" pitchFamily="49" charset="0"/>
                <a:cs typeface="Courier New" panose="02070309020205020404" pitchFamily="49" charset="0"/>
              </a:rPr>
              <a:t>Casing		</a:t>
            </a:r>
          </a:p>
          <a:p>
            <a:pPr marL="971550" lvl="1" indent="-514350" algn="just">
              <a:buAutoNum type="alphaLcPeriod"/>
            </a:pPr>
            <a:r>
              <a:rPr lang="en-US" sz="3600" dirty="0">
                <a:latin typeface="Courier New" panose="02070309020205020404" pitchFamily="49" charset="0"/>
                <a:cs typeface="Courier New" panose="02070309020205020404" pitchFamily="49" charset="0"/>
              </a:rPr>
              <a:t>Enclosure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345330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70. It prevents dangerous parts from being reached and protects the operator against accidents or hazards.</a:t>
            </a:r>
          </a:p>
          <a:p>
            <a:pPr mar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b="1" dirty="0">
                <a:solidFill>
                  <a:srgbClr val="FF0000"/>
                </a:solidFill>
                <a:latin typeface="Courier New" panose="02070309020205020404" pitchFamily="49" charset="0"/>
                <a:cs typeface="Courier New" panose="02070309020205020404" pitchFamily="49" charset="0"/>
              </a:rPr>
              <a:t>Shield or cover</a:t>
            </a:r>
            <a:r>
              <a:rPr lang="en-US" sz="3600" dirty="0">
                <a:latin typeface="Courier New" panose="02070309020205020404" pitchFamily="49" charset="0"/>
                <a:cs typeface="Courier New" panose="02070309020205020404" pitchFamily="49" charset="0"/>
              </a:rPr>
              <a:t>		</a:t>
            </a:r>
          </a:p>
          <a:p>
            <a:pPr marL="971550" lvl="1" indent="-514350" algn="just">
              <a:buAutoNum type="alphaLcPeriod"/>
            </a:pPr>
            <a:r>
              <a:rPr lang="en-US" sz="3600" dirty="0">
                <a:latin typeface="Courier New" panose="02070309020205020404" pitchFamily="49" charset="0"/>
                <a:cs typeface="Courier New" panose="02070309020205020404" pitchFamily="49" charset="0"/>
              </a:rPr>
              <a:t>Guard		</a:t>
            </a:r>
          </a:p>
          <a:p>
            <a:pPr marL="971550" lvl="1" indent="-514350" algn="just">
              <a:buAutoNum type="alphaLcPeriod"/>
            </a:pPr>
            <a:r>
              <a:rPr lang="en-US" sz="3600" dirty="0">
                <a:latin typeface="Courier New" panose="02070309020205020404" pitchFamily="49" charset="0"/>
                <a:cs typeface="Courier New" panose="02070309020205020404" pitchFamily="49" charset="0"/>
              </a:rPr>
              <a:t>Casing		</a:t>
            </a:r>
          </a:p>
          <a:p>
            <a:pPr marL="971550" lvl="1" indent="-514350" algn="just">
              <a:buAutoNum type="alphaLcPeriod"/>
            </a:pPr>
            <a:r>
              <a:rPr lang="en-US" sz="3600" dirty="0">
                <a:latin typeface="Courier New" panose="02070309020205020404" pitchFamily="49" charset="0"/>
                <a:cs typeface="Courier New" panose="02070309020205020404" pitchFamily="49" charset="0"/>
              </a:rPr>
              <a:t>Enclosure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036706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487622-694C-4563-B515-3CFA8C7ACCC2}"/>
              </a:ext>
            </a:extLst>
          </p:cNvPr>
          <p:cNvPicPr>
            <a:picLocks noChangeAspect="1"/>
          </p:cNvPicPr>
          <p:nvPr/>
        </p:nvPicPr>
        <p:blipFill>
          <a:blip r:embed="rId2"/>
          <a:stretch>
            <a:fillRect/>
          </a:stretch>
        </p:blipFill>
        <p:spPr>
          <a:xfrm>
            <a:off x="905427" y="830926"/>
            <a:ext cx="10381145" cy="5196148"/>
          </a:xfrm>
          <a:prstGeom prst="rect">
            <a:avLst/>
          </a:prstGeom>
        </p:spPr>
      </p:pic>
    </p:spTree>
    <p:extLst>
      <p:ext uri="{BB962C8B-B14F-4D97-AF65-F5344CB8AC3E}">
        <p14:creationId xmlns:p14="http://schemas.microsoft.com/office/powerpoint/2010/main" val="310439771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760F-509D-4724-B122-AB398EA63FBD}"/>
              </a:ext>
            </a:extLst>
          </p:cNvPr>
          <p:cNvPicPr>
            <a:picLocks noChangeAspect="1"/>
          </p:cNvPicPr>
          <p:nvPr/>
        </p:nvPicPr>
        <p:blipFill>
          <a:blip r:embed="rId2"/>
          <a:stretch>
            <a:fillRect/>
          </a:stretch>
        </p:blipFill>
        <p:spPr>
          <a:xfrm>
            <a:off x="516178" y="1198230"/>
            <a:ext cx="11159643" cy="4461540"/>
          </a:xfrm>
          <a:prstGeom prst="rect">
            <a:avLst/>
          </a:prstGeom>
        </p:spPr>
      </p:pic>
    </p:spTree>
    <p:extLst>
      <p:ext uri="{BB962C8B-B14F-4D97-AF65-F5344CB8AC3E}">
        <p14:creationId xmlns:p14="http://schemas.microsoft.com/office/powerpoint/2010/main" val="20205615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F5F446-9F92-4B6D-839F-25919275797E}"/>
              </a:ext>
            </a:extLst>
          </p:cNvPr>
          <p:cNvPicPr>
            <a:picLocks noChangeAspect="1"/>
          </p:cNvPicPr>
          <p:nvPr/>
        </p:nvPicPr>
        <p:blipFill>
          <a:blip r:embed="rId2"/>
          <a:stretch>
            <a:fillRect/>
          </a:stretch>
        </p:blipFill>
        <p:spPr>
          <a:xfrm>
            <a:off x="274067" y="2363464"/>
            <a:ext cx="11643865" cy="1836571"/>
          </a:xfrm>
          <a:prstGeom prst="rect">
            <a:avLst/>
          </a:prstGeom>
        </p:spPr>
      </p:pic>
    </p:spTree>
    <p:extLst>
      <p:ext uri="{BB962C8B-B14F-4D97-AF65-F5344CB8AC3E}">
        <p14:creationId xmlns:p14="http://schemas.microsoft.com/office/powerpoint/2010/main" val="246612473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71. This Act shall be known as the "Sugarcane Industry Development Act of 2015".</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RA 6541		</a:t>
            </a:r>
          </a:p>
          <a:p>
            <a:pPr marL="971550" lvl="1" indent="-514350" algn="just">
              <a:buAutoNum type="alphaLcPeriod"/>
            </a:pPr>
            <a:r>
              <a:rPr lang="en-US" sz="3600" dirty="0">
                <a:latin typeface="Courier New" panose="02070309020205020404" pitchFamily="49" charset="0"/>
                <a:cs typeface="Courier New" panose="02070309020205020404" pitchFamily="49" charset="0"/>
              </a:rPr>
              <a:t>RA 10912			</a:t>
            </a:r>
          </a:p>
          <a:p>
            <a:pPr marL="971550" lvl="1" indent="-514350" algn="just">
              <a:buAutoNum type="alphaLcPeriod"/>
            </a:pPr>
            <a:r>
              <a:rPr lang="en-US" sz="3600" dirty="0">
                <a:latin typeface="Courier New" panose="02070309020205020404" pitchFamily="49" charset="0"/>
                <a:cs typeface="Courier New" panose="02070309020205020404" pitchFamily="49" charset="0"/>
              </a:rPr>
              <a:t>RA 10659		</a:t>
            </a:r>
          </a:p>
          <a:p>
            <a:pPr marL="971550" lvl="1" indent="-514350" algn="just">
              <a:buAutoNum type="alphaLcPeriod"/>
            </a:pPr>
            <a:r>
              <a:rPr lang="en-US" sz="3600" dirty="0">
                <a:latin typeface="Courier New" panose="02070309020205020404" pitchFamily="49" charset="0"/>
                <a:cs typeface="Courier New" panose="02070309020205020404" pitchFamily="49" charset="0"/>
              </a:rPr>
              <a:t>RA 11285</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1614570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71. This Act shall be known as the "Sugarcane Industry Development Act of 2015".</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RA 6541		</a:t>
            </a:r>
          </a:p>
          <a:p>
            <a:pPr marL="971550" lvl="1" indent="-514350" algn="just">
              <a:buAutoNum type="alphaLcPeriod"/>
            </a:pPr>
            <a:r>
              <a:rPr lang="en-US" sz="3600" dirty="0">
                <a:latin typeface="Courier New" panose="02070309020205020404" pitchFamily="49" charset="0"/>
                <a:cs typeface="Courier New" panose="02070309020205020404" pitchFamily="49" charset="0"/>
              </a:rPr>
              <a:t>RA 10912			</a:t>
            </a:r>
          </a:p>
          <a:p>
            <a:pPr marL="971550" lvl="1" indent="-514350" algn="just">
              <a:buAutoNum type="alphaLcPeriod"/>
            </a:pPr>
            <a:r>
              <a:rPr lang="en-US" sz="3600" b="1" dirty="0">
                <a:solidFill>
                  <a:srgbClr val="FF0000"/>
                </a:solidFill>
                <a:latin typeface="Courier New" panose="02070309020205020404" pitchFamily="49" charset="0"/>
                <a:cs typeface="Courier New" panose="02070309020205020404" pitchFamily="49" charset="0"/>
              </a:rPr>
              <a:t>RA 10659</a:t>
            </a:r>
            <a:r>
              <a:rPr lang="en-US" sz="3600" dirty="0">
                <a:latin typeface="Courier New" panose="02070309020205020404" pitchFamily="49" charset="0"/>
                <a:cs typeface="Courier New" panose="02070309020205020404" pitchFamily="49" charset="0"/>
              </a:rPr>
              <a:t>		</a:t>
            </a:r>
          </a:p>
          <a:p>
            <a:pPr marL="971550" lvl="1" indent="-514350" algn="just">
              <a:buAutoNum type="alphaLcPeriod"/>
            </a:pPr>
            <a:r>
              <a:rPr lang="en-US" sz="3600" dirty="0">
                <a:latin typeface="Courier New" panose="02070309020205020404" pitchFamily="49" charset="0"/>
                <a:cs typeface="Courier New" panose="02070309020205020404" pitchFamily="49" charset="0"/>
              </a:rPr>
              <a:t>RA 11285</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3552530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72. All of the following refers to a group of 2 or more ABE which is registered with the SEC for the purpose of engaging in the practice of Agricultural and Biosystems Engineering, EXCEPT: </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Firm			</a:t>
            </a:r>
          </a:p>
          <a:p>
            <a:pPr marL="971550" lvl="1" indent="-514350" algn="just">
              <a:buAutoNum type="alphaLcPeriod"/>
            </a:pPr>
            <a:r>
              <a:rPr lang="en-US" sz="3200" dirty="0">
                <a:latin typeface="Courier New" panose="02070309020205020404" pitchFamily="49" charset="0"/>
                <a:cs typeface="Courier New" panose="02070309020205020404" pitchFamily="49" charset="0"/>
              </a:rPr>
              <a:t>Partnership			</a:t>
            </a:r>
          </a:p>
          <a:p>
            <a:pPr marL="971550" lvl="1" indent="-514350" algn="just">
              <a:buAutoNum type="alphaLcPeriod"/>
            </a:pPr>
            <a:r>
              <a:rPr lang="en-US" sz="3200" dirty="0">
                <a:latin typeface="Courier New" panose="02070309020205020404" pitchFamily="49" charset="0"/>
                <a:cs typeface="Courier New" panose="02070309020205020404" pitchFamily="49" charset="0"/>
              </a:rPr>
              <a:t>Association		</a:t>
            </a:r>
          </a:p>
          <a:p>
            <a:pPr marL="971550" lvl="1" indent="-514350" algn="just">
              <a:buAutoNum type="alphaLcPeriod"/>
            </a:pPr>
            <a:r>
              <a:rPr lang="en-US" sz="3200" dirty="0">
                <a:latin typeface="Courier New" panose="02070309020205020404" pitchFamily="49" charset="0"/>
                <a:cs typeface="Courier New" panose="02070309020205020404" pitchFamily="49" charset="0"/>
              </a:rPr>
              <a:t>Employer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476559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72. All of the following refers to a group of 2 or more ABE which is registered with the SEC for the purpose of engaging in the practice of Agricultural and Biosystems Engineering, EXCEPT: </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Firm			</a:t>
            </a:r>
          </a:p>
          <a:p>
            <a:pPr marL="971550" lvl="1" indent="-514350" algn="just">
              <a:buAutoNum type="alphaLcPeriod"/>
            </a:pPr>
            <a:r>
              <a:rPr lang="en-US" sz="3200" dirty="0">
                <a:latin typeface="Courier New" panose="02070309020205020404" pitchFamily="49" charset="0"/>
                <a:cs typeface="Courier New" panose="02070309020205020404" pitchFamily="49" charset="0"/>
              </a:rPr>
              <a:t>Partnership			</a:t>
            </a:r>
          </a:p>
          <a:p>
            <a:pPr marL="971550" lvl="1" indent="-514350" algn="just">
              <a:buAutoNum type="alphaLcPeriod"/>
            </a:pPr>
            <a:r>
              <a:rPr lang="en-US" sz="3200" dirty="0">
                <a:latin typeface="Courier New" panose="02070309020205020404" pitchFamily="49" charset="0"/>
                <a:cs typeface="Courier New" panose="02070309020205020404" pitchFamily="49" charset="0"/>
              </a:rPr>
              <a:t>Association		</a:t>
            </a:r>
          </a:p>
          <a:p>
            <a:pPr marL="971550" lvl="1" indent="-514350" algn="just">
              <a:buAutoNum type="alphaLcPeriod"/>
            </a:pPr>
            <a:r>
              <a:rPr lang="en-US" sz="3200" b="1" dirty="0">
                <a:solidFill>
                  <a:srgbClr val="FF0000"/>
                </a:solidFill>
                <a:latin typeface="Courier New" panose="02070309020205020404" pitchFamily="49" charset="0"/>
                <a:cs typeface="Courier New" panose="02070309020205020404" pitchFamily="49" charset="0"/>
              </a:rPr>
              <a:t>Employer</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2536604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73. When the piston rings’ gaps are facing in the same direction, this may result in: </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US" sz="3600" dirty="0">
                <a:latin typeface="Courier New" panose="02070309020205020404" pitchFamily="49" charset="0"/>
                <a:cs typeface="Courier New" panose="02070309020205020404" pitchFamily="49" charset="0"/>
              </a:rPr>
              <a:t>a. Engine fails to develop full power</a:t>
            </a:r>
          </a:p>
          <a:p>
            <a:pPr marL="457200" lvl="1" indent="0" algn="just">
              <a:buNone/>
            </a:pPr>
            <a:r>
              <a:rPr lang="en-US" sz="3600" dirty="0">
                <a:latin typeface="Courier New" panose="02070309020205020404" pitchFamily="49" charset="0"/>
                <a:cs typeface="Courier New" panose="02070309020205020404" pitchFamily="49" charset="0"/>
              </a:rPr>
              <a:t>b. Engine knocking</a:t>
            </a:r>
          </a:p>
          <a:p>
            <a:pPr marL="457200" lvl="1" indent="0" algn="just">
              <a:buNone/>
            </a:pPr>
            <a:r>
              <a:rPr lang="en-US" sz="3600" dirty="0">
                <a:latin typeface="Courier New" panose="02070309020205020404" pitchFamily="49" charset="0"/>
                <a:cs typeface="Courier New" panose="02070309020205020404" pitchFamily="49" charset="0"/>
              </a:rPr>
              <a:t>c. Excessive oil consumption</a:t>
            </a:r>
          </a:p>
          <a:p>
            <a:pPr marL="457200" lvl="1" indent="0" algn="just">
              <a:buNone/>
            </a:pPr>
            <a:r>
              <a:rPr lang="en-US" sz="3600" dirty="0">
                <a:latin typeface="Courier New" panose="02070309020205020404" pitchFamily="49" charset="0"/>
                <a:cs typeface="Courier New" panose="02070309020205020404" pitchFamily="49" charset="0"/>
              </a:rPr>
              <a:t>d. Excessive fuel consumption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143710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73. When the piston rings’ gaps are facing in the same direction, this may result in: </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US" sz="3600" dirty="0">
                <a:latin typeface="Courier New" panose="02070309020205020404" pitchFamily="49" charset="0"/>
                <a:cs typeface="Courier New" panose="02070309020205020404" pitchFamily="49" charset="0"/>
              </a:rPr>
              <a:t>a. Engine fails to develop full power</a:t>
            </a:r>
          </a:p>
          <a:p>
            <a:pPr marL="457200" lvl="1" indent="0" algn="just">
              <a:buNone/>
            </a:pPr>
            <a:r>
              <a:rPr lang="en-US" sz="3600" dirty="0">
                <a:latin typeface="Courier New" panose="02070309020205020404" pitchFamily="49" charset="0"/>
                <a:cs typeface="Courier New" panose="02070309020205020404" pitchFamily="49" charset="0"/>
              </a:rPr>
              <a:t>b. Engine knocking</a:t>
            </a:r>
          </a:p>
          <a:p>
            <a:pPr marL="457200" lvl="1" indent="0" algn="just">
              <a:buNone/>
            </a:pPr>
            <a:r>
              <a:rPr lang="en-US" sz="3600" b="1" dirty="0">
                <a:solidFill>
                  <a:srgbClr val="FF0000"/>
                </a:solidFill>
                <a:latin typeface="Courier New" panose="02070309020205020404" pitchFamily="49" charset="0"/>
                <a:cs typeface="Courier New" panose="02070309020205020404" pitchFamily="49" charset="0"/>
              </a:rPr>
              <a:t>c. Excessive oil consumption</a:t>
            </a:r>
          </a:p>
          <a:p>
            <a:pPr marL="457200" lvl="1" indent="0" algn="just">
              <a:buNone/>
            </a:pPr>
            <a:r>
              <a:rPr lang="en-US" sz="3600" dirty="0">
                <a:latin typeface="Courier New" panose="02070309020205020404" pitchFamily="49" charset="0"/>
                <a:cs typeface="Courier New" panose="02070309020205020404" pitchFamily="49" charset="0"/>
              </a:rPr>
              <a:t>d. Excessive fuel consumption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5186518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74. Walking-Type Agricultural Tractor — Specifications — Part 1: Pull-type</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US" sz="3600" dirty="0">
                <a:latin typeface="Courier New" panose="02070309020205020404" pitchFamily="49" charset="0"/>
                <a:cs typeface="Courier New" panose="02070309020205020404" pitchFamily="49" charset="0"/>
              </a:rPr>
              <a:t>a. PNS/BAFS 345:2022</a:t>
            </a:r>
          </a:p>
          <a:p>
            <a:pPr marL="457200" lvl="1" indent="0" algn="just">
              <a:buNone/>
            </a:pPr>
            <a:r>
              <a:rPr lang="en-US" sz="3600" dirty="0">
                <a:latin typeface="Courier New" panose="02070309020205020404" pitchFamily="49" charset="0"/>
                <a:cs typeface="Courier New" panose="02070309020205020404" pitchFamily="49" charset="0"/>
              </a:rPr>
              <a:t>b. PNS/BAFS 346:2022</a:t>
            </a:r>
          </a:p>
          <a:p>
            <a:pPr marL="457200" lvl="1" indent="0" algn="just">
              <a:buNone/>
            </a:pPr>
            <a:r>
              <a:rPr lang="en-US" sz="3600" dirty="0">
                <a:latin typeface="Courier New" panose="02070309020205020404" pitchFamily="49" charset="0"/>
                <a:cs typeface="Courier New" panose="02070309020205020404" pitchFamily="49" charset="0"/>
              </a:rPr>
              <a:t>c. PNS/BAFS 347:2022</a:t>
            </a:r>
          </a:p>
          <a:p>
            <a:pPr marL="457200" lvl="1" indent="0" algn="just">
              <a:buNone/>
            </a:pPr>
            <a:r>
              <a:rPr lang="en-US" sz="3600" dirty="0">
                <a:latin typeface="Courier New" panose="02070309020205020404" pitchFamily="49" charset="0"/>
                <a:cs typeface="Courier New" panose="02070309020205020404" pitchFamily="49" charset="0"/>
              </a:rPr>
              <a:t>d. PNS/BAFS 348:2022</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33408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74. Walking-Type Agricultural Tractor — Specifications — Part 1: Pull-type</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US" sz="3600" b="1" dirty="0">
                <a:solidFill>
                  <a:srgbClr val="FF0000"/>
                </a:solidFill>
                <a:latin typeface="Courier New" panose="02070309020205020404" pitchFamily="49" charset="0"/>
                <a:cs typeface="Courier New" panose="02070309020205020404" pitchFamily="49" charset="0"/>
              </a:rPr>
              <a:t>a. PNS/BAFS 345:2022</a:t>
            </a:r>
          </a:p>
          <a:p>
            <a:pPr marL="457200" lvl="1" indent="0" algn="just">
              <a:buNone/>
            </a:pPr>
            <a:r>
              <a:rPr lang="en-US" sz="3600" dirty="0">
                <a:latin typeface="Courier New" panose="02070309020205020404" pitchFamily="49" charset="0"/>
                <a:cs typeface="Courier New" panose="02070309020205020404" pitchFamily="49" charset="0"/>
              </a:rPr>
              <a:t>b. PNS/BAFS 346:2022</a:t>
            </a:r>
          </a:p>
          <a:p>
            <a:pPr marL="457200" lvl="1" indent="0" algn="just">
              <a:buNone/>
            </a:pPr>
            <a:r>
              <a:rPr lang="en-US" sz="3600" dirty="0">
                <a:latin typeface="Courier New" panose="02070309020205020404" pitchFamily="49" charset="0"/>
                <a:cs typeface="Courier New" panose="02070309020205020404" pitchFamily="49" charset="0"/>
              </a:rPr>
              <a:t>c. PNS/BAFS 347:2022</a:t>
            </a:r>
          </a:p>
          <a:p>
            <a:pPr marL="457200" lvl="1" indent="0" algn="just">
              <a:buNone/>
            </a:pPr>
            <a:r>
              <a:rPr lang="en-US" sz="3600" dirty="0">
                <a:latin typeface="Courier New" panose="02070309020205020404" pitchFamily="49" charset="0"/>
                <a:cs typeface="Courier New" panose="02070309020205020404" pitchFamily="49" charset="0"/>
              </a:rPr>
              <a:t>d. PNS/BAFS 348:2022</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30997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75. This is when products are made available where they are most wanted.</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Form			</a:t>
            </a:r>
          </a:p>
          <a:p>
            <a:pPr marL="971550" lvl="1" indent="-514350" algn="just">
              <a:buAutoNum type="alphaLcPeriod"/>
            </a:pPr>
            <a:r>
              <a:rPr lang="en-US" sz="3600" dirty="0">
                <a:latin typeface="Courier New" panose="02070309020205020404" pitchFamily="49" charset="0"/>
                <a:cs typeface="Courier New" panose="02070309020205020404" pitchFamily="49" charset="0"/>
              </a:rPr>
              <a:t>Time		</a:t>
            </a:r>
          </a:p>
          <a:p>
            <a:pPr marL="971550" lvl="1" indent="-514350" algn="just">
              <a:buAutoNum type="alphaLcPeriod"/>
            </a:pPr>
            <a:r>
              <a:rPr lang="en-US" sz="3600" dirty="0">
                <a:latin typeface="Courier New" panose="02070309020205020404" pitchFamily="49" charset="0"/>
                <a:cs typeface="Courier New" panose="02070309020205020404" pitchFamily="49" charset="0"/>
              </a:rPr>
              <a:t>Place 		</a:t>
            </a:r>
          </a:p>
          <a:p>
            <a:pPr marL="971550" lvl="1" indent="-514350" algn="just">
              <a:buAutoNum type="alphaLcPeriod"/>
            </a:pPr>
            <a:r>
              <a:rPr lang="en-US" sz="3600" dirty="0">
                <a:latin typeface="Courier New" panose="02070309020205020404" pitchFamily="49" charset="0"/>
                <a:cs typeface="Courier New" panose="02070309020205020404" pitchFamily="49" charset="0"/>
              </a:rPr>
              <a:t>Possession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511056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75. This is when products are made available </a:t>
            </a:r>
            <a:r>
              <a:rPr lang="en-US" sz="3600" b="1" dirty="0">
                <a:latin typeface="Courier New" panose="02070309020205020404" pitchFamily="49" charset="0"/>
                <a:cs typeface="Courier New" panose="02070309020205020404" pitchFamily="49" charset="0"/>
              </a:rPr>
              <a:t>where</a:t>
            </a:r>
            <a:r>
              <a:rPr lang="en-US" sz="3600" dirty="0">
                <a:latin typeface="Courier New" panose="02070309020205020404" pitchFamily="49" charset="0"/>
                <a:cs typeface="Courier New" panose="02070309020205020404" pitchFamily="49" charset="0"/>
              </a:rPr>
              <a:t> they are most wanted.</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Form			</a:t>
            </a:r>
          </a:p>
          <a:p>
            <a:pPr marL="971550" lvl="1" indent="-514350" algn="just">
              <a:buAutoNum type="alphaLcPeriod"/>
            </a:pPr>
            <a:r>
              <a:rPr lang="en-US" sz="3600" dirty="0">
                <a:latin typeface="Courier New" panose="02070309020205020404" pitchFamily="49" charset="0"/>
                <a:cs typeface="Courier New" panose="02070309020205020404" pitchFamily="49" charset="0"/>
              </a:rPr>
              <a:t>Time		</a:t>
            </a:r>
          </a:p>
          <a:p>
            <a:pPr marL="971550" lvl="1" indent="-514350" algn="just">
              <a:buAutoNum type="alphaLcPeriod"/>
            </a:pPr>
            <a:r>
              <a:rPr lang="en-US" sz="3600" b="1" dirty="0">
                <a:solidFill>
                  <a:srgbClr val="FF0000"/>
                </a:solidFill>
                <a:latin typeface="Courier New" panose="02070309020205020404" pitchFamily="49" charset="0"/>
                <a:cs typeface="Courier New" panose="02070309020205020404" pitchFamily="49" charset="0"/>
              </a:rPr>
              <a:t>Place</a:t>
            </a:r>
            <a:r>
              <a:rPr lang="en-US" sz="3600" dirty="0">
                <a:latin typeface="Courier New" panose="02070309020205020404" pitchFamily="49" charset="0"/>
                <a:cs typeface="Courier New" panose="02070309020205020404" pitchFamily="49" charset="0"/>
              </a:rPr>
              <a:t> 		</a:t>
            </a:r>
          </a:p>
          <a:p>
            <a:pPr marL="971550" lvl="1" indent="-514350" algn="just">
              <a:buAutoNum type="alphaLcPeriod"/>
            </a:pPr>
            <a:r>
              <a:rPr lang="en-US" sz="3600" dirty="0">
                <a:latin typeface="Courier New" panose="02070309020205020404" pitchFamily="49" charset="0"/>
                <a:cs typeface="Courier New" panose="02070309020205020404" pitchFamily="49" charset="0"/>
              </a:rPr>
              <a:t>Possession</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7968905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76. The Defects Liability Period shall be _____ from project completion up to final acceptance by the Government.</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AutoNum type="alphaLcPeriod"/>
            </a:pPr>
            <a:r>
              <a:rPr lang="en-US" sz="3600" dirty="0">
                <a:latin typeface="Courier New" panose="02070309020205020404" pitchFamily="49" charset="0"/>
                <a:cs typeface="Courier New" panose="02070309020205020404" pitchFamily="49" charset="0"/>
              </a:rPr>
              <a:t>3 months		</a:t>
            </a:r>
          </a:p>
          <a:p>
            <a:pPr marL="971550" lvl="1" indent="-514350">
              <a:buAutoNum type="alphaLcPeriod"/>
            </a:pPr>
            <a:r>
              <a:rPr lang="en-US" sz="3600" dirty="0">
                <a:latin typeface="Courier New" panose="02070309020205020404" pitchFamily="49" charset="0"/>
                <a:cs typeface="Courier New" panose="02070309020205020404" pitchFamily="49" charset="0"/>
              </a:rPr>
              <a:t>6 months		</a:t>
            </a:r>
          </a:p>
          <a:p>
            <a:pPr marL="971550" lvl="1" indent="-514350">
              <a:buAutoNum type="alphaLcPeriod"/>
            </a:pPr>
            <a:r>
              <a:rPr lang="en-US" sz="3600" dirty="0">
                <a:latin typeface="Courier New" panose="02070309020205020404" pitchFamily="49" charset="0"/>
                <a:cs typeface="Courier New" panose="02070309020205020404" pitchFamily="49" charset="0"/>
              </a:rPr>
              <a:t>1 year		</a:t>
            </a:r>
          </a:p>
          <a:p>
            <a:pPr marL="971550" lvl="1" indent="-514350">
              <a:buAutoNum type="alphaLcPeriod"/>
            </a:pPr>
            <a:r>
              <a:rPr lang="en-US" sz="3600" dirty="0">
                <a:latin typeface="Courier New" panose="02070309020205020404" pitchFamily="49" charset="0"/>
                <a:cs typeface="Courier New" panose="02070309020205020404" pitchFamily="49" charset="0"/>
              </a:rPr>
              <a:t>2 years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9056268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76. The Defects Liability Period shall be _____ from project completion up to final acceptance by the Government.</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AutoNum type="alphaLcPeriod"/>
            </a:pPr>
            <a:r>
              <a:rPr lang="en-US" sz="3600" dirty="0">
                <a:latin typeface="Courier New" panose="02070309020205020404" pitchFamily="49" charset="0"/>
                <a:cs typeface="Courier New" panose="02070309020205020404" pitchFamily="49" charset="0"/>
              </a:rPr>
              <a:t>3 months		</a:t>
            </a:r>
          </a:p>
          <a:p>
            <a:pPr marL="971550" lvl="1" indent="-514350">
              <a:buAutoNum type="alphaLcPeriod"/>
            </a:pPr>
            <a:r>
              <a:rPr lang="en-US" sz="3600" dirty="0">
                <a:latin typeface="Courier New" panose="02070309020205020404" pitchFamily="49" charset="0"/>
                <a:cs typeface="Courier New" panose="02070309020205020404" pitchFamily="49" charset="0"/>
              </a:rPr>
              <a:t>6 months		</a:t>
            </a:r>
          </a:p>
          <a:p>
            <a:pPr marL="971550" lvl="1" indent="-514350">
              <a:buAutoNum type="alphaLcPeriod"/>
            </a:pPr>
            <a:r>
              <a:rPr lang="en-US" sz="3600" b="1" dirty="0">
                <a:solidFill>
                  <a:srgbClr val="FF0000"/>
                </a:solidFill>
                <a:latin typeface="Courier New" panose="02070309020205020404" pitchFamily="49" charset="0"/>
                <a:cs typeface="Courier New" panose="02070309020205020404" pitchFamily="49" charset="0"/>
              </a:rPr>
              <a:t>1 year	</a:t>
            </a:r>
            <a:r>
              <a:rPr lang="en-US" sz="3600" dirty="0">
                <a:latin typeface="Courier New" panose="02070309020205020404" pitchFamily="49" charset="0"/>
                <a:cs typeface="Courier New" panose="02070309020205020404" pitchFamily="49" charset="0"/>
              </a:rPr>
              <a:t>	</a:t>
            </a:r>
          </a:p>
          <a:p>
            <a:pPr marL="971550" lvl="1" indent="-514350">
              <a:buAutoNum type="alphaLcPeriod"/>
            </a:pPr>
            <a:r>
              <a:rPr lang="en-US" sz="3600" dirty="0">
                <a:latin typeface="Courier New" panose="02070309020205020404" pitchFamily="49" charset="0"/>
                <a:cs typeface="Courier New" panose="02070309020205020404" pitchFamily="49" charset="0"/>
              </a:rPr>
              <a:t>2 years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982617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42811F-9746-40B0-AE5B-EFA9816FEC01}"/>
              </a:ext>
            </a:extLst>
          </p:cNvPr>
          <p:cNvPicPr>
            <a:picLocks noChangeAspect="1"/>
          </p:cNvPicPr>
          <p:nvPr/>
        </p:nvPicPr>
        <p:blipFill>
          <a:blip r:embed="rId3"/>
          <a:stretch>
            <a:fillRect/>
          </a:stretch>
        </p:blipFill>
        <p:spPr>
          <a:xfrm>
            <a:off x="1661493" y="408582"/>
            <a:ext cx="8869013" cy="5325218"/>
          </a:xfrm>
          <a:prstGeom prst="rect">
            <a:avLst/>
          </a:prstGeom>
        </p:spPr>
      </p:pic>
      <p:sp>
        <p:nvSpPr>
          <p:cNvPr id="5" name="Rectangle 4">
            <a:extLst>
              <a:ext uri="{FF2B5EF4-FFF2-40B4-BE49-F238E27FC236}">
                <a16:creationId xmlns:a16="http://schemas.microsoft.com/office/drawing/2014/main" id="{FA1CC232-8F5E-4AF9-88CE-D90F8035AD3C}"/>
              </a:ext>
            </a:extLst>
          </p:cNvPr>
          <p:cNvSpPr/>
          <p:nvPr/>
        </p:nvSpPr>
        <p:spPr>
          <a:xfrm>
            <a:off x="5433391" y="5768443"/>
            <a:ext cx="6096000"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r>
              <a:rPr lang="en-US" sz="2400" dirty="0">
                <a:solidFill>
                  <a:schemeClr val="bg1"/>
                </a:solidFill>
                <a:hlinkClick r:id="rId4">
                  <a:extLst>
                    <a:ext uri="{A12FA001-AC4F-418D-AE19-62706E023703}">
                      <ahyp:hlinkClr xmlns:ahyp="http://schemas.microsoft.com/office/drawing/2018/hyperlinkcolor" val="tx"/>
                    </a:ext>
                  </a:extLst>
                </a:hlinkClick>
              </a:rPr>
              <a:t>https://www.dilg.gov.ph/PDF_File/issuances/republic_acts/RA_9184.PDF</a:t>
            </a:r>
            <a:r>
              <a:rPr lang="en-US" sz="2400" dirty="0">
                <a:solidFill>
                  <a:schemeClr val="bg1"/>
                </a:solidFill>
              </a:rPr>
              <a:t> </a:t>
            </a:r>
          </a:p>
        </p:txBody>
      </p:sp>
      <p:sp>
        <p:nvSpPr>
          <p:cNvPr id="6" name="Rectangle 5">
            <a:extLst>
              <a:ext uri="{FF2B5EF4-FFF2-40B4-BE49-F238E27FC236}">
                <a16:creationId xmlns:a16="http://schemas.microsoft.com/office/drawing/2014/main" id="{0FE363E8-4069-44DC-9C2E-0844CB891D33}"/>
              </a:ext>
            </a:extLst>
          </p:cNvPr>
          <p:cNvSpPr/>
          <p:nvPr/>
        </p:nvSpPr>
        <p:spPr>
          <a:xfrm>
            <a:off x="3180522" y="1881809"/>
            <a:ext cx="7301948" cy="636104"/>
          </a:xfrm>
          <a:prstGeom prst="rect">
            <a:avLst/>
          </a:prstGeom>
          <a:solidFill>
            <a:srgbClr val="FFFF00">
              <a:alpha val="3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43544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77. It is a component of the sprayer that evens out the fluctuations of the fluid pressure and induces more uniform flow of the sprayed liquid. </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nozzle		</a:t>
            </a:r>
          </a:p>
          <a:p>
            <a:pPr marL="971550" lvl="1" indent="-514350" algn="just">
              <a:buAutoNum type="alphaLcPeriod"/>
            </a:pPr>
            <a:r>
              <a:rPr lang="en-US" sz="3200" dirty="0">
                <a:latin typeface="Courier New" panose="02070309020205020404" pitchFamily="49" charset="0"/>
                <a:cs typeface="Courier New" panose="02070309020205020404" pitchFamily="49" charset="0"/>
              </a:rPr>
              <a:t>pressure chamber		</a:t>
            </a:r>
          </a:p>
          <a:p>
            <a:pPr marL="971550" lvl="1" indent="-514350" algn="just">
              <a:buAutoNum type="alphaLcPeriod"/>
            </a:pPr>
            <a:r>
              <a:rPr lang="en-US" sz="3200" dirty="0">
                <a:latin typeface="Courier New" panose="02070309020205020404" pitchFamily="49" charset="0"/>
                <a:cs typeface="Courier New" panose="02070309020205020404" pitchFamily="49" charset="0"/>
              </a:rPr>
              <a:t>spray tank	</a:t>
            </a:r>
          </a:p>
          <a:p>
            <a:pPr marL="971550" lvl="1" indent="-514350" algn="just">
              <a:buAutoNum type="alphaLcPeriod"/>
            </a:pPr>
            <a:r>
              <a:rPr lang="en-US" sz="3200" dirty="0">
                <a:latin typeface="Courier New" panose="02070309020205020404" pitchFamily="49" charset="0"/>
                <a:cs typeface="Courier New" panose="02070309020205020404" pitchFamily="49" charset="0"/>
              </a:rPr>
              <a:t>cut-off valve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37827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77. It is a component of the sprayer that evens out the fluctuations of the fluid pressure and induces more uniform flow of the sprayed liquid. </a:t>
            </a:r>
          </a:p>
          <a:p>
            <a:pPr marL="0" lvl="0" indent="0" algn="just">
              <a:buNone/>
            </a:pPr>
            <a:endParaRPr lang="en-US" sz="3200" dirty="0">
              <a:latin typeface="Courier New" panose="02070309020205020404" pitchFamily="49" charset="0"/>
              <a:cs typeface="Courier New" panose="02070309020205020404" pitchFamily="49" charset="0"/>
            </a:endParaRPr>
          </a:p>
          <a:p>
            <a:pPr marL="971550" lvl="1" indent="-514350" algn="just">
              <a:buAutoNum type="alphaLcPeriod"/>
            </a:pPr>
            <a:r>
              <a:rPr lang="en-US" sz="3200" dirty="0">
                <a:latin typeface="Courier New" panose="02070309020205020404" pitchFamily="49" charset="0"/>
                <a:cs typeface="Courier New" panose="02070309020205020404" pitchFamily="49" charset="0"/>
              </a:rPr>
              <a:t>nozzle		</a:t>
            </a:r>
          </a:p>
          <a:p>
            <a:pPr marL="971550" lvl="1" indent="-514350" algn="just">
              <a:buAutoNum type="alphaLcPeriod"/>
            </a:pPr>
            <a:r>
              <a:rPr lang="en-US" sz="3200" b="1" dirty="0">
                <a:solidFill>
                  <a:srgbClr val="FF0000"/>
                </a:solidFill>
                <a:latin typeface="Courier New" panose="02070309020205020404" pitchFamily="49" charset="0"/>
                <a:cs typeface="Courier New" panose="02070309020205020404" pitchFamily="49" charset="0"/>
              </a:rPr>
              <a:t>pressure chamber</a:t>
            </a:r>
            <a:r>
              <a:rPr lang="en-US" sz="3200" dirty="0">
                <a:latin typeface="Courier New" panose="02070309020205020404" pitchFamily="49" charset="0"/>
                <a:cs typeface="Courier New" panose="02070309020205020404" pitchFamily="49" charset="0"/>
              </a:rPr>
              <a:t>		</a:t>
            </a:r>
          </a:p>
          <a:p>
            <a:pPr marL="971550" lvl="1" indent="-514350" algn="just">
              <a:buAutoNum type="alphaLcPeriod"/>
            </a:pPr>
            <a:r>
              <a:rPr lang="en-US" sz="3200" dirty="0">
                <a:latin typeface="Courier New" panose="02070309020205020404" pitchFamily="49" charset="0"/>
                <a:cs typeface="Courier New" panose="02070309020205020404" pitchFamily="49" charset="0"/>
              </a:rPr>
              <a:t>spray tank	</a:t>
            </a:r>
          </a:p>
          <a:p>
            <a:pPr marL="971550" lvl="1" indent="-514350" algn="just">
              <a:buAutoNum type="alphaLcPeriod"/>
            </a:pPr>
            <a:r>
              <a:rPr lang="en-US" sz="3200" dirty="0">
                <a:latin typeface="Courier New" panose="02070309020205020404" pitchFamily="49" charset="0"/>
                <a:cs typeface="Courier New" panose="02070309020205020404" pitchFamily="49" charset="0"/>
              </a:rPr>
              <a:t>cut-off valve</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485185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835B65-9EC3-4CDB-B20C-DD25F428F787}"/>
              </a:ext>
            </a:extLst>
          </p:cNvPr>
          <p:cNvPicPr>
            <a:picLocks noChangeAspect="1"/>
          </p:cNvPicPr>
          <p:nvPr/>
        </p:nvPicPr>
        <p:blipFill>
          <a:blip r:embed="rId3"/>
          <a:stretch>
            <a:fillRect/>
          </a:stretch>
        </p:blipFill>
        <p:spPr>
          <a:xfrm>
            <a:off x="1675783" y="256459"/>
            <a:ext cx="8840434" cy="1362265"/>
          </a:xfrm>
          <a:prstGeom prst="rect">
            <a:avLst/>
          </a:prstGeom>
        </p:spPr>
      </p:pic>
      <p:pic>
        <p:nvPicPr>
          <p:cNvPr id="5" name="Picture 4">
            <a:extLst>
              <a:ext uri="{FF2B5EF4-FFF2-40B4-BE49-F238E27FC236}">
                <a16:creationId xmlns:a16="http://schemas.microsoft.com/office/drawing/2014/main" id="{E9FF7C45-3B85-4F49-A52B-743EFAB098E7}"/>
              </a:ext>
            </a:extLst>
          </p:cNvPr>
          <p:cNvPicPr>
            <a:picLocks noChangeAspect="1"/>
          </p:cNvPicPr>
          <p:nvPr/>
        </p:nvPicPr>
        <p:blipFill>
          <a:blip r:embed="rId4"/>
          <a:stretch>
            <a:fillRect/>
          </a:stretch>
        </p:blipFill>
        <p:spPr>
          <a:xfrm>
            <a:off x="1675783" y="1712757"/>
            <a:ext cx="8964276" cy="4201111"/>
          </a:xfrm>
          <a:prstGeom prst="rect">
            <a:avLst/>
          </a:prstGeom>
        </p:spPr>
      </p:pic>
      <p:sp>
        <p:nvSpPr>
          <p:cNvPr id="6" name="Rectangle 5">
            <a:extLst>
              <a:ext uri="{FF2B5EF4-FFF2-40B4-BE49-F238E27FC236}">
                <a16:creationId xmlns:a16="http://schemas.microsoft.com/office/drawing/2014/main" id="{71AF19C4-4B75-47F6-BDD3-D218F5EFA948}"/>
              </a:ext>
            </a:extLst>
          </p:cNvPr>
          <p:cNvSpPr/>
          <p:nvPr/>
        </p:nvSpPr>
        <p:spPr>
          <a:xfrm>
            <a:off x="1675783" y="3260035"/>
            <a:ext cx="8840434" cy="1351722"/>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089636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D55E9B-1F40-4BEA-AD9D-94929FD5831D}"/>
              </a:ext>
            </a:extLst>
          </p:cNvPr>
          <p:cNvPicPr>
            <a:picLocks noChangeAspect="1"/>
          </p:cNvPicPr>
          <p:nvPr/>
        </p:nvPicPr>
        <p:blipFill>
          <a:blip r:embed="rId2"/>
          <a:stretch>
            <a:fillRect/>
          </a:stretch>
        </p:blipFill>
        <p:spPr>
          <a:xfrm>
            <a:off x="2680811" y="47153"/>
            <a:ext cx="6830378" cy="6763694"/>
          </a:xfrm>
          <a:prstGeom prst="rect">
            <a:avLst/>
          </a:prstGeom>
        </p:spPr>
      </p:pic>
    </p:spTree>
    <p:extLst>
      <p:ext uri="{BB962C8B-B14F-4D97-AF65-F5344CB8AC3E}">
        <p14:creationId xmlns:p14="http://schemas.microsoft.com/office/powerpoint/2010/main" val="22124584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78. A 6-meter wide harvester is harvesting corn at a rate of 100 kg per minute. The effective width of the machine is 90% of its width. If it runs at a speed of 2.5kph, what is its effective field capacity? Assume a machine field efficiency of 70%.</a:t>
            </a:r>
          </a:p>
          <a:p>
            <a:pPr marL="0" lvl="0" indent="0" algn="just">
              <a:buNone/>
            </a:pPr>
            <a:endParaRPr lang="en-US" sz="30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1.35 ha/</a:t>
            </a:r>
            <a:r>
              <a:rPr lang="en-US" sz="3000" dirty="0" err="1">
                <a:latin typeface="Courier New" panose="02070309020205020404" pitchFamily="49" charset="0"/>
                <a:cs typeface="Courier New" panose="02070309020205020404" pitchFamily="49" charset="0"/>
              </a:rPr>
              <a:t>hr</a:t>
            </a:r>
            <a:r>
              <a:rPr lang="en-US" sz="30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1.93 ha/</a:t>
            </a:r>
            <a:r>
              <a:rPr lang="en-US" sz="3000" dirty="0" err="1">
                <a:latin typeface="Courier New" panose="02070309020205020404" pitchFamily="49" charset="0"/>
                <a:cs typeface="Courier New" panose="02070309020205020404" pitchFamily="49" charset="0"/>
              </a:rPr>
              <a:t>hr</a:t>
            </a:r>
            <a:r>
              <a:rPr lang="en-US" sz="30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0.95 ha/</a:t>
            </a:r>
            <a:r>
              <a:rPr lang="en-US" sz="3000" dirty="0" err="1">
                <a:latin typeface="Courier New" panose="02070309020205020404" pitchFamily="49" charset="0"/>
                <a:cs typeface="Courier New" panose="02070309020205020404" pitchFamily="49" charset="0"/>
              </a:rPr>
              <a:t>hr</a:t>
            </a:r>
            <a:endParaRPr lang="en-US" sz="30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1.05 ha/</a:t>
            </a:r>
            <a:r>
              <a:rPr lang="en-US" sz="3000" dirty="0" err="1">
                <a:latin typeface="Courier New" panose="02070309020205020404" pitchFamily="49" charset="0"/>
                <a:cs typeface="Courier New" panose="02070309020205020404" pitchFamily="49" charset="0"/>
              </a:rPr>
              <a:t>hr</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7885123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78. A 6-meter wide harvester is harvesting corn at a rate of 100 kg per minute. The effective width of the machine is 90% of its width. If it runs at a speed of 2.5kph, what is its effective field capacity? Assume a machine field efficiency of 70%.</a:t>
            </a:r>
          </a:p>
          <a:p>
            <a:pPr marL="0" lvl="0" indent="0" algn="just">
              <a:buNone/>
            </a:pPr>
            <a:endParaRPr lang="en-US" sz="30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1.35 ha/</a:t>
            </a:r>
            <a:r>
              <a:rPr lang="en-US" sz="3000" dirty="0" err="1">
                <a:latin typeface="Courier New" panose="02070309020205020404" pitchFamily="49" charset="0"/>
                <a:cs typeface="Courier New" panose="02070309020205020404" pitchFamily="49" charset="0"/>
              </a:rPr>
              <a:t>hr</a:t>
            </a:r>
            <a:r>
              <a:rPr lang="en-US" sz="30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1.93 ha/</a:t>
            </a:r>
            <a:r>
              <a:rPr lang="en-US" sz="3000" dirty="0" err="1">
                <a:latin typeface="Courier New" panose="02070309020205020404" pitchFamily="49" charset="0"/>
                <a:cs typeface="Courier New" panose="02070309020205020404" pitchFamily="49" charset="0"/>
              </a:rPr>
              <a:t>hr</a:t>
            </a:r>
            <a:r>
              <a:rPr lang="en-US" sz="3000" dirty="0">
                <a:latin typeface="Courier New" panose="02070309020205020404" pitchFamily="49" charset="0"/>
                <a:cs typeface="Courier New" panose="02070309020205020404" pitchFamily="49" charset="0"/>
              </a:rPr>
              <a:t>	</a:t>
            </a:r>
          </a:p>
          <a:p>
            <a:pPr marL="914400" lvl="1" indent="-457200" algn="just">
              <a:buFont typeface="+mj-lt"/>
              <a:buAutoNum type="alphaLcPeriod"/>
            </a:pPr>
            <a:r>
              <a:rPr lang="en-US" sz="3000" b="1" dirty="0">
                <a:solidFill>
                  <a:srgbClr val="FF0000"/>
                </a:solidFill>
                <a:latin typeface="Courier New" panose="02070309020205020404" pitchFamily="49" charset="0"/>
                <a:cs typeface="Courier New" panose="02070309020205020404" pitchFamily="49" charset="0"/>
              </a:rPr>
              <a:t>0.95 ha/</a:t>
            </a:r>
            <a:r>
              <a:rPr lang="en-US" sz="3000" b="1" dirty="0" err="1">
                <a:solidFill>
                  <a:srgbClr val="FF0000"/>
                </a:solidFill>
                <a:latin typeface="Courier New" panose="02070309020205020404" pitchFamily="49" charset="0"/>
                <a:cs typeface="Courier New" panose="02070309020205020404" pitchFamily="49" charset="0"/>
              </a:rPr>
              <a:t>hr</a:t>
            </a:r>
            <a:endParaRPr lang="en-US" sz="3000" b="1" dirty="0">
              <a:solidFill>
                <a:srgbClr val="FF0000"/>
              </a:solidFill>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000" dirty="0">
                <a:latin typeface="Courier New" panose="02070309020205020404" pitchFamily="49" charset="0"/>
                <a:cs typeface="Courier New" panose="02070309020205020404" pitchFamily="49" charset="0"/>
              </a:rPr>
              <a:t>1.05 ha/</a:t>
            </a:r>
            <a:r>
              <a:rPr lang="en-US" sz="3000" dirty="0" err="1">
                <a:latin typeface="Courier New" panose="02070309020205020404" pitchFamily="49" charset="0"/>
                <a:cs typeface="Courier New" panose="02070309020205020404" pitchFamily="49" charset="0"/>
              </a:rPr>
              <a:t>hr</a:t>
            </a:r>
            <a:endParaRPr lang="en-US" sz="30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284393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79. The required CPD credits units for the ABE profession for Senior Citizen/PWD.</a:t>
            </a:r>
          </a:p>
          <a:p>
            <a:pPr marL="0" lvl="0" indent="0" algn="just">
              <a:buNone/>
            </a:pPr>
            <a:endParaRPr lang="en-US" sz="3600" dirty="0">
              <a:latin typeface="Courier New" panose="02070309020205020404" pitchFamily="49" charset="0"/>
              <a:cs typeface="Courier New" panose="02070309020205020404" pitchFamily="49" charset="0"/>
            </a:endParaRPr>
          </a:p>
          <a:p>
            <a:pPr marL="514350" indent="-514350" algn="just">
              <a:buAutoNum type="alphaLcPeriod"/>
            </a:pPr>
            <a:r>
              <a:rPr lang="en-US" sz="3600" dirty="0">
                <a:latin typeface="Courier New" panose="02070309020205020404" pitchFamily="49" charset="0"/>
                <a:cs typeface="Courier New" panose="02070309020205020404" pitchFamily="49" charset="0"/>
              </a:rPr>
              <a:t>5			</a:t>
            </a:r>
          </a:p>
          <a:p>
            <a:pPr marL="514350" indent="-514350" algn="just">
              <a:buAutoNum type="alphaLcPeriod"/>
            </a:pPr>
            <a:r>
              <a:rPr lang="en-US" sz="3600" dirty="0">
                <a:latin typeface="Courier New" panose="02070309020205020404" pitchFamily="49" charset="0"/>
                <a:cs typeface="Courier New" panose="02070309020205020404" pitchFamily="49" charset="0"/>
              </a:rPr>
              <a:t>10			</a:t>
            </a:r>
          </a:p>
          <a:p>
            <a:pPr marL="514350" indent="-514350" algn="just">
              <a:buAutoNum type="alphaLcPeriod"/>
            </a:pPr>
            <a:r>
              <a:rPr lang="en-US" sz="3600" dirty="0">
                <a:latin typeface="Courier New" panose="02070309020205020404" pitchFamily="49" charset="0"/>
                <a:cs typeface="Courier New" panose="02070309020205020404" pitchFamily="49" charset="0"/>
              </a:rPr>
              <a:t>15			</a:t>
            </a:r>
          </a:p>
          <a:p>
            <a:pPr marL="514350" indent="-514350" algn="just">
              <a:buAutoNum type="alphaLcPeriod"/>
            </a:pPr>
            <a:r>
              <a:rPr lang="en-US" sz="3600" dirty="0">
                <a:latin typeface="Courier New" panose="02070309020205020404" pitchFamily="49" charset="0"/>
                <a:cs typeface="Courier New" panose="02070309020205020404" pitchFamily="49" charset="0"/>
              </a:rPr>
              <a:t>20</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6905062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612CF8-339E-40E8-A753-F2429BE27FCE}"/>
              </a:ext>
            </a:extLst>
          </p:cNvPr>
          <p:cNvSpPr/>
          <p:nvPr/>
        </p:nvSpPr>
        <p:spPr>
          <a:xfrm>
            <a:off x="5461299" y="6176963"/>
            <a:ext cx="6075317" cy="369332"/>
          </a:xfrm>
          <a:prstGeom prst="rect">
            <a:avLst/>
          </a:prstGeom>
        </p:spPr>
        <p:txBody>
          <a:bodyPr wrap="none">
            <a:spAutoFit/>
          </a:bodyPr>
          <a:lstStyle/>
          <a:p>
            <a:r>
              <a:rPr lang="en-US" dirty="0">
                <a:hlinkClick r:id="rId2"/>
              </a:rPr>
              <a:t>https://www.prc.gov.ph/sites/default/files/CPD-FAQs-2020.pdf</a:t>
            </a:r>
            <a:r>
              <a:rPr lang="en-US" dirty="0"/>
              <a:t> </a:t>
            </a:r>
          </a:p>
        </p:txBody>
      </p:sp>
      <p:pic>
        <p:nvPicPr>
          <p:cNvPr id="5" name="Picture 4">
            <a:extLst>
              <a:ext uri="{FF2B5EF4-FFF2-40B4-BE49-F238E27FC236}">
                <a16:creationId xmlns:a16="http://schemas.microsoft.com/office/drawing/2014/main" id="{A4E6A7C6-E471-4935-A8B9-C7FA409AC1D7}"/>
              </a:ext>
            </a:extLst>
          </p:cNvPr>
          <p:cNvPicPr>
            <a:picLocks noChangeAspect="1"/>
          </p:cNvPicPr>
          <p:nvPr/>
        </p:nvPicPr>
        <p:blipFill>
          <a:blip r:embed="rId3"/>
          <a:stretch>
            <a:fillRect/>
          </a:stretch>
        </p:blipFill>
        <p:spPr>
          <a:xfrm>
            <a:off x="1280440" y="501682"/>
            <a:ext cx="9631119" cy="53442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9758012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79. The required CPD credits units for the ABE profession for Senior Citizen/PWD.</a:t>
            </a:r>
          </a:p>
          <a:p>
            <a:pPr marL="0" lvl="0" indent="0" algn="just">
              <a:buNone/>
            </a:pPr>
            <a:endParaRPr lang="en-US" sz="3600" dirty="0">
              <a:latin typeface="Courier New" panose="02070309020205020404" pitchFamily="49" charset="0"/>
              <a:cs typeface="Courier New" panose="02070309020205020404" pitchFamily="49" charset="0"/>
            </a:endParaRPr>
          </a:p>
          <a:p>
            <a:pPr marL="514350" indent="-514350" algn="just">
              <a:buAutoNum type="alphaLcPeriod"/>
            </a:pPr>
            <a:r>
              <a:rPr lang="en-US" sz="3600" dirty="0">
                <a:latin typeface="Courier New" panose="02070309020205020404" pitchFamily="49" charset="0"/>
                <a:cs typeface="Courier New" panose="02070309020205020404" pitchFamily="49" charset="0"/>
              </a:rPr>
              <a:t>5			</a:t>
            </a:r>
          </a:p>
          <a:p>
            <a:pPr marL="514350" indent="-514350" algn="just">
              <a:buAutoNum type="alphaLcPeriod"/>
            </a:pPr>
            <a:r>
              <a:rPr lang="en-US" sz="3600" b="1" dirty="0">
                <a:solidFill>
                  <a:srgbClr val="FF0000"/>
                </a:solidFill>
                <a:latin typeface="Courier New" panose="02070309020205020404" pitchFamily="49" charset="0"/>
                <a:cs typeface="Courier New" panose="02070309020205020404" pitchFamily="49" charset="0"/>
              </a:rPr>
              <a:t>10</a:t>
            </a:r>
            <a:r>
              <a:rPr lang="en-US" sz="3600" dirty="0">
                <a:latin typeface="Courier New" panose="02070309020205020404" pitchFamily="49" charset="0"/>
                <a:cs typeface="Courier New" panose="02070309020205020404" pitchFamily="49" charset="0"/>
              </a:rPr>
              <a:t>			</a:t>
            </a:r>
          </a:p>
          <a:p>
            <a:pPr marL="514350" indent="-514350" algn="just">
              <a:buAutoNum type="alphaLcPeriod"/>
            </a:pPr>
            <a:r>
              <a:rPr lang="en-US" sz="3600" dirty="0">
                <a:latin typeface="Courier New" panose="02070309020205020404" pitchFamily="49" charset="0"/>
                <a:cs typeface="Courier New" panose="02070309020205020404" pitchFamily="49" charset="0"/>
              </a:rPr>
              <a:t>15			</a:t>
            </a:r>
          </a:p>
          <a:p>
            <a:pPr marL="514350" indent="-514350" algn="just">
              <a:buAutoNum type="alphaLcPeriod"/>
            </a:pPr>
            <a:r>
              <a:rPr lang="en-US" sz="3600" dirty="0">
                <a:latin typeface="Courier New" panose="02070309020205020404" pitchFamily="49" charset="0"/>
                <a:cs typeface="Courier New" panose="02070309020205020404" pitchFamily="49" charset="0"/>
              </a:rPr>
              <a:t>20</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810527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80. Convert 240</a:t>
            </a:r>
            <a:r>
              <a:rPr lang="en-US" sz="3600" baseline="30000" dirty="0">
                <a:latin typeface="Courier New" panose="02070309020205020404" pitchFamily="49" charset="0"/>
                <a:cs typeface="Courier New" panose="02070309020205020404" pitchFamily="49" charset="0"/>
              </a:rPr>
              <a:t>o</a:t>
            </a:r>
            <a:r>
              <a:rPr lang="en-US" sz="3600" dirty="0">
                <a:latin typeface="Courier New" panose="02070309020205020404" pitchFamily="49" charset="0"/>
                <a:cs typeface="Courier New" panose="02070309020205020404" pitchFamily="49" charset="0"/>
              </a:rPr>
              <a:t> to radians. </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AutoNum type="alphaLcPeriod"/>
            </a:pPr>
            <a:r>
              <a:rPr lang="en-US" sz="3600" dirty="0">
                <a:latin typeface="Courier New" panose="02070309020205020404" pitchFamily="49" charset="0"/>
                <a:cs typeface="Courier New" panose="02070309020205020404" pitchFamily="49" charset="0"/>
              </a:rPr>
              <a:t>4/3π			</a:t>
            </a:r>
          </a:p>
          <a:p>
            <a:pPr marL="971550" lvl="1" indent="-514350">
              <a:buAutoNum type="alphaLcPeriod"/>
            </a:pPr>
            <a:r>
              <a:rPr lang="en-US" sz="3600" dirty="0">
                <a:latin typeface="Courier New" panose="02070309020205020404" pitchFamily="49" charset="0"/>
                <a:cs typeface="Courier New" panose="02070309020205020404" pitchFamily="49" charset="0"/>
              </a:rPr>
              <a:t>2π			</a:t>
            </a:r>
          </a:p>
          <a:p>
            <a:pPr marL="971550" lvl="1" indent="-514350">
              <a:buAutoNum type="alphaLcPeriod"/>
            </a:pPr>
            <a:r>
              <a:rPr lang="en-US" sz="3600" dirty="0">
                <a:latin typeface="Courier New" panose="02070309020205020404" pitchFamily="49" charset="0"/>
                <a:cs typeface="Courier New" panose="02070309020205020404" pitchFamily="49" charset="0"/>
              </a:rPr>
              <a:t>π			</a:t>
            </a:r>
          </a:p>
          <a:p>
            <a:pPr marL="971550" lvl="1" indent="-514350">
              <a:buAutoNum type="alphaLcPeriod"/>
            </a:pPr>
            <a:r>
              <a:rPr lang="en-US" sz="3600" dirty="0">
                <a:latin typeface="Courier New" panose="02070309020205020404" pitchFamily="49" charset="0"/>
                <a:cs typeface="Courier New" panose="02070309020205020404" pitchFamily="49" charset="0"/>
              </a:rPr>
              <a:t>1/4π</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026086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US" sz="3600" dirty="0">
                <a:latin typeface="Courier New" panose="02070309020205020404" pitchFamily="49" charset="0"/>
                <a:cs typeface="Courier New" panose="02070309020205020404" pitchFamily="49" charset="0"/>
              </a:rPr>
              <a:t>80. Convert 240</a:t>
            </a:r>
            <a:r>
              <a:rPr lang="en-US" sz="3600" baseline="30000" dirty="0">
                <a:latin typeface="Courier New" panose="02070309020205020404" pitchFamily="49" charset="0"/>
                <a:cs typeface="Courier New" panose="02070309020205020404" pitchFamily="49" charset="0"/>
              </a:rPr>
              <a:t>o</a:t>
            </a:r>
            <a:r>
              <a:rPr lang="en-US" sz="3600" dirty="0">
                <a:latin typeface="Courier New" panose="02070309020205020404" pitchFamily="49" charset="0"/>
                <a:cs typeface="Courier New" panose="02070309020205020404" pitchFamily="49" charset="0"/>
              </a:rPr>
              <a:t> to radians. </a:t>
            </a:r>
          </a:p>
          <a:p>
            <a:pPr marL="0" lvl="0" indent="0">
              <a:buNone/>
            </a:pPr>
            <a:endParaRPr lang="en-US" sz="3600" dirty="0">
              <a:latin typeface="Courier New" panose="02070309020205020404" pitchFamily="49" charset="0"/>
              <a:cs typeface="Courier New" panose="02070309020205020404" pitchFamily="49" charset="0"/>
            </a:endParaRPr>
          </a:p>
          <a:p>
            <a:pPr marL="971550" lvl="1" indent="-514350">
              <a:buAutoNum type="alphaLcPeriod"/>
            </a:pPr>
            <a:r>
              <a:rPr lang="en-US" sz="3600" b="1" dirty="0">
                <a:solidFill>
                  <a:srgbClr val="FF0000"/>
                </a:solidFill>
                <a:latin typeface="Courier New" panose="02070309020205020404" pitchFamily="49" charset="0"/>
                <a:cs typeface="Courier New" panose="02070309020205020404" pitchFamily="49" charset="0"/>
              </a:rPr>
              <a:t>4/3π</a:t>
            </a:r>
            <a:r>
              <a:rPr lang="en-US" sz="3600" dirty="0">
                <a:latin typeface="Courier New" panose="02070309020205020404" pitchFamily="49" charset="0"/>
                <a:cs typeface="Courier New" panose="02070309020205020404" pitchFamily="49" charset="0"/>
              </a:rPr>
              <a:t>			</a:t>
            </a:r>
          </a:p>
          <a:p>
            <a:pPr marL="971550" lvl="1" indent="-514350">
              <a:buAutoNum type="alphaLcPeriod"/>
            </a:pPr>
            <a:r>
              <a:rPr lang="en-US" sz="3600" dirty="0">
                <a:latin typeface="Courier New" panose="02070309020205020404" pitchFamily="49" charset="0"/>
                <a:cs typeface="Courier New" panose="02070309020205020404" pitchFamily="49" charset="0"/>
              </a:rPr>
              <a:t>2π			</a:t>
            </a:r>
          </a:p>
          <a:p>
            <a:pPr marL="971550" lvl="1" indent="-514350">
              <a:buAutoNum type="alphaLcPeriod"/>
            </a:pPr>
            <a:r>
              <a:rPr lang="en-US" sz="3600" dirty="0">
                <a:latin typeface="Courier New" panose="02070309020205020404" pitchFamily="49" charset="0"/>
                <a:cs typeface="Courier New" panose="02070309020205020404" pitchFamily="49" charset="0"/>
              </a:rPr>
              <a:t>π			</a:t>
            </a:r>
          </a:p>
          <a:p>
            <a:pPr marL="971550" lvl="1" indent="-514350">
              <a:buAutoNum type="alphaLcPeriod"/>
            </a:pPr>
            <a:r>
              <a:rPr lang="en-US" sz="3600" dirty="0">
                <a:latin typeface="Courier New" panose="02070309020205020404" pitchFamily="49" charset="0"/>
                <a:cs typeface="Courier New" panose="02070309020205020404" pitchFamily="49" charset="0"/>
              </a:rPr>
              <a:t>1/4π</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4589489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81. It is the weight of paddy that the rice mill can process per total milling time.</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milling recovery</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input capacity</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milling efficiency</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milling capacity </a:t>
            </a:r>
          </a:p>
          <a:p>
            <a:pPr marL="457200" lvl="1" indent="0" algn="just">
              <a:buNone/>
            </a:pPr>
            <a:br>
              <a:rPr lang="en-US" sz="3600" dirty="0">
                <a:latin typeface="Courier New" panose="02070309020205020404" pitchFamily="49" charset="0"/>
                <a:cs typeface="Courier New" panose="02070309020205020404" pitchFamily="49" charset="0"/>
              </a:rPr>
            </a:b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745801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600" dirty="0">
                <a:latin typeface="Courier New" panose="02070309020205020404" pitchFamily="49" charset="0"/>
                <a:cs typeface="Courier New" panose="02070309020205020404" pitchFamily="49" charset="0"/>
              </a:rPr>
              <a:t>81. It is the weight of paddy that the rice mill can process per total milling time.</a:t>
            </a:r>
          </a:p>
          <a:p>
            <a:pPr marL="0" lvl="0" indent="0" algn="just">
              <a:buNone/>
            </a:pPr>
            <a:endParaRPr lang="en-US" sz="3600" dirty="0">
              <a:latin typeface="Courier New" panose="02070309020205020404" pitchFamily="49" charset="0"/>
              <a:cs typeface="Courier New" panose="02070309020205020404" pitchFamily="49" charset="0"/>
            </a:endParaRP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milling recovery</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input capacity</a:t>
            </a:r>
          </a:p>
          <a:p>
            <a:pPr marL="914400" lvl="1" indent="-457200" algn="just">
              <a:buFont typeface="+mj-lt"/>
              <a:buAutoNum type="alphaLcPeriod"/>
            </a:pPr>
            <a:r>
              <a:rPr lang="en-US" sz="3600" dirty="0">
                <a:latin typeface="Courier New" panose="02070309020205020404" pitchFamily="49" charset="0"/>
                <a:cs typeface="Courier New" panose="02070309020205020404" pitchFamily="49" charset="0"/>
              </a:rPr>
              <a:t>milling efficiency</a:t>
            </a:r>
          </a:p>
          <a:p>
            <a:pPr marL="914400" lvl="1" indent="-457200" algn="just">
              <a:buFont typeface="+mj-lt"/>
              <a:buAutoNum type="alphaLcPeriod"/>
            </a:pPr>
            <a:r>
              <a:rPr lang="en-US" sz="3600" b="1" dirty="0">
                <a:solidFill>
                  <a:srgbClr val="FF0000"/>
                </a:solidFill>
                <a:latin typeface="Courier New" panose="02070309020205020404" pitchFamily="49" charset="0"/>
                <a:cs typeface="Courier New" panose="02070309020205020404" pitchFamily="49" charset="0"/>
              </a:rPr>
              <a:t>milling capacity </a:t>
            </a:r>
          </a:p>
          <a:p>
            <a:pPr marL="457200" lvl="1" indent="0" algn="just">
              <a:buNone/>
            </a:pPr>
            <a:br>
              <a:rPr lang="en-US" sz="3600" dirty="0">
                <a:latin typeface="Courier New" panose="02070309020205020404" pitchFamily="49" charset="0"/>
                <a:cs typeface="Courier New" panose="02070309020205020404" pitchFamily="49" charset="0"/>
              </a:rPr>
            </a:b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474603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F701449-A221-4202-8611-2A98ABF3FEAE}"/>
              </a:ext>
            </a:extLst>
          </p:cNvPr>
          <p:cNvGrpSpPr/>
          <p:nvPr/>
        </p:nvGrpSpPr>
        <p:grpSpPr>
          <a:xfrm>
            <a:off x="1620500" y="318052"/>
            <a:ext cx="8951000" cy="5734850"/>
            <a:chOff x="1756757" y="0"/>
            <a:chExt cx="8951000" cy="5734850"/>
          </a:xfrm>
        </p:grpSpPr>
        <p:pic>
          <p:nvPicPr>
            <p:cNvPr id="4" name="Picture 3">
              <a:extLst>
                <a:ext uri="{FF2B5EF4-FFF2-40B4-BE49-F238E27FC236}">
                  <a16:creationId xmlns:a16="http://schemas.microsoft.com/office/drawing/2014/main" id="{6225E45F-7E20-44CD-8A68-14F80308DB5F}"/>
                </a:ext>
              </a:extLst>
            </p:cNvPr>
            <p:cNvPicPr>
              <a:picLocks noChangeAspect="1"/>
            </p:cNvPicPr>
            <p:nvPr/>
          </p:nvPicPr>
          <p:blipFill>
            <a:blip r:embed="rId2"/>
            <a:stretch>
              <a:fillRect/>
            </a:stretch>
          </p:blipFill>
          <p:spPr>
            <a:xfrm>
              <a:off x="1756757" y="0"/>
              <a:ext cx="8678486" cy="4686954"/>
            </a:xfrm>
            <a:prstGeom prst="rect">
              <a:avLst/>
            </a:prstGeom>
          </p:spPr>
        </p:pic>
        <p:pic>
          <p:nvPicPr>
            <p:cNvPr id="5" name="Picture 4">
              <a:extLst>
                <a:ext uri="{FF2B5EF4-FFF2-40B4-BE49-F238E27FC236}">
                  <a16:creationId xmlns:a16="http://schemas.microsoft.com/office/drawing/2014/main" id="{050D504F-8DA7-487B-959C-1F7495CA6541}"/>
                </a:ext>
              </a:extLst>
            </p:cNvPr>
            <p:cNvPicPr>
              <a:picLocks noChangeAspect="1"/>
            </p:cNvPicPr>
            <p:nvPr/>
          </p:nvPicPr>
          <p:blipFill>
            <a:blip r:embed="rId3"/>
            <a:stretch>
              <a:fillRect/>
            </a:stretch>
          </p:blipFill>
          <p:spPr>
            <a:xfrm>
              <a:off x="1756757" y="4686954"/>
              <a:ext cx="7735380" cy="1047896"/>
            </a:xfrm>
            <a:prstGeom prst="rect">
              <a:avLst/>
            </a:prstGeom>
          </p:spPr>
        </p:pic>
        <p:sp>
          <p:nvSpPr>
            <p:cNvPr id="6" name="Rectangle 5">
              <a:extLst>
                <a:ext uri="{FF2B5EF4-FFF2-40B4-BE49-F238E27FC236}">
                  <a16:creationId xmlns:a16="http://schemas.microsoft.com/office/drawing/2014/main" id="{596CD1B0-51F7-48C5-BCD4-990F078F6FF7}"/>
                </a:ext>
              </a:extLst>
            </p:cNvPr>
            <p:cNvSpPr/>
            <p:nvPr/>
          </p:nvSpPr>
          <p:spPr>
            <a:xfrm>
              <a:off x="1756757" y="2478157"/>
              <a:ext cx="8951000" cy="1152939"/>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622367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82. A 300-hectare coconut plantation is designed to supply coconut oil for a biodiesel plant. There are 100 trees of coconut per hectare. How many liters of biodiesel can be produced by the plant considering a 90% conversion efficiency? Each tree has a capacity to produce an average of 10 nuts per month and 1 liter of coconut oil per 10 nuts.</a:t>
            </a:r>
          </a:p>
          <a:p>
            <a:pPr marL="0" lvl="0" indent="0" algn="just">
              <a:buNone/>
            </a:pPr>
            <a:endParaRPr lang="en-PH" dirty="0">
              <a:latin typeface="Courier New" panose="02070309020205020404" pitchFamily="49" charset="0"/>
              <a:cs typeface="Courier New" panose="02070309020205020404" pitchFamily="49" charset="0"/>
            </a:endParaRPr>
          </a:p>
          <a:p>
            <a:pPr marL="971550" lvl="1" indent="-514350" algn="just">
              <a:buAutoNum type="alphaLcPeriod"/>
            </a:pPr>
            <a:r>
              <a:rPr lang="en-US" sz="2800" dirty="0">
                <a:latin typeface="Courier New" panose="02070309020205020404" pitchFamily="49" charset="0"/>
                <a:cs typeface="Courier New" panose="02070309020205020404" pitchFamily="49" charset="0"/>
              </a:rPr>
              <a:t>54 000 L	</a:t>
            </a:r>
          </a:p>
          <a:p>
            <a:pPr marL="971550" lvl="1" indent="-514350" algn="just">
              <a:buAutoNum type="alphaLcPeriod"/>
            </a:pPr>
            <a:r>
              <a:rPr lang="en-US" sz="2800" dirty="0">
                <a:latin typeface="Courier New" panose="02070309020205020404" pitchFamily="49" charset="0"/>
                <a:cs typeface="Courier New" panose="02070309020205020404" pitchFamily="49" charset="0"/>
              </a:rPr>
              <a:t>27 000 L 		</a:t>
            </a:r>
          </a:p>
          <a:p>
            <a:pPr marL="971550" lvl="1" indent="-514350" algn="just">
              <a:buAutoNum type="alphaLcPeriod"/>
            </a:pPr>
            <a:r>
              <a:rPr lang="en-US" sz="2800" dirty="0">
                <a:latin typeface="Courier New" panose="02070309020205020404" pitchFamily="49" charset="0"/>
                <a:cs typeface="Courier New" panose="02070309020205020404" pitchFamily="49" charset="0"/>
              </a:rPr>
              <a:t>30 000 L 		</a:t>
            </a:r>
          </a:p>
          <a:p>
            <a:pPr marL="971550" lvl="1" indent="-514350" algn="just">
              <a:buAutoNum type="alphaLcPeriod"/>
            </a:pPr>
            <a:r>
              <a:rPr lang="en-US" sz="2800" dirty="0">
                <a:latin typeface="Courier New" panose="02070309020205020404" pitchFamily="49" charset="0"/>
                <a:cs typeface="Courier New" panose="02070309020205020404" pitchFamily="49" charset="0"/>
              </a:rPr>
              <a:t>60 000 L</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951251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PH" dirty="0">
                <a:latin typeface="Courier New" panose="02070309020205020404" pitchFamily="49" charset="0"/>
                <a:cs typeface="Courier New" panose="02070309020205020404" pitchFamily="49" charset="0"/>
              </a:rPr>
              <a:t>82. A 300-hectare coconut plantation is designed to supply coconut oil for a biodiesel plant. There are 100 trees of coconut per hectare. How many liters of biodiesel can be produced by the plant considering a 90% conversion efficiency? Each tree has a capacity to produce an average of 10 nuts per month and 1 liter of coconut oil per 10 nuts.</a:t>
            </a:r>
          </a:p>
          <a:p>
            <a:pPr marL="0" lvl="0" indent="0" algn="just">
              <a:buNone/>
            </a:pPr>
            <a:endParaRPr lang="en-PH" dirty="0">
              <a:latin typeface="Courier New" panose="02070309020205020404" pitchFamily="49" charset="0"/>
              <a:cs typeface="Courier New" panose="02070309020205020404" pitchFamily="49" charset="0"/>
            </a:endParaRPr>
          </a:p>
          <a:p>
            <a:pPr marL="971550" lvl="1" indent="-514350" algn="just">
              <a:buAutoNum type="alphaLcPeriod"/>
            </a:pPr>
            <a:r>
              <a:rPr lang="en-US" sz="2800" dirty="0">
                <a:latin typeface="Courier New" panose="02070309020205020404" pitchFamily="49" charset="0"/>
                <a:cs typeface="Courier New" panose="02070309020205020404" pitchFamily="49" charset="0"/>
              </a:rPr>
              <a:t>54 000 L	</a:t>
            </a:r>
          </a:p>
          <a:p>
            <a:pPr marL="971550" lvl="1" indent="-514350" algn="just">
              <a:buAutoNum type="alphaLcPeriod"/>
            </a:pPr>
            <a:r>
              <a:rPr lang="en-US" sz="2800" b="1" dirty="0">
                <a:solidFill>
                  <a:srgbClr val="FF0000"/>
                </a:solidFill>
                <a:latin typeface="Courier New" panose="02070309020205020404" pitchFamily="49" charset="0"/>
                <a:cs typeface="Courier New" panose="02070309020205020404" pitchFamily="49" charset="0"/>
              </a:rPr>
              <a:t>27 000 L </a:t>
            </a:r>
            <a:r>
              <a:rPr lang="en-US" sz="2800" dirty="0">
                <a:latin typeface="Courier New" panose="02070309020205020404" pitchFamily="49" charset="0"/>
                <a:cs typeface="Courier New" panose="02070309020205020404" pitchFamily="49" charset="0"/>
              </a:rPr>
              <a:t>		</a:t>
            </a:r>
          </a:p>
          <a:p>
            <a:pPr marL="971550" lvl="1" indent="-514350" algn="just">
              <a:buAutoNum type="alphaLcPeriod"/>
            </a:pPr>
            <a:r>
              <a:rPr lang="en-US" sz="2800" dirty="0">
                <a:latin typeface="Courier New" panose="02070309020205020404" pitchFamily="49" charset="0"/>
                <a:cs typeface="Courier New" panose="02070309020205020404" pitchFamily="49" charset="0"/>
              </a:rPr>
              <a:t>30 000 L 		</a:t>
            </a:r>
          </a:p>
          <a:p>
            <a:pPr marL="971550" lvl="1" indent="-514350" algn="just">
              <a:buAutoNum type="alphaLcPeriod"/>
            </a:pPr>
            <a:r>
              <a:rPr lang="en-US" sz="2800" dirty="0">
                <a:latin typeface="Courier New" panose="02070309020205020404" pitchFamily="49" charset="0"/>
                <a:cs typeface="Courier New" panose="02070309020205020404" pitchFamily="49" charset="0"/>
              </a:rPr>
              <a:t>60 000 L</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898598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PH" sz="3200" dirty="0">
                <a:latin typeface="Courier New" panose="02070309020205020404" pitchFamily="49" charset="0"/>
                <a:cs typeface="Courier New" panose="02070309020205020404" pitchFamily="49" charset="0"/>
              </a:rPr>
              <a:t>83. The following includes the agencies that will promulgate the rules and regulations to effectively implement the provisions of the Republic Act No. 11203, EXCEPT:</a:t>
            </a:r>
          </a:p>
          <a:p>
            <a:pPr marL="0" lvl="0" indent="0">
              <a:buNone/>
            </a:pPr>
            <a:endParaRPr lang="en-PH" sz="3200" dirty="0">
              <a:latin typeface="Courier New" panose="02070309020205020404" pitchFamily="49" charset="0"/>
              <a:cs typeface="Courier New" panose="02070309020205020404" pitchFamily="49" charset="0"/>
            </a:endParaRPr>
          </a:p>
          <a:p>
            <a:pPr marL="971550" lvl="1" indent="-514350">
              <a:buAutoNum type="alphaLcPeriod"/>
            </a:pPr>
            <a:r>
              <a:rPr lang="en-US" sz="3200" dirty="0">
                <a:latin typeface="Courier New" panose="02070309020205020404" pitchFamily="49" charset="0"/>
                <a:cs typeface="Courier New" panose="02070309020205020404" pitchFamily="49" charset="0"/>
              </a:rPr>
              <a:t>DA		</a:t>
            </a:r>
          </a:p>
          <a:p>
            <a:pPr marL="971550" lvl="1" indent="-514350">
              <a:buAutoNum type="alphaLcPeriod"/>
            </a:pPr>
            <a:r>
              <a:rPr lang="en-US" sz="3200" dirty="0">
                <a:latin typeface="Courier New" panose="02070309020205020404" pitchFamily="49" charset="0"/>
                <a:cs typeface="Courier New" panose="02070309020205020404" pitchFamily="49" charset="0"/>
              </a:rPr>
              <a:t>NEDA 		</a:t>
            </a:r>
          </a:p>
          <a:p>
            <a:pPr marL="971550" lvl="1" indent="-514350">
              <a:buAutoNum type="alphaLcPeriod"/>
            </a:pPr>
            <a:r>
              <a:rPr lang="en-US" sz="3200" dirty="0">
                <a:latin typeface="Courier New" panose="02070309020205020404" pitchFamily="49" charset="0"/>
                <a:cs typeface="Courier New" panose="02070309020205020404" pitchFamily="49" charset="0"/>
              </a:rPr>
              <a:t>DBM			</a:t>
            </a:r>
          </a:p>
          <a:p>
            <a:pPr marL="971550" lvl="1" indent="-514350">
              <a:buAutoNum type="alphaLcPeriod"/>
            </a:pPr>
            <a:r>
              <a:rPr lang="en-US" sz="3200" dirty="0">
                <a:latin typeface="Courier New" panose="02070309020205020404" pitchFamily="49" charset="0"/>
                <a:cs typeface="Courier New" panose="02070309020205020404" pitchFamily="49" charset="0"/>
              </a:rPr>
              <a:t>PCIC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6537957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buNone/>
            </a:pPr>
            <a:r>
              <a:rPr lang="en-PH" sz="3200" dirty="0">
                <a:latin typeface="Courier New" panose="02070309020205020404" pitchFamily="49" charset="0"/>
                <a:cs typeface="Courier New" panose="02070309020205020404" pitchFamily="49" charset="0"/>
              </a:rPr>
              <a:t>83. The following includes the agencies that will promulgate the rules and regulations to effectively implement the provisions of the Republic Act No. 11203, EXCEPT:</a:t>
            </a:r>
          </a:p>
          <a:p>
            <a:pPr marL="0" lvl="0" indent="0">
              <a:buNone/>
            </a:pPr>
            <a:endParaRPr lang="en-PH" sz="3200" dirty="0">
              <a:latin typeface="Courier New" panose="02070309020205020404" pitchFamily="49" charset="0"/>
              <a:cs typeface="Courier New" panose="02070309020205020404" pitchFamily="49" charset="0"/>
            </a:endParaRPr>
          </a:p>
          <a:p>
            <a:pPr marL="971550" lvl="1" indent="-514350">
              <a:buAutoNum type="alphaLcPeriod"/>
            </a:pPr>
            <a:r>
              <a:rPr lang="en-US" sz="3200" dirty="0">
                <a:latin typeface="Courier New" panose="02070309020205020404" pitchFamily="49" charset="0"/>
                <a:cs typeface="Courier New" panose="02070309020205020404" pitchFamily="49" charset="0"/>
              </a:rPr>
              <a:t>DA		</a:t>
            </a:r>
          </a:p>
          <a:p>
            <a:pPr marL="971550" lvl="1" indent="-514350">
              <a:buAutoNum type="alphaLcPeriod"/>
            </a:pPr>
            <a:r>
              <a:rPr lang="en-US" sz="3200" dirty="0">
                <a:latin typeface="Courier New" panose="02070309020205020404" pitchFamily="49" charset="0"/>
                <a:cs typeface="Courier New" panose="02070309020205020404" pitchFamily="49" charset="0"/>
              </a:rPr>
              <a:t>NEDA 		</a:t>
            </a:r>
          </a:p>
          <a:p>
            <a:pPr marL="971550" lvl="1" indent="-514350">
              <a:buAutoNum type="alphaLcPeriod"/>
            </a:pPr>
            <a:r>
              <a:rPr lang="en-US" sz="3200" dirty="0">
                <a:latin typeface="Courier New" panose="02070309020205020404" pitchFamily="49" charset="0"/>
                <a:cs typeface="Courier New" panose="02070309020205020404" pitchFamily="49" charset="0"/>
              </a:rPr>
              <a:t>DBM			</a:t>
            </a:r>
          </a:p>
          <a:p>
            <a:pPr marL="971550" lvl="1" indent="-514350">
              <a:buAutoNum type="alphaLcPeriod"/>
            </a:pPr>
            <a:r>
              <a:rPr lang="en-US" sz="3200" b="1" dirty="0">
                <a:solidFill>
                  <a:srgbClr val="FF0000"/>
                </a:solidFill>
                <a:latin typeface="Courier New" panose="02070309020205020404" pitchFamily="49" charset="0"/>
                <a:cs typeface="Courier New" panose="02070309020205020404" pitchFamily="49" charset="0"/>
              </a:rPr>
              <a:t>PCIC</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042180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B00C46-4236-427F-AB02-B039020D119A}"/>
              </a:ext>
            </a:extLst>
          </p:cNvPr>
          <p:cNvPicPr>
            <a:picLocks noChangeAspect="1"/>
          </p:cNvPicPr>
          <p:nvPr/>
        </p:nvPicPr>
        <p:blipFill>
          <a:blip r:embed="rId2"/>
          <a:stretch>
            <a:fillRect/>
          </a:stretch>
        </p:blipFill>
        <p:spPr>
          <a:xfrm>
            <a:off x="0" y="2773516"/>
            <a:ext cx="12192000" cy="1310968"/>
          </a:xfrm>
          <a:prstGeom prst="rect">
            <a:avLst/>
          </a:prstGeom>
        </p:spPr>
      </p:pic>
    </p:spTree>
    <p:extLst>
      <p:ext uri="{BB962C8B-B14F-4D97-AF65-F5344CB8AC3E}">
        <p14:creationId xmlns:p14="http://schemas.microsoft.com/office/powerpoint/2010/main" val="139840145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84. The Blooms Consulting has a contract to design a major park project which has an estimated of Php 2.8 million. Annual upkeep costs are estimated at Php 150,000. Benefits of Php 370,000 per year and disbenefits of Php 70,000 per year have also been identified. Using a discount rate of 6% per year, calculate the conventional B/C ratio.</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AutoNum type="alphaLcPeriod"/>
            </a:pPr>
            <a:r>
              <a:rPr lang="en-US" sz="2800" dirty="0">
                <a:latin typeface="Courier New" panose="02070309020205020404" pitchFamily="49" charset="0"/>
                <a:cs typeface="Courier New" panose="02070309020205020404" pitchFamily="49" charset="0"/>
              </a:rPr>
              <a:t>1.07		</a:t>
            </a:r>
          </a:p>
          <a:p>
            <a:pPr marL="971550" lvl="1" indent="-514350" algn="just">
              <a:buAutoNum type="alphaLcPeriod"/>
            </a:pPr>
            <a:r>
              <a:rPr lang="en-US" sz="2800" dirty="0">
                <a:latin typeface="Courier New" panose="02070309020205020404" pitchFamily="49" charset="0"/>
                <a:cs typeface="Courier New" panose="02070309020205020404" pitchFamily="49" charset="0"/>
              </a:rPr>
              <a:t>1.66 		</a:t>
            </a:r>
          </a:p>
          <a:p>
            <a:pPr marL="971550" lvl="1" indent="-514350" algn="just">
              <a:buAutoNum type="alphaLcPeriod"/>
            </a:pPr>
            <a:r>
              <a:rPr lang="en-US" sz="2800" dirty="0">
                <a:latin typeface="Courier New" panose="02070309020205020404" pitchFamily="49" charset="0"/>
                <a:cs typeface="Courier New" panose="02070309020205020404" pitchFamily="49" charset="0"/>
              </a:rPr>
              <a:t>1.02			</a:t>
            </a:r>
          </a:p>
          <a:p>
            <a:pPr marL="971550" lvl="1" indent="-514350" algn="just">
              <a:buAutoNum type="alphaLcPeriod"/>
            </a:pPr>
            <a:r>
              <a:rPr lang="en-US" sz="2800" dirty="0">
                <a:latin typeface="Courier New" panose="02070309020205020404" pitchFamily="49" charset="0"/>
                <a:cs typeface="Courier New" panose="02070309020205020404" pitchFamily="49" charset="0"/>
              </a:rPr>
              <a:t>1.49</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8747528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dirty="0">
                <a:latin typeface="Courier New" panose="02070309020205020404" pitchFamily="49" charset="0"/>
                <a:cs typeface="Courier New" panose="02070309020205020404" pitchFamily="49" charset="0"/>
              </a:rPr>
              <a:t>84. The Blooms Consulting has a contract to design a major park project which has an estimated of Php 2.8 million. Annual upkeep costs are estimated at Php 150,000. Benefits of Php 370,000 per year and disbenefits of Php 70,000 per year have also been identified. Using a discount rate of 6% per year, calculate the conventional B/C ratio.</a:t>
            </a:r>
          </a:p>
          <a:p>
            <a:pPr marL="0" lvl="0" indent="0" algn="just">
              <a:buNone/>
            </a:pPr>
            <a:endParaRPr lang="en-US" dirty="0">
              <a:latin typeface="Courier New" panose="02070309020205020404" pitchFamily="49" charset="0"/>
              <a:cs typeface="Courier New" panose="02070309020205020404" pitchFamily="49" charset="0"/>
            </a:endParaRPr>
          </a:p>
          <a:p>
            <a:pPr marL="971550" lvl="1" indent="-514350" algn="just">
              <a:buAutoNum type="alphaLcPeriod"/>
            </a:pPr>
            <a:r>
              <a:rPr lang="en-US" sz="2800" dirty="0">
                <a:latin typeface="Courier New" panose="02070309020205020404" pitchFamily="49" charset="0"/>
                <a:cs typeface="Courier New" panose="02070309020205020404" pitchFamily="49" charset="0"/>
              </a:rPr>
              <a:t>1.07		</a:t>
            </a:r>
          </a:p>
          <a:p>
            <a:pPr marL="971550" lvl="1" indent="-514350" algn="just">
              <a:buAutoNum type="alphaLcPeriod"/>
            </a:pPr>
            <a:r>
              <a:rPr lang="en-US" sz="2800" dirty="0">
                <a:latin typeface="Courier New" panose="02070309020205020404" pitchFamily="49" charset="0"/>
                <a:cs typeface="Courier New" panose="02070309020205020404" pitchFamily="49" charset="0"/>
              </a:rPr>
              <a:t>1.66 		</a:t>
            </a:r>
          </a:p>
          <a:p>
            <a:pPr marL="971550" lvl="1" indent="-514350" algn="just">
              <a:buAutoNum type="alphaLcPeriod"/>
            </a:pPr>
            <a:r>
              <a:rPr lang="en-US" sz="2800" b="1" dirty="0">
                <a:solidFill>
                  <a:srgbClr val="FF0000"/>
                </a:solidFill>
                <a:latin typeface="Courier New" panose="02070309020205020404" pitchFamily="49" charset="0"/>
                <a:cs typeface="Courier New" panose="02070309020205020404" pitchFamily="49" charset="0"/>
              </a:rPr>
              <a:t>1.02	</a:t>
            </a:r>
            <a:r>
              <a:rPr lang="en-US" sz="2800" dirty="0">
                <a:latin typeface="Courier New" panose="02070309020205020404" pitchFamily="49" charset="0"/>
                <a:cs typeface="Courier New" panose="02070309020205020404" pitchFamily="49" charset="0"/>
              </a:rPr>
              <a:t>		</a:t>
            </a:r>
          </a:p>
          <a:p>
            <a:pPr marL="971550" lvl="1" indent="-514350" algn="just">
              <a:buAutoNum type="alphaLcPeriod"/>
            </a:pPr>
            <a:r>
              <a:rPr lang="en-US" sz="2800" dirty="0">
                <a:latin typeface="Courier New" panose="02070309020205020404" pitchFamily="49" charset="0"/>
                <a:cs typeface="Courier New" panose="02070309020205020404" pitchFamily="49" charset="0"/>
              </a:rPr>
              <a:t>1.49</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001878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85. It is defined as a process of translating future value into their present value worth by applying a factor that reflects the diminishing value of the same amount of money as one moves further into the future.</a:t>
            </a:r>
          </a:p>
          <a:p>
            <a:pPr marL="457200" lvl="1" indent="0" algn="just">
              <a:buNone/>
            </a:pP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a. Benefits-Cost Ratio</a:t>
            </a:r>
          </a:p>
          <a:p>
            <a:pPr marL="457200" lvl="1" indent="0" algn="just">
              <a:buNone/>
            </a:pPr>
            <a:r>
              <a:rPr lang="en-US" sz="3200" dirty="0">
                <a:latin typeface="Courier New" panose="02070309020205020404" pitchFamily="49" charset="0"/>
                <a:cs typeface="Courier New" panose="02070309020205020404" pitchFamily="49" charset="0"/>
              </a:rPr>
              <a:t>b. Discounting</a:t>
            </a:r>
          </a:p>
          <a:p>
            <a:pPr marL="457200" lvl="1" indent="0" algn="just">
              <a:buNone/>
            </a:pPr>
            <a:r>
              <a:rPr lang="en-US" sz="3200" dirty="0">
                <a:latin typeface="Courier New" panose="02070309020205020404" pitchFamily="49" charset="0"/>
                <a:cs typeface="Courier New" panose="02070309020205020404" pitchFamily="49" charset="0"/>
              </a:rPr>
              <a:t>c. Net Present Value</a:t>
            </a:r>
          </a:p>
          <a:p>
            <a:pPr marL="457200" lvl="1" indent="0" algn="just">
              <a:buNone/>
            </a:pPr>
            <a:r>
              <a:rPr lang="en-US" sz="3200" dirty="0">
                <a:latin typeface="Courier New" panose="02070309020205020404" pitchFamily="49" charset="0"/>
                <a:cs typeface="Courier New" panose="02070309020205020404" pitchFamily="49" charset="0"/>
              </a:rPr>
              <a:t>d. Return of Investment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3829291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200" dirty="0">
                <a:latin typeface="Courier New" panose="02070309020205020404" pitchFamily="49" charset="0"/>
                <a:cs typeface="Courier New" panose="02070309020205020404" pitchFamily="49" charset="0"/>
              </a:rPr>
              <a:t>85. It is defined as a process of translating future value into their present value worth by applying a factor that reflects the diminishing value of the same amount of money as one moves further into the future.</a:t>
            </a:r>
          </a:p>
          <a:p>
            <a:pPr marL="457200" lvl="1" indent="0" algn="just">
              <a:buNone/>
            </a:pP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a. Benefits-Cost Ratio</a:t>
            </a:r>
          </a:p>
          <a:p>
            <a:pPr marL="457200" lvl="1" indent="0" algn="just">
              <a:buNone/>
            </a:pPr>
            <a:r>
              <a:rPr lang="en-US" sz="3200" b="1" dirty="0">
                <a:solidFill>
                  <a:srgbClr val="FF0000"/>
                </a:solidFill>
                <a:latin typeface="Courier New" panose="02070309020205020404" pitchFamily="49" charset="0"/>
                <a:cs typeface="Courier New" panose="02070309020205020404" pitchFamily="49" charset="0"/>
              </a:rPr>
              <a:t>b. Discounting</a:t>
            </a:r>
          </a:p>
          <a:p>
            <a:pPr marL="457200" lvl="1" indent="0" algn="just">
              <a:buNone/>
            </a:pPr>
            <a:r>
              <a:rPr lang="en-US" sz="3200" dirty="0">
                <a:latin typeface="Courier New" panose="02070309020205020404" pitchFamily="49" charset="0"/>
                <a:cs typeface="Courier New" panose="02070309020205020404" pitchFamily="49" charset="0"/>
              </a:rPr>
              <a:t>c. Net Present Value</a:t>
            </a:r>
          </a:p>
          <a:p>
            <a:pPr marL="457200" lvl="1" indent="0" algn="just">
              <a:buNone/>
            </a:pPr>
            <a:r>
              <a:rPr lang="en-US" sz="3200" dirty="0">
                <a:latin typeface="Courier New" panose="02070309020205020404" pitchFamily="49" charset="0"/>
                <a:cs typeface="Courier New" panose="02070309020205020404" pitchFamily="49" charset="0"/>
              </a:rPr>
              <a:t>d. Return of Investment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8468541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86. Which of the following is NOT true about the operators’ responsibility for safety.</a:t>
            </a:r>
          </a:p>
          <a:p>
            <a:pPr marL="0" lvl="0" indent="0" algn="just">
              <a:buNone/>
            </a:pPr>
            <a:endParaRPr lang="en-US" sz="3000" dirty="0">
              <a:latin typeface="Courier New" panose="02070309020205020404" pitchFamily="49" charset="0"/>
              <a:cs typeface="Courier New" panose="02070309020205020404" pitchFamily="49" charset="0"/>
            </a:endParaRPr>
          </a:p>
          <a:p>
            <a:pPr marL="457200" lvl="1" indent="0" algn="just">
              <a:buNone/>
            </a:pPr>
            <a:r>
              <a:rPr lang="en-US" sz="3000" dirty="0">
                <a:latin typeface="Courier New" panose="02070309020205020404" pitchFamily="49" charset="0"/>
                <a:cs typeface="Courier New" panose="02070309020205020404" pitchFamily="49" charset="0"/>
              </a:rPr>
              <a:t>a. Always keep shields and guards over power shafts, chains and gears.</a:t>
            </a:r>
          </a:p>
          <a:p>
            <a:pPr marL="457200" lvl="1" indent="0" algn="just">
              <a:buNone/>
            </a:pPr>
            <a:r>
              <a:rPr lang="en-US" sz="3000" dirty="0">
                <a:latin typeface="Courier New" panose="02070309020205020404" pitchFamily="49" charset="0"/>
                <a:cs typeface="Courier New" panose="02070309020205020404" pitchFamily="49" charset="0"/>
              </a:rPr>
              <a:t>b. Make sure the tractor and others are in gear before starting.</a:t>
            </a:r>
          </a:p>
          <a:p>
            <a:pPr marL="457200" lvl="1" indent="0" algn="just">
              <a:buNone/>
            </a:pPr>
            <a:r>
              <a:rPr lang="en-US" sz="3000" dirty="0">
                <a:latin typeface="Courier New" panose="02070309020205020404" pitchFamily="49" charset="0"/>
                <a:cs typeface="Courier New" panose="02070309020205020404" pitchFamily="49" charset="0"/>
              </a:rPr>
              <a:t>c. When pulling heavy objects, hitch under center of the tractor.</a:t>
            </a:r>
          </a:p>
          <a:p>
            <a:pPr marL="457200" lvl="1" indent="0" algn="just">
              <a:buNone/>
            </a:pPr>
            <a:r>
              <a:rPr lang="en-US" sz="3000" dirty="0">
                <a:latin typeface="Courier New" panose="02070309020205020404" pitchFamily="49" charset="0"/>
                <a:cs typeface="Courier New" panose="02070309020205020404" pitchFamily="49" charset="0"/>
              </a:rPr>
              <a:t>d. Do not get in front of moving machines to make adjustments.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3486195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a:noAutofit/>
          </a:bodyPr>
          <a:lstStyle/>
          <a:p>
            <a:pPr marL="0" lvl="0" indent="0" algn="just">
              <a:buNone/>
            </a:pPr>
            <a:r>
              <a:rPr lang="en-US" sz="3000" dirty="0">
                <a:latin typeface="Courier New" panose="02070309020205020404" pitchFamily="49" charset="0"/>
                <a:cs typeface="Courier New" panose="02070309020205020404" pitchFamily="49" charset="0"/>
              </a:rPr>
              <a:t>86. Which of the following is NOT true about the operators’ responsibility for safety.</a:t>
            </a:r>
          </a:p>
          <a:p>
            <a:pPr marL="0" lvl="0" indent="0" algn="just">
              <a:buNone/>
            </a:pPr>
            <a:endParaRPr lang="en-US" sz="3000" dirty="0">
              <a:latin typeface="Courier New" panose="02070309020205020404" pitchFamily="49" charset="0"/>
              <a:cs typeface="Courier New" panose="02070309020205020404" pitchFamily="49" charset="0"/>
            </a:endParaRPr>
          </a:p>
          <a:p>
            <a:pPr marL="457200" lvl="1" indent="0" algn="just">
              <a:buNone/>
            </a:pPr>
            <a:r>
              <a:rPr lang="en-US" sz="3000" dirty="0">
                <a:latin typeface="Courier New" panose="02070309020205020404" pitchFamily="49" charset="0"/>
                <a:cs typeface="Courier New" panose="02070309020205020404" pitchFamily="49" charset="0"/>
              </a:rPr>
              <a:t>a. Always keep shields and guards over power shafts, chains and gears.</a:t>
            </a:r>
          </a:p>
          <a:p>
            <a:pPr marL="457200" lvl="1" indent="0" algn="just">
              <a:buNone/>
            </a:pPr>
            <a:r>
              <a:rPr lang="en-US" sz="3000" b="1" dirty="0">
                <a:solidFill>
                  <a:srgbClr val="FF0000"/>
                </a:solidFill>
                <a:latin typeface="Courier New" panose="02070309020205020404" pitchFamily="49" charset="0"/>
                <a:cs typeface="Courier New" panose="02070309020205020404" pitchFamily="49" charset="0"/>
              </a:rPr>
              <a:t>b. Make sure the tractor and others are in gear before starting.</a:t>
            </a:r>
          </a:p>
          <a:p>
            <a:pPr marL="457200" lvl="1" indent="0" algn="just">
              <a:buNone/>
            </a:pPr>
            <a:r>
              <a:rPr lang="en-US" sz="3000" dirty="0">
                <a:latin typeface="Courier New" panose="02070309020205020404" pitchFamily="49" charset="0"/>
                <a:cs typeface="Courier New" panose="02070309020205020404" pitchFamily="49" charset="0"/>
              </a:rPr>
              <a:t>c. When pulling heavy objects, hitch under center of the tractor.</a:t>
            </a:r>
          </a:p>
          <a:p>
            <a:pPr marL="457200" lvl="1" indent="0" algn="just">
              <a:buNone/>
            </a:pPr>
            <a:r>
              <a:rPr lang="en-US" sz="3000" dirty="0">
                <a:latin typeface="Courier New" panose="02070309020205020404" pitchFamily="49" charset="0"/>
                <a:cs typeface="Courier New" panose="02070309020205020404" pitchFamily="49" charset="0"/>
              </a:rPr>
              <a:t>d. Do not get in front of moving machines to make adjustments.</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6881348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3200" i="1" dirty="0">
                <a:latin typeface="Courier New" panose="02070309020205020404" pitchFamily="49" charset="0"/>
                <a:cs typeface="Courier New" panose="02070309020205020404" pitchFamily="49" charset="0"/>
              </a:rPr>
              <a:t>87-89</a:t>
            </a:r>
            <a:r>
              <a:rPr lang="en-US" sz="3200" dirty="0">
                <a:latin typeface="Courier New" panose="02070309020205020404" pitchFamily="49" charset="0"/>
                <a:cs typeface="Courier New" panose="02070309020205020404" pitchFamily="49" charset="0"/>
              </a:rPr>
              <a:t> </a:t>
            </a:r>
            <a:r>
              <a:rPr lang="en-US" sz="3200" i="1" dirty="0">
                <a:latin typeface="Courier New" panose="02070309020205020404" pitchFamily="49" charset="0"/>
                <a:cs typeface="Courier New" panose="02070309020205020404" pitchFamily="49" charset="0"/>
              </a:rPr>
              <a:t>Ms. Colet plans to open a bread shop and identifies some of the costs the business might incur.</a:t>
            </a:r>
            <a:endParaRPr lang="en-US" sz="3200" dirty="0">
              <a:latin typeface="Courier New" panose="02070309020205020404" pitchFamily="49" charset="0"/>
              <a:cs typeface="Courier New" panose="02070309020205020404" pitchFamily="49" charset="0"/>
            </a:endParaRPr>
          </a:p>
          <a:p>
            <a:pPr marL="0" lvl="0" indent="0" algn="just">
              <a:buNone/>
            </a:pPr>
            <a:endParaRPr lang="en-US" sz="3200" dirty="0">
              <a:latin typeface="Courier New" panose="02070309020205020404" pitchFamily="49" charset="0"/>
              <a:cs typeface="Courier New" panose="02070309020205020404" pitchFamily="49" charset="0"/>
            </a:endParaRPr>
          </a:p>
          <a:p>
            <a:pPr marL="0" lvl="0" indent="0" algn="just">
              <a:buNone/>
            </a:pPr>
            <a:r>
              <a:rPr lang="en-US" sz="3200" dirty="0">
                <a:latin typeface="Courier New" panose="02070309020205020404" pitchFamily="49" charset="0"/>
                <a:cs typeface="Courier New" panose="02070309020205020404" pitchFamily="49" charset="0"/>
              </a:rPr>
              <a:t>87. Identify the type of cost: mortgage</a:t>
            </a:r>
          </a:p>
          <a:p>
            <a:pPr marL="457200" lvl="1" indent="0" algn="just">
              <a:buNone/>
            </a:pP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a. Fixed cost</a:t>
            </a:r>
          </a:p>
          <a:p>
            <a:pPr marL="457200" lvl="1" indent="0" algn="just">
              <a:buNone/>
            </a:pPr>
            <a:r>
              <a:rPr lang="en-US" sz="3200" dirty="0">
                <a:latin typeface="Courier New" panose="02070309020205020404" pitchFamily="49" charset="0"/>
                <a:cs typeface="Courier New" panose="02070309020205020404" pitchFamily="49" charset="0"/>
              </a:rPr>
              <a:t>b. Variable cost</a:t>
            </a:r>
          </a:p>
          <a:p>
            <a:pPr marL="457200" lvl="1" indent="0" algn="just">
              <a:buNone/>
            </a:pPr>
            <a:r>
              <a:rPr lang="en-US" sz="3200" dirty="0">
                <a:latin typeface="Courier New" panose="02070309020205020404" pitchFamily="49" charset="0"/>
                <a:cs typeface="Courier New" panose="02070309020205020404" pitchFamily="49" charset="0"/>
              </a:rPr>
              <a:t>c. Direct cost</a:t>
            </a:r>
          </a:p>
          <a:p>
            <a:pPr marL="457200" lvl="1" indent="0" algn="just">
              <a:buNone/>
            </a:pPr>
            <a:r>
              <a:rPr lang="en-US" sz="3200" dirty="0">
                <a:latin typeface="Courier New" panose="02070309020205020404" pitchFamily="49" charset="0"/>
                <a:cs typeface="Courier New" panose="02070309020205020404" pitchFamily="49" charset="0"/>
              </a:rPr>
              <a:t>d. Indirect cost  </a:t>
            </a:r>
          </a:p>
          <a:p>
            <a:pPr marL="0" lvl="0" indent="0" algn="just">
              <a:buNone/>
            </a:pP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4516285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3200" i="1" dirty="0">
                <a:latin typeface="Courier New" panose="02070309020205020404" pitchFamily="49" charset="0"/>
                <a:cs typeface="Courier New" panose="02070309020205020404" pitchFamily="49" charset="0"/>
              </a:rPr>
              <a:t>87-89</a:t>
            </a:r>
            <a:r>
              <a:rPr lang="en-US" sz="3200" dirty="0">
                <a:latin typeface="Courier New" panose="02070309020205020404" pitchFamily="49" charset="0"/>
                <a:cs typeface="Courier New" panose="02070309020205020404" pitchFamily="49" charset="0"/>
              </a:rPr>
              <a:t> </a:t>
            </a:r>
            <a:r>
              <a:rPr lang="en-US" sz="3200" i="1" dirty="0">
                <a:latin typeface="Courier New" panose="02070309020205020404" pitchFamily="49" charset="0"/>
                <a:cs typeface="Courier New" panose="02070309020205020404" pitchFamily="49" charset="0"/>
              </a:rPr>
              <a:t>Ms. Colet plans to open a bread shop and identifies some of the costs the business might incur.</a:t>
            </a:r>
            <a:endParaRPr lang="en-US" sz="3200" dirty="0">
              <a:latin typeface="Courier New" panose="02070309020205020404" pitchFamily="49" charset="0"/>
              <a:cs typeface="Courier New" panose="02070309020205020404" pitchFamily="49" charset="0"/>
            </a:endParaRPr>
          </a:p>
          <a:p>
            <a:pPr marL="0" lvl="0" indent="0" algn="just">
              <a:buNone/>
            </a:pPr>
            <a:endParaRPr lang="en-US" sz="3200" dirty="0">
              <a:latin typeface="Courier New" panose="02070309020205020404" pitchFamily="49" charset="0"/>
              <a:cs typeface="Courier New" panose="02070309020205020404" pitchFamily="49" charset="0"/>
            </a:endParaRPr>
          </a:p>
          <a:p>
            <a:pPr marL="0" lvl="0" indent="0" algn="just">
              <a:buNone/>
            </a:pPr>
            <a:r>
              <a:rPr lang="en-US" sz="3200" dirty="0">
                <a:latin typeface="Courier New" panose="02070309020205020404" pitchFamily="49" charset="0"/>
                <a:cs typeface="Courier New" panose="02070309020205020404" pitchFamily="49" charset="0"/>
              </a:rPr>
              <a:t>87. Identify the type of cost: mortgage</a:t>
            </a:r>
          </a:p>
          <a:p>
            <a:pPr marL="457200" lvl="1" indent="0" algn="just">
              <a:buNone/>
            </a:pPr>
            <a:br>
              <a:rPr lang="en-US" sz="3200" dirty="0">
                <a:latin typeface="Courier New" panose="02070309020205020404" pitchFamily="49" charset="0"/>
                <a:cs typeface="Courier New" panose="02070309020205020404" pitchFamily="49" charset="0"/>
              </a:rPr>
            </a:br>
            <a:r>
              <a:rPr lang="en-US" sz="3200" b="1" dirty="0">
                <a:solidFill>
                  <a:srgbClr val="FF0000"/>
                </a:solidFill>
                <a:latin typeface="Courier New" panose="02070309020205020404" pitchFamily="49" charset="0"/>
                <a:cs typeface="Courier New" panose="02070309020205020404" pitchFamily="49" charset="0"/>
              </a:rPr>
              <a:t>a. Fixed cost</a:t>
            </a:r>
          </a:p>
          <a:p>
            <a:pPr marL="457200" lvl="1" indent="0" algn="just">
              <a:buNone/>
            </a:pPr>
            <a:r>
              <a:rPr lang="en-US" sz="3200" dirty="0">
                <a:latin typeface="Courier New" panose="02070309020205020404" pitchFamily="49" charset="0"/>
                <a:cs typeface="Courier New" panose="02070309020205020404" pitchFamily="49" charset="0"/>
              </a:rPr>
              <a:t>b. Variable cost</a:t>
            </a:r>
          </a:p>
          <a:p>
            <a:pPr marL="457200" lvl="1" indent="0" algn="just">
              <a:buNone/>
            </a:pPr>
            <a:r>
              <a:rPr lang="en-US" sz="3200" dirty="0">
                <a:latin typeface="Courier New" panose="02070309020205020404" pitchFamily="49" charset="0"/>
                <a:cs typeface="Courier New" panose="02070309020205020404" pitchFamily="49" charset="0"/>
              </a:rPr>
              <a:t>c. Direct cost</a:t>
            </a:r>
          </a:p>
          <a:p>
            <a:pPr marL="457200" lvl="1" indent="0" algn="just">
              <a:buNone/>
            </a:pPr>
            <a:r>
              <a:rPr lang="en-US" sz="3200" dirty="0">
                <a:latin typeface="Courier New" panose="02070309020205020404" pitchFamily="49" charset="0"/>
                <a:cs typeface="Courier New" panose="02070309020205020404" pitchFamily="49" charset="0"/>
              </a:rPr>
              <a:t>d. Indirect cost  </a:t>
            </a:r>
          </a:p>
          <a:p>
            <a:pPr marL="0" lvl="0" indent="0" algn="just">
              <a:buNone/>
            </a:pPr>
            <a:endParaRPr lang="en-US" sz="32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4674136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88. Identify the type of cost: raw materials (sugar, butter, flour)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Fixed cost</a:t>
            </a:r>
          </a:p>
          <a:p>
            <a:pPr marL="457200" lvl="1" indent="0" algn="just">
              <a:buNone/>
            </a:pPr>
            <a:r>
              <a:rPr lang="en-US" sz="3600" dirty="0">
                <a:latin typeface="Courier New" panose="02070309020205020404" pitchFamily="49" charset="0"/>
                <a:cs typeface="Courier New" panose="02070309020205020404" pitchFamily="49" charset="0"/>
              </a:rPr>
              <a:t>b. Variable cost</a:t>
            </a:r>
          </a:p>
          <a:p>
            <a:pPr marL="457200" lvl="1" indent="0" algn="just">
              <a:buNone/>
            </a:pPr>
            <a:r>
              <a:rPr lang="en-US" sz="3600" dirty="0">
                <a:latin typeface="Courier New" panose="02070309020205020404" pitchFamily="49" charset="0"/>
                <a:cs typeface="Courier New" panose="02070309020205020404" pitchFamily="49" charset="0"/>
              </a:rPr>
              <a:t>c. Direct cost</a:t>
            </a:r>
          </a:p>
          <a:p>
            <a:pPr marL="457200" lvl="1" indent="0" algn="just">
              <a:buNone/>
            </a:pPr>
            <a:r>
              <a:rPr lang="en-US" sz="3600" dirty="0">
                <a:latin typeface="Courier New" panose="02070309020205020404" pitchFamily="49" charset="0"/>
                <a:cs typeface="Courier New" panose="02070309020205020404" pitchFamily="49" charset="0"/>
              </a:rPr>
              <a:t>d. Indirect cost  </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4157103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88. Identify the type of cost: raw materials (sugar, butter, flour)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Fixed cost</a:t>
            </a:r>
          </a:p>
          <a:p>
            <a:pPr marL="457200" lvl="1" indent="0" algn="just">
              <a:buNone/>
            </a:pPr>
            <a:r>
              <a:rPr lang="en-US" sz="3600" b="1" dirty="0">
                <a:solidFill>
                  <a:srgbClr val="FF0000"/>
                </a:solidFill>
                <a:latin typeface="Courier New" panose="02070309020205020404" pitchFamily="49" charset="0"/>
                <a:cs typeface="Courier New" panose="02070309020205020404" pitchFamily="49" charset="0"/>
              </a:rPr>
              <a:t>b. Variable cost</a:t>
            </a:r>
          </a:p>
          <a:p>
            <a:pPr marL="457200" lvl="1" indent="0" algn="just">
              <a:buNone/>
            </a:pPr>
            <a:r>
              <a:rPr lang="en-US" sz="3600" dirty="0">
                <a:latin typeface="Courier New" panose="02070309020205020404" pitchFamily="49" charset="0"/>
                <a:cs typeface="Courier New" panose="02070309020205020404" pitchFamily="49" charset="0"/>
              </a:rPr>
              <a:t>c. Direct cost</a:t>
            </a:r>
          </a:p>
          <a:p>
            <a:pPr marL="457200" lvl="1" indent="0" algn="just">
              <a:buNone/>
            </a:pPr>
            <a:r>
              <a:rPr lang="en-US" sz="3600" dirty="0">
                <a:latin typeface="Courier New" panose="02070309020205020404" pitchFamily="49" charset="0"/>
                <a:cs typeface="Courier New" panose="02070309020205020404" pitchFamily="49" charset="0"/>
              </a:rPr>
              <a:t>d. Indirect cost  </a:t>
            </a:r>
          </a:p>
          <a:p>
            <a:pPr marL="0" lvl="0" indent="0" algn="just">
              <a:buNone/>
            </a:pP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5837953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89. Identify the type of cost: baker’s labor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a. Fixed cost</a:t>
            </a:r>
          </a:p>
          <a:p>
            <a:pPr marL="457200" lvl="1" indent="0" algn="just">
              <a:buNone/>
            </a:pPr>
            <a:r>
              <a:rPr lang="en-US" sz="3600" dirty="0">
                <a:latin typeface="Courier New" panose="02070309020205020404" pitchFamily="49" charset="0"/>
                <a:cs typeface="Courier New" panose="02070309020205020404" pitchFamily="49" charset="0"/>
              </a:rPr>
              <a:t>b. Variable cost</a:t>
            </a:r>
          </a:p>
          <a:p>
            <a:pPr marL="457200" lvl="1" indent="0" algn="just">
              <a:buNone/>
            </a:pPr>
            <a:r>
              <a:rPr lang="en-US" sz="3600" dirty="0">
                <a:latin typeface="Courier New" panose="02070309020205020404" pitchFamily="49" charset="0"/>
                <a:cs typeface="Courier New" panose="02070309020205020404" pitchFamily="49" charset="0"/>
              </a:rPr>
              <a:t>c. Direct cost</a:t>
            </a:r>
          </a:p>
          <a:p>
            <a:pPr marL="457200" lvl="1" indent="0" algn="just">
              <a:buNone/>
            </a:pPr>
            <a:r>
              <a:rPr lang="en-US" sz="3600" dirty="0">
                <a:latin typeface="Courier New" panose="02070309020205020404" pitchFamily="49" charset="0"/>
                <a:cs typeface="Courier New" panose="02070309020205020404" pitchFamily="49" charset="0"/>
              </a:rPr>
              <a:t>d. Indirect cost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103552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br>
              <a:rPr lang="en-US" sz="3600" dirty="0">
                <a:latin typeface="Courier New" panose="02070309020205020404" pitchFamily="49" charset="0"/>
                <a:cs typeface="Courier New" panose="02070309020205020404" pitchFamily="49" charset="0"/>
              </a:rPr>
            </a:br>
            <a:r>
              <a:rPr lang="en-US" sz="3600" dirty="0">
                <a:latin typeface="Courier New" panose="02070309020205020404" pitchFamily="49" charset="0"/>
                <a:cs typeface="Courier New" panose="02070309020205020404" pitchFamily="49" charset="0"/>
              </a:rPr>
              <a:t>89. Identify the type of cost: baker’s labor</a:t>
            </a:r>
          </a:p>
          <a:p>
            <a:pPr marL="457200" lvl="1" indent="0" algn="just">
              <a:buNone/>
            </a:pPr>
            <a:br>
              <a:rPr lang="en-US" sz="3600" dirty="0">
                <a:latin typeface="Courier New" panose="02070309020205020404" pitchFamily="49" charset="0"/>
                <a:cs typeface="Courier New" panose="02070309020205020404" pitchFamily="49" charset="0"/>
              </a:rPr>
            </a:br>
            <a:r>
              <a:rPr lang="en-US" sz="3600" b="1" dirty="0">
                <a:solidFill>
                  <a:srgbClr val="FF0000"/>
                </a:solidFill>
                <a:latin typeface="Courier New" panose="02070309020205020404" pitchFamily="49" charset="0"/>
                <a:cs typeface="Courier New" panose="02070309020205020404" pitchFamily="49" charset="0"/>
              </a:rPr>
              <a:t>a. Fixed cost</a:t>
            </a:r>
          </a:p>
          <a:p>
            <a:pPr marL="457200" lvl="1" indent="0" algn="just">
              <a:buNone/>
            </a:pPr>
            <a:r>
              <a:rPr lang="en-US" sz="3600" dirty="0">
                <a:latin typeface="Courier New" panose="02070309020205020404" pitchFamily="49" charset="0"/>
                <a:cs typeface="Courier New" panose="02070309020205020404" pitchFamily="49" charset="0"/>
              </a:rPr>
              <a:t>b. Variable cost</a:t>
            </a:r>
          </a:p>
          <a:p>
            <a:pPr marL="457200" lvl="1" indent="0" algn="just">
              <a:buNone/>
            </a:pPr>
            <a:r>
              <a:rPr lang="en-US" sz="3600" dirty="0">
                <a:latin typeface="Courier New" panose="02070309020205020404" pitchFamily="49" charset="0"/>
                <a:cs typeface="Courier New" panose="02070309020205020404" pitchFamily="49" charset="0"/>
              </a:rPr>
              <a:t>c. Direct cost</a:t>
            </a:r>
          </a:p>
          <a:p>
            <a:pPr marL="457200" lvl="1" indent="0" algn="just">
              <a:buNone/>
            </a:pPr>
            <a:r>
              <a:rPr lang="en-US" sz="3600" dirty="0">
                <a:latin typeface="Courier New" panose="02070309020205020404" pitchFamily="49" charset="0"/>
                <a:cs typeface="Courier New" panose="02070309020205020404" pitchFamily="49" charset="0"/>
              </a:rPr>
              <a:t>d. Indirect cost  </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493785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90. It begins with an existing design but the final result may quietly differ from the initial product.	</a:t>
            </a:r>
          </a:p>
          <a:p>
            <a:pPr marL="457200" lvl="1" indent="0" algn="just">
              <a:buNone/>
            </a:pPr>
            <a:br>
              <a:rPr lang="en-PH" sz="3600" dirty="0">
                <a:latin typeface="Courier New" panose="02070309020205020404" pitchFamily="49" charset="0"/>
                <a:cs typeface="Courier New" panose="02070309020205020404" pitchFamily="49" charset="0"/>
              </a:rPr>
            </a:br>
            <a:r>
              <a:rPr lang="en-PH" sz="3600" dirty="0">
                <a:latin typeface="Courier New" panose="02070309020205020404" pitchFamily="49" charset="0"/>
                <a:cs typeface="Courier New" panose="02070309020205020404" pitchFamily="49" charset="0"/>
              </a:rPr>
              <a:t>a. Empirical design</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b. Original design</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c. Adaptive design </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d. Development design</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1022188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90. It begins with an existing design but the final result may quietly differ from the initial product.	</a:t>
            </a:r>
          </a:p>
          <a:p>
            <a:pPr marL="457200" lvl="1" indent="0" algn="just">
              <a:buNone/>
            </a:pPr>
            <a:br>
              <a:rPr lang="en-PH" sz="3600" dirty="0">
                <a:latin typeface="Courier New" panose="02070309020205020404" pitchFamily="49" charset="0"/>
                <a:cs typeface="Courier New" panose="02070309020205020404" pitchFamily="49" charset="0"/>
              </a:rPr>
            </a:br>
            <a:r>
              <a:rPr lang="en-PH" sz="3600" dirty="0">
                <a:latin typeface="Courier New" panose="02070309020205020404" pitchFamily="49" charset="0"/>
                <a:cs typeface="Courier New" panose="02070309020205020404" pitchFamily="49" charset="0"/>
              </a:rPr>
              <a:t>a. Empirical design - </a:t>
            </a:r>
            <a:r>
              <a:rPr lang="en-US" sz="3600" dirty="0"/>
              <a:t>based on experience and trial and error</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b. Original design - </a:t>
            </a:r>
            <a:r>
              <a:rPr lang="en-US" sz="3600" dirty="0"/>
              <a:t>initial concept</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c. Adaptive design - </a:t>
            </a:r>
            <a:r>
              <a:rPr lang="en-US" sz="3600" dirty="0"/>
              <a:t>focuses on responding to changing conditions</a:t>
            </a:r>
            <a:r>
              <a:rPr lang="en-PH" sz="3600" dirty="0">
                <a:latin typeface="Courier New" panose="02070309020205020404" pitchFamily="49" charset="0"/>
                <a:cs typeface="Courier New" panose="02070309020205020404" pitchFamily="49" charset="0"/>
              </a:rPr>
              <a:t> </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b="1" dirty="0">
                <a:solidFill>
                  <a:srgbClr val="FF0000"/>
                </a:solidFill>
                <a:latin typeface="Courier New" panose="02070309020205020404" pitchFamily="49" charset="0"/>
                <a:cs typeface="Courier New" panose="02070309020205020404" pitchFamily="49" charset="0"/>
              </a:rPr>
              <a:t>d. Development design</a:t>
            </a:r>
            <a:endParaRPr lang="en-US" sz="3600" b="1" dirty="0">
              <a:solidFill>
                <a:srgbClr val="FF0000"/>
              </a:solidFill>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496705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91. When the color of the lubricating oil is carried into the combustion chamber of the engine, the color of smoke will be _____ .</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black			</a:t>
            </a:r>
          </a:p>
          <a:p>
            <a:pPr marL="971550" lvl="1" indent="-514350" algn="just">
              <a:buAutoNum type="alphaLcPeriod"/>
            </a:pPr>
            <a:r>
              <a:rPr lang="en-US" sz="3600" dirty="0">
                <a:latin typeface="Courier New" panose="02070309020205020404" pitchFamily="49" charset="0"/>
                <a:cs typeface="Courier New" panose="02070309020205020404" pitchFamily="49" charset="0"/>
              </a:rPr>
              <a:t>blue			</a:t>
            </a:r>
          </a:p>
          <a:p>
            <a:pPr marL="971550" lvl="1" indent="-514350" algn="just">
              <a:buAutoNum type="alphaLcPeriod"/>
            </a:pPr>
            <a:r>
              <a:rPr lang="en-US" sz="3600" dirty="0">
                <a:latin typeface="Courier New" panose="02070309020205020404" pitchFamily="49" charset="0"/>
                <a:cs typeface="Courier New" panose="02070309020205020404" pitchFamily="49" charset="0"/>
              </a:rPr>
              <a:t>gray			</a:t>
            </a:r>
          </a:p>
          <a:p>
            <a:pPr marL="971550" lvl="1" indent="-514350" algn="just">
              <a:buAutoNum type="alphaLcPeriod"/>
            </a:pPr>
            <a:r>
              <a:rPr lang="en-US" sz="3600" dirty="0">
                <a:latin typeface="Courier New" panose="02070309020205020404" pitchFamily="49" charset="0"/>
                <a:cs typeface="Courier New" panose="02070309020205020404" pitchFamily="49" charset="0"/>
              </a:rPr>
              <a:t>AOTA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1966424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91. When the color of the lubricating oil is carried into the combustion chamber of the engine, the color of smoke will be _____ .</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US" sz="3600" dirty="0">
                <a:latin typeface="Courier New" panose="02070309020205020404" pitchFamily="49" charset="0"/>
                <a:cs typeface="Courier New" panose="02070309020205020404" pitchFamily="49" charset="0"/>
              </a:rPr>
              <a:t>black			</a:t>
            </a:r>
          </a:p>
          <a:p>
            <a:pPr marL="971550" lvl="1" indent="-514350" algn="just">
              <a:buAutoNum type="alphaLcPeriod"/>
            </a:pPr>
            <a:r>
              <a:rPr lang="en-US" sz="3600" b="1" dirty="0">
                <a:solidFill>
                  <a:srgbClr val="FF0000"/>
                </a:solidFill>
                <a:latin typeface="Courier New" panose="02070309020205020404" pitchFamily="49" charset="0"/>
                <a:cs typeface="Courier New" panose="02070309020205020404" pitchFamily="49" charset="0"/>
              </a:rPr>
              <a:t>blue</a:t>
            </a:r>
            <a:r>
              <a:rPr lang="en-US" sz="3600" dirty="0">
                <a:latin typeface="Courier New" panose="02070309020205020404" pitchFamily="49" charset="0"/>
                <a:cs typeface="Courier New" panose="02070309020205020404" pitchFamily="49" charset="0"/>
              </a:rPr>
              <a:t>			</a:t>
            </a:r>
          </a:p>
          <a:p>
            <a:pPr marL="971550" lvl="1" indent="-514350" algn="just">
              <a:buAutoNum type="alphaLcPeriod"/>
            </a:pPr>
            <a:r>
              <a:rPr lang="en-US" sz="3600" dirty="0">
                <a:latin typeface="Courier New" panose="02070309020205020404" pitchFamily="49" charset="0"/>
                <a:cs typeface="Courier New" panose="02070309020205020404" pitchFamily="49" charset="0"/>
              </a:rPr>
              <a:t>gray			</a:t>
            </a:r>
          </a:p>
          <a:p>
            <a:pPr marL="971550" lvl="1" indent="-514350" algn="just">
              <a:buAutoNum type="alphaLcPeriod"/>
            </a:pPr>
            <a:r>
              <a:rPr lang="en-US" sz="3600" dirty="0">
                <a:latin typeface="Courier New" panose="02070309020205020404" pitchFamily="49" charset="0"/>
                <a:cs typeface="Courier New" panose="02070309020205020404" pitchFamily="49" charset="0"/>
              </a:rPr>
              <a:t>AOTA</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182222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8528B37-4108-4DEB-949D-F8BBF6695EAB}"/>
              </a:ext>
            </a:extLst>
          </p:cNvPr>
          <p:cNvGrpSpPr/>
          <p:nvPr/>
        </p:nvGrpSpPr>
        <p:grpSpPr>
          <a:xfrm>
            <a:off x="2807644" y="140644"/>
            <a:ext cx="6576712" cy="6576712"/>
            <a:chOff x="2948288" y="281288"/>
            <a:chExt cx="6576712" cy="6576712"/>
          </a:xfrm>
        </p:grpSpPr>
        <p:pic>
          <p:nvPicPr>
            <p:cNvPr id="4" name="Picture 2" descr="How to Fix Blue Smoke from Exhaust - Mudflap Fuel Discount Guide">
              <a:extLst>
                <a:ext uri="{FF2B5EF4-FFF2-40B4-BE49-F238E27FC236}">
                  <a16:creationId xmlns:a16="http://schemas.microsoft.com/office/drawing/2014/main" id="{10F88806-2D8E-431F-A7B6-2EADFDD279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8288" y="281288"/>
              <a:ext cx="6576712" cy="657671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BD2CC7B-D262-4865-9B87-F5E8975B46CE}"/>
                </a:ext>
              </a:extLst>
            </p:cNvPr>
            <p:cNvSpPr/>
            <p:nvPr/>
          </p:nvSpPr>
          <p:spPr>
            <a:xfrm>
              <a:off x="4762500" y="2851149"/>
              <a:ext cx="3314700" cy="1308100"/>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5868433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400" dirty="0">
                <a:latin typeface="Courier New" panose="02070309020205020404" pitchFamily="49" charset="0"/>
                <a:cs typeface="Courier New" panose="02070309020205020404" pitchFamily="49" charset="0"/>
              </a:rPr>
              <a:t>92. Consider that the maximum load on a structure is known with an uncertainty of ± 25 percent, and the load causing failure is ± 20 percent. Determine the design factor.</a:t>
            </a:r>
          </a:p>
          <a:p>
            <a:pPr marL="0" lvl="0" indent="0" algn="just">
              <a:buNone/>
            </a:pPr>
            <a:endParaRPr lang="en-US" sz="3400" dirty="0">
              <a:latin typeface="Courier New" panose="02070309020205020404" pitchFamily="49" charset="0"/>
              <a:cs typeface="Courier New" panose="02070309020205020404" pitchFamily="49" charset="0"/>
            </a:endParaRPr>
          </a:p>
          <a:p>
            <a:pPr marL="971550" lvl="1" indent="-514350" algn="just">
              <a:buAutoNum type="alphaLcPeriod"/>
            </a:pPr>
            <a:r>
              <a:rPr lang="en-US" sz="3400" dirty="0">
                <a:latin typeface="Courier New" panose="02070309020205020404" pitchFamily="49" charset="0"/>
                <a:cs typeface="Courier New" panose="02070309020205020404" pitchFamily="49" charset="0"/>
              </a:rPr>
              <a:t>1.41			</a:t>
            </a:r>
          </a:p>
          <a:p>
            <a:pPr marL="971550" lvl="1" indent="-514350" algn="just">
              <a:buAutoNum type="alphaLcPeriod"/>
            </a:pPr>
            <a:r>
              <a:rPr lang="en-US" sz="3400" dirty="0">
                <a:latin typeface="Courier New" panose="02070309020205020404" pitchFamily="49" charset="0"/>
                <a:cs typeface="Courier New" panose="02070309020205020404" pitchFamily="49" charset="0"/>
              </a:rPr>
              <a:t>1.60			</a:t>
            </a:r>
          </a:p>
          <a:p>
            <a:pPr marL="971550" lvl="1" indent="-514350" algn="just">
              <a:buAutoNum type="alphaLcPeriod"/>
            </a:pPr>
            <a:r>
              <a:rPr lang="en-US" sz="3400" dirty="0">
                <a:latin typeface="Courier New" panose="02070309020205020404" pitchFamily="49" charset="0"/>
                <a:cs typeface="Courier New" panose="02070309020205020404" pitchFamily="49" charset="0"/>
              </a:rPr>
              <a:t>1.56			</a:t>
            </a:r>
          </a:p>
          <a:p>
            <a:pPr marL="971550" lvl="1" indent="-514350" algn="just">
              <a:buAutoNum type="alphaLcPeriod"/>
            </a:pPr>
            <a:r>
              <a:rPr lang="en-US" sz="3400" dirty="0">
                <a:latin typeface="Courier New" panose="02070309020205020404" pitchFamily="49" charset="0"/>
                <a:cs typeface="Courier New" panose="02070309020205020404" pitchFamily="49" charset="0"/>
              </a:rPr>
              <a:t>1.07</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2847007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400" dirty="0">
                <a:latin typeface="Courier New" panose="02070309020205020404" pitchFamily="49" charset="0"/>
                <a:cs typeface="Courier New" panose="02070309020205020404" pitchFamily="49" charset="0"/>
              </a:rPr>
              <a:t>92. Consider that the maximum load on a structure is known with an uncertainty of ± 25 percent, and the load causing failure is ± 20 percent. Determine the design factor.</a:t>
            </a:r>
          </a:p>
          <a:p>
            <a:pPr marL="0" lvl="0" indent="0" algn="just">
              <a:buNone/>
            </a:pPr>
            <a:endParaRPr lang="en-US" sz="3400" dirty="0">
              <a:latin typeface="Courier New" panose="02070309020205020404" pitchFamily="49" charset="0"/>
              <a:cs typeface="Courier New" panose="02070309020205020404" pitchFamily="49" charset="0"/>
            </a:endParaRPr>
          </a:p>
          <a:p>
            <a:pPr marL="971550" lvl="1" indent="-514350" algn="just">
              <a:buAutoNum type="alphaLcPeriod"/>
            </a:pPr>
            <a:r>
              <a:rPr lang="en-US" sz="3400" dirty="0">
                <a:latin typeface="Courier New" panose="02070309020205020404" pitchFamily="49" charset="0"/>
                <a:cs typeface="Courier New" panose="02070309020205020404" pitchFamily="49" charset="0"/>
              </a:rPr>
              <a:t>1.41			</a:t>
            </a:r>
          </a:p>
          <a:p>
            <a:pPr marL="971550" lvl="1" indent="-514350" algn="just">
              <a:buAutoNum type="alphaLcPeriod"/>
            </a:pPr>
            <a:r>
              <a:rPr lang="en-US" sz="3400" dirty="0">
                <a:latin typeface="Courier New" panose="02070309020205020404" pitchFamily="49" charset="0"/>
                <a:cs typeface="Courier New" panose="02070309020205020404" pitchFamily="49" charset="0"/>
              </a:rPr>
              <a:t>1.60			</a:t>
            </a:r>
          </a:p>
          <a:p>
            <a:pPr marL="971550" lvl="1" indent="-514350" algn="just">
              <a:buAutoNum type="alphaLcPeriod"/>
            </a:pPr>
            <a:r>
              <a:rPr lang="en-US" sz="3400" b="1" dirty="0">
                <a:solidFill>
                  <a:srgbClr val="FF0000"/>
                </a:solidFill>
                <a:latin typeface="Courier New" panose="02070309020205020404" pitchFamily="49" charset="0"/>
                <a:cs typeface="Courier New" panose="02070309020205020404" pitchFamily="49" charset="0"/>
              </a:rPr>
              <a:t>1.56</a:t>
            </a:r>
            <a:r>
              <a:rPr lang="en-US" sz="3400" dirty="0">
                <a:latin typeface="Courier New" panose="02070309020205020404" pitchFamily="49" charset="0"/>
                <a:cs typeface="Courier New" panose="02070309020205020404" pitchFamily="49" charset="0"/>
              </a:rPr>
              <a:t>			</a:t>
            </a:r>
          </a:p>
          <a:p>
            <a:pPr marL="971550" lvl="1" indent="-514350" algn="just">
              <a:buAutoNum type="alphaLcPeriod"/>
            </a:pPr>
            <a:r>
              <a:rPr lang="en-US" sz="3400" dirty="0">
                <a:latin typeface="Courier New" panose="02070309020205020404" pitchFamily="49" charset="0"/>
                <a:cs typeface="Courier New" panose="02070309020205020404" pitchFamily="49" charset="0"/>
              </a:rPr>
              <a:t>1.07</a:t>
            </a: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0553307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93. A general term that refers to the mating of cylindrical parts.	</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PH" sz="3600" dirty="0">
                <a:latin typeface="Courier New" panose="02070309020205020404" pitchFamily="49" charset="0"/>
                <a:cs typeface="Courier New" panose="02070309020205020404" pitchFamily="49" charset="0"/>
              </a:rPr>
              <a:t>Clearance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Tolerance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Interference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Allowance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2192609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93. A general term that refers to the mating of cylindrical parts.	</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PH" sz="3600" b="1" dirty="0">
                <a:solidFill>
                  <a:srgbClr val="FF0000"/>
                </a:solidFill>
                <a:latin typeface="Courier New" panose="02070309020205020404" pitchFamily="49" charset="0"/>
                <a:cs typeface="Courier New" panose="02070309020205020404" pitchFamily="49" charset="0"/>
              </a:rPr>
              <a:t>Clearance	</a:t>
            </a:r>
            <a:r>
              <a:rPr lang="en-PH" sz="3600" dirty="0">
                <a:latin typeface="Courier New" panose="02070309020205020404" pitchFamily="49" charset="0"/>
                <a:cs typeface="Courier New" panose="02070309020205020404" pitchFamily="49" charset="0"/>
              </a:rPr>
              <a:t>	</a:t>
            </a:r>
          </a:p>
          <a:p>
            <a:pPr marL="971550" lvl="1" indent="-514350" algn="just">
              <a:buAutoNum type="alphaLcPeriod"/>
            </a:pPr>
            <a:r>
              <a:rPr lang="en-PH" sz="3600" dirty="0">
                <a:latin typeface="Courier New" panose="02070309020205020404" pitchFamily="49" charset="0"/>
                <a:cs typeface="Courier New" panose="02070309020205020404" pitchFamily="49" charset="0"/>
              </a:rPr>
              <a:t>Tolerance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Interference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Allowance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780682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2600" i="1" dirty="0">
                <a:latin typeface="Courier New" panose="02070309020205020404" pitchFamily="49" charset="0"/>
                <a:cs typeface="Courier New" panose="02070309020205020404" pitchFamily="49" charset="0"/>
              </a:rPr>
              <a:t>For Items 94-97</a:t>
            </a:r>
            <a:endParaRPr lang="en-US" sz="2600" dirty="0">
              <a:latin typeface="Courier New" panose="02070309020205020404" pitchFamily="49" charset="0"/>
              <a:cs typeface="Courier New" panose="02070309020205020404" pitchFamily="49" charset="0"/>
            </a:endParaRPr>
          </a:p>
          <a:p>
            <a:pPr marL="0" indent="0" algn="just">
              <a:buNone/>
            </a:pPr>
            <a:r>
              <a:rPr lang="en-US" sz="26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94. How long will he finish plowing if he plows along the length of the field with no headland left unplowed?</a:t>
            </a:r>
          </a:p>
          <a:p>
            <a:pPr marL="0" indent="0" algn="just">
              <a:buNone/>
            </a:pPr>
            <a:endParaRPr lang="en-PH" sz="2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18.77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19.08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16.04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21.85 </a:t>
            </a:r>
            <a:r>
              <a:rPr lang="en-PH" sz="2600" dirty="0" err="1">
                <a:latin typeface="Courier New" panose="02070309020205020404" pitchFamily="49" charset="0"/>
                <a:cs typeface="Courier New" panose="02070309020205020404" pitchFamily="49" charset="0"/>
              </a:rPr>
              <a:t>hrs</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09946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2600" i="1" dirty="0">
                <a:latin typeface="Courier New" panose="02070309020205020404" pitchFamily="49" charset="0"/>
                <a:cs typeface="Courier New" panose="02070309020205020404" pitchFamily="49" charset="0"/>
              </a:rPr>
              <a:t>For Items 94-97</a:t>
            </a:r>
            <a:endParaRPr lang="en-US" sz="2600" dirty="0">
              <a:latin typeface="Courier New" panose="02070309020205020404" pitchFamily="49" charset="0"/>
              <a:cs typeface="Courier New" panose="02070309020205020404" pitchFamily="49" charset="0"/>
            </a:endParaRPr>
          </a:p>
          <a:p>
            <a:pPr marL="0" indent="0" algn="just">
              <a:buNone/>
            </a:pPr>
            <a:r>
              <a:rPr lang="en-US" sz="26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94. How long will he finish plowing if he plows along the length of the field with no headland left unplowed?</a:t>
            </a:r>
          </a:p>
          <a:p>
            <a:pPr marL="0" indent="0" algn="just">
              <a:buNone/>
            </a:pPr>
            <a:endParaRPr lang="en-PH" sz="2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18.77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b="1" dirty="0">
                <a:solidFill>
                  <a:srgbClr val="FF0000"/>
                </a:solidFill>
                <a:latin typeface="Courier New" panose="02070309020205020404" pitchFamily="49" charset="0"/>
                <a:cs typeface="Courier New" panose="02070309020205020404" pitchFamily="49" charset="0"/>
              </a:rPr>
              <a:t>19.08 </a:t>
            </a:r>
            <a:r>
              <a:rPr lang="en-PH" sz="2600" b="1" dirty="0" err="1">
                <a:solidFill>
                  <a:srgbClr val="FF0000"/>
                </a:solidFill>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16.04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21.85 </a:t>
            </a:r>
            <a:r>
              <a:rPr lang="en-PH" sz="2600" dirty="0" err="1">
                <a:latin typeface="Courier New" panose="02070309020205020404" pitchFamily="49" charset="0"/>
                <a:cs typeface="Courier New" panose="02070309020205020404" pitchFamily="49" charset="0"/>
              </a:rPr>
              <a:t>hrs</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4911236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2600" i="1" dirty="0">
                <a:latin typeface="Courier New" panose="02070309020205020404" pitchFamily="49" charset="0"/>
                <a:cs typeface="Courier New" panose="02070309020205020404" pitchFamily="49" charset="0"/>
              </a:rPr>
              <a:t>For Items 94-97</a:t>
            </a:r>
            <a:endParaRPr lang="en-US" sz="2600" dirty="0">
              <a:latin typeface="Courier New" panose="02070309020205020404" pitchFamily="49" charset="0"/>
              <a:cs typeface="Courier New" panose="02070309020205020404" pitchFamily="49" charset="0"/>
            </a:endParaRPr>
          </a:p>
          <a:p>
            <a:pPr marL="0" indent="0" algn="just">
              <a:buNone/>
            </a:pPr>
            <a:r>
              <a:rPr lang="en-US" sz="26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95. How long will it take for Juan to finish plowing if he plows along the width of the field with 2m headland unplowed?</a:t>
            </a:r>
          </a:p>
          <a:p>
            <a:pPr marL="0" indent="0" algn="just">
              <a:buNone/>
            </a:pPr>
            <a:endParaRPr lang="en-PH" sz="2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18.77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19.08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16.04 </a:t>
            </a:r>
            <a:r>
              <a:rPr lang="en-PH" sz="2600" dirty="0" err="1">
                <a:latin typeface="Courier New" panose="02070309020205020404" pitchFamily="49" charset="0"/>
                <a:cs typeface="Courier New" panose="02070309020205020404" pitchFamily="49" charset="0"/>
              </a:rPr>
              <a:t>hrs</a:t>
            </a:r>
            <a:r>
              <a:rPr lang="en-PH" sz="2600"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sz="2600" dirty="0">
                <a:latin typeface="Courier New" panose="02070309020205020404" pitchFamily="49" charset="0"/>
                <a:cs typeface="Courier New" panose="02070309020205020404" pitchFamily="49" charset="0"/>
              </a:rPr>
              <a:t>18.32 </a:t>
            </a:r>
            <a:r>
              <a:rPr lang="en-PH" sz="2600" dirty="0" err="1">
                <a:latin typeface="Courier New" panose="02070309020205020404" pitchFamily="49" charset="0"/>
                <a:cs typeface="Courier New" panose="02070309020205020404" pitchFamily="49" charset="0"/>
              </a:rPr>
              <a:t>hrs</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828425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221381" y="327259"/>
            <a:ext cx="11762072" cy="5413141"/>
          </a:xfrm>
        </p:spPr>
        <p:txBody>
          <a:bodyPr numCol="1">
            <a:noAutofit/>
          </a:bodyPr>
          <a:lstStyle/>
          <a:p>
            <a:pPr marL="0" indent="0" algn="just">
              <a:buNone/>
            </a:pPr>
            <a:r>
              <a:rPr lang="en-US" sz="2400" i="1" dirty="0">
                <a:latin typeface="Courier New" panose="02070309020205020404" pitchFamily="49" charset="0"/>
                <a:cs typeface="Courier New" panose="02070309020205020404" pitchFamily="49" charset="0"/>
              </a:rPr>
              <a:t>For Items 94-97</a:t>
            </a:r>
            <a:endParaRPr lang="en-US" sz="2400" dirty="0">
              <a:latin typeface="Courier New" panose="02070309020205020404" pitchFamily="49" charset="0"/>
              <a:cs typeface="Courier New" panose="02070309020205020404" pitchFamily="49" charset="0"/>
            </a:endParaRPr>
          </a:p>
          <a:p>
            <a:pPr marL="0" indent="0" algn="just">
              <a:buNone/>
            </a:pPr>
            <a:r>
              <a:rPr lang="en-US" sz="24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400" dirty="0">
                <a:latin typeface="Courier New" panose="02070309020205020404" pitchFamily="49" charset="0"/>
                <a:cs typeface="Courier New" panose="02070309020205020404" pitchFamily="49" charset="0"/>
              </a:rPr>
              <a:t> </a:t>
            </a:r>
            <a:r>
              <a:rPr lang="en-US" sz="24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400" dirty="0">
              <a:latin typeface="Courier New" panose="02070309020205020404" pitchFamily="49" charset="0"/>
              <a:cs typeface="Courier New" panose="02070309020205020404" pitchFamily="49" charset="0"/>
            </a:endParaRPr>
          </a:p>
          <a:p>
            <a:pPr marL="0" lvl="0" indent="0" algn="just">
              <a:buNone/>
            </a:pPr>
            <a:r>
              <a:rPr lang="en-US" sz="2400" dirty="0">
                <a:latin typeface="Courier New" panose="02070309020205020404" pitchFamily="49" charset="0"/>
                <a:cs typeface="Courier New" panose="02070309020205020404" pitchFamily="49" charset="0"/>
              </a:rPr>
              <a:t>95. How long will it take for Juan to finish plowing if he plows along the width of the field with 2m headland unplowed?</a:t>
            </a:r>
          </a:p>
          <a:p>
            <a:pPr marL="0" indent="0" algn="just">
              <a:buNone/>
            </a:pPr>
            <a:endParaRPr lang="en-PH" sz="24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b="1" dirty="0">
                <a:solidFill>
                  <a:srgbClr val="FF0000"/>
                </a:solidFill>
                <a:latin typeface="Courier New" panose="02070309020205020404" pitchFamily="49" charset="0"/>
                <a:cs typeface="Courier New" panose="02070309020205020404" pitchFamily="49" charset="0"/>
              </a:rPr>
              <a:t>18.77 </a:t>
            </a:r>
            <a:r>
              <a:rPr lang="en-PH" b="1" dirty="0" err="1">
                <a:solidFill>
                  <a:srgbClr val="FF0000"/>
                </a:solidFill>
                <a:latin typeface="Courier New" panose="02070309020205020404" pitchFamily="49" charset="0"/>
                <a:cs typeface="Courier New" panose="02070309020205020404" pitchFamily="49" charset="0"/>
              </a:rPr>
              <a:t>hrs</a:t>
            </a:r>
            <a:r>
              <a:rPr lang="en-PH"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dirty="0">
                <a:latin typeface="Courier New" panose="02070309020205020404" pitchFamily="49" charset="0"/>
                <a:cs typeface="Courier New" panose="02070309020205020404" pitchFamily="49" charset="0"/>
              </a:rPr>
              <a:t>19.08 </a:t>
            </a:r>
            <a:r>
              <a:rPr lang="en-PH" dirty="0" err="1">
                <a:latin typeface="Courier New" panose="02070309020205020404" pitchFamily="49" charset="0"/>
                <a:cs typeface="Courier New" panose="02070309020205020404" pitchFamily="49" charset="0"/>
              </a:rPr>
              <a:t>hrs</a:t>
            </a:r>
            <a:r>
              <a:rPr lang="en-PH"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dirty="0">
                <a:latin typeface="Courier New" panose="02070309020205020404" pitchFamily="49" charset="0"/>
                <a:cs typeface="Courier New" panose="02070309020205020404" pitchFamily="49" charset="0"/>
              </a:rPr>
              <a:t>16.04 </a:t>
            </a:r>
            <a:r>
              <a:rPr lang="en-PH" dirty="0" err="1">
                <a:latin typeface="Courier New" panose="02070309020205020404" pitchFamily="49" charset="0"/>
                <a:cs typeface="Courier New" panose="02070309020205020404" pitchFamily="49" charset="0"/>
              </a:rPr>
              <a:t>hrs</a:t>
            </a:r>
            <a:r>
              <a:rPr lang="en-PH" dirty="0">
                <a:latin typeface="Courier New" panose="02070309020205020404" pitchFamily="49" charset="0"/>
                <a:cs typeface="Courier New" panose="02070309020205020404" pitchFamily="49" charset="0"/>
              </a:rPr>
              <a:t> 	</a:t>
            </a:r>
          </a:p>
          <a:p>
            <a:pPr marL="971550" lvl="1" indent="-514350" algn="just">
              <a:buFont typeface="+mj-lt"/>
              <a:buAutoNum type="alphaLcPeriod"/>
            </a:pPr>
            <a:r>
              <a:rPr lang="en-PH" dirty="0">
                <a:latin typeface="Courier New" panose="02070309020205020404" pitchFamily="49" charset="0"/>
                <a:cs typeface="Courier New" panose="02070309020205020404" pitchFamily="49" charset="0"/>
              </a:rPr>
              <a:t>18.32 </a:t>
            </a:r>
            <a:r>
              <a:rPr lang="en-PH" dirty="0" err="1">
                <a:latin typeface="Courier New" panose="02070309020205020404" pitchFamily="49" charset="0"/>
                <a:cs typeface="Courier New" panose="02070309020205020404" pitchFamily="49" charset="0"/>
              </a:rPr>
              <a:t>hrs</a:t>
            </a:r>
            <a:endParaRPr lang="en-US"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B3011E5-584E-4B34-9FF9-61355C80627D}"/>
                  </a:ext>
                </a:extLst>
              </p:cNvPr>
              <p:cNvSpPr txBox="1"/>
              <p:nvPr/>
            </p:nvSpPr>
            <p:spPr>
              <a:xfrm>
                <a:off x="5029111" y="3429000"/>
                <a:ext cx="2609561" cy="7598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0070C0"/>
                              </a:solidFill>
                              <a:latin typeface="Cambria Math" panose="02040503050406030204" pitchFamily="18" charset="0"/>
                            </a:rPr>
                          </m:ctrlPr>
                        </m:fPr>
                        <m:num>
                          <m:r>
                            <a:rPr lang="en-US" b="0" i="0" smtClean="0">
                              <a:solidFill>
                                <a:srgbClr val="0070C0"/>
                              </a:solidFill>
                              <a:latin typeface="Cambria Math" panose="02040503050406030204" pitchFamily="18" charset="0"/>
                            </a:rPr>
                            <m:t>426.4</m:t>
                          </m:r>
                          <m:r>
                            <m:rPr>
                              <m:sty m:val="p"/>
                            </m:rPr>
                            <a:rPr lang="en-US" b="0" i="0" smtClean="0">
                              <a:solidFill>
                                <a:srgbClr val="0070C0"/>
                              </a:solidFill>
                              <a:latin typeface="Cambria Math" panose="02040503050406030204" pitchFamily="18" charset="0"/>
                            </a:rPr>
                            <m:t>ft</m:t>
                          </m:r>
                        </m:num>
                        <m:den>
                          <m:r>
                            <a:rPr lang="en-US" b="0" i="0" smtClean="0">
                              <a:solidFill>
                                <a:srgbClr val="0070C0"/>
                              </a:solidFill>
                              <a:latin typeface="Cambria Math" panose="02040503050406030204" pitchFamily="18" charset="0"/>
                            </a:rPr>
                            <m:t>10 </m:t>
                          </m:r>
                          <m:r>
                            <m:rPr>
                              <m:sty m:val="p"/>
                            </m:rPr>
                            <a:rPr lang="en-US" b="0" i="0" smtClean="0">
                              <a:solidFill>
                                <a:srgbClr val="0070C0"/>
                              </a:solidFill>
                              <a:latin typeface="Cambria Math" panose="02040503050406030204" pitchFamily="18" charset="0"/>
                            </a:rPr>
                            <m:t>in</m:t>
                          </m:r>
                          <m:r>
                            <a:rPr lang="en-US" b="0" i="0" smtClean="0">
                              <a:solidFill>
                                <a:srgbClr val="0070C0"/>
                              </a:solidFill>
                              <a:latin typeface="Cambria Math" panose="02040503050406030204" pitchFamily="18" charset="0"/>
                              <a:ea typeface="Cambria Math" panose="02040503050406030204" pitchFamily="18" charset="0"/>
                            </a:rPr>
                            <m:t>×</m:t>
                          </m:r>
                          <m:f>
                            <m:fPr>
                              <m:ctrlPr>
                                <a:rPr lang="en-US" b="0" i="1" smtClean="0">
                                  <a:solidFill>
                                    <a:srgbClr val="0070C0"/>
                                  </a:solidFill>
                                  <a:latin typeface="Cambria Math" panose="02040503050406030204" pitchFamily="18" charset="0"/>
                                  <a:ea typeface="Cambria Math" panose="02040503050406030204" pitchFamily="18" charset="0"/>
                                </a:rPr>
                              </m:ctrlPr>
                            </m:fPr>
                            <m:num>
                              <m:r>
                                <a:rPr lang="en-US" b="0" i="0" smtClean="0">
                                  <a:solidFill>
                                    <a:srgbClr val="0070C0"/>
                                  </a:solidFill>
                                  <a:latin typeface="Cambria Math" panose="02040503050406030204" pitchFamily="18" charset="0"/>
                                  <a:ea typeface="Cambria Math" panose="02040503050406030204" pitchFamily="18" charset="0"/>
                                </a:rPr>
                                <m:t>1</m:t>
                              </m:r>
                              <m:r>
                                <m:rPr>
                                  <m:sty m:val="p"/>
                                </m:rPr>
                                <a:rPr lang="en-US" b="0" i="0" smtClean="0">
                                  <a:solidFill>
                                    <a:srgbClr val="0070C0"/>
                                  </a:solidFill>
                                  <a:latin typeface="Cambria Math" panose="02040503050406030204" pitchFamily="18" charset="0"/>
                                  <a:ea typeface="Cambria Math" panose="02040503050406030204" pitchFamily="18" charset="0"/>
                                </a:rPr>
                                <m:t>ft</m:t>
                              </m:r>
                            </m:num>
                            <m:den>
                              <m:r>
                                <a:rPr lang="en-US" b="0" i="0" smtClean="0">
                                  <a:solidFill>
                                    <a:srgbClr val="0070C0"/>
                                  </a:solidFill>
                                  <a:latin typeface="Cambria Math" panose="02040503050406030204" pitchFamily="18" charset="0"/>
                                  <a:ea typeface="Cambria Math" panose="02040503050406030204" pitchFamily="18" charset="0"/>
                                </a:rPr>
                                <m:t>12 </m:t>
                              </m:r>
                              <m:r>
                                <m:rPr>
                                  <m:sty m:val="p"/>
                                </m:rPr>
                                <a:rPr lang="en-US" b="0" i="0" smtClean="0">
                                  <a:solidFill>
                                    <a:srgbClr val="0070C0"/>
                                  </a:solidFill>
                                  <a:latin typeface="Cambria Math" panose="02040503050406030204" pitchFamily="18" charset="0"/>
                                  <a:ea typeface="Cambria Math" panose="02040503050406030204" pitchFamily="18" charset="0"/>
                                </a:rPr>
                                <m:t>in</m:t>
                              </m:r>
                            </m:den>
                          </m:f>
                        </m:den>
                      </m:f>
                      <m:r>
                        <a:rPr lang="en-US" b="0" i="0" smtClean="0">
                          <a:solidFill>
                            <a:srgbClr val="0070C0"/>
                          </a:solidFill>
                          <a:latin typeface="Cambria Math" panose="02040503050406030204" pitchFamily="18" charset="0"/>
                        </a:rPr>
                        <m:t>=512 </m:t>
                      </m:r>
                      <m:r>
                        <m:rPr>
                          <m:sty m:val="p"/>
                        </m:rPr>
                        <a:rPr lang="en-US" b="0" i="0" smtClean="0">
                          <a:solidFill>
                            <a:srgbClr val="0070C0"/>
                          </a:solidFill>
                          <a:latin typeface="Cambria Math" panose="02040503050406030204" pitchFamily="18" charset="0"/>
                        </a:rPr>
                        <m:t>rows</m:t>
                      </m:r>
                    </m:oMath>
                  </m:oMathPara>
                </a14:m>
                <a:endParaRPr lang="en-US" dirty="0">
                  <a:solidFill>
                    <a:srgbClr val="0070C0"/>
                  </a:solidFill>
                </a:endParaRPr>
              </a:p>
            </p:txBody>
          </p:sp>
        </mc:Choice>
        <mc:Fallback xmlns="">
          <p:sp>
            <p:nvSpPr>
              <p:cNvPr id="2" name="TextBox 1">
                <a:extLst>
                  <a:ext uri="{FF2B5EF4-FFF2-40B4-BE49-F238E27FC236}">
                    <a16:creationId xmlns:a16="http://schemas.microsoft.com/office/drawing/2014/main" id="{AB3011E5-584E-4B34-9FF9-61355C80627D}"/>
                  </a:ext>
                </a:extLst>
              </p:cNvPr>
              <p:cNvSpPr txBox="1">
                <a:spLocks noRot="1" noChangeAspect="1" noMove="1" noResize="1" noEditPoints="1" noAdjustHandles="1" noChangeArrowheads="1" noChangeShapeType="1" noTextEdit="1"/>
              </p:cNvSpPr>
              <p:nvPr/>
            </p:nvSpPr>
            <p:spPr>
              <a:xfrm>
                <a:off x="5029111" y="3429000"/>
                <a:ext cx="2609561" cy="75982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024183-314A-485D-AD31-EBE81DACDBC7}"/>
                  </a:ext>
                </a:extLst>
              </p:cNvPr>
              <p:cNvSpPr txBox="1"/>
              <p:nvPr/>
            </p:nvSpPr>
            <p:spPr>
              <a:xfrm>
                <a:off x="5029111" y="4760166"/>
                <a:ext cx="5014193" cy="1145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4472C4"/>
                              </a:solidFill>
                              <a:latin typeface="Cambria Math" panose="02040503050406030204" pitchFamily="18" charset="0"/>
                            </a:rPr>
                          </m:ctrlPr>
                        </m:fPr>
                        <m:num>
                          <m:r>
                            <a:rPr lang="en-US" i="0">
                              <a:solidFill>
                                <a:srgbClr val="4472C4"/>
                              </a:solidFill>
                              <a:latin typeface="Cambria Math" panose="02040503050406030204" pitchFamily="18" charset="0"/>
                            </a:rPr>
                            <m:t>512 </m:t>
                          </m:r>
                          <m:r>
                            <m:rPr>
                              <m:sty m:val="p"/>
                            </m:rPr>
                            <a:rPr lang="en-US" i="0">
                              <a:solidFill>
                                <a:srgbClr val="4472C4"/>
                              </a:solidFill>
                              <a:latin typeface="Cambria Math" panose="02040503050406030204" pitchFamily="18" charset="0"/>
                            </a:rPr>
                            <m:t>rows</m:t>
                          </m:r>
                          <m:r>
                            <a:rPr lang="en-US" i="0">
                              <a:solidFill>
                                <a:srgbClr val="4472C4"/>
                              </a:solidFill>
                              <a:latin typeface="Cambria Math" panose="02040503050406030204" pitchFamily="18" charset="0"/>
                              <a:ea typeface="Cambria Math" panose="02040503050406030204" pitchFamily="18" charset="0"/>
                            </a:rPr>
                            <m:t>×</m:t>
                          </m:r>
                          <m:f>
                            <m:fPr>
                              <m:ctrlPr>
                                <a:rPr lang="en-US" i="1">
                                  <a:solidFill>
                                    <a:srgbClr val="4472C4"/>
                                  </a:solidFill>
                                  <a:latin typeface="Cambria Math" panose="02040503050406030204" pitchFamily="18" charset="0"/>
                                  <a:ea typeface="Cambria Math" panose="02040503050406030204" pitchFamily="18" charset="0"/>
                                </a:rPr>
                              </m:ctrlPr>
                            </m:fPr>
                            <m:num>
                              <m:r>
                                <a:rPr lang="en-US" i="0">
                                  <a:solidFill>
                                    <a:srgbClr val="4472C4"/>
                                  </a:solidFill>
                                  <a:latin typeface="Cambria Math" panose="02040503050406030204" pitchFamily="18" charset="0"/>
                                  <a:ea typeface="Cambria Math" panose="02040503050406030204" pitchFamily="18" charset="0"/>
                                </a:rPr>
                                <m:t>(120 </m:t>
                              </m:r>
                              <m:r>
                                <m:rPr>
                                  <m:sty m:val="p"/>
                                </m:rPr>
                                <a:rPr lang="en-US" i="0">
                                  <a:solidFill>
                                    <a:srgbClr val="4472C4"/>
                                  </a:solidFill>
                                  <a:latin typeface="Cambria Math" panose="02040503050406030204" pitchFamily="18" charset="0"/>
                                  <a:ea typeface="Cambria Math" panose="02040503050406030204" pitchFamily="18" charset="0"/>
                                </a:rPr>
                                <m:t>m</m:t>
                              </m:r>
                              <m:r>
                                <a:rPr lang="en-US" i="0">
                                  <a:solidFill>
                                    <a:srgbClr val="4472C4"/>
                                  </a:solidFill>
                                  <a:latin typeface="Cambria Math" panose="02040503050406030204" pitchFamily="18" charset="0"/>
                                  <a:ea typeface="Cambria Math" panose="02040503050406030204" pitchFamily="18" charset="0"/>
                                </a:rPr>
                                <m:t>−2</m:t>
                              </m:r>
                              <m:r>
                                <m:rPr>
                                  <m:sty m:val="p"/>
                                </m:rPr>
                                <a:rPr lang="en-US" i="0">
                                  <a:solidFill>
                                    <a:srgbClr val="4472C4"/>
                                  </a:solidFill>
                                  <a:latin typeface="Cambria Math" panose="02040503050406030204" pitchFamily="18" charset="0"/>
                                  <a:ea typeface="Cambria Math" panose="02040503050406030204" pitchFamily="18" charset="0"/>
                                </a:rPr>
                                <m:t>m</m:t>
                              </m:r>
                              <m:r>
                                <a:rPr lang="en-US" i="0">
                                  <a:solidFill>
                                    <a:srgbClr val="4472C4"/>
                                  </a:solidFill>
                                  <a:latin typeface="Cambria Math" panose="02040503050406030204" pitchFamily="18" charset="0"/>
                                  <a:ea typeface="Cambria Math" panose="02040503050406030204" pitchFamily="18" charset="0"/>
                                </a:rPr>
                                <m:t>) ×</m:t>
                              </m:r>
                              <m:f>
                                <m:fPr>
                                  <m:ctrlPr>
                                    <a:rPr lang="en-US" i="1">
                                      <a:solidFill>
                                        <a:srgbClr val="4472C4"/>
                                      </a:solidFill>
                                      <a:latin typeface="Cambria Math" panose="02040503050406030204" pitchFamily="18" charset="0"/>
                                      <a:ea typeface="Cambria Math" panose="02040503050406030204" pitchFamily="18" charset="0"/>
                                    </a:rPr>
                                  </m:ctrlPr>
                                </m:fPr>
                                <m:num>
                                  <m:r>
                                    <a:rPr lang="en-US" i="0">
                                      <a:solidFill>
                                        <a:srgbClr val="4472C4"/>
                                      </a:solidFill>
                                      <a:latin typeface="Cambria Math" panose="02040503050406030204" pitchFamily="18" charset="0"/>
                                      <a:ea typeface="Cambria Math" panose="02040503050406030204" pitchFamily="18" charset="0"/>
                                    </a:rPr>
                                    <m:t>3.28</m:t>
                                  </m:r>
                                  <m:r>
                                    <m:rPr>
                                      <m:sty m:val="p"/>
                                    </m:rPr>
                                    <a:rPr lang="en-US" i="0">
                                      <a:solidFill>
                                        <a:srgbClr val="4472C4"/>
                                      </a:solidFill>
                                      <a:latin typeface="Cambria Math" panose="02040503050406030204" pitchFamily="18" charset="0"/>
                                      <a:ea typeface="Cambria Math" panose="02040503050406030204" pitchFamily="18" charset="0"/>
                                    </a:rPr>
                                    <m:t>ft</m:t>
                                  </m:r>
                                </m:num>
                                <m:den>
                                  <m:r>
                                    <a:rPr lang="en-US" i="0">
                                      <a:solidFill>
                                        <a:srgbClr val="4472C4"/>
                                      </a:solidFill>
                                      <a:latin typeface="Cambria Math" panose="02040503050406030204" pitchFamily="18" charset="0"/>
                                      <a:ea typeface="Cambria Math" panose="02040503050406030204" pitchFamily="18" charset="0"/>
                                    </a:rPr>
                                    <m:t>1 </m:t>
                                  </m:r>
                                  <m:r>
                                    <m:rPr>
                                      <m:sty m:val="p"/>
                                    </m:rPr>
                                    <a:rPr lang="en-US" i="0">
                                      <a:solidFill>
                                        <a:srgbClr val="4472C4"/>
                                      </a:solidFill>
                                      <a:latin typeface="Cambria Math" panose="02040503050406030204" pitchFamily="18" charset="0"/>
                                      <a:ea typeface="Cambria Math" panose="02040503050406030204" pitchFamily="18" charset="0"/>
                                    </a:rPr>
                                    <m:t>row</m:t>
                                  </m:r>
                                </m:den>
                              </m:f>
                            </m:num>
                            <m:den>
                              <m:r>
                                <m:rPr>
                                  <m:sty m:val="p"/>
                                </m:rPr>
                                <a:rPr lang="en-US" i="0">
                                  <a:solidFill>
                                    <a:srgbClr val="4472C4"/>
                                  </a:solidFill>
                                  <a:latin typeface="Cambria Math" panose="02040503050406030204" pitchFamily="18" charset="0"/>
                                  <a:ea typeface="Cambria Math" panose="02040503050406030204" pitchFamily="18" charset="0"/>
                                </a:rPr>
                                <m:t>row</m:t>
                              </m:r>
                            </m:den>
                          </m:f>
                          <m:r>
                            <m:rPr>
                              <m:nor/>
                            </m:rPr>
                            <a:rPr lang="en-US" dirty="0">
                              <a:solidFill>
                                <a:srgbClr val="4472C4"/>
                              </a:solidFill>
                            </a:rPr>
                            <m:t> </m:t>
                          </m:r>
                        </m:num>
                        <m:den>
                          <m:r>
                            <a:rPr lang="en-US" b="0" i="0" smtClean="0">
                              <a:solidFill>
                                <a:srgbClr val="4472C4"/>
                              </a:solidFill>
                              <a:latin typeface="Cambria Math" panose="02040503050406030204" pitchFamily="18" charset="0"/>
                            </a:rPr>
                            <m:t>2</m:t>
                          </m:r>
                          <m:f>
                            <m:fPr>
                              <m:ctrlPr>
                                <a:rPr lang="en-US" b="0" i="1" smtClean="0">
                                  <a:solidFill>
                                    <a:srgbClr val="4472C4"/>
                                  </a:solidFill>
                                  <a:latin typeface="Cambria Math" panose="02040503050406030204" pitchFamily="18" charset="0"/>
                                </a:rPr>
                              </m:ctrlPr>
                            </m:fPr>
                            <m:num>
                              <m:r>
                                <m:rPr>
                                  <m:sty m:val="p"/>
                                </m:rPr>
                                <a:rPr lang="en-US" b="0" i="0" smtClean="0">
                                  <a:solidFill>
                                    <a:srgbClr val="4472C4"/>
                                  </a:solidFill>
                                  <a:latin typeface="Cambria Math" panose="02040503050406030204" pitchFamily="18" charset="0"/>
                                </a:rPr>
                                <m:t>mile</m:t>
                              </m:r>
                            </m:num>
                            <m:den>
                              <m:r>
                                <m:rPr>
                                  <m:sty m:val="p"/>
                                </m:rPr>
                                <a:rPr lang="en-US" b="0" i="0" smtClean="0">
                                  <a:solidFill>
                                    <a:srgbClr val="4472C4"/>
                                  </a:solidFill>
                                  <a:latin typeface="Cambria Math" panose="02040503050406030204" pitchFamily="18" charset="0"/>
                                </a:rPr>
                                <m:t>hr</m:t>
                              </m:r>
                            </m:den>
                          </m:f>
                          <m:r>
                            <a:rPr lang="en-US" b="0" i="0" smtClean="0">
                              <a:solidFill>
                                <a:srgbClr val="4472C4"/>
                              </a:solidFill>
                              <a:latin typeface="Cambria Math" panose="02040503050406030204" pitchFamily="18" charset="0"/>
                              <a:ea typeface="Cambria Math" panose="02040503050406030204" pitchFamily="18" charset="0"/>
                            </a:rPr>
                            <m:t>×</m:t>
                          </m:r>
                          <m:f>
                            <m:fPr>
                              <m:ctrlPr>
                                <a:rPr lang="en-US" b="0" i="1" smtClean="0">
                                  <a:solidFill>
                                    <a:srgbClr val="4472C4"/>
                                  </a:solidFill>
                                  <a:latin typeface="Cambria Math" panose="02040503050406030204" pitchFamily="18" charset="0"/>
                                  <a:ea typeface="Cambria Math" panose="02040503050406030204" pitchFamily="18" charset="0"/>
                                </a:rPr>
                              </m:ctrlPr>
                            </m:fPr>
                            <m:num>
                              <m:r>
                                <a:rPr lang="en-US" b="0" i="0" smtClean="0">
                                  <a:solidFill>
                                    <a:srgbClr val="4472C4"/>
                                  </a:solidFill>
                                  <a:latin typeface="Cambria Math" panose="02040503050406030204" pitchFamily="18" charset="0"/>
                                  <a:ea typeface="Cambria Math" panose="02040503050406030204" pitchFamily="18" charset="0"/>
                                </a:rPr>
                                <m:t>5280 </m:t>
                              </m:r>
                              <m:r>
                                <m:rPr>
                                  <m:sty m:val="p"/>
                                </m:rPr>
                                <a:rPr lang="en-US" b="0" i="0" smtClean="0">
                                  <a:solidFill>
                                    <a:srgbClr val="4472C4"/>
                                  </a:solidFill>
                                  <a:latin typeface="Cambria Math" panose="02040503050406030204" pitchFamily="18" charset="0"/>
                                  <a:ea typeface="Cambria Math" panose="02040503050406030204" pitchFamily="18" charset="0"/>
                                </a:rPr>
                                <m:t>ft</m:t>
                              </m:r>
                            </m:num>
                            <m:den>
                              <m:r>
                                <m:rPr>
                                  <m:sty m:val="p"/>
                                </m:rPr>
                                <a:rPr lang="en-US" b="0" i="0" smtClean="0">
                                  <a:solidFill>
                                    <a:srgbClr val="4472C4"/>
                                  </a:solidFill>
                                  <a:latin typeface="Cambria Math" panose="02040503050406030204" pitchFamily="18" charset="0"/>
                                  <a:ea typeface="Cambria Math" panose="02040503050406030204" pitchFamily="18" charset="0"/>
                                </a:rPr>
                                <m:t>mile</m:t>
                              </m:r>
                            </m:den>
                          </m:f>
                        </m:den>
                      </m:f>
                      <m:r>
                        <a:rPr lang="en-US" b="0" i="0" smtClean="0">
                          <a:solidFill>
                            <a:srgbClr val="4472C4"/>
                          </a:solidFill>
                          <a:latin typeface="Cambria Math" panose="02040503050406030204" pitchFamily="18" charset="0"/>
                        </a:rPr>
                        <m:t>=</m:t>
                      </m:r>
                      <m:r>
                        <a:rPr lang="en-US" b="1" i="0" smtClean="0">
                          <a:solidFill>
                            <a:srgbClr val="4472C4"/>
                          </a:solidFill>
                          <a:latin typeface="Cambria Math" panose="02040503050406030204" pitchFamily="18" charset="0"/>
                        </a:rPr>
                        <m:t>𝟏𝟖</m:t>
                      </m:r>
                      <m:r>
                        <a:rPr lang="en-US" b="1" i="0" smtClean="0">
                          <a:solidFill>
                            <a:srgbClr val="4472C4"/>
                          </a:solidFill>
                          <a:latin typeface="Cambria Math" panose="02040503050406030204" pitchFamily="18" charset="0"/>
                        </a:rPr>
                        <m:t>.</m:t>
                      </m:r>
                      <m:r>
                        <a:rPr lang="en-US" b="1" i="0" smtClean="0">
                          <a:solidFill>
                            <a:srgbClr val="4472C4"/>
                          </a:solidFill>
                          <a:latin typeface="Cambria Math" panose="02040503050406030204" pitchFamily="18" charset="0"/>
                        </a:rPr>
                        <m:t>𝟕𝟕</m:t>
                      </m:r>
                      <m:r>
                        <a:rPr lang="en-US" b="1" i="0" smtClean="0">
                          <a:solidFill>
                            <a:srgbClr val="4472C4"/>
                          </a:solidFill>
                          <a:latin typeface="Cambria Math" panose="02040503050406030204" pitchFamily="18" charset="0"/>
                        </a:rPr>
                        <m:t> </m:t>
                      </m:r>
                      <m:r>
                        <a:rPr lang="en-US" b="1" i="0" smtClean="0">
                          <a:solidFill>
                            <a:srgbClr val="4472C4"/>
                          </a:solidFill>
                          <a:latin typeface="Cambria Math" panose="02040503050406030204" pitchFamily="18" charset="0"/>
                        </a:rPr>
                        <m:t>𝐡𝐫𝐬</m:t>
                      </m:r>
                    </m:oMath>
                  </m:oMathPara>
                </a14:m>
                <a:endParaRPr lang="en-US" b="1" dirty="0">
                  <a:solidFill>
                    <a:srgbClr val="4472C4"/>
                  </a:solidFill>
                </a:endParaRPr>
              </a:p>
            </p:txBody>
          </p:sp>
        </mc:Choice>
        <mc:Fallback xmlns="">
          <p:sp>
            <p:nvSpPr>
              <p:cNvPr id="5" name="TextBox 4">
                <a:extLst>
                  <a:ext uri="{FF2B5EF4-FFF2-40B4-BE49-F238E27FC236}">
                    <a16:creationId xmlns:a16="http://schemas.microsoft.com/office/drawing/2014/main" id="{CC024183-314A-485D-AD31-EBE81DACDBC7}"/>
                  </a:ext>
                </a:extLst>
              </p:cNvPr>
              <p:cNvSpPr txBox="1">
                <a:spLocks noRot="1" noChangeAspect="1" noMove="1" noResize="1" noEditPoints="1" noAdjustHandles="1" noChangeArrowheads="1" noChangeShapeType="1" noTextEdit="1"/>
              </p:cNvSpPr>
              <p:nvPr/>
            </p:nvSpPr>
            <p:spPr>
              <a:xfrm>
                <a:off x="5029111" y="4760166"/>
                <a:ext cx="5014193" cy="114544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1620425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2600" i="1" dirty="0">
                <a:latin typeface="Courier New" panose="02070309020205020404" pitchFamily="49" charset="0"/>
                <a:cs typeface="Courier New" panose="02070309020205020404" pitchFamily="49" charset="0"/>
              </a:rPr>
              <a:t>For Items 94-97</a:t>
            </a:r>
            <a:endParaRPr lang="en-US" sz="2600" dirty="0">
              <a:latin typeface="Courier New" panose="02070309020205020404" pitchFamily="49" charset="0"/>
              <a:cs typeface="Courier New" panose="02070309020205020404" pitchFamily="49" charset="0"/>
            </a:endParaRPr>
          </a:p>
          <a:p>
            <a:pPr marL="0" indent="0" algn="just">
              <a:buNone/>
            </a:pPr>
            <a:r>
              <a:rPr lang="en-US" sz="26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96. Determine Juan’s plowing capacity.</a:t>
            </a:r>
          </a:p>
          <a:p>
            <a:pPr marL="0" lvl="0" indent="0" algn="just">
              <a:buNone/>
            </a:pP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r>
              <a:rPr lang="en-PH" sz="2600" dirty="0">
                <a:latin typeface="Courier New" panose="02070309020205020404" pitchFamily="49" charset="0"/>
                <a:cs typeface="Courier New" panose="02070309020205020404" pitchFamily="49" charset="0"/>
              </a:rPr>
              <a:t>0.064 ha/</a:t>
            </a:r>
            <a:r>
              <a:rPr lang="en-PH" sz="2600" dirty="0" err="1">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dirty="0">
                <a:latin typeface="Courier New" panose="02070309020205020404" pitchFamily="49" charset="0"/>
                <a:cs typeface="Courier New" panose="02070309020205020404" pitchFamily="49" charset="0"/>
              </a:rPr>
              <a:t>0.082 ha/</a:t>
            </a:r>
            <a:r>
              <a:rPr lang="en-PH" sz="2600" dirty="0" err="1">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dirty="0">
                <a:latin typeface="Courier New" panose="02070309020205020404" pitchFamily="49" charset="0"/>
                <a:cs typeface="Courier New" panose="02070309020205020404" pitchFamily="49" charset="0"/>
              </a:rPr>
              <a:t>0.070 ha/</a:t>
            </a:r>
            <a:r>
              <a:rPr lang="en-PH" sz="2600" dirty="0" err="1">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dirty="0">
                <a:latin typeface="Courier New" panose="02070309020205020404" pitchFamily="49" charset="0"/>
                <a:cs typeface="Courier New" panose="02070309020205020404" pitchFamily="49" charset="0"/>
              </a:rPr>
              <a:t>0.057 ha/</a:t>
            </a:r>
            <a:r>
              <a:rPr lang="en-PH" sz="2600" dirty="0" err="1">
                <a:latin typeface="Courier New" panose="02070309020205020404" pitchFamily="49" charset="0"/>
                <a:cs typeface="Courier New" panose="02070309020205020404" pitchFamily="49" charset="0"/>
              </a:rPr>
              <a:t>hr</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1183222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r>
              <a:rPr lang="en-US" sz="2600" i="1" dirty="0">
                <a:latin typeface="Courier New" panose="02070309020205020404" pitchFamily="49" charset="0"/>
                <a:cs typeface="Courier New" panose="02070309020205020404" pitchFamily="49" charset="0"/>
              </a:rPr>
              <a:t>For Items 94-97</a:t>
            </a:r>
            <a:endParaRPr lang="en-US" sz="2600" dirty="0">
              <a:latin typeface="Courier New" panose="02070309020205020404" pitchFamily="49" charset="0"/>
              <a:cs typeface="Courier New" panose="02070309020205020404" pitchFamily="49" charset="0"/>
            </a:endParaRPr>
          </a:p>
          <a:p>
            <a:pPr marL="0" indent="0" algn="just">
              <a:buNone/>
            </a:pPr>
            <a:r>
              <a:rPr lang="en-US" sz="2600" i="1" dirty="0">
                <a:latin typeface="Courier New" panose="02070309020205020404" pitchFamily="49" charset="0"/>
                <a:cs typeface="Courier New" panose="02070309020205020404" pitchFamily="49" charset="0"/>
              </a:rPr>
              <a:t>Juan will plow the field of 120m wide and 426.4 feet long using a carabao and moldboard plow</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with a 10-inch width of cut. His speed of plowing is 2mph.</a:t>
            </a:r>
          </a:p>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96. Determine Juan’s plowing capacity.</a:t>
            </a:r>
          </a:p>
          <a:p>
            <a:pPr marL="0" lvl="0" indent="0" algn="just">
              <a:buNone/>
            </a:pP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r>
              <a:rPr lang="en-PH" sz="2600" dirty="0">
                <a:latin typeface="Courier New" panose="02070309020205020404" pitchFamily="49" charset="0"/>
                <a:cs typeface="Courier New" panose="02070309020205020404" pitchFamily="49" charset="0"/>
              </a:rPr>
              <a:t>0.064 ha/</a:t>
            </a:r>
            <a:r>
              <a:rPr lang="en-PH" sz="2600" dirty="0" err="1">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b="1" dirty="0">
                <a:solidFill>
                  <a:srgbClr val="FF0000"/>
                </a:solidFill>
                <a:latin typeface="Courier New" panose="02070309020205020404" pitchFamily="49" charset="0"/>
                <a:cs typeface="Courier New" panose="02070309020205020404" pitchFamily="49" charset="0"/>
              </a:rPr>
              <a:t>0.082 ha/</a:t>
            </a:r>
            <a:r>
              <a:rPr lang="en-PH" sz="2600" b="1" dirty="0" err="1">
                <a:solidFill>
                  <a:srgbClr val="FF0000"/>
                </a:solidFill>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dirty="0">
                <a:latin typeface="Courier New" panose="02070309020205020404" pitchFamily="49" charset="0"/>
                <a:cs typeface="Courier New" panose="02070309020205020404" pitchFamily="49" charset="0"/>
              </a:rPr>
              <a:t>0.070 ha/</a:t>
            </a:r>
            <a:r>
              <a:rPr lang="en-PH" sz="2600" dirty="0" err="1">
                <a:latin typeface="Courier New" panose="02070309020205020404" pitchFamily="49" charset="0"/>
                <a:cs typeface="Courier New" panose="02070309020205020404" pitchFamily="49" charset="0"/>
              </a:rPr>
              <a:t>hr</a:t>
            </a:r>
            <a:r>
              <a:rPr lang="en-PH" sz="2600" dirty="0">
                <a:latin typeface="Courier New" panose="02070309020205020404" pitchFamily="49" charset="0"/>
                <a:cs typeface="Courier New" panose="02070309020205020404" pitchFamily="49" charset="0"/>
              </a:rPr>
              <a:t> 	</a:t>
            </a:r>
          </a:p>
          <a:p>
            <a:pPr marL="971550" lvl="1" indent="-514350" algn="just">
              <a:buAutoNum type="alphaLcPeriod"/>
            </a:pPr>
            <a:r>
              <a:rPr lang="en-PH" sz="2600" dirty="0">
                <a:latin typeface="Courier New" panose="02070309020205020404" pitchFamily="49" charset="0"/>
                <a:cs typeface="Courier New" panose="02070309020205020404" pitchFamily="49" charset="0"/>
              </a:rPr>
              <a:t>0.057 ha/</a:t>
            </a:r>
            <a:r>
              <a:rPr lang="en-PH" sz="2600" dirty="0" err="1">
                <a:latin typeface="Courier New" panose="02070309020205020404" pitchFamily="49" charset="0"/>
                <a:cs typeface="Courier New" panose="02070309020205020404" pitchFamily="49" charset="0"/>
              </a:rPr>
              <a:t>hr</a:t>
            </a: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D9F7586-0F9B-48A2-B97C-85F9EE54E46B}"/>
                  </a:ext>
                </a:extLst>
              </p:cNvPr>
              <p:cNvSpPr txBox="1"/>
              <p:nvPr/>
            </p:nvSpPr>
            <p:spPr>
              <a:xfrm>
                <a:off x="5782733" y="4038600"/>
                <a:ext cx="5634428" cy="7512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0070C0"/>
                              </a:solidFill>
                              <a:latin typeface="Cambria Math" panose="02040503050406030204" pitchFamily="18" charset="0"/>
                            </a:rPr>
                          </m:ctrlPr>
                        </m:fPr>
                        <m:num>
                          <m:d>
                            <m:dPr>
                              <m:ctrlPr>
                                <a:rPr lang="en-US" b="0" i="1" smtClean="0">
                                  <a:solidFill>
                                    <a:srgbClr val="0070C0"/>
                                  </a:solidFill>
                                  <a:latin typeface="Cambria Math" panose="02040503050406030204" pitchFamily="18" charset="0"/>
                                </a:rPr>
                              </m:ctrlPr>
                            </m:dPr>
                            <m:e>
                              <m:r>
                                <a:rPr lang="en-US" b="0" i="0" smtClean="0">
                                  <a:solidFill>
                                    <a:srgbClr val="0070C0"/>
                                  </a:solidFill>
                                  <a:latin typeface="Cambria Math" panose="02040503050406030204" pitchFamily="18" charset="0"/>
                                </a:rPr>
                                <m:t>2</m:t>
                              </m:r>
                              <m:f>
                                <m:fPr>
                                  <m:ctrlPr>
                                    <a:rPr lang="en-US" b="0" i="1" smtClean="0">
                                      <a:solidFill>
                                        <a:srgbClr val="0070C0"/>
                                      </a:solidFill>
                                      <a:latin typeface="Cambria Math" panose="02040503050406030204" pitchFamily="18" charset="0"/>
                                    </a:rPr>
                                  </m:ctrlPr>
                                </m:fPr>
                                <m:num>
                                  <m:r>
                                    <m:rPr>
                                      <m:sty m:val="p"/>
                                    </m:rPr>
                                    <a:rPr lang="en-US" b="0" i="0" smtClean="0">
                                      <a:solidFill>
                                        <a:srgbClr val="0070C0"/>
                                      </a:solidFill>
                                      <a:latin typeface="Cambria Math" panose="02040503050406030204" pitchFamily="18" charset="0"/>
                                    </a:rPr>
                                    <m:t>mile</m:t>
                                  </m:r>
                                </m:num>
                                <m:den>
                                  <m:r>
                                    <m:rPr>
                                      <m:sty m:val="p"/>
                                    </m:rPr>
                                    <a:rPr lang="en-US" b="0" i="0" smtClean="0">
                                      <a:solidFill>
                                        <a:srgbClr val="0070C0"/>
                                      </a:solidFill>
                                      <a:latin typeface="Cambria Math" panose="02040503050406030204" pitchFamily="18" charset="0"/>
                                    </a:rPr>
                                    <m:t>hr</m:t>
                                  </m:r>
                                </m:den>
                              </m:f>
                              <m:r>
                                <a:rPr lang="en-US" b="0" i="0" smtClean="0">
                                  <a:solidFill>
                                    <a:srgbClr val="0070C0"/>
                                  </a:solidFill>
                                  <a:latin typeface="Cambria Math" panose="02040503050406030204" pitchFamily="18" charset="0"/>
                                  <a:ea typeface="Cambria Math" panose="02040503050406030204" pitchFamily="18" charset="0"/>
                                </a:rPr>
                                <m:t>×</m:t>
                              </m:r>
                              <m:f>
                                <m:fPr>
                                  <m:ctrlPr>
                                    <a:rPr lang="en-US" b="0" i="1" smtClean="0">
                                      <a:solidFill>
                                        <a:srgbClr val="0070C0"/>
                                      </a:solidFill>
                                      <a:latin typeface="Cambria Math" panose="02040503050406030204" pitchFamily="18" charset="0"/>
                                      <a:ea typeface="Cambria Math" panose="02040503050406030204" pitchFamily="18" charset="0"/>
                                    </a:rPr>
                                  </m:ctrlPr>
                                </m:fPr>
                                <m:num>
                                  <m:r>
                                    <a:rPr lang="en-US" b="0" i="0" smtClean="0">
                                      <a:solidFill>
                                        <a:srgbClr val="0070C0"/>
                                      </a:solidFill>
                                      <a:latin typeface="Cambria Math" panose="02040503050406030204" pitchFamily="18" charset="0"/>
                                      <a:ea typeface="Cambria Math" panose="02040503050406030204" pitchFamily="18" charset="0"/>
                                    </a:rPr>
                                    <m:t>1.609 </m:t>
                                  </m:r>
                                  <m:r>
                                    <m:rPr>
                                      <m:sty m:val="p"/>
                                    </m:rPr>
                                    <a:rPr lang="en-US" b="0" i="0" smtClean="0">
                                      <a:solidFill>
                                        <a:srgbClr val="0070C0"/>
                                      </a:solidFill>
                                      <a:latin typeface="Cambria Math" panose="02040503050406030204" pitchFamily="18" charset="0"/>
                                      <a:ea typeface="Cambria Math" panose="02040503050406030204" pitchFamily="18" charset="0"/>
                                    </a:rPr>
                                    <m:t>km</m:t>
                                  </m:r>
                                </m:num>
                                <m:den>
                                  <m:r>
                                    <a:rPr lang="en-US" b="0" i="0" smtClean="0">
                                      <a:solidFill>
                                        <a:srgbClr val="0070C0"/>
                                      </a:solidFill>
                                      <a:latin typeface="Cambria Math" panose="02040503050406030204" pitchFamily="18" charset="0"/>
                                      <a:ea typeface="Cambria Math" panose="02040503050406030204" pitchFamily="18" charset="0"/>
                                    </a:rPr>
                                    <m:t>1 </m:t>
                                  </m:r>
                                  <m:r>
                                    <m:rPr>
                                      <m:sty m:val="p"/>
                                    </m:rPr>
                                    <a:rPr lang="en-US" b="0" i="0" smtClean="0">
                                      <a:solidFill>
                                        <a:srgbClr val="0070C0"/>
                                      </a:solidFill>
                                      <a:latin typeface="Cambria Math" panose="02040503050406030204" pitchFamily="18" charset="0"/>
                                      <a:ea typeface="Cambria Math" panose="02040503050406030204" pitchFamily="18" charset="0"/>
                                    </a:rPr>
                                    <m:t>mile</m:t>
                                  </m:r>
                                </m:den>
                              </m:f>
                            </m:e>
                          </m:d>
                          <m:d>
                            <m:dPr>
                              <m:ctrlPr>
                                <a:rPr lang="en-US" b="0" i="1" smtClean="0">
                                  <a:solidFill>
                                    <a:srgbClr val="0070C0"/>
                                  </a:solidFill>
                                  <a:latin typeface="Cambria Math" panose="02040503050406030204" pitchFamily="18" charset="0"/>
                                </a:rPr>
                              </m:ctrlPr>
                            </m:dPr>
                            <m:e>
                              <m:r>
                                <a:rPr lang="en-US" b="0" i="0" smtClean="0">
                                  <a:solidFill>
                                    <a:srgbClr val="0070C0"/>
                                  </a:solidFill>
                                  <a:latin typeface="Cambria Math" panose="02040503050406030204" pitchFamily="18" charset="0"/>
                                </a:rPr>
                                <m:t>10 </m:t>
                              </m:r>
                              <m:r>
                                <m:rPr>
                                  <m:sty m:val="p"/>
                                </m:rPr>
                                <a:rPr lang="en-US" b="0" i="0" smtClean="0">
                                  <a:solidFill>
                                    <a:srgbClr val="0070C0"/>
                                  </a:solidFill>
                                  <a:latin typeface="Cambria Math" panose="02040503050406030204" pitchFamily="18" charset="0"/>
                                </a:rPr>
                                <m:t>in</m:t>
                              </m:r>
                              <m:r>
                                <a:rPr lang="en-US" b="0" i="0" smtClean="0">
                                  <a:solidFill>
                                    <a:srgbClr val="0070C0"/>
                                  </a:solidFill>
                                  <a:latin typeface="Cambria Math" panose="02040503050406030204" pitchFamily="18" charset="0"/>
                                  <a:ea typeface="Cambria Math" panose="02040503050406030204" pitchFamily="18" charset="0"/>
                                </a:rPr>
                                <m:t>×</m:t>
                              </m:r>
                              <m:f>
                                <m:fPr>
                                  <m:ctrlPr>
                                    <a:rPr lang="en-US" b="0" i="1" smtClean="0">
                                      <a:solidFill>
                                        <a:srgbClr val="0070C0"/>
                                      </a:solidFill>
                                      <a:latin typeface="Cambria Math" panose="02040503050406030204" pitchFamily="18" charset="0"/>
                                      <a:ea typeface="Cambria Math" panose="02040503050406030204" pitchFamily="18" charset="0"/>
                                    </a:rPr>
                                  </m:ctrlPr>
                                </m:fPr>
                                <m:num>
                                  <m:r>
                                    <a:rPr lang="en-US" b="0" i="0" smtClean="0">
                                      <a:solidFill>
                                        <a:srgbClr val="0070C0"/>
                                      </a:solidFill>
                                      <a:latin typeface="Cambria Math" panose="02040503050406030204" pitchFamily="18" charset="0"/>
                                      <a:ea typeface="Cambria Math" panose="02040503050406030204" pitchFamily="18" charset="0"/>
                                    </a:rPr>
                                    <m:t>0.0254 </m:t>
                                  </m:r>
                                  <m:r>
                                    <m:rPr>
                                      <m:sty m:val="p"/>
                                    </m:rPr>
                                    <a:rPr lang="en-US" b="0" i="0" smtClean="0">
                                      <a:solidFill>
                                        <a:srgbClr val="0070C0"/>
                                      </a:solidFill>
                                      <a:latin typeface="Cambria Math" panose="02040503050406030204" pitchFamily="18" charset="0"/>
                                      <a:ea typeface="Cambria Math" panose="02040503050406030204" pitchFamily="18" charset="0"/>
                                    </a:rPr>
                                    <m:t>m</m:t>
                                  </m:r>
                                </m:num>
                                <m:den>
                                  <m:r>
                                    <a:rPr lang="en-US" b="0" i="0" smtClean="0">
                                      <a:solidFill>
                                        <a:srgbClr val="0070C0"/>
                                      </a:solidFill>
                                      <a:latin typeface="Cambria Math" panose="02040503050406030204" pitchFamily="18" charset="0"/>
                                      <a:ea typeface="Cambria Math" panose="02040503050406030204" pitchFamily="18" charset="0"/>
                                    </a:rPr>
                                    <m:t>1 </m:t>
                                  </m:r>
                                  <m:r>
                                    <m:rPr>
                                      <m:sty m:val="p"/>
                                    </m:rPr>
                                    <a:rPr lang="en-US" b="0" i="0" smtClean="0">
                                      <a:solidFill>
                                        <a:srgbClr val="0070C0"/>
                                      </a:solidFill>
                                      <a:latin typeface="Cambria Math" panose="02040503050406030204" pitchFamily="18" charset="0"/>
                                      <a:ea typeface="Cambria Math" panose="02040503050406030204" pitchFamily="18" charset="0"/>
                                    </a:rPr>
                                    <m:t>in</m:t>
                                  </m:r>
                                </m:den>
                              </m:f>
                            </m:e>
                          </m:d>
                        </m:num>
                        <m:den>
                          <m:r>
                            <a:rPr lang="en-US" b="0" i="0" smtClean="0">
                              <a:solidFill>
                                <a:srgbClr val="0070C0"/>
                              </a:solidFill>
                              <a:latin typeface="Cambria Math" panose="02040503050406030204" pitchFamily="18" charset="0"/>
                            </a:rPr>
                            <m:t>10</m:t>
                          </m:r>
                        </m:den>
                      </m:f>
                      <m:r>
                        <a:rPr lang="en-US" b="0" i="0" smtClean="0">
                          <a:solidFill>
                            <a:srgbClr val="0070C0"/>
                          </a:solidFill>
                          <a:latin typeface="Cambria Math" panose="02040503050406030204" pitchFamily="18" charset="0"/>
                        </a:rPr>
                        <m:t>=</m:t>
                      </m:r>
                      <m:r>
                        <a:rPr lang="en-US" b="1" i="0" smtClean="0">
                          <a:solidFill>
                            <a:srgbClr val="0070C0"/>
                          </a:solidFill>
                          <a:latin typeface="Cambria Math" panose="02040503050406030204" pitchFamily="18" charset="0"/>
                        </a:rPr>
                        <m:t>𝟎</m:t>
                      </m:r>
                      <m:r>
                        <a:rPr lang="en-US" b="1" i="0" smtClean="0">
                          <a:solidFill>
                            <a:srgbClr val="0070C0"/>
                          </a:solidFill>
                          <a:latin typeface="Cambria Math" panose="02040503050406030204" pitchFamily="18" charset="0"/>
                        </a:rPr>
                        <m:t>.</m:t>
                      </m:r>
                      <m:r>
                        <a:rPr lang="en-US" b="1" i="0" smtClean="0">
                          <a:solidFill>
                            <a:srgbClr val="0070C0"/>
                          </a:solidFill>
                          <a:latin typeface="Cambria Math" panose="02040503050406030204" pitchFamily="18" charset="0"/>
                        </a:rPr>
                        <m:t>𝟎𝟖𝟐</m:t>
                      </m:r>
                      <m:r>
                        <a:rPr lang="en-US" b="1" i="0" smtClean="0">
                          <a:solidFill>
                            <a:srgbClr val="0070C0"/>
                          </a:solidFill>
                          <a:latin typeface="Cambria Math" panose="02040503050406030204" pitchFamily="18" charset="0"/>
                        </a:rPr>
                        <m:t> </m:t>
                      </m:r>
                      <m:r>
                        <a:rPr lang="en-US" b="1" i="0" smtClean="0">
                          <a:solidFill>
                            <a:srgbClr val="0070C0"/>
                          </a:solidFill>
                          <a:latin typeface="Cambria Math" panose="02040503050406030204" pitchFamily="18" charset="0"/>
                        </a:rPr>
                        <m:t>𝐡𝐚</m:t>
                      </m:r>
                      <m:r>
                        <a:rPr lang="en-US" b="1" i="0" smtClean="0">
                          <a:solidFill>
                            <a:srgbClr val="0070C0"/>
                          </a:solidFill>
                          <a:latin typeface="Cambria Math" panose="02040503050406030204" pitchFamily="18" charset="0"/>
                        </a:rPr>
                        <m:t>/</m:t>
                      </m:r>
                      <m:r>
                        <a:rPr lang="en-US" b="1" i="0" smtClean="0">
                          <a:solidFill>
                            <a:srgbClr val="0070C0"/>
                          </a:solidFill>
                          <a:latin typeface="Cambria Math" panose="02040503050406030204" pitchFamily="18" charset="0"/>
                        </a:rPr>
                        <m:t>𝐡𝐫</m:t>
                      </m:r>
                    </m:oMath>
                  </m:oMathPara>
                </a14:m>
                <a:endParaRPr lang="en-US" b="1" dirty="0">
                  <a:solidFill>
                    <a:srgbClr val="0070C0"/>
                  </a:solidFill>
                </a:endParaRPr>
              </a:p>
            </p:txBody>
          </p:sp>
        </mc:Choice>
        <mc:Fallback xmlns="">
          <p:sp>
            <p:nvSpPr>
              <p:cNvPr id="2" name="TextBox 1">
                <a:extLst>
                  <a:ext uri="{FF2B5EF4-FFF2-40B4-BE49-F238E27FC236}">
                    <a16:creationId xmlns:a16="http://schemas.microsoft.com/office/drawing/2014/main" id="{0D9F7586-0F9B-48A2-B97C-85F9EE54E46B}"/>
                  </a:ext>
                </a:extLst>
              </p:cNvPr>
              <p:cNvSpPr txBox="1">
                <a:spLocks noRot="1" noChangeAspect="1" noMove="1" noResize="1" noEditPoints="1" noAdjustHandles="1" noChangeArrowheads="1" noChangeShapeType="1" noTextEdit="1"/>
              </p:cNvSpPr>
              <p:nvPr/>
            </p:nvSpPr>
            <p:spPr>
              <a:xfrm>
                <a:off x="5782733" y="4038600"/>
                <a:ext cx="5634428" cy="75129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6653754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97. A farmer uses a hand tractor with 20cm moldboard plow. How many kilometers must he walk to plow one hectare?</a:t>
            </a:r>
          </a:p>
          <a:p>
            <a:pPr marL="0" lvl="0" indent="0" algn="just">
              <a:buNone/>
            </a:pP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r>
              <a:rPr lang="en-PH" sz="2600" dirty="0">
                <a:latin typeface="Courier New" panose="02070309020205020404" pitchFamily="49" charset="0"/>
                <a:cs typeface="Courier New" panose="02070309020205020404" pitchFamily="49" charset="0"/>
              </a:rPr>
              <a:t>500,000 m		</a:t>
            </a:r>
          </a:p>
          <a:p>
            <a:pPr marL="971550" lvl="1" indent="-514350" algn="just">
              <a:buAutoNum type="alphaLcPeriod"/>
            </a:pPr>
            <a:r>
              <a:rPr lang="en-PH" sz="2600" dirty="0">
                <a:latin typeface="Courier New" panose="02070309020205020404" pitchFamily="49" charset="0"/>
                <a:cs typeface="Courier New" panose="02070309020205020404" pitchFamily="49" charset="0"/>
              </a:rPr>
              <a:t>5 km 		</a:t>
            </a:r>
          </a:p>
          <a:p>
            <a:pPr marL="971550" lvl="1" indent="-514350" algn="just">
              <a:buAutoNum type="alphaLcPeriod"/>
            </a:pPr>
            <a:r>
              <a:rPr lang="en-PH" sz="2600" dirty="0">
                <a:latin typeface="Courier New" panose="02070309020205020404" pitchFamily="49" charset="0"/>
                <a:cs typeface="Courier New" panose="02070309020205020404" pitchFamily="49" charset="0"/>
              </a:rPr>
              <a:t>5 ha			</a:t>
            </a:r>
          </a:p>
          <a:p>
            <a:pPr marL="971550" lvl="1" indent="-514350" algn="just">
              <a:buAutoNum type="alphaLcPeriod"/>
            </a:pPr>
            <a:r>
              <a:rPr lang="en-PH" sz="2600" dirty="0">
                <a:latin typeface="Courier New" panose="02070309020205020404" pitchFamily="49" charset="0"/>
                <a:cs typeface="Courier New" panose="02070309020205020404" pitchFamily="49" charset="0"/>
              </a:rPr>
              <a:t>AOTA</a:t>
            </a: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6687842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indent="0" algn="just">
              <a:buNone/>
            </a:pPr>
            <a:endParaRPr lang="en-US" sz="2600" dirty="0">
              <a:latin typeface="Courier New" panose="02070309020205020404" pitchFamily="49" charset="0"/>
              <a:cs typeface="Courier New" panose="02070309020205020404" pitchFamily="49" charset="0"/>
            </a:endParaRPr>
          </a:p>
          <a:p>
            <a:pPr marL="0" lvl="0" indent="0" algn="just">
              <a:buNone/>
            </a:pPr>
            <a:r>
              <a:rPr lang="en-US" sz="2600" dirty="0">
                <a:latin typeface="Courier New" panose="02070309020205020404" pitchFamily="49" charset="0"/>
                <a:cs typeface="Courier New" panose="02070309020205020404" pitchFamily="49" charset="0"/>
              </a:rPr>
              <a:t>97. A farmer uses a hand tractor with 20cm moldboard plow. How many kilometers must he walk to plow one hectare?</a:t>
            </a:r>
          </a:p>
          <a:p>
            <a:pPr marL="0" lvl="0" indent="0" algn="just">
              <a:buNone/>
            </a:pP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r>
              <a:rPr lang="en-PH" sz="2600" dirty="0">
                <a:latin typeface="Courier New" panose="02070309020205020404" pitchFamily="49" charset="0"/>
                <a:cs typeface="Courier New" panose="02070309020205020404" pitchFamily="49" charset="0"/>
              </a:rPr>
              <a:t>500,000 m		</a:t>
            </a:r>
          </a:p>
          <a:p>
            <a:pPr marL="971550" lvl="1" indent="-514350" algn="just">
              <a:buAutoNum type="alphaLcPeriod"/>
            </a:pPr>
            <a:r>
              <a:rPr lang="en-PH" sz="2600" dirty="0">
                <a:latin typeface="Courier New" panose="02070309020205020404" pitchFamily="49" charset="0"/>
                <a:cs typeface="Courier New" panose="02070309020205020404" pitchFamily="49" charset="0"/>
              </a:rPr>
              <a:t>5 km 		</a:t>
            </a:r>
          </a:p>
          <a:p>
            <a:pPr marL="971550" lvl="1" indent="-514350" algn="just">
              <a:buAutoNum type="alphaLcPeriod"/>
            </a:pPr>
            <a:r>
              <a:rPr lang="en-PH" sz="2600" dirty="0">
                <a:latin typeface="Courier New" panose="02070309020205020404" pitchFamily="49" charset="0"/>
                <a:cs typeface="Courier New" panose="02070309020205020404" pitchFamily="49" charset="0"/>
              </a:rPr>
              <a:t>5 ha			</a:t>
            </a:r>
          </a:p>
          <a:p>
            <a:pPr marL="971550" lvl="1" indent="-514350" algn="just">
              <a:buAutoNum type="alphaLcPeriod"/>
            </a:pPr>
            <a:r>
              <a:rPr lang="en-PH" sz="2600" dirty="0">
                <a:latin typeface="Courier New" panose="02070309020205020404" pitchFamily="49" charset="0"/>
                <a:cs typeface="Courier New" panose="02070309020205020404" pitchFamily="49" charset="0"/>
              </a:rPr>
              <a:t>AOTA</a:t>
            </a:r>
            <a:endParaRPr lang="en-US" sz="2600" dirty="0">
              <a:latin typeface="Courier New" panose="02070309020205020404" pitchFamily="49" charset="0"/>
              <a:cs typeface="Courier New" panose="02070309020205020404" pitchFamily="49" charset="0"/>
            </a:endParaRPr>
          </a:p>
          <a:p>
            <a:pPr marL="971550" lvl="1" indent="-514350" algn="just">
              <a:buAutoNum type="alphaLcPeriod"/>
            </a:pPr>
            <a:endParaRPr lang="en-US" sz="2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2853C18-E096-484E-B785-3E1FD9CCE9EB}"/>
                  </a:ext>
                </a:extLst>
              </p:cNvPr>
              <p:cNvSpPr txBox="1"/>
              <p:nvPr/>
            </p:nvSpPr>
            <p:spPr>
              <a:xfrm>
                <a:off x="5647266" y="2972877"/>
                <a:ext cx="3669915"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solidFill>
                                <a:srgbClr val="0070C0"/>
                              </a:solidFill>
                              <a:latin typeface="Cambria Math" panose="02040503050406030204" pitchFamily="18" charset="0"/>
                            </a:rPr>
                          </m:ctrlPr>
                        </m:fPr>
                        <m:num>
                          <m:r>
                            <a:rPr lang="en-US" sz="2000" b="0" i="0" smtClean="0">
                              <a:solidFill>
                                <a:srgbClr val="0070C0"/>
                              </a:solidFill>
                              <a:latin typeface="Cambria Math" panose="02040503050406030204" pitchFamily="18" charset="0"/>
                            </a:rPr>
                            <m:t>10,000 </m:t>
                          </m:r>
                          <m:sSup>
                            <m:sSupPr>
                              <m:ctrlPr>
                                <a:rPr lang="en-US" sz="2000" b="0" i="1" smtClean="0">
                                  <a:solidFill>
                                    <a:srgbClr val="0070C0"/>
                                  </a:solidFill>
                                  <a:latin typeface="Cambria Math" panose="02040503050406030204" pitchFamily="18" charset="0"/>
                                </a:rPr>
                              </m:ctrlPr>
                            </m:sSupPr>
                            <m:e>
                              <m:r>
                                <m:rPr>
                                  <m:sty m:val="p"/>
                                </m:rPr>
                                <a:rPr lang="en-US" sz="2000" b="0" i="0" smtClean="0">
                                  <a:solidFill>
                                    <a:srgbClr val="0070C0"/>
                                  </a:solidFill>
                                  <a:latin typeface="Cambria Math" panose="02040503050406030204" pitchFamily="18" charset="0"/>
                                </a:rPr>
                                <m:t>m</m:t>
                              </m:r>
                            </m:e>
                            <m:sup>
                              <m:r>
                                <a:rPr lang="en-US" sz="2000" b="0" i="0" smtClean="0">
                                  <a:solidFill>
                                    <a:srgbClr val="0070C0"/>
                                  </a:solidFill>
                                  <a:latin typeface="Cambria Math" panose="02040503050406030204" pitchFamily="18" charset="0"/>
                                </a:rPr>
                                <m:t>2</m:t>
                              </m:r>
                            </m:sup>
                          </m:sSup>
                        </m:num>
                        <m:den>
                          <m:r>
                            <a:rPr lang="en-US" sz="2000" b="0" i="0" smtClean="0">
                              <a:solidFill>
                                <a:srgbClr val="0070C0"/>
                              </a:solidFill>
                              <a:latin typeface="Cambria Math" panose="02040503050406030204" pitchFamily="18" charset="0"/>
                            </a:rPr>
                            <m:t>0.2 </m:t>
                          </m:r>
                          <m:r>
                            <m:rPr>
                              <m:sty m:val="p"/>
                            </m:rPr>
                            <a:rPr lang="en-US" sz="2000" b="0" i="0" smtClean="0">
                              <a:solidFill>
                                <a:srgbClr val="0070C0"/>
                              </a:solidFill>
                              <a:latin typeface="Cambria Math" panose="02040503050406030204" pitchFamily="18" charset="0"/>
                            </a:rPr>
                            <m:t>m</m:t>
                          </m:r>
                        </m:den>
                      </m:f>
                      <m:r>
                        <a:rPr lang="en-US" sz="2000" b="0" i="0" smtClean="0">
                          <a:solidFill>
                            <a:srgbClr val="0070C0"/>
                          </a:solidFill>
                          <a:latin typeface="Cambria Math" panose="02040503050406030204" pitchFamily="18" charset="0"/>
                        </a:rPr>
                        <m:t>=50,000 </m:t>
                      </m:r>
                      <m:r>
                        <m:rPr>
                          <m:sty m:val="p"/>
                        </m:rPr>
                        <a:rPr lang="en-US" sz="2000" b="0" i="0" smtClean="0">
                          <a:solidFill>
                            <a:srgbClr val="0070C0"/>
                          </a:solidFill>
                          <a:latin typeface="Cambria Math" panose="02040503050406030204" pitchFamily="18" charset="0"/>
                        </a:rPr>
                        <m:t>m</m:t>
                      </m:r>
                      <m:r>
                        <a:rPr lang="en-US" sz="2000" b="0" i="0" smtClean="0">
                          <a:solidFill>
                            <a:srgbClr val="0070C0"/>
                          </a:solidFill>
                          <a:latin typeface="Cambria Math" panose="02040503050406030204" pitchFamily="18" charset="0"/>
                        </a:rPr>
                        <m:t>=</m:t>
                      </m:r>
                      <m:r>
                        <a:rPr lang="en-US" sz="2000" b="1" i="0" smtClean="0">
                          <a:solidFill>
                            <a:srgbClr val="0070C0"/>
                          </a:solidFill>
                          <a:latin typeface="Cambria Math" panose="02040503050406030204" pitchFamily="18" charset="0"/>
                        </a:rPr>
                        <m:t>𝟓𝟎</m:t>
                      </m:r>
                      <m:r>
                        <a:rPr lang="en-US" sz="2000" b="1" i="0" smtClean="0">
                          <a:solidFill>
                            <a:srgbClr val="0070C0"/>
                          </a:solidFill>
                          <a:latin typeface="Cambria Math" panose="02040503050406030204" pitchFamily="18" charset="0"/>
                        </a:rPr>
                        <m:t> </m:t>
                      </m:r>
                      <m:r>
                        <a:rPr lang="en-US" sz="2000" b="1" i="0" smtClean="0">
                          <a:solidFill>
                            <a:srgbClr val="0070C0"/>
                          </a:solidFill>
                          <a:latin typeface="Cambria Math" panose="02040503050406030204" pitchFamily="18" charset="0"/>
                        </a:rPr>
                        <m:t>𝐤𝐦</m:t>
                      </m:r>
                    </m:oMath>
                  </m:oMathPara>
                </a14:m>
                <a:endParaRPr lang="en-US" sz="2000" b="1" dirty="0">
                  <a:solidFill>
                    <a:srgbClr val="0070C0"/>
                  </a:solidFill>
                </a:endParaRPr>
              </a:p>
            </p:txBody>
          </p:sp>
        </mc:Choice>
        <mc:Fallback xmlns="">
          <p:sp>
            <p:nvSpPr>
              <p:cNvPr id="2" name="TextBox 1">
                <a:extLst>
                  <a:ext uri="{FF2B5EF4-FFF2-40B4-BE49-F238E27FC236}">
                    <a16:creationId xmlns:a16="http://schemas.microsoft.com/office/drawing/2014/main" id="{52853C18-E096-484E-B785-3E1FD9CCE9EB}"/>
                  </a:ext>
                </a:extLst>
              </p:cNvPr>
              <p:cNvSpPr txBox="1">
                <a:spLocks noRot="1" noChangeAspect="1" noMove="1" noResize="1" noEditPoints="1" noAdjustHandles="1" noChangeArrowheads="1" noChangeShapeType="1" noTextEdit="1"/>
              </p:cNvSpPr>
              <p:nvPr/>
            </p:nvSpPr>
            <p:spPr>
              <a:xfrm>
                <a:off x="5647266" y="2972877"/>
                <a:ext cx="3669915" cy="61760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5781764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98. The distance between the horizontal supporting plane surface and the horizontal plane touching the uppermost part of the machine.</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a. overall height</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b. overall length</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c. overall width</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d. overall clearance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1563078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98. The distance between the horizontal supporting plane surface and the horizontal plane touching the uppermost part of the machine.</a:t>
            </a:r>
          </a:p>
          <a:p>
            <a:pPr marL="0" lvl="0" indent="0" algn="just">
              <a:buNone/>
            </a:pP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b="1" dirty="0">
                <a:solidFill>
                  <a:srgbClr val="FF0000"/>
                </a:solidFill>
                <a:latin typeface="Courier New" panose="02070309020205020404" pitchFamily="49" charset="0"/>
                <a:cs typeface="Courier New" panose="02070309020205020404" pitchFamily="49" charset="0"/>
              </a:rPr>
              <a:t>a. overall height</a:t>
            </a:r>
            <a:endParaRPr lang="en-US" sz="3600" b="1" dirty="0">
              <a:solidFill>
                <a:srgbClr val="FF0000"/>
              </a:solidFill>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b. overall length</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c. overall width</a:t>
            </a:r>
            <a:endParaRPr lang="en-US" sz="3600" dirty="0">
              <a:latin typeface="Courier New" panose="02070309020205020404" pitchFamily="49" charset="0"/>
              <a:cs typeface="Courier New" panose="02070309020205020404" pitchFamily="49" charset="0"/>
            </a:endParaRPr>
          </a:p>
          <a:p>
            <a:pPr marL="457200" lvl="1" indent="0" algn="just">
              <a:buNone/>
            </a:pPr>
            <a:r>
              <a:rPr lang="en-PH" sz="3600" dirty="0">
                <a:latin typeface="Courier New" panose="02070309020205020404" pitchFamily="49" charset="0"/>
                <a:cs typeface="Courier New" panose="02070309020205020404" pitchFamily="49" charset="0"/>
              </a:rPr>
              <a:t>d. overall clearance</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5790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99. A type of power unit which has an energy conversion efficiency of 30%-36%.</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PH" sz="3600" dirty="0">
                <a:latin typeface="Courier New" panose="02070309020205020404" pitchFamily="49" charset="0"/>
                <a:cs typeface="Courier New" panose="02070309020205020404" pitchFamily="49" charset="0"/>
              </a:rPr>
              <a:t>Electric motor		</a:t>
            </a:r>
          </a:p>
          <a:p>
            <a:pPr marL="971550" lvl="1" indent="-514350" algn="just">
              <a:buAutoNum type="alphaLcPeriod"/>
            </a:pPr>
            <a:r>
              <a:rPr lang="en-PH" sz="3600" dirty="0">
                <a:latin typeface="Courier New" panose="02070309020205020404" pitchFamily="49" charset="0"/>
                <a:cs typeface="Courier New" panose="02070309020205020404" pitchFamily="49" charset="0"/>
              </a:rPr>
              <a:t>Diesel engine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Gasoline Engine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AOTA</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721442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US" sz="3600" dirty="0">
                <a:latin typeface="Courier New" panose="02070309020205020404" pitchFamily="49" charset="0"/>
                <a:cs typeface="Courier New" panose="02070309020205020404" pitchFamily="49" charset="0"/>
              </a:rPr>
              <a:t>99. A type of power unit which has an energy conversion efficiency of 30%-36%.</a:t>
            </a:r>
          </a:p>
          <a:p>
            <a:pPr marL="0" lvl="0" indent="0" algn="just">
              <a:buNone/>
            </a:pPr>
            <a:endParaRPr lang="en-US" sz="3600" dirty="0">
              <a:latin typeface="Courier New" panose="02070309020205020404" pitchFamily="49" charset="0"/>
              <a:cs typeface="Courier New" panose="02070309020205020404" pitchFamily="49" charset="0"/>
            </a:endParaRPr>
          </a:p>
          <a:p>
            <a:pPr marL="971550" lvl="1" indent="-514350" algn="just">
              <a:buAutoNum type="alphaLcPeriod"/>
            </a:pPr>
            <a:r>
              <a:rPr lang="en-PH" sz="3600" dirty="0">
                <a:latin typeface="Courier New" panose="02070309020205020404" pitchFamily="49" charset="0"/>
                <a:cs typeface="Courier New" panose="02070309020205020404" pitchFamily="49" charset="0"/>
              </a:rPr>
              <a:t>Electric motor		</a:t>
            </a:r>
          </a:p>
          <a:p>
            <a:pPr marL="971550" lvl="1" indent="-514350" algn="just">
              <a:buAutoNum type="alphaLcPeriod"/>
            </a:pPr>
            <a:r>
              <a:rPr lang="en-PH" sz="3600" b="1" dirty="0">
                <a:solidFill>
                  <a:srgbClr val="FF0000"/>
                </a:solidFill>
                <a:latin typeface="Courier New" panose="02070309020205020404" pitchFamily="49" charset="0"/>
                <a:cs typeface="Courier New" panose="02070309020205020404" pitchFamily="49" charset="0"/>
              </a:rPr>
              <a:t>Diesel engine</a:t>
            </a:r>
            <a:r>
              <a:rPr lang="en-PH" sz="3600" dirty="0">
                <a:latin typeface="Courier New" panose="02070309020205020404" pitchFamily="49" charset="0"/>
                <a:cs typeface="Courier New" panose="02070309020205020404" pitchFamily="49" charset="0"/>
              </a:rPr>
              <a:t>	 </a:t>
            </a:r>
          </a:p>
          <a:p>
            <a:pPr marL="971550" lvl="1" indent="-514350" algn="just">
              <a:buAutoNum type="alphaLcPeriod"/>
            </a:pPr>
            <a:r>
              <a:rPr lang="en-PH" sz="3600" dirty="0">
                <a:latin typeface="Courier New" panose="02070309020205020404" pitchFamily="49" charset="0"/>
                <a:cs typeface="Courier New" panose="02070309020205020404" pitchFamily="49" charset="0"/>
              </a:rPr>
              <a:t>Gasoline Engine 	</a:t>
            </a:r>
          </a:p>
          <a:p>
            <a:pPr marL="971550" lvl="1" indent="-514350" algn="just">
              <a:buAutoNum type="alphaLcPeriod"/>
            </a:pPr>
            <a:r>
              <a:rPr lang="en-PH" sz="3600" dirty="0">
                <a:latin typeface="Courier New" panose="02070309020205020404" pitchFamily="49" charset="0"/>
                <a:cs typeface="Courier New" panose="02070309020205020404" pitchFamily="49" charset="0"/>
              </a:rPr>
              <a:t>AOTA</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168897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PH" sz="3600" dirty="0">
                <a:latin typeface="Courier New" panose="02070309020205020404" pitchFamily="49" charset="0"/>
                <a:cs typeface="Courier New" panose="02070309020205020404" pitchFamily="49" charset="0"/>
              </a:rPr>
              <a:t>100. It measures productivity within a country's geographical boundaries.</a:t>
            </a: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GDP</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GNP</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Inflation</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NFIA</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487026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C101E-6AB7-421E-A6FD-2D0399E24189}"/>
              </a:ext>
            </a:extLst>
          </p:cNvPr>
          <p:cNvSpPr>
            <a:spLocks noGrp="1"/>
          </p:cNvSpPr>
          <p:nvPr>
            <p:ph idx="1"/>
          </p:nvPr>
        </p:nvSpPr>
        <p:spPr>
          <a:xfrm>
            <a:off x="558800" y="822960"/>
            <a:ext cx="11074400" cy="4917440"/>
          </a:xfrm>
        </p:spPr>
        <p:txBody>
          <a:bodyPr numCol="1">
            <a:noAutofit/>
          </a:bodyPr>
          <a:lstStyle/>
          <a:p>
            <a:pPr marL="0" lvl="0" indent="0" algn="just">
              <a:buNone/>
            </a:pPr>
            <a:r>
              <a:rPr lang="en-PH" sz="3600" dirty="0">
                <a:latin typeface="Courier New" panose="02070309020205020404" pitchFamily="49" charset="0"/>
                <a:cs typeface="Courier New" panose="02070309020205020404" pitchFamily="49" charset="0"/>
              </a:rPr>
              <a:t>100. It measures productivity within a country's geographical boundaries.</a:t>
            </a:r>
          </a:p>
          <a:p>
            <a:pPr marL="0" lvl="0" indent="0" algn="just">
              <a:buNone/>
            </a:pPr>
            <a:endParaRPr lang="en-PH" sz="3600" dirty="0">
              <a:latin typeface="Courier New" panose="02070309020205020404" pitchFamily="49" charset="0"/>
              <a:cs typeface="Courier New" panose="02070309020205020404" pitchFamily="49" charset="0"/>
            </a:endParaRPr>
          </a:p>
          <a:p>
            <a:pPr marL="971550" lvl="1" indent="-514350" algn="just">
              <a:buFont typeface="+mj-lt"/>
              <a:buAutoNum type="alphaLcPeriod"/>
            </a:pPr>
            <a:r>
              <a:rPr lang="en-PH" sz="3600" b="1" dirty="0">
                <a:solidFill>
                  <a:srgbClr val="FF0000"/>
                </a:solidFill>
                <a:latin typeface="Courier New" panose="02070309020205020404" pitchFamily="49" charset="0"/>
                <a:cs typeface="Courier New" panose="02070309020205020404" pitchFamily="49" charset="0"/>
              </a:rPr>
              <a:t>GDP</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GNP</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Inflation</a:t>
            </a:r>
          </a:p>
          <a:p>
            <a:pPr marL="971550" lvl="1" indent="-514350" algn="just">
              <a:buFont typeface="+mj-lt"/>
              <a:buAutoNum type="alphaLcPeriod"/>
            </a:pPr>
            <a:r>
              <a:rPr lang="en-PH" sz="3600" dirty="0">
                <a:latin typeface="Courier New" panose="02070309020205020404" pitchFamily="49" charset="0"/>
                <a:cs typeface="Courier New" panose="02070309020205020404" pitchFamily="49" charset="0"/>
              </a:rPr>
              <a:t>NFIA</a:t>
            </a:r>
            <a:endParaRPr lang="en-US" sz="3600" dirty="0">
              <a:latin typeface="Courier New" panose="02070309020205020404" pitchFamily="49" charset="0"/>
              <a:cs typeface="Courier New" panose="02070309020205020404" pitchFamily="49" charset="0"/>
            </a:endParaRPr>
          </a:p>
        </p:txBody>
      </p:sp>
      <p:sp>
        <p:nvSpPr>
          <p:cNvPr id="4" name="Rectangle 3">
            <a:extLst>
              <a:ext uri="{FF2B5EF4-FFF2-40B4-BE49-F238E27FC236}">
                <a16:creationId xmlns:a16="http://schemas.microsoft.com/office/drawing/2014/main" id="{6CC55572-786C-46A2-B2BF-C58096BACCEE}"/>
              </a:ext>
            </a:extLst>
          </p:cNvPr>
          <p:cNvSpPr/>
          <p:nvPr/>
        </p:nvSpPr>
        <p:spPr>
          <a:xfrm>
            <a:off x="0" y="6527800"/>
            <a:ext cx="12192000" cy="3175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443657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3F2F-8DA9-46A3-A3A0-4BFEAE26A4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F26F7D-B794-4D6E-9DB8-281EA05AA07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9650845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CDD1-512F-4817-9D37-4E5EBC4E31D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9233551-7DA0-4105-83E8-81D98FB22D6C}"/>
              </a:ext>
            </a:extLst>
          </p:cNvPr>
          <p:cNvSpPr>
            <a:spLocks noGrp="1"/>
          </p:cNvSpPr>
          <p:nvPr>
            <p:ph idx="1"/>
          </p:nvPr>
        </p:nvSpPr>
        <p:spPr/>
        <p:txBody>
          <a:bodyPr/>
          <a:lstStyle/>
          <a:p>
            <a:pPr marL="0" indent="0">
              <a:buNone/>
            </a:pPr>
            <a:r>
              <a:rPr lang="en-US" dirty="0"/>
              <a:t>Read the learning materials from these websites:</a:t>
            </a:r>
          </a:p>
          <a:p>
            <a:pPr marL="0" indent="0">
              <a:buNone/>
            </a:pPr>
            <a:r>
              <a:rPr lang="en-US" dirty="0">
                <a:hlinkClick r:id="rId2"/>
              </a:rPr>
              <a:t>https://rcef.philmech.gov.ph/</a:t>
            </a:r>
            <a:r>
              <a:rPr lang="en-US" dirty="0"/>
              <a:t> </a:t>
            </a:r>
          </a:p>
          <a:p>
            <a:pPr marL="0" indent="0">
              <a:buNone/>
            </a:pPr>
            <a:r>
              <a:rPr lang="en-US" dirty="0">
                <a:hlinkClick r:id="rId3"/>
              </a:rPr>
              <a:t>https://bafe.gov.ph/</a:t>
            </a:r>
            <a:endParaRPr lang="en-US" dirty="0"/>
          </a:p>
          <a:p>
            <a:pPr marL="0" indent="0">
              <a:buNone/>
            </a:pPr>
            <a:endParaRPr lang="en-US" dirty="0"/>
          </a:p>
        </p:txBody>
      </p:sp>
    </p:spTree>
    <p:extLst>
      <p:ext uri="{BB962C8B-B14F-4D97-AF65-F5344CB8AC3E}">
        <p14:creationId xmlns:p14="http://schemas.microsoft.com/office/powerpoint/2010/main" val="3348794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3190</TotalTime>
  <Words>14235</Words>
  <Application>Microsoft Office PowerPoint</Application>
  <PresentationFormat>Widescreen</PresentationFormat>
  <Paragraphs>1671</Paragraphs>
  <Slides>247</Slides>
  <Notes>94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247</vt:i4>
      </vt:variant>
    </vt:vector>
  </HeadingPairs>
  <TitlesOfParts>
    <vt:vector size="258" baseType="lpstr">
      <vt:lpstr>游ゴシック</vt:lpstr>
      <vt:lpstr>Arial</vt:lpstr>
      <vt:lpstr>Calibri</vt:lpstr>
      <vt:lpstr>Calibri Light</vt:lpstr>
      <vt:lpstr>Cambria Math</vt:lpstr>
      <vt:lpstr>Century Gothic</vt:lpstr>
      <vt:lpstr>Courier New</vt:lpstr>
      <vt:lpstr>Roboto</vt:lpstr>
      <vt:lpstr>TT Hoves</vt:lpstr>
      <vt:lpstr>Wingdings</vt:lpstr>
      <vt:lpstr>Office Theme</vt:lpstr>
      <vt:lpstr>AREA I DIAGNOSTIC EXAM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Excerpt from RA10915 IRR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msu-wone</dc:creator>
  <cp:lastModifiedBy>msu-wone</cp:lastModifiedBy>
  <cp:revision>140</cp:revision>
  <dcterms:created xsi:type="dcterms:W3CDTF">2025-05-01T00:36:51Z</dcterms:created>
  <dcterms:modified xsi:type="dcterms:W3CDTF">2025-07-28T08:56:21Z</dcterms:modified>
</cp:coreProperties>
</file>