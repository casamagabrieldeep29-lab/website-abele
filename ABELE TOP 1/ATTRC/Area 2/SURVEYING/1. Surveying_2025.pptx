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1"/>
  </p:notesMasterIdLst>
  <p:sldIdLst>
    <p:sldId id="256" r:id="rId2"/>
    <p:sldId id="257" r:id="rId3"/>
    <p:sldId id="300" r:id="rId4"/>
    <p:sldId id="306" r:id="rId5"/>
    <p:sldId id="259" r:id="rId6"/>
    <p:sldId id="311" r:id="rId7"/>
    <p:sldId id="272" r:id="rId8"/>
    <p:sldId id="312" r:id="rId9"/>
    <p:sldId id="322" r:id="rId10"/>
    <p:sldId id="273" r:id="rId11"/>
    <p:sldId id="323" r:id="rId12"/>
    <p:sldId id="274" r:id="rId13"/>
    <p:sldId id="275" r:id="rId14"/>
    <p:sldId id="303" r:id="rId15"/>
    <p:sldId id="277" r:id="rId16"/>
    <p:sldId id="278" r:id="rId17"/>
    <p:sldId id="276" r:id="rId18"/>
    <p:sldId id="298" r:id="rId19"/>
    <p:sldId id="315" r:id="rId20"/>
    <p:sldId id="316" r:id="rId21"/>
    <p:sldId id="289" r:id="rId22"/>
    <p:sldId id="290" r:id="rId23"/>
    <p:sldId id="291" r:id="rId24"/>
    <p:sldId id="304" r:id="rId25"/>
    <p:sldId id="280" r:id="rId26"/>
    <p:sldId id="319" r:id="rId27"/>
    <p:sldId id="288" r:id="rId28"/>
    <p:sldId id="282" r:id="rId29"/>
    <p:sldId id="283" r:id="rId30"/>
    <p:sldId id="294" r:id="rId31"/>
    <p:sldId id="320" r:id="rId32"/>
    <p:sldId id="284" r:id="rId33"/>
    <p:sldId id="293" r:id="rId34"/>
    <p:sldId id="321" r:id="rId35"/>
    <p:sldId id="285" r:id="rId36"/>
    <p:sldId id="287" r:id="rId37"/>
    <p:sldId id="292" r:id="rId38"/>
    <p:sldId id="305" r:id="rId39"/>
    <p:sldId id="308" r:id="rId40"/>
    <p:sldId id="313" r:id="rId41"/>
    <p:sldId id="318" r:id="rId42"/>
    <p:sldId id="295" r:id="rId43"/>
    <p:sldId id="296" r:id="rId44"/>
    <p:sldId id="297" r:id="rId45"/>
    <p:sldId id="307" r:id="rId46"/>
    <p:sldId id="310" r:id="rId47"/>
    <p:sldId id="309" r:id="rId48"/>
    <p:sldId id="317" r:id="rId49"/>
    <p:sldId id="271" r:id="rId50"/>
  </p:sldIdLst>
  <p:sldSz cx="18288000" cy="10287000"/>
  <p:notesSz cx="6858000" cy="9144000"/>
  <p:embeddedFontLst>
    <p:embeddedFont>
      <p:font typeface="Cambria Math" panose="02040503050406030204" pitchFamily="18" charset="0"/>
      <p:regular r:id="rId52"/>
    </p:embeddedFont>
    <p:embeddedFont>
      <p:font typeface="Canva Sans" panose="020B0604020202020204" charset="0"/>
      <p:regular r:id="rId53"/>
    </p:embeddedFont>
    <p:embeddedFont>
      <p:font typeface="Fredoka" pitchFamily="2" charset="-79"/>
      <p:regular r:id="rId54"/>
      <p:bold r:id="rId55"/>
    </p:embeddedFont>
    <p:embeddedFont>
      <p:font typeface="Nunito" pitchFamily="2" charset="0"/>
      <p:regular r:id="rId56"/>
      <p:bold r:id="rId57"/>
      <p:italic r:id="rId58"/>
      <p:boldItalic r:id="rId59"/>
    </p:embeddedFont>
    <p:embeddedFont>
      <p:font typeface="Nunito 1" panose="020B0604020202020204" charset="0"/>
      <p:regular r:id="rId60"/>
    </p:embeddedFont>
    <p:embeddedFont>
      <p:font typeface="Nunito 1 Bold" panose="020B0604020202020204" charset="0"/>
      <p:regular r:id="rId61"/>
    </p:embeddedFont>
    <p:embeddedFont>
      <p:font typeface="Open Sans" panose="020B0606030504020204" pitchFamily="34" charset="0"/>
      <p:regular r:id="rId62"/>
      <p:bold r:id="rId63"/>
      <p:italic r:id="rId64"/>
      <p:boldItalic r:id="rId6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CC"/>
    <a:srgbClr val="FFFFEE"/>
    <a:srgbClr val="F1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434" autoAdjust="0"/>
    <p:restoredTop sz="88171" autoAdjust="0"/>
  </p:normalViewPr>
  <p:slideViewPr>
    <p:cSldViewPr>
      <p:cViewPr varScale="1">
        <p:scale>
          <a:sx n="44" d="100"/>
          <a:sy n="44" d="100"/>
        </p:scale>
        <p:origin x="1685" y="62"/>
      </p:cViewPr>
      <p:guideLst>
        <p:guide orient="horz" pos="2160"/>
        <p:guide pos="2880"/>
      </p:guideLst>
    </p:cSldViewPr>
  </p:slideViewPr>
  <p:outlineViewPr>
    <p:cViewPr>
      <p:scale>
        <a:sx n="33" d="100"/>
        <a:sy n="33" d="100"/>
      </p:scale>
      <p:origin x="0" y="-811"/>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2.fntdata"/><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2BD163-B8EE-451D-AFA3-A94063D858EC}" type="datetimeFigureOut">
              <a:rPr lang="en-PH" smtClean="0"/>
              <a:t>05/08/2025</a:t>
            </a:fld>
            <a:endParaRPr lang="en-P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4731FA-A794-438D-9C93-55A23472C33A}" type="slidenum">
              <a:rPr lang="en-PH" smtClean="0"/>
              <a:t>‹#›</a:t>
            </a:fld>
            <a:endParaRPr lang="en-PH"/>
          </a:p>
        </p:txBody>
      </p:sp>
    </p:spTree>
    <p:extLst>
      <p:ext uri="{BB962C8B-B14F-4D97-AF65-F5344CB8AC3E}">
        <p14:creationId xmlns:p14="http://schemas.microsoft.com/office/powerpoint/2010/main" val="22021962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5</a:t>
            </a:fld>
            <a:endParaRPr lang="en-PH"/>
          </a:p>
        </p:txBody>
      </p:sp>
    </p:spTree>
    <p:extLst>
      <p:ext uri="{BB962C8B-B14F-4D97-AF65-F5344CB8AC3E}">
        <p14:creationId xmlns:p14="http://schemas.microsoft.com/office/powerpoint/2010/main" val="36212241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6</a:t>
            </a:fld>
            <a:endParaRPr lang="en-PH"/>
          </a:p>
        </p:txBody>
      </p:sp>
    </p:spTree>
    <p:extLst>
      <p:ext uri="{BB962C8B-B14F-4D97-AF65-F5344CB8AC3E}">
        <p14:creationId xmlns:p14="http://schemas.microsoft.com/office/powerpoint/2010/main" val="3739570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7</a:t>
            </a:fld>
            <a:endParaRPr lang="en-PH"/>
          </a:p>
        </p:txBody>
      </p:sp>
    </p:spTree>
    <p:extLst>
      <p:ext uri="{BB962C8B-B14F-4D97-AF65-F5344CB8AC3E}">
        <p14:creationId xmlns:p14="http://schemas.microsoft.com/office/powerpoint/2010/main" val="252459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5DD1F-B2B8-4311-9F84-739533BAD0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89AEE-17B9-9020-3EA0-4C09EB4F2F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B1D03D-088C-3F7D-B061-549CA8BDB333}"/>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122E2AC9-CCD5-FD82-4729-125191024FA5}"/>
              </a:ext>
            </a:extLst>
          </p:cNvPr>
          <p:cNvSpPr>
            <a:spLocks noGrp="1"/>
          </p:cNvSpPr>
          <p:nvPr>
            <p:ph type="sldNum" sz="quarter" idx="5"/>
          </p:nvPr>
        </p:nvSpPr>
        <p:spPr/>
        <p:txBody>
          <a:bodyPr/>
          <a:lstStyle/>
          <a:p>
            <a:fld id="{E74731FA-A794-438D-9C93-55A23472C33A}" type="slidenum">
              <a:rPr lang="en-PH" smtClean="0"/>
              <a:t>8</a:t>
            </a:fld>
            <a:endParaRPr lang="en-PH"/>
          </a:p>
        </p:txBody>
      </p:sp>
    </p:spTree>
    <p:extLst>
      <p:ext uri="{BB962C8B-B14F-4D97-AF65-F5344CB8AC3E}">
        <p14:creationId xmlns:p14="http://schemas.microsoft.com/office/powerpoint/2010/main" val="28706323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1ACA8-D217-CA89-799B-E4D68C3D2F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75EB89-F7F7-F4A0-0FD4-5A6D8C8E81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BAF8E7-154A-1CF8-8446-659BB0AEB179}"/>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0C751212-1FB0-B828-962B-7AF7473DCEA7}"/>
              </a:ext>
            </a:extLst>
          </p:cNvPr>
          <p:cNvSpPr>
            <a:spLocks noGrp="1"/>
          </p:cNvSpPr>
          <p:nvPr>
            <p:ph type="sldNum" sz="quarter" idx="5"/>
          </p:nvPr>
        </p:nvSpPr>
        <p:spPr/>
        <p:txBody>
          <a:bodyPr/>
          <a:lstStyle/>
          <a:p>
            <a:fld id="{E74731FA-A794-438D-9C93-55A23472C33A}" type="slidenum">
              <a:rPr lang="en-PH" smtClean="0"/>
              <a:t>9</a:t>
            </a:fld>
            <a:endParaRPr lang="en-PH"/>
          </a:p>
        </p:txBody>
      </p:sp>
    </p:spTree>
    <p:extLst>
      <p:ext uri="{BB962C8B-B14F-4D97-AF65-F5344CB8AC3E}">
        <p14:creationId xmlns:p14="http://schemas.microsoft.com/office/powerpoint/2010/main" val="15051255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10</a:t>
            </a:fld>
            <a:endParaRPr lang="en-PH"/>
          </a:p>
        </p:txBody>
      </p:sp>
    </p:spTree>
    <p:extLst>
      <p:ext uri="{BB962C8B-B14F-4D97-AF65-F5344CB8AC3E}">
        <p14:creationId xmlns:p14="http://schemas.microsoft.com/office/powerpoint/2010/main" val="2307446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007EC-B616-AFDB-C2B3-2A5EA7860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502290-D1C7-C66B-77FC-0124368536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1A8F2-6063-A77F-2902-C675193FF12E}"/>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2856BF3F-4CA6-39E2-7E24-50254838F03C}"/>
              </a:ext>
            </a:extLst>
          </p:cNvPr>
          <p:cNvSpPr>
            <a:spLocks noGrp="1"/>
          </p:cNvSpPr>
          <p:nvPr>
            <p:ph type="sldNum" sz="quarter" idx="5"/>
          </p:nvPr>
        </p:nvSpPr>
        <p:spPr/>
        <p:txBody>
          <a:bodyPr/>
          <a:lstStyle/>
          <a:p>
            <a:fld id="{E74731FA-A794-438D-9C93-55A23472C33A}" type="slidenum">
              <a:rPr lang="en-PH" smtClean="0"/>
              <a:t>11</a:t>
            </a:fld>
            <a:endParaRPr lang="en-PH"/>
          </a:p>
        </p:txBody>
      </p:sp>
    </p:spTree>
    <p:extLst>
      <p:ext uri="{BB962C8B-B14F-4D97-AF65-F5344CB8AC3E}">
        <p14:creationId xmlns:p14="http://schemas.microsoft.com/office/powerpoint/2010/main" val="14804738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12</a:t>
            </a:fld>
            <a:endParaRPr lang="en-PH"/>
          </a:p>
        </p:txBody>
      </p:sp>
    </p:spTree>
    <p:extLst>
      <p:ext uri="{BB962C8B-B14F-4D97-AF65-F5344CB8AC3E}">
        <p14:creationId xmlns:p14="http://schemas.microsoft.com/office/powerpoint/2010/main" val="27816635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13</a:t>
            </a:fld>
            <a:endParaRPr lang="en-PH"/>
          </a:p>
        </p:txBody>
      </p:sp>
    </p:spTree>
    <p:extLst>
      <p:ext uri="{BB962C8B-B14F-4D97-AF65-F5344CB8AC3E}">
        <p14:creationId xmlns:p14="http://schemas.microsoft.com/office/powerpoint/2010/main" val="25273080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AC5E-B70D-1961-832D-22588A1DAC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A1D9E5-C30C-312F-27E8-8F17364D55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D96AFB-AD6F-B956-C262-8EE2876F5817}"/>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71DCEDAD-7C88-F94B-F115-3B4FAD50F37E}"/>
              </a:ext>
            </a:extLst>
          </p:cNvPr>
          <p:cNvSpPr>
            <a:spLocks noGrp="1"/>
          </p:cNvSpPr>
          <p:nvPr>
            <p:ph type="sldNum" sz="quarter" idx="5"/>
          </p:nvPr>
        </p:nvSpPr>
        <p:spPr/>
        <p:txBody>
          <a:bodyPr/>
          <a:lstStyle/>
          <a:p>
            <a:fld id="{E74731FA-A794-438D-9C93-55A23472C33A}" type="slidenum">
              <a:rPr lang="en-PH" smtClean="0"/>
              <a:t>14</a:t>
            </a:fld>
            <a:endParaRPr lang="en-PH"/>
          </a:p>
        </p:txBody>
      </p:sp>
    </p:spTree>
    <p:extLst>
      <p:ext uri="{BB962C8B-B14F-4D97-AF65-F5344CB8AC3E}">
        <p14:creationId xmlns:p14="http://schemas.microsoft.com/office/powerpoint/2010/main" val="23560891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15</a:t>
            </a:fld>
            <a:endParaRPr lang="en-PH"/>
          </a:p>
        </p:txBody>
      </p:sp>
    </p:spTree>
    <p:extLst>
      <p:ext uri="{BB962C8B-B14F-4D97-AF65-F5344CB8AC3E}">
        <p14:creationId xmlns:p14="http://schemas.microsoft.com/office/powerpoint/2010/main" val="1546828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16</a:t>
            </a:fld>
            <a:endParaRPr lang="en-PH"/>
          </a:p>
        </p:txBody>
      </p:sp>
    </p:spTree>
    <p:extLst>
      <p:ext uri="{BB962C8B-B14F-4D97-AF65-F5344CB8AC3E}">
        <p14:creationId xmlns:p14="http://schemas.microsoft.com/office/powerpoint/2010/main" val="6491638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17</a:t>
            </a:fld>
            <a:endParaRPr lang="en-PH"/>
          </a:p>
        </p:txBody>
      </p:sp>
    </p:spTree>
    <p:extLst>
      <p:ext uri="{BB962C8B-B14F-4D97-AF65-F5344CB8AC3E}">
        <p14:creationId xmlns:p14="http://schemas.microsoft.com/office/powerpoint/2010/main" val="32482537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18</a:t>
            </a:fld>
            <a:endParaRPr lang="en-PH"/>
          </a:p>
        </p:txBody>
      </p:sp>
    </p:spTree>
    <p:extLst>
      <p:ext uri="{BB962C8B-B14F-4D97-AF65-F5344CB8AC3E}">
        <p14:creationId xmlns:p14="http://schemas.microsoft.com/office/powerpoint/2010/main" val="1321120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16107-2BDD-E750-B15A-6F28190608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7720-742D-0865-316A-9A058BC16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97178-1BB9-EF6A-CDF2-9540769F0BE3}"/>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CC371764-F2B9-CA06-C17C-8485F9709682}"/>
              </a:ext>
            </a:extLst>
          </p:cNvPr>
          <p:cNvSpPr>
            <a:spLocks noGrp="1"/>
          </p:cNvSpPr>
          <p:nvPr>
            <p:ph type="sldNum" sz="quarter" idx="5"/>
          </p:nvPr>
        </p:nvSpPr>
        <p:spPr/>
        <p:txBody>
          <a:bodyPr/>
          <a:lstStyle/>
          <a:p>
            <a:fld id="{E74731FA-A794-438D-9C93-55A23472C33A}" type="slidenum">
              <a:rPr lang="en-PH" smtClean="0"/>
              <a:t>19</a:t>
            </a:fld>
            <a:endParaRPr lang="en-PH"/>
          </a:p>
        </p:txBody>
      </p:sp>
    </p:spTree>
    <p:extLst>
      <p:ext uri="{BB962C8B-B14F-4D97-AF65-F5344CB8AC3E}">
        <p14:creationId xmlns:p14="http://schemas.microsoft.com/office/powerpoint/2010/main" val="24529693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8E37E-571E-7212-D905-5000F821D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8B04E-9C40-0B7A-E808-9BA35C824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C64A0F-F2D3-C0D6-58F3-704646E5794A}"/>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79F280BB-01F7-5AC9-1B6A-B6F236EA5327}"/>
              </a:ext>
            </a:extLst>
          </p:cNvPr>
          <p:cNvSpPr>
            <a:spLocks noGrp="1"/>
          </p:cNvSpPr>
          <p:nvPr>
            <p:ph type="sldNum" sz="quarter" idx="5"/>
          </p:nvPr>
        </p:nvSpPr>
        <p:spPr/>
        <p:txBody>
          <a:bodyPr/>
          <a:lstStyle/>
          <a:p>
            <a:fld id="{E74731FA-A794-438D-9C93-55A23472C33A}" type="slidenum">
              <a:rPr lang="en-PH" smtClean="0"/>
              <a:t>20</a:t>
            </a:fld>
            <a:endParaRPr lang="en-PH"/>
          </a:p>
        </p:txBody>
      </p:sp>
    </p:spTree>
    <p:extLst>
      <p:ext uri="{BB962C8B-B14F-4D97-AF65-F5344CB8AC3E}">
        <p14:creationId xmlns:p14="http://schemas.microsoft.com/office/powerpoint/2010/main" val="22251816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21</a:t>
            </a:fld>
            <a:endParaRPr lang="en-PH"/>
          </a:p>
        </p:txBody>
      </p:sp>
    </p:spTree>
    <p:extLst>
      <p:ext uri="{BB962C8B-B14F-4D97-AF65-F5344CB8AC3E}">
        <p14:creationId xmlns:p14="http://schemas.microsoft.com/office/powerpoint/2010/main" val="36302430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22</a:t>
            </a:fld>
            <a:endParaRPr lang="en-PH"/>
          </a:p>
        </p:txBody>
      </p:sp>
    </p:spTree>
    <p:extLst>
      <p:ext uri="{BB962C8B-B14F-4D97-AF65-F5344CB8AC3E}">
        <p14:creationId xmlns:p14="http://schemas.microsoft.com/office/powerpoint/2010/main" val="17029299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23</a:t>
            </a:fld>
            <a:endParaRPr lang="en-PH"/>
          </a:p>
        </p:txBody>
      </p:sp>
    </p:spTree>
    <p:extLst>
      <p:ext uri="{BB962C8B-B14F-4D97-AF65-F5344CB8AC3E}">
        <p14:creationId xmlns:p14="http://schemas.microsoft.com/office/powerpoint/2010/main" val="31147495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A1096-9BD9-46BC-6C1A-D0539644AA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73B05C-9AB7-5756-2AFA-B980A566B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1894F2-34B7-32EE-AC18-2018A5089848}"/>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973D6041-6B7F-4B78-3514-62E4FE244C35}"/>
              </a:ext>
            </a:extLst>
          </p:cNvPr>
          <p:cNvSpPr>
            <a:spLocks noGrp="1"/>
          </p:cNvSpPr>
          <p:nvPr>
            <p:ph type="sldNum" sz="quarter" idx="5"/>
          </p:nvPr>
        </p:nvSpPr>
        <p:spPr/>
        <p:txBody>
          <a:bodyPr/>
          <a:lstStyle/>
          <a:p>
            <a:fld id="{E74731FA-A794-438D-9C93-55A23472C33A}" type="slidenum">
              <a:rPr lang="en-PH" smtClean="0"/>
              <a:t>24</a:t>
            </a:fld>
            <a:endParaRPr lang="en-PH"/>
          </a:p>
        </p:txBody>
      </p:sp>
    </p:spTree>
    <p:extLst>
      <p:ext uri="{BB962C8B-B14F-4D97-AF65-F5344CB8AC3E}">
        <p14:creationId xmlns:p14="http://schemas.microsoft.com/office/powerpoint/2010/main" val="38210908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25</a:t>
            </a:fld>
            <a:endParaRPr lang="en-PH"/>
          </a:p>
        </p:txBody>
      </p:sp>
    </p:spTree>
    <p:extLst>
      <p:ext uri="{BB962C8B-B14F-4D97-AF65-F5344CB8AC3E}">
        <p14:creationId xmlns:p14="http://schemas.microsoft.com/office/powerpoint/2010/main" val="41571604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54A5C-29D9-F240-31D2-8916F54D00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570-D8C3-4069-0E8B-892F063A49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C8DF6E-DAEF-75D7-51FA-8BBF302A234B}"/>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8ABF9DF8-E8B5-462E-95B4-07EDC6AC4827}"/>
              </a:ext>
            </a:extLst>
          </p:cNvPr>
          <p:cNvSpPr>
            <a:spLocks noGrp="1"/>
          </p:cNvSpPr>
          <p:nvPr>
            <p:ph type="sldNum" sz="quarter" idx="5"/>
          </p:nvPr>
        </p:nvSpPr>
        <p:spPr/>
        <p:txBody>
          <a:bodyPr/>
          <a:lstStyle/>
          <a:p>
            <a:fld id="{E74731FA-A794-438D-9C93-55A23472C33A}" type="slidenum">
              <a:rPr lang="en-PH" smtClean="0"/>
              <a:t>26</a:t>
            </a:fld>
            <a:endParaRPr lang="en-PH"/>
          </a:p>
        </p:txBody>
      </p:sp>
    </p:spTree>
    <p:extLst>
      <p:ext uri="{BB962C8B-B14F-4D97-AF65-F5344CB8AC3E}">
        <p14:creationId xmlns:p14="http://schemas.microsoft.com/office/powerpoint/2010/main" val="30712630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27</a:t>
            </a:fld>
            <a:endParaRPr lang="en-PH"/>
          </a:p>
        </p:txBody>
      </p:sp>
    </p:spTree>
    <p:extLst>
      <p:ext uri="{BB962C8B-B14F-4D97-AF65-F5344CB8AC3E}">
        <p14:creationId xmlns:p14="http://schemas.microsoft.com/office/powerpoint/2010/main" val="27569787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28</a:t>
            </a:fld>
            <a:endParaRPr lang="en-PH"/>
          </a:p>
        </p:txBody>
      </p:sp>
    </p:spTree>
    <p:extLst>
      <p:ext uri="{BB962C8B-B14F-4D97-AF65-F5344CB8AC3E}">
        <p14:creationId xmlns:p14="http://schemas.microsoft.com/office/powerpoint/2010/main" val="896629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29</a:t>
            </a:fld>
            <a:endParaRPr lang="en-PH"/>
          </a:p>
        </p:txBody>
      </p:sp>
    </p:spTree>
    <p:extLst>
      <p:ext uri="{BB962C8B-B14F-4D97-AF65-F5344CB8AC3E}">
        <p14:creationId xmlns:p14="http://schemas.microsoft.com/office/powerpoint/2010/main" val="8083499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30</a:t>
            </a:fld>
            <a:endParaRPr lang="en-PH"/>
          </a:p>
        </p:txBody>
      </p:sp>
    </p:spTree>
    <p:extLst>
      <p:ext uri="{BB962C8B-B14F-4D97-AF65-F5344CB8AC3E}">
        <p14:creationId xmlns:p14="http://schemas.microsoft.com/office/powerpoint/2010/main" val="27264264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64E74-B3E8-11F1-CE3B-3E791D4AA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A97EBE-4A28-FD62-67E0-009C48677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05520-72B3-93BF-611E-46622A4B6505}"/>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06DDFEBC-DC2F-3C0B-DE4C-9C5CFAE37532}"/>
              </a:ext>
            </a:extLst>
          </p:cNvPr>
          <p:cNvSpPr>
            <a:spLocks noGrp="1"/>
          </p:cNvSpPr>
          <p:nvPr>
            <p:ph type="sldNum" sz="quarter" idx="5"/>
          </p:nvPr>
        </p:nvSpPr>
        <p:spPr/>
        <p:txBody>
          <a:bodyPr/>
          <a:lstStyle/>
          <a:p>
            <a:fld id="{E74731FA-A794-438D-9C93-55A23472C33A}" type="slidenum">
              <a:rPr lang="en-PH" smtClean="0"/>
              <a:t>31</a:t>
            </a:fld>
            <a:endParaRPr lang="en-PH"/>
          </a:p>
        </p:txBody>
      </p:sp>
    </p:spTree>
    <p:extLst>
      <p:ext uri="{BB962C8B-B14F-4D97-AF65-F5344CB8AC3E}">
        <p14:creationId xmlns:p14="http://schemas.microsoft.com/office/powerpoint/2010/main" val="6848850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32</a:t>
            </a:fld>
            <a:endParaRPr lang="en-PH"/>
          </a:p>
        </p:txBody>
      </p:sp>
    </p:spTree>
    <p:extLst>
      <p:ext uri="{BB962C8B-B14F-4D97-AF65-F5344CB8AC3E}">
        <p14:creationId xmlns:p14="http://schemas.microsoft.com/office/powerpoint/2010/main" val="14411779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33</a:t>
            </a:fld>
            <a:endParaRPr lang="en-PH"/>
          </a:p>
        </p:txBody>
      </p:sp>
    </p:spTree>
    <p:extLst>
      <p:ext uri="{BB962C8B-B14F-4D97-AF65-F5344CB8AC3E}">
        <p14:creationId xmlns:p14="http://schemas.microsoft.com/office/powerpoint/2010/main" val="19064603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62BB0-677A-5E1D-2167-742E50741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36AC9-11EB-B3E7-2E1F-2571F31E92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3BE4C0-9F4E-3E1B-EFB6-70753B15FDA8}"/>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9A1EC8D8-8976-8687-CE98-167D87E37AA4}"/>
              </a:ext>
            </a:extLst>
          </p:cNvPr>
          <p:cNvSpPr>
            <a:spLocks noGrp="1"/>
          </p:cNvSpPr>
          <p:nvPr>
            <p:ph type="sldNum" sz="quarter" idx="5"/>
          </p:nvPr>
        </p:nvSpPr>
        <p:spPr/>
        <p:txBody>
          <a:bodyPr/>
          <a:lstStyle/>
          <a:p>
            <a:fld id="{E74731FA-A794-438D-9C93-55A23472C33A}" type="slidenum">
              <a:rPr lang="en-PH" smtClean="0"/>
              <a:t>34</a:t>
            </a:fld>
            <a:endParaRPr lang="en-PH"/>
          </a:p>
        </p:txBody>
      </p:sp>
    </p:spTree>
    <p:extLst>
      <p:ext uri="{BB962C8B-B14F-4D97-AF65-F5344CB8AC3E}">
        <p14:creationId xmlns:p14="http://schemas.microsoft.com/office/powerpoint/2010/main" val="2029857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35</a:t>
            </a:fld>
            <a:endParaRPr lang="en-PH"/>
          </a:p>
        </p:txBody>
      </p:sp>
    </p:spTree>
    <p:extLst>
      <p:ext uri="{BB962C8B-B14F-4D97-AF65-F5344CB8AC3E}">
        <p14:creationId xmlns:p14="http://schemas.microsoft.com/office/powerpoint/2010/main" val="23449656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36</a:t>
            </a:fld>
            <a:endParaRPr lang="en-PH"/>
          </a:p>
        </p:txBody>
      </p:sp>
    </p:spTree>
    <p:extLst>
      <p:ext uri="{BB962C8B-B14F-4D97-AF65-F5344CB8AC3E}">
        <p14:creationId xmlns:p14="http://schemas.microsoft.com/office/powerpoint/2010/main" val="30476932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37</a:t>
            </a:fld>
            <a:endParaRPr lang="en-PH"/>
          </a:p>
        </p:txBody>
      </p:sp>
    </p:spTree>
    <p:extLst>
      <p:ext uri="{BB962C8B-B14F-4D97-AF65-F5344CB8AC3E}">
        <p14:creationId xmlns:p14="http://schemas.microsoft.com/office/powerpoint/2010/main" val="12089337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EFC22-F7A7-4F7D-4244-3C1BF9988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B7F58-695B-336C-3040-0B7F1F756B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D170C-77AB-1DC1-6B39-5EB1655A3433}"/>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A5B901B2-72A9-3949-9999-06E011914DD0}"/>
              </a:ext>
            </a:extLst>
          </p:cNvPr>
          <p:cNvSpPr>
            <a:spLocks noGrp="1"/>
          </p:cNvSpPr>
          <p:nvPr>
            <p:ph type="sldNum" sz="quarter" idx="5"/>
          </p:nvPr>
        </p:nvSpPr>
        <p:spPr/>
        <p:txBody>
          <a:bodyPr/>
          <a:lstStyle/>
          <a:p>
            <a:fld id="{E74731FA-A794-438D-9C93-55A23472C33A}" type="slidenum">
              <a:rPr lang="en-PH" smtClean="0"/>
              <a:t>38</a:t>
            </a:fld>
            <a:endParaRPr lang="en-PH"/>
          </a:p>
        </p:txBody>
      </p:sp>
    </p:spTree>
    <p:extLst>
      <p:ext uri="{BB962C8B-B14F-4D97-AF65-F5344CB8AC3E}">
        <p14:creationId xmlns:p14="http://schemas.microsoft.com/office/powerpoint/2010/main" val="267297783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24320-065D-CCB7-3D60-706EFA4BB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7D0A5-219A-E0D7-20A0-05AA289283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A9933-D4AE-2051-6C5D-EDB17CF922E2}"/>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AF1A712B-2C18-489B-4CEE-30D82C834F82}"/>
              </a:ext>
            </a:extLst>
          </p:cNvPr>
          <p:cNvSpPr>
            <a:spLocks noGrp="1"/>
          </p:cNvSpPr>
          <p:nvPr>
            <p:ph type="sldNum" sz="quarter" idx="5"/>
          </p:nvPr>
        </p:nvSpPr>
        <p:spPr/>
        <p:txBody>
          <a:bodyPr/>
          <a:lstStyle/>
          <a:p>
            <a:fld id="{E74731FA-A794-438D-9C93-55A23472C33A}" type="slidenum">
              <a:rPr lang="en-PH" smtClean="0"/>
              <a:t>39</a:t>
            </a:fld>
            <a:endParaRPr lang="en-PH"/>
          </a:p>
        </p:txBody>
      </p:sp>
    </p:spTree>
    <p:extLst>
      <p:ext uri="{BB962C8B-B14F-4D97-AF65-F5344CB8AC3E}">
        <p14:creationId xmlns:p14="http://schemas.microsoft.com/office/powerpoint/2010/main" val="11568313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533BF-6B27-22A0-E46B-A159F34CBA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FD6F3-96F9-C03E-D376-8F1B31B90E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E7084-9166-B782-A4DB-11384AF509D2}"/>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7B0736EC-219F-707E-A5B8-2B5A0DF1D14B}"/>
              </a:ext>
            </a:extLst>
          </p:cNvPr>
          <p:cNvSpPr>
            <a:spLocks noGrp="1"/>
          </p:cNvSpPr>
          <p:nvPr>
            <p:ph type="sldNum" sz="quarter" idx="5"/>
          </p:nvPr>
        </p:nvSpPr>
        <p:spPr/>
        <p:txBody>
          <a:bodyPr/>
          <a:lstStyle/>
          <a:p>
            <a:fld id="{E74731FA-A794-438D-9C93-55A23472C33A}" type="slidenum">
              <a:rPr lang="en-PH" smtClean="0"/>
              <a:t>40</a:t>
            </a:fld>
            <a:endParaRPr lang="en-PH"/>
          </a:p>
        </p:txBody>
      </p:sp>
    </p:spTree>
    <p:extLst>
      <p:ext uri="{BB962C8B-B14F-4D97-AF65-F5344CB8AC3E}">
        <p14:creationId xmlns:p14="http://schemas.microsoft.com/office/powerpoint/2010/main" val="1893547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49802-4E47-D230-1EAC-2EE13B682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048C1D-5D56-9B26-D0A6-CC85E86A0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180257-A533-77CE-7A4E-8BAE20D688B4}"/>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19F4DAA4-8074-97AB-B008-ED99D4DFEA3C}"/>
              </a:ext>
            </a:extLst>
          </p:cNvPr>
          <p:cNvSpPr>
            <a:spLocks noGrp="1"/>
          </p:cNvSpPr>
          <p:nvPr>
            <p:ph type="sldNum" sz="quarter" idx="5"/>
          </p:nvPr>
        </p:nvSpPr>
        <p:spPr/>
        <p:txBody>
          <a:bodyPr/>
          <a:lstStyle/>
          <a:p>
            <a:fld id="{E74731FA-A794-438D-9C93-55A23472C33A}" type="slidenum">
              <a:rPr lang="en-PH" smtClean="0"/>
              <a:t>41</a:t>
            </a:fld>
            <a:endParaRPr lang="en-PH"/>
          </a:p>
        </p:txBody>
      </p:sp>
    </p:spTree>
    <p:extLst>
      <p:ext uri="{BB962C8B-B14F-4D97-AF65-F5344CB8AC3E}">
        <p14:creationId xmlns:p14="http://schemas.microsoft.com/office/powerpoint/2010/main" val="40664667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42</a:t>
            </a:fld>
            <a:endParaRPr lang="en-PH"/>
          </a:p>
        </p:txBody>
      </p:sp>
    </p:spTree>
    <p:extLst>
      <p:ext uri="{BB962C8B-B14F-4D97-AF65-F5344CB8AC3E}">
        <p14:creationId xmlns:p14="http://schemas.microsoft.com/office/powerpoint/2010/main" val="12201572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43</a:t>
            </a:fld>
            <a:endParaRPr lang="en-PH"/>
          </a:p>
        </p:txBody>
      </p:sp>
    </p:spTree>
    <p:extLst>
      <p:ext uri="{BB962C8B-B14F-4D97-AF65-F5344CB8AC3E}">
        <p14:creationId xmlns:p14="http://schemas.microsoft.com/office/powerpoint/2010/main" val="20651403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44</a:t>
            </a:fld>
            <a:endParaRPr lang="en-PH"/>
          </a:p>
        </p:txBody>
      </p:sp>
    </p:spTree>
    <p:extLst>
      <p:ext uri="{BB962C8B-B14F-4D97-AF65-F5344CB8AC3E}">
        <p14:creationId xmlns:p14="http://schemas.microsoft.com/office/powerpoint/2010/main" val="29428972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2131E-CB28-5DE8-6524-7402F16DE7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34EABA-B8FD-E4E3-7E6E-7F8816BE39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86623-65FE-02E4-F9A3-EDE84B4127A4}"/>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7D6782EB-DBD6-AEAB-6A3E-EBB8620BD212}"/>
              </a:ext>
            </a:extLst>
          </p:cNvPr>
          <p:cNvSpPr>
            <a:spLocks noGrp="1"/>
          </p:cNvSpPr>
          <p:nvPr>
            <p:ph type="sldNum" sz="quarter" idx="5"/>
          </p:nvPr>
        </p:nvSpPr>
        <p:spPr/>
        <p:txBody>
          <a:bodyPr/>
          <a:lstStyle/>
          <a:p>
            <a:fld id="{E74731FA-A794-438D-9C93-55A23472C33A}" type="slidenum">
              <a:rPr lang="en-PH" smtClean="0"/>
              <a:t>45</a:t>
            </a:fld>
            <a:endParaRPr lang="en-PH"/>
          </a:p>
        </p:txBody>
      </p:sp>
    </p:spTree>
    <p:extLst>
      <p:ext uri="{BB962C8B-B14F-4D97-AF65-F5344CB8AC3E}">
        <p14:creationId xmlns:p14="http://schemas.microsoft.com/office/powerpoint/2010/main" val="10716915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C41D5-4264-FC00-EB27-9157A6F992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C8307-F565-9DD9-0FCB-9BF505C438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23B68C-5AC8-2545-40E9-89BEAE0A25DE}"/>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0B204C29-4D3A-9B32-2337-7E07509FFA7A}"/>
              </a:ext>
            </a:extLst>
          </p:cNvPr>
          <p:cNvSpPr>
            <a:spLocks noGrp="1"/>
          </p:cNvSpPr>
          <p:nvPr>
            <p:ph type="sldNum" sz="quarter" idx="5"/>
          </p:nvPr>
        </p:nvSpPr>
        <p:spPr/>
        <p:txBody>
          <a:bodyPr/>
          <a:lstStyle/>
          <a:p>
            <a:fld id="{E74731FA-A794-438D-9C93-55A23472C33A}" type="slidenum">
              <a:rPr lang="en-PH" smtClean="0"/>
              <a:t>46</a:t>
            </a:fld>
            <a:endParaRPr lang="en-PH"/>
          </a:p>
        </p:txBody>
      </p:sp>
    </p:spTree>
    <p:extLst>
      <p:ext uri="{BB962C8B-B14F-4D97-AF65-F5344CB8AC3E}">
        <p14:creationId xmlns:p14="http://schemas.microsoft.com/office/powerpoint/2010/main" val="25381678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05693-0917-70E4-F0CF-ED418EFAFD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F68835-64D8-05D2-AEA2-E4E0FFECF2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3F05C-CCD3-5407-2AC7-891F0482BBDD}"/>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9F8CDF13-B471-A9D8-CD0C-3441F0FA11FF}"/>
              </a:ext>
            </a:extLst>
          </p:cNvPr>
          <p:cNvSpPr>
            <a:spLocks noGrp="1"/>
          </p:cNvSpPr>
          <p:nvPr>
            <p:ph type="sldNum" sz="quarter" idx="5"/>
          </p:nvPr>
        </p:nvSpPr>
        <p:spPr/>
        <p:txBody>
          <a:bodyPr/>
          <a:lstStyle/>
          <a:p>
            <a:fld id="{E74731FA-A794-438D-9C93-55A23472C33A}" type="slidenum">
              <a:rPr lang="en-PH" smtClean="0"/>
              <a:t>47</a:t>
            </a:fld>
            <a:endParaRPr lang="en-PH"/>
          </a:p>
        </p:txBody>
      </p:sp>
    </p:spTree>
    <p:extLst>
      <p:ext uri="{BB962C8B-B14F-4D97-AF65-F5344CB8AC3E}">
        <p14:creationId xmlns:p14="http://schemas.microsoft.com/office/powerpoint/2010/main" val="274552754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50B89-C43A-54A6-F4B3-66AA74DFB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F2BBCA-982B-536F-A67D-A08342B1D1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9EDB59-41F2-59AD-9371-34A446CA19E6}"/>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63287AF5-CD52-E241-762F-164F4749801C}"/>
              </a:ext>
            </a:extLst>
          </p:cNvPr>
          <p:cNvSpPr>
            <a:spLocks noGrp="1"/>
          </p:cNvSpPr>
          <p:nvPr>
            <p:ph type="sldNum" sz="quarter" idx="5"/>
          </p:nvPr>
        </p:nvSpPr>
        <p:spPr/>
        <p:txBody>
          <a:bodyPr/>
          <a:lstStyle/>
          <a:p>
            <a:fld id="{E74731FA-A794-438D-9C93-55A23472C33A}" type="slidenum">
              <a:rPr lang="en-PH" smtClean="0"/>
              <a:t>48</a:t>
            </a:fld>
            <a:endParaRPr lang="en-PH"/>
          </a:p>
        </p:txBody>
      </p:sp>
    </p:spTree>
    <p:extLst>
      <p:ext uri="{BB962C8B-B14F-4D97-AF65-F5344CB8AC3E}">
        <p14:creationId xmlns:p14="http://schemas.microsoft.com/office/powerpoint/2010/main" val="7130061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6.gi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0"/>
            <a:ext cx="18288000" cy="10287000"/>
            <a:chOff x="0" y="0"/>
            <a:chExt cx="27343100" cy="13716000"/>
          </a:xfrm>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pSp>
        <p:nvGrpSpPr>
          <p:cNvPr id="5" name="Group 5"/>
          <p:cNvGrpSpPr/>
          <p:nvPr/>
        </p:nvGrpSpPr>
        <p:grpSpPr>
          <a:xfrm>
            <a:off x="0" y="8353252"/>
            <a:ext cx="18288000" cy="1420979"/>
            <a:chOff x="0" y="0"/>
            <a:chExt cx="5260714" cy="374250"/>
          </a:xfrm>
        </p:grpSpPr>
        <p:sp>
          <p:nvSpPr>
            <p:cNvPr id="6" name="Freeform 6"/>
            <p:cNvSpPr/>
            <p:nvPr/>
          </p:nvSpPr>
          <p:spPr>
            <a:xfrm>
              <a:off x="0" y="0"/>
              <a:ext cx="5260714" cy="374250"/>
            </a:xfrm>
            <a:custGeom>
              <a:avLst/>
              <a:gdLst/>
              <a:ahLst/>
              <a:cxnLst/>
              <a:rect l="l" t="t" r="r" b="b"/>
              <a:pathLst>
                <a:path w="5260714" h="374250">
                  <a:moveTo>
                    <a:pt x="0" y="0"/>
                  </a:moveTo>
                  <a:lnTo>
                    <a:pt x="5260714" y="0"/>
                  </a:lnTo>
                  <a:lnTo>
                    <a:pt x="5260714" y="374250"/>
                  </a:lnTo>
                  <a:lnTo>
                    <a:pt x="0" y="374250"/>
                  </a:lnTo>
                  <a:close/>
                </a:path>
              </a:pathLst>
            </a:custGeom>
            <a:solidFill>
              <a:srgbClr val="F1F2F2"/>
            </a:solidFill>
          </p:spPr>
        </p:sp>
        <p:sp>
          <p:nvSpPr>
            <p:cNvPr id="7" name="TextBox 7"/>
            <p:cNvSpPr txBox="1"/>
            <p:nvPr/>
          </p:nvSpPr>
          <p:spPr>
            <a:xfrm>
              <a:off x="0" y="-38100"/>
              <a:ext cx="5260714" cy="41235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a:off x="12399945" y="6931538"/>
            <a:ext cx="3395204" cy="1049427"/>
          </a:xfrm>
          <a:custGeom>
            <a:avLst/>
            <a:gdLst/>
            <a:ahLst/>
            <a:cxnLst/>
            <a:rect l="l" t="t" r="r" b="b"/>
            <a:pathLst>
              <a:path w="3395204" h="1049427">
                <a:moveTo>
                  <a:pt x="0" y="0"/>
                </a:moveTo>
                <a:lnTo>
                  <a:pt x="3395204" y="0"/>
                </a:lnTo>
                <a:lnTo>
                  <a:pt x="3395204" y="1049427"/>
                </a:lnTo>
                <a:lnTo>
                  <a:pt x="0" y="104942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0" name="TextBox 10"/>
          <p:cNvSpPr txBox="1"/>
          <p:nvPr/>
        </p:nvSpPr>
        <p:spPr>
          <a:xfrm>
            <a:off x="1668631" y="1573137"/>
            <a:ext cx="14950738" cy="4549859"/>
          </a:xfrm>
          <a:prstGeom prst="rect">
            <a:avLst/>
          </a:prstGeom>
        </p:spPr>
        <p:txBody>
          <a:bodyPr lIns="0" tIns="0" rIns="0" bIns="0" rtlCol="0" anchor="t">
            <a:spAutoFit/>
          </a:bodyPr>
          <a:lstStyle/>
          <a:p>
            <a:pPr algn="ctr">
              <a:lnSpc>
                <a:spcPts val="14620"/>
              </a:lnSpc>
            </a:pPr>
            <a:r>
              <a:rPr lang="en-US" sz="10443">
                <a:solidFill>
                  <a:srgbClr val="000000"/>
                </a:solidFill>
                <a:latin typeface="Fredoka"/>
                <a:ea typeface="Fredoka"/>
                <a:cs typeface="Fredoka"/>
                <a:sym typeface="Fredoka"/>
              </a:rPr>
              <a:t>AREA II:</a:t>
            </a:r>
          </a:p>
          <a:p>
            <a:pPr algn="ctr">
              <a:lnSpc>
                <a:spcPts val="10259"/>
              </a:lnSpc>
            </a:pPr>
            <a:r>
              <a:rPr lang="en-US" sz="8999">
                <a:solidFill>
                  <a:srgbClr val="000000"/>
                </a:solidFill>
                <a:latin typeface="Fredoka"/>
                <a:ea typeface="Fredoka"/>
                <a:cs typeface="Fredoka"/>
                <a:sym typeface="Fredoka"/>
              </a:rPr>
              <a:t>LAND AND WATER RESOURCES ENGINEERING</a:t>
            </a:r>
          </a:p>
        </p:txBody>
      </p:sp>
      <p:sp>
        <p:nvSpPr>
          <p:cNvPr id="11" name="TextBox 11"/>
          <p:cNvSpPr txBox="1"/>
          <p:nvPr/>
        </p:nvSpPr>
        <p:spPr>
          <a:xfrm>
            <a:off x="4190453" y="6893438"/>
            <a:ext cx="9907094" cy="361637"/>
          </a:xfrm>
          <a:prstGeom prst="rect">
            <a:avLst/>
          </a:prstGeom>
        </p:spPr>
        <p:txBody>
          <a:bodyPr lIns="0" tIns="0" rIns="0" bIns="0" rtlCol="0" anchor="t">
            <a:spAutoFit/>
          </a:bodyPr>
          <a:lstStyle/>
          <a:p>
            <a:pPr algn="ctr">
              <a:lnSpc>
                <a:spcPts val="2800"/>
              </a:lnSpc>
            </a:pPr>
            <a:r>
              <a:rPr lang="en-US" sz="2400" b="1" dirty="0">
                <a:solidFill>
                  <a:srgbClr val="000000"/>
                </a:solidFill>
                <a:latin typeface="Nunito 1 Bold"/>
                <a:ea typeface="Nunito 1 Bold"/>
                <a:cs typeface="Nunito 1 Bold"/>
                <a:sym typeface="Nunito 1 Bold"/>
              </a:rPr>
              <a:t>Prepared by: Engr. Nicole Jane J. Lim</a:t>
            </a:r>
          </a:p>
        </p:txBody>
      </p:sp>
      <p:sp>
        <p:nvSpPr>
          <p:cNvPr id="12" name="TextBox 12"/>
          <p:cNvSpPr txBox="1"/>
          <p:nvPr/>
        </p:nvSpPr>
        <p:spPr>
          <a:xfrm>
            <a:off x="1028700" y="8743950"/>
            <a:ext cx="5577893" cy="514350"/>
          </a:xfrm>
          <a:prstGeom prst="rect">
            <a:avLst/>
          </a:prstGeom>
        </p:spPr>
        <p:txBody>
          <a:bodyPr lIns="0" tIns="0" rIns="0" bIns="0" rtlCol="0" anchor="t">
            <a:spAutoFit/>
          </a:bodyPr>
          <a:lstStyle/>
          <a:p>
            <a:pPr algn="l">
              <a:lnSpc>
                <a:spcPts val="4200"/>
              </a:lnSpc>
            </a:pPr>
            <a:r>
              <a:rPr lang="en-US" sz="3000" dirty="0">
                <a:solidFill>
                  <a:srgbClr val="000000"/>
                </a:solidFill>
                <a:latin typeface="Nunito 1"/>
                <a:ea typeface="Nunito 1"/>
                <a:cs typeface="Nunito 1"/>
                <a:sym typeface="Nunito 1"/>
              </a:rPr>
              <a:t>ABELE | 2025</a:t>
            </a:r>
          </a:p>
        </p:txBody>
      </p:sp>
      <p:sp>
        <p:nvSpPr>
          <p:cNvPr id="13" name="TextBox 13"/>
          <p:cNvSpPr txBox="1"/>
          <p:nvPr/>
        </p:nvSpPr>
        <p:spPr>
          <a:xfrm>
            <a:off x="12777754" y="8743950"/>
            <a:ext cx="4481546" cy="514350"/>
          </a:xfrm>
          <a:prstGeom prst="rect">
            <a:avLst/>
          </a:prstGeom>
        </p:spPr>
        <p:txBody>
          <a:bodyPr lIns="0" tIns="0" rIns="0" bIns="0" rtlCol="0" anchor="t">
            <a:spAutoFit/>
          </a:bodyPr>
          <a:lstStyle/>
          <a:p>
            <a:pPr algn="r">
              <a:lnSpc>
                <a:spcPts val="4200"/>
              </a:lnSpc>
            </a:pPr>
            <a:r>
              <a:rPr lang="en-US" sz="3000" dirty="0" err="1">
                <a:solidFill>
                  <a:srgbClr val="000000"/>
                </a:solidFill>
                <a:latin typeface="Nunito 1"/>
                <a:ea typeface="Nunito 1"/>
                <a:cs typeface="Nunito 1"/>
                <a:sym typeface="Nunito 1"/>
              </a:rPr>
              <a:t>ATTRC</a:t>
            </a:r>
            <a:r>
              <a:rPr lang="en-US" sz="3000" dirty="0">
                <a:solidFill>
                  <a:srgbClr val="000000"/>
                </a:solidFill>
                <a:latin typeface="Nunito 1"/>
                <a:ea typeface="Nunito 1"/>
                <a:cs typeface="Nunito 1"/>
                <a:sym typeface="Nunito 1"/>
              </a:rPr>
              <a:t> - Iligan City</a:t>
            </a:r>
          </a:p>
        </p:txBody>
      </p:sp>
      <p:sp>
        <p:nvSpPr>
          <p:cNvPr id="14" name="Freeform 14"/>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4">
              <a:extLst>
                <a:ext uri="{96DAC541-7B7A-43D3-8B79-37D633B846F1}">
                  <asvg:svgBlip xmlns:asvg="http://schemas.microsoft.com/office/drawing/2016/SVG/main" r:embed="rId5"/>
                </a:ext>
              </a:extLst>
            </a:blip>
            <a:stretch>
              <a:fillRect t="-44892" r="-174700"/>
            </a:stretch>
          </a:blipFill>
        </p:spPr>
      </p:sp>
      <p:pic>
        <p:nvPicPr>
          <p:cNvPr id="15" name="Picture 2" descr="No photo description available.">
            <a:extLst>
              <a:ext uri="{FF2B5EF4-FFF2-40B4-BE49-F238E27FC236}">
                <a16:creationId xmlns:a16="http://schemas.microsoft.com/office/drawing/2014/main" id="{B4B6732B-8B1E-FA9F-329D-A933B90711C7}"/>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94088" y="952729"/>
            <a:ext cx="2155854" cy="2155854"/>
          </a:xfrm>
          <a:prstGeom prst="ellipse">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descr="Round Geometric Memphis Design"/>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Round Geometric Memphis Design"/>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2">
              <a:extLst>
                <a:ext uri="{96DAC541-7B7A-43D3-8B79-37D633B846F1}">
                  <asvg:svgBlip xmlns:asvg="http://schemas.microsoft.com/office/drawing/2016/SVG/main" r:embed="rId3"/>
                </a:ext>
              </a:extLst>
            </a:blip>
            <a:stretch>
              <a:fillRect t="-44892" r="-174700"/>
            </a:stretch>
          </a:blipFill>
        </p:spPr>
      </p:sp>
      <p:sp>
        <p:nvSpPr>
          <p:cNvPr id="4" name="TextBox 4"/>
          <p:cNvSpPr txBox="1"/>
          <p:nvPr/>
        </p:nvSpPr>
        <p:spPr>
          <a:xfrm>
            <a:off x="2673585" y="1495435"/>
            <a:ext cx="12940831" cy="2447925"/>
          </a:xfrm>
          <a:prstGeom prst="rect">
            <a:avLst/>
          </a:prstGeom>
        </p:spPr>
        <p:txBody>
          <a:bodyPr lIns="0" tIns="0" rIns="0" bIns="0" rtlCol="0" anchor="t">
            <a:spAutoFit/>
          </a:bodyPr>
          <a:lstStyle/>
          <a:p>
            <a:pPr marL="0" lvl="0" indent="0" algn="ctr">
              <a:lnSpc>
                <a:spcPts val="9600"/>
              </a:lnSpc>
              <a:spcBef>
                <a:spcPct val="0"/>
              </a:spcBef>
            </a:pPr>
            <a:r>
              <a:rPr lang="en-US" sz="8000" dirty="0">
                <a:solidFill>
                  <a:srgbClr val="000000"/>
                </a:solidFill>
                <a:latin typeface="Fredoka"/>
                <a:ea typeface="Fredoka"/>
                <a:cs typeface="Fredoka"/>
                <a:sym typeface="Fredoka"/>
              </a:rPr>
              <a:t>IRRIGATION AND DRAINAGE ENGINEERING</a:t>
            </a:r>
          </a:p>
        </p:txBody>
      </p:sp>
      <p:grpSp>
        <p:nvGrpSpPr>
          <p:cNvPr id="52" name="Group 51">
            <a:extLst>
              <a:ext uri="{FF2B5EF4-FFF2-40B4-BE49-F238E27FC236}">
                <a16:creationId xmlns:a16="http://schemas.microsoft.com/office/drawing/2014/main" id="{5D52C3D3-2A8D-FE8D-613B-C77B75FC372A}"/>
              </a:ext>
            </a:extLst>
          </p:cNvPr>
          <p:cNvGrpSpPr/>
          <p:nvPr/>
        </p:nvGrpSpPr>
        <p:grpSpPr>
          <a:xfrm>
            <a:off x="2673585" y="4405473"/>
            <a:ext cx="6019800" cy="880074"/>
            <a:chOff x="1295400" y="5558827"/>
            <a:chExt cx="6019800" cy="880074"/>
          </a:xfrm>
        </p:grpSpPr>
        <p:grpSp>
          <p:nvGrpSpPr>
            <p:cNvPr id="15" name="Group 10">
              <a:extLst>
                <a:ext uri="{FF2B5EF4-FFF2-40B4-BE49-F238E27FC236}">
                  <a16:creationId xmlns:a16="http://schemas.microsoft.com/office/drawing/2014/main" id="{CA6D57E5-28FF-B36D-BD04-43444F9BFADB}"/>
                </a:ext>
              </a:extLst>
            </p:cNvPr>
            <p:cNvGrpSpPr/>
            <p:nvPr/>
          </p:nvGrpSpPr>
          <p:grpSpPr>
            <a:xfrm>
              <a:off x="1295400" y="5558827"/>
              <a:ext cx="6019800" cy="880074"/>
              <a:chOff x="0" y="0"/>
              <a:chExt cx="3247348" cy="455698"/>
            </a:xfrm>
          </p:grpSpPr>
          <p:sp>
            <p:nvSpPr>
              <p:cNvPr id="16" name="Freeform 11">
                <a:extLst>
                  <a:ext uri="{FF2B5EF4-FFF2-40B4-BE49-F238E27FC236}">
                    <a16:creationId xmlns:a16="http://schemas.microsoft.com/office/drawing/2014/main" id="{81FFA35C-E2E3-8FBB-3915-83ED68FC3DDE}"/>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17" name="TextBox 12">
                <a:extLst>
                  <a:ext uri="{FF2B5EF4-FFF2-40B4-BE49-F238E27FC236}">
                    <a16:creationId xmlns:a16="http://schemas.microsoft.com/office/drawing/2014/main" id="{9E1B37F0-4F53-E73A-AF04-8BEC670E9344}"/>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5" name="TextBox 5"/>
            <p:cNvSpPr txBox="1"/>
            <p:nvPr/>
          </p:nvSpPr>
          <p:spPr>
            <a:xfrm>
              <a:off x="1723697" y="5651100"/>
              <a:ext cx="4580058" cy="541751"/>
            </a:xfrm>
            <a:prstGeom prst="rect">
              <a:avLst/>
            </a:prstGeom>
          </p:spPr>
          <p:txBody>
            <a:bodyPr lIns="0" tIns="0" rIns="0" bIns="0" rtlCol="0" anchor="t">
              <a:spAutoFit/>
            </a:bodyPr>
            <a:lstStyle/>
            <a:p>
              <a:pPr algn="ctr">
                <a:lnSpc>
                  <a:spcPts val="4620"/>
                </a:lnSpc>
              </a:pPr>
              <a:r>
                <a:rPr lang="en-US" sz="2600" b="1" dirty="0">
                  <a:solidFill>
                    <a:srgbClr val="000000"/>
                  </a:solidFill>
                  <a:latin typeface="Canva Sans"/>
                  <a:ea typeface="Canva Sans"/>
                  <a:cs typeface="Canva Sans"/>
                  <a:sym typeface="Canva Sans"/>
                </a:rPr>
                <a:t>Surveying</a:t>
              </a:r>
            </a:p>
          </p:txBody>
        </p:sp>
      </p:grpSp>
      <p:grpSp>
        <p:nvGrpSpPr>
          <p:cNvPr id="21" name="Group 20">
            <a:extLst>
              <a:ext uri="{FF2B5EF4-FFF2-40B4-BE49-F238E27FC236}">
                <a16:creationId xmlns:a16="http://schemas.microsoft.com/office/drawing/2014/main" id="{02992D13-A5B8-36E8-5F45-32FEEB737F70}"/>
              </a:ext>
            </a:extLst>
          </p:cNvPr>
          <p:cNvGrpSpPr/>
          <p:nvPr/>
        </p:nvGrpSpPr>
        <p:grpSpPr>
          <a:xfrm>
            <a:off x="2673585" y="5624673"/>
            <a:ext cx="6019800" cy="880074"/>
            <a:chOff x="1295400" y="6709252"/>
            <a:chExt cx="6019800" cy="880074"/>
          </a:xfrm>
        </p:grpSpPr>
        <p:grpSp>
          <p:nvGrpSpPr>
            <p:cNvPr id="18" name="Group 10">
              <a:extLst>
                <a:ext uri="{FF2B5EF4-FFF2-40B4-BE49-F238E27FC236}">
                  <a16:creationId xmlns:a16="http://schemas.microsoft.com/office/drawing/2014/main" id="{7394E585-E2CF-6055-BCB9-FAAF8A04B346}"/>
                </a:ext>
              </a:extLst>
            </p:cNvPr>
            <p:cNvGrpSpPr/>
            <p:nvPr/>
          </p:nvGrpSpPr>
          <p:grpSpPr>
            <a:xfrm>
              <a:off x="1295400" y="6709252"/>
              <a:ext cx="6019800" cy="880074"/>
              <a:chOff x="0" y="0"/>
              <a:chExt cx="3247348" cy="455698"/>
            </a:xfrm>
          </p:grpSpPr>
          <p:sp>
            <p:nvSpPr>
              <p:cNvPr id="19" name="Freeform 11">
                <a:extLst>
                  <a:ext uri="{FF2B5EF4-FFF2-40B4-BE49-F238E27FC236}">
                    <a16:creationId xmlns:a16="http://schemas.microsoft.com/office/drawing/2014/main" id="{F7CE2F9B-1182-B17B-D325-4BBB24C8DF2F}"/>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20" name="TextBox 12">
                <a:extLst>
                  <a:ext uri="{FF2B5EF4-FFF2-40B4-BE49-F238E27FC236}">
                    <a16:creationId xmlns:a16="http://schemas.microsoft.com/office/drawing/2014/main" id="{9D747EB2-554C-6B6D-31DD-47590C127339}"/>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6" name="TextBox 6"/>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Fluid Mechanics</a:t>
              </a:r>
            </a:p>
          </p:txBody>
        </p:sp>
      </p:grpSp>
      <p:grpSp>
        <p:nvGrpSpPr>
          <p:cNvPr id="22" name="Group 21">
            <a:extLst>
              <a:ext uri="{FF2B5EF4-FFF2-40B4-BE49-F238E27FC236}">
                <a16:creationId xmlns:a16="http://schemas.microsoft.com/office/drawing/2014/main" id="{F867F948-1C06-4BA7-CB05-BCF5EAB65403}"/>
              </a:ext>
            </a:extLst>
          </p:cNvPr>
          <p:cNvGrpSpPr/>
          <p:nvPr/>
        </p:nvGrpSpPr>
        <p:grpSpPr>
          <a:xfrm>
            <a:off x="2673585" y="6770292"/>
            <a:ext cx="6019800" cy="880074"/>
            <a:chOff x="1295400" y="6709252"/>
            <a:chExt cx="6019800" cy="880074"/>
          </a:xfrm>
        </p:grpSpPr>
        <p:grpSp>
          <p:nvGrpSpPr>
            <p:cNvPr id="23" name="Group 10">
              <a:extLst>
                <a:ext uri="{FF2B5EF4-FFF2-40B4-BE49-F238E27FC236}">
                  <a16:creationId xmlns:a16="http://schemas.microsoft.com/office/drawing/2014/main" id="{58CFF5F9-EAFF-D0A0-FA2E-CAD99F5E316C}"/>
                </a:ext>
              </a:extLst>
            </p:cNvPr>
            <p:cNvGrpSpPr/>
            <p:nvPr/>
          </p:nvGrpSpPr>
          <p:grpSpPr>
            <a:xfrm>
              <a:off x="1295400" y="6709252"/>
              <a:ext cx="6019800" cy="880074"/>
              <a:chOff x="0" y="0"/>
              <a:chExt cx="3247348" cy="455698"/>
            </a:xfrm>
          </p:grpSpPr>
          <p:sp>
            <p:nvSpPr>
              <p:cNvPr id="25" name="Freeform 11">
                <a:extLst>
                  <a:ext uri="{FF2B5EF4-FFF2-40B4-BE49-F238E27FC236}">
                    <a16:creationId xmlns:a16="http://schemas.microsoft.com/office/drawing/2014/main" id="{5CCDF30F-3D1E-C536-909B-2C3259F2CCC5}"/>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26" name="TextBox 12">
                <a:extLst>
                  <a:ext uri="{FF2B5EF4-FFF2-40B4-BE49-F238E27FC236}">
                    <a16:creationId xmlns:a16="http://schemas.microsoft.com/office/drawing/2014/main" id="{CDD9264F-5263-23B8-7D20-BEE5A40324BA}"/>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24" name="TextBox 6">
              <a:extLst>
                <a:ext uri="{FF2B5EF4-FFF2-40B4-BE49-F238E27FC236}">
                  <a16:creationId xmlns:a16="http://schemas.microsoft.com/office/drawing/2014/main" id="{DD7920BA-C74C-3878-1EAE-EDCC78D1BE86}"/>
                </a:ext>
              </a:extLst>
            </p:cNvPr>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Groundwater Hydrology</a:t>
              </a:r>
            </a:p>
          </p:txBody>
        </p:sp>
      </p:grpSp>
      <p:grpSp>
        <p:nvGrpSpPr>
          <p:cNvPr id="29" name="Group 28">
            <a:extLst>
              <a:ext uri="{FF2B5EF4-FFF2-40B4-BE49-F238E27FC236}">
                <a16:creationId xmlns:a16="http://schemas.microsoft.com/office/drawing/2014/main" id="{60222F70-0399-4A77-CBCA-A5DED8F50A33}"/>
              </a:ext>
            </a:extLst>
          </p:cNvPr>
          <p:cNvGrpSpPr/>
          <p:nvPr/>
        </p:nvGrpSpPr>
        <p:grpSpPr>
          <a:xfrm>
            <a:off x="9551873" y="4405473"/>
            <a:ext cx="6019800" cy="880074"/>
            <a:chOff x="1295400" y="6709252"/>
            <a:chExt cx="6019800" cy="880074"/>
          </a:xfrm>
        </p:grpSpPr>
        <p:grpSp>
          <p:nvGrpSpPr>
            <p:cNvPr id="30" name="Group 10">
              <a:extLst>
                <a:ext uri="{FF2B5EF4-FFF2-40B4-BE49-F238E27FC236}">
                  <a16:creationId xmlns:a16="http://schemas.microsoft.com/office/drawing/2014/main" id="{26FA2352-2FE0-0573-EB89-2DD8F13F83D8}"/>
                </a:ext>
              </a:extLst>
            </p:cNvPr>
            <p:cNvGrpSpPr/>
            <p:nvPr/>
          </p:nvGrpSpPr>
          <p:grpSpPr>
            <a:xfrm>
              <a:off x="1295400" y="6709252"/>
              <a:ext cx="6019800" cy="880074"/>
              <a:chOff x="0" y="0"/>
              <a:chExt cx="3247348" cy="455698"/>
            </a:xfrm>
          </p:grpSpPr>
          <p:sp>
            <p:nvSpPr>
              <p:cNvPr id="32" name="Freeform 11">
                <a:extLst>
                  <a:ext uri="{FF2B5EF4-FFF2-40B4-BE49-F238E27FC236}">
                    <a16:creationId xmlns:a16="http://schemas.microsoft.com/office/drawing/2014/main" id="{ABAEDEB5-D286-1E69-433D-2EA3A5AEF501}"/>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33" name="TextBox 12">
                <a:extLst>
                  <a:ext uri="{FF2B5EF4-FFF2-40B4-BE49-F238E27FC236}">
                    <a16:creationId xmlns:a16="http://schemas.microsoft.com/office/drawing/2014/main" id="{DCD6BD17-BD57-E202-9226-1A7DBDC59665}"/>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31" name="TextBox 6">
              <a:extLst>
                <a:ext uri="{FF2B5EF4-FFF2-40B4-BE49-F238E27FC236}">
                  <a16:creationId xmlns:a16="http://schemas.microsoft.com/office/drawing/2014/main" id="{BDD836E0-F179-D95C-4820-DBA6379C74AF}"/>
                </a:ext>
              </a:extLst>
            </p:cNvPr>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Pumps</a:t>
              </a:r>
            </a:p>
          </p:txBody>
        </p:sp>
      </p:grpSp>
      <p:grpSp>
        <p:nvGrpSpPr>
          <p:cNvPr id="53" name="Group 52">
            <a:extLst>
              <a:ext uri="{FF2B5EF4-FFF2-40B4-BE49-F238E27FC236}">
                <a16:creationId xmlns:a16="http://schemas.microsoft.com/office/drawing/2014/main" id="{8DB5B269-8652-4AEA-3EAD-E45CFA8BB4B9}"/>
              </a:ext>
            </a:extLst>
          </p:cNvPr>
          <p:cNvGrpSpPr/>
          <p:nvPr/>
        </p:nvGrpSpPr>
        <p:grpSpPr>
          <a:xfrm>
            <a:off x="9551873" y="5624673"/>
            <a:ext cx="6019800" cy="880074"/>
            <a:chOff x="1295400" y="5558827"/>
            <a:chExt cx="6019800" cy="880074"/>
          </a:xfrm>
        </p:grpSpPr>
        <p:grpSp>
          <p:nvGrpSpPr>
            <p:cNvPr id="54" name="Group 10">
              <a:extLst>
                <a:ext uri="{FF2B5EF4-FFF2-40B4-BE49-F238E27FC236}">
                  <a16:creationId xmlns:a16="http://schemas.microsoft.com/office/drawing/2014/main" id="{6758D15C-1D6B-9C94-4F08-692093EE31AA}"/>
                </a:ext>
              </a:extLst>
            </p:cNvPr>
            <p:cNvGrpSpPr/>
            <p:nvPr/>
          </p:nvGrpSpPr>
          <p:grpSpPr>
            <a:xfrm>
              <a:off x="1295400" y="5558827"/>
              <a:ext cx="6019800" cy="880074"/>
              <a:chOff x="0" y="0"/>
              <a:chExt cx="3247348" cy="455698"/>
            </a:xfrm>
          </p:grpSpPr>
          <p:sp>
            <p:nvSpPr>
              <p:cNvPr id="56" name="Freeform 11">
                <a:extLst>
                  <a:ext uri="{FF2B5EF4-FFF2-40B4-BE49-F238E27FC236}">
                    <a16:creationId xmlns:a16="http://schemas.microsoft.com/office/drawing/2014/main" id="{F32738D0-8D0B-3865-23D7-47E4C29F57AC}"/>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57" name="TextBox 12">
                <a:extLst>
                  <a:ext uri="{FF2B5EF4-FFF2-40B4-BE49-F238E27FC236}">
                    <a16:creationId xmlns:a16="http://schemas.microsoft.com/office/drawing/2014/main" id="{C4198CEB-3F10-9E30-BB38-18156B6E30EE}"/>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55" name="TextBox 5">
              <a:extLst>
                <a:ext uri="{FF2B5EF4-FFF2-40B4-BE49-F238E27FC236}">
                  <a16:creationId xmlns:a16="http://schemas.microsoft.com/office/drawing/2014/main" id="{6B3ECAF5-1F80-2D8A-1DF2-A31DAC552751}"/>
                </a:ext>
              </a:extLst>
            </p:cNvPr>
            <p:cNvSpPr txBox="1"/>
            <p:nvPr/>
          </p:nvSpPr>
          <p:spPr>
            <a:xfrm>
              <a:off x="2051882" y="5651100"/>
              <a:ext cx="4580058" cy="541751"/>
            </a:xfrm>
            <a:prstGeom prst="rect">
              <a:avLst/>
            </a:prstGeom>
          </p:spPr>
          <p:txBody>
            <a:bodyPr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Open Channel</a:t>
              </a:r>
            </a:p>
          </p:txBody>
        </p:sp>
      </p:grpSp>
      <p:grpSp>
        <p:nvGrpSpPr>
          <p:cNvPr id="58" name="Group 57">
            <a:extLst>
              <a:ext uri="{FF2B5EF4-FFF2-40B4-BE49-F238E27FC236}">
                <a16:creationId xmlns:a16="http://schemas.microsoft.com/office/drawing/2014/main" id="{A6B622DC-D04B-F027-1CBF-F8F117EC952A}"/>
              </a:ext>
            </a:extLst>
          </p:cNvPr>
          <p:cNvGrpSpPr/>
          <p:nvPr/>
        </p:nvGrpSpPr>
        <p:grpSpPr>
          <a:xfrm>
            <a:off x="9551873" y="6765162"/>
            <a:ext cx="6019800" cy="880074"/>
            <a:chOff x="1295400" y="6709252"/>
            <a:chExt cx="6019800" cy="880074"/>
          </a:xfrm>
        </p:grpSpPr>
        <p:grpSp>
          <p:nvGrpSpPr>
            <p:cNvPr id="59" name="Group 10">
              <a:extLst>
                <a:ext uri="{FF2B5EF4-FFF2-40B4-BE49-F238E27FC236}">
                  <a16:creationId xmlns:a16="http://schemas.microsoft.com/office/drawing/2014/main" id="{A685B682-44BB-CB0E-B1A9-6581D8062BC5}"/>
                </a:ext>
              </a:extLst>
            </p:cNvPr>
            <p:cNvGrpSpPr/>
            <p:nvPr/>
          </p:nvGrpSpPr>
          <p:grpSpPr>
            <a:xfrm>
              <a:off x="1295400" y="6709252"/>
              <a:ext cx="6019800" cy="880074"/>
              <a:chOff x="0" y="0"/>
              <a:chExt cx="3247348" cy="455698"/>
            </a:xfrm>
          </p:grpSpPr>
          <p:sp>
            <p:nvSpPr>
              <p:cNvPr id="61" name="Freeform 11">
                <a:extLst>
                  <a:ext uri="{FF2B5EF4-FFF2-40B4-BE49-F238E27FC236}">
                    <a16:creationId xmlns:a16="http://schemas.microsoft.com/office/drawing/2014/main" id="{65C6099B-B529-C1F2-533F-EC9B299FF46F}"/>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62" name="TextBox 12">
                <a:extLst>
                  <a:ext uri="{FF2B5EF4-FFF2-40B4-BE49-F238E27FC236}">
                    <a16:creationId xmlns:a16="http://schemas.microsoft.com/office/drawing/2014/main" id="{4FB9F9AE-D89F-4CE4-BFA2-924314D9BB2B}"/>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60" name="TextBox 6">
              <a:extLst>
                <a:ext uri="{FF2B5EF4-FFF2-40B4-BE49-F238E27FC236}">
                  <a16:creationId xmlns:a16="http://schemas.microsoft.com/office/drawing/2014/main" id="{929D3B86-3EDC-9AD0-1657-60245F74EDA2}"/>
                </a:ext>
              </a:extLst>
            </p:cNvPr>
            <p:cNvSpPr txBox="1"/>
            <p:nvPr/>
          </p:nvSpPr>
          <p:spPr>
            <a:xfrm>
              <a:off x="1634797" y="6846154"/>
              <a:ext cx="5414229" cy="528478"/>
            </a:xfrm>
            <a:prstGeom prst="rect">
              <a:avLst/>
            </a:prstGeom>
          </p:spPr>
          <p:txBody>
            <a:bodyPr wrap="square" lIns="0" tIns="0" rIns="0" bIns="0" rtlCol="0" anchor="t">
              <a:spAutoFit/>
            </a:bodyPr>
            <a:lstStyle/>
            <a:p>
              <a:pPr algn="ctr">
                <a:lnSpc>
                  <a:spcPts val="4620"/>
                </a:lnSpc>
              </a:pPr>
              <a:r>
                <a:rPr lang="en-US" sz="2600" b="1" dirty="0">
                  <a:solidFill>
                    <a:srgbClr val="000000"/>
                  </a:solidFill>
                  <a:latin typeface="Canva Sans"/>
                  <a:ea typeface="Canva Sans"/>
                  <a:cs typeface="Canva Sans"/>
                  <a:sym typeface="Canva Sans"/>
                </a:rPr>
                <a:t>Pressurized Irrigation Systems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fade">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3"/>
                                        </p:tgtEl>
                                        <p:attrNameLst>
                                          <p:attrName>style.visibility</p:attrName>
                                        </p:attrNameLst>
                                      </p:cBhvr>
                                      <p:to>
                                        <p:strVal val="visible"/>
                                      </p:to>
                                    </p:set>
                                    <p:animEffect transition="in" filter="fade">
                                      <p:cBhvr>
                                        <p:cTn id="27" dur="500"/>
                                        <p:tgtEl>
                                          <p:spTgt spid="5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8"/>
                                        </p:tgtEl>
                                        <p:attrNameLst>
                                          <p:attrName>style.visibility</p:attrName>
                                        </p:attrNameLst>
                                      </p:cBhvr>
                                      <p:to>
                                        <p:strVal val="visible"/>
                                      </p:to>
                                    </p:set>
                                    <p:animEffect transition="in" filter="fade">
                                      <p:cBhvr>
                                        <p:cTn id="32"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9C24E-170B-250E-E59A-BD4485974BC0}"/>
            </a:ext>
          </a:extLst>
        </p:cNvPr>
        <p:cNvGrpSpPr/>
        <p:nvPr/>
      </p:nvGrpSpPr>
      <p:grpSpPr>
        <a:xfrm>
          <a:off x="0" y="0"/>
          <a:ext cx="0" cy="0"/>
          <a:chOff x="0" y="0"/>
          <a:chExt cx="0" cy="0"/>
        </a:xfrm>
      </p:grpSpPr>
      <p:sp>
        <p:nvSpPr>
          <p:cNvPr id="2" name="Freeform 2" descr="Round Geometric Memphis Design">
            <a:extLst>
              <a:ext uri="{FF2B5EF4-FFF2-40B4-BE49-F238E27FC236}">
                <a16:creationId xmlns:a16="http://schemas.microsoft.com/office/drawing/2014/main" id="{DC4C034A-7FE6-A31C-F5D2-DCCCED4123F5}"/>
              </a:ext>
            </a:extLst>
          </p:cNvPr>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Round Geometric Memphis Design">
            <a:extLst>
              <a:ext uri="{FF2B5EF4-FFF2-40B4-BE49-F238E27FC236}">
                <a16:creationId xmlns:a16="http://schemas.microsoft.com/office/drawing/2014/main" id="{2C25B5C9-7558-6F18-39C6-D54CC9399DFF}"/>
              </a:ext>
            </a:extLst>
          </p:cNvPr>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2">
              <a:extLst>
                <a:ext uri="{96DAC541-7B7A-43D3-8B79-37D633B846F1}">
                  <asvg:svgBlip xmlns:asvg="http://schemas.microsoft.com/office/drawing/2016/SVG/main" r:embed="rId3"/>
                </a:ext>
              </a:extLst>
            </a:blip>
            <a:stretch>
              <a:fillRect t="-44892" r="-174700"/>
            </a:stretch>
          </a:blipFill>
        </p:spPr>
      </p:sp>
      <p:sp>
        <p:nvSpPr>
          <p:cNvPr id="4" name="TextBox 4">
            <a:extLst>
              <a:ext uri="{FF2B5EF4-FFF2-40B4-BE49-F238E27FC236}">
                <a16:creationId xmlns:a16="http://schemas.microsoft.com/office/drawing/2014/main" id="{081EB90A-38A2-4BE6-8712-D079713A20F6}"/>
              </a:ext>
            </a:extLst>
          </p:cNvPr>
          <p:cNvSpPr txBox="1"/>
          <p:nvPr/>
        </p:nvSpPr>
        <p:spPr>
          <a:xfrm>
            <a:off x="2673585" y="1495435"/>
            <a:ext cx="12940831" cy="2447925"/>
          </a:xfrm>
          <a:prstGeom prst="rect">
            <a:avLst/>
          </a:prstGeom>
        </p:spPr>
        <p:txBody>
          <a:bodyPr lIns="0" tIns="0" rIns="0" bIns="0" rtlCol="0" anchor="t">
            <a:spAutoFit/>
          </a:bodyPr>
          <a:lstStyle/>
          <a:p>
            <a:pPr marL="0" lvl="0" indent="0" algn="ctr">
              <a:lnSpc>
                <a:spcPts val="9600"/>
              </a:lnSpc>
              <a:spcBef>
                <a:spcPct val="0"/>
              </a:spcBef>
            </a:pPr>
            <a:r>
              <a:rPr lang="en-US" sz="8000" dirty="0">
                <a:solidFill>
                  <a:srgbClr val="000000"/>
                </a:solidFill>
                <a:latin typeface="Fredoka"/>
                <a:ea typeface="Fredoka"/>
                <a:cs typeface="Fredoka"/>
                <a:sym typeface="Fredoka"/>
              </a:rPr>
              <a:t>IRRIGATION AND DRAINAGE ENGINEERING</a:t>
            </a:r>
          </a:p>
        </p:txBody>
      </p:sp>
      <p:grpSp>
        <p:nvGrpSpPr>
          <p:cNvPr id="52" name="Group 51">
            <a:extLst>
              <a:ext uri="{FF2B5EF4-FFF2-40B4-BE49-F238E27FC236}">
                <a16:creationId xmlns:a16="http://schemas.microsoft.com/office/drawing/2014/main" id="{A2C7AD05-4A78-7574-1B1B-2C635D3550E9}"/>
              </a:ext>
            </a:extLst>
          </p:cNvPr>
          <p:cNvGrpSpPr/>
          <p:nvPr/>
        </p:nvGrpSpPr>
        <p:grpSpPr>
          <a:xfrm>
            <a:off x="2673585" y="4405473"/>
            <a:ext cx="6019800" cy="880074"/>
            <a:chOff x="1295400" y="5558827"/>
            <a:chExt cx="6019800" cy="880074"/>
          </a:xfrm>
        </p:grpSpPr>
        <p:grpSp>
          <p:nvGrpSpPr>
            <p:cNvPr id="15" name="Group 10">
              <a:extLst>
                <a:ext uri="{FF2B5EF4-FFF2-40B4-BE49-F238E27FC236}">
                  <a16:creationId xmlns:a16="http://schemas.microsoft.com/office/drawing/2014/main" id="{56EA840F-9FB4-4875-11B3-1543A85D0312}"/>
                </a:ext>
              </a:extLst>
            </p:cNvPr>
            <p:cNvGrpSpPr/>
            <p:nvPr/>
          </p:nvGrpSpPr>
          <p:grpSpPr>
            <a:xfrm>
              <a:off x="1295400" y="5558827"/>
              <a:ext cx="6019800" cy="880074"/>
              <a:chOff x="0" y="0"/>
              <a:chExt cx="3247348" cy="455698"/>
            </a:xfrm>
          </p:grpSpPr>
          <p:sp>
            <p:nvSpPr>
              <p:cNvPr id="16" name="Freeform 11">
                <a:extLst>
                  <a:ext uri="{FF2B5EF4-FFF2-40B4-BE49-F238E27FC236}">
                    <a16:creationId xmlns:a16="http://schemas.microsoft.com/office/drawing/2014/main" id="{4170065C-E83D-C2D5-93A4-86744BFF58B8}"/>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17" name="TextBox 12">
                <a:extLst>
                  <a:ext uri="{FF2B5EF4-FFF2-40B4-BE49-F238E27FC236}">
                    <a16:creationId xmlns:a16="http://schemas.microsoft.com/office/drawing/2014/main" id="{A5387F38-65BF-98ED-C659-6F73942D9C8A}"/>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5" name="TextBox 5">
              <a:extLst>
                <a:ext uri="{FF2B5EF4-FFF2-40B4-BE49-F238E27FC236}">
                  <a16:creationId xmlns:a16="http://schemas.microsoft.com/office/drawing/2014/main" id="{B3F53DF5-BC59-B830-03FF-4DB4AF76F54A}"/>
                </a:ext>
              </a:extLst>
            </p:cNvPr>
            <p:cNvSpPr txBox="1"/>
            <p:nvPr/>
          </p:nvSpPr>
          <p:spPr>
            <a:xfrm>
              <a:off x="1723697" y="5651100"/>
              <a:ext cx="4580058" cy="541751"/>
            </a:xfrm>
            <a:prstGeom prst="rect">
              <a:avLst/>
            </a:prstGeom>
          </p:spPr>
          <p:txBody>
            <a:bodyPr lIns="0" tIns="0" rIns="0" bIns="0" rtlCol="0" anchor="t">
              <a:spAutoFit/>
            </a:bodyPr>
            <a:lstStyle/>
            <a:p>
              <a:pPr algn="ctr">
                <a:lnSpc>
                  <a:spcPts val="4620"/>
                </a:lnSpc>
              </a:pPr>
              <a:r>
                <a:rPr lang="en-US" sz="2600" b="1" dirty="0">
                  <a:solidFill>
                    <a:srgbClr val="000000"/>
                  </a:solidFill>
                  <a:latin typeface="Canva Sans"/>
                  <a:ea typeface="Canva Sans"/>
                  <a:cs typeface="Canva Sans"/>
                  <a:sym typeface="Canva Sans"/>
                </a:rPr>
                <a:t>Surveying</a:t>
              </a:r>
            </a:p>
          </p:txBody>
        </p:sp>
      </p:grpSp>
      <p:grpSp>
        <p:nvGrpSpPr>
          <p:cNvPr id="21" name="Group 20">
            <a:extLst>
              <a:ext uri="{FF2B5EF4-FFF2-40B4-BE49-F238E27FC236}">
                <a16:creationId xmlns:a16="http://schemas.microsoft.com/office/drawing/2014/main" id="{96789812-67FD-29D6-A639-138EAD8A4675}"/>
              </a:ext>
            </a:extLst>
          </p:cNvPr>
          <p:cNvGrpSpPr/>
          <p:nvPr/>
        </p:nvGrpSpPr>
        <p:grpSpPr>
          <a:xfrm>
            <a:off x="2673585" y="5624673"/>
            <a:ext cx="6019800" cy="880074"/>
            <a:chOff x="1295400" y="6709252"/>
            <a:chExt cx="6019800" cy="880074"/>
          </a:xfrm>
          <a:solidFill>
            <a:schemeClr val="bg1">
              <a:lumMod val="95000"/>
            </a:schemeClr>
          </a:solidFill>
        </p:grpSpPr>
        <p:grpSp>
          <p:nvGrpSpPr>
            <p:cNvPr id="18" name="Group 10">
              <a:extLst>
                <a:ext uri="{FF2B5EF4-FFF2-40B4-BE49-F238E27FC236}">
                  <a16:creationId xmlns:a16="http://schemas.microsoft.com/office/drawing/2014/main" id="{8E21962F-8CB6-BA87-A2D8-2F6F8EC6E69E}"/>
                </a:ext>
              </a:extLst>
            </p:cNvPr>
            <p:cNvGrpSpPr/>
            <p:nvPr/>
          </p:nvGrpSpPr>
          <p:grpSpPr>
            <a:xfrm>
              <a:off x="1295400" y="6709252"/>
              <a:ext cx="6019800" cy="880074"/>
              <a:chOff x="0" y="0"/>
              <a:chExt cx="3247348" cy="455698"/>
            </a:xfrm>
            <a:grpFill/>
          </p:grpSpPr>
          <p:sp>
            <p:nvSpPr>
              <p:cNvPr id="19" name="Freeform 11">
                <a:extLst>
                  <a:ext uri="{FF2B5EF4-FFF2-40B4-BE49-F238E27FC236}">
                    <a16:creationId xmlns:a16="http://schemas.microsoft.com/office/drawing/2014/main" id="{9E53A635-2E04-7163-C3B9-3901F9D53654}"/>
                  </a:ext>
                </a:extLst>
              </p:cNvPr>
              <p:cNvSpPr/>
              <p:nvPr/>
            </p:nvSpPr>
            <p:spPr>
              <a:xfrm>
                <a:off x="0" y="0"/>
                <a:ext cx="3247348" cy="455698"/>
              </a:xfrm>
              <a:prstGeom prst="roundRect">
                <a:avLst/>
              </a:prstGeom>
              <a:grpFill/>
              <a:ln w="38100" cap="sq">
                <a:solidFill>
                  <a:srgbClr val="F1F2F2"/>
                </a:solidFill>
                <a:prstDash val="solid"/>
                <a:miter/>
              </a:ln>
            </p:spPr>
          </p:sp>
          <p:sp>
            <p:nvSpPr>
              <p:cNvPr id="20" name="TextBox 12">
                <a:extLst>
                  <a:ext uri="{FF2B5EF4-FFF2-40B4-BE49-F238E27FC236}">
                    <a16:creationId xmlns:a16="http://schemas.microsoft.com/office/drawing/2014/main" id="{2A88EE11-C260-2EDD-7259-D94EE4C2476C}"/>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6" name="TextBox 6">
              <a:extLst>
                <a:ext uri="{FF2B5EF4-FFF2-40B4-BE49-F238E27FC236}">
                  <a16:creationId xmlns:a16="http://schemas.microsoft.com/office/drawing/2014/main" id="{3DF65D83-C2B9-39BA-20FC-D371BECB3273}"/>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Fluid Mechanics</a:t>
              </a:r>
            </a:p>
          </p:txBody>
        </p:sp>
      </p:grpSp>
      <p:grpSp>
        <p:nvGrpSpPr>
          <p:cNvPr id="22" name="Group 21">
            <a:extLst>
              <a:ext uri="{FF2B5EF4-FFF2-40B4-BE49-F238E27FC236}">
                <a16:creationId xmlns:a16="http://schemas.microsoft.com/office/drawing/2014/main" id="{9BC22110-D09D-8520-7EA6-06CDD9859A53}"/>
              </a:ext>
            </a:extLst>
          </p:cNvPr>
          <p:cNvGrpSpPr/>
          <p:nvPr/>
        </p:nvGrpSpPr>
        <p:grpSpPr>
          <a:xfrm>
            <a:off x="2673585" y="6770292"/>
            <a:ext cx="6019800" cy="880074"/>
            <a:chOff x="1295400" y="6709252"/>
            <a:chExt cx="6019800" cy="880074"/>
          </a:xfrm>
          <a:solidFill>
            <a:schemeClr val="bg1">
              <a:lumMod val="95000"/>
            </a:schemeClr>
          </a:solidFill>
        </p:grpSpPr>
        <p:grpSp>
          <p:nvGrpSpPr>
            <p:cNvPr id="23" name="Group 10">
              <a:extLst>
                <a:ext uri="{FF2B5EF4-FFF2-40B4-BE49-F238E27FC236}">
                  <a16:creationId xmlns:a16="http://schemas.microsoft.com/office/drawing/2014/main" id="{0E008E92-9104-2594-9344-46B986417177}"/>
                </a:ext>
              </a:extLst>
            </p:cNvPr>
            <p:cNvGrpSpPr/>
            <p:nvPr/>
          </p:nvGrpSpPr>
          <p:grpSpPr>
            <a:xfrm>
              <a:off x="1295400" y="6709252"/>
              <a:ext cx="6019800" cy="880074"/>
              <a:chOff x="0" y="0"/>
              <a:chExt cx="3247348" cy="455698"/>
            </a:xfrm>
            <a:grpFill/>
          </p:grpSpPr>
          <p:sp>
            <p:nvSpPr>
              <p:cNvPr id="25" name="Freeform 11">
                <a:extLst>
                  <a:ext uri="{FF2B5EF4-FFF2-40B4-BE49-F238E27FC236}">
                    <a16:creationId xmlns:a16="http://schemas.microsoft.com/office/drawing/2014/main" id="{8FC35B21-AA11-42C7-686A-EEC9BF9A136B}"/>
                  </a:ext>
                </a:extLst>
              </p:cNvPr>
              <p:cNvSpPr/>
              <p:nvPr/>
            </p:nvSpPr>
            <p:spPr>
              <a:xfrm>
                <a:off x="0" y="0"/>
                <a:ext cx="3247348" cy="455698"/>
              </a:xfrm>
              <a:prstGeom prst="roundRect">
                <a:avLst/>
              </a:prstGeom>
              <a:grpFill/>
              <a:ln w="38100" cap="sq">
                <a:solidFill>
                  <a:srgbClr val="F1F2F2"/>
                </a:solidFill>
                <a:prstDash val="solid"/>
                <a:miter/>
              </a:ln>
            </p:spPr>
          </p:sp>
          <p:sp>
            <p:nvSpPr>
              <p:cNvPr id="26" name="TextBox 12">
                <a:extLst>
                  <a:ext uri="{FF2B5EF4-FFF2-40B4-BE49-F238E27FC236}">
                    <a16:creationId xmlns:a16="http://schemas.microsoft.com/office/drawing/2014/main" id="{3DEF18C6-E5D0-A0CC-854E-5B3D6D37DB7B}"/>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24" name="TextBox 6">
              <a:extLst>
                <a:ext uri="{FF2B5EF4-FFF2-40B4-BE49-F238E27FC236}">
                  <a16:creationId xmlns:a16="http://schemas.microsoft.com/office/drawing/2014/main" id="{CFEB0186-1A68-4737-2098-5FC138E8ECEC}"/>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Groundwater Hydrology</a:t>
              </a:r>
            </a:p>
          </p:txBody>
        </p:sp>
      </p:grpSp>
      <p:grpSp>
        <p:nvGrpSpPr>
          <p:cNvPr id="29" name="Group 28">
            <a:extLst>
              <a:ext uri="{FF2B5EF4-FFF2-40B4-BE49-F238E27FC236}">
                <a16:creationId xmlns:a16="http://schemas.microsoft.com/office/drawing/2014/main" id="{6800753F-331D-7F9F-0B03-27ADEF28DBBE}"/>
              </a:ext>
            </a:extLst>
          </p:cNvPr>
          <p:cNvGrpSpPr/>
          <p:nvPr/>
        </p:nvGrpSpPr>
        <p:grpSpPr>
          <a:xfrm>
            <a:off x="9551873" y="4405473"/>
            <a:ext cx="6019800" cy="880074"/>
            <a:chOff x="1295400" y="6709252"/>
            <a:chExt cx="6019800" cy="880074"/>
          </a:xfrm>
          <a:solidFill>
            <a:schemeClr val="bg1">
              <a:lumMod val="95000"/>
            </a:schemeClr>
          </a:solidFill>
        </p:grpSpPr>
        <p:grpSp>
          <p:nvGrpSpPr>
            <p:cNvPr id="30" name="Group 10">
              <a:extLst>
                <a:ext uri="{FF2B5EF4-FFF2-40B4-BE49-F238E27FC236}">
                  <a16:creationId xmlns:a16="http://schemas.microsoft.com/office/drawing/2014/main" id="{2666FFEE-9425-1513-5821-A6CD0708EAB6}"/>
                </a:ext>
              </a:extLst>
            </p:cNvPr>
            <p:cNvGrpSpPr/>
            <p:nvPr/>
          </p:nvGrpSpPr>
          <p:grpSpPr>
            <a:xfrm>
              <a:off x="1295400" y="6709252"/>
              <a:ext cx="6019800" cy="880074"/>
              <a:chOff x="0" y="0"/>
              <a:chExt cx="3247348" cy="455698"/>
            </a:xfrm>
            <a:grpFill/>
          </p:grpSpPr>
          <p:sp>
            <p:nvSpPr>
              <p:cNvPr id="32" name="Freeform 11">
                <a:extLst>
                  <a:ext uri="{FF2B5EF4-FFF2-40B4-BE49-F238E27FC236}">
                    <a16:creationId xmlns:a16="http://schemas.microsoft.com/office/drawing/2014/main" id="{12F246ED-C0D2-414D-6C68-C7A343EA3D00}"/>
                  </a:ext>
                </a:extLst>
              </p:cNvPr>
              <p:cNvSpPr/>
              <p:nvPr/>
            </p:nvSpPr>
            <p:spPr>
              <a:xfrm>
                <a:off x="0" y="0"/>
                <a:ext cx="3247348" cy="455698"/>
              </a:xfrm>
              <a:prstGeom prst="roundRect">
                <a:avLst/>
              </a:prstGeom>
              <a:grpFill/>
              <a:ln w="38100" cap="sq">
                <a:solidFill>
                  <a:srgbClr val="F1F2F2"/>
                </a:solidFill>
                <a:prstDash val="solid"/>
                <a:miter/>
              </a:ln>
            </p:spPr>
          </p:sp>
          <p:sp>
            <p:nvSpPr>
              <p:cNvPr id="33" name="TextBox 12">
                <a:extLst>
                  <a:ext uri="{FF2B5EF4-FFF2-40B4-BE49-F238E27FC236}">
                    <a16:creationId xmlns:a16="http://schemas.microsoft.com/office/drawing/2014/main" id="{16B670DB-19F6-34B2-0553-69E7EDCB1378}"/>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31" name="TextBox 6">
              <a:extLst>
                <a:ext uri="{FF2B5EF4-FFF2-40B4-BE49-F238E27FC236}">
                  <a16:creationId xmlns:a16="http://schemas.microsoft.com/office/drawing/2014/main" id="{B8C724C1-AD11-F1AF-BD2F-C9B7F7CC8F7E}"/>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Pumps</a:t>
              </a:r>
            </a:p>
          </p:txBody>
        </p:sp>
      </p:grpSp>
      <p:grpSp>
        <p:nvGrpSpPr>
          <p:cNvPr id="53" name="Group 52">
            <a:extLst>
              <a:ext uri="{FF2B5EF4-FFF2-40B4-BE49-F238E27FC236}">
                <a16:creationId xmlns:a16="http://schemas.microsoft.com/office/drawing/2014/main" id="{9967253D-7F14-BDAA-EC63-CF9E897D981E}"/>
              </a:ext>
            </a:extLst>
          </p:cNvPr>
          <p:cNvGrpSpPr/>
          <p:nvPr/>
        </p:nvGrpSpPr>
        <p:grpSpPr>
          <a:xfrm>
            <a:off x="9551873" y="5624673"/>
            <a:ext cx="6019800" cy="880074"/>
            <a:chOff x="1295400" y="5558827"/>
            <a:chExt cx="6019800" cy="880074"/>
          </a:xfrm>
          <a:solidFill>
            <a:schemeClr val="bg1">
              <a:lumMod val="95000"/>
            </a:schemeClr>
          </a:solidFill>
        </p:grpSpPr>
        <p:grpSp>
          <p:nvGrpSpPr>
            <p:cNvPr id="54" name="Group 10">
              <a:extLst>
                <a:ext uri="{FF2B5EF4-FFF2-40B4-BE49-F238E27FC236}">
                  <a16:creationId xmlns:a16="http://schemas.microsoft.com/office/drawing/2014/main" id="{C96A262D-B635-2B46-8B25-B9A77B1CE23E}"/>
                </a:ext>
              </a:extLst>
            </p:cNvPr>
            <p:cNvGrpSpPr/>
            <p:nvPr/>
          </p:nvGrpSpPr>
          <p:grpSpPr>
            <a:xfrm>
              <a:off x="1295400" y="5558827"/>
              <a:ext cx="6019800" cy="880074"/>
              <a:chOff x="0" y="0"/>
              <a:chExt cx="3247348" cy="455698"/>
            </a:xfrm>
            <a:grpFill/>
          </p:grpSpPr>
          <p:sp>
            <p:nvSpPr>
              <p:cNvPr id="56" name="Freeform 11">
                <a:extLst>
                  <a:ext uri="{FF2B5EF4-FFF2-40B4-BE49-F238E27FC236}">
                    <a16:creationId xmlns:a16="http://schemas.microsoft.com/office/drawing/2014/main" id="{85910207-729B-9081-4FAE-94431A1F9AB9}"/>
                  </a:ext>
                </a:extLst>
              </p:cNvPr>
              <p:cNvSpPr/>
              <p:nvPr/>
            </p:nvSpPr>
            <p:spPr>
              <a:xfrm>
                <a:off x="0" y="0"/>
                <a:ext cx="3247348" cy="455698"/>
              </a:xfrm>
              <a:prstGeom prst="roundRect">
                <a:avLst/>
              </a:prstGeom>
              <a:grpFill/>
              <a:ln w="38100" cap="sq">
                <a:solidFill>
                  <a:srgbClr val="F1F2F2"/>
                </a:solidFill>
                <a:prstDash val="solid"/>
                <a:miter/>
              </a:ln>
            </p:spPr>
          </p:sp>
          <p:sp>
            <p:nvSpPr>
              <p:cNvPr id="57" name="TextBox 12">
                <a:extLst>
                  <a:ext uri="{FF2B5EF4-FFF2-40B4-BE49-F238E27FC236}">
                    <a16:creationId xmlns:a16="http://schemas.microsoft.com/office/drawing/2014/main" id="{4CC839D5-985A-6F63-968C-77E150D2A82E}"/>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55" name="TextBox 5">
              <a:extLst>
                <a:ext uri="{FF2B5EF4-FFF2-40B4-BE49-F238E27FC236}">
                  <a16:creationId xmlns:a16="http://schemas.microsoft.com/office/drawing/2014/main" id="{EA2A5B0E-6A24-FAC6-F72D-64416C891FC8}"/>
                </a:ext>
              </a:extLst>
            </p:cNvPr>
            <p:cNvSpPr txBox="1"/>
            <p:nvPr/>
          </p:nvSpPr>
          <p:spPr>
            <a:xfrm>
              <a:off x="2051882" y="5651100"/>
              <a:ext cx="4580058" cy="541751"/>
            </a:xfrm>
            <a:prstGeom prst="rect">
              <a:avLst/>
            </a:prstGeom>
            <a:grpFill/>
          </p:spPr>
          <p:txBody>
            <a:bodyPr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Open Channel</a:t>
              </a:r>
            </a:p>
          </p:txBody>
        </p:sp>
      </p:grpSp>
      <p:grpSp>
        <p:nvGrpSpPr>
          <p:cNvPr id="58" name="Group 57">
            <a:extLst>
              <a:ext uri="{FF2B5EF4-FFF2-40B4-BE49-F238E27FC236}">
                <a16:creationId xmlns:a16="http://schemas.microsoft.com/office/drawing/2014/main" id="{BD0D2DA2-D2E3-EBF0-8A71-011371FEA52E}"/>
              </a:ext>
            </a:extLst>
          </p:cNvPr>
          <p:cNvGrpSpPr/>
          <p:nvPr/>
        </p:nvGrpSpPr>
        <p:grpSpPr>
          <a:xfrm>
            <a:off x="9551873" y="6765162"/>
            <a:ext cx="6019800" cy="880074"/>
            <a:chOff x="1295400" y="6709252"/>
            <a:chExt cx="6019800" cy="880074"/>
          </a:xfrm>
          <a:solidFill>
            <a:schemeClr val="bg1">
              <a:lumMod val="95000"/>
            </a:schemeClr>
          </a:solidFill>
        </p:grpSpPr>
        <p:grpSp>
          <p:nvGrpSpPr>
            <p:cNvPr id="59" name="Group 10">
              <a:extLst>
                <a:ext uri="{FF2B5EF4-FFF2-40B4-BE49-F238E27FC236}">
                  <a16:creationId xmlns:a16="http://schemas.microsoft.com/office/drawing/2014/main" id="{5030653E-C8DF-74DE-5FDE-9A969B0137B8}"/>
                </a:ext>
              </a:extLst>
            </p:cNvPr>
            <p:cNvGrpSpPr/>
            <p:nvPr/>
          </p:nvGrpSpPr>
          <p:grpSpPr>
            <a:xfrm>
              <a:off x="1295400" y="6709252"/>
              <a:ext cx="6019800" cy="880074"/>
              <a:chOff x="0" y="0"/>
              <a:chExt cx="3247348" cy="455698"/>
            </a:xfrm>
            <a:grpFill/>
          </p:grpSpPr>
          <p:sp>
            <p:nvSpPr>
              <p:cNvPr id="61" name="Freeform 11">
                <a:extLst>
                  <a:ext uri="{FF2B5EF4-FFF2-40B4-BE49-F238E27FC236}">
                    <a16:creationId xmlns:a16="http://schemas.microsoft.com/office/drawing/2014/main" id="{E1BAF6D3-DCFA-CF25-1FAD-147AD4C69B55}"/>
                  </a:ext>
                </a:extLst>
              </p:cNvPr>
              <p:cNvSpPr/>
              <p:nvPr/>
            </p:nvSpPr>
            <p:spPr>
              <a:xfrm>
                <a:off x="0" y="0"/>
                <a:ext cx="3247348" cy="455698"/>
              </a:xfrm>
              <a:prstGeom prst="roundRect">
                <a:avLst/>
              </a:prstGeom>
              <a:grpFill/>
              <a:ln w="38100" cap="sq">
                <a:solidFill>
                  <a:srgbClr val="F1F2F2"/>
                </a:solidFill>
                <a:prstDash val="solid"/>
                <a:miter/>
              </a:ln>
            </p:spPr>
          </p:sp>
          <p:sp>
            <p:nvSpPr>
              <p:cNvPr id="62" name="TextBox 12">
                <a:extLst>
                  <a:ext uri="{FF2B5EF4-FFF2-40B4-BE49-F238E27FC236}">
                    <a16:creationId xmlns:a16="http://schemas.microsoft.com/office/drawing/2014/main" id="{441E1205-2DF0-3FEE-602C-4768B34C0561}"/>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60" name="TextBox 6">
              <a:extLst>
                <a:ext uri="{FF2B5EF4-FFF2-40B4-BE49-F238E27FC236}">
                  <a16:creationId xmlns:a16="http://schemas.microsoft.com/office/drawing/2014/main" id="{FDB9BA84-1EDB-A3D1-698F-5FE4357ECC51}"/>
                </a:ext>
              </a:extLst>
            </p:cNvPr>
            <p:cNvSpPr txBox="1"/>
            <p:nvPr/>
          </p:nvSpPr>
          <p:spPr>
            <a:xfrm>
              <a:off x="1634797" y="6846154"/>
              <a:ext cx="5414229" cy="528478"/>
            </a:xfrm>
            <a:prstGeom prst="rect">
              <a:avLst/>
            </a:prstGeom>
            <a:grpFill/>
          </p:spPr>
          <p:txBody>
            <a:bodyPr wrap="square" lIns="0" tIns="0" rIns="0" bIns="0" rtlCol="0" anchor="t">
              <a:spAutoFit/>
            </a:bodyPr>
            <a:lstStyle/>
            <a:p>
              <a:pPr algn="ctr">
                <a:lnSpc>
                  <a:spcPts val="4620"/>
                </a:lnSpc>
              </a:pPr>
              <a:r>
                <a:rPr lang="en-US" sz="2600" b="1" dirty="0">
                  <a:solidFill>
                    <a:schemeClr val="bg1">
                      <a:lumMod val="85000"/>
                    </a:schemeClr>
                  </a:solidFill>
                  <a:latin typeface="Canva Sans"/>
                  <a:ea typeface="Canva Sans"/>
                  <a:cs typeface="Canva Sans"/>
                  <a:sym typeface="Canva Sans"/>
                </a:rPr>
                <a:t>Pressurized Irrigation Systems</a:t>
              </a:r>
            </a:p>
          </p:txBody>
        </p:sp>
      </p:grpSp>
    </p:spTree>
    <p:extLst>
      <p:ext uri="{BB962C8B-B14F-4D97-AF65-F5344CB8AC3E}">
        <p14:creationId xmlns:p14="http://schemas.microsoft.com/office/powerpoint/2010/main" val="5974331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569BF-946F-2EEC-238F-381D813FEEEB}"/>
            </a:ext>
          </a:extLst>
        </p:cNvPr>
        <p:cNvGrpSpPr/>
        <p:nvPr/>
      </p:nvGrpSpPr>
      <p:grpSpPr>
        <a:xfrm>
          <a:off x="0" y="0"/>
          <a:ext cx="0" cy="0"/>
          <a:chOff x="0" y="0"/>
          <a:chExt cx="0" cy="0"/>
        </a:xfrm>
      </p:grpSpPr>
      <p:sp>
        <p:nvSpPr>
          <p:cNvPr id="2" name="Freeform 2" descr="Round Geometric Memphis Design">
            <a:extLst>
              <a:ext uri="{FF2B5EF4-FFF2-40B4-BE49-F238E27FC236}">
                <a16:creationId xmlns:a16="http://schemas.microsoft.com/office/drawing/2014/main" id="{CDE554A8-8CAD-9BF5-C573-D496B31002E8}"/>
              </a:ext>
            </a:extLst>
          </p:cNvPr>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Round Geometric Memphis Design">
            <a:extLst>
              <a:ext uri="{FF2B5EF4-FFF2-40B4-BE49-F238E27FC236}">
                <a16:creationId xmlns:a16="http://schemas.microsoft.com/office/drawing/2014/main" id="{EBFE8E77-2831-671C-81C8-51CA08531B61}"/>
              </a:ext>
            </a:extLst>
          </p:cNvPr>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2">
              <a:extLst>
                <a:ext uri="{96DAC541-7B7A-43D3-8B79-37D633B846F1}">
                  <asvg:svgBlip xmlns:asvg="http://schemas.microsoft.com/office/drawing/2016/SVG/main" r:embed="rId3"/>
                </a:ext>
              </a:extLst>
            </a:blip>
            <a:stretch>
              <a:fillRect t="-44892" r="-174700"/>
            </a:stretch>
          </a:blipFill>
        </p:spPr>
      </p:sp>
      <p:grpSp>
        <p:nvGrpSpPr>
          <p:cNvPr id="21" name="Group 20">
            <a:extLst>
              <a:ext uri="{FF2B5EF4-FFF2-40B4-BE49-F238E27FC236}">
                <a16:creationId xmlns:a16="http://schemas.microsoft.com/office/drawing/2014/main" id="{575C71F1-81B4-F5F6-402A-694422DEA4E6}"/>
              </a:ext>
            </a:extLst>
          </p:cNvPr>
          <p:cNvGrpSpPr/>
          <p:nvPr/>
        </p:nvGrpSpPr>
        <p:grpSpPr>
          <a:xfrm>
            <a:off x="-13431488" y="5624673"/>
            <a:ext cx="6019800" cy="880074"/>
            <a:chOff x="1295400" y="6709252"/>
            <a:chExt cx="6019800" cy="880074"/>
          </a:xfrm>
          <a:solidFill>
            <a:schemeClr val="bg1">
              <a:lumMod val="95000"/>
            </a:schemeClr>
          </a:solidFill>
        </p:grpSpPr>
        <p:grpSp>
          <p:nvGrpSpPr>
            <p:cNvPr id="18" name="Group 10">
              <a:extLst>
                <a:ext uri="{FF2B5EF4-FFF2-40B4-BE49-F238E27FC236}">
                  <a16:creationId xmlns:a16="http://schemas.microsoft.com/office/drawing/2014/main" id="{CF72EB79-C57F-9F39-89C8-0849C5F7D95F}"/>
                </a:ext>
              </a:extLst>
            </p:cNvPr>
            <p:cNvGrpSpPr/>
            <p:nvPr/>
          </p:nvGrpSpPr>
          <p:grpSpPr>
            <a:xfrm>
              <a:off x="1295400" y="6709252"/>
              <a:ext cx="6019800" cy="880074"/>
              <a:chOff x="0" y="0"/>
              <a:chExt cx="3247348" cy="455698"/>
            </a:xfrm>
            <a:grpFill/>
          </p:grpSpPr>
          <p:sp>
            <p:nvSpPr>
              <p:cNvPr id="19" name="Freeform 11">
                <a:extLst>
                  <a:ext uri="{FF2B5EF4-FFF2-40B4-BE49-F238E27FC236}">
                    <a16:creationId xmlns:a16="http://schemas.microsoft.com/office/drawing/2014/main" id="{E3FCF808-9BBB-A895-6D1E-872DC6E4291A}"/>
                  </a:ext>
                </a:extLst>
              </p:cNvPr>
              <p:cNvSpPr/>
              <p:nvPr/>
            </p:nvSpPr>
            <p:spPr>
              <a:xfrm>
                <a:off x="0" y="0"/>
                <a:ext cx="3247348" cy="455698"/>
              </a:xfrm>
              <a:prstGeom prst="roundRect">
                <a:avLst/>
              </a:prstGeom>
              <a:grpFill/>
              <a:ln w="38100" cap="sq">
                <a:solidFill>
                  <a:srgbClr val="F1F2F2"/>
                </a:solidFill>
                <a:prstDash val="solid"/>
                <a:miter/>
              </a:ln>
            </p:spPr>
          </p:sp>
          <p:sp>
            <p:nvSpPr>
              <p:cNvPr id="20" name="TextBox 12">
                <a:extLst>
                  <a:ext uri="{FF2B5EF4-FFF2-40B4-BE49-F238E27FC236}">
                    <a16:creationId xmlns:a16="http://schemas.microsoft.com/office/drawing/2014/main" id="{A4846B3B-1F84-298D-A8E0-AF17936E7905}"/>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6" name="TextBox 6">
              <a:extLst>
                <a:ext uri="{FF2B5EF4-FFF2-40B4-BE49-F238E27FC236}">
                  <a16:creationId xmlns:a16="http://schemas.microsoft.com/office/drawing/2014/main" id="{38FD6F29-E3E3-88AF-FC10-C34B18ADB41C}"/>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Fluid Mechanics</a:t>
              </a:r>
            </a:p>
          </p:txBody>
        </p:sp>
      </p:grpSp>
      <p:grpSp>
        <p:nvGrpSpPr>
          <p:cNvPr id="22" name="Group 21">
            <a:extLst>
              <a:ext uri="{FF2B5EF4-FFF2-40B4-BE49-F238E27FC236}">
                <a16:creationId xmlns:a16="http://schemas.microsoft.com/office/drawing/2014/main" id="{96E8D7EA-08DA-18D6-69A6-05EA2D239B98}"/>
              </a:ext>
            </a:extLst>
          </p:cNvPr>
          <p:cNvGrpSpPr/>
          <p:nvPr/>
        </p:nvGrpSpPr>
        <p:grpSpPr>
          <a:xfrm>
            <a:off x="-13431488" y="6770292"/>
            <a:ext cx="6019800" cy="880074"/>
            <a:chOff x="1295400" y="6709252"/>
            <a:chExt cx="6019800" cy="880074"/>
          </a:xfrm>
          <a:solidFill>
            <a:schemeClr val="bg1">
              <a:lumMod val="95000"/>
            </a:schemeClr>
          </a:solidFill>
        </p:grpSpPr>
        <p:grpSp>
          <p:nvGrpSpPr>
            <p:cNvPr id="23" name="Group 10">
              <a:extLst>
                <a:ext uri="{FF2B5EF4-FFF2-40B4-BE49-F238E27FC236}">
                  <a16:creationId xmlns:a16="http://schemas.microsoft.com/office/drawing/2014/main" id="{1E060395-39EE-D37F-5A81-73AF49E5F325}"/>
                </a:ext>
              </a:extLst>
            </p:cNvPr>
            <p:cNvGrpSpPr/>
            <p:nvPr/>
          </p:nvGrpSpPr>
          <p:grpSpPr>
            <a:xfrm>
              <a:off x="1295400" y="6709252"/>
              <a:ext cx="6019800" cy="880074"/>
              <a:chOff x="0" y="0"/>
              <a:chExt cx="3247348" cy="455698"/>
            </a:xfrm>
            <a:grpFill/>
          </p:grpSpPr>
          <p:sp>
            <p:nvSpPr>
              <p:cNvPr id="25" name="Freeform 11">
                <a:extLst>
                  <a:ext uri="{FF2B5EF4-FFF2-40B4-BE49-F238E27FC236}">
                    <a16:creationId xmlns:a16="http://schemas.microsoft.com/office/drawing/2014/main" id="{C9996E1D-A3ED-3D2F-708C-5C7F1B3FF0AF}"/>
                  </a:ext>
                </a:extLst>
              </p:cNvPr>
              <p:cNvSpPr/>
              <p:nvPr/>
            </p:nvSpPr>
            <p:spPr>
              <a:xfrm>
                <a:off x="0" y="0"/>
                <a:ext cx="3247348" cy="455698"/>
              </a:xfrm>
              <a:prstGeom prst="roundRect">
                <a:avLst/>
              </a:prstGeom>
              <a:grpFill/>
              <a:ln w="38100" cap="sq">
                <a:solidFill>
                  <a:srgbClr val="F1F2F2"/>
                </a:solidFill>
                <a:prstDash val="solid"/>
                <a:miter/>
              </a:ln>
            </p:spPr>
          </p:sp>
          <p:sp>
            <p:nvSpPr>
              <p:cNvPr id="26" name="TextBox 12">
                <a:extLst>
                  <a:ext uri="{FF2B5EF4-FFF2-40B4-BE49-F238E27FC236}">
                    <a16:creationId xmlns:a16="http://schemas.microsoft.com/office/drawing/2014/main" id="{CF20CE57-0755-C9DC-F0E5-9AA7FA7275E2}"/>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24" name="TextBox 6">
              <a:extLst>
                <a:ext uri="{FF2B5EF4-FFF2-40B4-BE49-F238E27FC236}">
                  <a16:creationId xmlns:a16="http://schemas.microsoft.com/office/drawing/2014/main" id="{CAE024ED-094F-4D07-B3CD-2E58AAE04531}"/>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Groundwater Hydrology</a:t>
              </a:r>
            </a:p>
          </p:txBody>
        </p:sp>
      </p:grpSp>
      <p:grpSp>
        <p:nvGrpSpPr>
          <p:cNvPr id="29" name="Group 28">
            <a:extLst>
              <a:ext uri="{FF2B5EF4-FFF2-40B4-BE49-F238E27FC236}">
                <a16:creationId xmlns:a16="http://schemas.microsoft.com/office/drawing/2014/main" id="{BC7B4C42-1D8E-AB27-F7CF-98C6E682E599}"/>
              </a:ext>
            </a:extLst>
          </p:cNvPr>
          <p:cNvGrpSpPr/>
          <p:nvPr/>
        </p:nvGrpSpPr>
        <p:grpSpPr>
          <a:xfrm>
            <a:off x="-6553200" y="4405473"/>
            <a:ext cx="6019800" cy="880074"/>
            <a:chOff x="1295400" y="6709252"/>
            <a:chExt cx="6019800" cy="880074"/>
          </a:xfrm>
          <a:solidFill>
            <a:schemeClr val="bg1">
              <a:lumMod val="95000"/>
            </a:schemeClr>
          </a:solidFill>
        </p:grpSpPr>
        <p:grpSp>
          <p:nvGrpSpPr>
            <p:cNvPr id="30" name="Group 10">
              <a:extLst>
                <a:ext uri="{FF2B5EF4-FFF2-40B4-BE49-F238E27FC236}">
                  <a16:creationId xmlns:a16="http://schemas.microsoft.com/office/drawing/2014/main" id="{33B596F5-3625-E104-BEF4-8176541F1136}"/>
                </a:ext>
              </a:extLst>
            </p:cNvPr>
            <p:cNvGrpSpPr/>
            <p:nvPr/>
          </p:nvGrpSpPr>
          <p:grpSpPr>
            <a:xfrm>
              <a:off x="1295400" y="6709252"/>
              <a:ext cx="6019800" cy="880074"/>
              <a:chOff x="0" y="0"/>
              <a:chExt cx="3247348" cy="455698"/>
            </a:xfrm>
            <a:grpFill/>
          </p:grpSpPr>
          <p:sp>
            <p:nvSpPr>
              <p:cNvPr id="32" name="Freeform 11">
                <a:extLst>
                  <a:ext uri="{FF2B5EF4-FFF2-40B4-BE49-F238E27FC236}">
                    <a16:creationId xmlns:a16="http://schemas.microsoft.com/office/drawing/2014/main" id="{B037E0A2-339A-591A-1AE4-031A58950064}"/>
                  </a:ext>
                </a:extLst>
              </p:cNvPr>
              <p:cNvSpPr/>
              <p:nvPr/>
            </p:nvSpPr>
            <p:spPr>
              <a:xfrm>
                <a:off x="0" y="0"/>
                <a:ext cx="3247348" cy="455698"/>
              </a:xfrm>
              <a:prstGeom prst="roundRect">
                <a:avLst/>
              </a:prstGeom>
              <a:grpFill/>
              <a:ln w="38100" cap="sq">
                <a:solidFill>
                  <a:srgbClr val="F1F2F2"/>
                </a:solidFill>
                <a:prstDash val="solid"/>
                <a:miter/>
              </a:ln>
            </p:spPr>
          </p:sp>
          <p:sp>
            <p:nvSpPr>
              <p:cNvPr id="33" name="TextBox 12">
                <a:extLst>
                  <a:ext uri="{FF2B5EF4-FFF2-40B4-BE49-F238E27FC236}">
                    <a16:creationId xmlns:a16="http://schemas.microsoft.com/office/drawing/2014/main" id="{674C3E7F-0B73-BD2D-028A-8D81CD419C7D}"/>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31" name="TextBox 6">
              <a:extLst>
                <a:ext uri="{FF2B5EF4-FFF2-40B4-BE49-F238E27FC236}">
                  <a16:creationId xmlns:a16="http://schemas.microsoft.com/office/drawing/2014/main" id="{054D7B65-C91D-C562-4360-26A74652E334}"/>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Pumps</a:t>
              </a:r>
            </a:p>
          </p:txBody>
        </p:sp>
      </p:grpSp>
      <p:grpSp>
        <p:nvGrpSpPr>
          <p:cNvPr id="53" name="Group 52">
            <a:extLst>
              <a:ext uri="{FF2B5EF4-FFF2-40B4-BE49-F238E27FC236}">
                <a16:creationId xmlns:a16="http://schemas.microsoft.com/office/drawing/2014/main" id="{50DCCCA6-9FCC-6917-80E2-CD9F61CDE4D8}"/>
              </a:ext>
            </a:extLst>
          </p:cNvPr>
          <p:cNvGrpSpPr/>
          <p:nvPr/>
        </p:nvGrpSpPr>
        <p:grpSpPr>
          <a:xfrm>
            <a:off x="-6553200" y="5624673"/>
            <a:ext cx="6019800" cy="880074"/>
            <a:chOff x="1295400" y="5558827"/>
            <a:chExt cx="6019800" cy="880074"/>
          </a:xfrm>
          <a:solidFill>
            <a:schemeClr val="bg1">
              <a:lumMod val="95000"/>
            </a:schemeClr>
          </a:solidFill>
        </p:grpSpPr>
        <p:grpSp>
          <p:nvGrpSpPr>
            <p:cNvPr id="54" name="Group 10">
              <a:extLst>
                <a:ext uri="{FF2B5EF4-FFF2-40B4-BE49-F238E27FC236}">
                  <a16:creationId xmlns:a16="http://schemas.microsoft.com/office/drawing/2014/main" id="{F7D34CDF-2141-1D27-EDDE-E86E0AC8CC0F}"/>
                </a:ext>
              </a:extLst>
            </p:cNvPr>
            <p:cNvGrpSpPr/>
            <p:nvPr/>
          </p:nvGrpSpPr>
          <p:grpSpPr>
            <a:xfrm>
              <a:off x="1295400" y="5558827"/>
              <a:ext cx="6019800" cy="880074"/>
              <a:chOff x="0" y="0"/>
              <a:chExt cx="3247348" cy="455698"/>
            </a:xfrm>
            <a:grpFill/>
          </p:grpSpPr>
          <p:sp>
            <p:nvSpPr>
              <p:cNvPr id="56" name="Freeform 11">
                <a:extLst>
                  <a:ext uri="{FF2B5EF4-FFF2-40B4-BE49-F238E27FC236}">
                    <a16:creationId xmlns:a16="http://schemas.microsoft.com/office/drawing/2014/main" id="{C6495A40-4FEA-0BD1-D5EE-C9DA513E5F26}"/>
                  </a:ext>
                </a:extLst>
              </p:cNvPr>
              <p:cNvSpPr/>
              <p:nvPr/>
            </p:nvSpPr>
            <p:spPr>
              <a:xfrm>
                <a:off x="0" y="0"/>
                <a:ext cx="3247348" cy="455698"/>
              </a:xfrm>
              <a:prstGeom prst="roundRect">
                <a:avLst/>
              </a:prstGeom>
              <a:grpFill/>
              <a:ln w="38100" cap="sq">
                <a:solidFill>
                  <a:srgbClr val="F1F2F2"/>
                </a:solidFill>
                <a:prstDash val="solid"/>
                <a:miter/>
              </a:ln>
            </p:spPr>
          </p:sp>
          <p:sp>
            <p:nvSpPr>
              <p:cNvPr id="57" name="TextBox 12">
                <a:extLst>
                  <a:ext uri="{FF2B5EF4-FFF2-40B4-BE49-F238E27FC236}">
                    <a16:creationId xmlns:a16="http://schemas.microsoft.com/office/drawing/2014/main" id="{EF9FC040-7657-F16A-F4CA-24FA1AC4A456}"/>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55" name="TextBox 5">
              <a:extLst>
                <a:ext uri="{FF2B5EF4-FFF2-40B4-BE49-F238E27FC236}">
                  <a16:creationId xmlns:a16="http://schemas.microsoft.com/office/drawing/2014/main" id="{FFAB064A-C0C7-1DFC-4982-FAEC70423BA1}"/>
                </a:ext>
              </a:extLst>
            </p:cNvPr>
            <p:cNvSpPr txBox="1"/>
            <p:nvPr/>
          </p:nvSpPr>
          <p:spPr>
            <a:xfrm>
              <a:off x="2051882" y="5651100"/>
              <a:ext cx="4580058" cy="541751"/>
            </a:xfrm>
            <a:prstGeom prst="rect">
              <a:avLst/>
            </a:prstGeom>
            <a:grpFill/>
          </p:spPr>
          <p:txBody>
            <a:bodyPr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Open Channel</a:t>
              </a:r>
            </a:p>
          </p:txBody>
        </p:sp>
      </p:grpSp>
      <p:grpSp>
        <p:nvGrpSpPr>
          <p:cNvPr id="58" name="Group 57">
            <a:extLst>
              <a:ext uri="{FF2B5EF4-FFF2-40B4-BE49-F238E27FC236}">
                <a16:creationId xmlns:a16="http://schemas.microsoft.com/office/drawing/2014/main" id="{CBB4EB4E-059F-3B29-A3D1-9F2C1841B126}"/>
              </a:ext>
            </a:extLst>
          </p:cNvPr>
          <p:cNvGrpSpPr/>
          <p:nvPr/>
        </p:nvGrpSpPr>
        <p:grpSpPr>
          <a:xfrm>
            <a:off x="-6553200" y="6765162"/>
            <a:ext cx="6019800" cy="880074"/>
            <a:chOff x="1295400" y="6709252"/>
            <a:chExt cx="6019800" cy="880074"/>
          </a:xfrm>
          <a:solidFill>
            <a:schemeClr val="bg1">
              <a:lumMod val="95000"/>
            </a:schemeClr>
          </a:solidFill>
        </p:grpSpPr>
        <p:grpSp>
          <p:nvGrpSpPr>
            <p:cNvPr id="59" name="Group 10">
              <a:extLst>
                <a:ext uri="{FF2B5EF4-FFF2-40B4-BE49-F238E27FC236}">
                  <a16:creationId xmlns:a16="http://schemas.microsoft.com/office/drawing/2014/main" id="{E5844A60-BF6B-5984-8286-799258B78E95}"/>
                </a:ext>
              </a:extLst>
            </p:cNvPr>
            <p:cNvGrpSpPr/>
            <p:nvPr/>
          </p:nvGrpSpPr>
          <p:grpSpPr>
            <a:xfrm>
              <a:off x="1295400" y="6709252"/>
              <a:ext cx="6019800" cy="880074"/>
              <a:chOff x="0" y="0"/>
              <a:chExt cx="3247348" cy="455698"/>
            </a:xfrm>
            <a:grpFill/>
          </p:grpSpPr>
          <p:sp>
            <p:nvSpPr>
              <p:cNvPr id="61" name="Freeform 11">
                <a:extLst>
                  <a:ext uri="{FF2B5EF4-FFF2-40B4-BE49-F238E27FC236}">
                    <a16:creationId xmlns:a16="http://schemas.microsoft.com/office/drawing/2014/main" id="{1D15A056-2BA3-1884-7072-B4DDB1BAE87C}"/>
                  </a:ext>
                </a:extLst>
              </p:cNvPr>
              <p:cNvSpPr/>
              <p:nvPr/>
            </p:nvSpPr>
            <p:spPr>
              <a:xfrm>
                <a:off x="0" y="0"/>
                <a:ext cx="3247348" cy="455698"/>
              </a:xfrm>
              <a:prstGeom prst="roundRect">
                <a:avLst/>
              </a:prstGeom>
              <a:grpFill/>
              <a:ln w="38100" cap="sq">
                <a:solidFill>
                  <a:srgbClr val="F1F2F2"/>
                </a:solidFill>
                <a:prstDash val="solid"/>
                <a:miter/>
              </a:ln>
            </p:spPr>
          </p:sp>
          <p:sp>
            <p:nvSpPr>
              <p:cNvPr id="62" name="TextBox 12">
                <a:extLst>
                  <a:ext uri="{FF2B5EF4-FFF2-40B4-BE49-F238E27FC236}">
                    <a16:creationId xmlns:a16="http://schemas.microsoft.com/office/drawing/2014/main" id="{FC2DF1C1-F532-2F45-A7D5-CB6EB7A3AA1E}"/>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60" name="TextBox 6">
              <a:extLst>
                <a:ext uri="{FF2B5EF4-FFF2-40B4-BE49-F238E27FC236}">
                  <a16:creationId xmlns:a16="http://schemas.microsoft.com/office/drawing/2014/main" id="{B166FF05-43C6-1784-2040-33D41428CC78}"/>
                </a:ext>
              </a:extLst>
            </p:cNvPr>
            <p:cNvSpPr txBox="1"/>
            <p:nvPr/>
          </p:nvSpPr>
          <p:spPr>
            <a:xfrm>
              <a:off x="1634797" y="6846154"/>
              <a:ext cx="5414229" cy="528478"/>
            </a:xfrm>
            <a:prstGeom prst="rect">
              <a:avLst/>
            </a:prstGeom>
            <a:grpFill/>
          </p:spPr>
          <p:txBody>
            <a:bodyPr wrap="square" lIns="0" tIns="0" rIns="0" bIns="0" rtlCol="0" anchor="t">
              <a:spAutoFit/>
            </a:bodyPr>
            <a:lstStyle/>
            <a:p>
              <a:pPr algn="ctr">
                <a:lnSpc>
                  <a:spcPts val="4620"/>
                </a:lnSpc>
              </a:pPr>
              <a:r>
                <a:rPr lang="en-US" sz="2600" b="1" dirty="0">
                  <a:solidFill>
                    <a:schemeClr val="bg1">
                      <a:lumMod val="85000"/>
                    </a:schemeClr>
                  </a:solidFill>
                  <a:latin typeface="Canva Sans"/>
                  <a:ea typeface="Canva Sans"/>
                  <a:cs typeface="Canva Sans"/>
                  <a:sym typeface="Canva Sans"/>
                </a:rPr>
                <a:t>Pressurized Irrigation Systems</a:t>
              </a:r>
            </a:p>
          </p:txBody>
        </p:sp>
      </p:grpSp>
      <p:grpSp>
        <p:nvGrpSpPr>
          <p:cNvPr id="7" name="Group 6">
            <a:extLst>
              <a:ext uri="{FF2B5EF4-FFF2-40B4-BE49-F238E27FC236}">
                <a16:creationId xmlns:a16="http://schemas.microsoft.com/office/drawing/2014/main" id="{61A92ADE-1930-9BB8-1BE6-FF758DED25CC}"/>
              </a:ext>
            </a:extLst>
          </p:cNvPr>
          <p:cNvGrpSpPr/>
          <p:nvPr/>
        </p:nvGrpSpPr>
        <p:grpSpPr>
          <a:xfrm>
            <a:off x="2673585" y="4405473"/>
            <a:ext cx="12890728" cy="1884580"/>
            <a:chOff x="1295400" y="5558827"/>
            <a:chExt cx="6019800" cy="880074"/>
          </a:xfrm>
        </p:grpSpPr>
        <p:grpSp>
          <p:nvGrpSpPr>
            <p:cNvPr id="8" name="Group 10">
              <a:extLst>
                <a:ext uri="{FF2B5EF4-FFF2-40B4-BE49-F238E27FC236}">
                  <a16:creationId xmlns:a16="http://schemas.microsoft.com/office/drawing/2014/main" id="{CED1B180-8E89-18C0-B8B4-1D42CF536242}"/>
                </a:ext>
              </a:extLst>
            </p:cNvPr>
            <p:cNvGrpSpPr/>
            <p:nvPr/>
          </p:nvGrpSpPr>
          <p:grpSpPr>
            <a:xfrm>
              <a:off x="1295400" y="5558827"/>
              <a:ext cx="6019800" cy="880074"/>
              <a:chOff x="0" y="0"/>
              <a:chExt cx="3247348" cy="455698"/>
            </a:xfrm>
          </p:grpSpPr>
          <p:sp>
            <p:nvSpPr>
              <p:cNvPr id="10" name="Freeform 11">
                <a:extLst>
                  <a:ext uri="{FF2B5EF4-FFF2-40B4-BE49-F238E27FC236}">
                    <a16:creationId xmlns:a16="http://schemas.microsoft.com/office/drawing/2014/main" id="{E0272D9B-459A-095A-2D3F-82EF8643FFC2}"/>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11" name="TextBox 12">
                <a:extLst>
                  <a:ext uri="{FF2B5EF4-FFF2-40B4-BE49-F238E27FC236}">
                    <a16:creationId xmlns:a16="http://schemas.microsoft.com/office/drawing/2014/main" id="{EABB9418-F112-B737-6FB1-93E3130C2860}"/>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lang="en-PH" sz="4800" dirty="0"/>
              </a:p>
            </p:txBody>
          </p:sp>
        </p:grpSp>
        <p:sp>
          <p:nvSpPr>
            <p:cNvPr id="9" name="TextBox 5">
              <a:extLst>
                <a:ext uri="{FF2B5EF4-FFF2-40B4-BE49-F238E27FC236}">
                  <a16:creationId xmlns:a16="http://schemas.microsoft.com/office/drawing/2014/main" id="{EA79812D-45E0-8456-3C08-D5D5EE83AEC0}"/>
                </a:ext>
              </a:extLst>
            </p:cNvPr>
            <p:cNvSpPr txBox="1"/>
            <p:nvPr/>
          </p:nvSpPr>
          <p:spPr>
            <a:xfrm>
              <a:off x="2015271" y="5984481"/>
              <a:ext cx="4580058" cy="364709"/>
            </a:xfrm>
            <a:prstGeom prst="rect">
              <a:avLst/>
            </a:prstGeom>
          </p:spPr>
          <p:txBody>
            <a:bodyPr lIns="0" tIns="0" rIns="0" bIns="0" rtlCol="0" anchor="t">
              <a:spAutoFit/>
            </a:bodyPr>
            <a:lstStyle/>
            <a:p>
              <a:pPr algn="ctr">
                <a:lnSpc>
                  <a:spcPts val="4620"/>
                </a:lnSpc>
              </a:pPr>
              <a:r>
                <a:rPr lang="en-US" sz="8800" b="1" dirty="0">
                  <a:solidFill>
                    <a:srgbClr val="000000"/>
                  </a:solidFill>
                  <a:latin typeface="Nunito 1 Bold" panose="020B0604020202020204" charset="0"/>
                  <a:ea typeface="Canva Sans"/>
                  <a:cs typeface="Canva Sans"/>
                  <a:sym typeface="Canva Sans"/>
                </a:rPr>
                <a:t>SURVEYING</a:t>
              </a:r>
            </a:p>
          </p:txBody>
        </p:sp>
      </p:grpSp>
    </p:spTree>
    <p:extLst>
      <p:ext uri="{BB962C8B-B14F-4D97-AF65-F5344CB8AC3E}">
        <p14:creationId xmlns:p14="http://schemas.microsoft.com/office/powerpoint/2010/main" val="20385009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p:cNvGrpSpPr/>
          <p:nvPr/>
        </p:nvGrpSpPr>
        <p:grpSpPr>
          <a:xfrm>
            <a:off x="1028700" y="1233888"/>
            <a:ext cx="16230600" cy="7447557"/>
            <a:chOff x="0" y="0"/>
            <a:chExt cx="4274726" cy="1718953"/>
          </a:xfrm>
        </p:grpSpPr>
        <p:sp>
          <p:nvSpPr>
            <p:cNvPr id="6" name="Freeform 6"/>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a:t>
            </a:r>
          </a:p>
        </p:txBody>
      </p:sp>
      <p:sp>
        <p:nvSpPr>
          <p:cNvPr id="15" name="TextBox 15"/>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Which of the following is NOT a definition of “surveying”?</a:t>
            </a:r>
          </a:p>
        </p:txBody>
      </p:sp>
      <p:grpSp>
        <p:nvGrpSpPr>
          <p:cNvPr id="16" name="Group 15">
            <a:extLst>
              <a:ext uri="{FF2B5EF4-FFF2-40B4-BE49-F238E27FC236}">
                <a16:creationId xmlns:a16="http://schemas.microsoft.com/office/drawing/2014/main" id="{AB0FE0EB-8DF0-1A03-6B11-299775C18934}"/>
              </a:ext>
            </a:extLst>
          </p:cNvPr>
          <p:cNvGrpSpPr/>
          <p:nvPr/>
        </p:nvGrpSpPr>
        <p:grpSpPr>
          <a:xfrm>
            <a:off x="0" y="9599693"/>
            <a:ext cx="18287999" cy="687306"/>
            <a:chOff x="0" y="9599693"/>
            <a:chExt cx="18287999" cy="687306"/>
          </a:xfrm>
        </p:grpSpPr>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5539978"/>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Delineation of a portion of the earth’s surface or subsurface or of establishing the position or boundaries of some object upon it.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Determining the positions of points on or near the earth's surface by means of measurements in the three elements of space.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Art of measuring horizontal and vertical distances between objects, of measuring angles between lines, of determining the direction of lines, and of establishing points by predetermined angular and linear measurements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Art of making such measurements of the relative positions of points on the surface of the earth that, on drawing them to scale, natural and artificial features may be exhibited in their correct horizontal or vertical relationships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NOTA</a:t>
            </a:r>
          </a:p>
        </p:txBody>
      </p:sp>
      <p:sp>
        <p:nvSpPr>
          <p:cNvPr id="22" name="Oval 21">
            <a:extLst>
              <a:ext uri="{FF2B5EF4-FFF2-40B4-BE49-F238E27FC236}">
                <a16:creationId xmlns:a16="http://schemas.microsoft.com/office/drawing/2014/main" id="{C16DF3DE-3062-D00D-FC1F-F2CCEDA706F7}"/>
              </a:ext>
            </a:extLst>
          </p:cNvPr>
          <p:cNvSpPr/>
          <p:nvPr/>
        </p:nvSpPr>
        <p:spPr>
          <a:xfrm>
            <a:off x="1524000" y="798144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E4B25-7058-99EA-4F0F-CA1EE9357EB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CF83101-AE10-015B-19AD-AA8A161B246A}"/>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D1B38FB6-7CD9-133D-D8FA-EB086938BFAD}"/>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AF39CF68-B62D-7366-F56E-AB1858E12525}"/>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6BAFF4BB-909F-40AD-7A86-F804CD482775}"/>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5AED027C-637A-5372-5049-57659C6911CB}"/>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4A77931B-04A3-C008-327E-9A0662C0C711}"/>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A5B1CFD5-9E8A-0AE5-8562-8529F84D45E0}"/>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7E60D571-3EEF-7574-1F5E-E48BA28B132F}"/>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D3C9304-8C42-5574-950C-BF94C97C96E3}"/>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05296AB5-03AE-CC6A-1B07-66994E48F971}"/>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96574356-4AD5-A8BF-905F-2366B203970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C165C4B6-2FF1-C7DE-13DD-C8229491ADB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E8B5A07D-0DB0-DBDF-D3FA-841EFE995E9E}"/>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a:t>
            </a:r>
          </a:p>
        </p:txBody>
      </p:sp>
      <p:sp>
        <p:nvSpPr>
          <p:cNvPr id="15" name="TextBox 15">
            <a:extLst>
              <a:ext uri="{FF2B5EF4-FFF2-40B4-BE49-F238E27FC236}">
                <a16:creationId xmlns:a16="http://schemas.microsoft.com/office/drawing/2014/main" id="{3E83D0A8-7D66-28A3-5CA1-B0E1BAB6EBDE}"/>
              </a:ext>
            </a:extLst>
          </p:cNvPr>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Which of the following is NOT a definition of “surveying”?</a:t>
            </a:r>
          </a:p>
        </p:txBody>
      </p:sp>
      <p:sp>
        <p:nvSpPr>
          <p:cNvPr id="19" name="TextBox 12">
            <a:extLst>
              <a:ext uri="{FF2B5EF4-FFF2-40B4-BE49-F238E27FC236}">
                <a16:creationId xmlns:a16="http://schemas.microsoft.com/office/drawing/2014/main" id="{85038C4B-AFD1-C741-F374-E4125E55953D}"/>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4F878EFB-D384-4AFC-D6EF-E96FBCEE4EBC}"/>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3F7FEFCC-7CBF-2828-095C-ED033C93B184}"/>
              </a:ext>
            </a:extLst>
          </p:cNvPr>
          <p:cNvSpPr txBox="1"/>
          <p:nvPr/>
        </p:nvSpPr>
        <p:spPr>
          <a:xfrm>
            <a:off x="1676400" y="2941299"/>
            <a:ext cx="14935200" cy="5539978"/>
          </a:xfrm>
          <a:prstGeom prst="rect">
            <a:avLst/>
          </a:prstGeom>
        </p:spPr>
        <p:txBody>
          <a:bodyPr wrap="square" lIns="0" tIns="0" rIns="0" bIns="0" rtlCol="0" anchor="t">
            <a:spAutoFit/>
          </a:bodyPr>
          <a:lstStyle/>
          <a:p>
            <a:pPr marL="514350" indent="-514350" algn="just">
              <a:buFont typeface="+mj-lt"/>
              <a:buAutoNum type="alphaLcPeriod"/>
            </a:pPr>
            <a:r>
              <a:rPr lang="en-US" sz="2400" u="sng" dirty="0">
                <a:solidFill>
                  <a:srgbClr val="000000"/>
                </a:solidFill>
                <a:latin typeface="Nunito 1" panose="020B0604020202020204" charset="0"/>
                <a:ea typeface="Nunito 1 Bold"/>
                <a:cs typeface="Nunito 1 Bold"/>
                <a:sym typeface="Nunito 1 Bold"/>
              </a:rPr>
              <a:t>Delineation of a portion of the earth’s surface or subsurface </a:t>
            </a:r>
            <a:r>
              <a:rPr lang="en-US" sz="2400" dirty="0">
                <a:solidFill>
                  <a:srgbClr val="000000"/>
                </a:solidFill>
                <a:latin typeface="Nunito 1" panose="020B0604020202020204" charset="0"/>
                <a:ea typeface="Nunito 1 Bold"/>
                <a:cs typeface="Nunito 1 Bold"/>
                <a:sym typeface="Nunito 1 Bold"/>
              </a:rPr>
              <a:t>or of establishing the position or boundaries of some object upon it.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Determining the positions of points on or near the earth's surface by means of measurements in the </a:t>
            </a:r>
            <a:r>
              <a:rPr lang="en-US" sz="2400" u="sng" dirty="0">
                <a:solidFill>
                  <a:srgbClr val="000000"/>
                </a:solidFill>
                <a:latin typeface="Nunito 1" panose="020B0604020202020204" charset="0"/>
                <a:ea typeface="Nunito 1 Bold"/>
                <a:cs typeface="Nunito 1 Bold"/>
                <a:sym typeface="Nunito 1 Bold"/>
              </a:rPr>
              <a:t>three elements of space</a:t>
            </a:r>
            <a:r>
              <a:rPr lang="en-US" sz="2400" dirty="0">
                <a:solidFill>
                  <a:srgbClr val="000000"/>
                </a:solidFill>
                <a:latin typeface="Nunito 1" panose="020B0604020202020204" charset="0"/>
                <a:ea typeface="Nunito 1 Bold"/>
                <a:cs typeface="Nunito 1 Bold"/>
                <a:sym typeface="Nunito 1 Bold"/>
              </a:rPr>
              <a:t>.</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Art of measuring horizontal and vertical distances between objects, of measuring angles between lines, of determining the direction of lines, and of establishing points by predetermined </a:t>
            </a:r>
            <a:r>
              <a:rPr lang="en-US" sz="2400" u="sng" dirty="0">
                <a:solidFill>
                  <a:srgbClr val="000000"/>
                </a:solidFill>
                <a:latin typeface="Nunito 1" panose="020B0604020202020204" charset="0"/>
                <a:ea typeface="Nunito 1 Bold"/>
                <a:cs typeface="Nunito 1 Bold"/>
                <a:sym typeface="Nunito 1 Bold"/>
              </a:rPr>
              <a:t>angular and linear measurements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Art of making such measurements of the relative positions of points on the surface of the earth that, on drawing them to scale, natural and artificial features may be exhibited in their correct horizontal or vertical relationships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NOTA</a:t>
            </a:r>
          </a:p>
        </p:txBody>
      </p:sp>
      <p:grpSp>
        <p:nvGrpSpPr>
          <p:cNvPr id="23" name="Group 5">
            <a:extLst>
              <a:ext uri="{FF2B5EF4-FFF2-40B4-BE49-F238E27FC236}">
                <a16:creationId xmlns:a16="http://schemas.microsoft.com/office/drawing/2014/main" id="{035F5516-42A2-D0DB-6FD2-C91820674FE2}"/>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B2F61FAE-C5C2-7EED-DBC2-97E15AF3D895}"/>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92FE3521-4F50-8BC9-6BE5-F70E70F9656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1D662E87-1739-7098-0BB7-CFA835B69135}"/>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16" name="Group 15">
            <a:extLst>
              <a:ext uri="{FF2B5EF4-FFF2-40B4-BE49-F238E27FC236}">
                <a16:creationId xmlns:a16="http://schemas.microsoft.com/office/drawing/2014/main" id="{2B783E71-49FE-13F2-3A8C-D7C46B584A66}"/>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22349BA2-2910-DF2D-8270-3A1C17645C90}"/>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FBDDE71A-BB5D-9C46-2092-E8388383898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8" name="TextBox 13">
                <a:extLst>
                  <a:ext uri="{FF2B5EF4-FFF2-40B4-BE49-F238E27FC236}">
                    <a16:creationId xmlns:a16="http://schemas.microsoft.com/office/drawing/2014/main" id="{153ECF15-BC2B-45F0-B576-248F362AE63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2">
              <a:extLst>
                <a:ext uri="{FF2B5EF4-FFF2-40B4-BE49-F238E27FC236}">
                  <a16:creationId xmlns:a16="http://schemas.microsoft.com/office/drawing/2014/main" id="{1150B318-52A1-D2B1-FB5B-E3A6337F318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201D0599-7415-C8AF-9BE0-C899BEBE668D}"/>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9033285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p:cNvGrpSpPr/>
          <p:nvPr/>
        </p:nvGrpSpPr>
        <p:grpSpPr>
          <a:xfrm>
            <a:off x="1028700" y="1233888"/>
            <a:ext cx="16230600" cy="7447557"/>
            <a:chOff x="0" y="0"/>
            <a:chExt cx="4274726" cy="1718953"/>
          </a:xfrm>
        </p:grpSpPr>
        <p:sp>
          <p:nvSpPr>
            <p:cNvPr id="6" name="Freeform 6"/>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2</a:t>
            </a:r>
          </a:p>
        </p:txBody>
      </p:sp>
      <p:sp>
        <p:nvSpPr>
          <p:cNvPr id="15" name="TextBox 15"/>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Which of the following is true about surveying?</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3693319"/>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It includes the determination of both linear and angular measurements to establish the form, extent, and relative position of points, lines, and areas only on the surface of the earth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It includes the determination of linear measurements to establish the form, extent, and relative position of points, lines, and areas on the surface of the earth or on other extraterrestrial bodies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It includes the determination of both linear and angular measurements to establish the form, extent, and relative position of points, lines, and areas on the surface of the earth or on other extraterrestrial bodies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NOTA</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16" name="Group 15">
            <a:extLst>
              <a:ext uri="{FF2B5EF4-FFF2-40B4-BE49-F238E27FC236}">
                <a16:creationId xmlns:a16="http://schemas.microsoft.com/office/drawing/2014/main" id="{D980E8E6-51B3-E19D-0921-34EF7F8AEC33}"/>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5A34D524-A2E9-14B6-7712-383FB3CE43E6}"/>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B83A627C-4E52-9E56-B230-16BF7997FFD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8" name="TextBox 13">
                <a:extLst>
                  <a:ext uri="{FF2B5EF4-FFF2-40B4-BE49-F238E27FC236}">
                    <a16:creationId xmlns:a16="http://schemas.microsoft.com/office/drawing/2014/main" id="{1FC1BD17-422A-FBDE-E10A-B0E5F4F0A54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2">
              <a:extLst>
                <a:ext uri="{FF2B5EF4-FFF2-40B4-BE49-F238E27FC236}">
                  <a16:creationId xmlns:a16="http://schemas.microsoft.com/office/drawing/2014/main" id="{729CAD5C-4CC4-D7FF-54BB-540A7C3B999F}"/>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E4B642C6-F259-3367-D1F9-E805B0716810}"/>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8218489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B9AB5-A920-5D2E-74D5-954ECD2CE27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92023A6-818D-95BB-D047-871A66B11077}"/>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A12B2CAB-F1F8-F3C8-C1F0-2AFDD5CD45E2}"/>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91575A7D-1647-2C08-3727-0EF38B9A358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5DBB385C-4177-8929-DC0A-F16D45A93351}"/>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91B42CF3-940F-944E-CED0-6D7EE6D4518C}"/>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C3A7DF64-7CE0-A13D-174D-A9E7D35B5AE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2B41EA62-747E-E3A5-4E75-794C0FAB65D0}"/>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7F58193-0D82-BCE3-3886-11E670FDBDFF}"/>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8D4BD4F-E4A5-7628-9B0E-C43306859DF7}"/>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E5461234-5FB1-9BF7-7017-5258D790A55F}"/>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1ED853BE-D2CF-AE35-E521-1F0F5BC2680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2CB6B48A-5AA8-F40E-56D7-68826119360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58C2B0A9-4E63-8EE5-94CE-F98E306DE997}"/>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2</a:t>
            </a:r>
          </a:p>
        </p:txBody>
      </p:sp>
      <p:sp>
        <p:nvSpPr>
          <p:cNvPr id="15" name="TextBox 15">
            <a:extLst>
              <a:ext uri="{FF2B5EF4-FFF2-40B4-BE49-F238E27FC236}">
                <a16:creationId xmlns:a16="http://schemas.microsoft.com/office/drawing/2014/main" id="{25274557-1EF2-62A0-59EF-2C2168967ED6}"/>
              </a:ext>
            </a:extLst>
          </p:cNvPr>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Which of the following is true about surveying?</a:t>
            </a:r>
          </a:p>
        </p:txBody>
      </p:sp>
      <p:sp>
        <p:nvSpPr>
          <p:cNvPr id="19" name="TextBox 12">
            <a:extLst>
              <a:ext uri="{FF2B5EF4-FFF2-40B4-BE49-F238E27FC236}">
                <a16:creationId xmlns:a16="http://schemas.microsoft.com/office/drawing/2014/main" id="{A3C75905-E7C1-6BEC-EE27-9451EA4BEF4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5AC8A1AB-6E5F-F7E6-46EB-A3E3F96C00DB}"/>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0198DC8B-4294-A101-AF40-D6E51890817A}"/>
              </a:ext>
            </a:extLst>
          </p:cNvPr>
          <p:cNvSpPr txBox="1"/>
          <p:nvPr/>
        </p:nvSpPr>
        <p:spPr>
          <a:xfrm>
            <a:off x="1676400" y="2941299"/>
            <a:ext cx="14935200" cy="3693319"/>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It includes the determination of both linear and angular measurements to establish the form, extent, and relative position of points, lines, and areas only on the surface of the earth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It includes the determination of linear measurements to establish the form, extent, and relative position of points, lines, and areas on the surface of the earth or on other extraterrestrial bodies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It includes the </a:t>
            </a:r>
            <a:r>
              <a:rPr lang="en-US" sz="2400" u="sng" dirty="0">
                <a:solidFill>
                  <a:srgbClr val="000000"/>
                </a:solidFill>
                <a:latin typeface="Nunito 1" panose="020B0604020202020204" charset="0"/>
                <a:ea typeface="Nunito 1 Bold"/>
                <a:cs typeface="Nunito 1 Bold"/>
                <a:sym typeface="Nunito 1 Bold"/>
              </a:rPr>
              <a:t>determination of both linear and angular measurements</a:t>
            </a:r>
            <a:r>
              <a:rPr lang="en-US" sz="2400" dirty="0">
                <a:solidFill>
                  <a:srgbClr val="000000"/>
                </a:solidFill>
                <a:latin typeface="Nunito 1" panose="020B0604020202020204" charset="0"/>
                <a:ea typeface="Nunito 1 Bold"/>
                <a:cs typeface="Nunito 1 Bold"/>
                <a:sym typeface="Nunito 1 Bold"/>
              </a:rPr>
              <a:t> to establish the form, extent, and relative position of points, lines, and areas on </a:t>
            </a:r>
            <a:r>
              <a:rPr lang="en-US" sz="2400" u="sng" dirty="0">
                <a:solidFill>
                  <a:srgbClr val="000000"/>
                </a:solidFill>
                <a:latin typeface="Nunito 1" panose="020B0604020202020204" charset="0"/>
                <a:ea typeface="Nunito 1 Bold"/>
                <a:cs typeface="Nunito 1 Bold"/>
                <a:sym typeface="Nunito 1 Bold"/>
              </a:rPr>
              <a:t>the surface of the earth or on other extraterrestrial bodies</a:t>
            </a:r>
          </a:p>
          <a:p>
            <a:pPr marL="514350" indent="-514350" algn="just">
              <a:buFont typeface="+mj-lt"/>
              <a:buAutoNum type="alphaLcPeriod"/>
            </a:pPr>
            <a:endParaRPr lang="en-US" sz="2400" u="sng"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NOTA</a:t>
            </a:r>
          </a:p>
        </p:txBody>
      </p:sp>
      <p:sp>
        <p:nvSpPr>
          <p:cNvPr id="22" name="Oval 21">
            <a:extLst>
              <a:ext uri="{FF2B5EF4-FFF2-40B4-BE49-F238E27FC236}">
                <a16:creationId xmlns:a16="http://schemas.microsoft.com/office/drawing/2014/main" id="{0626C6D0-CD22-0A5C-B27A-53D6D6CD8E07}"/>
              </a:ext>
            </a:extLst>
          </p:cNvPr>
          <p:cNvSpPr/>
          <p:nvPr/>
        </p:nvSpPr>
        <p:spPr>
          <a:xfrm>
            <a:off x="1524000" y="5091921"/>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B5BEA044-48E7-A6D7-0F61-6ACF714A8329}"/>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EF47F158-D49B-C88A-D6E6-C048903A16B4}"/>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EBEC4C23-5566-EE5B-374D-39AE04C70998}"/>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241080FA-F03D-B776-CC26-B59DC4F49C68}"/>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18" name="Group 17">
            <a:extLst>
              <a:ext uri="{FF2B5EF4-FFF2-40B4-BE49-F238E27FC236}">
                <a16:creationId xmlns:a16="http://schemas.microsoft.com/office/drawing/2014/main" id="{280D13D0-99A1-93DB-8739-262ED3527912}"/>
              </a:ext>
            </a:extLst>
          </p:cNvPr>
          <p:cNvGrpSpPr/>
          <p:nvPr/>
        </p:nvGrpSpPr>
        <p:grpSpPr>
          <a:xfrm>
            <a:off x="4871132" y="6027009"/>
            <a:ext cx="2420492" cy="2531616"/>
            <a:chOff x="6277550" y="6027009"/>
            <a:chExt cx="2420492" cy="2531616"/>
          </a:xfrm>
        </p:grpSpPr>
        <p:pic>
          <p:nvPicPr>
            <p:cNvPr id="1034" name="Picture 10" descr="HDT2 Electronic Digital Theodolite | Hi-Target Surveying Instrument Co.Ltd">
              <a:extLst>
                <a:ext uri="{FF2B5EF4-FFF2-40B4-BE49-F238E27FC236}">
                  <a16:creationId xmlns:a16="http://schemas.microsoft.com/office/drawing/2014/main" id="{DAB40185-C187-9277-0523-C1A0F5C342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77550" y="6027009"/>
              <a:ext cx="2420492" cy="2272439"/>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3">
              <a:extLst>
                <a:ext uri="{FF2B5EF4-FFF2-40B4-BE49-F238E27FC236}">
                  <a16:creationId xmlns:a16="http://schemas.microsoft.com/office/drawing/2014/main" id="{C21427D4-1D78-AFC3-86B0-DA03480A0AA6}"/>
                </a:ext>
              </a:extLst>
            </p:cNvPr>
            <p:cNvSpPr txBox="1"/>
            <p:nvPr/>
          </p:nvSpPr>
          <p:spPr>
            <a:xfrm>
              <a:off x="6400800" y="8077724"/>
              <a:ext cx="1950908" cy="480901"/>
            </a:xfrm>
            <a:prstGeom prst="rect">
              <a:avLst/>
            </a:prstGeom>
          </p:spPr>
          <p:txBody>
            <a:bodyPr wrap="square" lIns="0" tIns="0" rIns="0" bIns="0" rtlCol="0" anchor="t">
              <a:spAutoFit/>
            </a:bodyPr>
            <a:lstStyle/>
            <a:p>
              <a:pPr algn="ctr">
                <a:lnSpc>
                  <a:spcPts val="4200"/>
                </a:lnSpc>
              </a:pPr>
              <a:r>
                <a:rPr lang="en-US" sz="1600" dirty="0">
                  <a:solidFill>
                    <a:srgbClr val="000000"/>
                  </a:solidFill>
                  <a:latin typeface="Nunito 1"/>
                  <a:ea typeface="Nunito 1"/>
                  <a:cs typeface="Nunito 1"/>
                  <a:sym typeface="Nunito 1"/>
                </a:rPr>
                <a:t>Theodolite</a:t>
              </a:r>
            </a:p>
          </p:txBody>
        </p:sp>
      </p:grpSp>
      <p:grpSp>
        <p:nvGrpSpPr>
          <p:cNvPr id="27" name="Group 26">
            <a:extLst>
              <a:ext uri="{FF2B5EF4-FFF2-40B4-BE49-F238E27FC236}">
                <a16:creationId xmlns:a16="http://schemas.microsoft.com/office/drawing/2014/main" id="{AE605FCC-6C53-DAE4-9CCD-B107920DBF2A}"/>
              </a:ext>
            </a:extLst>
          </p:cNvPr>
          <p:cNvGrpSpPr/>
          <p:nvPr/>
        </p:nvGrpSpPr>
        <p:grpSpPr>
          <a:xfrm>
            <a:off x="7432782" y="6185168"/>
            <a:ext cx="2065854" cy="2373457"/>
            <a:chOff x="8839200" y="6185168"/>
            <a:chExt cx="2065854" cy="2373457"/>
          </a:xfrm>
        </p:grpSpPr>
        <p:pic>
          <p:nvPicPr>
            <p:cNvPr id="1030" name="Picture 6" descr="SOUTH SURVEYING &amp;amp; MAPPING INSTRUMENT CO., LTD.">
              <a:extLst>
                <a:ext uri="{FF2B5EF4-FFF2-40B4-BE49-F238E27FC236}">
                  <a16:creationId xmlns:a16="http://schemas.microsoft.com/office/drawing/2014/main" id="{62121C21-F96E-0E30-332F-0B68A1484FF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39200" y="6185168"/>
              <a:ext cx="2065854" cy="2065854"/>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3">
              <a:extLst>
                <a:ext uri="{FF2B5EF4-FFF2-40B4-BE49-F238E27FC236}">
                  <a16:creationId xmlns:a16="http://schemas.microsoft.com/office/drawing/2014/main" id="{BEC63C01-5CD4-0486-1C96-26E40BC736D4}"/>
                </a:ext>
              </a:extLst>
            </p:cNvPr>
            <p:cNvSpPr txBox="1"/>
            <p:nvPr/>
          </p:nvSpPr>
          <p:spPr>
            <a:xfrm>
              <a:off x="8876672" y="8077724"/>
              <a:ext cx="1950908" cy="480901"/>
            </a:xfrm>
            <a:prstGeom prst="rect">
              <a:avLst/>
            </a:prstGeom>
          </p:spPr>
          <p:txBody>
            <a:bodyPr wrap="square" lIns="0" tIns="0" rIns="0" bIns="0" rtlCol="0" anchor="t">
              <a:spAutoFit/>
            </a:bodyPr>
            <a:lstStyle/>
            <a:p>
              <a:pPr algn="ctr">
                <a:lnSpc>
                  <a:spcPts val="4200"/>
                </a:lnSpc>
              </a:pPr>
              <a:r>
                <a:rPr lang="en-US" sz="1600" dirty="0">
                  <a:solidFill>
                    <a:srgbClr val="000000"/>
                  </a:solidFill>
                  <a:latin typeface="Nunito 1"/>
                  <a:ea typeface="Nunito 1"/>
                  <a:cs typeface="Nunito 1"/>
                  <a:sym typeface="Nunito 1"/>
                </a:rPr>
                <a:t>Total Station</a:t>
              </a:r>
            </a:p>
          </p:txBody>
        </p:sp>
      </p:grpSp>
      <p:grpSp>
        <p:nvGrpSpPr>
          <p:cNvPr id="29" name="Group 28">
            <a:extLst>
              <a:ext uri="{FF2B5EF4-FFF2-40B4-BE49-F238E27FC236}">
                <a16:creationId xmlns:a16="http://schemas.microsoft.com/office/drawing/2014/main" id="{46197AE0-4A0F-44FB-C775-280090D3BB33}"/>
              </a:ext>
            </a:extLst>
          </p:cNvPr>
          <p:cNvGrpSpPr/>
          <p:nvPr/>
        </p:nvGrpSpPr>
        <p:grpSpPr>
          <a:xfrm>
            <a:off x="9781828" y="6310176"/>
            <a:ext cx="3367160" cy="2248449"/>
            <a:chOff x="9781828" y="6310176"/>
            <a:chExt cx="3367160" cy="2248449"/>
          </a:xfrm>
        </p:grpSpPr>
        <p:pic>
          <p:nvPicPr>
            <p:cNvPr id="1038" name="Picture 14" descr="Drone Solutions for Land Surveying - DJI">
              <a:extLst>
                <a:ext uri="{FF2B5EF4-FFF2-40B4-BE49-F238E27FC236}">
                  <a16:creationId xmlns:a16="http://schemas.microsoft.com/office/drawing/2014/main" id="{DBA55813-2B59-7B28-C6D9-8B941269AEE2}"/>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23036" b="23036"/>
            <a:stretch/>
          </p:blipFill>
          <p:spPr bwMode="auto">
            <a:xfrm>
              <a:off x="9781828" y="6310176"/>
              <a:ext cx="3367160" cy="1815838"/>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13">
              <a:extLst>
                <a:ext uri="{FF2B5EF4-FFF2-40B4-BE49-F238E27FC236}">
                  <a16:creationId xmlns:a16="http://schemas.microsoft.com/office/drawing/2014/main" id="{635E7775-9E75-DE95-3D2F-6C65057F4B53}"/>
                </a:ext>
              </a:extLst>
            </p:cNvPr>
            <p:cNvSpPr txBox="1"/>
            <p:nvPr/>
          </p:nvSpPr>
          <p:spPr>
            <a:xfrm>
              <a:off x="10491343" y="8077724"/>
              <a:ext cx="1950908" cy="480901"/>
            </a:xfrm>
            <a:prstGeom prst="rect">
              <a:avLst/>
            </a:prstGeom>
          </p:spPr>
          <p:txBody>
            <a:bodyPr wrap="square" lIns="0" tIns="0" rIns="0" bIns="0" rtlCol="0" anchor="t">
              <a:spAutoFit/>
            </a:bodyPr>
            <a:lstStyle/>
            <a:p>
              <a:pPr algn="ctr">
                <a:lnSpc>
                  <a:spcPts val="4200"/>
                </a:lnSpc>
              </a:pPr>
              <a:r>
                <a:rPr lang="en-US" sz="1600" dirty="0">
                  <a:solidFill>
                    <a:srgbClr val="000000"/>
                  </a:solidFill>
                  <a:latin typeface="Nunito 1"/>
                  <a:ea typeface="Nunito 1"/>
                  <a:cs typeface="Nunito 1"/>
                  <a:sym typeface="Nunito 1"/>
                </a:rPr>
                <a:t>Drone</a:t>
              </a:r>
            </a:p>
          </p:txBody>
        </p:sp>
      </p:grpSp>
      <p:grpSp>
        <p:nvGrpSpPr>
          <p:cNvPr id="30" name="Group 29">
            <a:extLst>
              <a:ext uri="{FF2B5EF4-FFF2-40B4-BE49-F238E27FC236}">
                <a16:creationId xmlns:a16="http://schemas.microsoft.com/office/drawing/2014/main" id="{496340F0-0931-C0E8-C347-62782299B98E}"/>
              </a:ext>
            </a:extLst>
          </p:cNvPr>
          <p:cNvGrpSpPr/>
          <p:nvPr/>
        </p:nvGrpSpPr>
        <p:grpSpPr>
          <a:xfrm>
            <a:off x="0" y="9599693"/>
            <a:ext cx="18287999" cy="687306"/>
            <a:chOff x="0" y="9599693"/>
            <a:chExt cx="18287999" cy="687306"/>
          </a:xfrm>
        </p:grpSpPr>
        <p:grpSp>
          <p:nvGrpSpPr>
            <p:cNvPr id="31" name="Group 11">
              <a:extLst>
                <a:ext uri="{FF2B5EF4-FFF2-40B4-BE49-F238E27FC236}">
                  <a16:creationId xmlns:a16="http://schemas.microsoft.com/office/drawing/2014/main" id="{5831AA9E-0AF4-30F8-B4D7-908F40E0A6E8}"/>
                </a:ext>
              </a:extLst>
            </p:cNvPr>
            <p:cNvGrpSpPr/>
            <p:nvPr/>
          </p:nvGrpSpPr>
          <p:grpSpPr>
            <a:xfrm>
              <a:off x="0" y="9599694"/>
              <a:ext cx="18287999" cy="687305"/>
              <a:chOff x="0" y="0"/>
              <a:chExt cx="5260714" cy="490218"/>
            </a:xfrm>
          </p:grpSpPr>
          <p:sp>
            <p:nvSpPr>
              <p:cNvPr id="34" name="Freeform 12">
                <a:extLst>
                  <a:ext uri="{FF2B5EF4-FFF2-40B4-BE49-F238E27FC236}">
                    <a16:creationId xmlns:a16="http://schemas.microsoft.com/office/drawing/2014/main" id="{CD87CE4C-9780-24B1-7E23-C635E954A8C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5" name="TextBox 13">
                <a:extLst>
                  <a:ext uri="{FF2B5EF4-FFF2-40B4-BE49-F238E27FC236}">
                    <a16:creationId xmlns:a16="http://schemas.microsoft.com/office/drawing/2014/main" id="{10B1BA8C-6919-FA31-5332-13F0D701290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32" name="TextBox 12">
              <a:extLst>
                <a:ext uri="{FF2B5EF4-FFF2-40B4-BE49-F238E27FC236}">
                  <a16:creationId xmlns:a16="http://schemas.microsoft.com/office/drawing/2014/main" id="{0028C1D2-F0F7-5982-30E2-BC7DE552EFD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3" name="TextBox 13">
              <a:extLst>
                <a:ext uri="{FF2B5EF4-FFF2-40B4-BE49-F238E27FC236}">
                  <a16:creationId xmlns:a16="http://schemas.microsoft.com/office/drawing/2014/main" id="{018AB965-D580-953C-99A0-9870024B834D}"/>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419273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45A2D-130B-4DFE-FD17-3BC0844F972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405D10F-72D1-CEE8-8999-50C459D07C8C}"/>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54AF55F5-5E46-F2CE-C421-FD30AB625364}"/>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77494C56-A52B-0FE0-87E8-740A2551E6C3}"/>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0A9D07A1-561B-17C2-9B4D-AF827663A77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24C03F14-8D29-A044-E720-446EAD69B7CE}"/>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D59A123C-989D-139E-A1E4-AD82F958FD0B}"/>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7A2E2BBF-17B2-10E7-8CE0-B3851403BED8}"/>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726F4F9E-A65F-824E-8392-35BB223A0A17}"/>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B4AF3A4B-212F-ADD7-C37F-80D15A7E8374}"/>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DDE4A5BD-74F0-D432-4AFF-A880ACF944D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9DAE2328-A220-A7CF-F6F9-7F06DE432E64}"/>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FC7F7C94-9638-9E91-5A34-1021F91B5A5C}"/>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F4D36E9D-DA17-67FB-4246-D3DF4880CEE4}"/>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BE5F718B-F44F-9C45-E7B2-A15F090196E1}"/>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49B2DCAD-61D9-193F-DAC0-D412C0ABF1A0}"/>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https://enterprise-insights.dji.com/blog/drone-photogrammetry-for-terrestrial-surveying</a:t>
            </a:r>
          </a:p>
        </p:txBody>
      </p:sp>
      <p:pic>
        <p:nvPicPr>
          <p:cNvPr id="1038" name="Picture 14" descr="Drone Solutions for Land Surveying - DJI">
            <a:extLst>
              <a:ext uri="{FF2B5EF4-FFF2-40B4-BE49-F238E27FC236}">
                <a16:creationId xmlns:a16="http://schemas.microsoft.com/office/drawing/2014/main" id="{484D0989-74AE-62D0-520B-F8A059AB52D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3036" b="23036"/>
          <a:stretch/>
        </p:blipFill>
        <p:spPr bwMode="auto">
          <a:xfrm>
            <a:off x="1219198" y="3313321"/>
            <a:ext cx="6596216" cy="3557199"/>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a:extLst>
              <a:ext uri="{FF2B5EF4-FFF2-40B4-BE49-F238E27FC236}">
                <a16:creationId xmlns:a16="http://schemas.microsoft.com/office/drawing/2014/main" id="{6A122EB9-B1E8-1817-10B1-7A57CC2C25F0}"/>
              </a:ext>
            </a:extLst>
          </p:cNvPr>
          <p:cNvPicPr>
            <a:picLocks noChangeAspect="1"/>
          </p:cNvPicPr>
          <p:nvPr/>
        </p:nvPicPr>
        <p:blipFill>
          <a:blip r:embed="rId4"/>
          <a:srcRect l="21642" r="21642" b="74794"/>
          <a:stretch>
            <a:fillRect/>
          </a:stretch>
        </p:blipFill>
        <p:spPr>
          <a:xfrm>
            <a:off x="10005004" y="2051987"/>
            <a:ext cx="6535745" cy="835954"/>
          </a:xfrm>
          <a:prstGeom prst="rect">
            <a:avLst/>
          </a:prstGeom>
        </p:spPr>
      </p:pic>
      <p:sp>
        <p:nvSpPr>
          <p:cNvPr id="14" name="TextBox 15">
            <a:extLst>
              <a:ext uri="{FF2B5EF4-FFF2-40B4-BE49-F238E27FC236}">
                <a16:creationId xmlns:a16="http://schemas.microsoft.com/office/drawing/2014/main" id="{254BEA06-1974-486B-8B49-3C43DD080346}"/>
              </a:ext>
            </a:extLst>
          </p:cNvPr>
          <p:cNvSpPr txBox="1"/>
          <p:nvPr/>
        </p:nvSpPr>
        <p:spPr>
          <a:xfrm>
            <a:off x="2246041" y="918426"/>
            <a:ext cx="13795916" cy="579005"/>
          </a:xfrm>
          <a:prstGeom prst="rect">
            <a:avLst/>
          </a:prstGeom>
        </p:spPr>
        <p:txBody>
          <a:bodyPr lIns="0" tIns="0" rIns="0" bIns="0" rtlCol="0" anchor="t">
            <a:spAutoFit/>
          </a:bodyPr>
          <a:lstStyle/>
          <a:p>
            <a:pPr algn="ctr">
              <a:lnSpc>
                <a:spcPts val="4899"/>
              </a:lnSpc>
            </a:pPr>
            <a:r>
              <a:rPr lang="en-US" sz="2400" dirty="0">
                <a:solidFill>
                  <a:srgbClr val="000000"/>
                </a:solidFill>
                <a:latin typeface="Nunito 1" panose="020B0604020202020204" charset="0"/>
                <a:ea typeface="Nunito 1 Bold"/>
                <a:cs typeface="Nunito 1 Bold"/>
                <a:sym typeface="Nunito 1 Bold"/>
              </a:rPr>
              <a:t>Aerial Photogrammetry</a:t>
            </a:r>
          </a:p>
        </p:txBody>
      </p:sp>
      <p:grpSp>
        <p:nvGrpSpPr>
          <p:cNvPr id="15" name="Group 14">
            <a:extLst>
              <a:ext uri="{FF2B5EF4-FFF2-40B4-BE49-F238E27FC236}">
                <a16:creationId xmlns:a16="http://schemas.microsoft.com/office/drawing/2014/main" id="{5FF89EC2-E7C0-9DE9-5521-0F9AF4C10DE0}"/>
              </a:ext>
            </a:extLst>
          </p:cNvPr>
          <p:cNvGrpSpPr/>
          <p:nvPr/>
        </p:nvGrpSpPr>
        <p:grpSpPr>
          <a:xfrm>
            <a:off x="0" y="9599693"/>
            <a:ext cx="18287999" cy="687306"/>
            <a:chOff x="0" y="9599693"/>
            <a:chExt cx="18287999" cy="687306"/>
          </a:xfrm>
        </p:grpSpPr>
        <p:grpSp>
          <p:nvGrpSpPr>
            <p:cNvPr id="16" name="Group 11">
              <a:extLst>
                <a:ext uri="{FF2B5EF4-FFF2-40B4-BE49-F238E27FC236}">
                  <a16:creationId xmlns:a16="http://schemas.microsoft.com/office/drawing/2014/main" id="{FF5BEA33-1602-CB73-B34D-41A7DB0F857B}"/>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A5952ECB-7AA5-138A-2ADB-9A63759D3BE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D2560ED8-F803-B8A9-D715-D7214E85325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88A9F05A-C003-A007-7EF6-7EEF48DC09F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8" name="TextBox 13">
              <a:extLst>
                <a:ext uri="{FF2B5EF4-FFF2-40B4-BE49-F238E27FC236}">
                  <a16:creationId xmlns:a16="http://schemas.microsoft.com/office/drawing/2014/main" id="{0159434F-0743-9F69-4023-3D5F578BD008}"/>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pic>
        <p:nvPicPr>
          <p:cNvPr id="28" name="Picture 27">
            <a:extLst>
              <a:ext uri="{FF2B5EF4-FFF2-40B4-BE49-F238E27FC236}">
                <a16:creationId xmlns:a16="http://schemas.microsoft.com/office/drawing/2014/main" id="{FCE6D51A-FE78-FBDC-A971-CA27F269837D}"/>
              </a:ext>
            </a:extLst>
          </p:cNvPr>
          <p:cNvPicPr>
            <a:picLocks noChangeAspect="1"/>
          </p:cNvPicPr>
          <p:nvPr/>
        </p:nvPicPr>
        <p:blipFill>
          <a:blip r:embed="rId4"/>
          <a:srcRect t="31646" r="69239" b="4892"/>
          <a:stretch>
            <a:fillRect/>
          </a:stretch>
        </p:blipFill>
        <p:spPr>
          <a:xfrm>
            <a:off x="8871423" y="3094346"/>
            <a:ext cx="4277566" cy="2539803"/>
          </a:xfrm>
          <a:prstGeom prst="rect">
            <a:avLst/>
          </a:prstGeom>
        </p:spPr>
      </p:pic>
      <p:pic>
        <p:nvPicPr>
          <p:cNvPr id="29" name="Picture 28">
            <a:extLst>
              <a:ext uri="{FF2B5EF4-FFF2-40B4-BE49-F238E27FC236}">
                <a16:creationId xmlns:a16="http://schemas.microsoft.com/office/drawing/2014/main" id="{2CB75BB6-B442-E599-2A33-334724D87198}"/>
              </a:ext>
            </a:extLst>
          </p:cNvPr>
          <p:cNvPicPr>
            <a:picLocks noChangeAspect="1"/>
          </p:cNvPicPr>
          <p:nvPr/>
        </p:nvPicPr>
        <p:blipFill>
          <a:blip r:embed="rId4"/>
          <a:srcRect l="35002" t="31740" r="34237" b="4799"/>
          <a:stretch>
            <a:fillRect/>
          </a:stretch>
        </p:blipFill>
        <p:spPr>
          <a:xfrm>
            <a:off x="13272877" y="3147764"/>
            <a:ext cx="4277566" cy="2539803"/>
          </a:xfrm>
          <a:prstGeom prst="rect">
            <a:avLst/>
          </a:prstGeom>
        </p:spPr>
      </p:pic>
      <p:pic>
        <p:nvPicPr>
          <p:cNvPr id="30" name="Picture 29">
            <a:extLst>
              <a:ext uri="{FF2B5EF4-FFF2-40B4-BE49-F238E27FC236}">
                <a16:creationId xmlns:a16="http://schemas.microsoft.com/office/drawing/2014/main" id="{8729924C-B07E-4F44-8D45-2A05AFF97AE8}"/>
              </a:ext>
            </a:extLst>
          </p:cNvPr>
          <p:cNvPicPr>
            <a:picLocks noChangeAspect="1"/>
          </p:cNvPicPr>
          <p:nvPr/>
        </p:nvPicPr>
        <p:blipFill>
          <a:blip r:embed="rId4"/>
          <a:srcRect l="68485" t="31192" r="754" b="5347"/>
          <a:stretch>
            <a:fillRect/>
          </a:stretch>
        </p:blipFill>
        <p:spPr>
          <a:xfrm>
            <a:off x="11010205" y="5789988"/>
            <a:ext cx="4277566" cy="2539803"/>
          </a:xfrm>
          <a:prstGeom prst="rect">
            <a:avLst/>
          </a:prstGeom>
        </p:spPr>
      </p:pic>
    </p:spTree>
    <p:extLst>
      <p:ext uri="{BB962C8B-B14F-4D97-AF65-F5344CB8AC3E}">
        <p14:creationId xmlns:p14="http://schemas.microsoft.com/office/powerpoint/2010/main" val="27329697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https://enterprise-insights.dji.com/blog/drone-photogrammetry-for-terrestrial-surveying</a:t>
            </a:r>
          </a:p>
        </p:txBody>
      </p:sp>
      <p:sp>
        <p:nvSpPr>
          <p:cNvPr id="14" name="TextBox 15">
            <a:extLst>
              <a:ext uri="{FF2B5EF4-FFF2-40B4-BE49-F238E27FC236}">
                <a16:creationId xmlns:a16="http://schemas.microsoft.com/office/drawing/2014/main" id="{5247E37D-4C9E-113E-3112-EBF2EA39CFB1}"/>
              </a:ext>
            </a:extLst>
          </p:cNvPr>
          <p:cNvSpPr txBox="1"/>
          <p:nvPr/>
        </p:nvSpPr>
        <p:spPr>
          <a:xfrm>
            <a:off x="2246041" y="918426"/>
            <a:ext cx="13795916" cy="579005"/>
          </a:xfrm>
          <a:prstGeom prst="rect">
            <a:avLst/>
          </a:prstGeom>
        </p:spPr>
        <p:txBody>
          <a:bodyPr lIns="0" tIns="0" rIns="0" bIns="0" rtlCol="0" anchor="t">
            <a:spAutoFit/>
          </a:bodyPr>
          <a:lstStyle/>
          <a:p>
            <a:pPr algn="ctr">
              <a:lnSpc>
                <a:spcPts val="4899"/>
              </a:lnSpc>
            </a:pPr>
            <a:r>
              <a:rPr lang="en-US" sz="2400" dirty="0">
                <a:solidFill>
                  <a:srgbClr val="000000"/>
                </a:solidFill>
                <a:latin typeface="Nunito 1" panose="020B0604020202020204" charset="0"/>
                <a:ea typeface="Nunito 1 Bold"/>
                <a:cs typeface="Nunito 1 Bold"/>
                <a:sym typeface="Nunito 1 Bold"/>
              </a:rPr>
              <a:t>Aerial Photogrammetry</a:t>
            </a:r>
          </a:p>
        </p:txBody>
      </p:sp>
      <p:grpSp>
        <p:nvGrpSpPr>
          <p:cNvPr id="15" name="Group 14">
            <a:extLst>
              <a:ext uri="{FF2B5EF4-FFF2-40B4-BE49-F238E27FC236}">
                <a16:creationId xmlns:a16="http://schemas.microsoft.com/office/drawing/2014/main" id="{E8AAA818-F789-5AF3-E26B-34396714DB29}"/>
              </a:ext>
            </a:extLst>
          </p:cNvPr>
          <p:cNvGrpSpPr/>
          <p:nvPr/>
        </p:nvGrpSpPr>
        <p:grpSpPr>
          <a:xfrm>
            <a:off x="0" y="9599693"/>
            <a:ext cx="18287999" cy="687306"/>
            <a:chOff x="0" y="9599693"/>
            <a:chExt cx="18287999" cy="687306"/>
          </a:xfrm>
        </p:grpSpPr>
        <p:grpSp>
          <p:nvGrpSpPr>
            <p:cNvPr id="16" name="Group 11">
              <a:extLst>
                <a:ext uri="{FF2B5EF4-FFF2-40B4-BE49-F238E27FC236}">
                  <a16:creationId xmlns:a16="http://schemas.microsoft.com/office/drawing/2014/main" id="{60DC88FA-C08E-5B4E-6585-95EC8CEE3A8B}"/>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4E63485E-FD51-46C2-D455-F5AA73912B9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225452B6-E5A9-3EFA-D4EA-86D36D8CC6A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E366A4B1-D57F-CB96-220C-73A0CA175A9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8" name="TextBox 13">
              <a:extLst>
                <a:ext uri="{FF2B5EF4-FFF2-40B4-BE49-F238E27FC236}">
                  <a16:creationId xmlns:a16="http://schemas.microsoft.com/office/drawing/2014/main" id="{12042D97-8F9C-CDBF-46A1-5C879EB46475}"/>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pic>
        <p:nvPicPr>
          <p:cNvPr id="1028" name="Picture 4" descr="Copernicus: Sentinel-2 - eoPortal">
            <a:extLst>
              <a:ext uri="{FF2B5EF4-FFF2-40B4-BE49-F238E27FC236}">
                <a16:creationId xmlns:a16="http://schemas.microsoft.com/office/drawing/2014/main" id="{16F64A60-FA0A-3B8F-8AA5-E71E1C6F1E9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7200" y="2893586"/>
            <a:ext cx="5303837" cy="404101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09FFCF7-3B8A-A0FF-CEE6-1C8BE7931A03}"/>
              </a:ext>
            </a:extLst>
          </p:cNvPr>
          <p:cNvPicPr>
            <a:picLocks noChangeAspect="1"/>
          </p:cNvPicPr>
          <p:nvPr/>
        </p:nvPicPr>
        <p:blipFill>
          <a:blip r:embed="rId4"/>
          <a:srcRect l="16984" r="17984"/>
          <a:stretch>
            <a:fillRect/>
          </a:stretch>
        </p:blipFill>
        <p:spPr>
          <a:xfrm>
            <a:off x="6758767" y="2062663"/>
            <a:ext cx="9906000" cy="6411220"/>
          </a:xfrm>
          <a:prstGeom prst="rect">
            <a:avLst/>
          </a:prstGeom>
        </p:spPr>
      </p:pic>
    </p:spTree>
    <p:extLst>
      <p:ext uri="{BB962C8B-B14F-4D97-AF65-F5344CB8AC3E}">
        <p14:creationId xmlns:p14="http://schemas.microsoft.com/office/powerpoint/2010/main" val="24129767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35655-04E5-F313-42F5-2BD7FE5EF29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04C2962-712E-3AC2-A72E-628B98F9543B}"/>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149C3E6-D88A-AC16-4E80-7FE78E9D0ABA}"/>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18F7D1BF-7A11-4966-1B3C-5DAD79196DB1}"/>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3923F6B4-6D06-7A96-8986-D42EFA5C9BAD}"/>
              </a:ext>
            </a:extLst>
          </p:cNvPr>
          <p:cNvGrpSpPr/>
          <p:nvPr/>
        </p:nvGrpSpPr>
        <p:grpSpPr>
          <a:xfrm>
            <a:off x="5139012" y="135909"/>
            <a:ext cx="8009976" cy="864872"/>
            <a:chOff x="0" y="0"/>
            <a:chExt cx="2109623" cy="455698"/>
          </a:xfrm>
        </p:grpSpPr>
        <p:sp>
          <p:nvSpPr>
            <p:cNvPr id="9" name="Freeform 9">
              <a:extLst>
                <a:ext uri="{FF2B5EF4-FFF2-40B4-BE49-F238E27FC236}">
                  <a16:creationId xmlns:a16="http://schemas.microsoft.com/office/drawing/2014/main" id="{920ED187-F12C-E133-FF5D-68FB97C9AB47}"/>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B4E3AC9-2ECA-4A07-3FFB-1F6A7282D7B0}"/>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C6C7E814-7E3D-9CD0-1C6C-9683A3E292AE}"/>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D6D50D33-F87F-C7E0-3977-20E9739678A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4D9C3F3D-2EC1-4D70-DC08-85E8B2E43CC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D06C00D3-0AF8-2715-B622-141142C91F3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940924E3-7C72-39D5-55AD-7594DFFA946A}"/>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F5A7F099-DD55-D69C-D475-BBEC7D0D5914}"/>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EAAA6813-A9E8-B0D6-484B-D2EE0AC7CAF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429449D9-02D4-B418-E91E-6A3B8953025D}"/>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F61E7BE9-E883-DEA4-635B-1E709F5DE047}"/>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https://enterprise-insights.dji.com/blog/drone-photogrammetry-for-terrestrial-surveying</a:t>
            </a:r>
          </a:p>
        </p:txBody>
      </p:sp>
      <p:sp>
        <p:nvSpPr>
          <p:cNvPr id="14" name="TextBox 15">
            <a:extLst>
              <a:ext uri="{FF2B5EF4-FFF2-40B4-BE49-F238E27FC236}">
                <a16:creationId xmlns:a16="http://schemas.microsoft.com/office/drawing/2014/main" id="{0D5F9364-5C4A-82C7-69D2-AEF48B44A72A}"/>
              </a:ext>
            </a:extLst>
          </p:cNvPr>
          <p:cNvSpPr txBox="1"/>
          <p:nvPr/>
        </p:nvSpPr>
        <p:spPr>
          <a:xfrm>
            <a:off x="2246041" y="206406"/>
            <a:ext cx="13795916" cy="579005"/>
          </a:xfrm>
          <a:prstGeom prst="rect">
            <a:avLst/>
          </a:prstGeom>
        </p:spPr>
        <p:txBody>
          <a:bodyPr lIns="0" tIns="0" rIns="0" bIns="0" rtlCol="0" anchor="t">
            <a:spAutoFit/>
          </a:bodyPr>
          <a:lstStyle/>
          <a:p>
            <a:pPr algn="ctr">
              <a:lnSpc>
                <a:spcPts val="4899"/>
              </a:lnSpc>
            </a:pPr>
            <a:r>
              <a:rPr lang="en-US" sz="2400" dirty="0">
                <a:solidFill>
                  <a:srgbClr val="000000"/>
                </a:solidFill>
                <a:latin typeface="Nunito 1" panose="020B0604020202020204" charset="0"/>
                <a:ea typeface="Nunito 1 Bold"/>
                <a:cs typeface="Nunito 1 Bold"/>
                <a:sym typeface="Nunito 1 Bold"/>
              </a:rPr>
              <a:t>Aerial Photogrammetry</a:t>
            </a:r>
          </a:p>
        </p:txBody>
      </p:sp>
      <p:grpSp>
        <p:nvGrpSpPr>
          <p:cNvPr id="15" name="Group 14">
            <a:extLst>
              <a:ext uri="{FF2B5EF4-FFF2-40B4-BE49-F238E27FC236}">
                <a16:creationId xmlns:a16="http://schemas.microsoft.com/office/drawing/2014/main" id="{EAC0EAE6-FA80-DDC6-CF50-D3990713C852}"/>
              </a:ext>
            </a:extLst>
          </p:cNvPr>
          <p:cNvGrpSpPr/>
          <p:nvPr/>
        </p:nvGrpSpPr>
        <p:grpSpPr>
          <a:xfrm>
            <a:off x="0" y="9599693"/>
            <a:ext cx="18287999" cy="687306"/>
            <a:chOff x="0" y="9599693"/>
            <a:chExt cx="18287999" cy="687306"/>
          </a:xfrm>
        </p:grpSpPr>
        <p:grpSp>
          <p:nvGrpSpPr>
            <p:cNvPr id="16" name="Group 11">
              <a:extLst>
                <a:ext uri="{FF2B5EF4-FFF2-40B4-BE49-F238E27FC236}">
                  <a16:creationId xmlns:a16="http://schemas.microsoft.com/office/drawing/2014/main" id="{ABCFB7FC-E70D-A57A-7F74-65F911ED5B27}"/>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8C98424A-7E97-ECC8-AF1A-2A3AC61DE7AC}"/>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5A4B0AE7-ABA9-A313-E6A2-952DE43356D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E824E12D-C17C-D3DD-A866-977D0B544D8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8" name="TextBox 13">
              <a:extLst>
                <a:ext uri="{FF2B5EF4-FFF2-40B4-BE49-F238E27FC236}">
                  <a16:creationId xmlns:a16="http://schemas.microsoft.com/office/drawing/2014/main" id="{6F80C9F2-4D6F-4FA0-416A-2C25C7BD7620}"/>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pic>
        <p:nvPicPr>
          <p:cNvPr id="7" name="Picture 6">
            <a:extLst>
              <a:ext uri="{FF2B5EF4-FFF2-40B4-BE49-F238E27FC236}">
                <a16:creationId xmlns:a16="http://schemas.microsoft.com/office/drawing/2014/main" id="{B5AC9F1D-6582-07F0-7688-819B68D6C6F2}"/>
              </a:ext>
            </a:extLst>
          </p:cNvPr>
          <p:cNvPicPr>
            <a:picLocks noChangeAspect="1"/>
          </p:cNvPicPr>
          <p:nvPr/>
        </p:nvPicPr>
        <p:blipFill>
          <a:blip r:embed="rId3"/>
          <a:stretch>
            <a:fillRect/>
          </a:stretch>
        </p:blipFill>
        <p:spPr>
          <a:xfrm>
            <a:off x="27302" y="1163524"/>
            <a:ext cx="18233395" cy="8583223"/>
          </a:xfrm>
          <a:prstGeom prst="rect">
            <a:avLst/>
          </a:prstGeom>
        </p:spPr>
      </p:pic>
      <p:pic>
        <p:nvPicPr>
          <p:cNvPr id="28" name="Picture 27">
            <a:extLst>
              <a:ext uri="{FF2B5EF4-FFF2-40B4-BE49-F238E27FC236}">
                <a16:creationId xmlns:a16="http://schemas.microsoft.com/office/drawing/2014/main" id="{D36894D8-F5D4-00A3-C273-335AC5F9DB18}"/>
              </a:ext>
            </a:extLst>
          </p:cNvPr>
          <p:cNvPicPr>
            <a:picLocks noChangeAspect="1"/>
          </p:cNvPicPr>
          <p:nvPr/>
        </p:nvPicPr>
        <p:blipFill>
          <a:blip r:embed="rId4"/>
          <a:stretch>
            <a:fillRect/>
          </a:stretch>
        </p:blipFill>
        <p:spPr>
          <a:xfrm>
            <a:off x="1006928" y="2200408"/>
            <a:ext cx="6586974" cy="2748610"/>
          </a:xfrm>
          <a:prstGeom prst="rect">
            <a:avLst/>
          </a:prstGeom>
        </p:spPr>
      </p:pic>
    </p:spTree>
    <p:extLst>
      <p:ext uri="{BB962C8B-B14F-4D97-AF65-F5344CB8AC3E}">
        <p14:creationId xmlns:p14="http://schemas.microsoft.com/office/powerpoint/2010/main" val="3179575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p:cNvGrpSpPr/>
          <p:nvPr/>
        </p:nvGrpSpPr>
        <p:grpSpPr>
          <a:xfrm>
            <a:off x="1028700" y="1233888"/>
            <a:ext cx="16230600" cy="7447557"/>
            <a:chOff x="0" y="0"/>
            <a:chExt cx="4274726" cy="1718953"/>
          </a:xfrm>
        </p:grpSpPr>
        <p:sp>
          <p:nvSpPr>
            <p:cNvPr id="6" name="Freeform 6"/>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3</a:t>
            </a:r>
          </a:p>
        </p:txBody>
      </p:sp>
      <p:sp>
        <p:nvSpPr>
          <p:cNvPr id="15" name="TextBox 15"/>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What are the two classifications of surveying?</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3323987"/>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Plane and Geodetic Surveying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Plane and Cadastral Surveying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Topographic and Hydrographic Surveying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NOTA</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22" name="Oval 21">
            <a:extLst>
              <a:ext uri="{FF2B5EF4-FFF2-40B4-BE49-F238E27FC236}">
                <a16:creationId xmlns:a16="http://schemas.microsoft.com/office/drawing/2014/main" id="{C16DF3DE-3062-D00D-FC1F-F2CCEDA706F7}"/>
              </a:ext>
            </a:extLst>
          </p:cNvPr>
          <p:cNvSpPr/>
          <p:nvPr/>
        </p:nvSpPr>
        <p:spPr>
          <a:xfrm>
            <a:off x="1515800" y="2889742"/>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sp>
        <p:nvSpPr>
          <p:cNvPr id="30" name="TextBox 15">
            <a:extLst>
              <a:ext uri="{FF2B5EF4-FFF2-40B4-BE49-F238E27FC236}">
                <a16:creationId xmlns:a16="http://schemas.microsoft.com/office/drawing/2014/main" id="{4FBD30CD-6DD8-321F-28C4-A2603204312A}"/>
              </a:ext>
            </a:extLst>
          </p:cNvPr>
          <p:cNvSpPr txBox="1"/>
          <p:nvPr/>
        </p:nvSpPr>
        <p:spPr>
          <a:xfrm>
            <a:off x="1676400" y="6167156"/>
            <a:ext cx="14935200" cy="1477328"/>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Plane Surveying – assumes the Earth's surface is flat, and measurements are made without accounting for its curvature.</a:t>
            </a:r>
          </a:p>
          <a:p>
            <a:pPr algn="just"/>
            <a:endParaRPr lang="en-US" sz="2400" dirty="0">
              <a:solidFill>
                <a:srgbClr val="000000"/>
              </a:solidFill>
              <a:latin typeface="Nunito 1" panose="020B0604020202020204" charset="0"/>
              <a:ea typeface="Nunito 1 Bold"/>
              <a:cs typeface="Nunito 1 Bold"/>
              <a:sym typeface="Nunito 1 Bold"/>
            </a:endParaRPr>
          </a:p>
          <a:p>
            <a:pPr algn="just"/>
            <a:r>
              <a:rPr lang="en-US" sz="2400" dirty="0">
                <a:solidFill>
                  <a:srgbClr val="000000"/>
                </a:solidFill>
                <a:latin typeface="Nunito 1" panose="020B0604020202020204" charset="0"/>
                <a:ea typeface="Nunito 1 Bold"/>
                <a:cs typeface="Nunito 1 Bold"/>
                <a:sym typeface="Nunito 1 Bold"/>
              </a:rPr>
              <a:t>Geodetic Surveying - considers the Earth's curvature, making it suitable for large-scale projects.</a:t>
            </a:r>
          </a:p>
        </p:txBody>
      </p:sp>
      <p:sp>
        <p:nvSpPr>
          <p:cNvPr id="31" name="TextBox 15">
            <a:extLst>
              <a:ext uri="{FF2B5EF4-FFF2-40B4-BE49-F238E27FC236}">
                <a16:creationId xmlns:a16="http://schemas.microsoft.com/office/drawing/2014/main" id="{995690DC-C38A-625D-3F25-11C8BD6E2CA6}"/>
              </a:ext>
            </a:extLst>
          </p:cNvPr>
          <p:cNvSpPr txBox="1"/>
          <p:nvPr/>
        </p:nvSpPr>
        <p:spPr>
          <a:xfrm>
            <a:off x="1676400" y="7953094"/>
            <a:ext cx="14935200" cy="738664"/>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Cadastral, topographic and hydrographic Surveying are </a:t>
            </a:r>
            <a:r>
              <a:rPr lang="en-US" sz="2400" u="sng" dirty="0">
                <a:solidFill>
                  <a:srgbClr val="000000"/>
                </a:solidFill>
                <a:latin typeface="Nunito 1" panose="020B0604020202020204" charset="0"/>
                <a:ea typeface="Nunito 1 Bold"/>
                <a:cs typeface="Nunito 1 Bold"/>
                <a:sym typeface="Nunito 1 Bold"/>
              </a:rPr>
              <a:t>types</a:t>
            </a:r>
            <a:r>
              <a:rPr lang="en-US" sz="2400" dirty="0">
                <a:solidFill>
                  <a:srgbClr val="000000"/>
                </a:solidFill>
                <a:latin typeface="Nunito 1" panose="020B0604020202020204" charset="0"/>
                <a:ea typeface="Nunito 1 Bold"/>
                <a:cs typeface="Nunito 1 Bold"/>
                <a:sym typeface="Nunito 1 Bold"/>
              </a:rPr>
              <a:t> of surveying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grpSp>
        <p:nvGrpSpPr>
          <p:cNvPr id="16" name="Group 15">
            <a:extLst>
              <a:ext uri="{FF2B5EF4-FFF2-40B4-BE49-F238E27FC236}">
                <a16:creationId xmlns:a16="http://schemas.microsoft.com/office/drawing/2014/main" id="{6AFB77A9-BCFB-3756-6CE0-D8B750622332}"/>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C3D94CA4-3269-2994-35FF-1C372DEA02A9}"/>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7E370DA2-9A38-12D9-3CC2-2D641B902D4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84774274-A006-84A4-5B0B-64EA3716DF9F}"/>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2">
              <a:extLst>
                <a:ext uri="{FF2B5EF4-FFF2-40B4-BE49-F238E27FC236}">
                  <a16:creationId xmlns:a16="http://schemas.microsoft.com/office/drawing/2014/main" id="{461FFA3B-6915-4707-DEBB-A388A356B06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91A3B753-C64D-F301-6155-ABF77DF0EA66}"/>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072335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30" grpId="0"/>
      <p:bldP spid="3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4</a:t>
            </a:r>
          </a:p>
        </p:txBody>
      </p:sp>
      <p:sp>
        <p:nvSpPr>
          <p:cNvPr id="15" name="TextBox 15"/>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What are ‘route surveys’?</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443198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Route surveys are surveys within or near cities for planning expansions, locating property lines, fixing monuments, and mapping city areas.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Route surveys are type of surveying which involves the determination of alignment, grades, earthwork quantities, location of natural and artificial objects in connection with the planning, design, and construction of various linear projects.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Route surveys are type of surveying which captures the shape of the land and its natural or artificial features, producing detailed surface maps.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Route surveys are closed surveys used to define property lines, corners, and boundaries in both urban and rural areas, and to fix the limits of municipalities or towns.</a:t>
            </a:r>
          </a:p>
        </p:txBody>
      </p:sp>
      <p:sp>
        <p:nvSpPr>
          <p:cNvPr id="22" name="Oval 21">
            <a:extLst>
              <a:ext uri="{FF2B5EF4-FFF2-40B4-BE49-F238E27FC236}">
                <a16:creationId xmlns:a16="http://schemas.microsoft.com/office/drawing/2014/main" id="{C16DF3DE-3062-D00D-FC1F-F2CCEDA706F7}"/>
              </a:ext>
            </a:extLst>
          </p:cNvPr>
          <p:cNvSpPr/>
          <p:nvPr/>
        </p:nvSpPr>
        <p:spPr>
          <a:xfrm>
            <a:off x="1517070" y="4000500"/>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5" name="Group 4">
            <a:extLst>
              <a:ext uri="{FF2B5EF4-FFF2-40B4-BE49-F238E27FC236}">
                <a16:creationId xmlns:a16="http://schemas.microsoft.com/office/drawing/2014/main" id="{6CECED9A-A4D2-E175-5A19-71841D320A0D}"/>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C37082A9-B21E-C3DF-16C8-EB82AFC3C2A8}"/>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1D42222E-5E48-56BF-F95B-E259A5CC316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CFCEF48D-4456-64EB-A8F4-5EE8EFC0D08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DA494F49-78B7-3AE2-2477-3E5F2D901AB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1F794861-23DD-4D34-F42D-B44193C423D1}"/>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843702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01A5C-8F5A-D44F-8E83-BBCBB827F5BA}"/>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4F46BD6A-B5BF-23AD-B2C8-E6326938FDC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4CB2D838-990C-40AD-FBAA-11758C44142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2F790D83-9243-1711-E3AB-D477745E79D5}"/>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B89F801D-E48B-5E88-A87D-60E1A2A86E2B}"/>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620FE632-A717-E5EC-9694-D9253018BEC2}"/>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2E8B5982-CCB3-7E1F-5F01-E92F55FF357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E230BB2C-657B-3440-ED8A-E75EDF53B65A}"/>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8033A366-BCA5-CEFD-068E-CE66A8EF5954}"/>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07B84C8-18CD-39F2-95D0-91CCF7FFFA84}"/>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458EA99B-CBFC-B55C-8941-889CDF150067}"/>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1E19943B-51FF-4924-909E-58CD0D62359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220409DD-0B01-81E9-DB23-59078128C2E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00CBD0CC-AC05-AE45-A815-4381B60B0801}"/>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4</a:t>
            </a:r>
          </a:p>
        </p:txBody>
      </p:sp>
      <p:sp>
        <p:nvSpPr>
          <p:cNvPr id="15" name="TextBox 15">
            <a:extLst>
              <a:ext uri="{FF2B5EF4-FFF2-40B4-BE49-F238E27FC236}">
                <a16:creationId xmlns:a16="http://schemas.microsoft.com/office/drawing/2014/main" id="{6745007B-4DB4-E2E7-27A2-0F12B0E24C93}"/>
              </a:ext>
            </a:extLst>
          </p:cNvPr>
          <p:cNvSpPr txBox="1"/>
          <p:nvPr/>
        </p:nvSpPr>
        <p:spPr>
          <a:xfrm>
            <a:off x="2246041" y="2025065"/>
            <a:ext cx="13795916" cy="579005"/>
          </a:xfrm>
          <a:prstGeom prst="rect">
            <a:avLst/>
          </a:prstGeom>
        </p:spPr>
        <p:txBody>
          <a:bodyPr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What are ‘route surveys’?</a:t>
            </a:r>
          </a:p>
        </p:txBody>
      </p:sp>
      <p:sp>
        <p:nvSpPr>
          <p:cNvPr id="19" name="TextBox 12">
            <a:extLst>
              <a:ext uri="{FF2B5EF4-FFF2-40B4-BE49-F238E27FC236}">
                <a16:creationId xmlns:a16="http://schemas.microsoft.com/office/drawing/2014/main" id="{5792CD81-B67B-3D39-8C86-23999A6DE94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E7EA5D75-48E8-829D-BCCE-FF09B9E25DA7}"/>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7A16E026-9A22-407F-8EFC-D4B11768391A}"/>
              </a:ext>
            </a:extLst>
          </p:cNvPr>
          <p:cNvSpPr txBox="1"/>
          <p:nvPr/>
        </p:nvSpPr>
        <p:spPr>
          <a:xfrm>
            <a:off x="1676400" y="2941299"/>
            <a:ext cx="14935200" cy="4431983"/>
          </a:xfrm>
          <a:prstGeom prst="rect">
            <a:avLst/>
          </a:prstGeom>
        </p:spPr>
        <p:txBody>
          <a:bodyPr wrap="square" lIns="0" tIns="0" rIns="0" bIns="0" rtlCol="0" anchor="t">
            <a:spAutoFit/>
          </a:bodyPr>
          <a:lstStyle/>
          <a:p>
            <a:pPr marL="514350" indent="-514350" algn="just">
              <a:buFont typeface="+mj-lt"/>
              <a:buAutoNum type="alphaLcPeriod"/>
            </a:pPr>
            <a:r>
              <a:rPr lang="en-US" sz="2400" b="1" dirty="0">
                <a:solidFill>
                  <a:srgbClr val="000000"/>
                </a:solidFill>
                <a:latin typeface="Nunito 1" panose="020B0604020202020204" charset="0"/>
                <a:ea typeface="Nunito 1 Bold"/>
                <a:cs typeface="Nunito 1 Bold"/>
                <a:sym typeface="Nunito 1 Bold"/>
              </a:rPr>
              <a:t>City Surveys</a:t>
            </a:r>
            <a:r>
              <a:rPr lang="en-US" sz="2400" dirty="0">
                <a:solidFill>
                  <a:srgbClr val="000000"/>
                </a:solidFill>
                <a:latin typeface="Nunito 1" panose="020B0604020202020204" charset="0"/>
                <a:ea typeface="Nunito 1 Bold"/>
                <a:cs typeface="Nunito 1 Bold"/>
                <a:sym typeface="Nunito 1 Bold"/>
              </a:rPr>
              <a:t> are surveys within or near cities for planning expansions, locating property lines, fixing monuments, and mapping city areas.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b="1" dirty="0">
                <a:solidFill>
                  <a:srgbClr val="000000"/>
                </a:solidFill>
                <a:latin typeface="Nunito 1" panose="020B0604020202020204" charset="0"/>
                <a:ea typeface="Nunito 1 Bold"/>
                <a:cs typeface="Nunito 1 Bold"/>
                <a:sym typeface="Nunito 1 Bold"/>
              </a:rPr>
              <a:t>Route surveys </a:t>
            </a:r>
            <a:r>
              <a:rPr lang="en-US" sz="2400" dirty="0">
                <a:solidFill>
                  <a:srgbClr val="000000"/>
                </a:solidFill>
                <a:latin typeface="Nunito 1" panose="020B0604020202020204" charset="0"/>
                <a:ea typeface="Nunito 1 Bold"/>
                <a:cs typeface="Nunito 1 Bold"/>
                <a:sym typeface="Nunito 1 Bold"/>
              </a:rPr>
              <a:t>are type of surveying which involves the determination of alignment, grades, earthwork quantities, location of natural and artificial objects in connection with the planning, design, and construction of various linear projects.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b="1" dirty="0">
                <a:solidFill>
                  <a:srgbClr val="000000"/>
                </a:solidFill>
                <a:latin typeface="Nunito 1" panose="020B0604020202020204" charset="0"/>
                <a:ea typeface="Nunito 1 Bold"/>
                <a:cs typeface="Nunito 1 Bold"/>
                <a:sym typeface="Nunito 1 Bold"/>
              </a:rPr>
              <a:t>Topographic Surveys</a:t>
            </a:r>
            <a:r>
              <a:rPr lang="en-US" sz="2400" dirty="0">
                <a:solidFill>
                  <a:srgbClr val="000000"/>
                </a:solidFill>
                <a:latin typeface="Nunito 1" panose="020B0604020202020204" charset="0"/>
                <a:ea typeface="Nunito 1 Bold"/>
                <a:cs typeface="Nunito 1 Bold"/>
                <a:sym typeface="Nunito 1 Bold"/>
              </a:rPr>
              <a:t> are type of surveying which captures the shape of the land and its natural or artificial features, producing detailed surface maps.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b="1" dirty="0">
                <a:solidFill>
                  <a:srgbClr val="000000"/>
                </a:solidFill>
                <a:latin typeface="Nunito 1" panose="020B0604020202020204" charset="0"/>
                <a:ea typeface="Nunito 1 Bold"/>
                <a:cs typeface="Nunito 1 Bold"/>
                <a:sym typeface="Nunito 1 Bold"/>
              </a:rPr>
              <a:t>Cadastral Surveys </a:t>
            </a:r>
            <a:r>
              <a:rPr lang="en-US" sz="2400" dirty="0">
                <a:solidFill>
                  <a:srgbClr val="000000"/>
                </a:solidFill>
                <a:latin typeface="Nunito 1" panose="020B0604020202020204" charset="0"/>
                <a:ea typeface="Nunito 1 Bold"/>
                <a:cs typeface="Nunito 1 Bold"/>
                <a:sym typeface="Nunito 1 Bold"/>
              </a:rPr>
              <a:t>are closed surveys used to define property lines, corners, and boundaries in both urban and rural areas, and to fix the limits of municipalities or towns.</a:t>
            </a:r>
          </a:p>
        </p:txBody>
      </p:sp>
      <p:grpSp>
        <p:nvGrpSpPr>
          <p:cNvPr id="23" name="Group 5">
            <a:extLst>
              <a:ext uri="{FF2B5EF4-FFF2-40B4-BE49-F238E27FC236}">
                <a16:creationId xmlns:a16="http://schemas.microsoft.com/office/drawing/2014/main" id="{B8EA42E3-8B45-4A0C-8395-2438F907526A}"/>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AB5B3E6F-7A1D-E21E-66DC-43E61EF0FB4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06B7225-3A72-D0BB-DF89-685E2830237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50D52A26-33F7-1261-174A-F374F37E86C7}"/>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5" name="Group 4">
            <a:extLst>
              <a:ext uri="{FF2B5EF4-FFF2-40B4-BE49-F238E27FC236}">
                <a16:creationId xmlns:a16="http://schemas.microsoft.com/office/drawing/2014/main" id="{A80C52F2-823F-0ACE-55DC-DDEBDB55D427}"/>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0FA5B629-3B54-4097-7C45-A1F527BA747F}"/>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CFF32B7E-A921-E7F2-8A77-3F98E285705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8" name="TextBox 13">
                <a:extLst>
                  <a:ext uri="{FF2B5EF4-FFF2-40B4-BE49-F238E27FC236}">
                    <a16:creationId xmlns:a16="http://schemas.microsoft.com/office/drawing/2014/main" id="{12FE9D45-70E8-C625-A32A-7597FDD7749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890372A8-19E1-40D7-71D3-20F3A96F317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BB196AAE-AF74-0B73-5900-59EAB252FAA7}"/>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3907055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p:cNvGrpSpPr/>
          <p:nvPr/>
        </p:nvGrpSpPr>
        <p:grpSpPr>
          <a:xfrm>
            <a:off x="1028700" y="1233888"/>
            <a:ext cx="16230600" cy="7447557"/>
            <a:chOff x="0" y="0"/>
            <a:chExt cx="4274726" cy="1718953"/>
          </a:xfrm>
        </p:grpSpPr>
        <p:sp>
          <p:nvSpPr>
            <p:cNvPr id="6" name="Freeform 6"/>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5170646"/>
          </a:xfrm>
          <a:prstGeom prst="rect">
            <a:avLst/>
          </a:prstGeom>
        </p:spPr>
        <p:txBody>
          <a:bodyPr wrap="square" lIns="0" tIns="0" rIns="0" bIns="0" rtlCol="0" anchor="t">
            <a:spAutoFit/>
          </a:bodyPr>
          <a:lstStyle/>
          <a:p>
            <a:pPr marL="514350" indent="-514350" algn="just">
              <a:buFont typeface="+mj-lt"/>
              <a:buAutoNum type="arabicPeriod"/>
            </a:pPr>
            <a:r>
              <a:rPr lang="en-US" sz="2400" b="1" dirty="0">
                <a:solidFill>
                  <a:srgbClr val="000000"/>
                </a:solidFill>
                <a:latin typeface="Nunito 1" panose="020B0604020202020204" charset="0"/>
                <a:ea typeface="Nunito 1 Bold"/>
                <a:cs typeface="Nunito 1 Bold"/>
                <a:sym typeface="Nunito 1 Bold"/>
              </a:rPr>
              <a:t>Cadastral Surveys </a:t>
            </a:r>
            <a:r>
              <a:rPr lang="en-US" sz="2400" dirty="0">
                <a:solidFill>
                  <a:srgbClr val="000000"/>
                </a:solidFill>
                <a:latin typeface="Nunito 1" panose="020B0604020202020204" charset="0"/>
                <a:ea typeface="Nunito 1 Bold"/>
                <a:cs typeface="Nunito 1 Bold"/>
                <a:sym typeface="Nunito 1 Bold"/>
              </a:rPr>
              <a:t>- usually closed surveys which are undertaken in urban and rural locations for the purpose </a:t>
            </a:r>
            <a:r>
              <a:rPr lang="en-US" sz="2400" u="sng" dirty="0">
                <a:solidFill>
                  <a:srgbClr val="000000"/>
                </a:solidFill>
                <a:latin typeface="Nunito 1" panose="020B0604020202020204" charset="0"/>
                <a:ea typeface="Nunito 1 Bold"/>
                <a:cs typeface="Nunito 1 Bold"/>
                <a:sym typeface="Nunito 1 Bold"/>
              </a:rPr>
              <a:t>determining and defining property lines and boundaries, corners, and areas</a:t>
            </a:r>
            <a:r>
              <a:rPr lang="en-US" sz="2400" dirty="0">
                <a:solidFill>
                  <a:srgbClr val="000000"/>
                </a:solidFill>
                <a:latin typeface="Nunito 1" panose="020B0604020202020204" charset="0"/>
                <a:ea typeface="Nunito 1 Bold"/>
                <a:cs typeface="Nunito 1 Bold"/>
                <a:sym typeface="Nunito 1 Bold"/>
              </a:rPr>
              <a:t>. These surveys are also made to fix the boundaries of municipalities, towns, and provincial jurisdictions.</a:t>
            </a:r>
          </a:p>
          <a:p>
            <a:pPr marL="514350" indent="-514350" algn="just">
              <a:buFont typeface="+mj-lt"/>
              <a:buAutoNum type="arabi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400" b="1" dirty="0">
                <a:solidFill>
                  <a:srgbClr val="000000"/>
                </a:solidFill>
                <a:latin typeface="Nunito 1" panose="020B0604020202020204" charset="0"/>
                <a:ea typeface="Nunito 1 Bold"/>
                <a:cs typeface="Nunito 1 Bold"/>
                <a:sym typeface="Nunito 1 Bold"/>
              </a:rPr>
              <a:t>City Surveys</a:t>
            </a:r>
            <a:r>
              <a:rPr lang="en-US" sz="2400" dirty="0">
                <a:solidFill>
                  <a:srgbClr val="000000"/>
                </a:solidFill>
                <a:latin typeface="Nunito 1" panose="020B0604020202020204" charset="0"/>
                <a:ea typeface="Nunito 1 Bold"/>
                <a:cs typeface="Nunito 1 Bold"/>
                <a:sym typeface="Nunito 1 Bold"/>
              </a:rPr>
              <a:t> - surveys of the </a:t>
            </a:r>
            <a:r>
              <a:rPr lang="en-US" sz="2400" u="sng" dirty="0">
                <a:solidFill>
                  <a:srgbClr val="000000"/>
                </a:solidFill>
                <a:latin typeface="Nunito 1" panose="020B0604020202020204" charset="0"/>
                <a:ea typeface="Nunito 1 Bold"/>
                <a:cs typeface="Nunito 1 Bold"/>
                <a:sym typeface="Nunito 1 Bold"/>
              </a:rPr>
              <a:t>areas in and near a city</a:t>
            </a:r>
            <a:r>
              <a:rPr lang="en-US" sz="2400" dirty="0">
                <a:solidFill>
                  <a:srgbClr val="000000"/>
                </a:solidFill>
                <a:latin typeface="Nunito 1" panose="020B0604020202020204" charset="0"/>
                <a:ea typeface="Nunito 1 Bold"/>
                <a:cs typeface="Nunito 1 Bold"/>
                <a:sym typeface="Nunito 1 Bold"/>
              </a:rPr>
              <a:t> for the purpose of planning expansions or improvements, locating property lines, fixing reference monuments, determining the physical features and configuration of the land, and preparing maps.</a:t>
            </a:r>
          </a:p>
          <a:p>
            <a:pPr marL="514350" indent="-514350" algn="just">
              <a:buFont typeface="+mj-lt"/>
              <a:buAutoNum type="arabi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400" b="1" dirty="0">
                <a:solidFill>
                  <a:srgbClr val="000000"/>
                </a:solidFill>
                <a:latin typeface="Nunito 1" panose="020B0604020202020204" charset="0"/>
                <a:ea typeface="Nunito 1 Bold"/>
                <a:cs typeface="Nunito 1 Bold"/>
                <a:sym typeface="Nunito 1 Bold"/>
              </a:rPr>
              <a:t>Construction Surveys</a:t>
            </a:r>
            <a:r>
              <a:rPr lang="en-US" sz="2400" dirty="0">
                <a:solidFill>
                  <a:srgbClr val="000000"/>
                </a:solidFill>
                <a:latin typeface="Nunito 1" panose="020B0604020202020204" charset="0"/>
                <a:ea typeface="Nunito 1 Bold"/>
                <a:cs typeface="Nunito 1 Bold"/>
                <a:sym typeface="Nunito 1 Bold"/>
              </a:rPr>
              <a:t> - </a:t>
            </a:r>
            <a:r>
              <a:rPr lang="en-US" sz="2400" u="sng" dirty="0">
                <a:solidFill>
                  <a:srgbClr val="000000"/>
                </a:solidFill>
                <a:latin typeface="Nunito 1" panose="020B0604020202020204" charset="0"/>
                <a:ea typeface="Nunito 1 Bold"/>
                <a:cs typeface="Nunito 1 Bold"/>
                <a:sym typeface="Nunito 1 Bold"/>
              </a:rPr>
              <a:t>undertaken at a construction site to provide data</a:t>
            </a:r>
            <a:r>
              <a:rPr lang="en-US" sz="2400" dirty="0">
                <a:solidFill>
                  <a:srgbClr val="000000"/>
                </a:solidFill>
                <a:latin typeface="Nunito 1" panose="020B0604020202020204" charset="0"/>
                <a:ea typeface="Nunito 1 Bold"/>
                <a:cs typeface="Nunito 1 Bold"/>
                <a:sym typeface="Nunito 1 Bold"/>
              </a:rPr>
              <a:t> regarding grades, reference lines, dimensions, ground configuration, and the location and elevation of structures </a:t>
            </a:r>
            <a:r>
              <a:rPr lang="en-US" sz="2400" u="sng" dirty="0">
                <a:solidFill>
                  <a:srgbClr val="000000"/>
                </a:solidFill>
                <a:latin typeface="Nunito 1" panose="020B0604020202020204" charset="0"/>
                <a:ea typeface="Nunito 1 Bold"/>
                <a:cs typeface="Nunito 1 Bold"/>
                <a:sym typeface="Nunito 1 Bold"/>
              </a:rPr>
              <a:t>which are concern to engineers, architects, and builders</a:t>
            </a:r>
            <a:r>
              <a:rPr lang="en-US" sz="2400" dirty="0">
                <a:solidFill>
                  <a:srgbClr val="000000"/>
                </a:solidFill>
                <a:latin typeface="Nunito 1" panose="020B0604020202020204" charset="0"/>
                <a:ea typeface="Nunito 1 Bold"/>
                <a:cs typeface="Nunito 1 Bold"/>
                <a:sym typeface="Nunito 1 Bold"/>
              </a:rPr>
              <a:t>.</a:t>
            </a:r>
          </a:p>
          <a:p>
            <a:pPr marL="514350" indent="-514350" algn="just">
              <a:buFont typeface="+mj-lt"/>
              <a:buAutoNum type="arabi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400" b="1" dirty="0">
                <a:solidFill>
                  <a:srgbClr val="000000"/>
                </a:solidFill>
                <a:latin typeface="Nunito 1" panose="020B0604020202020204" charset="0"/>
                <a:ea typeface="Nunito 1 Bold"/>
                <a:cs typeface="Nunito 1 Bold"/>
                <a:sym typeface="Nunito 1 Bold"/>
              </a:rPr>
              <a:t>Forestry Surveys </a:t>
            </a:r>
            <a:r>
              <a:rPr lang="en-US" sz="2400" dirty="0">
                <a:solidFill>
                  <a:srgbClr val="000000"/>
                </a:solidFill>
                <a:latin typeface="Nunito 1" panose="020B0604020202020204" charset="0"/>
                <a:ea typeface="Nunito 1 Bold"/>
                <a:cs typeface="Nunito 1 Bold"/>
                <a:sym typeface="Nunito 1 Bold"/>
              </a:rPr>
              <a:t>- a type of survey executed in connection with </a:t>
            </a:r>
            <a:r>
              <a:rPr lang="en-US" sz="2400" u="sng" dirty="0">
                <a:solidFill>
                  <a:srgbClr val="000000"/>
                </a:solidFill>
                <a:latin typeface="Nunito 1" panose="020B0604020202020204" charset="0"/>
                <a:ea typeface="Nunito 1 Bold"/>
                <a:cs typeface="Nunito 1 Bold"/>
                <a:sym typeface="Nunito 1 Bold"/>
              </a:rPr>
              <a:t>forest management and mensuration</a:t>
            </a:r>
            <a:r>
              <a:rPr lang="en-US" sz="2400" dirty="0">
                <a:solidFill>
                  <a:srgbClr val="000000"/>
                </a:solidFill>
                <a:latin typeface="Nunito 1" panose="020B0604020202020204" charset="0"/>
                <a:ea typeface="Nunito 1 Bold"/>
                <a:cs typeface="Nunito 1 Bold"/>
                <a:sym typeface="Nunito 1 Bold"/>
              </a:rPr>
              <a:t>, and the </a:t>
            </a:r>
            <a:r>
              <a:rPr lang="en-US" sz="2400" u="sng" dirty="0">
                <a:solidFill>
                  <a:srgbClr val="000000"/>
                </a:solidFill>
                <a:latin typeface="Nunito 1" panose="020B0604020202020204" charset="0"/>
                <a:ea typeface="Nunito 1 Bold"/>
                <a:cs typeface="Nunito 1 Bold"/>
                <a:sym typeface="Nunito 1 Bold"/>
              </a:rPr>
              <a:t>production and conservation </a:t>
            </a:r>
            <a:r>
              <a:rPr lang="en-US" sz="2400" dirty="0">
                <a:solidFill>
                  <a:srgbClr val="000000"/>
                </a:solidFill>
                <a:latin typeface="Nunito 1" panose="020B0604020202020204" charset="0"/>
                <a:ea typeface="Nunito 1 Bold"/>
                <a:cs typeface="Nunito 1 Bold"/>
                <a:sym typeface="Nunito 1 Bold"/>
              </a:rPr>
              <a:t>of forest lands.</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14" name="Group 13">
            <a:extLst>
              <a:ext uri="{FF2B5EF4-FFF2-40B4-BE49-F238E27FC236}">
                <a16:creationId xmlns:a16="http://schemas.microsoft.com/office/drawing/2014/main" id="{5947978B-5DDE-30DC-067D-DC5025D3D3A3}"/>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5EC9AF04-0B81-AD9F-46F5-F91077FD9B05}"/>
                </a:ext>
              </a:extLst>
            </p:cNvPr>
            <p:cNvGrpSpPr/>
            <p:nvPr/>
          </p:nvGrpSpPr>
          <p:grpSpPr>
            <a:xfrm>
              <a:off x="0" y="9599694"/>
              <a:ext cx="18287999" cy="687305"/>
              <a:chOff x="0" y="0"/>
              <a:chExt cx="5260714" cy="490218"/>
            </a:xfrm>
          </p:grpSpPr>
          <p:sp>
            <p:nvSpPr>
              <p:cNvPr id="18" name="Freeform 12">
                <a:extLst>
                  <a:ext uri="{FF2B5EF4-FFF2-40B4-BE49-F238E27FC236}">
                    <a16:creationId xmlns:a16="http://schemas.microsoft.com/office/drawing/2014/main" id="{23B5D171-B0A8-5341-9796-708B16C2591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F88BFA4B-961A-F101-6045-589F4D1A3E3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F29DAE75-D1B3-B932-EF70-5D5BE3D11D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8242E4E7-E9EB-AA24-F297-6BC54D2B4DCF}"/>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2336795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p:cNvGrpSpPr/>
          <p:nvPr/>
        </p:nvGrpSpPr>
        <p:grpSpPr>
          <a:xfrm>
            <a:off x="1028700" y="1233888"/>
            <a:ext cx="16230600" cy="7447557"/>
            <a:chOff x="0" y="0"/>
            <a:chExt cx="4274726" cy="1718953"/>
          </a:xfrm>
        </p:grpSpPr>
        <p:sp>
          <p:nvSpPr>
            <p:cNvPr id="6" name="Freeform 6"/>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5170646"/>
          </a:xfrm>
          <a:prstGeom prst="rect">
            <a:avLst/>
          </a:prstGeom>
        </p:spPr>
        <p:txBody>
          <a:bodyPr wrap="square" lIns="0" tIns="0" rIns="0" bIns="0" rtlCol="0" anchor="t">
            <a:spAutoFit/>
          </a:bodyPr>
          <a:lstStyle/>
          <a:p>
            <a:pPr marL="457200" indent="-457200" algn="just">
              <a:buFont typeface="+mj-lt"/>
              <a:buAutoNum type="arabicPeriod" startAt="5"/>
            </a:pPr>
            <a:r>
              <a:rPr lang="en-US" sz="2400" b="1" dirty="0">
                <a:solidFill>
                  <a:srgbClr val="000000"/>
                </a:solidFill>
                <a:latin typeface="Nunito 1" panose="020B0604020202020204" charset="0"/>
                <a:ea typeface="Nunito 1 Bold"/>
                <a:cs typeface="Nunito 1 Bold"/>
                <a:sym typeface="Nunito 1 Bold"/>
              </a:rPr>
              <a:t>Hydrographic Surveys </a:t>
            </a:r>
            <a:r>
              <a:rPr lang="en-US" sz="2400" dirty="0">
                <a:solidFill>
                  <a:srgbClr val="000000"/>
                </a:solidFill>
                <a:latin typeface="Nunito 1" panose="020B0604020202020204" charset="0"/>
                <a:ea typeface="Nunito 1 Bold"/>
                <a:cs typeface="Nunito 1 Bold"/>
                <a:sym typeface="Nunito 1 Bold"/>
              </a:rPr>
              <a:t>- refer to </a:t>
            </a:r>
            <a:r>
              <a:rPr lang="en-US" sz="2400" u="sng" dirty="0">
                <a:solidFill>
                  <a:srgbClr val="000000"/>
                </a:solidFill>
                <a:latin typeface="Nunito 1" panose="020B0604020202020204" charset="0"/>
                <a:ea typeface="Nunito 1 Bold"/>
                <a:cs typeface="Nunito 1 Bold"/>
                <a:sym typeface="Nunito 1 Bold"/>
              </a:rPr>
              <a:t>surveying</a:t>
            </a:r>
            <a:r>
              <a:rPr lang="en-US" sz="2400" dirty="0">
                <a:solidFill>
                  <a:srgbClr val="000000"/>
                </a:solidFill>
                <a:latin typeface="Nunito 1" panose="020B0604020202020204" charset="0"/>
                <a:ea typeface="Nunito 1 Bold"/>
                <a:cs typeface="Nunito 1 Bold"/>
                <a:sym typeface="Nunito 1 Bold"/>
              </a:rPr>
              <a:t> streams, lakes, reservoirs, harbors, oceans, and other </a:t>
            </a:r>
            <a:r>
              <a:rPr lang="en-US" sz="2400" u="sng" dirty="0">
                <a:solidFill>
                  <a:srgbClr val="000000"/>
                </a:solidFill>
                <a:latin typeface="Nunito 1" panose="020B0604020202020204" charset="0"/>
                <a:ea typeface="Nunito 1 Bold"/>
                <a:cs typeface="Nunito 1 Bold"/>
                <a:sym typeface="Nunito 1 Bold"/>
              </a:rPr>
              <a:t>bodies of water</a:t>
            </a:r>
            <a:r>
              <a:rPr lang="en-US" sz="2400" dirty="0">
                <a:solidFill>
                  <a:srgbClr val="000000"/>
                </a:solidFill>
                <a:latin typeface="Nunito 1" panose="020B0604020202020204" charset="0"/>
                <a:ea typeface="Nunito 1 Bold"/>
                <a:cs typeface="Nunito 1 Bold"/>
                <a:sym typeface="Nunito 1 Bold"/>
              </a:rPr>
              <a:t>. These surveys are made to </a:t>
            </a:r>
            <a:r>
              <a:rPr lang="en-US" sz="2400" u="sng" dirty="0">
                <a:solidFill>
                  <a:srgbClr val="000000"/>
                </a:solidFill>
                <a:latin typeface="Nunito 1" panose="020B0604020202020204" charset="0"/>
                <a:ea typeface="Nunito 1 Bold"/>
                <a:cs typeface="Nunito 1 Bold"/>
                <a:sym typeface="Nunito 1 Bold"/>
              </a:rPr>
              <a:t>map shore lines, chart the shape of areas underlying water surfaces, and measure the flow of streams</a:t>
            </a:r>
            <a:r>
              <a:rPr lang="en-US" sz="2400" dirty="0">
                <a:solidFill>
                  <a:srgbClr val="000000"/>
                </a:solidFill>
                <a:latin typeface="Nunito 1" panose="020B0604020202020204" charset="0"/>
                <a:ea typeface="Nunito 1 Bold"/>
                <a:cs typeface="Nunito 1 Bold"/>
                <a:sym typeface="Nunito 1 Bold"/>
              </a:rPr>
              <a:t>. They are of general importance in connection with navigation, development of water supply and resources, flood control, irrigation, production of hydro-electric power, subaqueous constructions, and recreation.</a:t>
            </a:r>
          </a:p>
          <a:p>
            <a:pPr marL="457200" indent="-457200" algn="just">
              <a:buFont typeface="+mj-lt"/>
              <a:buAutoNum type="arabicPeriod" startAt="5"/>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Font typeface="+mj-lt"/>
              <a:buAutoNum type="arabicPeriod" startAt="5"/>
            </a:pPr>
            <a:r>
              <a:rPr lang="en-US" sz="2400" b="1" dirty="0">
                <a:solidFill>
                  <a:srgbClr val="000000"/>
                </a:solidFill>
                <a:latin typeface="Nunito 1" panose="020B0604020202020204" charset="0"/>
                <a:ea typeface="Nunito 1 Bold"/>
                <a:cs typeface="Nunito 1 Bold"/>
                <a:sym typeface="Nunito 1 Bold"/>
              </a:rPr>
              <a:t>Industrial Surveys </a:t>
            </a:r>
            <a:r>
              <a:rPr lang="en-US" sz="2400" dirty="0">
                <a:solidFill>
                  <a:srgbClr val="000000"/>
                </a:solidFill>
                <a:latin typeface="Nunito 1" panose="020B0604020202020204" charset="0"/>
                <a:ea typeface="Nunito 1 Bold"/>
                <a:cs typeface="Nunito 1 Bold"/>
                <a:sym typeface="Nunito 1 Bold"/>
              </a:rPr>
              <a:t>– involves </a:t>
            </a:r>
            <a:r>
              <a:rPr lang="en-US" sz="2400" u="sng" dirty="0">
                <a:solidFill>
                  <a:srgbClr val="000000"/>
                </a:solidFill>
                <a:latin typeface="Nunito 1" panose="020B0604020202020204" charset="0"/>
                <a:ea typeface="Nunito 1 Bold"/>
                <a:cs typeface="Nunito 1 Bold"/>
                <a:sym typeface="Nunito 1 Bold"/>
              </a:rPr>
              <a:t>high-precision surveys for constructing and installing heavy machinery in industrial settings </a:t>
            </a:r>
            <a:r>
              <a:rPr lang="en-US" sz="2400" dirty="0">
                <a:solidFill>
                  <a:srgbClr val="000000"/>
                </a:solidFill>
                <a:latin typeface="Nunito 1" panose="020B0604020202020204" charset="0"/>
                <a:ea typeface="Nunito 1 Bold"/>
                <a:cs typeface="Nunito 1 Bold"/>
                <a:sym typeface="Nunito 1 Bold"/>
              </a:rPr>
              <a:t>such as in ship building, construction and assembly of aircraft, layout and installation of heavy and complex machinery, and in other industries where very accurate dimensional layouts are required.</a:t>
            </a:r>
          </a:p>
          <a:p>
            <a:pPr marL="457200" indent="-457200" algn="just">
              <a:buFont typeface="+mj-lt"/>
              <a:buAutoNum type="arabicPeriod" startAt="5"/>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Font typeface="+mj-lt"/>
              <a:buAutoNum type="arabicPeriod" startAt="5"/>
            </a:pPr>
            <a:r>
              <a:rPr lang="en-US" sz="2400" b="1" dirty="0">
                <a:solidFill>
                  <a:srgbClr val="000000"/>
                </a:solidFill>
                <a:latin typeface="Nunito 1" panose="020B0604020202020204" charset="0"/>
                <a:ea typeface="Nunito 1 Bold"/>
                <a:cs typeface="Nunito 1 Bold"/>
                <a:sym typeface="Nunito 1 Bold"/>
              </a:rPr>
              <a:t>Mine Surveys</a:t>
            </a:r>
            <a:r>
              <a:rPr lang="en-US" sz="2400" dirty="0">
                <a:solidFill>
                  <a:srgbClr val="000000"/>
                </a:solidFill>
                <a:latin typeface="Nunito 1" panose="020B0604020202020204" charset="0"/>
                <a:ea typeface="Nunito 1 Bold"/>
                <a:cs typeface="Nunito 1 Bold"/>
                <a:sym typeface="Nunito 1 Bold"/>
              </a:rPr>
              <a:t> - </a:t>
            </a:r>
            <a:r>
              <a:rPr lang="en-US" sz="2400" u="sng" dirty="0">
                <a:solidFill>
                  <a:srgbClr val="000000"/>
                </a:solidFill>
                <a:latin typeface="Nunito 1" panose="020B0604020202020204" charset="0"/>
                <a:ea typeface="Nunito 1 Bold"/>
                <a:cs typeface="Nunito 1 Bold"/>
                <a:sym typeface="Nunito 1 Bold"/>
              </a:rPr>
              <a:t>surveys which are performed </a:t>
            </a:r>
            <a:r>
              <a:rPr lang="en-US" sz="2400" dirty="0">
                <a:solidFill>
                  <a:srgbClr val="000000"/>
                </a:solidFill>
                <a:latin typeface="Nunito 1" panose="020B0604020202020204" charset="0"/>
                <a:ea typeface="Nunito 1 Bold"/>
                <a:cs typeface="Nunito 1 Bold"/>
                <a:sym typeface="Nunito 1 Bold"/>
              </a:rPr>
              <a:t>to determine the position of all underground excavations, surface mine structures, to fix surface boundaries and of mining claims, determine geological formations, to calculate excavated volumes, and establish lines and grades for other related </a:t>
            </a:r>
            <a:r>
              <a:rPr lang="en-US" sz="2400" u="sng" dirty="0">
                <a:solidFill>
                  <a:srgbClr val="000000"/>
                </a:solidFill>
                <a:latin typeface="Nunito 1" panose="020B0604020202020204" charset="0"/>
                <a:ea typeface="Nunito 1 Bold"/>
                <a:cs typeface="Nunito 1 Bold"/>
                <a:sym typeface="Nunito 1 Bold"/>
              </a:rPr>
              <a:t>mining work</a:t>
            </a:r>
            <a:r>
              <a:rPr lang="en-US" sz="2400" dirty="0">
                <a:solidFill>
                  <a:srgbClr val="000000"/>
                </a:solidFill>
                <a:latin typeface="Nunito 1" panose="020B0604020202020204" charset="0"/>
                <a:ea typeface="Nunito 1 Bold"/>
                <a:cs typeface="Nunito 1 Bold"/>
                <a:sym typeface="Nunito 1 Bold"/>
              </a:rPr>
              <a:t>.</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14" name="Group 13">
            <a:extLst>
              <a:ext uri="{FF2B5EF4-FFF2-40B4-BE49-F238E27FC236}">
                <a16:creationId xmlns:a16="http://schemas.microsoft.com/office/drawing/2014/main" id="{5EE8E994-3D11-422B-28F4-443B8B6D897F}"/>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3D1E4ED7-CC8E-C44C-EF5D-F7DE1A8C13D6}"/>
                </a:ext>
              </a:extLst>
            </p:cNvPr>
            <p:cNvGrpSpPr/>
            <p:nvPr/>
          </p:nvGrpSpPr>
          <p:grpSpPr>
            <a:xfrm>
              <a:off x="0" y="9599694"/>
              <a:ext cx="18287999" cy="687305"/>
              <a:chOff x="0" y="0"/>
              <a:chExt cx="5260714" cy="490218"/>
            </a:xfrm>
          </p:grpSpPr>
          <p:sp>
            <p:nvSpPr>
              <p:cNvPr id="18" name="Freeform 12">
                <a:extLst>
                  <a:ext uri="{FF2B5EF4-FFF2-40B4-BE49-F238E27FC236}">
                    <a16:creationId xmlns:a16="http://schemas.microsoft.com/office/drawing/2014/main" id="{19E2FD99-7FA2-8690-5C14-B491B5B2E80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6DE06409-4B8B-02CB-B996-B10436B32934}"/>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33A54229-D7C2-89D5-CFB3-C34FE5CFBCE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D287DFB6-7333-09CD-A30B-6E0F4E26A4AB}"/>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722030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p:cNvGrpSpPr/>
          <p:nvPr/>
        </p:nvGrpSpPr>
        <p:grpSpPr>
          <a:xfrm>
            <a:off x="1028700" y="1233888"/>
            <a:ext cx="16230600" cy="7447557"/>
            <a:chOff x="0" y="0"/>
            <a:chExt cx="4274726" cy="1718953"/>
          </a:xfrm>
        </p:grpSpPr>
        <p:sp>
          <p:nvSpPr>
            <p:cNvPr id="6" name="Freeform 6"/>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5"/>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41299"/>
            <a:ext cx="14935200" cy="4431983"/>
          </a:xfrm>
          <a:prstGeom prst="rect">
            <a:avLst/>
          </a:prstGeom>
        </p:spPr>
        <p:txBody>
          <a:bodyPr wrap="square" lIns="0" tIns="0" rIns="0" bIns="0" rtlCol="0" anchor="t">
            <a:spAutoFit/>
          </a:bodyPr>
          <a:lstStyle/>
          <a:p>
            <a:pPr marL="514350" indent="-514350" algn="just">
              <a:buFont typeface="+mj-lt"/>
              <a:buAutoNum type="arabicPeriod" startAt="8"/>
            </a:pPr>
            <a:r>
              <a:rPr lang="en-US" sz="2400" b="1" dirty="0">
                <a:solidFill>
                  <a:srgbClr val="000000"/>
                </a:solidFill>
                <a:latin typeface="Nunito 1" panose="020B0604020202020204" charset="0"/>
                <a:ea typeface="Nunito 1 Bold"/>
                <a:cs typeface="Nunito 1 Bold"/>
                <a:sym typeface="Nunito 1 Bold"/>
              </a:rPr>
              <a:t>Photogrammetric Surveys - </a:t>
            </a:r>
            <a:r>
              <a:rPr lang="en-US" sz="2400" dirty="0">
                <a:solidFill>
                  <a:srgbClr val="000000"/>
                </a:solidFill>
                <a:latin typeface="Nunito 1" panose="020B0604020202020204" charset="0"/>
                <a:ea typeface="Nunito 1 Bold"/>
                <a:cs typeface="Nunito 1 Bold"/>
                <a:sym typeface="Nunito 1 Bold"/>
              </a:rPr>
              <a:t>a type of survey which makes use aerial photographs to make maps and measurements, often in combination with limited ground surveys.</a:t>
            </a:r>
          </a:p>
          <a:p>
            <a:pPr marL="514350" indent="-514350" algn="just">
              <a:buFont typeface="+mj-lt"/>
              <a:buAutoNum type="arabicPeriod" startAt="8"/>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400" b="1" dirty="0">
                <a:solidFill>
                  <a:srgbClr val="000000"/>
                </a:solidFill>
                <a:latin typeface="Nunito 1" panose="020B0604020202020204" charset="0"/>
                <a:ea typeface="Nunito 1 Bold"/>
                <a:cs typeface="Nunito 1 Bold"/>
                <a:sym typeface="Nunito 1 Bold"/>
              </a:rPr>
              <a:t>Route Surveys</a:t>
            </a:r>
            <a:r>
              <a:rPr lang="en-US" sz="2400" dirty="0">
                <a:solidFill>
                  <a:srgbClr val="000000"/>
                </a:solidFill>
                <a:latin typeface="Nunito 1" panose="020B0604020202020204" charset="0"/>
                <a:ea typeface="Nunito 1 Bold"/>
                <a:cs typeface="Nunito 1 Bold"/>
                <a:sym typeface="Nunito 1 Bold"/>
              </a:rPr>
              <a:t> - involves the </a:t>
            </a:r>
            <a:r>
              <a:rPr lang="en-US" sz="2400" u="sng" dirty="0">
                <a:solidFill>
                  <a:srgbClr val="000000"/>
                </a:solidFill>
                <a:latin typeface="Nunito 1" panose="020B0604020202020204" charset="0"/>
                <a:ea typeface="Nunito 1 Bold"/>
                <a:cs typeface="Nunito 1 Bold"/>
                <a:sym typeface="Nunito 1 Bold"/>
              </a:rPr>
              <a:t>determination of alignment, grades, earthwork quantities, location of natural and artificial objects</a:t>
            </a:r>
            <a:r>
              <a:rPr lang="en-US" sz="2400" dirty="0">
                <a:solidFill>
                  <a:srgbClr val="000000"/>
                </a:solidFill>
                <a:latin typeface="Nunito 1" panose="020B0604020202020204" charset="0"/>
                <a:ea typeface="Nunito 1 Bold"/>
                <a:cs typeface="Nunito 1 Bold"/>
                <a:sym typeface="Nunito 1 Bold"/>
              </a:rPr>
              <a:t> in connection with the planning, design, and construction of highways, railroads, pipelines, canals, transmission lines, and other </a:t>
            </a:r>
            <a:r>
              <a:rPr lang="en-US" sz="2400" u="sng" dirty="0">
                <a:solidFill>
                  <a:srgbClr val="000000"/>
                </a:solidFill>
                <a:latin typeface="Nunito 1" panose="020B0604020202020204" charset="0"/>
                <a:ea typeface="Nunito 1 Bold"/>
                <a:cs typeface="Nunito 1 Bold"/>
                <a:sym typeface="Nunito 1 Bold"/>
              </a:rPr>
              <a:t>linear projects</a:t>
            </a:r>
            <a:r>
              <a:rPr lang="en-US" sz="2400" dirty="0">
                <a:solidFill>
                  <a:srgbClr val="000000"/>
                </a:solidFill>
                <a:latin typeface="Nunito 1" panose="020B0604020202020204" charset="0"/>
                <a:ea typeface="Nunito 1 Bold"/>
                <a:cs typeface="Nunito 1 Bold"/>
                <a:sym typeface="Nunito 1 Bold"/>
              </a:rPr>
              <a:t>.</a:t>
            </a:r>
          </a:p>
          <a:p>
            <a:pPr marL="514350" indent="-514350" algn="just">
              <a:buFont typeface="+mj-lt"/>
              <a:buAutoNum type="arabicPeriod" startAt="8"/>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400" b="1" dirty="0">
                <a:solidFill>
                  <a:srgbClr val="000000"/>
                </a:solidFill>
                <a:latin typeface="Nunito 1" panose="020B0604020202020204" charset="0"/>
                <a:ea typeface="Nunito 1 Bold"/>
                <a:cs typeface="Nunito 1 Bold"/>
                <a:sym typeface="Nunito 1 Bold"/>
              </a:rPr>
              <a:t>Topographic Surveys</a:t>
            </a:r>
            <a:r>
              <a:rPr lang="en-US" sz="2400" dirty="0">
                <a:solidFill>
                  <a:srgbClr val="000000"/>
                </a:solidFill>
                <a:latin typeface="Nunito 1" panose="020B0604020202020204" charset="0"/>
                <a:ea typeface="Nunito 1 Bold"/>
                <a:cs typeface="Nunito 1 Bold"/>
                <a:sym typeface="Nunito 1 Bold"/>
              </a:rPr>
              <a:t> - are those surveys made for </a:t>
            </a:r>
            <a:r>
              <a:rPr lang="en-US" sz="2400" u="sng" dirty="0">
                <a:solidFill>
                  <a:srgbClr val="000000"/>
                </a:solidFill>
                <a:latin typeface="Nunito 1" panose="020B0604020202020204" charset="0"/>
                <a:ea typeface="Nunito 1 Bold"/>
                <a:cs typeface="Nunito 1 Bold"/>
                <a:sym typeface="Nunito 1 Bold"/>
              </a:rPr>
              <a:t>determining the shape of the ground, and the location and elevation of natural and artificial features upon it</a:t>
            </a:r>
            <a:r>
              <a:rPr lang="en-US" sz="2400" dirty="0">
                <a:solidFill>
                  <a:srgbClr val="000000"/>
                </a:solidFill>
                <a:latin typeface="Nunito 1" panose="020B0604020202020204" charset="0"/>
                <a:ea typeface="Nunito 1 Bold"/>
                <a:cs typeface="Nunito 1 Bold"/>
                <a:sym typeface="Nunito 1 Bold"/>
              </a:rPr>
              <a:t>. The features shown include such natural objects as hills, mountains, rivers, lakes, relief of the ground surface, </a:t>
            </a:r>
            <a:r>
              <a:rPr lang="en-US" sz="2400" dirty="0" err="1">
                <a:solidFill>
                  <a:srgbClr val="000000"/>
                </a:solidFill>
                <a:latin typeface="Nunito 1" panose="020B0604020202020204" charset="0"/>
                <a:ea typeface="Nunito 1 Bold"/>
                <a:cs typeface="Nunito 1 Bold"/>
                <a:sym typeface="Nunito 1 Bold"/>
              </a:rPr>
              <a:t>etc</a:t>
            </a:r>
            <a:r>
              <a:rPr lang="en-US" sz="2400" dirty="0">
                <a:solidFill>
                  <a:srgbClr val="000000"/>
                </a:solidFill>
                <a:latin typeface="Nunito 1" panose="020B0604020202020204" charset="0"/>
                <a:ea typeface="Nunito 1 Bold"/>
                <a:cs typeface="Nunito 1 Bold"/>
                <a:sym typeface="Nunito 1 Bold"/>
              </a:rPr>
              <a:t>, and works of man, such as roads, buildings, ports, towns, municipalities, and bridges.</a:t>
            </a:r>
          </a:p>
          <a:p>
            <a:pPr marL="514350" indent="-514350" algn="just">
              <a:buFont typeface="+mj-lt"/>
              <a:buAutoNum type="arabicPeriod" startAt="8"/>
            </a:pPr>
            <a:endParaRPr lang="en-US" sz="2400" dirty="0">
              <a:solidFill>
                <a:srgbClr val="000000"/>
              </a:solidFill>
              <a:latin typeface="Nunito 1" panose="020B0604020202020204" charset="0"/>
              <a:ea typeface="Nunito 1 Bold"/>
              <a:cs typeface="Nunito 1 Bold"/>
              <a:sym typeface="Nunito 1 Bold"/>
            </a:endParaRP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14" name="Group 13">
            <a:extLst>
              <a:ext uri="{FF2B5EF4-FFF2-40B4-BE49-F238E27FC236}">
                <a16:creationId xmlns:a16="http://schemas.microsoft.com/office/drawing/2014/main" id="{4EDE1EC7-8287-310E-6A50-34AFCFBA8AA9}"/>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6CD5FFE6-3EC3-84FD-05C4-ECFDA881E40B}"/>
                </a:ext>
              </a:extLst>
            </p:cNvPr>
            <p:cNvGrpSpPr/>
            <p:nvPr/>
          </p:nvGrpSpPr>
          <p:grpSpPr>
            <a:xfrm>
              <a:off x="0" y="9599694"/>
              <a:ext cx="18287999" cy="687305"/>
              <a:chOff x="0" y="0"/>
              <a:chExt cx="5260714" cy="490218"/>
            </a:xfrm>
          </p:grpSpPr>
          <p:sp>
            <p:nvSpPr>
              <p:cNvPr id="18" name="Freeform 12">
                <a:extLst>
                  <a:ext uri="{FF2B5EF4-FFF2-40B4-BE49-F238E27FC236}">
                    <a16:creationId xmlns:a16="http://schemas.microsoft.com/office/drawing/2014/main" id="{F49F9DD7-9E1B-C0A9-13CC-E2671D34AAEC}"/>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8DBE7E5B-8394-E2F1-E809-8953DB7B68A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24C9E00F-8BED-8FF3-3E88-032274A0402D}"/>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FFDF584E-C2B7-7F71-949C-B9D8C4618569}"/>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012284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5</a:t>
            </a:r>
          </a:p>
        </p:txBody>
      </p:sp>
      <p:sp>
        <p:nvSpPr>
          <p:cNvPr id="15" name="TextBox 15"/>
          <p:cNvSpPr txBox="1"/>
          <p:nvPr/>
        </p:nvSpPr>
        <p:spPr>
          <a:xfrm>
            <a:off x="1523998" y="2025065"/>
            <a:ext cx="15240002" cy="1191993"/>
          </a:xfrm>
          <a:prstGeom prst="rect">
            <a:avLst/>
          </a:prstGeom>
        </p:spPr>
        <p:txBody>
          <a:bodyPr wrap="square" lIns="0" tIns="0" rIns="0" bIns="0" rtlCol="0" anchor="t">
            <a:spAutoFit/>
          </a:bodyPr>
          <a:lstStyle/>
          <a:p>
            <a:pPr algn="ctr">
              <a:lnSpc>
                <a:spcPts val="4899"/>
              </a:lnSpc>
            </a:pPr>
            <a:r>
              <a:rPr lang="en-US" sz="2400" b="1" dirty="0">
                <a:solidFill>
                  <a:srgbClr val="000000"/>
                </a:solidFill>
                <a:latin typeface="Nunito 1 Bold"/>
                <a:ea typeface="Nunito 1 Bold"/>
                <a:cs typeface="Nunito 1 Bold"/>
                <a:sym typeface="Nunito 1 Bold"/>
              </a:rPr>
              <a:t>The person who is responsible for the overall direction, supervision, and operational control of the survey party.</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611632"/>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Chief surveyor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Chief of party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Survey technician</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Instrument technician</a:t>
            </a:r>
          </a:p>
        </p:txBody>
      </p:sp>
      <p:sp>
        <p:nvSpPr>
          <p:cNvPr id="22" name="Oval 21">
            <a:extLst>
              <a:ext uri="{FF2B5EF4-FFF2-40B4-BE49-F238E27FC236}">
                <a16:creationId xmlns:a16="http://schemas.microsoft.com/office/drawing/2014/main" id="{C16DF3DE-3062-D00D-FC1F-F2CCEDA706F7}"/>
              </a:ext>
            </a:extLst>
          </p:cNvPr>
          <p:cNvSpPr/>
          <p:nvPr/>
        </p:nvSpPr>
        <p:spPr>
          <a:xfrm>
            <a:off x="1505640" y="3519838"/>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5" name="Group 4">
            <a:extLst>
              <a:ext uri="{FF2B5EF4-FFF2-40B4-BE49-F238E27FC236}">
                <a16:creationId xmlns:a16="http://schemas.microsoft.com/office/drawing/2014/main" id="{F3B137D7-66F1-2048-4592-0FB2F4F1A9AC}"/>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58B3B0CC-B9C4-C137-4897-589814C9721A}"/>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5C5FDB5F-761D-E368-566E-796702D38AD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7CEDB336-525B-6F70-A199-1081098234B8}"/>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FBD80CD1-F208-172F-08AD-FD1211EFB8B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5E724D93-666A-745A-8C8B-9E0D74401DBF}"/>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583664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3DE38-8459-7B76-CC3D-80B839171E33}"/>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A8BA38B6-1B79-ABA7-BD61-110445AD298E}"/>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C6EF29EB-1662-3529-6B6F-376AC7FD7BB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26A10D3-D38D-8D83-159B-F1F8AF08443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F6874705-7D24-1B3C-58ED-1670D0D5513C}"/>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9DCFBD9A-FF7E-B65F-1506-95E46EF07B8F}"/>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30986260-3C25-47C5-1304-A3415FF734F7}"/>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FBA24E44-47C1-ABA0-62F2-C2026D346559}"/>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B6FCACA8-692D-BA23-C629-9CE4FEBC2EEA}"/>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001139F-D907-0692-87AF-FB3DF83A1D3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8BD4DD1A-5A82-4D08-55EC-028CE846593F}"/>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75775B74-17DA-44C7-60D8-AE31202C43F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B1CEF677-D2B1-5F22-1D71-CB6C1EF8709F}"/>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170A27C7-873C-604C-62F1-2DDD18597822}"/>
              </a:ext>
            </a:extLst>
          </p:cNvPr>
          <p:cNvSpPr txBox="1"/>
          <p:nvPr/>
        </p:nvSpPr>
        <p:spPr>
          <a:xfrm>
            <a:off x="2246041" y="1104900"/>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Members of the Field Survey Party</a:t>
            </a:r>
            <a:endParaRPr lang="en-US" sz="2400" dirty="0">
              <a:solidFill>
                <a:srgbClr val="000000"/>
              </a:solidFill>
              <a:latin typeface="Nunito 1" panose="020B0604020202020204" charset="0"/>
              <a:ea typeface="Nunito 1 Bold"/>
              <a:cs typeface="Nunito 1 Bold"/>
              <a:sym typeface="Nunito 1 Bold"/>
            </a:endParaRPr>
          </a:p>
        </p:txBody>
      </p:sp>
      <p:sp>
        <p:nvSpPr>
          <p:cNvPr id="19" name="TextBox 12">
            <a:extLst>
              <a:ext uri="{FF2B5EF4-FFF2-40B4-BE49-F238E27FC236}">
                <a16:creationId xmlns:a16="http://schemas.microsoft.com/office/drawing/2014/main" id="{3AA7B82D-0430-FB5D-65F4-5EEE19ED482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15497D2D-E08C-F415-5125-372CEC7CE84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6BDEFB58-EA04-26BC-0945-52AC92A98A54}"/>
              </a:ext>
            </a:extLst>
          </p:cNvPr>
          <p:cNvSpPr txBox="1"/>
          <p:nvPr/>
        </p:nvSpPr>
        <p:spPr>
          <a:xfrm>
            <a:off x="1698478" y="2015423"/>
            <a:ext cx="14989322" cy="6432530"/>
          </a:xfrm>
          <a:prstGeom prst="rect">
            <a:avLst/>
          </a:prstGeom>
        </p:spPr>
        <p:txBody>
          <a:bodyPr wrap="square" lIns="0" tIns="0" rIns="0" bIns="0" rtlCol="0" anchor="t">
            <a:spAutoFit/>
          </a:bodyPr>
          <a:lstStyle/>
          <a:p>
            <a:pPr marL="514350" indent="-514350" algn="just">
              <a:buFont typeface="+mj-lt"/>
              <a:buAutoNum type="arabicPeriod"/>
            </a:pPr>
            <a:r>
              <a:rPr lang="en-US" sz="2200" dirty="0">
                <a:solidFill>
                  <a:srgbClr val="000000"/>
                </a:solidFill>
                <a:latin typeface="Nunito 1" panose="020B0604020202020204" charset="0"/>
                <a:ea typeface="Nunito 1 Bold"/>
                <a:cs typeface="Nunito 1 Bold"/>
                <a:sym typeface="Nunito 1 Bold"/>
              </a:rPr>
              <a:t>Chief of Party – The person who is responsible for the overall direction, supervision, and operational control of the survey party.</a:t>
            </a:r>
          </a:p>
          <a:p>
            <a:pPr marL="514350" indent="-514350" algn="just">
              <a:buFont typeface="+mj-lt"/>
              <a:buAutoNum type="arabicPeriod"/>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200" dirty="0">
                <a:solidFill>
                  <a:srgbClr val="000000"/>
                </a:solidFill>
                <a:latin typeface="Nunito 1" panose="020B0604020202020204" charset="0"/>
                <a:ea typeface="Nunito 1 Bold"/>
                <a:cs typeface="Nunito 1 Bold"/>
                <a:sym typeface="Nunito 1 Bold"/>
              </a:rPr>
              <a:t>Assistant Chief of Party – The person whose duty is to assist the chief of party in the accomplishment of the work assigned to the survey party.</a:t>
            </a:r>
          </a:p>
          <a:p>
            <a:pPr marL="514350" indent="-514350" algn="just">
              <a:buFont typeface="+mj-lt"/>
              <a:buAutoNum type="arabicPeriod"/>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200" dirty="0" err="1">
                <a:solidFill>
                  <a:srgbClr val="000000"/>
                </a:solidFill>
                <a:latin typeface="Nunito 1" panose="020B0604020202020204" charset="0"/>
                <a:ea typeface="Nunito 1 Bold"/>
                <a:cs typeface="Nunito 1 Bold"/>
                <a:sym typeface="Nunito 1 Bold"/>
              </a:rPr>
              <a:t>Instrumentman</a:t>
            </a:r>
            <a:r>
              <a:rPr lang="en-US" sz="2200" dirty="0">
                <a:solidFill>
                  <a:srgbClr val="000000"/>
                </a:solidFill>
                <a:latin typeface="Nunito 1" panose="020B0604020202020204" charset="0"/>
                <a:ea typeface="Nunito 1 Bold"/>
                <a:cs typeface="Nunito 1 Bold"/>
                <a:sym typeface="Nunito 1 Bold"/>
              </a:rPr>
              <a:t> – The person whose duty is to set up, level, and operate surveying instruments such as the transit, engineer’s level, theodolite, sextant, plane table, and alidade.</a:t>
            </a:r>
          </a:p>
          <a:p>
            <a:pPr marL="514350" indent="-514350" algn="just">
              <a:buFont typeface="+mj-lt"/>
              <a:buAutoNum type="arabicPeriod"/>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200" dirty="0">
                <a:solidFill>
                  <a:srgbClr val="000000"/>
                </a:solidFill>
                <a:latin typeface="Nunito 1" panose="020B0604020202020204" charset="0"/>
                <a:ea typeface="Nunito 1 Bold"/>
                <a:cs typeface="Nunito 1 Bold"/>
                <a:sym typeface="Nunito 1 Bold"/>
              </a:rPr>
              <a:t>Technician – The person who is responsible for use and operation of all electronic instruments required in a field work operation.</a:t>
            </a:r>
          </a:p>
          <a:p>
            <a:pPr marL="514350" indent="-514350" algn="just">
              <a:buFont typeface="+mj-lt"/>
              <a:buAutoNum type="arabicPeriod"/>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200" dirty="0">
                <a:solidFill>
                  <a:srgbClr val="000000"/>
                </a:solidFill>
                <a:latin typeface="Nunito 1" panose="020B0604020202020204" charset="0"/>
                <a:ea typeface="Nunito 1 Bold"/>
                <a:cs typeface="Nunito 1 Bold"/>
                <a:sym typeface="Nunito 1 Bold"/>
              </a:rPr>
              <a:t>Computer – The person whose duty is to perform all computations of survey data and works out necessary computational checks required in a field work operation.</a:t>
            </a:r>
          </a:p>
          <a:p>
            <a:pPr marL="514350" indent="-514350" algn="just">
              <a:buFont typeface="+mj-lt"/>
              <a:buAutoNum type="arabicPeriod"/>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200" dirty="0">
                <a:solidFill>
                  <a:srgbClr val="000000"/>
                </a:solidFill>
                <a:latin typeface="Nunito 1" panose="020B0604020202020204" charset="0"/>
                <a:ea typeface="Nunito 1 Bold"/>
                <a:cs typeface="Nunito 1 Bold"/>
                <a:sym typeface="Nunito 1 Bold"/>
              </a:rPr>
              <a:t>Recorder – The person whose duty is to keep a record of all sketches, drawings, measurements and observations needed for a field work operation.</a:t>
            </a:r>
          </a:p>
          <a:p>
            <a:pPr marL="514350" indent="-514350" algn="just">
              <a:buFont typeface="+mj-lt"/>
              <a:buAutoNum type="arabicPeriod"/>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a:pPr>
            <a:r>
              <a:rPr lang="en-US" sz="2200" dirty="0">
                <a:solidFill>
                  <a:srgbClr val="000000"/>
                </a:solidFill>
                <a:latin typeface="Nunito 1" panose="020B0604020202020204" charset="0"/>
                <a:ea typeface="Nunito 1 Bold"/>
                <a:cs typeface="Nunito 1 Bold"/>
                <a:sym typeface="Nunito 1 Bold"/>
              </a:rPr>
              <a:t>Head </a:t>
            </a:r>
            <a:r>
              <a:rPr lang="en-US" sz="2200" dirty="0" err="1">
                <a:solidFill>
                  <a:srgbClr val="000000"/>
                </a:solidFill>
                <a:latin typeface="Nunito 1" panose="020B0604020202020204" charset="0"/>
                <a:ea typeface="Nunito 1 Bold"/>
                <a:cs typeface="Nunito 1 Bold"/>
                <a:sym typeface="Nunito 1 Bold"/>
              </a:rPr>
              <a:t>Tapeman</a:t>
            </a:r>
            <a:r>
              <a:rPr lang="en-US" sz="2200" dirty="0">
                <a:solidFill>
                  <a:srgbClr val="000000"/>
                </a:solidFill>
                <a:latin typeface="Nunito 1" panose="020B0604020202020204" charset="0"/>
                <a:ea typeface="Nunito 1 Bold"/>
                <a:cs typeface="Nunito 1 Bold"/>
                <a:sym typeface="Nunito 1 Bold"/>
              </a:rPr>
              <a:t> – The person responsible for the accuracy and speed of all linear measurements on the field.</a:t>
            </a:r>
          </a:p>
        </p:txBody>
      </p:sp>
      <p:grpSp>
        <p:nvGrpSpPr>
          <p:cNvPr id="23" name="Group 5">
            <a:extLst>
              <a:ext uri="{FF2B5EF4-FFF2-40B4-BE49-F238E27FC236}">
                <a16:creationId xmlns:a16="http://schemas.microsoft.com/office/drawing/2014/main" id="{7F35DAEB-6E4B-075B-C28A-ECFC6B08F05F}"/>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AD98FF4-AE7D-358D-3370-32C95BD9965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93A2C1CF-4635-9EC1-1B93-2293ED2C1F76}"/>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F3AEFCB7-7151-A8A3-09E6-DF82A6D86D6A}"/>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a:t>
            </a:r>
            <a:r>
              <a:rPr lang="en-US" sz="1200" i="1" dirty="0" err="1">
                <a:solidFill>
                  <a:srgbClr val="000000"/>
                </a:solidFill>
                <a:latin typeface="Nunito 1" panose="020B0604020202020204" charset="0"/>
                <a:ea typeface="Nunito 1 Bold"/>
                <a:cs typeface="Nunito 1 Bold"/>
                <a:sym typeface="Nunito 1 Bold"/>
              </a:rPr>
              <a:t>PennState</a:t>
            </a:r>
            <a:r>
              <a:rPr lang="en-US" sz="1200" i="1" dirty="0">
                <a:solidFill>
                  <a:srgbClr val="000000"/>
                </a:solidFill>
                <a:latin typeface="Nunito 1" panose="020B0604020202020204" charset="0"/>
                <a:ea typeface="Nunito 1 Bold"/>
                <a:cs typeface="Nunito 1 Bold"/>
                <a:sym typeface="Nunito 1 Bold"/>
              </a:rPr>
              <a:t> Department of Geography | www.e-education.psu.edu/natureofgeoinfo </a:t>
            </a:r>
          </a:p>
        </p:txBody>
      </p:sp>
      <p:grpSp>
        <p:nvGrpSpPr>
          <p:cNvPr id="5" name="Group 4">
            <a:extLst>
              <a:ext uri="{FF2B5EF4-FFF2-40B4-BE49-F238E27FC236}">
                <a16:creationId xmlns:a16="http://schemas.microsoft.com/office/drawing/2014/main" id="{2183F3EE-E0FC-8ED6-7186-EA2F25B1D33D}"/>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654C067E-3028-6CE6-78E1-6F517E4D9058}"/>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3D83E798-985A-96A5-61AA-58401D6F5E0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F36BF283-B924-B415-9FB9-DEEF7C7DE83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846EAD2A-4B55-960B-F233-C1445C2204C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71602F22-1D8F-43F1-BDC1-FB946FBE39FF}"/>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41031405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7D5E1-9234-7EF0-2F43-593E427CD8CB}"/>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3FB6BAC2-E987-AC5A-72CF-04C6585FCF8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E732C0ED-85D4-37A2-05D1-D99471B2136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B91AB13A-D02F-D1B5-DDFF-3440FC1420C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0F6E0348-AF87-1C79-C0A1-D98D6E4F00B1}"/>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455808F2-1BEE-6D7F-2BA6-A0E38F2070CC}"/>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61642400-FD55-2DCB-9AAF-4300DCB32FE3}"/>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83FA3D3D-FCC6-17AD-D114-35701AC42F38}"/>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E9C4E749-6155-4346-DE4C-F703F7CE3488}"/>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FDE4EB9A-CEC5-DBE5-4AB9-7BE8379120F7}"/>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97C1DF51-35D3-D5A5-FDE8-BD0949DEFB7A}"/>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2DB67B3D-C2C9-C901-8FAF-2EF978DAC8B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D1B3FFEF-405D-7866-4BE2-E9CB4033C92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14509024-B5C4-FC02-3D1E-17B71CB26C2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72882622-6196-727E-BB59-8D337EFC2892}"/>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308CA4D4-249A-D908-A320-CEE91576CB62}"/>
              </a:ext>
            </a:extLst>
          </p:cNvPr>
          <p:cNvSpPr txBox="1"/>
          <p:nvPr/>
        </p:nvSpPr>
        <p:spPr>
          <a:xfrm>
            <a:off x="1698478" y="2164218"/>
            <a:ext cx="14989322" cy="6093976"/>
          </a:xfrm>
          <a:prstGeom prst="rect">
            <a:avLst/>
          </a:prstGeom>
        </p:spPr>
        <p:txBody>
          <a:bodyPr wrap="square" lIns="0" tIns="0" rIns="0" bIns="0" rtlCol="0" anchor="t">
            <a:spAutoFit/>
          </a:bodyPr>
          <a:lstStyle/>
          <a:p>
            <a:pPr marL="514350" indent="-514350" algn="just">
              <a:buFont typeface="+mj-lt"/>
              <a:buAutoNum type="arabicPeriod" startAt="8"/>
            </a:pPr>
            <a:r>
              <a:rPr lang="en-US" sz="2200" dirty="0">
                <a:solidFill>
                  <a:srgbClr val="000000"/>
                </a:solidFill>
                <a:latin typeface="Nunito 1" panose="020B0604020202020204" charset="0"/>
                <a:ea typeface="Nunito 1 Bold"/>
                <a:cs typeface="Nunito 1 Bold"/>
                <a:sym typeface="Nunito 1 Bold"/>
              </a:rPr>
              <a:t>Rear </a:t>
            </a:r>
            <a:r>
              <a:rPr lang="en-US" sz="2200" dirty="0" err="1">
                <a:solidFill>
                  <a:srgbClr val="000000"/>
                </a:solidFill>
                <a:latin typeface="Nunito 1" panose="020B0604020202020204" charset="0"/>
                <a:ea typeface="Nunito 1 Bold"/>
                <a:cs typeface="Nunito 1 Bold"/>
                <a:sym typeface="Nunito 1 Bold"/>
              </a:rPr>
              <a:t>Tapeman</a:t>
            </a:r>
            <a:r>
              <a:rPr lang="en-US" sz="2200" dirty="0">
                <a:solidFill>
                  <a:srgbClr val="000000"/>
                </a:solidFill>
                <a:latin typeface="Nunito 1" panose="020B0604020202020204" charset="0"/>
                <a:ea typeface="Nunito 1 Bold"/>
                <a:cs typeface="Nunito 1 Bold"/>
                <a:sym typeface="Nunito 1 Bold"/>
              </a:rPr>
              <a:t> – The person whose duty is to assist the head </a:t>
            </a:r>
            <a:r>
              <a:rPr lang="en-US" sz="2200" dirty="0" err="1">
                <a:solidFill>
                  <a:srgbClr val="000000"/>
                </a:solidFill>
                <a:latin typeface="Nunito 1" panose="020B0604020202020204" charset="0"/>
                <a:ea typeface="Nunito 1 Bold"/>
                <a:cs typeface="Nunito 1 Bold"/>
                <a:sym typeface="Nunito 1 Bold"/>
              </a:rPr>
              <a:t>tapeman</a:t>
            </a:r>
            <a:r>
              <a:rPr lang="en-US" sz="2200" dirty="0">
                <a:solidFill>
                  <a:srgbClr val="000000"/>
                </a:solidFill>
                <a:latin typeface="Nunito 1" panose="020B0604020202020204" charset="0"/>
                <a:ea typeface="Nunito 1 Bold"/>
                <a:cs typeface="Nunito 1 Bold"/>
                <a:sym typeface="Nunito 1 Bold"/>
              </a:rPr>
              <a:t> during taping operations and in other related work.</a:t>
            </a:r>
          </a:p>
          <a:p>
            <a:pPr algn="just"/>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200" dirty="0">
                <a:solidFill>
                  <a:srgbClr val="000000"/>
                </a:solidFill>
                <a:latin typeface="Nunito 1" panose="020B0604020202020204" charset="0"/>
                <a:ea typeface="Nunito 1 Bold"/>
                <a:cs typeface="Nunito 1 Bold"/>
                <a:sym typeface="Nunito 1 Bold"/>
              </a:rPr>
              <a:t>Flagman – The person whose duty is to hold the flagpole or range pole at selected points as directed by the </a:t>
            </a:r>
            <a:r>
              <a:rPr lang="en-US" sz="2200" dirty="0" err="1">
                <a:solidFill>
                  <a:srgbClr val="000000"/>
                </a:solidFill>
                <a:latin typeface="Nunito 1" panose="020B0604020202020204" charset="0"/>
                <a:ea typeface="Nunito 1 Bold"/>
                <a:cs typeface="Nunito 1 Bold"/>
                <a:sym typeface="Nunito 1 Bold"/>
              </a:rPr>
              <a:t>instrumentman</a:t>
            </a:r>
            <a:r>
              <a:rPr lang="en-US" sz="2200" dirty="0">
                <a:solidFill>
                  <a:srgbClr val="000000"/>
                </a:solidFill>
                <a:latin typeface="Nunito 1" panose="020B0604020202020204" charset="0"/>
                <a:ea typeface="Nunito 1 Bold"/>
                <a:cs typeface="Nunito 1 Bold"/>
                <a:sym typeface="Nunito 1 Bold"/>
              </a:rPr>
              <a:t>.</a:t>
            </a:r>
          </a:p>
          <a:p>
            <a:pPr marL="514350" indent="-514350" algn="just">
              <a:buFont typeface="+mj-lt"/>
              <a:buAutoNum type="arabicPeriod" startAt="8"/>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200" dirty="0">
                <a:solidFill>
                  <a:srgbClr val="000000"/>
                </a:solidFill>
                <a:latin typeface="Nunito 1" panose="020B0604020202020204" charset="0"/>
                <a:ea typeface="Nunito 1 Bold"/>
                <a:cs typeface="Nunito 1 Bold"/>
                <a:sym typeface="Nunito 1 Bold"/>
              </a:rPr>
              <a:t>Rodman – The person whose primary duty is to hold the stadia or leveling rod when sights are to be taken on it.</a:t>
            </a:r>
          </a:p>
          <a:p>
            <a:pPr marL="514350" indent="-514350" algn="just">
              <a:buFont typeface="+mj-lt"/>
              <a:buAutoNum type="arabicPeriod" startAt="8"/>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200" dirty="0">
                <a:solidFill>
                  <a:srgbClr val="000000"/>
                </a:solidFill>
                <a:latin typeface="Nunito 1" panose="020B0604020202020204" charset="0"/>
                <a:ea typeface="Nunito 1 Bold"/>
                <a:cs typeface="Nunito 1 Bold"/>
                <a:sym typeface="Nunito 1 Bold"/>
              </a:rPr>
              <a:t>Pacer – The person whose duty is to check all linear measurements made by the </a:t>
            </a:r>
            <a:r>
              <a:rPr lang="en-US" sz="2200" dirty="0" err="1">
                <a:solidFill>
                  <a:srgbClr val="000000"/>
                </a:solidFill>
                <a:latin typeface="Nunito 1" panose="020B0604020202020204" charset="0"/>
                <a:ea typeface="Nunito 1 Bold"/>
                <a:cs typeface="Nunito 1 Bold"/>
                <a:sym typeface="Nunito 1 Bold"/>
              </a:rPr>
              <a:t>tapeman</a:t>
            </a:r>
            <a:r>
              <a:rPr lang="en-US" sz="2200" dirty="0">
                <a:solidFill>
                  <a:srgbClr val="000000"/>
                </a:solidFill>
                <a:latin typeface="Nunito 1" panose="020B0604020202020204" charset="0"/>
                <a:ea typeface="Nunito 1 Bold"/>
                <a:cs typeface="Nunito 1 Bold"/>
                <a:sym typeface="Nunito 1 Bold"/>
              </a:rPr>
              <a:t>.</a:t>
            </a:r>
          </a:p>
          <a:p>
            <a:pPr marL="514350" indent="-514350" algn="just">
              <a:buFont typeface="+mj-lt"/>
              <a:buAutoNum type="arabicPeriod" startAt="8"/>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200" dirty="0" err="1">
                <a:solidFill>
                  <a:srgbClr val="000000"/>
                </a:solidFill>
                <a:latin typeface="Nunito 1" panose="020B0604020202020204" charset="0"/>
                <a:ea typeface="Nunito 1 Bold"/>
                <a:cs typeface="Nunito 1 Bold"/>
                <a:sym typeface="Nunito 1 Bold"/>
              </a:rPr>
              <a:t>Axeman</a:t>
            </a:r>
            <a:r>
              <a:rPr lang="en-US" sz="2200" dirty="0">
                <a:solidFill>
                  <a:srgbClr val="000000"/>
                </a:solidFill>
                <a:latin typeface="Nunito 1" panose="020B0604020202020204" charset="0"/>
                <a:ea typeface="Nunito 1 Bold"/>
                <a:cs typeface="Nunito 1 Bold"/>
                <a:sym typeface="Nunito 1 Bold"/>
              </a:rPr>
              <a:t>/Lineman – The person whose duty is to clear the line of sight of trees, brush, and other obstructions in wooded country.</a:t>
            </a:r>
          </a:p>
          <a:p>
            <a:pPr marL="514350" indent="-514350" algn="just">
              <a:buFont typeface="+mj-lt"/>
              <a:buAutoNum type="arabicPeriod" startAt="8"/>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200" dirty="0">
                <a:solidFill>
                  <a:srgbClr val="000000"/>
                </a:solidFill>
                <a:latin typeface="Nunito 1" panose="020B0604020202020204" charset="0"/>
                <a:ea typeface="Nunito 1 Bold"/>
                <a:cs typeface="Nunito 1 Bold"/>
                <a:sym typeface="Nunito 1 Bold"/>
              </a:rPr>
              <a:t>Aidman – The person whose duty is to render first aid treatment to the members of the survey party who are involved in snake and insect bites, accidents, and other cases.</a:t>
            </a:r>
          </a:p>
          <a:p>
            <a:pPr marL="514350" indent="-514350" algn="just">
              <a:buFont typeface="+mj-lt"/>
              <a:buAutoNum type="arabicPeriod" startAt="8"/>
            </a:pPr>
            <a:endParaRPr lang="en-US" sz="22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rabicPeriod" startAt="8"/>
            </a:pPr>
            <a:r>
              <a:rPr lang="en-US" sz="2200" dirty="0">
                <a:solidFill>
                  <a:srgbClr val="000000"/>
                </a:solidFill>
                <a:latin typeface="Nunito 1" panose="020B0604020202020204" charset="0"/>
                <a:ea typeface="Nunito 1 Bold"/>
                <a:cs typeface="Nunito 1 Bold"/>
                <a:sym typeface="Nunito 1 Bold"/>
              </a:rPr>
              <a:t>Utilitymen – The persons whose duties are to render other forms of assistance needed by the survey party under the direction of the chief of party.</a:t>
            </a:r>
          </a:p>
        </p:txBody>
      </p:sp>
      <p:grpSp>
        <p:nvGrpSpPr>
          <p:cNvPr id="23" name="Group 5">
            <a:extLst>
              <a:ext uri="{FF2B5EF4-FFF2-40B4-BE49-F238E27FC236}">
                <a16:creationId xmlns:a16="http://schemas.microsoft.com/office/drawing/2014/main" id="{F9C086FC-3CDA-A470-D0A9-58454488B273}"/>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A68651F6-CBA0-9D1D-DF0A-FDA791BC94F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9B026549-5318-73DC-F13B-4030BE137DFD}"/>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3D0F314B-C303-F3F6-B2F0-E9C1217BC2B9}"/>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a:t>
            </a:r>
            <a:r>
              <a:rPr lang="en-US" sz="1200" i="1" dirty="0" err="1">
                <a:solidFill>
                  <a:srgbClr val="000000"/>
                </a:solidFill>
                <a:latin typeface="Nunito 1" panose="020B0604020202020204" charset="0"/>
                <a:ea typeface="Nunito 1 Bold"/>
                <a:cs typeface="Nunito 1 Bold"/>
                <a:sym typeface="Nunito 1 Bold"/>
              </a:rPr>
              <a:t>PennState</a:t>
            </a:r>
            <a:r>
              <a:rPr lang="en-US" sz="1200" i="1" dirty="0">
                <a:solidFill>
                  <a:srgbClr val="000000"/>
                </a:solidFill>
                <a:latin typeface="Nunito 1" panose="020B0604020202020204" charset="0"/>
                <a:ea typeface="Nunito 1 Bold"/>
                <a:cs typeface="Nunito 1 Bold"/>
                <a:sym typeface="Nunito 1 Bold"/>
              </a:rPr>
              <a:t> Department of Geography | www.e-education.psu.edu/natureofgeoinfo </a:t>
            </a:r>
          </a:p>
        </p:txBody>
      </p:sp>
      <p:sp>
        <p:nvSpPr>
          <p:cNvPr id="5" name="TextBox 15">
            <a:extLst>
              <a:ext uri="{FF2B5EF4-FFF2-40B4-BE49-F238E27FC236}">
                <a16:creationId xmlns:a16="http://schemas.microsoft.com/office/drawing/2014/main" id="{74482838-B3F0-6A55-4DCC-21A36FDFBE31}"/>
              </a:ext>
            </a:extLst>
          </p:cNvPr>
          <p:cNvSpPr txBox="1"/>
          <p:nvPr/>
        </p:nvSpPr>
        <p:spPr>
          <a:xfrm>
            <a:off x="2246041" y="1104900"/>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Members of the Field Survey Party</a:t>
            </a:r>
            <a:endParaRPr lang="en-US" sz="2400" dirty="0">
              <a:solidFill>
                <a:srgbClr val="000000"/>
              </a:solidFill>
              <a:latin typeface="Nunito 1" panose="020B0604020202020204" charset="0"/>
              <a:ea typeface="Nunito 1 Bold"/>
              <a:cs typeface="Nunito 1 Bold"/>
              <a:sym typeface="Nunito 1 Bold"/>
            </a:endParaRPr>
          </a:p>
        </p:txBody>
      </p:sp>
      <p:grpSp>
        <p:nvGrpSpPr>
          <p:cNvPr id="6" name="Group 5">
            <a:extLst>
              <a:ext uri="{FF2B5EF4-FFF2-40B4-BE49-F238E27FC236}">
                <a16:creationId xmlns:a16="http://schemas.microsoft.com/office/drawing/2014/main" id="{2C3924E0-CC51-300C-C22D-5A1720835D66}"/>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F042BF5C-3C12-A6B8-7EF2-8F99BCE467AC}"/>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B8964896-1BEA-23EA-7867-F3AA81DBF9C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0404992C-C40A-ADE1-4ED7-A75BAA972F0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2">
              <a:extLst>
                <a:ext uri="{FF2B5EF4-FFF2-40B4-BE49-F238E27FC236}">
                  <a16:creationId xmlns:a16="http://schemas.microsoft.com/office/drawing/2014/main" id="{9432793F-8FA0-B9D2-696E-BAE16E02635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5" name="TextBox 13">
              <a:extLst>
                <a:ext uri="{FF2B5EF4-FFF2-40B4-BE49-F238E27FC236}">
                  <a16:creationId xmlns:a16="http://schemas.microsoft.com/office/drawing/2014/main" id="{697F343B-1E2B-5F5A-6218-CA1EB4AB9543}"/>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6884594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6</a:t>
            </a:r>
          </a:p>
        </p:txBody>
      </p:sp>
      <p:sp>
        <p:nvSpPr>
          <p:cNvPr id="15" name="TextBox 15"/>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What are the two types of traverse surveying?</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931277"/>
            <a:ext cx="14935200" cy="3323987"/>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Open and closed traverse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Open and linked traverse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Continuous and closed traverse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Continuous and linked traverse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22" name="Oval 21">
            <a:extLst>
              <a:ext uri="{FF2B5EF4-FFF2-40B4-BE49-F238E27FC236}">
                <a16:creationId xmlns:a16="http://schemas.microsoft.com/office/drawing/2014/main" id="{C16DF3DE-3062-D00D-FC1F-F2CCEDA706F7}"/>
              </a:ext>
            </a:extLst>
          </p:cNvPr>
          <p:cNvSpPr/>
          <p:nvPr/>
        </p:nvSpPr>
        <p:spPr>
          <a:xfrm>
            <a:off x="1517070" y="2921255"/>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Elementary Surveying by </a:t>
            </a:r>
            <a:r>
              <a:rPr lang="en-US" sz="1200" i="1" dirty="0" err="1">
                <a:solidFill>
                  <a:srgbClr val="000000"/>
                </a:solidFill>
                <a:latin typeface="Nunito 1" panose="020B0604020202020204" charset="0"/>
                <a:ea typeface="Nunito 1 Bold"/>
                <a:cs typeface="Nunito 1 Bold"/>
                <a:sym typeface="Nunito 1 Bold"/>
              </a:rPr>
              <a:t>Juny</a:t>
            </a:r>
            <a:r>
              <a:rPr lang="en-US" sz="1200" i="1" dirty="0">
                <a:solidFill>
                  <a:srgbClr val="000000"/>
                </a:solidFill>
                <a:latin typeface="Nunito 1" panose="020B0604020202020204" charset="0"/>
                <a:ea typeface="Nunito 1 Bold"/>
                <a:cs typeface="Nunito 1 Bold"/>
                <a:sym typeface="Nunito 1 Bold"/>
              </a:rPr>
              <a:t> </a:t>
            </a:r>
            <a:r>
              <a:rPr lang="en-US" sz="1200" i="1" dirty="0" err="1">
                <a:solidFill>
                  <a:srgbClr val="000000"/>
                </a:solidFill>
                <a:latin typeface="Nunito 1" panose="020B0604020202020204" charset="0"/>
                <a:ea typeface="Nunito 1 Bold"/>
                <a:cs typeface="Nunito 1 Bold"/>
                <a:sym typeface="Nunito 1 Bold"/>
              </a:rPr>
              <a:t>Pilapil</a:t>
            </a:r>
            <a:r>
              <a:rPr lang="en-US" sz="1200" i="1" dirty="0">
                <a:solidFill>
                  <a:srgbClr val="000000"/>
                </a:solidFill>
                <a:latin typeface="Nunito 1" panose="020B0604020202020204" charset="0"/>
                <a:ea typeface="Nunito 1 Bold"/>
                <a:cs typeface="Nunito 1 Bold"/>
                <a:sym typeface="Nunito 1 Bold"/>
              </a:rPr>
              <a:t> La Putt</a:t>
            </a:r>
          </a:p>
        </p:txBody>
      </p:sp>
      <p:grpSp>
        <p:nvGrpSpPr>
          <p:cNvPr id="5" name="Group 4">
            <a:extLst>
              <a:ext uri="{FF2B5EF4-FFF2-40B4-BE49-F238E27FC236}">
                <a16:creationId xmlns:a16="http://schemas.microsoft.com/office/drawing/2014/main" id="{22AE07C8-CADF-C76E-5A42-85B5A2E52651}"/>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423AA3E5-95B9-0141-59F5-2FF6CEACACFB}"/>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50B6A5C8-7B7B-9F8F-11D3-B35DD579E0F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C02B4F7F-521E-E2BC-9C1A-651A17E391D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434547BD-B7E3-F11F-7B93-5AA81789972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48CD33CE-0423-2087-EEFE-F5AC76930A1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303912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246041" y="2025065"/>
            <a:ext cx="13795916" cy="1107996"/>
          </a:xfrm>
          <a:prstGeom prst="rect">
            <a:avLst/>
          </a:prstGeom>
        </p:spPr>
        <p:txBody>
          <a:bodyPr lIns="0" tIns="0" rIns="0" bIns="0" rtlCol="0" anchor="t">
            <a:spAutoFit/>
          </a:bodyPr>
          <a:lstStyle/>
          <a:p>
            <a:pPr algn="just"/>
            <a:r>
              <a:rPr lang="en-US" sz="2400" b="1" dirty="0">
                <a:solidFill>
                  <a:srgbClr val="000000"/>
                </a:solidFill>
                <a:latin typeface="Nunito 1 Bold"/>
                <a:ea typeface="Nunito 1 Bold"/>
                <a:cs typeface="Nunito 1 Bold"/>
                <a:sym typeface="Nunito 1 Bold"/>
              </a:rPr>
              <a:t>Traverse surveying </a:t>
            </a:r>
            <a:r>
              <a:rPr lang="en-US" sz="2400" dirty="0">
                <a:solidFill>
                  <a:srgbClr val="000000"/>
                </a:solidFill>
                <a:latin typeface="Nunito 1" panose="020B0604020202020204" charset="0"/>
                <a:ea typeface="Nunito 1 Bold"/>
                <a:cs typeface="Nunito 1 Bold"/>
                <a:sym typeface="Nunito 1 Bold"/>
              </a:rPr>
              <a:t>is the type of survey in which a number of connected survey lines form the framework and the directions and lengths of the survey lines are measured with the help of an angle measuring instrument and tape or chain, respectively. There are two types of traverse surveying.</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98478" y="3826247"/>
            <a:ext cx="7848600" cy="1107996"/>
          </a:xfrm>
          <a:prstGeom prst="rect">
            <a:avLst/>
          </a:prstGeom>
        </p:spPr>
        <p:txBody>
          <a:bodyPr wrap="square" lIns="0" tIns="0" rIns="0" bIns="0" rtlCol="0" anchor="t">
            <a:spAutoFit/>
          </a:bodyPr>
          <a:lstStyle/>
          <a:p>
            <a:pPr marL="514350" indent="-514350" algn="just">
              <a:buFont typeface="+mj-lt"/>
              <a:buAutoNum type="arabicPeriod"/>
            </a:pPr>
            <a:r>
              <a:rPr lang="en-US" sz="2400" dirty="0">
                <a:solidFill>
                  <a:srgbClr val="000000"/>
                </a:solidFill>
                <a:latin typeface="Nunito 1" panose="020B0604020202020204" charset="0"/>
                <a:ea typeface="Nunito 1 Bold"/>
                <a:cs typeface="Nunito 1 Bold"/>
                <a:sym typeface="Nunito 1 Bold"/>
              </a:rPr>
              <a:t>Open traverse –  originates at a point of known position and closes at another point whose location is not known. </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a:t>
            </a:r>
            <a:r>
              <a:rPr lang="en-US" sz="1200" i="1" dirty="0" err="1">
                <a:solidFill>
                  <a:srgbClr val="000000"/>
                </a:solidFill>
                <a:latin typeface="Nunito 1" panose="020B0604020202020204" charset="0"/>
                <a:ea typeface="Nunito 1 Bold"/>
                <a:cs typeface="Nunito 1 Bold"/>
                <a:sym typeface="Nunito 1 Bold"/>
              </a:rPr>
              <a:t>PennState</a:t>
            </a:r>
            <a:r>
              <a:rPr lang="en-US" sz="1200" i="1" dirty="0">
                <a:solidFill>
                  <a:srgbClr val="000000"/>
                </a:solidFill>
                <a:latin typeface="Nunito 1" panose="020B0604020202020204" charset="0"/>
                <a:ea typeface="Nunito 1 Bold"/>
                <a:cs typeface="Nunito 1 Bold"/>
                <a:sym typeface="Nunito 1 Bold"/>
              </a:rPr>
              <a:t> Department of Geography | www.e-education.psu.edu/natureofgeoinfo </a:t>
            </a:r>
          </a:p>
        </p:txBody>
      </p:sp>
      <p:grpSp>
        <p:nvGrpSpPr>
          <p:cNvPr id="31" name="Group 30">
            <a:extLst>
              <a:ext uri="{FF2B5EF4-FFF2-40B4-BE49-F238E27FC236}">
                <a16:creationId xmlns:a16="http://schemas.microsoft.com/office/drawing/2014/main" id="{624149D6-3808-305F-F398-09D152D10E27}"/>
              </a:ext>
            </a:extLst>
          </p:cNvPr>
          <p:cNvGrpSpPr/>
          <p:nvPr/>
        </p:nvGrpSpPr>
        <p:grpSpPr>
          <a:xfrm>
            <a:off x="11046658" y="3461153"/>
            <a:ext cx="4995298" cy="1474647"/>
            <a:chOff x="11742247" y="3826247"/>
            <a:chExt cx="3753286" cy="1107996"/>
          </a:xfrm>
        </p:grpSpPr>
        <p:pic>
          <p:nvPicPr>
            <p:cNvPr id="27" name="Picture 4" descr="Read Here: : Traverse and it types">
              <a:extLst>
                <a:ext uri="{FF2B5EF4-FFF2-40B4-BE49-F238E27FC236}">
                  <a16:creationId xmlns:a16="http://schemas.microsoft.com/office/drawing/2014/main" id="{A62C12CA-B35A-E558-3054-33FA3C9D0E1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667" t="69744" r="4667" b="5241"/>
            <a:stretch/>
          </p:blipFill>
          <p:spPr bwMode="auto">
            <a:xfrm>
              <a:off x="11742247" y="3826247"/>
              <a:ext cx="3753286" cy="1107996"/>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9654EA45-BDE9-32A5-9FD0-5BF2B32535E1}"/>
                </a:ext>
              </a:extLst>
            </p:cNvPr>
            <p:cNvSpPr txBox="1"/>
            <p:nvPr/>
          </p:nvSpPr>
          <p:spPr>
            <a:xfrm>
              <a:off x="12742590" y="4637189"/>
              <a:ext cx="1752600" cy="277503"/>
            </a:xfrm>
            <a:prstGeom prst="rect">
              <a:avLst/>
            </a:prstGeom>
            <a:solidFill>
              <a:schemeClr val="bg1"/>
            </a:solidFill>
          </p:spPr>
          <p:txBody>
            <a:bodyPr wrap="square" rtlCol="0">
              <a:spAutoFit/>
            </a:bodyPr>
            <a:lstStyle/>
            <a:p>
              <a:pPr algn="ctr"/>
              <a:r>
                <a:rPr lang="en-PH" dirty="0">
                  <a:latin typeface="Nunito 1" panose="020B0604020202020204" charset="0"/>
                </a:rPr>
                <a:t>a. Open traverse</a:t>
              </a:r>
            </a:p>
          </p:txBody>
        </p:sp>
      </p:grpSp>
      <p:grpSp>
        <p:nvGrpSpPr>
          <p:cNvPr id="36" name="Group 35">
            <a:extLst>
              <a:ext uri="{FF2B5EF4-FFF2-40B4-BE49-F238E27FC236}">
                <a16:creationId xmlns:a16="http://schemas.microsoft.com/office/drawing/2014/main" id="{3F32C908-B1A3-F475-CA30-571900A9ADA2}"/>
              </a:ext>
            </a:extLst>
          </p:cNvPr>
          <p:cNvGrpSpPr/>
          <p:nvPr/>
        </p:nvGrpSpPr>
        <p:grpSpPr>
          <a:xfrm>
            <a:off x="9366321" y="6273039"/>
            <a:ext cx="5179493" cy="1988898"/>
            <a:chOff x="8377845" y="8175645"/>
            <a:chExt cx="3753286" cy="1441242"/>
          </a:xfrm>
        </p:grpSpPr>
        <p:pic>
          <p:nvPicPr>
            <p:cNvPr id="6" name="Picture 4" descr="Read Here: : Traverse and it types">
              <a:extLst>
                <a:ext uri="{FF2B5EF4-FFF2-40B4-BE49-F238E27FC236}">
                  <a16:creationId xmlns:a16="http://schemas.microsoft.com/office/drawing/2014/main" id="{CE1FD853-9A52-FD4D-B5F6-A0334E24322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667" t="37654" r="4667" b="29807"/>
            <a:stretch>
              <a:fillRect/>
            </a:stretch>
          </p:blipFill>
          <p:spPr bwMode="auto">
            <a:xfrm>
              <a:off x="8377845" y="8175645"/>
              <a:ext cx="3753286" cy="1441242"/>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06812885-EEFF-EBC4-0D3E-69CFBD1A4120}"/>
                </a:ext>
              </a:extLst>
            </p:cNvPr>
            <p:cNvSpPr txBox="1"/>
            <p:nvPr/>
          </p:nvSpPr>
          <p:spPr>
            <a:xfrm>
              <a:off x="8709578" y="9258424"/>
              <a:ext cx="3089820" cy="267634"/>
            </a:xfrm>
            <a:prstGeom prst="rect">
              <a:avLst/>
            </a:prstGeom>
            <a:solidFill>
              <a:schemeClr val="bg1"/>
            </a:solidFill>
          </p:spPr>
          <p:txBody>
            <a:bodyPr wrap="square" rtlCol="0">
              <a:spAutoFit/>
            </a:bodyPr>
            <a:lstStyle/>
            <a:p>
              <a:pPr algn="ctr"/>
              <a:r>
                <a:rPr lang="en-PH" dirty="0">
                  <a:latin typeface="Nunito 1" panose="020B0604020202020204" charset="0"/>
                </a:rPr>
                <a:t>c. Closed link traverse</a:t>
              </a:r>
            </a:p>
          </p:txBody>
        </p:sp>
      </p:grpSp>
      <p:grpSp>
        <p:nvGrpSpPr>
          <p:cNvPr id="35" name="Group 34">
            <a:extLst>
              <a:ext uri="{FF2B5EF4-FFF2-40B4-BE49-F238E27FC236}">
                <a16:creationId xmlns:a16="http://schemas.microsoft.com/office/drawing/2014/main" id="{353B6800-981A-2911-A804-98BDE167382A}"/>
              </a:ext>
            </a:extLst>
          </p:cNvPr>
          <p:cNvGrpSpPr/>
          <p:nvPr/>
        </p:nvGrpSpPr>
        <p:grpSpPr>
          <a:xfrm>
            <a:off x="3858316" y="6273037"/>
            <a:ext cx="5179493" cy="1988898"/>
            <a:chOff x="4034010" y="6892365"/>
            <a:chExt cx="3753286" cy="1441242"/>
          </a:xfrm>
        </p:grpSpPr>
        <p:pic>
          <p:nvPicPr>
            <p:cNvPr id="34" name="Picture 4" descr="Read Here: : Traverse and it types">
              <a:extLst>
                <a:ext uri="{FF2B5EF4-FFF2-40B4-BE49-F238E27FC236}">
                  <a16:creationId xmlns:a16="http://schemas.microsoft.com/office/drawing/2014/main" id="{701D9761-F9EB-B911-6AEF-258631C0E42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667" t="4270" r="4667" b="63191"/>
            <a:stretch>
              <a:fillRect/>
            </a:stretch>
          </p:blipFill>
          <p:spPr bwMode="auto">
            <a:xfrm>
              <a:off x="4034010" y="6892365"/>
              <a:ext cx="3753286" cy="1441242"/>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6355F575-31AE-7DD8-D62A-73D73B8F18AD}"/>
                </a:ext>
              </a:extLst>
            </p:cNvPr>
            <p:cNvSpPr txBox="1"/>
            <p:nvPr/>
          </p:nvSpPr>
          <p:spPr>
            <a:xfrm>
              <a:off x="4034010" y="8018210"/>
              <a:ext cx="3753286" cy="267634"/>
            </a:xfrm>
            <a:prstGeom prst="rect">
              <a:avLst/>
            </a:prstGeom>
            <a:solidFill>
              <a:schemeClr val="bg1"/>
            </a:solidFill>
          </p:spPr>
          <p:txBody>
            <a:bodyPr wrap="square" rtlCol="0">
              <a:spAutoFit/>
            </a:bodyPr>
            <a:lstStyle/>
            <a:p>
              <a:pPr algn="ctr"/>
              <a:r>
                <a:rPr lang="en-PH" dirty="0">
                  <a:latin typeface="Nunito 1" panose="020B0604020202020204" charset="0"/>
                </a:rPr>
                <a:t>b. Closed loop traverse</a:t>
              </a:r>
            </a:p>
          </p:txBody>
        </p:sp>
      </p:grpSp>
      <p:sp>
        <p:nvSpPr>
          <p:cNvPr id="37" name="TextBox 15">
            <a:extLst>
              <a:ext uri="{FF2B5EF4-FFF2-40B4-BE49-F238E27FC236}">
                <a16:creationId xmlns:a16="http://schemas.microsoft.com/office/drawing/2014/main" id="{AFA72490-34C6-EF62-A9B9-DD9BE2EBCE8A}"/>
              </a:ext>
            </a:extLst>
          </p:cNvPr>
          <p:cNvSpPr txBox="1"/>
          <p:nvPr/>
        </p:nvSpPr>
        <p:spPr>
          <a:xfrm>
            <a:off x="1698477" y="5182643"/>
            <a:ext cx="14343479" cy="738664"/>
          </a:xfrm>
          <a:prstGeom prst="rect">
            <a:avLst/>
          </a:prstGeom>
        </p:spPr>
        <p:txBody>
          <a:bodyPr wrap="square" lIns="0" tIns="0" rIns="0" bIns="0" rtlCol="0" anchor="t">
            <a:spAutoFit/>
          </a:bodyPr>
          <a:lstStyle/>
          <a:p>
            <a:pPr marL="514350" indent="-514350" algn="just">
              <a:buFont typeface="+mj-lt"/>
              <a:buAutoNum type="arabicPeriod" startAt="2"/>
            </a:pPr>
            <a:r>
              <a:rPr lang="en-US" sz="2400" dirty="0">
                <a:solidFill>
                  <a:srgbClr val="000000"/>
                </a:solidFill>
                <a:latin typeface="Nunito 1" panose="020B0604020202020204" charset="0"/>
                <a:ea typeface="Nunito 1 Bold"/>
                <a:cs typeface="Nunito 1 Bold"/>
                <a:sym typeface="Nunito 1 Bold"/>
              </a:rPr>
              <a:t>Closed traverse - </a:t>
            </a:r>
            <a:r>
              <a:rPr lang="en-US" sz="2400" b="0" i="0" dirty="0">
                <a:solidFill>
                  <a:srgbClr val="000000"/>
                </a:solidFill>
                <a:effectLst/>
                <a:latin typeface="open sans" panose="020B0606030504020204" pitchFamily="34" charset="0"/>
              </a:rPr>
              <a:t> originates on a point of known position and closes on the same point (closed loop traverse) or on another point of known position (closed link traverse).</a:t>
            </a:r>
            <a:endParaRPr lang="en-US" sz="2400" dirty="0">
              <a:solidFill>
                <a:srgbClr val="000000"/>
              </a:solidFill>
              <a:latin typeface="Nunito 1" panose="020B0604020202020204" charset="0"/>
              <a:ea typeface="Nunito 1 Bold"/>
              <a:cs typeface="Nunito 1 Bold"/>
              <a:sym typeface="Nunito 1 Bold"/>
            </a:endParaRPr>
          </a:p>
        </p:txBody>
      </p:sp>
      <p:grpSp>
        <p:nvGrpSpPr>
          <p:cNvPr id="5" name="Group 4">
            <a:extLst>
              <a:ext uri="{FF2B5EF4-FFF2-40B4-BE49-F238E27FC236}">
                <a16:creationId xmlns:a16="http://schemas.microsoft.com/office/drawing/2014/main" id="{32D77D43-015E-8D0E-A094-EC348DF6594B}"/>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1F63EF8F-28F1-E27A-D62E-0F1889B0AE73}"/>
                </a:ext>
              </a:extLst>
            </p:cNvPr>
            <p:cNvGrpSpPr/>
            <p:nvPr/>
          </p:nvGrpSpPr>
          <p:grpSpPr>
            <a:xfrm>
              <a:off x="0" y="9599694"/>
              <a:ext cx="18287999" cy="687305"/>
              <a:chOff x="0" y="0"/>
              <a:chExt cx="5260714" cy="490218"/>
            </a:xfrm>
          </p:grpSpPr>
          <p:sp>
            <p:nvSpPr>
              <p:cNvPr id="29" name="Freeform 12">
                <a:extLst>
                  <a:ext uri="{FF2B5EF4-FFF2-40B4-BE49-F238E27FC236}">
                    <a16:creationId xmlns:a16="http://schemas.microsoft.com/office/drawing/2014/main" id="{4D5BF027-5962-D64E-BA46-41ECB8153FD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0" name="TextBox 13">
                <a:extLst>
                  <a:ext uri="{FF2B5EF4-FFF2-40B4-BE49-F238E27FC236}">
                    <a16:creationId xmlns:a16="http://schemas.microsoft.com/office/drawing/2014/main" id="{63E44B00-898E-3100-5E70-55424586E9F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2">
              <a:extLst>
                <a:ext uri="{FF2B5EF4-FFF2-40B4-BE49-F238E27FC236}">
                  <a16:creationId xmlns:a16="http://schemas.microsoft.com/office/drawing/2014/main" id="{8AB05793-47B7-F4D4-6B4F-23C22F6633B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052A692B-E192-97EA-4F20-073E54EA34AB}"/>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564271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7</a:t>
            </a:r>
          </a:p>
        </p:txBody>
      </p:sp>
      <p:sp>
        <p:nvSpPr>
          <p:cNvPr id="15" name="TextBox 15"/>
          <p:cNvSpPr txBox="1"/>
          <p:nvPr/>
        </p:nvSpPr>
        <p:spPr>
          <a:xfrm>
            <a:off x="2246041" y="2025065"/>
            <a:ext cx="13795916" cy="738664"/>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This method allows the computation of an area of a closed non-crossing plane polygon from the coordinates of its vertices.</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394176"/>
            <a:ext cx="14935200" cy="3323987"/>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Coordinate method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Polygon method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Vertex method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Loop method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22" name="Oval 21">
            <a:extLst>
              <a:ext uri="{FF2B5EF4-FFF2-40B4-BE49-F238E27FC236}">
                <a16:creationId xmlns:a16="http://schemas.microsoft.com/office/drawing/2014/main" id="{C16DF3DE-3062-D00D-FC1F-F2CCEDA706F7}"/>
              </a:ext>
            </a:extLst>
          </p:cNvPr>
          <p:cNvSpPr/>
          <p:nvPr/>
        </p:nvSpPr>
        <p:spPr>
          <a:xfrm>
            <a:off x="1517070" y="3315821"/>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https://www.jerrymahun.com/index.php/home/open-access/17-trav-comps/46-travcomps-chap-g?start=1</a:t>
            </a:r>
          </a:p>
        </p:txBody>
      </p:sp>
      <p:pic>
        <p:nvPicPr>
          <p:cNvPr id="1026" name="Picture 2" descr="What is a Polygon? | Definition, Types &amp; Examples - Lesson | Study.com">
            <a:extLst>
              <a:ext uri="{FF2B5EF4-FFF2-40B4-BE49-F238E27FC236}">
                <a16:creationId xmlns:a16="http://schemas.microsoft.com/office/drawing/2014/main" id="{DF9E8FF3-3561-EF1E-87D8-14D28C810E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23858" y="3356404"/>
            <a:ext cx="3905250" cy="2895600"/>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549A7448-7224-2B77-F7CF-D88DF0483B99}"/>
              </a:ext>
            </a:extLst>
          </p:cNvPr>
          <p:cNvGrpSpPr/>
          <p:nvPr/>
        </p:nvGrpSpPr>
        <p:grpSpPr>
          <a:xfrm>
            <a:off x="7924800" y="6645926"/>
            <a:ext cx="5509476" cy="733527"/>
            <a:chOff x="7924800" y="6645926"/>
            <a:chExt cx="5509476" cy="733527"/>
          </a:xfrm>
        </p:grpSpPr>
        <p:pic>
          <p:nvPicPr>
            <p:cNvPr id="5" name="Picture 4">
              <a:extLst>
                <a:ext uri="{FF2B5EF4-FFF2-40B4-BE49-F238E27FC236}">
                  <a16:creationId xmlns:a16="http://schemas.microsoft.com/office/drawing/2014/main" id="{70C94CB1-71D8-3685-2DD8-C0B2787B350A}"/>
                </a:ext>
              </a:extLst>
            </p:cNvPr>
            <p:cNvPicPr>
              <a:picLocks noChangeAspect="1"/>
            </p:cNvPicPr>
            <p:nvPr/>
          </p:nvPicPr>
          <p:blipFill>
            <a:blip r:embed="rId4"/>
            <a:stretch>
              <a:fillRect/>
            </a:stretch>
          </p:blipFill>
          <p:spPr>
            <a:xfrm>
              <a:off x="8518690" y="6645926"/>
              <a:ext cx="4915586" cy="733527"/>
            </a:xfrm>
            <a:prstGeom prst="rect">
              <a:avLst/>
            </a:prstGeom>
          </p:spPr>
        </p:pic>
        <p:sp>
          <p:nvSpPr>
            <p:cNvPr id="6" name="TextBox 15">
              <a:extLst>
                <a:ext uri="{FF2B5EF4-FFF2-40B4-BE49-F238E27FC236}">
                  <a16:creationId xmlns:a16="http://schemas.microsoft.com/office/drawing/2014/main" id="{6C37A55B-9234-81D2-9F07-8BCB917E7750}"/>
                </a:ext>
              </a:extLst>
            </p:cNvPr>
            <p:cNvSpPr txBox="1"/>
            <p:nvPr/>
          </p:nvSpPr>
          <p:spPr>
            <a:xfrm>
              <a:off x="7924800" y="6876190"/>
              <a:ext cx="593890"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 = </a:t>
              </a:r>
            </a:p>
          </p:txBody>
        </p:sp>
      </p:grpSp>
      <p:grpSp>
        <p:nvGrpSpPr>
          <p:cNvPr id="27" name="Group 26">
            <a:extLst>
              <a:ext uri="{FF2B5EF4-FFF2-40B4-BE49-F238E27FC236}">
                <a16:creationId xmlns:a16="http://schemas.microsoft.com/office/drawing/2014/main" id="{E394F0E9-D8EE-5A20-F84C-4BB4920557AF}"/>
              </a:ext>
            </a:extLst>
          </p:cNvPr>
          <p:cNvGrpSpPr/>
          <p:nvPr/>
        </p:nvGrpSpPr>
        <p:grpSpPr>
          <a:xfrm>
            <a:off x="0" y="9599693"/>
            <a:ext cx="18287999" cy="687306"/>
            <a:chOff x="0" y="9599693"/>
            <a:chExt cx="18287999" cy="687306"/>
          </a:xfrm>
        </p:grpSpPr>
        <p:grpSp>
          <p:nvGrpSpPr>
            <p:cNvPr id="28" name="Group 11">
              <a:extLst>
                <a:ext uri="{FF2B5EF4-FFF2-40B4-BE49-F238E27FC236}">
                  <a16:creationId xmlns:a16="http://schemas.microsoft.com/office/drawing/2014/main" id="{7A55C810-BE6D-C2F9-039F-DA1B1F7294E4}"/>
                </a:ext>
              </a:extLst>
            </p:cNvPr>
            <p:cNvGrpSpPr/>
            <p:nvPr/>
          </p:nvGrpSpPr>
          <p:grpSpPr>
            <a:xfrm>
              <a:off x="0" y="9599694"/>
              <a:ext cx="18287999" cy="687305"/>
              <a:chOff x="0" y="0"/>
              <a:chExt cx="5260714" cy="490218"/>
            </a:xfrm>
          </p:grpSpPr>
          <p:sp>
            <p:nvSpPr>
              <p:cNvPr id="31" name="Freeform 12">
                <a:extLst>
                  <a:ext uri="{FF2B5EF4-FFF2-40B4-BE49-F238E27FC236}">
                    <a16:creationId xmlns:a16="http://schemas.microsoft.com/office/drawing/2014/main" id="{609C6747-D5BA-6D75-8E99-2AE49F6C5D7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2" name="TextBox 13">
                <a:extLst>
                  <a:ext uri="{FF2B5EF4-FFF2-40B4-BE49-F238E27FC236}">
                    <a16:creationId xmlns:a16="http://schemas.microsoft.com/office/drawing/2014/main" id="{471FD414-8036-80D4-C834-172358E46BCB}"/>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12">
              <a:extLst>
                <a:ext uri="{FF2B5EF4-FFF2-40B4-BE49-F238E27FC236}">
                  <a16:creationId xmlns:a16="http://schemas.microsoft.com/office/drawing/2014/main" id="{B45CA055-B71B-C347-323B-78D37A654B7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0" name="TextBox 13">
              <a:extLst>
                <a:ext uri="{FF2B5EF4-FFF2-40B4-BE49-F238E27FC236}">
                  <a16:creationId xmlns:a16="http://schemas.microsoft.com/office/drawing/2014/main" id="{F89E9D03-E46B-8989-C303-CBC6EDAA428A}"/>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2103007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26"/>
                                        </p:tgtEl>
                                        <p:attrNameLst>
                                          <p:attrName>style.visibility</p:attrName>
                                        </p:attrNameLst>
                                      </p:cBhvr>
                                      <p:to>
                                        <p:strVal val="visible"/>
                                      </p:to>
                                    </p:set>
                                    <p:animEffect transition="in" filter="fade">
                                      <p:cBhvr>
                                        <p:cTn id="12" dur="500"/>
                                        <p:tgtEl>
                                          <p:spTgt spid="10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4AD12-C84D-360B-FB59-3686728FC041}"/>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82689DF6-98E0-5537-A586-A994A5A2A025}"/>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975B3E0E-8974-86CB-290A-D22FD11C69B1}"/>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82AD1424-A82F-B616-1105-6B89D56575D5}"/>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88D9D93B-6F63-A3D9-FEC4-3F42F5423300}"/>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F5C48F2-9049-D13B-DE4A-8074A04A2A6B}"/>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7A4413AE-C5DF-BB7D-BB26-EC347B1E7667}"/>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B4E885EB-2EF4-4B75-7D31-9314BF792E28}"/>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1724C99C-9753-C483-A406-C91A6A7CBE48}"/>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B6089298-3107-A65F-DBC6-A3ED4F4383F3}"/>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94F4F8DD-98C0-7D52-BACF-B2E9549F7071}"/>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BC086940-E7F4-17E6-DEDF-139941364B6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0DDB8087-8C3D-995D-9AE3-1CE250B153B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CA2A946B-B5B6-7B70-EF70-41C34CDB4281}"/>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Compute for the area of the given polygon using coordinate method.</a:t>
            </a:r>
          </a:p>
        </p:txBody>
      </p:sp>
      <p:sp>
        <p:nvSpPr>
          <p:cNvPr id="19" name="TextBox 12">
            <a:extLst>
              <a:ext uri="{FF2B5EF4-FFF2-40B4-BE49-F238E27FC236}">
                <a16:creationId xmlns:a16="http://schemas.microsoft.com/office/drawing/2014/main" id="{3D425068-FCBD-D4CE-84E2-7C554060CE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2D323CAB-EEAB-D5AA-CE8C-90015EE47402}"/>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EA731C25-40C5-4A60-CAD8-7056E327ED0E}"/>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20D734D0-CA6D-FBD5-6948-6323F3CEFC3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FB132A84-B3C0-3431-C855-6A9C3CEC04E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1D240727-65BB-B88D-6646-F1201F849929}"/>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https://www.mathopenref.com/coordpolygonarea.html</a:t>
            </a:r>
          </a:p>
        </p:txBody>
      </p:sp>
      <p:pic>
        <p:nvPicPr>
          <p:cNvPr id="27" name="Picture 26">
            <a:extLst>
              <a:ext uri="{FF2B5EF4-FFF2-40B4-BE49-F238E27FC236}">
                <a16:creationId xmlns:a16="http://schemas.microsoft.com/office/drawing/2014/main" id="{B0DE5EEB-EB11-38DB-3AEE-9473AB8D6513}"/>
              </a:ext>
            </a:extLst>
          </p:cNvPr>
          <p:cNvPicPr>
            <a:picLocks noChangeAspect="1"/>
          </p:cNvPicPr>
          <p:nvPr/>
        </p:nvPicPr>
        <p:blipFill>
          <a:blip r:embed="rId3"/>
          <a:srcRect l="1102" t="1732" r="1102" b="27318"/>
          <a:stretch/>
        </p:blipFill>
        <p:spPr>
          <a:xfrm>
            <a:off x="3048000" y="2830391"/>
            <a:ext cx="12192000" cy="5431543"/>
          </a:xfrm>
          <a:prstGeom prst="rect">
            <a:avLst/>
          </a:prstGeom>
        </p:spPr>
      </p:pic>
      <p:sp>
        <p:nvSpPr>
          <p:cNvPr id="28" name="TextBox 14">
            <a:extLst>
              <a:ext uri="{FF2B5EF4-FFF2-40B4-BE49-F238E27FC236}">
                <a16:creationId xmlns:a16="http://schemas.microsoft.com/office/drawing/2014/main" id="{A0844446-90DA-EAB1-BBE3-5FE88266E3E0}"/>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8</a:t>
            </a:r>
          </a:p>
        </p:txBody>
      </p:sp>
      <p:sp>
        <p:nvSpPr>
          <p:cNvPr id="30" name="Rectangle 29">
            <a:extLst>
              <a:ext uri="{FF2B5EF4-FFF2-40B4-BE49-F238E27FC236}">
                <a16:creationId xmlns:a16="http://schemas.microsoft.com/office/drawing/2014/main" id="{C7B66A3F-0AC7-6972-1742-0D438BAC4869}"/>
              </a:ext>
            </a:extLst>
          </p:cNvPr>
          <p:cNvSpPr/>
          <p:nvPr/>
        </p:nvSpPr>
        <p:spPr>
          <a:xfrm>
            <a:off x="13182600" y="2830390"/>
            <a:ext cx="2057400" cy="2892230"/>
          </a:xfrm>
          <a:prstGeom prst="rect">
            <a:avLst/>
          </a:prstGeom>
          <a:solidFill>
            <a:srgbClr val="FFFF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31" name="Rectangle 30">
            <a:extLst>
              <a:ext uri="{FF2B5EF4-FFF2-40B4-BE49-F238E27FC236}">
                <a16:creationId xmlns:a16="http://schemas.microsoft.com/office/drawing/2014/main" id="{ED204B64-A951-B856-C574-6BF38EE5F893}"/>
              </a:ext>
            </a:extLst>
          </p:cNvPr>
          <p:cNvSpPr/>
          <p:nvPr/>
        </p:nvSpPr>
        <p:spPr>
          <a:xfrm>
            <a:off x="11811000" y="5722620"/>
            <a:ext cx="3429000" cy="1056979"/>
          </a:xfrm>
          <a:prstGeom prst="rect">
            <a:avLst/>
          </a:prstGeom>
          <a:solidFill>
            <a:srgbClr val="FFFF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32" name="Group 31">
            <a:extLst>
              <a:ext uri="{FF2B5EF4-FFF2-40B4-BE49-F238E27FC236}">
                <a16:creationId xmlns:a16="http://schemas.microsoft.com/office/drawing/2014/main" id="{D0A3EFEA-7423-369A-7D72-9EC192FAE053}"/>
              </a:ext>
            </a:extLst>
          </p:cNvPr>
          <p:cNvGrpSpPr/>
          <p:nvPr/>
        </p:nvGrpSpPr>
        <p:grpSpPr>
          <a:xfrm>
            <a:off x="9301668" y="7501686"/>
            <a:ext cx="5938332" cy="733527"/>
            <a:chOff x="7495944" y="6645926"/>
            <a:chExt cx="5938332" cy="733527"/>
          </a:xfrm>
        </p:grpSpPr>
        <p:pic>
          <p:nvPicPr>
            <p:cNvPr id="33" name="Picture 32">
              <a:extLst>
                <a:ext uri="{FF2B5EF4-FFF2-40B4-BE49-F238E27FC236}">
                  <a16:creationId xmlns:a16="http://schemas.microsoft.com/office/drawing/2014/main" id="{CFD5EA4A-8FFC-233E-47D8-9EE2AFBFBA4C}"/>
                </a:ext>
              </a:extLst>
            </p:cNvPr>
            <p:cNvPicPr>
              <a:picLocks noChangeAspect="1"/>
            </p:cNvPicPr>
            <p:nvPr/>
          </p:nvPicPr>
          <p:blipFill>
            <a:blip r:embed="rId4"/>
            <a:stretch>
              <a:fillRect/>
            </a:stretch>
          </p:blipFill>
          <p:spPr>
            <a:xfrm>
              <a:off x="8518690" y="6645926"/>
              <a:ext cx="4915586" cy="733527"/>
            </a:xfrm>
            <a:prstGeom prst="rect">
              <a:avLst/>
            </a:prstGeom>
          </p:spPr>
        </p:pic>
        <p:sp>
          <p:nvSpPr>
            <p:cNvPr id="34" name="TextBox 15">
              <a:extLst>
                <a:ext uri="{FF2B5EF4-FFF2-40B4-BE49-F238E27FC236}">
                  <a16:creationId xmlns:a16="http://schemas.microsoft.com/office/drawing/2014/main" id="{2F362B49-654C-4766-D6D6-850D07E0B65B}"/>
                </a:ext>
              </a:extLst>
            </p:cNvPr>
            <p:cNvSpPr txBox="1"/>
            <p:nvPr/>
          </p:nvSpPr>
          <p:spPr>
            <a:xfrm>
              <a:off x="7495944" y="6876190"/>
              <a:ext cx="1022746"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Area = </a:t>
              </a:r>
            </a:p>
          </p:txBody>
        </p:sp>
      </p:grpSp>
      <p:sp>
        <p:nvSpPr>
          <p:cNvPr id="5" name="Rectangle 4">
            <a:extLst>
              <a:ext uri="{FF2B5EF4-FFF2-40B4-BE49-F238E27FC236}">
                <a16:creationId xmlns:a16="http://schemas.microsoft.com/office/drawing/2014/main" id="{57F1900D-6704-D4CC-0EF9-D6FC327670B7}"/>
              </a:ext>
            </a:extLst>
          </p:cNvPr>
          <p:cNvSpPr/>
          <p:nvPr/>
        </p:nvSpPr>
        <p:spPr>
          <a:xfrm>
            <a:off x="12344400" y="3372032"/>
            <a:ext cx="304800" cy="1961452"/>
          </a:xfrm>
          <a:prstGeom prst="rect">
            <a:avLst/>
          </a:prstGeom>
          <a:solidFill>
            <a:srgbClr val="DDDD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29" name="Rectangle 28">
            <a:extLst>
              <a:ext uri="{FF2B5EF4-FFF2-40B4-BE49-F238E27FC236}">
                <a16:creationId xmlns:a16="http://schemas.microsoft.com/office/drawing/2014/main" id="{D43E0B07-E46A-7BEF-9959-1D27C8F92B7F}"/>
              </a:ext>
            </a:extLst>
          </p:cNvPr>
          <p:cNvSpPr/>
          <p:nvPr/>
        </p:nvSpPr>
        <p:spPr>
          <a:xfrm>
            <a:off x="11523483" y="2845630"/>
            <a:ext cx="1642788" cy="2861750"/>
          </a:xfrm>
          <a:prstGeom prst="rect">
            <a:avLst/>
          </a:prstGeom>
          <a:solidFill>
            <a:srgbClr val="FFFF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6" name="Group 5">
            <a:extLst>
              <a:ext uri="{FF2B5EF4-FFF2-40B4-BE49-F238E27FC236}">
                <a16:creationId xmlns:a16="http://schemas.microsoft.com/office/drawing/2014/main" id="{C29154E3-E88B-8A4F-210F-BFADBEE9EB8F}"/>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85B620D4-C8BC-0E0D-9BD4-B28BA6432DCA}"/>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61A90214-586B-3219-F73E-3B80844F28B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5" name="TextBox 13">
                <a:extLst>
                  <a:ext uri="{FF2B5EF4-FFF2-40B4-BE49-F238E27FC236}">
                    <a16:creationId xmlns:a16="http://schemas.microsoft.com/office/drawing/2014/main" id="{89FE9B23-ACC1-7D2B-DF69-987392D568B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2">
              <a:extLst>
                <a:ext uri="{FF2B5EF4-FFF2-40B4-BE49-F238E27FC236}">
                  <a16:creationId xmlns:a16="http://schemas.microsoft.com/office/drawing/2014/main" id="{A2187EAC-9880-B191-4D2B-048155A773B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1" name="TextBox 13">
              <a:extLst>
                <a:ext uri="{FF2B5EF4-FFF2-40B4-BE49-F238E27FC236}">
                  <a16:creationId xmlns:a16="http://schemas.microsoft.com/office/drawing/2014/main" id="{B3125A76-C291-613F-E0CC-7BA2E90BE6BF}"/>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2657458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29"/>
                                        </p:tgtEl>
                                      </p:cBhvr>
                                    </p:animEffect>
                                    <p:set>
                                      <p:cBhvr>
                                        <p:cTn id="7" dur="1" fill="hold">
                                          <p:stCondLst>
                                            <p:cond delay="499"/>
                                          </p:stCondLst>
                                        </p:cTn>
                                        <p:tgtEl>
                                          <p:spTgt spid="29"/>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0" nodeType="clickEffect">
                                  <p:stCondLst>
                                    <p:cond delay="0"/>
                                  </p:stCondLst>
                                  <p:childTnLst>
                                    <p:animEffect transition="out" filter="fade">
                                      <p:cBhvr>
                                        <p:cTn id="11" dur="500"/>
                                        <p:tgtEl>
                                          <p:spTgt spid="5"/>
                                        </p:tgtEl>
                                      </p:cBhvr>
                                    </p:animEffect>
                                    <p:set>
                                      <p:cBhvr>
                                        <p:cTn id="12" dur="1" fill="hold">
                                          <p:stCondLst>
                                            <p:cond delay="499"/>
                                          </p:stCondLst>
                                        </p:cTn>
                                        <p:tgtEl>
                                          <p:spTgt spid="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30"/>
                                        </p:tgtEl>
                                      </p:cBhvr>
                                    </p:animEffect>
                                    <p:set>
                                      <p:cBhvr>
                                        <p:cTn id="17" dur="1" fill="hold">
                                          <p:stCondLst>
                                            <p:cond delay="499"/>
                                          </p:stCondLst>
                                        </p:cTn>
                                        <p:tgtEl>
                                          <p:spTgt spid="30"/>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5"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9</a:t>
            </a:r>
          </a:p>
        </p:txBody>
      </p:sp>
      <p:sp>
        <p:nvSpPr>
          <p:cNvPr id="15" name="TextBox 15"/>
          <p:cNvSpPr txBox="1"/>
          <p:nvPr/>
        </p:nvSpPr>
        <p:spPr>
          <a:xfrm>
            <a:off x="2246041" y="2025065"/>
            <a:ext cx="13795916" cy="738664"/>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During a laboratory exercise, a student recorded 60, 61, 59, 62, and 60 paces while walking along a 50-meter course on a concrete surface. What is the student’s pace factor?</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0.80m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0.81m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0.82m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0.83m</a:t>
            </a:r>
          </a:p>
        </p:txBody>
      </p:sp>
      <p:sp>
        <p:nvSpPr>
          <p:cNvPr id="22" name="Oval 21">
            <a:extLst>
              <a:ext uri="{FF2B5EF4-FFF2-40B4-BE49-F238E27FC236}">
                <a16:creationId xmlns:a16="http://schemas.microsoft.com/office/drawing/2014/main" id="{C16DF3DE-3062-D00D-FC1F-F2CCEDA706F7}"/>
              </a:ext>
            </a:extLst>
          </p:cNvPr>
          <p:cNvSpPr/>
          <p:nvPr/>
        </p:nvSpPr>
        <p:spPr>
          <a:xfrm>
            <a:off x="1505640" y="5985315"/>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mc:AlternateContent xmlns:mc="http://schemas.openxmlformats.org/markup-compatibility/2006" xmlns:a14="http://schemas.microsoft.com/office/drawing/2010/main">
        <mc:Choice Requires="a14">
          <p:sp>
            <p:nvSpPr>
              <p:cNvPr id="5" name="TextBox 15">
                <a:extLst>
                  <a:ext uri="{FF2B5EF4-FFF2-40B4-BE49-F238E27FC236}">
                    <a16:creationId xmlns:a16="http://schemas.microsoft.com/office/drawing/2014/main" id="{B6AC54D5-1C96-C646-DB9B-0B8EDD0507E2}"/>
                  </a:ext>
                </a:extLst>
              </p:cNvPr>
              <p:cNvSpPr txBox="1"/>
              <p:nvPr/>
            </p:nvSpPr>
            <p:spPr>
              <a:xfrm>
                <a:off x="5622890" y="3799260"/>
                <a:ext cx="10419067" cy="3633046"/>
              </a:xfrm>
              <a:prstGeom prst="rect">
                <a:avLst/>
              </a:prstGeom>
            </p:spPr>
            <p:txBody>
              <a:bodyPr wrap="square" lIns="0" tIns="0" rIns="0" bIns="0" rtlCol="0" anchor="t">
                <a:spAutoFit/>
              </a:bodyPr>
              <a:lstStyle/>
              <a:p>
                <a:pPr algn="just">
                  <a:lnSpc>
                    <a:spcPct val="150000"/>
                  </a:lnSpc>
                </a:pPr>
                <a:r>
                  <a:rPr lang="en-US" sz="2400" b="1" u="sng" dirty="0">
                    <a:solidFill>
                      <a:srgbClr val="000000"/>
                    </a:solidFill>
                    <a:latin typeface="Nunito 1" panose="020B0604020202020204" charset="0"/>
                    <a:ea typeface="Nunito 1 Bold"/>
                    <a:cs typeface="Nunito 1 Bold"/>
                    <a:sym typeface="Nunito 1 Bold"/>
                  </a:rPr>
                  <a:t>Solution:</a:t>
                </a:r>
              </a:p>
              <a:p>
                <a:pPr algn="just">
                  <a:lnSpc>
                    <a:spcPct val="150000"/>
                  </a:lnSpc>
                </a:pPr>
                <a:endParaRPr lang="en-US" sz="2400" dirty="0">
                  <a:solidFill>
                    <a:srgbClr val="000000"/>
                  </a:solidFill>
                  <a:latin typeface="Nunito 1" panose="020B0604020202020204" charset="0"/>
                  <a:ea typeface="Nunito 1 Bold"/>
                  <a:cs typeface="Nunito 1 Bold"/>
                  <a:sym typeface="Nunito 1 Bold"/>
                </a:endParaRPr>
              </a:p>
              <a:p>
                <a:pPr algn="just">
                  <a:lnSpc>
                    <a:spcPct val="150000"/>
                  </a:lnSpc>
                </a:pPr>
                <a:r>
                  <a:rPr lang="en-US" sz="2400" dirty="0">
                    <a:solidFill>
                      <a:srgbClr val="000000"/>
                    </a:solidFill>
                    <a:latin typeface="Nunito 1" panose="020B0604020202020204" charset="0"/>
                    <a:ea typeface="Nunito 1 Bold"/>
                    <a:cs typeface="Nunito 1 Bold"/>
                    <a:sym typeface="Nunito 1 Bold"/>
                  </a:rPr>
                  <a:t>Average Pace = </a:t>
                </a:r>
                <a14:m>
                  <m:oMath xmlns:m="http://schemas.openxmlformats.org/officeDocument/2006/math">
                    <m:f>
                      <m:fPr>
                        <m:ctrlPr>
                          <a:rPr lang="en-US" sz="2400" i="1" smtClean="0">
                            <a:solidFill>
                              <a:srgbClr val="000000"/>
                            </a:solidFill>
                            <a:latin typeface="Cambria Math" panose="02040503050406030204" pitchFamily="18" charset="0"/>
                            <a:sym typeface="Nunito 1 Bold"/>
                          </a:rPr>
                        </m:ctrlPr>
                      </m:fPr>
                      <m:num>
                        <m:r>
                          <m:rPr>
                            <m:nor/>
                          </m:rPr>
                          <a:rPr lang="en-PH" sz="2400" b="0" i="0" smtClean="0">
                            <a:solidFill>
                              <a:srgbClr val="000000"/>
                            </a:solidFill>
                            <a:latin typeface="Nunito 1" panose="020B0604020202020204" charset="0"/>
                            <a:cs typeface="Times New Roman" panose="02020603050405020304" pitchFamily="18" charset="0"/>
                            <a:sym typeface="Nunito 1 Bold"/>
                          </a:rPr>
                          <m:t>60 + 61 + 59 + 62 + 60</m:t>
                        </m:r>
                      </m:num>
                      <m:den>
                        <m:r>
                          <m:rPr>
                            <m:nor/>
                          </m:rPr>
                          <a:rPr lang="en-PH" sz="2400" b="0" i="0" smtClean="0">
                            <a:solidFill>
                              <a:srgbClr val="000000"/>
                            </a:solidFill>
                            <a:latin typeface="Nunito 1" panose="020B0604020202020204" charset="0"/>
                            <a:cs typeface="Times New Roman" panose="02020603050405020304" pitchFamily="18" charset="0"/>
                            <a:sym typeface="Nunito 1 Bold"/>
                          </a:rPr>
                          <m:t>5</m:t>
                        </m:r>
                      </m:den>
                    </m:f>
                  </m:oMath>
                </a14:m>
                <a:r>
                  <a:rPr lang="en-US" sz="2400" dirty="0">
                    <a:solidFill>
                      <a:srgbClr val="000000"/>
                    </a:solidFill>
                    <a:latin typeface="Nunito 1" panose="020B0604020202020204" charset="0"/>
                    <a:ea typeface="Nunito 1 Bold"/>
                    <a:cs typeface="Times New Roman" panose="02020603050405020304" pitchFamily="18" charset="0"/>
                    <a:sym typeface="Nunito 1 Bold"/>
                  </a:rPr>
                  <a:t>  =  60.4 steps</a:t>
                </a:r>
              </a:p>
              <a:p>
                <a:pPr algn="just">
                  <a:lnSpc>
                    <a:spcPct val="150000"/>
                  </a:lnSpc>
                  <a:tabLst>
                    <a:tab pos="1249363" algn="l"/>
                  </a:tabLst>
                </a:pPr>
                <a:endParaRPr lang="en-US" sz="2400" dirty="0">
                  <a:solidFill>
                    <a:srgbClr val="000000"/>
                  </a:solidFill>
                  <a:latin typeface="Nunito 1" panose="020B0604020202020204" charset="0"/>
                  <a:ea typeface="Nunito 1 Bold"/>
                  <a:cs typeface="Nunito 1 Bold"/>
                  <a:sym typeface="Nunito 1 Bold"/>
                </a:endParaRPr>
              </a:p>
              <a:p>
                <a:pPr algn="just">
                  <a:lnSpc>
                    <a:spcPct val="150000"/>
                  </a:lnSpc>
                  <a:tabLst>
                    <a:tab pos="1249363" algn="l"/>
                  </a:tabLst>
                </a:pPr>
                <a:r>
                  <a:rPr lang="en-US" sz="2400" dirty="0">
                    <a:solidFill>
                      <a:srgbClr val="000000"/>
                    </a:solidFill>
                    <a:latin typeface="Nunito 1" panose="020B0604020202020204" charset="0"/>
                    <a:ea typeface="Nunito 1 Bold"/>
                    <a:cs typeface="Nunito 1 Bold"/>
                    <a:sym typeface="Nunito 1 Bold"/>
                  </a:rPr>
                  <a:t>Pace Factor = Length/Average Pace = 50m/60.4</a:t>
                </a:r>
              </a:p>
              <a:p>
                <a:pPr algn="just">
                  <a:lnSpc>
                    <a:spcPct val="150000"/>
                  </a:lnSpc>
                  <a:tabLst>
                    <a:tab pos="1249363" algn="l"/>
                  </a:tabLst>
                </a:pPr>
                <a:r>
                  <a:rPr lang="en-US" sz="2400" b="1" dirty="0">
                    <a:solidFill>
                      <a:srgbClr val="000000"/>
                    </a:solidFill>
                    <a:latin typeface="Nunito 1" panose="020B0604020202020204" charset="0"/>
                    <a:ea typeface="Nunito 1 Bold"/>
                    <a:cs typeface="Nunito 1 Bold"/>
                    <a:sym typeface="Nunito 1 Bold"/>
                  </a:rPr>
                  <a:t>Pace Factor = 0.83m</a:t>
                </a:r>
              </a:p>
            </p:txBody>
          </p:sp>
        </mc:Choice>
        <mc:Fallback xmlns="">
          <p:sp>
            <p:nvSpPr>
              <p:cNvPr id="5" name="TextBox 15">
                <a:extLst>
                  <a:ext uri="{FF2B5EF4-FFF2-40B4-BE49-F238E27FC236}">
                    <a16:creationId xmlns:a16="http://schemas.microsoft.com/office/drawing/2014/main" id="{B6AC54D5-1C96-C646-DB9B-0B8EDD0507E2}"/>
                  </a:ext>
                </a:extLst>
              </p:cNvPr>
              <p:cNvSpPr txBox="1">
                <a:spLocks noRot="1" noChangeAspect="1" noMove="1" noResize="1" noEditPoints="1" noAdjustHandles="1" noChangeArrowheads="1" noChangeShapeType="1" noTextEdit="1"/>
              </p:cNvSpPr>
              <p:nvPr/>
            </p:nvSpPr>
            <p:spPr>
              <a:xfrm>
                <a:off x="5622890" y="3799260"/>
                <a:ext cx="10419067" cy="3633046"/>
              </a:xfrm>
              <a:prstGeom prst="rect">
                <a:avLst/>
              </a:prstGeom>
              <a:blipFill>
                <a:blip r:embed="rId3"/>
                <a:stretch>
                  <a:fillRect l="-1754" b="-4362"/>
                </a:stretch>
              </a:blipFill>
            </p:spPr>
            <p:txBody>
              <a:bodyPr/>
              <a:lstStyle/>
              <a:p>
                <a:r>
                  <a:rPr lang="en-PH">
                    <a:noFill/>
                  </a:rPr>
                  <a:t> </a:t>
                </a:r>
              </a:p>
            </p:txBody>
          </p:sp>
        </mc:Fallback>
      </mc:AlternateContent>
      <p:grpSp>
        <p:nvGrpSpPr>
          <p:cNvPr id="6" name="Group 5">
            <a:extLst>
              <a:ext uri="{FF2B5EF4-FFF2-40B4-BE49-F238E27FC236}">
                <a16:creationId xmlns:a16="http://schemas.microsoft.com/office/drawing/2014/main" id="{C2D9E197-3790-1FE9-BC9E-3ECD17F07639}"/>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11BC3F1D-CDC1-B917-9027-64480BB74671}"/>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1BDBB53D-F79E-30BF-35C3-82C7BA33EF3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22959166-C665-F979-E43F-0EE7BC918B68}"/>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2">
              <a:extLst>
                <a:ext uri="{FF2B5EF4-FFF2-40B4-BE49-F238E27FC236}">
                  <a16:creationId xmlns:a16="http://schemas.microsoft.com/office/drawing/2014/main" id="{691B2445-4971-6ADB-2E65-8B07597C5D7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105094CB-1577-3546-9502-455AB7D7046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711210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8974-E62F-078D-2B71-73D248E60487}"/>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1267BBB7-5E1E-EFC2-DC4B-3D4CA62BDFBE}"/>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84E90D38-1C43-91D6-834D-448328953A2B}"/>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6BF72FE6-39DD-FB40-4105-944BECA4471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8D3CD2A9-0502-DB1A-0BD5-32FD64DA426C}"/>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E32066F-F998-9E11-A1D2-B4FB604FE69C}"/>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8E613EF7-154B-4280-17D4-B8A82FE1B45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9176189A-48E7-E025-65A3-735EE4277A7C}"/>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43EE9616-85FE-D1BF-1FF6-D4C29FE1307F}"/>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3AC48583-B9FE-9B01-AF36-475C9F0F4F96}"/>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50356BE3-2A50-2574-D8FF-AFF3D433E36F}"/>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B43B2DE0-9474-D218-306E-AA73E314170D}"/>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7F828586-E5C3-1276-AAAD-3B61CC43C948}"/>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C44D6A89-DD51-8ADA-2FCD-80FBF9FF3853}"/>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9</a:t>
            </a:r>
          </a:p>
        </p:txBody>
      </p:sp>
      <p:sp>
        <p:nvSpPr>
          <p:cNvPr id="15" name="TextBox 15">
            <a:extLst>
              <a:ext uri="{FF2B5EF4-FFF2-40B4-BE49-F238E27FC236}">
                <a16:creationId xmlns:a16="http://schemas.microsoft.com/office/drawing/2014/main" id="{1AF373CF-D2F9-5CBD-4BA8-D63D2CF4B862}"/>
              </a:ext>
            </a:extLst>
          </p:cNvPr>
          <p:cNvSpPr txBox="1"/>
          <p:nvPr/>
        </p:nvSpPr>
        <p:spPr>
          <a:xfrm>
            <a:off x="2246041" y="2025065"/>
            <a:ext cx="13795916" cy="738664"/>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During a laboratory exercise, a student recorded 60, 61, 59, 62, and 60 paces while walking along a 50-meter course on a concrete surface. What is the student’s pace factor?</a:t>
            </a:r>
          </a:p>
        </p:txBody>
      </p:sp>
      <p:sp>
        <p:nvSpPr>
          <p:cNvPr id="19" name="TextBox 12">
            <a:extLst>
              <a:ext uri="{FF2B5EF4-FFF2-40B4-BE49-F238E27FC236}">
                <a16:creationId xmlns:a16="http://schemas.microsoft.com/office/drawing/2014/main" id="{F6904101-2131-EF9A-1724-421DD5B44E9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7F61F11F-97BF-EB19-BC7D-F367B064BC36}"/>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67FCBBE0-C2FD-375A-7537-4033F61FFF59}"/>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0.80m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0.81m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0.82m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0.83m</a:t>
            </a:r>
          </a:p>
        </p:txBody>
      </p:sp>
      <p:sp>
        <p:nvSpPr>
          <p:cNvPr id="22" name="Oval 21">
            <a:extLst>
              <a:ext uri="{FF2B5EF4-FFF2-40B4-BE49-F238E27FC236}">
                <a16:creationId xmlns:a16="http://schemas.microsoft.com/office/drawing/2014/main" id="{E0D1A67D-5E2C-E204-A95A-3A11B04BC191}"/>
              </a:ext>
            </a:extLst>
          </p:cNvPr>
          <p:cNvSpPr/>
          <p:nvPr/>
        </p:nvSpPr>
        <p:spPr>
          <a:xfrm>
            <a:off x="1505640" y="5985315"/>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BC7DE6DF-1CAA-E272-E917-A1ED3DDF1147}"/>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48963214-A3F1-31A6-E43D-9252806441E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9F4EC62-A075-DC16-D496-C81C0B727A8A}"/>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mc:AlternateContent xmlns:mc="http://schemas.openxmlformats.org/markup-compatibility/2006" xmlns:a14="http://schemas.microsoft.com/office/drawing/2010/main">
        <mc:Choice Requires="a14">
          <p:sp>
            <p:nvSpPr>
              <p:cNvPr id="5" name="TextBox 15">
                <a:extLst>
                  <a:ext uri="{FF2B5EF4-FFF2-40B4-BE49-F238E27FC236}">
                    <a16:creationId xmlns:a16="http://schemas.microsoft.com/office/drawing/2014/main" id="{B9399C0B-CDF0-2F79-D525-C9C35A731688}"/>
                  </a:ext>
                </a:extLst>
              </p:cNvPr>
              <p:cNvSpPr txBox="1"/>
              <p:nvPr/>
            </p:nvSpPr>
            <p:spPr>
              <a:xfrm>
                <a:off x="5622890" y="3799260"/>
                <a:ext cx="10419067" cy="3633046"/>
              </a:xfrm>
              <a:prstGeom prst="rect">
                <a:avLst/>
              </a:prstGeom>
            </p:spPr>
            <p:txBody>
              <a:bodyPr wrap="square" lIns="0" tIns="0" rIns="0" bIns="0" rtlCol="0" anchor="t">
                <a:spAutoFit/>
              </a:bodyPr>
              <a:lstStyle/>
              <a:p>
                <a:pPr algn="just">
                  <a:lnSpc>
                    <a:spcPct val="150000"/>
                  </a:lnSpc>
                </a:pPr>
                <a:r>
                  <a:rPr lang="en-US" sz="2400" b="1" u="sng" dirty="0">
                    <a:solidFill>
                      <a:srgbClr val="000000"/>
                    </a:solidFill>
                    <a:latin typeface="Nunito 1" panose="020B0604020202020204" charset="0"/>
                    <a:ea typeface="Nunito 1 Bold"/>
                    <a:cs typeface="Nunito 1 Bold"/>
                    <a:sym typeface="Nunito 1 Bold"/>
                  </a:rPr>
                  <a:t>Solution:</a:t>
                </a:r>
              </a:p>
              <a:p>
                <a:pPr algn="just">
                  <a:lnSpc>
                    <a:spcPct val="150000"/>
                  </a:lnSpc>
                </a:pPr>
                <a:endParaRPr lang="en-US" sz="2400" dirty="0">
                  <a:solidFill>
                    <a:srgbClr val="000000"/>
                  </a:solidFill>
                  <a:latin typeface="Nunito 1" panose="020B0604020202020204" charset="0"/>
                  <a:ea typeface="Nunito 1 Bold"/>
                  <a:cs typeface="Nunito 1 Bold"/>
                  <a:sym typeface="Nunito 1 Bold"/>
                </a:endParaRPr>
              </a:p>
              <a:p>
                <a:pPr algn="just">
                  <a:lnSpc>
                    <a:spcPct val="150000"/>
                  </a:lnSpc>
                </a:pPr>
                <a:r>
                  <a:rPr lang="en-US" sz="2400" dirty="0">
                    <a:solidFill>
                      <a:srgbClr val="000000"/>
                    </a:solidFill>
                    <a:latin typeface="Nunito 1" panose="020B0604020202020204" charset="0"/>
                    <a:ea typeface="Nunito 1 Bold"/>
                    <a:cs typeface="Nunito 1 Bold"/>
                    <a:sym typeface="Nunito 1 Bold"/>
                  </a:rPr>
                  <a:t>Average Pace = </a:t>
                </a:r>
                <a14:m>
                  <m:oMath xmlns:m="http://schemas.openxmlformats.org/officeDocument/2006/math">
                    <m:f>
                      <m:fPr>
                        <m:ctrlPr>
                          <a:rPr lang="en-US" sz="2400" i="1" smtClean="0">
                            <a:solidFill>
                              <a:srgbClr val="000000"/>
                            </a:solidFill>
                            <a:latin typeface="Cambria Math" panose="02040503050406030204" pitchFamily="18" charset="0"/>
                            <a:sym typeface="Nunito 1 Bold"/>
                          </a:rPr>
                        </m:ctrlPr>
                      </m:fPr>
                      <m:num>
                        <m:r>
                          <m:rPr>
                            <m:nor/>
                          </m:rPr>
                          <a:rPr lang="en-PH" sz="2400" b="0" i="0" smtClean="0">
                            <a:solidFill>
                              <a:srgbClr val="000000"/>
                            </a:solidFill>
                            <a:latin typeface="Nunito 1" panose="020B0604020202020204" charset="0"/>
                            <a:cs typeface="Times New Roman" panose="02020603050405020304" pitchFamily="18" charset="0"/>
                            <a:sym typeface="Nunito 1 Bold"/>
                          </a:rPr>
                          <m:t>60 + 61 + 59 + 62 + 60</m:t>
                        </m:r>
                      </m:num>
                      <m:den>
                        <m:r>
                          <m:rPr>
                            <m:nor/>
                          </m:rPr>
                          <a:rPr lang="en-PH" sz="2400" b="0" i="0" smtClean="0">
                            <a:solidFill>
                              <a:srgbClr val="000000"/>
                            </a:solidFill>
                            <a:latin typeface="Nunito 1" panose="020B0604020202020204" charset="0"/>
                            <a:cs typeface="Times New Roman" panose="02020603050405020304" pitchFamily="18" charset="0"/>
                            <a:sym typeface="Nunito 1 Bold"/>
                          </a:rPr>
                          <m:t>5</m:t>
                        </m:r>
                      </m:den>
                    </m:f>
                  </m:oMath>
                </a14:m>
                <a:r>
                  <a:rPr lang="en-US" sz="2400" dirty="0">
                    <a:solidFill>
                      <a:srgbClr val="000000"/>
                    </a:solidFill>
                    <a:latin typeface="Nunito 1" panose="020B0604020202020204" charset="0"/>
                    <a:ea typeface="Nunito 1 Bold"/>
                    <a:cs typeface="Times New Roman" panose="02020603050405020304" pitchFamily="18" charset="0"/>
                    <a:sym typeface="Nunito 1 Bold"/>
                  </a:rPr>
                  <a:t>  =  60.4 steps</a:t>
                </a:r>
              </a:p>
              <a:p>
                <a:pPr algn="just">
                  <a:lnSpc>
                    <a:spcPct val="150000"/>
                  </a:lnSpc>
                  <a:tabLst>
                    <a:tab pos="1249363" algn="l"/>
                  </a:tabLst>
                </a:pPr>
                <a:endParaRPr lang="en-US" sz="2400" dirty="0">
                  <a:solidFill>
                    <a:srgbClr val="000000"/>
                  </a:solidFill>
                  <a:latin typeface="Nunito 1" panose="020B0604020202020204" charset="0"/>
                  <a:ea typeface="Nunito 1 Bold"/>
                  <a:cs typeface="Nunito 1 Bold"/>
                  <a:sym typeface="Nunito 1 Bold"/>
                </a:endParaRPr>
              </a:p>
              <a:p>
                <a:pPr algn="just">
                  <a:lnSpc>
                    <a:spcPct val="150000"/>
                  </a:lnSpc>
                  <a:tabLst>
                    <a:tab pos="1249363" algn="l"/>
                  </a:tabLst>
                </a:pPr>
                <a:r>
                  <a:rPr lang="en-US" sz="2400" dirty="0">
                    <a:solidFill>
                      <a:srgbClr val="000000"/>
                    </a:solidFill>
                    <a:latin typeface="Nunito 1" panose="020B0604020202020204" charset="0"/>
                    <a:ea typeface="Nunito 1 Bold"/>
                    <a:cs typeface="Nunito 1 Bold"/>
                    <a:sym typeface="Nunito 1 Bold"/>
                  </a:rPr>
                  <a:t>Pace Factor = Length/Average Pace = 50m/60.4</a:t>
                </a:r>
              </a:p>
              <a:p>
                <a:pPr algn="just">
                  <a:lnSpc>
                    <a:spcPct val="150000"/>
                  </a:lnSpc>
                  <a:tabLst>
                    <a:tab pos="1249363" algn="l"/>
                  </a:tabLst>
                </a:pPr>
                <a:r>
                  <a:rPr lang="en-US" sz="2400" b="1" dirty="0">
                    <a:solidFill>
                      <a:srgbClr val="000000"/>
                    </a:solidFill>
                    <a:latin typeface="Nunito 1" panose="020B0604020202020204" charset="0"/>
                    <a:ea typeface="Nunito 1 Bold"/>
                    <a:cs typeface="Nunito 1 Bold"/>
                    <a:sym typeface="Nunito 1 Bold"/>
                  </a:rPr>
                  <a:t>Pace Factor = 0.83m</a:t>
                </a:r>
              </a:p>
            </p:txBody>
          </p:sp>
        </mc:Choice>
        <mc:Fallback xmlns="">
          <p:sp>
            <p:nvSpPr>
              <p:cNvPr id="5" name="TextBox 15">
                <a:extLst>
                  <a:ext uri="{FF2B5EF4-FFF2-40B4-BE49-F238E27FC236}">
                    <a16:creationId xmlns:a16="http://schemas.microsoft.com/office/drawing/2014/main" id="{B9399C0B-CDF0-2F79-D525-C9C35A731688}"/>
                  </a:ext>
                </a:extLst>
              </p:cNvPr>
              <p:cNvSpPr txBox="1">
                <a:spLocks noRot="1" noChangeAspect="1" noMove="1" noResize="1" noEditPoints="1" noAdjustHandles="1" noChangeArrowheads="1" noChangeShapeType="1" noTextEdit="1"/>
              </p:cNvSpPr>
              <p:nvPr/>
            </p:nvSpPr>
            <p:spPr>
              <a:xfrm>
                <a:off x="5622890" y="3799260"/>
                <a:ext cx="10419067" cy="3633046"/>
              </a:xfrm>
              <a:prstGeom prst="rect">
                <a:avLst/>
              </a:prstGeom>
              <a:blipFill>
                <a:blip r:embed="rId3"/>
                <a:stretch>
                  <a:fillRect l="-1754" b="-4362"/>
                </a:stretch>
              </a:blipFill>
            </p:spPr>
            <p:txBody>
              <a:bodyPr/>
              <a:lstStyle/>
              <a:p>
                <a:r>
                  <a:rPr lang="en-PH">
                    <a:noFill/>
                  </a:rPr>
                  <a:t> </a:t>
                </a:r>
              </a:p>
            </p:txBody>
          </p:sp>
        </mc:Fallback>
      </mc:AlternateContent>
      <p:grpSp>
        <p:nvGrpSpPr>
          <p:cNvPr id="6" name="Group 5">
            <a:extLst>
              <a:ext uri="{FF2B5EF4-FFF2-40B4-BE49-F238E27FC236}">
                <a16:creationId xmlns:a16="http://schemas.microsoft.com/office/drawing/2014/main" id="{2BF88C88-C4EE-4408-4C48-C561BEEFD28B}"/>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CF2832CC-041B-3CEE-5313-F4ED97E18E62}"/>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1DDD404F-5992-8DA4-6C49-05F06D87E54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C8340ED6-F116-E16B-BD55-5FEE804DC558}"/>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2">
              <a:extLst>
                <a:ext uri="{FF2B5EF4-FFF2-40B4-BE49-F238E27FC236}">
                  <a16:creationId xmlns:a16="http://schemas.microsoft.com/office/drawing/2014/main" id="{339B75D8-C308-71E6-B44F-783643CB414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B72DA1B9-352A-3BD0-C0EC-F8930A2DE9EF}"/>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042457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10</a:t>
            </a:r>
          </a:p>
        </p:txBody>
      </p:sp>
      <p:sp>
        <p:nvSpPr>
          <p:cNvPr id="15" name="TextBox 15"/>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An ABE student was tasked to estimate the distance between two points. From their previous laboratory exercise, the student determined that his pace factor is 0.61m. If it took him a total of 120 steps to reach point B, what is the estimated distance from point A to point B?</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196m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73m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195m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74m</a:t>
            </a:r>
          </a:p>
        </p:txBody>
      </p:sp>
      <p:sp>
        <p:nvSpPr>
          <p:cNvPr id="22" name="Oval 21">
            <a:extLst>
              <a:ext uri="{FF2B5EF4-FFF2-40B4-BE49-F238E27FC236}">
                <a16:creationId xmlns:a16="http://schemas.microsoft.com/office/drawing/2014/main" id="{C16DF3DE-3062-D00D-FC1F-F2CCEDA706F7}"/>
              </a:ext>
            </a:extLst>
          </p:cNvPr>
          <p:cNvSpPr/>
          <p:nvPr/>
        </p:nvSpPr>
        <p:spPr>
          <a:xfrm>
            <a:off x="1505640" y="4537052"/>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5" name="TextBox 15">
            <a:extLst>
              <a:ext uri="{FF2B5EF4-FFF2-40B4-BE49-F238E27FC236}">
                <a16:creationId xmlns:a16="http://schemas.microsoft.com/office/drawing/2014/main" id="{B6AC54D5-1C96-C646-DB9B-0B8EDD0507E2}"/>
              </a:ext>
            </a:extLst>
          </p:cNvPr>
          <p:cNvSpPr txBox="1"/>
          <p:nvPr/>
        </p:nvSpPr>
        <p:spPr>
          <a:xfrm>
            <a:off x="5622890" y="3799260"/>
            <a:ext cx="10419067" cy="2723823"/>
          </a:xfrm>
          <a:prstGeom prst="rect">
            <a:avLst/>
          </a:prstGeom>
        </p:spPr>
        <p:txBody>
          <a:bodyPr wrap="square" lIns="0" tIns="0" rIns="0" bIns="0" rtlCol="0" anchor="t">
            <a:spAutoFit/>
          </a:bodyPr>
          <a:lstStyle/>
          <a:p>
            <a:pPr algn="just">
              <a:lnSpc>
                <a:spcPct val="150000"/>
              </a:lnSpc>
            </a:pPr>
            <a:r>
              <a:rPr lang="en-US" sz="2400" b="1" u="sng" dirty="0">
                <a:solidFill>
                  <a:srgbClr val="000000"/>
                </a:solidFill>
                <a:latin typeface="Nunito 1" panose="020B0604020202020204" charset="0"/>
                <a:ea typeface="Nunito 1 Bold"/>
                <a:cs typeface="Nunito 1 Bold"/>
                <a:sym typeface="Nunito 1 Bold"/>
              </a:rPr>
              <a:t>Solution:</a:t>
            </a:r>
          </a:p>
          <a:p>
            <a:pPr algn="just">
              <a:lnSpc>
                <a:spcPct val="150000"/>
              </a:lnSpc>
            </a:pPr>
            <a:endParaRPr lang="en-US" sz="2400" dirty="0">
              <a:solidFill>
                <a:srgbClr val="000000"/>
              </a:solidFill>
              <a:latin typeface="Nunito 1" panose="020B0604020202020204" charset="0"/>
              <a:ea typeface="Nunito 1 Bold"/>
              <a:cs typeface="Nunito 1 Bold"/>
              <a:sym typeface="Nunito 1 Bold"/>
            </a:endParaRPr>
          </a:p>
          <a:p>
            <a:pPr algn="just">
              <a:lnSpc>
                <a:spcPct val="150000"/>
              </a:lnSpc>
            </a:pPr>
            <a:r>
              <a:rPr lang="en-US" sz="2400" dirty="0">
                <a:solidFill>
                  <a:srgbClr val="000000"/>
                </a:solidFill>
                <a:latin typeface="Nunito 1" panose="020B0604020202020204" charset="0"/>
                <a:ea typeface="Nunito 1 Bold"/>
                <a:cs typeface="Nunito 1 Bold"/>
                <a:sym typeface="Nunito 1 Bold"/>
              </a:rPr>
              <a:t>Distance = Pace Factor x No. of steps</a:t>
            </a:r>
          </a:p>
          <a:p>
            <a:pPr algn="just">
              <a:lnSpc>
                <a:spcPct val="150000"/>
              </a:lnSpc>
              <a:tabLst>
                <a:tab pos="1249363" algn="l"/>
              </a:tabLst>
            </a:pPr>
            <a:r>
              <a:rPr lang="en-US" sz="2400" dirty="0">
                <a:solidFill>
                  <a:srgbClr val="000000"/>
                </a:solidFill>
                <a:latin typeface="Nunito 1" panose="020B0604020202020204" charset="0"/>
                <a:ea typeface="Nunito 1 Bold"/>
                <a:cs typeface="Nunito 1 Bold"/>
                <a:sym typeface="Nunito 1 Bold"/>
              </a:rPr>
              <a:t>	= 0.61m x 120</a:t>
            </a:r>
          </a:p>
          <a:p>
            <a:pPr algn="just">
              <a:lnSpc>
                <a:spcPct val="150000"/>
              </a:lnSpc>
              <a:tabLst>
                <a:tab pos="1249363" algn="l"/>
              </a:tabLst>
            </a:pPr>
            <a:r>
              <a:rPr lang="en-US" sz="2400" b="1" dirty="0">
                <a:solidFill>
                  <a:srgbClr val="000000"/>
                </a:solidFill>
                <a:latin typeface="Nunito 1" panose="020B0604020202020204" charset="0"/>
                <a:ea typeface="Nunito 1 Bold"/>
                <a:cs typeface="Nunito 1 Bold"/>
                <a:sym typeface="Nunito 1 Bold"/>
              </a:rPr>
              <a:t>Distance = 73.2m</a:t>
            </a:r>
          </a:p>
        </p:txBody>
      </p:sp>
      <p:grpSp>
        <p:nvGrpSpPr>
          <p:cNvPr id="6" name="Group 5">
            <a:extLst>
              <a:ext uri="{FF2B5EF4-FFF2-40B4-BE49-F238E27FC236}">
                <a16:creationId xmlns:a16="http://schemas.microsoft.com/office/drawing/2014/main" id="{7F3A73F9-CB4A-3957-974F-DCA796C15079}"/>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C01DA8FE-39BE-FC75-DF13-21040CEC5ADC}"/>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25F53391-321E-0985-0435-B6466BBEF7F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F5AD9F9D-91B9-C49B-3702-F2B167D8A634}"/>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2">
              <a:extLst>
                <a:ext uri="{FF2B5EF4-FFF2-40B4-BE49-F238E27FC236}">
                  <a16:creationId xmlns:a16="http://schemas.microsoft.com/office/drawing/2014/main" id="{FF6C90DD-01E9-7BD6-969C-7BCE236DCBB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2CD1ED6B-76C7-57FE-3E3F-1ECD9BCE3A22}"/>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87036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11</a:t>
            </a:r>
          </a:p>
        </p:txBody>
      </p:sp>
      <p:sp>
        <p:nvSpPr>
          <p:cNvPr id="15" name="TextBox 15"/>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Consider the figure below, showing the estimated interior angles of a triangular area as observed by a group of ABE students. Due to a discrepancy in the observations, corrections must first be applied. Which of the following would be the corrected value of angle B?</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40′40“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30′30“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50′20“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40′20“</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8" name="Group 27">
            <a:extLst>
              <a:ext uri="{FF2B5EF4-FFF2-40B4-BE49-F238E27FC236}">
                <a16:creationId xmlns:a16="http://schemas.microsoft.com/office/drawing/2014/main" id="{609DFC82-0FAD-AB16-F76C-B8D39E8B9EE5}"/>
              </a:ext>
            </a:extLst>
          </p:cNvPr>
          <p:cNvGrpSpPr/>
          <p:nvPr/>
        </p:nvGrpSpPr>
        <p:grpSpPr>
          <a:xfrm>
            <a:off x="6519985" y="3724586"/>
            <a:ext cx="6184154" cy="3336102"/>
            <a:chOff x="11658884" y="4388970"/>
            <a:chExt cx="3253841" cy="1755316"/>
          </a:xfrm>
        </p:grpSpPr>
        <p:sp>
          <p:nvSpPr>
            <p:cNvPr id="6" name="Isosceles Triangle 5">
              <a:extLst>
                <a:ext uri="{FF2B5EF4-FFF2-40B4-BE49-F238E27FC236}">
                  <a16:creationId xmlns:a16="http://schemas.microsoft.com/office/drawing/2014/main" id="{4BEF37D4-A898-31B6-FB01-F4E25D36B251}"/>
                </a:ext>
              </a:extLst>
            </p:cNvPr>
            <p:cNvSpPr/>
            <p:nvPr/>
          </p:nvSpPr>
          <p:spPr>
            <a:xfrm>
              <a:off x="12115800" y="4686300"/>
              <a:ext cx="2340010" cy="1066799"/>
            </a:xfrm>
            <a:prstGeom prst="triangle">
              <a:avLst>
                <a:gd name="adj" fmla="val 40940"/>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2000"/>
            </a:p>
          </p:txBody>
        </p:sp>
        <p:sp>
          <p:nvSpPr>
            <p:cNvPr id="7" name="TextBox 15">
              <a:extLst>
                <a:ext uri="{FF2B5EF4-FFF2-40B4-BE49-F238E27FC236}">
                  <a16:creationId xmlns:a16="http://schemas.microsoft.com/office/drawing/2014/main" id="{EA5002E3-B0CB-539D-DF8E-CDDFDE459F0A}"/>
                </a:ext>
              </a:extLst>
            </p:cNvPr>
            <p:cNvSpPr txBox="1"/>
            <p:nvPr/>
          </p:nvSpPr>
          <p:spPr>
            <a:xfrm>
              <a:off x="11658884" y="5817252"/>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A</a:t>
              </a:r>
            </a:p>
            <a:p>
              <a:pPr algn="ctr"/>
              <a:r>
                <a:rPr lang="en-US" sz="2000" dirty="0">
                  <a:solidFill>
                    <a:srgbClr val="000000"/>
                  </a:solidFill>
                  <a:latin typeface="Nunito 1" panose="020B0604020202020204" charset="0"/>
                  <a:ea typeface="Nunito 1 Bold"/>
                  <a:cs typeface="Nunito 1 Bold"/>
                  <a:sym typeface="Nunito 1 Bold"/>
                </a:rPr>
                <a:t>55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30 ′ 20"</a:t>
              </a:r>
            </a:p>
          </p:txBody>
        </p:sp>
        <p:sp>
          <p:nvSpPr>
            <p:cNvPr id="26" name="TextBox 15">
              <a:extLst>
                <a:ext uri="{FF2B5EF4-FFF2-40B4-BE49-F238E27FC236}">
                  <a16:creationId xmlns:a16="http://schemas.microsoft.com/office/drawing/2014/main" id="{9DFC5C0B-726A-8290-25FE-44D8D7FE3B84}"/>
                </a:ext>
              </a:extLst>
            </p:cNvPr>
            <p:cNvSpPr txBox="1"/>
            <p:nvPr/>
          </p:nvSpPr>
          <p:spPr>
            <a:xfrm>
              <a:off x="12633292" y="4388970"/>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B</a:t>
              </a:r>
            </a:p>
            <a:p>
              <a:pPr algn="ctr"/>
              <a:r>
                <a:rPr lang="en-US" sz="2000" dirty="0">
                  <a:solidFill>
                    <a:srgbClr val="000000"/>
                  </a:solidFill>
                  <a:latin typeface="Nunito 1" panose="020B0604020202020204" charset="0"/>
                  <a:ea typeface="Nunito 1 Bold"/>
                  <a:cs typeface="Nunito 1 Bold"/>
                  <a:sym typeface="Nunito 1 Bold"/>
                </a:rPr>
                <a:t>68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40 ′ 30"</a:t>
              </a:r>
            </a:p>
          </p:txBody>
        </p:sp>
        <p:sp>
          <p:nvSpPr>
            <p:cNvPr id="27" name="TextBox 15">
              <a:extLst>
                <a:ext uri="{FF2B5EF4-FFF2-40B4-BE49-F238E27FC236}">
                  <a16:creationId xmlns:a16="http://schemas.microsoft.com/office/drawing/2014/main" id="{6AC053BC-F3CF-D736-4529-C7515EC4D346}"/>
                </a:ext>
              </a:extLst>
            </p:cNvPr>
            <p:cNvSpPr txBox="1"/>
            <p:nvPr/>
          </p:nvSpPr>
          <p:spPr>
            <a:xfrm>
              <a:off x="13998894" y="5820408"/>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C</a:t>
              </a:r>
            </a:p>
            <a:p>
              <a:pPr algn="ctr"/>
              <a:r>
                <a:rPr lang="en-US" sz="2000" dirty="0">
                  <a:solidFill>
                    <a:srgbClr val="000000"/>
                  </a:solidFill>
                  <a:latin typeface="Nunito 1" panose="020B0604020202020204" charset="0"/>
                  <a:ea typeface="Nunito 1 Bold"/>
                  <a:cs typeface="Nunito 1 Bold"/>
                  <a:sym typeface="Nunito 1 Bold"/>
                </a:rPr>
                <a:t>55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49 ′ 40"</a:t>
              </a:r>
            </a:p>
          </p:txBody>
        </p:sp>
      </p:grpSp>
      <p:grpSp>
        <p:nvGrpSpPr>
          <p:cNvPr id="5" name="Group 4">
            <a:extLst>
              <a:ext uri="{FF2B5EF4-FFF2-40B4-BE49-F238E27FC236}">
                <a16:creationId xmlns:a16="http://schemas.microsoft.com/office/drawing/2014/main" id="{A1210CBF-9741-D2FF-5C6E-C2D6362E42D8}"/>
              </a:ext>
            </a:extLst>
          </p:cNvPr>
          <p:cNvGrpSpPr/>
          <p:nvPr/>
        </p:nvGrpSpPr>
        <p:grpSpPr>
          <a:xfrm>
            <a:off x="0" y="9599693"/>
            <a:ext cx="18287999" cy="687306"/>
            <a:chOff x="0" y="9599693"/>
            <a:chExt cx="18287999" cy="687306"/>
          </a:xfrm>
        </p:grpSpPr>
        <p:grpSp>
          <p:nvGrpSpPr>
            <p:cNvPr id="29" name="Group 11">
              <a:extLst>
                <a:ext uri="{FF2B5EF4-FFF2-40B4-BE49-F238E27FC236}">
                  <a16:creationId xmlns:a16="http://schemas.microsoft.com/office/drawing/2014/main" id="{523D6AB7-87A1-BB7F-7257-0EC1406FD28F}"/>
                </a:ext>
              </a:extLst>
            </p:cNvPr>
            <p:cNvGrpSpPr/>
            <p:nvPr/>
          </p:nvGrpSpPr>
          <p:grpSpPr>
            <a:xfrm>
              <a:off x="0" y="9599694"/>
              <a:ext cx="18287999" cy="687305"/>
              <a:chOff x="0" y="0"/>
              <a:chExt cx="5260714" cy="490218"/>
            </a:xfrm>
          </p:grpSpPr>
          <p:sp>
            <p:nvSpPr>
              <p:cNvPr id="32" name="Freeform 12">
                <a:extLst>
                  <a:ext uri="{FF2B5EF4-FFF2-40B4-BE49-F238E27FC236}">
                    <a16:creationId xmlns:a16="http://schemas.microsoft.com/office/drawing/2014/main" id="{C6B60068-9FD6-DD9E-F7A6-3ABB7177EDA8}"/>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3" name="TextBox 13">
                <a:extLst>
                  <a:ext uri="{FF2B5EF4-FFF2-40B4-BE49-F238E27FC236}">
                    <a16:creationId xmlns:a16="http://schemas.microsoft.com/office/drawing/2014/main" id="{A75E6282-B5C2-AB0C-67BE-B9FCBED414D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30" name="TextBox 12">
              <a:extLst>
                <a:ext uri="{FF2B5EF4-FFF2-40B4-BE49-F238E27FC236}">
                  <a16:creationId xmlns:a16="http://schemas.microsoft.com/office/drawing/2014/main" id="{30532588-22E4-BD45-9821-705363AD0C9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1" name="TextBox 13">
              <a:extLst>
                <a:ext uri="{FF2B5EF4-FFF2-40B4-BE49-F238E27FC236}">
                  <a16:creationId xmlns:a16="http://schemas.microsoft.com/office/drawing/2014/main" id="{D13A5F79-A159-5846-F9FB-AD03F14B1712}"/>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4217810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ERRORS IN SURVEYING</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6" name="TextBox 15">
            <a:extLst>
              <a:ext uri="{FF2B5EF4-FFF2-40B4-BE49-F238E27FC236}">
                <a16:creationId xmlns:a16="http://schemas.microsoft.com/office/drawing/2014/main" id="{906DC5B5-168B-8340-5BE4-448F8F89C759}"/>
              </a:ext>
            </a:extLst>
          </p:cNvPr>
          <p:cNvSpPr txBox="1"/>
          <p:nvPr/>
        </p:nvSpPr>
        <p:spPr>
          <a:xfrm>
            <a:off x="1676399" y="2740658"/>
            <a:ext cx="14935200" cy="5539978"/>
          </a:xfrm>
          <a:prstGeom prst="rect">
            <a:avLst/>
          </a:prstGeom>
        </p:spPr>
        <p:txBody>
          <a:bodyPr wrap="square" lIns="0" tIns="0" rIns="0" bIns="0" rtlCol="0" anchor="t">
            <a:spAutoFit/>
          </a:bodyPr>
          <a:lstStyle/>
          <a:p>
            <a:pPr algn="just"/>
            <a:r>
              <a:rPr lang="en-US" sz="2400" b="1" dirty="0">
                <a:solidFill>
                  <a:srgbClr val="000000"/>
                </a:solidFill>
                <a:latin typeface="Nunito 1" panose="020B0604020202020204" charset="0"/>
                <a:ea typeface="Nunito 1 Bold"/>
                <a:cs typeface="Nunito 1 Bold"/>
                <a:sym typeface="Nunito 1 Bold"/>
              </a:rPr>
              <a:t>Error - </a:t>
            </a:r>
            <a:r>
              <a:rPr lang="en-US" sz="2400" dirty="0">
                <a:solidFill>
                  <a:srgbClr val="000000"/>
                </a:solidFill>
                <a:latin typeface="Nunito 1" panose="020B0604020202020204" charset="0"/>
                <a:ea typeface="Nunito 1 Bold"/>
                <a:cs typeface="Nunito 1 Bold"/>
                <a:sym typeface="Nunito 1 Bold"/>
              </a:rPr>
              <a:t>difference between a measured value and its true value. The true value of a measurement is determined by taking the mean value of a series of repeated measurements.</a:t>
            </a:r>
          </a:p>
          <a:p>
            <a:pPr algn="just"/>
            <a:r>
              <a:rPr lang="en-US" sz="2400" dirty="0"/>
              <a:t> </a:t>
            </a:r>
          </a:p>
          <a:p>
            <a:pPr algn="just"/>
            <a:r>
              <a:rPr lang="en-US" sz="2400" b="1" dirty="0">
                <a:solidFill>
                  <a:srgbClr val="000000"/>
                </a:solidFill>
                <a:latin typeface="Nunito 1" panose="020B0604020202020204" charset="0"/>
                <a:ea typeface="Nunito 1 Bold"/>
                <a:cs typeface="Nunito 1 Bold"/>
                <a:sym typeface="Nunito 1 Bold"/>
              </a:rPr>
              <a:t>Discrepancy </a:t>
            </a:r>
            <a:r>
              <a:rPr lang="en-US" sz="2400" dirty="0">
                <a:solidFill>
                  <a:srgbClr val="000000"/>
                </a:solidFill>
                <a:latin typeface="Nunito 1" panose="020B0604020202020204" charset="0"/>
                <a:ea typeface="Nunito 1 Bold"/>
                <a:cs typeface="Nunito 1 Bold"/>
                <a:sym typeface="Nunito 1 Bold"/>
              </a:rPr>
              <a:t>- difference between two or more measured values of the same quantity. </a:t>
            </a:r>
          </a:p>
          <a:p>
            <a:pPr algn="just"/>
            <a:endParaRPr lang="en-US" sz="2400"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Sources of Errors</a:t>
            </a:r>
            <a:endParaRPr lang="en-US" sz="2400" dirty="0">
              <a:solidFill>
                <a:srgbClr val="000000"/>
              </a:solidFill>
              <a:latin typeface="Nunito 1" panose="020B0604020202020204" charset="0"/>
              <a:ea typeface="Nunito 1 Bold"/>
              <a:cs typeface="Nunito 1 Bold"/>
              <a:sym typeface="Nunito 1 Bold"/>
            </a:endParaRPr>
          </a:p>
          <a:p>
            <a:pPr algn="just"/>
            <a:endParaRPr lang="en-US" sz="2400" b="1" dirty="0">
              <a:solidFill>
                <a:srgbClr val="000000"/>
              </a:solidFill>
              <a:latin typeface="Nunito 1" panose="020B0604020202020204" charset="0"/>
              <a:ea typeface="Nunito 1 Bold"/>
              <a:cs typeface="Nunito 1 Bold"/>
              <a:sym typeface="Nunito 1 Bold"/>
            </a:endParaRPr>
          </a:p>
          <a:p>
            <a:pPr marL="457200" indent="-457200" algn="just">
              <a:buAutoNum type="arabicPeriod"/>
            </a:pPr>
            <a:r>
              <a:rPr lang="en-US" sz="2400" dirty="0">
                <a:solidFill>
                  <a:srgbClr val="000000"/>
                </a:solidFill>
                <a:latin typeface="Nunito 1" panose="020B0604020202020204" charset="0"/>
                <a:ea typeface="Nunito 1 Bold"/>
                <a:cs typeface="Nunito 1 Bold"/>
                <a:sym typeface="Nunito 1 Bold"/>
              </a:rPr>
              <a:t>Natural errors - caused by environmental conditions or significant changes in environmental conditions, such as wind speed, air temperature, atmospheric pressure, humidity, gravity, earth curvature, and atmospheric refraction.</a:t>
            </a:r>
          </a:p>
          <a:p>
            <a:pPr marL="457200" indent="-457200" algn="just">
              <a:buAutoNum type="arabicPeriod"/>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AutoNum type="arabicPeriod"/>
            </a:pPr>
            <a:r>
              <a:rPr lang="en-US" sz="2400" dirty="0">
                <a:solidFill>
                  <a:srgbClr val="000000"/>
                </a:solidFill>
                <a:latin typeface="Nunito 1" panose="020B0604020202020204" charset="0"/>
                <a:ea typeface="Nunito 1 Bold"/>
                <a:cs typeface="Nunito 1 Bold"/>
                <a:sym typeface="Nunito 1 Bold"/>
              </a:rPr>
              <a:t>Instrument errors - caused by imperfectly constructed, adjusted, or calibrated surveying equipment.</a:t>
            </a:r>
          </a:p>
          <a:p>
            <a:pPr marL="457200" indent="-457200" algn="just">
              <a:buAutoNum type="arabicPeriod"/>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AutoNum type="arabicPeriod"/>
            </a:pPr>
            <a:r>
              <a:rPr lang="en-US" sz="2400" dirty="0">
                <a:solidFill>
                  <a:srgbClr val="000000"/>
                </a:solidFill>
                <a:latin typeface="Nunito 1" panose="020B0604020202020204" charset="0"/>
                <a:ea typeface="Nunito 1 Bold"/>
                <a:cs typeface="Nunito 1 Bold"/>
                <a:sym typeface="Nunito 1 Bold"/>
              </a:rPr>
              <a:t>Human errors - caused by physical limitations and inconsistent setup and observation habits of the surveyor.</a:t>
            </a:r>
          </a:p>
        </p:txBody>
      </p:sp>
      <p:sp>
        <p:nvSpPr>
          <p:cNvPr id="7" name="TextBox 15">
            <a:extLst>
              <a:ext uri="{FF2B5EF4-FFF2-40B4-BE49-F238E27FC236}">
                <a16:creationId xmlns:a16="http://schemas.microsoft.com/office/drawing/2014/main" id="{3F3A39AA-C555-6628-5DFB-EB68DF1CDF98}"/>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https://www.dot.state.wy.us/files/live/sites/wydot/files/shared/Highway_Development/Surveys/Survey%20Manual/Section%20III%20-%20Measurements%20and%20Errors.pdf</a:t>
            </a:r>
          </a:p>
        </p:txBody>
      </p:sp>
      <p:grpSp>
        <p:nvGrpSpPr>
          <p:cNvPr id="5" name="Group 4">
            <a:extLst>
              <a:ext uri="{FF2B5EF4-FFF2-40B4-BE49-F238E27FC236}">
                <a16:creationId xmlns:a16="http://schemas.microsoft.com/office/drawing/2014/main" id="{D0AC1B1F-6228-C1D8-9BB1-F44DC50BECCE}"/>
              </a:ext>
            </a:extLst>
          </p:cNvPr>
          <p:cNvGrpSpPr/>
          <p:nvPr/>
        </p:nvGrpSpPr>
        <p:grpSpPr>
          <a:xfrm>
            <a:off x="0" y="9599693"/>
            <a:ext cx="18287999" cy="687306"/>
            <a:chOff x="0" y="9599693"/>
            <a:chExt cx="18287999" cy="687306"/>
          </a:xfrm>
        </p:grpSpPr>
        <p:grpSp>
          <p:nvGrpSpPr>
            <p:cNvPr id="14" name="Group 11">
              <a:extLst>
                <a:ext uri="{FF2B5EF4-FFF2-40B4-BE49-F238E27FC236}">
                  <a16:creationId xmlns:a16="http://schemas.microsoft.com/office/drawing/2014/main" id="{3A459E6E-9E3E-1E3F-F2E6-310241D07D0F}"/>
                </a:ext>
              </a:extLst>
            </p:cNvPr>
            <p:cNvGrpSpPr/>
            <p:nvPr/>
          </p:nvGrpSpPr>
          <p:grpSpPr>
            <a:xfrm>
              <a:off x="0" y="9599694"/>
              <a:ext cx="18287999" cy="687305"/>
              <a:chOff x="0" y="0"/>
              <a:chExt cx="5260714" cy="490218"/>
            </a:xfrm>
          </p:grpSpPr>
          <p:sp>
            <p:nvSpPr>
              <p:cNvPr id="26" name="Freeform 12">
                <a:extLst>
                  <a:ext uri="{FF2B5EF4-FFF2-40B4-BE49-F238E27FC236}">
                    <a16:creationId xmlns:a16="http://schemas.microsoft.com/office/drawing/2014/main" id="{DA11ECD2-349C-D312-C46F-98DD77DD14E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A77300EE-C680-1263-EFEF-A181E17646B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12">
              <a:extLst>
                <a:ext uri="{FF2B5EF4-FFF2-40B4-BE49-F238E27FC236}">
                  <a16:creationId xmlns:a16="http://schemas.microsoft.com/office/drawing/2014/main" id="{C01DE7B4-E44C-6649-DAA9-40DCF17A2A9F}"/>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503E35AB-2502-ED17-4F46-858AB3BFCDDA}"/>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29880662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068815"/>
            <a:ext cx="16230600" cy="7612630"/>
            <a:chOff x="0" y="-38100"/>
            <a:chExt cx="4274726" cy="17570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Consider the figure below, showing the estimated interior angles of a triangular area as observed by a group of ABE students. Due to a discrepancy in the observations, corrections must first be applied. Which of the following would be the corrected value of angle B?</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5" name="TextBox 15">
            <a:extLst>
              <a:ext uri="{FF2B5EF4-FFF2-40B4-BE49-F238E27FC236}">
                <a16:creationId xmlns:a16="http://schemas.microsoft.com/office/drawing/2014/main" id="{B6AC54D5-1C96-C646-DB9B-0B8EDD0507E2}"/>
              </a:ext>
            </a:extLst>
          </p:cNvPr>
          <p:cNvSpPr txBox="1"/>
          <p:nvPr/>
        </p:nvSpPr>
        <p:spPr>
          <a:xfrm>
            <a:off x="1744463" y="3314396"/>
            <a:ext cx="8724902" cy="3289362"/>
          </a:xfrm>
          <a:prstGeom prst="rect">
            <a:avLst/>
          </a:prstGeom>
        </p:spPr>
        <p:txBody>
          <a:bodyPr wrap="square" lIns="0" tIns="0" rIns="0" bIns="0" rtlCol="0" anchor="t">
            <a:spAutoFit/>
          </a:bodyPr>
          <a:lstStyle/>
          <a:p>
            <a:pPr algn="just">
              <a:lnSpc>
                <a:spcPct val="150000"/>
              </a:lnSpc>
            </a:pPr>
            <a:r>
              <a:rPr lang="en-US" b="1" u="sng" dirty="0">
                <a:solidFill>
                  <a:srgbClr val="000000"/>
                </a:solidFill>
                <a:latin typeface="Nunito 1" panose="020B0604020202020204" charset="0"/>
                <a:ea typeface="Nunito 1 Bold"/>
                <a:cs typeface="Nunito 1 Bold"/>
                <a:sym typeface="Nunito 1 Bold"/>
              </a:rPr>
              <a:t>Solution:</a:t>
            </a:r>
          </a:p>
          <a:p>
            <a:pPr algn="just">
              <a:lnSpc>
                <a:spcPct val="150000"/>
              </a:lnSpc>
            </a:pPr>
            <a:endParaRPr lang="en-US" dirty="0">
              <a:solidFill>
                <a:srgbClr val="000000"/>
              </a:solidFill>
              <a:latin typeface="Nunito 1" panose="020B0604020202020204" charset="0"/>
              <a:ea typeface="Nunito 1 Bold"/>
              <a:cs typeface="Nunito 1 Bold"/>
              <a:sym typeface="Nunito 1 Bold"/>
            </a:endParaRPr>
          </a:p>
          <a:p>
            <a:pPr algn="just">
              <a:lnSpc>
                <a:spcPct val="150000"/>
              </a:lnSpc>
            </a:pPr>
            <a:r>
              <a:rPr lang="en-US" dirty="0">
                <a:solidFill>
                  <a:srgbClr val="000000"/>
                </a:solidFill>
                <a:latin typeface="Nunito 1" panose="020B0604020202020204" charset="0"/>
                <a:ea typeface="Nunito 1 Bold"/>
                <a:cs typeface="Nunito 1 Bold"/>
                <a:sym typeface="Nunito 1 Bold"/>
              </a:rPr>
              <a:t>Sum of Est. Angles = 55</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30′20“ + 68</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40′30“ + 55</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49′40" </a:t>
            </a:r>
          </a:p>
          <a:p>
            <a:pPr algn="just">
              <a:lnSpc>
                <a:spcPct val="150000"/>
              </a:lnSpc>
            </a:pPr>
            <a:r>
              <a:rPr lang="en-US" dirty="0">
                <a:solidFill>
                  <a:srgbClr val="000000"/>
                </a:solidFill>
                <a:latin typeface="Nunito 1" panose="020B0604020202020204" charset="0"/>
                <a:ea typeface="Nunito 1 Bold"/>
                <a:cs typeface="Nunito 1 Bold"/>
                <a:sym typeface="Nunito 1 Bold"/>
              </a:rPr>
              <a:t>Sum of Est. Angles = 180</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00′30“</a:t>
            </a:r>
          </a:p>
          <a:p>
            <a:pPr algn="just">
              <a:lnSpc>
                <a:spcPct val="150000"/>
              </a:lnSpc>
            </a:pPr>
            <a:endParaRPr lang="en-US" dirty="0">
              <a:solidFill>
                <a:srgbClr val="000000"/>
              </a:solidFill>
              <a:latin typeface="Nunito 1" panose="020B0604020202020204" charset="0"/>
              <a:ea typeface="Nunito 1 Bold"/>
              <a:cs typeface="Nunito 1 Bold"/>
              <a:sym typeface="Nunito 1 Bold"/>
            </a:endParaRPr>
          </a:p>
          <a:p>
            <a:pPr algn="just">
              <a:lnSpc>
                <a:spcPct val="150000"/>
              </a:lnSpc>
            </a:pPr>
            <a:r>
              <a:rPr lang="en-US" dirty="0">
                <a:solidFill>
                  <a:srgbClr val="000000"/>
                </a:solidFill>
                <a:latin typeface="Nunito 1" panose="020B0604020202020204" charset="0"/>
                <a:ea typeface="Nunito 1 Bold"/>
                <a:cs typeface="Nunito 1 Bold"/>
                <a:sym typeface="Nunito 1 Bold"/>
              </a:rPr>
              <a:t>Error = (180</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00′00“ - 180</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00′30“) / 3</a:t>
            </a:r>
          </a:p>
          <a:p>
            <a:pPr algn="just">
              <a:lnSpc>
                <a:spcPct val="150000"/>
              </a:lnSpc>
            </a:pPr>
            <a:r>
              <a:rPr lang="en-US" dirty="0">
                <a:solidFill>
                  <a:srgbClr val="000000"/>
                </a:solidFill>
                <a:latin typeface="Nunito 1" panose="020B0604020202020204" charset="0"/>
                <a:ea typeface="Nunito 1 Bold"/>
                <a:cs typeface="Nunito 1 Bold"/>
                <a:sym typeface="Nunito 1 Bold"/>
              </a:rPr>
              <a:t>Error = -30”/3</a:t>
            </a:r>
          </a:p>
          <a:p>
            <a:pPr algn="just">
              <a:lnSpc>
                <a:spcPct val="150000"/>
              </a:lnSpc>
            </a:pPr>
            <a:r>
              <a:rPr lang="en-US" dirty="0">
                <a:solidFill>
                  <a:srgbClr val="000000"/>
                </a:solidFill>
                <a:latin typeface="Nunito 1" panose="020B0604020202020204" charset="0"/>
                <a:ea typeface="Nunito 1 Bold"/>
                <a:cs typeface="Nunito 1 Bold"/>
                <a:sym typeface="Nunito 1 Bold"/>
              </a:rPr>
              <a:t>Error = -10” per angle</a:t>
            </a:r>
          </a:p>
        </p:txBody>
      </p:sp>
      <p:sp>
        <p:nvSpPr>
          <p:cNvPr id="29" name="TextBox 15">
            <a:extLst>
              <a:ext uri="{FF2B5EF4-FFF2-40B4-BE49-F238E27FC236}">
                <a16:creationId xmlns:a16="http://schemas.microsoft.com/office/drawing/2014/main" id="{A24FCC70-4D8F-CDEF-1E43-C1C2DDFFD64C}"/>
              </a:ext>
            </a:extLst>
          </p:cNvPr>
          <p:cNvSpPr txBox="1"/>
          <p:nvPr/>
        </p:nvSpPr>
        <p:spPr>
          <a:xfrm>
            <a:off x="1744463" y="6774365"/>
            <a:ext cx="8724902" cy="2042867"/>
          </a:xfrm>
          <a:prstGeom prst="rect">
            <a:avLst/>
          </a:prstGeom>
        </p:spPr>
        <p:txBody>
          <a:bodyPr wrap="square" lIns="0" tIns="0" rIns="0" bIns="0" rtlCol="0" anchor="t">
            <a:spAutoFit/>
          </a:bodyPr>
          <a:lstStyle/>
          <a:p>
            <a:pPr algn="just">
              <a:lnSpc>
                <a:spcPct val="150000"/>
              </a:lnSpc>
            </a:pPr>
            <a:r>
              <a:rPr lang="en-US" dirty="0">
                <a:solidFill>
                  <a:srgbClr val="000000"/>
                </a:solidFill>
                <a:latin typeface="Nunito 1" panose="020B0604020202020204" charset="0"/>
                <a:ea typeface="Nunito 1 Bold"/>
                <a:cs typeface="Nunito 1 Bold"/>
                <a:sym typeface="Nunito 1 Bold"/>
              </a:rPr>
              <a:t>Therefore:</a:t>
            </a:r>
          </a:p>
          <a:p>
            <a:pPr algn="just">
              <a:lnSpc>
                <a:spcPct val="150000"/>
              </a:lnSpc>
            </a:pPr>
            <a:endParaRPr lang="en-US" dirty="0">
              <a:solidFill>
                <a:srgbClr val="000000"/>
              </a:solidFill>
              <a:latin typeface="Nunito 1" panose="020B0604020202020204" charset="0"/>
              <a:ea typeface="Nunito 1 Bold"/>
              <a:cs typeface="Nunito 1 Bold"/>
              <a:sym typeface="Nunito 1 Bold"/>
            </a:endParaRPr>
          </a:p>
          <a:p>
            <a:pPr algn="just">
              <a:lnSpc>
                <a:spcPct val="150000"/>
              </a:lnSpc>
            </a:pPr>
            <a:r>
              <a:rPr lang="en-US" dirty="0">
                <a:solidFill>
                  <a:srgbClr val="000000"/>
                </a:solidFill>
                <a:latin typeface="Nunito 1" panose="020B0604020202020204" charset="0"/>
                <a:ea typeface="Nunito 1 Bold"/>
                <a:cs typeface="Nunito 1 Bold"/>
                <a:sym typeface="Nunito 1 Bold"/>
              </a:rPr>
              <a:t>Most probable value of angle B = 68</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40′30“ - 00</a:t>
            </a:r>
            <a:r>
              <a:rPr lang="en-US" baseline="30000" dirty="0">
                <a:solidFill>
                  <a:srgbClr val="000000"/>
                </a:solidFill>
                <a:latin typeface="Nunito 1" panose="020B0604020202020204" charset="0"/>
                <a:ea typeface="Nunito 1 Bold"/>
                <a:cs typeface="Nunito 1 Bold"/>
                <a:sym typeface="Nunito 1 Bold"/>
              </a:rPr>
              <a:t>∘</a:t>
            </a:r>
            <a:r>
              <a:rPr lang="en-US" dirty="0">
                <a:solidFill>
                  <a:srgbClr val="000000"/>
                </a:solidFill>
                <a:latin typeface="Nunito 1" panose="020B0604020202020204" charset="0"/>
                <a:ea typeface="Nunito 1 Bold"/>
                <a:cs typeface="Nunito 1 Bold"/>
                <a:sym typeface="Nunito 1 Bold"/>
              </a:rPr>
              <a:t>00′10“</a:t>
            </a:r>
          </a:p>
          <a:p>
            <a:pPr algn="just">
              <a:lnSpc>
                <a:spcPct val="150000"/>
              </a:lnSpc>
            </a:pPr>
            <a:r>
              <a:rPr lang="en-US" b="1" dirty="0">
                <a:solidFill>
                  <a:srgbClr val="000000"/>
                </a:solidFill>
                <a:latin typeface="Nunito 1" panose="020B0604020202020204" charset="0"/>
                <a:ea typeface="Nunito 1 Bold"/>
                <a:cs typeface="Nunito 1 Bold"/>
                <a:sym typeface="Nunito 1 Bold"/>
              </a:rPr>
              <a:t>Most probable value of angle B = 68</a:t>
            </a:r>
            <a:r>
              <a:rPr lang="en-US" b="1" baseline="30000" dirty="0">
                <a:solidFill>
                  <a:srgbClr val="000000"/>
                </a:solidFill>
                <a:latin typeface="Nunito 1" panose="020B0604020202020204" charset="0"/>
                <a:ea typeface="Nunito 1 Bold"/>
                <a:cs typeface="Nunito 1 Bold"/>
                <a:sym typeface="Nunito 1 Bold"/>
              </a:rPr>
              <a:t>∘</a:t>
            </a:r>
            <a:r>
              <a:rPr lang="en-US" b="1" dirty="0">
                <a:solidFill>
                  <a:srgbClr val="000000"/>
                </a:solidFill>
                <a:latin typeface="Nunito 1" panose="020B0604020202020204" charset="0"/>
                <a:ea typeface="Nunito 1 Bold"/>
                <a:cs typeface="Nunito 1 Bold"/>
                <a:sym typeface="Nunito 1 Bold"/>
              </a:rPr>
              <a:t>40′20“</a:t>
            </a:r>
          </a:p>
          <a:p>
            <a:pPr algn="just">
              <a:lnSpc>
                <a:spcPct val="150000"/>
              </a:lnSpc>
            </a:pPr>
            <a:endParaRPr lang="en-US" dirty="0">
              <a:solidFill>
                <a:srgbClr val="000000"/>
              </a:solidFill>
              <a:latin typeface="Nunito 1" panose="020B0604020202020204" charset="0"/>
              <a:ea typeface="Nunito 1 Bold"/>
              <a:cs typeface="Nunito 1 Bold"/>
              <a:sym typeface="Nunito 1 Bold"/>
            </a:endParaRPr>
          </a:p>
        </p:txBody>
      </p:sp>
      <p:grpSp>
        <p:nvGrpSpPr>
          <p:cNvPr id="6" name="Group 5">
            <a:extLst>
              <a:ext uri="{FF2B5EF4-FFF2-40B4-BE49-F238E27FC236}">
                <a16:creationId xmlns:a16="http://schemas.microsoft.com/office/drawing/2014/main" id="{363678CA-62E1-8D22-B65C-5C07819B60AC}"/>
              </a:ext>
            </a:extLst>
          </p:cNvPr>
          <p:cNvGrpSpPr/>
          <p:nvPr/>
        </p:nvGrpSpPr>
        <p:grpSpPr>
          <a:xfrm>
            <a:off x="9366321" y="4179789"/>
            <a:ext cx="6184154" cy="3336102"/>
            <a:chOff x="11658884" y="4388970"/>
            <a:chExt cx="3253841" cy="1755316"/>
          </a:xfrm>
        </p:grpSpPr>
        <p:sp>
          <p:nvSpPr>
            <p:cNvPr id="7" name="Isosceles Triangle 6">
              <a:extLst>
                <a:ext uri="{FF2B5EF4-FFF2-40B4-BE49-F238E27FC236}">
                  <a16:creationId xmlns:a16="http://schemas.microsoft.com/office/drawing/2014/main" id="{CAE794A0-590A-F9DD-C830-7A90FA72EBB6}"/>
                </a:ext>
              </a:extLst>
            </p:cNvPr>
            <p:cNvSpPr/>
            <p:nvPr/>
          </p:nvSpPr>
          <p:spPr>
            <a:xfrm>
              <a:off x="12115800" y="4686300"/>
              <a:ext cx="2340010" cy="1066799"/>
            </a:xfrm>
            <a:prstGeom prst="triangle">
              <a:avLst>
                <a:gd name="adj" fmla="val 40940"/>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2000"/>
            </a:p>
          </p:txBody>
        </p:sp>
        <p:sp>
          <p:nvSpPr>
            <p:cNvPr id="14" name="TextBox 15">
              <a:extLst>
                <a:ext uri="{FF2B5EF4-FFF2-40B4-BE49-F238E27FC236}">
                  <a16:creationId xmlns:a16="http://schemas.microsoft.com/office/drawing/2014/main" id="{492817AC-2575-FC03-2A9A-893F0FC86548}"/>
                </a:ext>
              </a:extLst>
            </p:cNvPr>
            <p:cNvSpPr txBox="1"/>
            <p:nvPr/>
          </p:nvSpPr>
          <p:spPr>
            <a:xfrm>
              <a:off x="11658884" y="5817252"/>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A</a:t>
              </a:r>
            </a:p>
            <a:p>
              <a:pPr algn="ctr"/>
              <a:r>
                <a:rPr lang="en-US" sz="2000" dirty="0">
                  <a:solidFill>
                    <a:srgbClr val="000000"/>
                  </a:solidFill>
                  <a:latin typeface="Nunito 1" panose="020B0604020202020204" charset="0"/>
                  <a:ea typeface="Nunito 1 Bold"/>
                  <a:cs typeface="Nunito 1 Bold"/>
                  <a:sym typeface="Nunito 1 Bold"/>
                </a:rPr>
                <a:t>55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30 ′ 20"</a:t>
              </a:r>
            </a:p>
          </p:txBody>
        </p:sp>
        <p:sp>
          <p:nvSpPr>
            <p:cNvPr id="21" name="TextBox 15">
              <a:extLst>
                <a:ext uri="{FF2B5EF4-FFF2-40B4-BE49-F238E27FC236}">
                  <a16:creationId xmlns:a16="http://schemas.microsoft.com/office/drawing/2014/main" id="{CE2E69E5-7DAE-A475-6A92-B766C07AA842}"/>
                </a:ext>
              </a:extLst>
            </p:cNvPr>
            <p:cNvSpPr txBox="1"/>
            <p:nvPr/>
          </p:nvSpPr>
          <p:spPr>
            <a:xfrm>
              <a:off x="12633292" y="4388970"/>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B</a:t>
              </a:r>
            </a:p>
            <a:p>
              <a:pPr algn="ctr"/>
              <a:r>
                <a:rPr lang="en-US" sz="2000" dirty="0">
                  <a:solidFill>
                    <a:srgbClr val="000000"/>
                  </a:solidFill>
                  <a:latin typeface="Nunito 1" panose="020B0604020202020204" charset="0"/>
                  <a:ea typeface="Nunito 1 Bold"/>
                  <a:cs typeface="Nunito 1 Bold"/>
                  <a:sym typeface="Nunito 1 Bold"/>
                </a:rPr>
                <a:t>68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40 ′ 30"</a:t>
              </a:r>
            </a:p>
          </p:txBody>
        </p:sp>
        <p:sp>
          <p:nvSpPr>
            <p:cNvPr id="22" name="TextBox 15">
              <a:extLst>
                <a:ext uri="{FF2B5EF4-FFF2-40B4-BE49-F238E27FC236}">
                  <a16:creationId xmlns:a16="http://schemas.microsoft.com/office/drawing/2014/main" id="{38BB99F6-8A91-B598-C2E5-3B9ED59D991A}"/>
                </a:ext>
              </a:extLst>
            </p:cNvPr>
            <p:cNvSpPr txBox="1"/>
            <p:nvPr/>
          </p:nvSpPr>
          <p:spPr>
            <a:xfrm>
              <a:off x="13998894" y="5820408"/>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C</a:t>
              </a:r>
            </a:p>
            <a:p>
              <a:pPr algn="ctr"/>
              <a:r>
                <a:rPr lang="en-US" sz="2000" dirty="0">
                  <a:solidFill>
                    <a:srgbClr val="000000"/>
                  </a:solidFill>
                  <a:latin typeface="Nunito 1" panose="020B0604020202020204" charset="0"/>
                  <a:ea typeface="Nunito 1 Bold"/>
                  <a:cs typeface="Nunito 1 Bold"/>
                  <a:sym typeface="Nunito 1 Bold"/>
                </a:rPr>
                <a:t>55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49 ′ 40"</a:t>
              </a:r>
            </a:p>
          </p:txBody>
        </p:sp>
      </p:grpSp>
      <p:grpSp>
        <p:nvGrpSpPr>
          <p:cNvPr id="26" name="Group 25">
            <a:extLst>
              <a:ext uri="{FF2B5EF4-FFF2-40B4-BE49-F238E27FC236}">
                <a16:creationId xmlns:a16="http://schemas.microsoft.com/office/drawing/2014/main" id="{BC133F57-5AE4-D2C6-B1C1-097F8F179F18}"/>
              </a:ext>
            </a:extLst>
          </p:cNvPr>
          <p:cNvGrpSpPr/>
          <p:nvPr/>
        </p:nvGrpSpPr>
        <p:grpSpPr>
          <a:xfrm>
            <a:off x="0" y="9599693"/>
            <a:ext cx="18287999" cy="687306"/>
            <a:chOff x="0" y="9599693"/>
            <a:chExt cx="18287999" cy="687306"/>
          </a:xfrm>
        </p:grpSpPr>
        <p:grpSp>
          <p:nvGrpSpPr>
            <p:cNvPr id="27" name="Group 11">
              <a:extLst>
                <a:ext uri="{FF2B5EF4-FFF2-40B4-BE49-F238E27FC236}">
                  <a16:creationId xmlns:a16="http://schemas.microsoft.com/office/drawing/2014/main" id="{99826568-FB32-459A-18AF-16D865385FFA}"/>
                </a:ext>
              </a:extLst>
            </p:cNvPr>
            <p:cNvGrpSpPr/>
            <p:nvPr/>
          </p:nvGrpSpPr>
          <p:grpSpPr>
            <a:xfrm>
              <a:off x="0" y="9599694"/>
              <a:ext cx="18287999" cy="687305"/>
              <a:chOff x="0" y="0"/>
              <a:chExt cx="5260714" cy="490218"/>
            </a:xfrm>
          </p:grpSpPr>
          <p:sp>
            <p:nvSpPr>
              <p:cNvPr id="31" name="Freeform 12">
                <a:extLst>
                  <a:ext uri="{FF2B5EF4-FFF2-40B4-BE49-F238E27FC236}">
                    <a16:creationId xmlns:a16="http://schemas.microsoft.com/office/drawing/2014/main" id="{018B06D0-E9B3-1FE0-BA9A-E05B8F27398A}"/>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2" name="TextBox 13">
                <a:extLst>
                  <a:ext uri="{FF2B5EF4-FFF2-40B4-BE49-F238E27FC236}">
                    <a16:creationId xmlns:a16="http://schemas.microsoft.com/office/drawing/2014/main" id="{282ECA69-9C84-6908-68E5-73F00E40B7AB}"/>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8" name="TextBox 12">
              <a:extLst>
                <a:ext uri="{FF2B5EF4-FFF2-40B4-BE49-F238E27FC236}">
                  <a16:creationId xmlns:a16="http://schemas.microsoft.com/office/drawing/2014/main" id="{1E260DFD-7A4E-A5D6-2D5F-1587490EB10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0" name="TextBox 13">
              <a:extLst>
                <a:ext uri="{FF2B5EF4-FFF2-40B4-BE49-F238E27FC236}">
                  <a16:creationId xmlns:a16="http://schemas.microsoft.com/office/drawing/2014/main" id="{0E5FA204-87F4-E7E0-044B-A5D9424143C1}"/>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60556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68291-D074-9AB8-DD8A-38858CF0E8D6}"/>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751E5E56-62FB-B8C3-1DF7-62E7F280DE44}"/>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EA2D35FE-F07D-C936-A6E5-B468EE522BE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61637BAA-7E7F-F835-9295-CA46F190CED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608A1BE9-B093-A93B-E980-8C9DDE780C91}"/>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7F60E52A-9ABD-C76A-9987-9B58CC68414B}"/>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4CB75603-E114-DFC6-7A07-6E2711A6BC14}"/>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0D0BA224-8769-2094-8547-0D5071624758}"/>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32FAFC11-2333-2290-FE8C-35EE800DAC41}"/>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F0634003-CAF1-E3F2-25E1-B67EC50591D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76C8F6DD-D9A2-DCD4-09FB-61395AC0569D}"/>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75706232-22FF-27D1-5491-466E09F5818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1E7BFBD6-3706-CC17-DA2E-31D5682062B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9A6C573B-6B7E-29D7-D31B-D4FBB2F52FBE}"/>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11</a:t>
            </a:r>
          </a:p>
        </p:txBody>
      </p:sp>
      <p:sp>
        <p:nvSpPr>
          <p:cNvPr id="15" name="TextBox 15">
            <a:extLst>
              <a:ext uri="{FF2B5EF4-FFF2-40B4-BE49-F238E27FC236}">
                <a16:creationId xmlns:a16="http://schemas.microsoft.com/office/drawing/2014/main" id="{D737A263-8D44-ED46-078C-B2A16F377CE3}"/>
              </a:ext>
            </a:extLst>
          </p:cNvPr>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Consider the figure below, showing the estimated interior angles of a triangular area as observed by a group of ABE students. Due to a discrepancy in the observations, corrections must first be applied. Which of the following would be the corrected value of angle B?</a:t>
            </a:r>
          </a:p>
        </p:txBody>
      </p:sp>
      <p:sp>
        <p:nvSpPr>
          <p:cNvPr id="19" name="TextBox 12">
            <a:extLst>
              <a:ext uri="{FF2B5EF4-FFF2-40B4-BE49-F238E27FC236}">
                <a16:creationId xmlns:a16="http://schemas.microsoft.com/office/drawing/2014/main" id="{431AA155-FAA0-A41A-C312-212A93C4173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99E0B852-C9AC-66BB-4A38-E5528BD347A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346592D7-572D-0FF1-F414-40F3D5F8BD60}"/>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40′40“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30′30“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50′20“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68</a:t>
            </a:r>
            <a:r>
              <a:rPr lang="en-US" sz="2400" baseline="30000" dirty="0">
                <a:solidFill>
                  <a:srgbClr val="000000"/>
                </a:solidFill>
                <a:latin typeface="Nunito 1" panose="020B0604020202020204" charset="0"/>
                <a:ea typeface="Nunito 1 Bold"/>
                <a:cs typeface="Nunito 1 Bold"/>
                <a:sym typeface="Nunito 1 Bold"/>
              </a:rPr>
              <a:t>∘</a:t>
            </a:r>
            <a:r>
              <a:rPr lang="en-US" sz="2400" dirty="0">
                <a:solidFill>
                  <a:srgbClr val="000000"/>
                </a:solidFill>
                <a:latin typeface="Nunito 1" panose="020B0604020202020204" charset="0"/>
                <a:ea typeface="Nunito 1 Bold"/>
                <a:cs typeface="Nunito 1 Bold"/>
                <a:sym typeface="Nunito 1 Bold"/>
              </a:rPr>
              <a:t>40′20“</a:t>
            </a:r>
          </a:p>
        </p:txBody>
      </p:sp>
      <p:sp>
        <p:nvSpPr>
          <p:cNvPr id="22" name="Oval 21">
            <a:extLst>
              <a:ext uri="{FF2B5EF4-FFF2-40B4-BE49-F238E27FC236}">
                <a16:creationId xmlns:a16="http://schemas.microsoft.com/office/drawing/2014/main" id="{BA75E0D9-C2EE-4E27-A9B6-FE3E5A419048}"/>
              </a:ext>
            </a:extLst>
          </p:cNvPr>
          <p:cNvSpPr/>
          <p:nvPr/>
        </p:nvSpPr>
        <p:spPr>
          <a:xfrm>
            <a:off x="1505640" y="5985314"/>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0235A69A-E59D-2496-91DF-2363EB71A721}"/>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66CC86F3-B09C-CF73-C439-43A15DEF2D9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6843E15-7556-0FB9-B5DC-F7D4C78E4C6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8" name="Group 27">
            <a:extLst>
              <a:ext uri="{FF2B5EF4-FFF2-40B4-BE49-F238E27FC236}">
                <a16:creationId xmlns:a16="http://schemas.microsoft.com/office/drawing/2014/main" id="{9C011F9E-2B5C-0E32-C22C-5D563DC636A3}"/>
              </a:ext>
            </a:extLst>
          </p:cNvPr>
          <p:cNvGrpSpPr/>
          <p:nvPr/>
        </p:nvGrpSpPr>
        <p:grpSpPr>
          <a:xfrm>
            <a:off x="6519985" y="3724586"/>
            <a:ext cx="6184154" cy="3336102"/>
            <a:chOff x="11658884" y="4388970"/>
            <a:chExt cx="3253841" cy="1755316"/>
          </a:xfrm>
        </p:grpSpPr>
        <p:sp>
          <p:nvSpPr>
            <p:cNvPr id="6" name="Isosceles Triangle 5">
              <a:extLst>
                <a:ext uri="{FF2B5EF4-FFF2-40B4-BE49-F238E27FC236}">
                  <a16:creationId xmlns:a16="http://schemas.microsoft.com/office/drawing/2014/main" id="{EB14E333-A3A6-D333-F8B9-CAC35E27B348}"/>
                </a:ext>
              </a:extLst>
            </p:cNvPr>
            <p:cNvSpPr/>
            <p:nvPr/>
          </p:nvSpPr>
          <p:spPr>
            <a:xfrm>
              <a:off x="12115800" y="4686300"/>
              <a:ext cx="2340010" cy="1066799"/>
            </a:xfrm>
            <a:prstGeom prst="triangle">
              <a:avLst>
                <a:gd name="adj" fmla="val 40940"/>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2000"/>
            </a:p>
          </p:txBody>
        </p:sp>
        <p:sp>
          <p:nvSpPr>
            <p:cNvPr id="7" name="TextBox 15">
              <a:extLst>
                <a:ext uri="{FF2B5EF4-FFF2-40B4-BE49-F238E27FC236}">
                  <a16:creationId xmlns:a16="http://schemas.microsoft.com/office/drawing/2014/main" id="{0D201191-AF38-0015-6EE5-A1CEBBCA72E4}"/>
                </a:ext>
              </a:extLst>
            </p:cNvPr>
            <p:cNvSpPr txBox="1"/>
            <p:nvPr/>
          </p:nvSpPr>
          <p:spPr>
            <a:xfrm>
              <a:off x="11658884" y="5817252"/>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A</a:t>
              </a:r>
            </a:p>
            <a:p>
              <a:pPr algn="ctr"/>
              <a:r>
                <a:rPr lang="en-US" sz="2000" dirty="0">
                  <a:solidFill>
                    <a:srgbClr val="000000"/>
                  </a:solidFill>
                  <a:latin typeface="Nunito 1" panose="020B0604020202020204" charset="0"/>
                  <a:ea typeface="Nunito 1 Bold"/>
                  <a:cs typeface="Nunito 1 Bold"/>
                  <a:sym typeface="Nunito 1 Bold"/>
                </a:rPr>
                <a:t>55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30 ′ 20"</a:t>
              </a:r>
            </a:p>
          </p:txBody>
        </p:sp>
        <p:sp>
          <p:nvSpPr>
            <p:cNvPr id="26" name="TextBox 15">
              <a:extLst>
                <a:ext uri="{FF2B5EF4-FFF2-40B4-BE49-F238E27FC236}">
                  <a16:creationId xmlns:a16="http://schemas.microsoft.com/office/drawing/2014/main" id="{FE6EADBA-5AC0-1387-CA12-D62A9A5298FE}"/>
                </a:ext>
              </a:extLst>
            </p:cNvPr>
            <p:cNvSpPr txBox="1"/>
            <p:nvPr/>
          </p:nvSpPr>
          <p:spPr>
            <a:xfrm>
              <a:off x="12633292" y="4388970"/>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B</a:t>
              </a:r>
            </a:p>
            <a:p>
              <a:pPr algn="ctr"/>
              <a:r>
                <a:rPr lang="en-US" sz="2000" dirty="0">
                  <a:solidFill>
                    <a:srgbClr val="000000"/>
                  </a:solidFill>
                  <a:latin typeface="Nunito 1" panose="020B0604020202020204" charset="0"/>
                  <a:ea typeface="Nunito 1 Bold"/>
                  <a:cs typeface="Nunito 1 Bold"/>
                  <a:sym typeface="Nunito 1 Bold"/>
                </a:rPr>
                <a:t>68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40 ′ 30"</a:t>
              </a:r>
            </a:p>
          </p:txBody>
        </p:sp>
        <p:sp>
          <p:nvSpPr>
            <p:cNvPr id="27" name="TextBox 15">
              <a:extLst>
                <a:ext uri="{FF2B5EF4-FFF2-40B4-BE49-F238E27FC236}">
                  <a16:creationId xmlns:a16="http://schemas.microsoft.com/office/drawing/2014/main" id="{BB959549-8153-F729-97C4-44D3248EDA91}"/>
                </a:ext>
              </a:extLst>
            </p:cNvPr>
            <p:cNvSpPr txBox="1"/>
            <p:nvPr/>
          </p:nvSpPr>
          <p:spPr>
            <a:xfrm>
              <a:off x="13998894" y="5820408"/>
              <a:ext cx="913831" cy="323878"/>
            </a:xfrm>
            <a:prstGeom prst="rect">
              <a:avLst/>
            </a:prstGeom>
          </p:spPr>
          <p:txBody>
            <a:bodyPr wrap="square" lIns="0" tIns="0" rIns="0" bIns="0" rtlCol="0" anchor="t">
              <a:spAutoFit/>
            </a:bodyPr>
            <a:lstStyle/>
            <a:p>
              <a:pPr algn="ctr"/>
              <a:r>
                <a:rPr lang="en-US" sz="2000" b="1" dirty="0">
                  <a:solidFill>
                    <a:srgbClr val="000000"/>
                  </a:solidFill>
                  <a:latin typeface="Nunito 1" panose="020B0604020202020204" charset="0"/>
                  <a:ea typeface="Nunito 1 Bold"/>
                  <a:cs typeface="Nunito 1 Bold"/>
                  <a:sym typeface="Nunito 1 Bold"/>
                </a:rPr>
                <a:t>C</a:t>
              </a:r>
            </a:p>
            <a:p>
              <a:pPr algn="ctr"/>
              <a:r>
                <a:rPr lang="en-US" sz="2000" dirty="0">
                  <a:solidFill>
                    <a:srgbClr val="000000"/>
                  </a:solidFill>
                  <a:latin typeface="Nunito 1" panose="020B0604020202020204" charset="0"/>
                  <a:ea typeface="Nunito 1 Bold"/>
                  <a:cs typeface="Nunito 1 Bold"/>
                  <a:sym typeface="Nunito 1 Bold"/>
                </a:rPr>
                <a:t>55 </a:t>
              </a:r>
              <a:r>
                <a:rPr lang="en-US" sz="2000" baseline="30000" dirty="0">
                  <a:solidFill>
                    <a:srgbClr val="000000"/>
                  </a:solidFill>
                  <a:latin typeface="Nunito 1" panose="020B0604020202020204" charset="0"/>
                  <a:ea typeface="Nunito 1 Bold"/>
                  <a:cs typeface="Nunito 1 Bold"/>
                  <a:sym typeface="Nunito 1 Bold"/>
                </a:rPr>
                <a:t>∘ </a:t>
              </a:r>
              <a:r>
                <a:rPr lang="en-US" sz="2000" dirty="0">
                  <a:solidFill>
                    <a:srgbClr val="000000"/>
                  </a:solidFill>
                  <a:latin typeface="Nunito 1" panose="020B0604020202020204" charset="0"/>
                  <a:ea typeface="Nunito 1 Bold"/>
                  <a:cs typeface="Nunito 1 Bold"/>
                  <a:sym typeface="Nunito 1 Bold"/>
                </a:rPr>
                <a:t>49 ′ 40"</a:t>
              </a:r>
            </a:p>
          </p:txBody>
        </p:sp>
      </p:grpSp>
      <p:grpSp>
        <p:nvGrpSpPr>
          <p:cNvPr id="5" name="Group 4">
            <a:extLst>
              <a:ext uri="{FF2B5EF4-FFF2-40B4-BE49-F238E27FC236}">
                <a16:creationId xmlns:a16="http://schemas.microsoft.com/office/drawing/2014/main" id="{EF5D9076-6EE8-B246-9961-7BA8B50EB539}"/>
              </a:ext>
            </a:extLst>
          </p:cNvPr>
          <p:cNvGrpSpPr/>
          <p:nvPr/>
        </p:nvGrpSpPr>
        <p:grpSpPr>
          <a:xfrm>
            <a:off x="0" y="9599693"/>
            <a:ext cx="18287999" cy="687306"/>
            <a:chOff x="0" y="9599693"/>
            <a:chExt cx="18287999" cy="687306"/>
          </a:xfrm>
        </p:grpSpPr>
        <p:grpSp>
          <p:nvGrpSpPr>
            <p:cNvPr id="29" name="Group 11">
              <a:extLst>
                <a:ext uri="{FF2B5EF4-FFF2-40B4-BE49-F238E27FC236}">
                  <a16:creationId xmlns:a16="http://schemas.microsoft.com/office/drawing/2014/main" id="{11634A55-7070-5336-D079-EE23B3BFC719}"/>
                </a:ext>
              </a:extLst>
            </p:cNvPr>
            <p:cNvGrpSpPr/>
            <p:nvPr/>
          </p:nvGrpSpPr>
          <p:grpSpPr>
            <a:xfrm>
              <a:off x="0" y="9599694"/>
              <a:ext cx="18287999" cy="687305"/>
              <a:chOff x="0" y="0"/>
              <a:chExt cx="5260714" cy="490218"/>
            </a:xfrm>
          </p:grpSpPr>
          <p:sp>
            <p:nvSpPr>
              <p:cNvPr id="32" name="Freeform 12">
                <a:extLst>
                  <a:ext uri="{FF2B5EF4-FFF2-40B4-BE49-F238E27FC236}">
                    <a16:creationId xmlns:a16="http://schemas.microsoft.com/office/drawing/2014/main" id="{4ED6BD6E-1BA1-A787-D621-0359F63CA3E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3" name="TextBox 13">
                <a:extLst>
                  <a:ext uri="{FF2B5EF4-FFF2-40B4-BE49-F238E27FC236}">
                    <a16:creationId xmlns:a16="http://schemas.microsoft.com/office/drawing/2014/main" id="{7057DF94-11F8-EE23-68E2-D7FD0ACD49C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30" name="TextBox 12">
              <a:extLst>
                <a:ext uri="{FF2B5EF4-FFF2-40B4-BE49-F238E27FC236}">
                  <a16:creationId xmlns:a16="http://schemas.microsoft.com/office/drawing/2014/main" id="{138EC85B-F9D6-B7CD-A32A-0F5ED40D872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1" name="TextBox 13">
              <a:extLst>
                <a:ext uri="{FF2B5EF4-FFF2-40B4-BE49-F238E27FC236}">
                  <a16:creationId xmlns:a16="http://schemas.microsoft.com/office/drawing/2014/main" id="{F13CC850-8D87-84F9-7079-E70FBF6F5B98}"/>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468756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12</a:t>
            </a:r>
          </a:p>
        </p:txBody>
      </p:sp>
      <p:sp>
        <p:nvSpPr>
          <p:cNvPr id="15" name="TextBox 15"/>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An ABE student was tasked to determine the elevation of point B using a benchmark at point A with an elevation of 100 meters. With a theodolite, a backsight reading of 2.85 meters is observed. What is the elevation of point B if the foresight reading is 1.95 meters?</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100.90m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101.75m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101.85m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100m</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4">
            <a:extLst>
              <a:ext uri="{FF2B5EF4-FFF2-40B4-BE49-F238E27FC236}">
                <a16:creationId xmlns:a16="http://schemas.microsoft.com/office/drawing/2014/main" id="{0A526E69-30D5-6E9B-F8C8-E70E8103019E}"/>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8017BA2A-9C0A-4BEE-45F3-09796CF4A247}"/>
                </a:ext>
              </a:extLst>
            </p:cNvPr>
            <p:cNvGrpSpPr/>
            <p:nvPr/>
          </p:nvGrpSpPr>
          <p:grpSpPr>
            <a:xfrm>
              <a:off x="0" y="9599694"/>
              <a:ext cx="18287999" cy="687305"/>
              <a:chOff x="0" y="0"/>
              <a:chExt cx="5260714" cy="490218"/>
            </a:xfrm>
          </p:grpSpPr>
          <p:sp>
            <p:nvSpPr>
              <p:cNvPr id="26" name="Freeform 12">
                <a:extLst>
                  <a:ext uri="{FF2B5EF4-FFF2-40B4-BE49-F238E27FC236}">
                    <a16:creationId xmlns:a16="http://schemas.microsoft.com/office/drawing/2014/main" id="{3840C5E8-A5B0-C720-7357-C40EE34A1E0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6F81D4D0-8412-A602-EDCC-C40A3DCECBD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4732C038-006E-492D-CE58-1DA3CA8A010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34FDA6A7-4CE1-840E-522B-DCB58708DCBD}"/>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27247264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246041" y="3254307"/>
            <a:ext cx="13795916" cy="738664"/>
          </a:xfrm>
          <a:prstGeom prst="rect">
            <a:avLst/>
          </a:prstGeom>
        </p:spPr>
        <p:txBody>
          <a:bodyPr lIns="0" tIns="0" rIns="0" bIns="0" rtlCol="0" anchor="t">
            <a:spAutoFit/>
          </a:bodyPr>
          <a:lstStyle/>
          <a:p>
            <a:pPr algn="just"/>
            <a:r>
              <a:rPr lang="en-US" sz="2400" b="1" dirty="0">
                <a:solidFill>
                  <a:srgbClr val="000000"/>
                </a:solidFill>
                <a:latin typeface="Nunito 1 Bold"/>
                <a:ea typeface="Nunito 1 Bold"/>
                <a:cs typeface="Nunito 1 Bold"/>
                <a:sym typeface="Nunito 1 Bold"/>
              </a:rPr>
              <a:t>Bench Mark (BM) -</a:t>
            </a:r>
            <a:r>
              <a:rPr lang="en-US" sz="2400" dirty="0">
                <a:solidFill>
                  <a:srgbClr val="000000"/>
                </a:solidFill>
                <a:latin typeface="Nunito 1 Bold"/>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a fixed point of known elevation above datum. It is used as the basis for measuring the elevation of other topographical points.</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15">
            <a:extLst>
              <a:ext uri="{FF2B5EF4-FFF2-40B4-BE49-F238E27FC236}">
                <a16:creationId xmlns:a16="http://schemas.microsoft.com/office/drawing/2014/main" id="{91C42182-43E9-1B67-3E75-2E0DFBB641BC}"/>
              </a:ext>
            </a:extLst>
          </p:cNvPr>
          <p:cNvSpPr txBox="1"/>
          <p:nvPr/>
        </p:nvSpPr>
        <p:spPr>
          <a:xfrm>
            <a:off x="2235018" y="5344708"/>
            <a:ext cx="13795916" cy="1107996"/>
          </a:xfrm>
          <a:prstGeom prst="rect">
            <a:avLst/>
          </a:prstGeom>
        </p:spPr>
        <p:txBody>
          <a:bodyPr lIns="0" tIns="0" rIns="0" bIns="0" rtlCol="0" anchor="t">
            <a:spAutoFit/>
          </a:bodyPr>
          <a:lstStyle/>
          <a:p>
            <a:pPr algn="just"/>
            <a:r>
              <a:rPr lang="en-US" sz="2400" b="1" dirty="0">
                <a:solidFill>
                  <a:srgbClr val="000000"/>
                </a:solidFill>
                <a:latin typeface="Nunito 1 Bold"/>
                <a:ea typeface="Nunito 1 Bold"/>
                <a:cs typeface="Nunito 1 Bold"/>
                <a:sym typeface="Nunito 1 Bold"/>
              </a:rPr>
              <a:t>Back Sight (BS) -</a:t>
            </a:r>
            <a:r>
              <a:rPr lang="en-US" sz="2400" dirty="0">
                <a:solidFill>
                  <a:srgbClr val="000000"/>
                </a:solidFill>
                <a:latin typeface="Nunito 1 Bold"/>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rod reading taken at a point of known elevation, such as a benchmark or turning point. Backsights are also called plus sights (+ S), because you must always add them to a known elevation to find HI.</a:t>
            </a:r>
          </a:p>
        </p:txBody>
      </p:sp>
      <p:sp>
        <p:nvSpPr>
          <p:cNvPr id="22" name="TextBox 15">
            <a:extLst>
              <a:ext uri="{FF2B5EF4-FFF2-40B4-BE49-F238E27FC236}">
                <a16:creationId xmlns:a16="http://schemas.microsoft.com/office/drawing/2014/main" id="{64B46914-E88B-D77E-FE20-D2BA5E35E29E}"/>
              </a:ext>
            </a:extLst>
          </p:cNvPr>
          <p:cNvSpPr txBox="1"/>
          <p:nvPr/>
        </p:nvSpPr>
        <p:spPr>
          <a:xfrm>
            <a:off x="2235018" y="6745900"/>
            <a:ext cx="13795916" cy="1107996"/>
          </a:xfrm>
          <a:prstGeom prst="rect">
            <a:avLst/>
          </a:prstGeom>
        </p:spPr>
        <p:txBody>
          <a:bodyPr lIns="0" tIns="0" rIns="0" bIns="0" rtlCol="0" anchor="t">
            <a:spAutoFit/>
          </a:bodyPr>
          <a:lstStyle/>
          <a:p>
            <a:pPr algn="just"/>
            <a:r>
              <a:rPr lang="en-US" sz="2400" b="1" dirty="0">
                <a:solidFill>
                  <a:srgbClr val="000000"/>
                </a:solidFill>
                <a:latin typeface="Nunito 1 Bold"/>
                <a:ea typeface="Nunito 1 Bold"/>
                <a:cs typeface="Nunito 1 Bold"/>
                <a:sym typeface="Nunito 1 Bold"/>
              </a:rPr>
              <a:t>Fore Sight (BS) -</a:t>
            </a:r>
            <a:r>
              <a:rPr lang="en-US" sz="2400" dirty="0">
                <a:solidFill>
                  <a:srgbClr val="000000"/>
                </a:solidFill>
                <a:latin typeface="Nunito 1 Bold"/>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rod reading taken on a point for which the elevation is to be established. Foresights are also called minus sights (-S) , because they are always subtracted from HI to obtain the elevation E of the point. </a:t>
            </a:r>
          </a:p>
        </p:txBody>
      </p:sp>
      <p:sp>
        <p:nvSpPr>
          <p:cNvPr id="30" name="TextBox 15">
            <a:extLst>
              <a:ext uri="{FF2B5EF4-FFF2-40B4-BE49-F238E27FC236}">
                <a16:creationId xmlns:a16="http://schemas.microsoft.com/office/drawing/2014/main" id="{C4B2ED27-C205-01A7-7810-9F75F51D562A}"/>
              </a:ext>
            </a:extLst>
          </p:cNvPr>
          <p:cNvSpPr txBox="1"/>
          <p:nvPr/>
        </p:nvSpPr>
        <p:spPr>
          <a:xfrm>
            <a:off x="2246041" y="4311040"/>
            <a:ext cx="13795916" cy="738664"/>
          </a:xfrm>
          <a:prstGeom prst="rect">
            <a:avLst/>
          </a:prstGeom>
        </p:spPr>
        <p:txBody>
          <a:bodyPr lIns="0" tIns="0" rIns="0" bIns="0" rtlCol="0" anchor="t">
            <a:spAutoFit/>
          </a:bodyPr>
          <a:lstStyle/>
          <a:p>
            <a:pPr algn="just"/>
            <a:r>
              <a:rPr lang="en-US" sz="2400" b="1" dirty="0">
                <a:solidFill>
                  <a:srgbClr val="000000"/>
                </a:solidFill>
                <a:latin typeface="Nunito 1 Bold"/>
                <a:ea typeface="Nunito 1 Bold"/>
                <a:cs typeface="Nunito 1 Bold"/>
                <a:sym typeface="Nunito 1 Bold"/>
              </a:rPr>
              <a:t>Turning Point (TP) -</a:t>
            </a:r>
            <a:r>
              <a:rPr lang="en-US" sz="2400" dirty="0">
                <a:solidFill>
                  <a:srgbClr val="000000"/>
                </a:solidFill>
                <a:latin typeface="Nunito 1 Bold"/>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 intermediate point between benchmarks which provides a temporary point of known elevation for a level circuit between two benchmarks a long distance apart. </a:t>
            </a:r>
          </a:p>
        </p:txBody>
      </p:sp>
      <p:sp>
        <p:nvSpPr>
          <p:cNvPr id="32" name="TextBox 15">
            <a:extLst>
              <a:ext uri="{FF2B5EF4-FFF2-40B4-BE49-F238E27FC236}">
                <a16:creationId xmlns:a16="http://schemas.microsoft.com/office/drawing/2014/main" id="{9A1CCAAE-04EB-E37E-F9C8-59F7058251BA}"/>
              </a:ext>
            </a:extLst>
          </p:cNvPr>
          <p:cNvSpPr txBox="1"/>
          <p:nvPr/>
        </p:nvSpPr>
        <p:spPr>
          <a:xfrm>
            <a:off x="2246041" y="2368299"/>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BENCH MARK, TURNING POINT, BACKSIGHT, AND FORESIGHT</a:t>
            </a:r>
            <a:endParaRPr lang="en-US" sz="2400" dirty="0">
              <a:solidFill>
                <a:srgbClr val="000000"/>
              </a:solidFill>
              <a:latin typeface="Nunito 1" panose="020B0604020202020204" charset="0"/>
              <a:ea typeface="Nunito 1 Bold"/>
              <a:cs typeface="Nunito 1 Bold"/>
              <a:sym typeface="Nunito 1 Bold"/>
            </a:endParaRPr>
          </a:p>
        </p:txBody>
      </p:sp>
      <p:grpSp>
        <p:nvGrpSpPr>
          <p:cNvPr id="5" name="Group 4">
            <a:extLst>
              <a:ext uri="{FF2B5EF4-FFF2-40B4-BE49-F238E27FC236}">
                <a16:creationId xmlns:a16="http://schemas.microsoft.com/office/drawing/2014/main" id="{D24A3C54-9459-B100-C684-A6CC5980E984}"/>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9EB422D3-86AE-A8F4-9A25-DA242FE7BDA0}"/>
                </a:ext>
              </a:extLst>
            </p:cNvPr>
            <p:cNvGrpSpPr/>
            <p:nvPr/>
          </p:nvGrpSpPr>
          <p:grpSpPr>
            <a:xfrm>
              <a:off x="0" y="9599694"/>
              <a:ext cx="18287999" cy="687305"/>
              <a:chOff x="0" y="0"/>
              <a:chExt cx="5260714" cy="490218"/>
            </a:xfrm>
          </p:grpSpPr>
          <p:sp>
            <p:nvSpPr>
              <p:cNvPr id="26" name="Freeform 12">
                <a:extLst>
                  <a:ext uri="{FF2B5EF4-FFF2-40B4-BE49-F238E27FC236}">
                    <a16:creationId xmlns:a16="http://schemas.microsoft.com/office/drawing/2014/main" id="{E5397FAB-DDFC-D18F-6065-E810FA99E19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CE1836AC-473A-1C74-E895-A44402DB3B8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17382C8E-698C-13C8-1757-AEE4252A432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375E23DE-BD35-7CA9-6723-63E7FF93CCB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59253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xEl>
                                              <p:pRg st="0" end="0"/>
                                            </p:txEl>
                                          </p:spTgt>
                                        </p:tgtEl>
                                        <p:attrNameLst>
                                          <p:attrName>style.visibility</p:attrName>
                                        </p:attrNameLst>
                                      </p:cBhvr>
                                      <p:to>
                                        <p:strVal val="visible"/>
                                      </p:to>
                                    </p:set>
                                    <p:animEffect transition="in" filter="fade">
                                      <p:cBhvr>
                                        <p:cTn id="22" dur="500"/>
                                        <p:tgtEl>
                                          <p:spTgt spid="2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1" grpId="0"/>
      <p:bldP spid="3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9B698-3AE1-A0C3-715D-3ACFC3566F8D}"/>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0C301F1F-5740-AC43-3122-8E0EF06824A2}"/>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4B2904C3-1C09-4181-7071-D0B86437737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65E108A0-4CBD-2DFB-70CD-494E9BC8927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A7EF1608-6294-6E8C-2C6A-5DAC12CAE814}"/>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43728D74-4792-BA05-AD1F-755F0DD54C81}"/>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6BCBEB82-4361-08F1-10E9-2441FA611BAC}"/>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56ACF140-8D0D-0A11-8151-0264BF9B3CF5}"/>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40441BAF-A453-6A03-931F-84E51A813665}"/>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A95A3E97-6FAD-73FA-D3B1-3D93D6796D6E}"/>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9266B210-DF21-25AD-24E7-E00BB29E053B}"/>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5E50C64A-744D-9478-F23A-B91A8A2C855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720B1293-9B83-40B9-8879-BCE0E167029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0F3B9EBE-AD3E-84D6-A745-564F54A73BC4}"/>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3B2A962-F506-C7B4-F4B4-25C69DDBC059}"/>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A0F7D29B-E529-5BD4-E167-248F4370D297}"/>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C3AEAA1-618D-A49F-B820-4F9A804133D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D4915AB-2686-F2D3-4501-8C9CC0B3885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32" name="TextBox 15">
            <a:extLst>
              <a:ext uri="{FF2B5EF4-FFF2-40B4-BE49-F238E27FC236}">
                <a16:creationId xmlns:a16="http://schemas.microsoft.com/office/drawing/2014/main" id="{C129B843-16EF-34D5-0D07-8AB503ED400A}"/>
              </a:ext>
            </a:extLst>
          </p:cNvPr>
          <p:cNvSpPr txBox="1"/>
          <p:nvPr/>
        </p:nvSpPr>
        <p:spPr>
          <a:xfrm>
            <a:off x="2246041" y="2368299"/>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BENCH MARK, TURNING POINT, BACKSIGHT, AND FORESIGHT</a:t>
            </a:r>
            <a:endParaRPr lang="en-US" sz="2400" dirty="0">
              <a:solidFill>
                <a:srgbClr val="000000"/>
              </a:solidFill>
              <a:latin typeface="Nunito 1" panose="020B0604020202020204" charset="0"/>
              <a:ea typeface="Nunito 1 Bold"/>
              <a:cs typeface="Nunito 1 Bold"/>
              <a:sym typeface="Nunito 1 Bold"/>
            </a:endParaRPr>
          </a:p>
        </p:txBody>
      </p:sp>
      <p:grpSp>
        <p:nvGrpSpPr>
          <p:cNvPr id="5" name="Group 4">
            <a:extLst>
              <a:ext uri="{FF2B5EF4-FFF2-40B4-BE49-F238E27FC236}">
                <a16:creationId xmlns:a16="http://schemas.microsoft.com/office/drawing/2014/main" id="{62932148-D141-867A-133D-C0633340FAC6}"/>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020D45E1-8D16-4F5E-90D5-935DF2E100A5}"/>
                </a:ext>
              </a:extLst>
            </p:cNvPr>
            <p:cNvGrpSpPr/>
            <p:nvPr/>
          </p:nvGrpSpPr>
          <p:grpSpPr>
            <a:xfrm>
              <a:off x="0" y="9599694"/>
              <a:ext cx="18287999" cy="687305"/>
              <a:chOff x="0" y="0"/>
              <a:chExt cx="5260714" cy="490218"/>
            </a:xfrm>
          </p:grpSpPr>
          <p:sp>
            <p:nvSpPr>
              <p:cNvPr id="26" name="Freeform 12">
                <a:extLst>
                  <a:ext uri="{FF2B5EF4-FFF2-40B4-BE49-F238E27FC236}">
                    <a16:creationId xmlns:a16="http://schemas.microsoft.com/office/drawing/2014/main" id="{0FD7132F-FA96-1739-8851-DB029266DE0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AF4AA98A-026F-807E-EA1B-ED73CCE53D8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35FDDED5-80E1-72A7-BB77-AF8B1C959B6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9C36F064-E1D6-0E22-31C8-B50ACD92F5F9}"/>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grpSp>
        <p:nvGrpSpPr>
          <p:cNvPr id="29" name="Group 28">
            <a:extLst>
              <a:ext uri="{FF2B5EF4-FFF2-40B4-BE49-F238E27FC236}">
                <a16:creationId xmlns:a16="http://schemas.microsoft.com/office/drawing/2014/main" id="{0E7DAEAD-AD0F-D865-41F6-FD4B036E233B}"/>
              </a:ext>
            </a:extLst>
          </p:cNvPr>
          <p:cNvGrpSpPr/>
          <p:nvPr/>
        </p:nvGrpSpPr>
        <p:grpSpPr>
          <a:xfrm>
            <a:off x="4876800" y="3033089"/>
            <a:ext cx="8534400" cy="4516281"/>
            <a:chOff x="4876800" y="3033089"/>
            <a:chExt cx="8534400" cy="4516281"/>
          </a:xfrm>
        </p:grpSpPr>
        <p:pic>
          <p:nvPicPr>
            <p:cNvPr id="1028" name="Picture 4">
              <a:extLst>
                <a:ext uri="{FF2B5EF4-FFF2-40B4-BE49-F238E27FC236}">
                  <a16:creationId xmlns:a16="http://schemas.microsoft.com/office/drawing/2014/main" id="{EC65EDE6-67BE-7E62-2763-DDC7426871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0622"/>
            <a:stretch>
              <a:fillRect/>
            </a:stretch>
          </p:blipFill>
          <p:spPr bwMode="auto">
            <a:xfrm>
              <a:off x="4876800" y="3033089"/>
              <a:ext cx="8534400" cy="451628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4">
              <a:extLst>
                <a:ext uri="{FF2B5EF4-FFF2-40B4-BE49-F238E27FC236}">
                  <a16:creationId xmlns:a16="http://schemas.microsoft.com/office/drawing/2014/main" id="{E6D3B49C-F982-2386-E73D-C2BF0C33C1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019" t="19439" r="68946" b="72525"/>
            <a:stretch>
              <a:fillRect/>
            </a:stretch>
          </p:blipFill>
          <p:spPr bwMode="auto">
            <a:xfrm>
              <a:off x="11123034" y="4634721"/>
              <a:ext cx="1795188" cy="4572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58407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12</a:t>
            </a:r>
          </a:p>
        </p:txBody>
      </p:sp>
      <p:sp>
        <p:nvSpPr>
          <p:cNvPr id="15" name="TextBox 15"/>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An ABE student was tasked to determine the elevation of point B using a benchmark at point A with an elevation of 100 meters. With a theodolite, a backsight reading of 2.85 meters is observed. What is the elevation of point B if the foresight reading is 1.95 meters?</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5" name="TextBox 15">
            <a:extLst>
              <a:ext uri="{FF2B5EF4-FFF2-40B4-BE49-F238E27FC236}">
                <a16:creationId xmlns:a16="http://schemas.microsoft.com/office/drawing/2014/main" id="{2A5BB976-AF78-359F-95E5-21690E85E9E7}"/>
              </a:ext>
            </a:extLst>
          </p:cNvPr>
          <p:cNvSpPr txBox="1"/>
          <p:nvPr/>
        </p:nvSpPr>
        <p:spPr>
          <a:xfrm>
            <a:off x="13095753" y="3690190"/>
            <a:ext cx="8724902" cy="4684039"/>
          </a:xfrm>
          <a:prstGeom prst="rect">
            <a:avLst/>
          </a:prstGeom>
        </p:spPr>
        <p:txBody>
          <a:bodyPr wrap="square" lIns="0" tIns="0" rIns="0" bIns="0" rtlCol="0" anchor="t">
            <a:spAutoFit/>
          </a:bodyPr>
          <a:lstStyle/>
          <a:p>
            <a:pPr algn="just">
              <a:lnSpc>
                <a:spcPct val="150000"/>
              </a:lnSpc>
            </a:pPr>
            <a:r>
              <a:rPr lang="en-US" sz="2000" b="1" u="sng" dirty="0">
                <a:solidFill>
                  <a:srgbClr val="000000"/>
                </a:solidFill>
                <a:latin typeface="Nunito 1" panose="020B0604020202020204" charset="0"/>
                <a:ea typeface="Nunito 1 Bold"/>
                <a:cs typeface="Nunito 1 Bold"/>
                <a:sym typeface="Nunito 1 Bold"/>
              </a:rPr>
              <a:t>Solution:</a:t>
            </a:r>
          </a:p>
          <a:p>
            <a:pPr algn="just">
              <a:lnSpc>
                <a:spcPct val="150000"/>
              </a:lnSpc>
            </a:pPr>
            <a:endParaRPr lang="en-US" sz="2000" dirty="0">
              <a:solidFill>
                <a:srgbClr val="000000"/>
              </a:solidFill>
              <a:latin typeface="Nunito 1" panose="020B0604020202020204" charset="0"/>
              <a:ea typeface="Nunito 1 Bold"/>
              <a:cs typeface="Nunito 1 Bold"/>
              <a:sym typeface="Nunito 1 Bold"/>
            </a:endParaRP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HI = BM + BS</a:t>
            </a: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HI = 100m + 2.85m</a:t>
            </a: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HI = 102.85m</a:t>
            </a:r>
          </a:p>
          <a:p>
            <a:pPr algn="just">
              <a:lnSpc>
                <a:spcPct val="107000"/>
              </a:lnSpc>
              <a:spcAft>
                <a:spcPts val="800"/>
              </a:spcAft>
            </a:pPr>
            <a:endParaRPr lang="en-US" sz="2000" kern="100" dirty="0">
              <a:latin typeface="Arial" panose="020B0604020202020204" pitchFamily="34" charset="0"/>
              <a:ea typeface="Calibri" panose="020F0502020204030204" pitchFamily="34" charset="0"/>
              <a:cs typeface="Arial" panose="020B0604020202020204" pitchFamily="34" charset="0"/>
            </a:endParaRP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FS = 1.95m</a:t>
            </a:r>
          </a:p>
          <a:p>
            <a:pPr algn="just">
              <a:lnSpc>
                <a:spcPct val="107000"/>
              </a:lnSpc>
              <a:spcAft>
                <a:spcPts val="800"/>
              </a:spcAft>
            </a:pPr>
            <a:endParaRPr lang="en-US" sz="2000" kern="100" dirty="0">
              <a:latin typeface="Arial" panose="020B0604020202020204" pitchFamily="34" charset="0"/>
              <a:ea typeface="Calibri" panose="020F0502020204030204" pitchFamily="34" charset="0"/>
              <a:cs typeface="Arial" panose="020B0604020202020204" pitchFamily="34" charset="0"/>
            </a:endParaRPr>
          </a:p>
          <a:p>
            <a:pPr algn="just">
              <a:lnSpc>
                <a:spcPct val="107000"/>
              </a:lnSpc>
              <a:spcAft>
                <a:spcPts val="800"/>
              </a:spcAft>
            </a:pPr>
            <a:r>
              <a:rPr lang="en-US" sz="2000" kern="100" dirty="0" err="1">
                <a:latin typeface="Arial" panose="020B0604020202020204" pitchFamily="34" charset="0"/>
                <a:ea typeface="Calibri" panose="020F0502020204030204" pitchFamily="34" charset="0"/>
                <a:cs typeface="Arial" panose="020B0604020202020204" pitchFamily="34" charset="0"/>
              </a:rPr>
              <a:t>Elev</a:t>
            </a:r>
            <a:r>
              <a:rPr lang="en-US" sz="2000" kern="100" baseline="-25000" dirty="0" err="1">
                <a:latin typeface="Arial" panose="020B0604020202020204" pitchFamily="34" charset="0"/>
                <a:ea typeface="Calibri" panose="020F0502020204030204" pitchFamily="34" charset="0"/>
                <a:cs typeface="Arial" panose="020B0604020202020204" pitchFamily="34" charset="0"/>
              </a:rPr>
              <a:t>B</a:t>
            </a:r>
            <a:r>
              <a:rPr lang="en-US" sz="2000" kern="100" dirty="0">
                <a:latin typeface="Arial" panose="020B0604020202020204" pitchFamily="34" charset="0"/>
                <a:ea typeface="Calibri" panose="020F0502020204030204" pitchFamily="34" charset="0"/>
                <a:cs typeface="Arial" panose="020B0604020202020204" pitchFamily="34" charset="0"/>
              </a:rPr>
              <a:t> = HI – FS</a:t>
            </a:r>
          </a:p>
          <a:p>
            <a:pPr algn="just">
              <a:lnSpc>
                <a:spcPct val="107000"/>
              </a:lnSpc>
              <a:spcAft>
                <a:spcPts val="800"/>
              </a:spcAft>
            </a:pPr>
            <a:r>
              <a:rPr lang="en-US" sz="2000" kern="100" dirty="0" err="1">
                <a:latin typeface="Arial" panose="020B0604020202020204" pitchFamily="34" charset="0"/>
                <a:ea typeface="Calibri" panose="020F0502020204030204" pitchFamily="34" charset="0"/>
                <a:cs typeface="Arial" panose="020B0604020202020204" pitchFamily="34" charset="0"/>
              </a:rPr>
              <a:t>Elev</a:t>
            </a:r>
            <a:r>
              <a:rPr lang="en-US" sz="2000" kern="100" baseline="-25000" dirty="0" err="1">
                <a:latin typeface="Arial" panose="020B0604020202020204" pitchFamily="34" charset="0"/>
                <a:ea typeface="Calibri" panose="020F0502020204030204" pitchFamily="34" charset="0"/>
                <a:cs typeface="Arial" panose="020B0604020202020204" pitchFamily="34" charset="0"/>
              </a:rPr>
              <a:t>B</a:t>
            </a:r>
            <a:r>
              <a:rPr lang="en-US" sz="2000" kern="100" dirty="0">
                <a:latin typeface="Arial" panose="020B0604020202020204" pitchFamily="34" charset="0"/>
                <a:ea typeface="Calibri" panose="020F0502020204030204" pitchFamily="34" charset="0"/>
                <a:cs typeface="Arial" panose="020B0604020202020204" pitchFamily="34" charset="0"/>
              </a:rPr>
              <a:t> = 102.85m – 1.95m</a:t>
            </a:r>
          </a:p>
          <a:p>
            <a:pPr algn="just">
              <a:lnSpc>
                <a:spcPct val="107000"/>
              </a:lnSpc>
              <a:spcAft>
                <a:spcPts val="800"/>
              </a:spcAft>
            </a:pPr>
            <a:r>
              <a:rPr lang="en-US" sz="2000" b="1" kern="100" dirty="0" err="1">
                <a:latin typeface="Arial" panose="020B0604020202020204" pitchFamily="34" charset="0"/>
                <a:ea typeface="Calibri" panose="020F0502020204030204" pitchFamily="34" charset="0"/>
                <a:cs typeface="Arial" panose="020B0604020202020204" pitchFamily="34" charset="0"/>
              </a:rPr>
              <a:t>Elev</a:t>
            </a:r>
            <a:r>
              <a:rPr lang="en-US" sz="2000" b="1" kern="100" baseline="-25000" dirty="0" err="1">
                <a:latin typeface="Arial" panose="020B0604020202020204" pitchFamily="34" charset="0"/>
                <a:ea typeface="Calibri" panose="020F0502020204030204" pitchFamily="34" charset="0"/>
                <a:cs typeface="Arial" panose="020B0604020202020204" pitchFamily="34" charset="0"/>
              </a:rPr>
              <a:t>B</a:t>
            </a:r>
            <a:r>
              <a:rPr lang="en-US" sz="2000" b="1" kern="100" dirty="0">
                <a:latin typeface="Arial" panose="020B0604020202020204" pitchFamily="34" charset="0"/>
                <a:ea typeface="Calibri" panose="020F0502020204030204" pitchFamily="34" charset="0"/>
                <a:cs typeface="Arial" panose="020B0604020202020204" pitchFamily="34" charset="0"/>
              </a:rPr>
              <a:t> = 100.9m</a:t>
            </a:r>
          </a:p>
        </p:txBody>
      </p:sp>
      <p:grpSp>
        <p:nvGrpSpPr>
          <p:cNvPr id="48" name="Group 47">
            <a:extLst>
              <a:ext uri="{FF2B5EF4-FFF2-40B4-BE49-F238E27FC236}">
                <a16:creationId xmlns:a16="http://schemas.microsoft.com/office/drawing/2014/main" id="{6E7D6C76-49D3-CA94-8BD9-5D16D080E2F0}"/>
              </a:ext>
            </a:extLst>
          </p:cNvPr>
          <p:cNvGrpSpPr/>
          <p:nvPr/>
        </p:nvGrpSpPr>
        <p:grpSpPr>
          <a:xfrm>
            <a:off x="4176938" y="3488978"/>
            <a:ext cx="8239730" cy="4448056"/>
            <a:chOff x="8590572" y="3489635"/>
            <a:chExt cx="8239730" cy="4448056"/>
          </a:xfrm>
        </p:grpSpPr>
        <p:sp>
          <p:nvSpPr>
            <p:cNvPr id="33" name="Freeform: Shape 32">
              <a:extLst>
                <a:ext uri="{FF2B5EF4-FFF2-40B4-BE49-F238E27FC236}">
                  <a16:creationId xmlns:a16="http://schemas.microsoft.com/office/drawing/2014/main" id="{011CE021-AC1C-D9D9-6651-DD28F92FE575}"/>
                </a:ext>
              </a:extLst>
            </p:cNvPr>
            <p:cNvSpPr/>
            <p:nvPr/>
          </p:nvSpPr>
          <p:spPr>
            <a:xfrm>
              <a:off x="9637776" y="6498208"/>
              <a:ext cx="6376416" cy="1054736"/>
            </a:xfrm>
            <a:custGeom>
              <a:avLst/>
              <a:gdLst>
                <a:gd name="connsiteX0" fmla="*/ 0 w 6376416"/>
                <a:gd name="connsiteY0" fmla="*/ 1054736 h 1054736"/>
                <a:gd name="connsiteX1" fmla="*/ 1761744 w 6376416"/>
                <a:gd name="connsiteY1" fmla="*/ 609728 h 1054736"/>
                <a:gd name="connsiteX2" fmla="*/ 3810000 w 6376416"/>
                <a:gd name="connsiteY2" fmla="*/ 542672 h 1054736"/>
                <a:gd name="connsiteX3" fmla="*/ 4754880 w 6376416"/>
                <a:gd name="connsiteY3" fmla="*/ 48896 h 1054736"/>
                <a:gd name="connsiteX4" fmla="*/ 6376416 w 6376416"/>
                <a:gd name="connsiteY4" fmla="*/ 42800 h 10547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76416" h="1054736">
                  <a:moveTo>
                    <a:pt x="0" y="1054736"/>
                  </a:moveTo>
                  <a:cubicBezTo>
                    <a:pt x="563372" y="874904"/>
                    <a:pt x="1126744" y="695072"/>
                    <a:pt x="1761744" y="609728"/>
                  </a:cubicBezTo>
                  <a:cubicBezTo>
                    <a:pt x="2396744" y="524384"/>
                    <a:pt x="3311144" y="636144"/>
                    <a:pt x="3810000" y="542672"/>
                  </a:cubicBezTo>
                  <a:cubicBezTo>
                    <a:pt x="4308856" y="449200"/>
                    <a:pt x="4327144" y="132208"/>
                    <a:pt x="4754880" y="48896"/>
                  </a:cubicBezTo>
                  <a:cubicBezTo>
                    <a:pt x="5182616" y="-34416"/>
                    <a:pt x="6064504" y="6224"/>
                    <a:pt x="6376416" y="4280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31" name="Group 30">
              <a:extLst>
                <a:ext uri="{FF2B5EF4-FFF2-40B4-BE49-F238E27FC236}">
                  <a16:creationId xmlns:a16="http://schemas.microsoft.com/office/drawing/2014/main" id="{D79F7293-557C-476B-C9AB-51BAD9A6463B}"/>
                </a:ext>
              </a:extLst>
            </p:cNvPr>
            <p:cNvGrpSpPr/>
            <p:nvPr/>
          </p:nvGrpSpPr>
          <p:grpSpPr>
            <a:xfrm>
              <a:off x="12463187" y="5005583"/>
              <a:ext cx="795614" cy="2042917"/>
              <a:chOff x="12463187" y="5005583"/>
              <a:chExt cx="795614" cy="2042917"/>
            </a:xfrm>
          </p:grpSpPr>
          <p:sp>
            <p:nvSpPr>
              <p:cNvPr id="6" name="Rectangle 5">
                <a:extLst>
                  <a:ext uri="{FF2B5EF4-FFF2-40B4-BE49-F238E27FC236}">
                    <a16:creationId xmlns:a16="http://schemas.microsoft.com/office/drawing/2014/main" id="{7DB9849D-FA84-1E41-0A07-630D6D0B9343}"/>
                  </a:ext>
                </a:extLst>
              </p:cNvPr>
              <p:cNvSpPr/>
              <p:nvPr/>
            </p:nvSpPr>
            <p:spPr>
              <a:xfrm>
                <a:off x="12573000" y="5005583"/>
                <a:ext cx="575988" cy="8633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27" name="Straight Connector 26">
                <a:extLst>
                  <a:ext uri="{FF2B5EF4-FFF2-40B4-BE49-F238E27FC236}">
                    <a16:creationId xmlns:a16="http://schemas.microsoft.com/office/drawing/2014/main" id="{0AD5AF0C-DCF4-2A83-DB4E-3D640EA5C938}"/>
                  </a:ext>
                </a:extLst>
              </p:cNvPr>
              <p:cNvCxnSpPr>
                <a:cxnSpLocks/>
              </p:cNvCxnSpPr>
              <p:nvPr/>
            </p:nvCxnSpPr>
            <p:spPr>
              <a:xfrm flipV="1">
                <a:off x="12463187" y="5090160"/>
                <a:ext cx="397807" cy="195834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606C04-40AA-A14F-F9A0-C6E8AB36583C}"/>
                  </a:ext>
                </a:extLst>
              </p:cNvPr>
              <p:cNvCxnSpPr>
                <a:cxnSpLocks/>
              </p:cNvCxnSpPr>
              <p:nvPr/>
            </p:nvCxnSpPr>
            <p:spPr>
              <a:xfrm flipH="1" flipV="1">
                <a:off x="12860994" y="5090160"/>
                <a:ext cx="397807" cy="1958340"/>
              </a:xfrm>
              <a:prstGeom prst="line">
                <a:avLst/>
              </a:prstGeom>
              <a:ln w="38100"/>
            </p:spPr>
            <p:style>
              <a:lnRef idx="1">
                <a:schemeClr val="accent1"/>
              </a:lnRef>
              <a:fillRef idx="0">
                <a:schemeClr val="accent1"/>
              </a:fillRef>
              <a:effectRef idx="0">
                <a:schemeClr val="accent1"/>
              </a:effectRef>
              <a:fontRef idx="minor">
                <a:schemeClr val="tx1"/>
              </a:fontRef>
            </p:style>
          </p:cxnSp>
        </p:grpSp>
        <p:cxnSp>
          <p:nvCxnSpPr>
            <p:cNvPr id="35" name="Straight Connector 34">
              <a:extLst>
                <a:ext uri="{FF2B5EF4-FFF2-40B4-BE49-F238E27FC236}">
                  <a16:creationId xmlns:a16="http://schemas.microsoft.com/office/drawing/2014/main" id="{737A5781-8B48-0BF5-50F2-21755342004E}"/>
                </a:ext>
              </a:extLst>
            </p:cNvPr>
            <p:cNvCxnSpPr/>
            <p:nvPr/>
          </p:nvCxnSpPr>
          <p:spPr>
            <a:xfrm flipV="1">
              <a:off x="9677400" y="4478215"/>
              <a:ext cx="0" cy="3031895"/>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021F88FD-8549-306F-71B0-77350FBA9868}"/>
                </a:ext>
              </a:extLst>
            </p:cNvPr>
            <p:cNvCxnSpPr/>
            <p:nvPr/>
          </p:nvCxnSpPr>
          <p:spPr>
            <a:xfrm flipV="1">
              <a:off x="15992856" y="3489635"/>
              <a:ext cx="0" cy="3031895"/>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8897CEA-3A79-3C12-5511-A38336E41788}"/>
                </a:ext>
              </a:extLst>
            </p:cNvPr>
            <p:cNvCxnSpPr>
              <a:cxnSpLocks/>
            </p:cNvCxnSpPr>
            <p:nvPr/>
          </p:nvCxnSpPr>
          <p:spPr>
            <a:xfrm>
              <a:off x="9366321" y="5048752"/>
              <a:ext cx="6788079" cy="0"/>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97D6F07-1D93-0E8C-F0F0-F4B26D5D66D4}"/>
                </a:ext>
              </a:extLst>
            </p:cNvPr>
            <p:cNvSpPr txBox="1"/>
            <p:nvPr/>
          </p:nvSpPr>
          <p:spPr>
            <a:xfrm>
              <a:off x="8590572" y="7338512"/>
              <a:ext cx="1023037" cy="307777"/>
            </a:xfrm>
            <a:prstGeom prst="rect">
              <a:avLst/>
            </a:prstGeom>
            <a:noFill/>
          </p:spPr>
          <p:txBody>
            <a:bodyPr wrap="none" rtlCol="0">
              <a:spAutoFit/>
            </a:bodyPr>
            <a:lstStyle/>
            <a:p>
              <a:r>
                <a:rPr lang="en-PH" sz="1400" dirty="0"/>
                <a:t>BM = 100m</a:t>
              </a:r>
            </a:p>
          </p:txBody>
        </p:sp>
        <p:sp>
          <p:nvSpPr>
            <p:cNvPr id="41" name="TextBox 40">
              <a:extLst>
                <a:ext uri="{FF2B5EF4-FFF2-40B4-BE49-F238E27FC236}">
                  <a16:creationId xmlns:a16="http://schemas.microsoft.com/office/drawing/2014/main" id="{30F0307F-5742-EE50-B252-031CA6960634}"/>
                </a:ext>
              </a:extLst>
            </p:cNvPr>
            <p:cNvSpPr txBox="1"/>
            <p:nvPr/>
          </p:nvSpPr>
          <p:spPr>
            <a:xfrm>
              <a:off x="9701000" y="4734709"/>
              <a:ext cx="995785" cy="307777"/>
            </a:xfrm>
            <a:prstGeom prst="rect">
              <a:avLst/>
            </a:prstGeom>
            <a:noFill/>
          </p:spPr>
          <p:txBody>
            <a:bodyPr wrap="none" rtlCol="0">
              <a:spAutoFit/>
            </a:bodyPr>
            <a:lstStyle/>
            <a:p>
              <a:r>
                <a:rPr lang="en-PH" sz="1400" dirty="0"/>
                <a:t>BS = 2.85m</a:t>
              </a:r>
            </a:p>
          </p:txBody>
        </p:sp>
        <p:sp>
          <p:nvSpPr>
            <p:cNvPr id="42" name="TextBox 41">
              <a:extLst>
                <a:ext uri="{FF2B5EF4-FFF2-40B4-BE49-F238E27FC236}">
                  <a16:creationId xmlns:a16="http://schemas.microsoft.com/office/drawing/2014/main" id="{0D378D07-F841-4CE0-5289-963D93ABA65A}"/>
                </a:ext>
              </a:extLst>
            </p:cNvPr>
            <p:cNvSpPr txBox="1"/>
            <p:nvPr/>
          </p:nvSpPr>
          <p:spPr>
            <a:xfrm>
              <a:off x="14708034" y="4720828"/>
              <a:ext cx="977191" cy="307777"/>
            </a:xfrm>
            <a:prstGeom prst="rect">
              <a:avLst/>
            </a:prstGeom>
            <a:noFill/>
          </p:spPr>
          <p:txBody>
            <a:bodyPr wrap="none" rtlCol="0">
              <a:spAutoFit/>
            </a:bodyPr>
            <a:lstStyle/>
            <a:p>
              <a:r>
                <a:rPr lang="en-PH" sz="1400" dirty="0"/>
                <a:t>FS = 1.95m</a:t>
              </a:r>
            </a:p>
          </p:txBody>
        </p:sp>
        <p:sp>
          <p:nvSpPr>
            <p:cNvPr id="43" name="TextBox 42">
              <a:extLst>
                <a:ext uri="{FF2B5EF4-FFF2-40B4-BE49-F238E27FC236}">
                  <a16:creationId xmlns:a16="http://schemas.microsoft.com/office/drawing/2014/main" id="{1F1B745C-8C90-3821-2701-DD6B90B81CD4}"/>
                </a:ext>
              </a:extLst>
            </p:cNvPr>
            <p:cNvSpPr txBox="1"/>
            <p:nvPr/>
          </p:nvSpPr>
          <p:spPr>
            <a:xfrm>
              <a:off x="9515336" y="7568359"/>
              <a:ext cx="324128" cy="369332"/>
            </a:xfrm>
            <a:prstGeom prst="rect">
              <a:avLst/>
            </a:prstGeom>
            <a:noFill/>
          </p:spPr>
          <p:txBody>
            <a:bodyPr wrap="none" rtlCol="0">
              <a:spAutoFit/>
            </a:bodyPr>
            <a:lstStyle/>
            <a:p>
              <a:r>
                <a:rPr lang="en-PH" b="1" dirty="0"/>
                <a:t>A</a:t>
              </a:r>
            </a:p>
          </p:txBody>
        </p:sp>
        <p:sp>
          <p:nvSpPr>
            <p:cNvPr id="44" name="TextBox 43">
              <a:extLst>
                <a:ext uri="{FF2B5EF4-FFF2-40B4-BE49-F238E27FC236}">
                  <a16:creationId xmlns:a16="http://schemas.microsoft.com/office/drawing/2014/main" id="{4812593C-B999-FDED-039E-CE72A54F0A23}"/>
                </a:ext>
              </a:extLst>
            </p:cNvPr>
            <p:cNvSpPr txBox="1"/>
            <p:nvPr/>
          </p:nvSpPr>
          <p:spPr>
            <a:xfrm>
              <a:off x="15838032" y="6531782"/>
              <a:ext cx="324128" cy="369332"/>
            </a:xfrm>
            <a:prstGeom prst="rect">
              <a:avLst/>
            </a:prstGeom>
            <a:noFill/>
          </p:spPr>
          <p:txBody>
            <a:bodyPr wrap="none" rtlCol="0">
              <a:spAutoFit/>
            </a:bodyPr>
            <a:lstStyle/>
            <a:p>
              <a:r>
                <a:rPr lang="en-PH" b="1" dirty="0"/>
                <a:t>B</a:t>
              </a:r>
            </a:p>
          </p:txBody>
        </p:sp>
        <p:sp>
          <p:nvSpPr>
            <p:cNvPr id="47" name="TextBox 46">
              <a:extLst>
                <a:ext uri="{FF2B5EF4-FFF2-40B4-BE49-F238E27FC236}">
                  <a16:creationId xmlns:a16="http://schemas.microsoft.com/office/drawing/2014/main" id="{6023CF14-2909-D47F-1299-2C4644337DA7}"/>
                </a:ext>
              </a:extLst>
            </p:cNvPr>
            <p:cNvSpPr txBox="1"/>
            <p:nvPr/>
          </p:nvSpPr>
          <p:spPr>
            <a:xfrm>
              <a:off x="16026171" y="6407315"/>
              <a:ext cx="804131" cy="307777"/>
            </a:xfrm>
            <a:prstGeom prst="rect">
              <a:avLst/>
            </a:prstGeom>
            <a:noFill/>
          </p:spPr>
          <p:txBody>
            <a:bodyPr wrap="none" rtlCol="0">
              <a:spAutoFit/>
            </a:bodyPr>
            <a:lstStyle/>
            <a:p>
              <a:r>
                <a:rPr lang="en-PH" sz="1400" dirty="0" err="1"/>
                <a:t>Elev</a:t>
              </a:r>
              <a:r>
                <a:rPr lang="en-PH" sz="1400" baseline="-25000" dirty="0" err="1"/>
                <a:t>B</a:t>
              </a:r>
              <a:r>
                <a:rPr lang="en-PH" sz="1400" dirty="0"/>
                <a:t> = ?</a:t>
              </a:r>
            </a:p>
          </p:txBody>
        </p:sp>
      </p:grpSp>
      <p:sp>
        <p:nvSpPr>
          <p:cNvPr id="7" name="TextBox 15">
            <a:extLst>
              <a:ext uri="{FF2B5EF4-FFF2-40B4-BE49-F238E27FC236}">
                <a16:creationId xmlns:a16="http://schemas.microsoft.com/office/drawing/2014/main" id="{DD55574D-54F4-5C9E-723A-1137F8FBF05C}"/>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100.90m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101.75m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101.85m</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100m</a:t>
            </a:r>
          </a:p>
        </p:txBody>
      </p:sp>
      <p:sp>
        <p:nvSpPr>
          <p:cNvPr id="21" name="Oval 20">
            <a:extLst>
              <a:ext uri="{FF2B5EF4-FFF2-40B4-BE49-F238E27FC236}">
                <a16:creationId xmlns:a16="http://schemas.microsoft.com/office/drawing/2014/main" id="{ED233D7D-AF8F-0F54-4F9F-ED071F5D3617}"/>
              </a:ext>
            </a:extLst>
          </p:cNvPr>
          <p:cNvSpPr/>
          <p:nvPr/>
        </p:nvSpPr>
        <p:spPr>
          <a:xfrm>
            <a:off x="1505640" y="3794955"/>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2" name="Group 21">
            <a:extLst>
              <a:ext uri="{FF2B5EF4-FFF2-40B4-BE49-F238E27FC236}">
                <a16:creationId xmlns:a16="http://schemas.microsoft.com/office/drawing/2014/main" id="{B5FA081E-1693-1419-EFDD-A9641DB3245B}"/>
              </a:ext>
            </a:extLst>
          </p:cNvPr>
          <p:cNvGrpSpPr/>
          <p:nvPr/>
        </p:nvGrpSpPr>
        <p:grpSpPr>
          <a:xfrm>
            <a:off x="0" y="9599693"/>
            <a:ext cx="18287999" cy="687306"/>
            <a:chOff x="0" y="9599693"/>
            <a:chExt cx="18287999" cy="687306"/>
          </a:xfrm>
        </p:grpSpPr>
        <p:grpSp>
          <p:nvGrpSpPr>
            <p:cNvPr id="26" name="Group 11">
              <a:extLst>
                <a:ext uri="{FF2B5EF4-FFF2-40B4-BE49-F238E27FC236}">
                  <a16:creationId xmlns:a16="http://schemas.microsoft.com/office/drawing/2014/main" id="{6DAFECAB-A111-4A9A-52EC-E3D46EFF87B2}"/>
                </a:ext>
              </a:extLst>
            </p:cNvPr>
            <p:cNvGrpSpPr/>
            <p:nvPr/>
          </p:nvGrpSpPr>
          <p:grpSpPr>
            <a:xfrm>
              <a:off x="0" y="9599694"/>
              <a:ext cx="18287999" cy="687305"/>
              <a:chOff x="0" y="0"/>
              <a:chExt cx="5260714" cy="490218"/>
            </a:xfrm>
          </p:grpSpPr>
          <p:sp>
            <p:nvSpPr>
              <p:cNvPr id="32" name="Freeform 12">
                <a:extLst>
                  <a:ext uri="{FF2B5EF4-FFF2-40B4-BE49-F238E27FC236}">
                    <a16:creationId xmlns:a16="http://schemas.microsoft.com/office/drawing/2014/main" id="{58931F15-BDBB-8AB1-B5A8-120DB25ECADD}"/>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4" name="TextBox 13">
                <a:extLst>
                  <a:ext uri="{FF2B5EF4-FFF2-40B4-BE49-F238E27FC236}">
                    <a16:creationId xmlns:a16="http://schemas.microsoft.com/office/drawing/2014/main" id="{8A6AC844-3378-C19B-5A76-AB952FA7F4E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12">
              <a:extLst>
                <a:ext uri="{FF2B5EF4-FFF2-40B4-BE49-F238E27FC236}">
                  <a16:creationId xmlns:a16="http://schemas.microsoft.com/office/drawing/2014/main" id="{4690B143-D489-6B07-2AE0-0B824F77840F}"/>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0" name="TextBox 13">
              <a:extLst>
                <a:ext uri="{FF2B5EF4-FFF2-40B4-BE49-F238E27FC236}">
                  <a16:creationId xmlns:a16="http://schemas.microsoft.com/office/drawing/2014/main" id="{6A68372E-0E7E-A0C1-209D-66899A730C88}"/>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965082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500"/>
                                        <p:tgtEl>
                                          <p:spTgt spid="4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13</a:t>
            </a:r>
          </a:p>
        </p:txBody>
      </p:sp>
      <p:sp>
        <p:nvSpPr>
          <p:cNvPr id="15" name="TextBox 15"/>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 group of ABE students was tasked to determine a specific distance using surveyor’s chain, by which two pegs were used to mark point A and point B. If it required them to use a total of 3 chains and another 4 links to cover entire length, what is the distance between the two points?</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5" name="TextBox 15">
            <a:extLst>
              <a:ext uri="{FF2B5EF4-FFF2-40B4-BE49-F238E27FC236}">
                <a16:creationId xmlns:a16="http://schemas.microsoft.com/office/drawing/2014/main" id="{2A5BB976-AF78-359F-95E5-21690E85E9E7}"/>
              </a:ext>
            </a:extLst>
          </p:cNvPr>
          <p:cNvSpPr txBox="1"/>
          <p:nvPr/>
        </p:nvSpPr>
        <p:spPr>
          <a:xfrm>
            <a:off x="6218704" y="3690190"/>
            <a:ext cx="5287496" cy="2092561"/>
          </a:xfrm>
          <a:prstGeom prst="rect">
            <a:avLst/>
          </a:prstGeom>
        </p:spPr>
        <p:txBody>
          <a:bodyPr wrap="square" lIns="0" tIns="0" rIns="0" bIns="0" rtlCol="0" anchor="t">
            <a:spAutoFit/>
          </a:bodyPr>
          <a:lstStyle/>
          <a:p>
            <a:pPr algn="just">
              <a:lnSpc>
                <a:spcPct val="150000"/>
              </a:lnSpc>
            </a:pPr>
            <a:r>
              <a:rPr lang="en-US" sz="2000" b="1" u="sng" dirty="0">
                <a:solidFill>
                  <a:srgbClr val="000000"/>
                </a:solidFill>
                <a:latin typeface="Nunito 1" panose="020B0604020202020204" charset="0"/>
                <a:ea typeface="Nunito 1 Bold"/>
                <a:cs typeface="Nunito 1 Bold"/>
                <a:sym typeface="Nunito 1 Bold"/>
              </a:rPr>
              <a:t>Solution:</a:t>
            </a:r>
          </a:p>
          <a:p>
            <a:pPr algn="just">
              <a:lnSpc>
                <a:spcPct val="150000"/>
              </a:lnSpc>
            </a:pPr>
            <a:endParaRPr lang="en-US" sz="2000" dirty="0">
              <a:solidFill>
                <a:srgbClr val="000000"/>
              </a:solidFill>
              <a:latin typeface="Nunito 1" panose="020B0604020202020204" charset="0"/>
              <a:ea typeface="Nunito 1 Bold"/>
              <a:cs typeface="Nunito 1 Bold"/>
              <a:sym typeface="Nunito 1 Bold"/>
            </a:endParaRP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Chain length = 66ft ≈ 20m </a:t>
            </a: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Link length = 0.66ft ≈ 0.2m</a:t>
            </a:r>
          </a:p>
          <a:p>
            <a:pPr algn="just">
              <a:lnSpc>
                <a:spcPct val="107000"/>
              </a:lnSpc>
              <a:spcAft>
                <a:spcPts val="800"/>
              </a:spcAft>
            </a:pPr>
            <a:endParaRPr lang="en-US" sz="2000" kern="100" dirty="0">
              <a:latin typeface="Arial" panose="020B0604020202020204" pitchFamily="34" charset="0"/>
              <a:ea typeface="Calibri" panose="020F0502020204030204" pitchFamily="34" charset="0"/>
              <a:cs typeface="Arial" panose="020B0604020202020204" pitchFamily="34" charset="0"/>
            </a:endParaRPr>
          </a:p>
        </p:txBody>
      </p:sp>
      <p:sp>
        <p:nvSpPr>
          <p:cNvPr id="7" name="TextBox 15">
            <a:extLst>
              <a:ext uri="{FF2B5EF4-FFF2-40B4-BE49-F238E27FC236}">
                <a16:creationId xmlns:a16="http://schemas.microsoft.com/office/drawing/2014/main" id="{8CE9E7E3-6227-50E4-4A86-1430BF7E7C99}"/>
              </a:ext>
            </a:extLst>
          </p:cNvPr>
          <p:cNvSpPr txBox="1"/>
          <p:nvPr/>
        </p:nvSpPr>
        <p:spPr>
          <a:xfrm>
            <a:off x="1676400" y="3875927"/>
            <a:ext cx="22860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200m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200.64m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200ft</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200.64ft</a:t>
            </a:r>
          </a:p>
        </p:txBody>
      </p:sp>
      <p:sp>
        <p:nvSpPr>
          <p:cNvPr id="21" name="Oval 20">
            <a:extLst>
              <a:ext uri="{FF2B5EF4-FFF2-40B4-BE49-F238E27FC236}">
                <a16:creationId xmlns:a16="http://schemas.microsoft.com/office/drawing/2014/main" id="{816DA527-B897-1BFD-B023-599AD89FBE3B}"/>
              </a:ext>
            </a:extLst>
          </p:cNvPr>
          <p:cNvSpPr/>
          <p:nvPr/>
        </p:nvSpPr>
        <p:spPr>
          <a:xfrm>
            <a:off x="1505640" y="6000892"/>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22" name="TextBox 15">
            <a:extLst>
              <a:ext uri="{FF2B5EF4-FFF2-40B4-BE49-F238E27FC236}">
                <a16:creationId xmlns:a16="http://schemas.microsoft.com/office/drawing/2014/main" id="{766693F5-B4E1-B2C7-35BD-AE2009381688}"/>
              </a:ext>
            </a:extLst>
          </p:cNvPr>
          <p:cNvSpPr txBox="1"/>
          <p:nvPr/>
        </p:nvSpPr>
        <p:spPr>
          <a:xfrm>
            <a:off x="11739002" y="5907600"/>
            <a:ext cx="5287496" cy="1601144"/>
          </a:xfrm>
          <a:prstGeom prst="rect">
            <a:avLst/>
          </a:prstGeom>
        </p:spPr>
        <p:txBody>
          <a:bodyPr wrap="square" lIns="0" tIns="0" rIns="0" bIns="0" rtlCol="0" anchor="t">
            <a:spAutoFit/>
          </a:bodyPr>
          <a:lstStyle/>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Chain length = 3 chains x 20m/chain = 60m</a:t>
            </a: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Link length = 4 links x 0.2m/link = 0.8m</a:t>
            </a:r>
          </a:p>
          <a:p>
            <a:pPr algn="just">
              <a:lnSpc>
                <a:spcPct val="107000"/>
              </a:lnSpc>
              <a:spcAft>
                <a:spcPts val="800"/>
              </a:spcAft>
            </a:pPr>
            <a:endParaRPr lang="en-US" sz="2000" kern="100" dirty="0">
              <a:latin typeface="Arial" panose="020B0604020202020204" pitchFamily="34" charset="0"/>
              <a:ea typeface="Calibri" panose="020F0502020204030204" pitchFamily="34" charset="0"/>
              <a:cs typeface="Arial" panose="020B0604020202020204" pitchFamily="34" charset="0"/>
            </a:endParaRP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Total length = 60m + 0.8m = 60.8m ≈ 199.42ft</a:t>
            </a:r>
          </a:p>
        </p:txBody>
      </p:sp>
      <p:sp>
        <p:nvSpPr>
          <p:cNvPr id="26" name="Rectangle 25">
            <a:extLst>
              <a:ext uri="{FF2B5EF4-FFF2-40B4-BE49-F238E27FC236}">
                <a16:creationId xmlns:a16="http://schemas.microsoft.com/office/drawing/2014/main" id="{E48853B7-4FA8-FA4C-A9A8-DB8A367E4B29}"/>
              </a:ext>
            </a:extLst>
          </p:cNvPr>
          <p:cNvSpPr/>
          <p:nvPr/>
        </p:nvSpPr>
        <p:spPr>
          <a:xfrm>
            <a:off x="6096000" y="4346358"/>
            <a:ext cx="3716439" cy="122261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29" name="TextBox 15">
            <a:extLst>
              <a:ext uri="{FF2B5EF4-FFF2-40B4-BE49-F238E27FC236}">
                <a16:creationId xmlns:a16="http://schemas.microsoft.com/office/drawing/2014/main" id="{C4426E45-D181-48CC-1875-B7C3AD56B642}"/>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U.S. Geological Survey | https://www.usgs.gov/core-science-systems/ngp/tnm-corps/order-surveyors-chain#:~:text=The%20Surveyor's%20chain%20is%20a,of%20a%20tract%20of%20land.</a:t>
            </a:r>
          </a:p>
        </p:txBody>
      </p:sp>
      <p:sp>
        <p:nvSpPr>
          <p:cNvPr id="30" name="TextBox 15">
            <a:extLst>
              <a:ext uri="{FF2B5EF4-FFF2-40B4-BE49-F238E27FC236}">
                <a16:creationId xmlns:a16="http://schemas.microsoft.com/office/drawing/2014/main" id="{E656F55E-0772-1462-B669-0742C1B34C26}"/>
              </a:ext>
            </a:extLst>
          </p:cNvPr>
          <p:cNvSpPr txBox="1"/>
          <p:nvPr/>
        </p:nvSpPr>
        <p:spPr>
          <a:xfrm>
            <a:off x="6218704" y="5897065"/>
            <a:ext cx="5287496" cy="1601144"/>
          </a:xfrm>
          <a:prstGeom prst="rect">
            <a:avLst/>
          </a:prstGeom>
        </p:spPr>
        <p:txBody>
          <a:bodyPr wrap="square" lIns="0" tIns="0" rIns="0" bIns="0" rtlCol="0" anchor="t">
            <a:spAutoFit/>
          </a:bodyPr>
          <a:lstStyle/>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Chain length = 3 chains x 66ft/chain = 198ft</a:t>
            </a: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Link length = 4 links x 0.66ft/link = 2.64ft</a:t>
            </a:r>
          </a:p>
          <a:p>
            <a:pPr algn="just">
              <a:lnSpc>
                <a:spcPct val="107000"/>
              </a:lnSpc>
              <a:spcAft>
                <a:spcPts val="800"/>
              </a:spcAft>
            </a:pPr>
            <a:endParaRPr lang="en-US" sz="2000" kern="100" dirty="0">
              <a:latin typeface="Arial" panose="020B0604020202020204" pitchFamily="34" charset="0"/>
              <a:ea typeface="Calibri" panose="020F0502020204030204" pitchFamily="34" charset="0"/>
              <a:cs typeface="Arial" panose="020B0604020202020204" pitchFamily="34" charset="0"/>
            </a:endParaRPr>
          </a:p>
          <a:p>
            <a:pPr algn="just">
              <a:lnSpc>
                <a:spcPct val="107000"/>
              </a:lnSpc>
              <a:spcAft>
                <a:spcPts val="800"/>
              </a:spcAft>
            </a:pPr>
            <a:r>
              <a:rPr lang="en-US" sz="2000" kern="100" dirty="0">
                <a:latin typeface="Arial" panose="020B0604020202020204" pitchFamily="34" charset="0"/>
                <a:ea typeface="Calibri" panose="020F0502020204030204" pitchFamily="34" charset="0"/>
                <a:cs typeface="Arial" panose="020B0604020202020204" pitchFamily="34" charset="0"/>
              </a:rPr>
              <a:t>Total length = 198ft + 2.64ft = 200.64ft </a:t>
            </a:r>
          </a:p>
        </p:txBody>
      </p:sp>
      <p:grpSp>
        <p:nvGrpSpPr>
          <p:cNvPr id="6" name="Group 5">
            <a:extLst>
              <a:ext uri="{FF2B5EF4-FFF2-40B4-BE49-F238E27FC236}">
                <a16:creationId xmlns:a16="http://schemas.microsoft.com/office/drawing/2014/main" id="{1CD321BB-D2E5-995E-62FE-23A3BA2D81E9}"/>
              </a:ext>
            </a:extLst>
          </p:cNvPr>
          <p:cNvGrpSpPr/>
          <p:nvPr/>
        </p:nvGrpSpPr>
        <p:grpSpPr>
          <a:xfrm>
            <a:off x="0" y="9599693"/>
            <a:ext cx="18287999" cy="687306"/>
            <a:chOff x="0" y="9599693"/>
            <a:chExt cx="18287999" cy="687306"/>
          </a:xfrm>
        </p:grpSpPr>
        <p:grpSp>
          <p:nvGrpSpPr>
            <p:cNvPr id="27" name="Group 11">
              <a:extLst>
                <a:ext uri="{FF2B5EF4-FFF2-40B4-BE49-F238E27FC236}">
                  <a16:creationId xmlns:a16="http://schemas.microsoft.com/office/drawing/2014/main" id="{D84F1026-184E-1726-D942-5DE574829E6E}"/>
                </a:ext>
              </a:extLst>
            </p:cNvPr>
            <p:cNvGrpSpPr/>
            <p:nvPr/>
          </p:nvGrpSpPr>
          <p:grpSpPr>
            <a:xfrm>
              <a:off x="0" y="9599694"/>
              <a:ext cx="18287999" cy="687305"/>
              <a:chOff x="0" y="0"/>
              <a:chExt cx="5260714" cy="490218"/>
            </a:xfrm>
          </p:grpSpPr>
          <p:sp>
            <p:nvSpPr>
              <p:cNvPr id="32" name="Freeform 12">
                <a:extLst>
                  <a:ext uri="{FF2B5EF4-FFF2-40B4-BE49-F238E27FC236}">
                    <a16:creationId xmlns:a16="http://schemas.microsoft.com/office/drawing/2014/main" id="{E13E69EF-B847-67AE-67F5-BAE381EDCE1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3" name="TextBox 13">
                <a:extLst>
                  <a:ext uri="{FF2B5EF4-FFF2-40B4-BE49-F238E27FC236}">
                    <a16:creationId xmlns:a16="http://schemas.microsoft.com/office/drawing/2014/main" id="{7BDCD945-8E71-FB43-D1D9-8A41458740D8}"/>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8" name="TextBox 12">
              <a:extLst>
                <a:ext uri="{FF2B5EF4-FFF2-40B4-BE49-F238E27FC236}">
                  <a16:creationId xmlns:a16="http://schemas.microsoft.com/office/drawing/2014/main" id="{1CAB86D2-3EAE-5248-FBBD-141A76DA50E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1" name="TextBox 13">
              <a:extLst>
                <a:ext uri="{FF2B5EF4-FFF2-40B4-BE49-F238E27FC236}">
                  <a16:creationId xmlns:a16="http://schemas.microsoft.com/office/drawing/2014/main" id="{4246E90D-7E4B-2584-7CB8-ED9600252372}"/>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42614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1" grpId="0" animBg="1"/>
      <p:bldP spid="22" grpId="0"/>
      <p:bldP spid="26" grpId="0" animBg="1"/>
      <p:bldP spid="30"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14</a:t>
            </a:r>
          </a:p>
        </p:txBody>
      </p:sp>
      <p:sp>
        <p:nvSpPr>
          <p:cNvPr id="15" name="TextBox 15"/>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of the following statements are true?</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3394176"/>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 contour line is a line drawn on a topographic map to indicate ground elevation or depression.</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 contour interval is the vertical distance or difference in elevation between contour lines.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Index contours are bold or thicker lines that appear at every fifth contour line.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err="1">
                <a:solidFill>
                  <a:srgbClr val="000000"/>
                </a:solidFill>
                <a:latin typeface="Nunito 1" panose="020B0604020202020204" charset="0"/>
                <a:ea typeface="Nunito 1 Bold"/>
                <a:cs typeface="Nunito 1 Bold"/>
                <a:sym typeface="Nunito 1 Bold"/>
              </a:rPr>
              <a:t>AOTA</a:t>
            </a:r>
            <a:endParaRPr lang="en-US" sz="2400" dirty="0">
              <a:solidFill>
                <a:srgbClr val="000000"/>
              </a:solidFill>
              <a:latin typeface="Nunito 1" panose="020B0604020202020204" charset="0"/>
              <a:ea typeface="Nunito 1 Bold"/>
              <a:cs typeface="Nunito 1 Bold"/>
              <a:sym typeface="Nunito 1 Bold"/>
            </a:endParaRPr>
          </a:p>
        </p:txBody>
      </p:sp>
      <p:sp>
        <p:nvSpPr>
          <p:cNvPr id="22" name="Oval 21">
            <a:extLst>
              <a:ext uri="{FF2B5EF4-FFF2-40B4-BE49-F238E27FC236}">
                <a16:creationId xmlns:a16="http://schemas.microsoft.com/office/drawing/2014/main" id="{C16DF3DE-3062-D00D-FC1F-F2CCEDA706F7}"/>
              </a:ext>
            </a:extLst>
          </p:cNvPr>
          <p:cNvSpPr/>
          <p:nvPr/>
        </p:nvSpPr>
        <p:spPr>
          <a:xfrm>
            <a:off x="1517070" y="550356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pic>
        <p:nvPicPr>
          <p:cNvPr id="3074" name="Picture 2" descr="What is the contour interval between the two index contours? Group of  answer choices 100 ft 100 m 20 ft - brainly.com">
            <a:extLst>
              <a:ext uri="{FF2B5EF4-FFF2-40B4-BE49-F238E27FC236}">
                <a16:creationId xmlns:a16="http://schemas.microsoft.com/office/drawing/2014/main" id="{EB5A6861-3FAF-2376-DA3F-F093E01C4F6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5859"/>
          <a:stretch/>
        </p:blipFill>
        <p:spPr bwMode="auto">
          <a:xfrm>
            <a:off x="6891337" y="5714317"/>
            <a:ext cx="3590925" cy="260469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15">
            <a:extLst>
              <a:ext uri="{FF2B5EF4-FFF2-40B4-BE49-F238E27FC236}">
                <a16:creationId xmlns:a16="http://schemas.microsoft.com/office/drawing/2014/main" id="{87CC469E-9C34-8B68-1396-65BC3F4681AB}"/>
              </a:ext>
            </a:extLst>
          </p:cNvPr>
          <p:cNvSpPr txBox="1"/>
          <p:nvPr/>
        </p:nvSpPr>
        <p:spPr>
          <a:xfrm>
            <a:off x="10820399" y="5926975"/>
            <a:ext cx="6438899"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All lines are contour lines.</a:t>
            </a:r>
          </a:p>
        </p:txBody>
      </p:sp>
      <p:sp>
        <p:nvSpPr>
          <p:cNvPr id="6" name="TextBox 15">
            <a:extLst>
              <a:ext uri="{FF2B5EF4-FFF2-40B4-BE49-F238E27FC236}">
                <a16:creationId xmlns:a16="http://schemas.microsoft.com/office/drawing/2014/main" id="{422A7732-65E8-EC1E-5AF4-529F7A0C91D2}"/>
              </a:ext>
            </a:extLst>
          </p:cNvPr>
          <p:cNvSpPr txBox="1"/>
          <p:nvPr/>
        </p:nvSpPr>
        <p:spPr>
          <a:xfrm>
            <a:off x="10820399" y="6659664"/>
            <a:ext cx="6438899"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The bold lines are the index contours.</a:t>
            </a:r>
          </a:p>
        </p:txBody>
      </p:sp>
      <p:sp>
        <p:nvSpPr>
          <p:cNvPr id="7" name="TextBox 15">
            <a:extLst>
              <a:ext uri="{FF2B5EF4-FFF2-40B4-BE49-F238E27FC236}">
                <a16:creationId xmlns:a16="http://schemas.microsoft.com/office/drawing/2014/main" id="{4AA650AC-52DF-225E-6BE4-3E9280B51EBC}"/>
              </a:ext>
            </a:extLst>
          </p:cNvPr>
          <p:cNvSpPr txBox="1"/>
          <p:nvPr/>
        </p:nvSpPr>
        <p:spPr>
          <a:xfrm>
            <a:off x="10820399" y="7386379"/>
            <a:ext cx="6438899"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The interval is 20.</a:t>
            </a:r>
          </a:p>
        </p:txBody>
      </p:sp>
      <p:grpSp>
        <p:nvGrpSpPr>
          <p:cNvPr id="27" name="Group 26">
            <a:extLst>
              <a:ext uri="{FF2B5EF4-FFF2-40B4-BE49-F238E27FC236}">
                <a16:creationId xmlns:a16="http://schemas.microsoft.com/office/drawing/2014/main" id="{FF03D2C8-B7A0-2D7A-3CE2-7D8E2ABD849C}"/>
              </a:ext>
            </a:extLst>
          </p:cNvPr>
          <p:cNvGrpSpPr/>
          <p:nvPr/>
        </p:nvGrpSpPr>
        <p:grpSpPr>
          <a:xfrm>
            <a:off x="0" y="9599693"/>
            <a:ext cx="18287999" cy="687306"/>
            <a:chOff x="0" y="9599693"/>
            <a:chExt cx="18287999" cy="687306"/>
          </a:xfrm>
        </p:grpSpPr>
        <p:grpSp>
          <p:nvGrpSpPr>
            <p:cNvPr id="28" name="Group 11">
              <a:extLst>
                <a:ext uri="{FF2B5EF4-FFF2-40B4-BE49-F238E27FC236}">
                  <a16:creationId xmlns:a16="http://schemas.microsoft.com/office/drawing/2014/main" id="{832C27FB-79B9-9BC8-B819-360799BBD1F3}"/>
                </a:ext>
              </a:extLst>
            </p:cNvPr>
            <p:cNvGrpSpPr/>
            <p:nvPr/>
          </p:nvGrpSpPr>
          <p:grpSpPr>
            <a:xfrm>
              <a:off x="0" y="9599694"/>
              <a:ext cx="18287999" cy="687305"/>
              <a:chOff x="0" y="0"/>
              <a:chExt cx="5260714" cy="490218"/>
            </a:xfrm>
          </p:grpSpPr>
          <p:sp>
            <p:nvSpPr>
              <p:cNvPr id="31" name="Freeform 12">
                <a:extLst>
                  <a:ext uri="{FF2B5EF4-FFF2-40B4-BE49-F238E27FC236}">
                    <a16:creationId xmlns:a16="http://schemas.microsoft.com/office/drawing/2014/main" id="{FBE80EBB-1E68-FB27-6F22-DD58D262C9C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2" name="TextBox 13">
                <a:extLst>
                  <a:ext uri="{FF2B5EF4-FFF2-40B4-BE49-F238E27FC236}">
                    <a16:creationId xmlns:a16="http://schemas.microsoft.com/office/drawing/2014/main" id="{CC540B83-6F86-5B91-D7F9-C06B0586259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12">
              <a:extLst>
                <a:ext uri="{FF2B5EF4-FFF2-40B4-BE49-F238E27FC236}">
                  <a16:creationId xmlns:a16="http://schemas.microsoft.com/office/drawing/2014/main" id="{87336B16-371E-45BB-36F9-69A06377817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30" name="TextBox 13">
              <a:extLst>
                <a:ext uri="{FF2B5EF4-FFF2-40B4-BE49-F238E27FC236}">
                  <a16:creationId xmlns:a16="http://schemas.microsoft.com/office/drawing/2014/main" id="{07D4B45A-F7C7-2D26-9178-33C99482A099}"/>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054366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74"/>
                                        </p:tgtEl>
                                        <p:attrNameLst>
                                          <p:attrName>style.visibility</p:attrName>
                                        </p:attrNameLst>
                                      </p:cBhvr>
                                      <p:to>
                                        <p:strVal val="visible"/>
                                      </p:to>
                                    </p:set>
                                    <p:animEffect transition="in" filter="fade">
                                      <p:cBhvr>
                                        <p:cTn id="12" dur="500"/>
                                        <p:tgtEl>
                                          <p:spTgt spid="307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 grpId="0"/>
      <p:bldP spid="6" grpId="0"/>
      <p:bldP spid="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40595-36BE-7742-A78A-6BFD1CAFA873}"/>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F423AB7D-DF17-CF6B-78D0-C526894048FF}"/>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94F1A743-6021-C6EA-3EC9-6809CC7045E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9559D364-4604-B9FD-E6FF-2C56BF59A075}"/>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5FEC24E8-3285-1133-C6F7-27BB35CF7ECE}"/>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D652ACF0-46E9-3EE1-73E5-0E7E94F06552}"/>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3BE96F9D-3B11-6187-2207-17FE300A0FF6}"/>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D4287D46-FA1C-56BA-0D07-1D825D1A29D7}"/>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FF0198B8-EFA9-155D-2BF2-D4A53E1A0C80}"/>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A2148182-2E0B-BB18-AFCD-317637D716C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42D5975E-FD59-2F06-D6D2-121B01BF2EDC}"/>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6BA872E5-FDA7-32B4-9139-BEDCEC43B18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A6F4654C-22D0-EEB6-6313-07B288FD828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20BBD4D3-F032-EAF6-BF06-BC62DFFD133A}"/>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of the following statements are true?</a:t>
            </a:r>
          </a:p>
        </p:txBody>
      </p:sp>
      <p:sp>
        <p:nvSpPr>
          <p:cNvPr id="19" name="TextBox 12">
            <a:extLst>
              <a:ext uri="{FF2B5EF4-FFF2-40B4-BE49-F238E27FC236}">
                <a16:creationId xmlns:a16="http://schemas.microsoft.com/office/drawing/2014/main" id="{6AABE828-31BE-59B2-D187-216A664F4D0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E33A69DE-97A6-BD38-BF53-5BB9621BCC2C}"/>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1C8A0C87-A11A-4363-9F16-84D63B26AD93}"/>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4D35558D-0826-FC90-F1F4-E3801CEFB99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FCE06776-B49F-94CC-CC83-86143B152DE8}"/>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777746DA-9CA2-4F58-0E11-D02781BF8852}"/>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pic>
        <p:nvPicPr>
          <p:cNvPr id="28" name="Picture 27">
            <a:extLst>
              <a:ext uri="{FF2B5EF4-FFF2-40B4-BE49-F238E27FC236}">
                <a16:creationId xmlns:a16="http://schemas.microsoft.com/office/drawing/2014/main" id="{85F05AE2-F9B3-FF36-CC66-761CA430468E}"/>
              </a:ext>
            </a:extLst>
          </p:cNvPr>
          <p:cNvPicPr>
            <a:picLocks noChangeAspect="1"/>
          </p:cNvPicPr>
          <p:nvPr/>
        </p:nvPicPr>
        <p:blipFill>
          <a:blip r:embed="rId3"/>
          <a:stretch>
            <a:fillRect/>
          </a:stretch>
        </p:blipFill>
        <p:spPr>
          <a:xfrm>
            <a:off x="5715000" y="1888216"/>
            <a:ext cx="6858000" cy="6510568"/>
          </a:xfrm>
          <a:prstGeom prst="rect">
            <a:avLst/>
          </a:prstGeom>
        </p:spPr>
      </p:pic>
      <p:grpSp>
        <p:nvGrpSpPr>
          <p:cNvPr id="5" name="Group 4">
            <a:extLst>
              <a:ext uri="{FF2B5EF4-FFF2-40B4-BE49-F238E27FC236}">
                <a16:creationId xmlns:a16="http://schemas.microsoft.com/office/drawing/2014/main" id="{988420C4-A688-4CBC-0297-E1ADDE287F93}"/>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C0A82AD6-186A-FB85-8585-5910D8E0A5F5}"/>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C7ADD9BA-E083-6F44-2621-8F4D98066D8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C04A2D13-5372-DDEC-2E4B-A65C0A51567F}"/>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3F82F61A-2A84-2FDE-89E8-D08714B8A02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552B63FA-777E-075A-62C6-717BA99B4111}"/>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0621661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D017D-8CA6-CBD2-E480-CCE53B4ADD65}"/>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3B119FF4-EFF5-63F0-FBDF-AA48966664E8}"/>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687BE8A5-B149-83DB-325A-E8371B4B2D75}"/>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92F391E2-FD6F-142F-A815-23856E304EB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ACCBEAFD-3D0C-55A9-17EC-B4AED61A8608}"/>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9BABD537-5045-80A2-2859-C6FEF45F219B}"/>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E03997D9-5C8B-D465-2EA5-8DC338216214}"/>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750B582F-0ADD-C215-BD4D-399D1D14CEBF}"/>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FD0D0A71-FCB5-26F5-853B-48C60A90FB8A}"/>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91FC302A-5440-4221-24EB-FFE8C19E7BC1}"/>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0F490E5C-71AB-9F44-B8EE-98E42611D2D4}"/>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2AC3820F-2365-2B89-AE34-DC5ADD1EE30A}"/>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11E7684C-CB4C-A00D-39A6-95F3F609A9C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794C828C-EA65-B146-4A8F-AB7D7B308E0D}"/>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15</a:t>
            </a:r>
          </a:p>
        </p:txBody>
      </p:sp>
      <p:sp>
        <p:nvSpPr>
          <p:cNvPr id="15" name="TextBox 15">
            <a:extLst>
              <a:ext uri="{FF2B5EF4-FFF2-40B4-BE49-F238E27FC236}">
                <a16:creationId xmlns:a16="http://schemas.microsoft.com/office/drawing/2014/main" id="{5062ED99-B02C-8623-FB1C-5EE044C59E41}"/>
              </a:ext>
            </a:extLst>
          </p:cNvPr>
          <p:cNvSpPr txBox="1"/>
          <p:nvPr/>
        </p:nvSpPr>
        <p:spPr>
          <a:xfrm>
            <a:off x="2246041" y="2025065"/>
            <a:ext cx="13795916" cy="738664"/>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When contour lines form a closed figure with lowest elevation in the center, the topographic map indicates?</a:t>
            </a:r>
          </a:p>
        </p:txBody>
      </p:sp>
      <p:sp>
        <p:nvSpPr>
          <p:cNvPr id="19" name="TextBox 12">
            <a:extLst>
              <a:ext uri="{FF2B5EF4-FFF2-40B4-BE49-F238E27FC236}">
                <a16:creationId xmlns:a16="http://schemas.microsoft.com/office/drawing/2014/main" id="{AB788D01-4314-1D96-3CA4-3A2C2885EE7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FCA47F7D-E154-3BFC-8D4C-154634E58571}"/>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63807C88-B37F-1506-2555-1D4E6F4DB092}"/>
              </a:ext>
            </a:extLst>
          </p:cNvPr>
          <p:cNvSpPr txBox="1"/>
          <p:nvPr/>
        </p:nvSpPr>
        <p:spPr>
          <a:xfrm>
            <a:off x="1676400" y="3394176"/>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Mound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Valley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River</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Depression</a:t>
            </a:r>
          </a:p>
        </p:txBody>
      </p:sp>
      <p:sp>
        <p:nvSpPr>
          <p:cNvPr id="22" name="Oval 21">
            <a:extLst>
              <a:ext uri="{FF2B5EF4-FFF2-40B4-BE49-F238E27FC236}">
                <a16:creationId xmlns:a16="http://schemas.microsoft.com/office/drawing/2014/main" id="{B816B36F-560E-4D9D-B4B5-F2B343A17415}"/>
              </a:ext>
            </a:extLst>
          </p:cNvPr>
          <p:cNvSpPr/>
          <p:nvPr/>
        </p:nvSpPr>
        <p:spPr>
          <a:xfrm>
            <a:off x="1517070" y="550356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85B86C40-D81C-2740-F74C-FA67CC6201CD}"/>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80EE8593-69E2-31C7-8CFB-8918AACDD97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C1A717A6-B0A6-1CE9-447C-9829C6F0356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C6C1CE09-63BC-2092-836F-B0112721ED3B}"/>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grpSp>
        <p:nvGrpSpPr>
          <p:cNvPr id="5" name="Group 4">
            <a:extLst>
              <a:ext uri="{FF2B5EF4-FFF2-40B4-BE49-F238E27FC236}">
                <a16:creationId xmlns:a16="http://schemas.microsoft.com/office/drawing/2014/main" id="{632D0C71-CC83-15C4-9835-CBC1073A378E}"/>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7332FAE2-AA92-8637-A0F5-51031F4CB972}"/>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E060E26F-1244-43BA-142F-CB67EC2A388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14153151-6A95-8B8A-3135-1FAEDEFF1C3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A4DE15EB-4D77-F99B-7CEE-BC046BE7BF5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7ED55D05-F635-15EC-C1CB-4A4977879810}"/>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981170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4B345-CD95-12AC-B144-52CC1E8C6145}"/>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A36400AA-05B6-383B-171C-82D898191129}"/>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75D85AE7-283C-E2D2-96FF-8EB5D703C9C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A40692D-61B4-5C0C-1ED5-959840014F61}"/>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0370F734-4864-E123-B46E-9F03AA4668E6}"/>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CAA20B9B-2F2D-6299-3C9C-99137560F198}"/>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8492C664-E8BE-8F31-D6D8-4F943840FF29}"/>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606DCC9E-3F86-6FB6-3F13-85F3B05B108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52CE346F-F181-7EBE-AE07-2AD9383012B0}"/>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52AB989-CA49-1D68-570D-404491BB1234}"/>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08A45A83-41CB-7D03-106C-271D0561A53C}"/>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D54B7251-E78A-BA71-ABDA-E7BC58A4A4E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AF82226B-0255-703C-CB87-D9CB8602211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7628695E-B4DA-A5FE-E73B-F9CBBB36596A}"/>
              </a:ext>
            </a:extLst>
          </p:cNvPr>
          <p:cNvSpPr txBox="1"/>
          <p:nvPr/>
        </p:nvSpPr>
        <p:spPr>
          <a:xfrm>
            <a:off x="2246041" y="1049222"/>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Drawing Contour Maps</a:t>
            </a:r>
          </a:p>
        </p:txBody>
      </p:sp>
      <p:sp>
        <p:nvSpPr>
          <p:cNvPr id="19" name="TextBox 12">
            <a:extLst>
              <a:ext uri="{FF2B5EF4-FFF2-40B4-BE49-F238E27FC236}">
                <a16:creationId xmlns:a16="http://schemas.microsoft.com/office/drawing/2014/main" id="{DCCAAC16-4521-103D-E6E0-9004E7AEEC1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E8099345-BEB3-5176-4191-DAF24402AB12}"/>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E3BB9F30-1FD2-3919-C7F7-2A0B547A3BD3}"/>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B7881654-4E60-C4B6-185F-1532FA3B6E3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559A567F-BA26-D239-2F6D-CFD5EFA68F7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F83D2818-B466-218E-278A-FF709B24B000}"/>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pic>
        <p:nvPicPr>
          <p:cNvPr id="33" name="Picture 4" descr="How to read contour lines on topographic maps : r/coolguides">
            <a:extLst>
              <a:ext uri="{FF2B5EF4-FFF2-40B4-BE49-F238E27FC236}">
                <a16:creationId xmlns:a16="http://schemas.microsoft.com/office/drawing/2014/main" id="{B1C90817-032D-2914-C87C-A8D7C4AD242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490" t="4814" r="1805" b="78890"/>
          <a:stretch/>
        </p:blipFill>
        <p:spPr bwMode="auto">
          <a:xfrm>
            <a:off x="5377935" y="3223204"/>
            <a:ext cx="7533063" cy="330385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8987123B-4B8E-AEB7-3313-6CFE0F73AEF5}"/>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B3D65BBF-CFD5-7C73-B636-8842AF7BCF81}"/>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746E1153-B090-CA48-AAD8-A4ADA064AEB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FA1714E8-7A61-4997-3E57-27AF76DBA8E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9F5FFA2B-DB30-D5B2-6BF0-99A32B89AC7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5FFAF55C-4634-B5B5-5A94-BBA44E5CC525}"/>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2155666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10B69-CBB9-BB1A-C5EF-12C1E9886C5D}"/>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1F9F2331-B455-8BAE-AED5-0A4053408627}"/>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89E65B8D-4844-5C30-4871-4CA3FE366E3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8B551AB3-26E6-6FCB-6565-2879202E1E7D}"/>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CA65A6E6-C0BB-13C6-F446-3544F990CC2D}"/>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7ECEE79C-981F-155F-0F56-82C091ED8BA9}"/>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7A87E7AD-050C-2C77-8786-16B6B721625E}"/>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B3B97A57-B4F4-5AEF-3907-02B08F947FD7}"/>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4BC15E13-38BA-D0A2-A7C5-0F45657DD631}"/>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224AA0BB-84B6-027C-1B5C-210429DE03AB}"/>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DBCE0160-5A26-7D32-7FC6-5548C8A13FD4}"/>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5888FE42-E756-42FF-75A4-0634FC973EC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54E64567-706C-D80D-BCF3-DD43969DF2A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7DCFBB28-D2A5-EF6E-D0E5-A58BA5DE60FA}"/>
              </a:ext>
            </a:extLst>
          </p:cNvPr>
          <p:cNvSpPr txBox="1"/>
          <p:nvPr/>
        </p:nvSpPr>
        <p:spPr>
          <a:xfrm>
            <a:off x="2246041" y="1049222"/>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Drawing Contour Maps</a:t>
            </a:r>
          </a:p>
        </p:txBody>
      </p:sp>
      <p:sp>
        <p:nvSpPr>
          <p:cNvPr id="19" name="TextBox 12">
            <a:extLst>
              <a:ext uri="{FF2B5EF4-FFF2-40B4-BE49-F238E27FC236}">
                <a16:creationId xmlns:a16="http://schemas.microsoft.com/office/drawing/2014/main" id="{510BF8EF-ECB8-4569-3B14-7DAF8D821520}"/>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7EEB2A8C-F281-18ED-6969-9F3626C69A48}"/>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451AD845-5539-DE23-AA6A-2E4CFC879163}"/>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04924DFD-62B0-DAC3-A7C8-D662E151A45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BC29F60B-3DC6-5F76-9BC2-1D9F674C385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ADE23950-69A4-B187-A0FB-FD94F6D0AC4E}"/>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pic>
        <p:nvPicPr>
          <p:cNvPr id="33" name="Picture 4" descr="How to read contour lines on topographic maps : r/coolguides">
            <a:extLst>
              <a:ext uri="{FF2B5EF4-FFF2-40B4-BE49-F238E27FC236}">
                <a16:creationId xmlns:a16="http://schemas.microsoft.com/office/drawing/2014/main" id="{49432426-5D26-F69A-5D86-F126B75FCFC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490" t="4814" r="1805" b="78890"/>
          <a:stretch/>
        </p:blipFill>
        <p:spPr bwMode="auto">
          <a:xfrm>
            <a:off x="5377935" y="5111514"/>
            <a:ext cx="7533063" cy="3303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read contour lines on topographic maps : r/coolguides">
            <a:extLst>
              <a:ext uri="{FF2B5EF4-FFF2-40B4-BE49-F238E27FC236}">
                <a16:creationId xmlns:a16="http://schemas.microsoft.com/office/drawing/2014/main" id="{C420F551-2845-7C08-467F-3094E358C4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295" t="4814" r="50000" b="78890"/>
          <a:stretch/>
        </p:blipFill>
        <p:spPr bwMode="auto">
          <a:xfrm>
            <a:off x="5377467" y="2030870"/>
            <a:ext cx="7533063" cy="330385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701354EF-4E97-ECCA-A0B4-F33DCB2FCFE0}"/>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53A4C3A4-1416-CFA9-AD2A-6140A71FF2F5}"/>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5DA554DA-1A33-C15D-7092-6C0649F95D1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49D3C720-8C2B-D3C1-F357-721000E844F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859981A8-22FE-F0A8-CF44-6D887A5DD93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F55506D3-F3F0-9F9E-7737-59841B2C4D36}"/>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084030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16</a:t>
            </a:r>
          </a:p>
        </p:txBody>
      </p:sp>
      <p:sp>
        <p:nvSpPr>
          <p:cNvPr id="15" name="TextBox 15"/>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of the following is a purpose of ‘levelling’?</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860581"/>
            <a:ext cx="14935200" cy="4801314"/>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 construction, levelling establishes the correct height and alignment of buildings, roads, and other infrastructure. It is also used to ensure that the ground is levelled even before laying the foundation for a building.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 engineering, levelling is used to determine the slope of a pipeline or drainage system to ensure that it functions correctly.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 architecture, levelling ensures that floors, ceilings, and walls are level and even.</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 land surveying, levelling is used to measure and map the contours of the land, which is crucial for planning and development purposes.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err="1">
                <a:solidFill>
                  <a:srgbClr val="000000"/>
                </a:solidFill>
                <a:latin typeface="Nunito 1" panose="020B0604020202020204" charset="0"/>
                <a:ea typeface="Nunito 1 Bold"/>
                <a:cs typeface="Nunito 1 Bold"/>
                <a:sym typeface="Nunito 1 Bold"/>
              </a:rPr>
              <a:t>AOTA</a:t>
            </a:r>
            <a:endParaRPr lang="en-US" sz="2400" dirty="0">
              <a:solidFill>
                <a:srgbClr val="000000"/>
              </a:solidFill>
              <a:latin typeface="Nunito 1" panose="020B0604020202020204" charset="0"/>
              <a:ea typeface="Nunito 1 Bold"/>
              <a:cs typeface="Nunito 1 Bold"/>
              <a:sym typeface="Nunito 1 Bold"/>
            </a:endParaRPr>
          </a:p>
        </p:txBody>
      </p:sp>
      <p:sp>
        <p:nvSpPr>
          <p:cNvPr id="22" name="Oval 21">
            <a:extLst>
              <a:ext uri="{FF2B5EF4-FFF2-40B4-BE49-F238E27FC236}">
                <a16:creationId xmlns:a16="http://schemas.microsoft.com/office/drawing/2014/main" id="{C16DF3DE-3062-D00D-FC1F-F2CCEDA706F7}"/>
              </a:ext>
            </a:extLst>
          </p:cNvPr>
          <p:cNvSpPr/>
          <p:nvPr/>
        </p:nvSpPr>
        <p:spPr>
          <a:xfrm>
            <a:off x="1517070" y="7182999"/>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grpSp>
        <p:nvGrpSpPr>
          <p:cNvPr id="5" name="Group 4">
            <a:extLst>
              <a:ext uri="{FF2B5EF4-FFF2-40B4-BE49-F238E27FC236}">
                <a16:creationId xmlns:a16="http://schemas.microsoft.com/office/drawing/2014/main" id="{7B38DA95-6C6A-9633-E9CA-89BC382AC6ED}"/>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21947721-0EBD-8675-9C11-2018D465F773}"/>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1ADD4A9C-734E-3E86-4E85-B01A7852100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857A3585-65EE-A231-FE71-BED2B70FB46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29F09C65-8057-F39E-AD73-C55C926CE82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16DF9C77-D7F0-C776-67EE-0424DD17EEFD}"/>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736239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Levelling </a:t>
            </a:r>
            <a:r>
              <a:rPr lang="en-US" sz="2400" dirty="0">
                <a:solidFill>
                  <a:srgbClr val="000000"/>
                </a:solidFill>
                <a:latin typeface="Nunito 1" panose="020B0604020202020204" charset="0"/>
                <a:ea typeface="Nunito 1 Bold"/>
                <a:cs typeface="Nunito 1 Bold"/>
                <a:sym typeface="Nunito 1 Bold"/>
              </a:rPr>
              <a:t>is the process by which elevations of points or differences in elevation are determined.</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860581"/>
            <a:ext cx="14935200" cy="6278642"/>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Direct levelling – most commonly used method; measurements are observed directly from leveling instrument.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Barometric levelling – based on the difference in atmospheric pressure due to difference in elevation of two sites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Trigonometric levelling – elevation of the points is calculated from their vertical angles and measured horizontal distances. </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Simple levelling - used for determining the difference of elevations of two points which are visible from a single position of the instrument.</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Differential levelling - performed when the distance between two points is more. In this process, number of inter stations are located and instrument is shifted to each station and observed the elevation of inter station points. Finally, the difference between original two points is determined.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grpSp>
        <p:nvGrpSpPr>
          <p:cNvPr id="5" name="Group 4">
            <a:extLst>
              <a:ext uri="{FF2B5EF4-FFF2-40B4-BE49-F238E27FC236}">
                <a16:creationId xmlns:a16="http://schemas.microsoft.com/office/drawing/2014/main" id="{74C3BE9F-E5AB-4BED-6241-7B76D876B486}"/>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2F31242E-83C2-F357-1FD7-14ADC379DFF2}"/>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FEE54E3E-33BE-240D-3F9D-71BA2E4284F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651B387C-2387-E889-E356-28088F60072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22FB764A-E7EE-1DFB-FA74-753B354DAB8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555E3A79-7AC6-E93B-89D5-F2124A482253}"/>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5911366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5">
            <a:extLst>
              <a:ext uri="{FF2B5EF4-FFF2-40B4-BE49-F238E27FC236}">
                <a16:creationId xmlns:a16="http://schemas.microsoft.com/office/drawing/2014/main" id="{9472F4CC-B267-0ABA-A2B7-D362A26C70BB}"/>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AFCC21F0-EAAD-34B4-7EEC-CEAB0525D84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E245D39-09F3-5526-E2CB-3601C26840F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p:cNvGrpSpPr/>
          <p:nvPr/>
        </p:nvGrpSpPr>
        <p:grpSpPr>
          <a:xfrm>
            <a:off x="-152399" y="-262359"/>
            <a:ext cx="9518720" cy="5354280"/>
            <a:chOff x="0" y="0"/>
            <a:chExt cx="27343100" cy="13716000"/>
          </a:xfrm>
          <a:noFill/>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p:cNvGrpSpPr/>
          <p:nvPr/>
        </p:nvGrpSpPr>
        <p:grpSpPr>
          <a:xfrm>
            <a:off x="5139012" y="847929"/>
            <a:ext cx="8009976" cy="864872"/>
            <a:chOff x="0" y="0"/>
            <a:chExt cx="2109623" cy="455698"/>
          </a:xfrm>
        </p:grpSpPr>
        <p:sp>
          <p:nvSpPr>
            <p:cNvPr id="9" name="Freeform 9"/>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0" y="9599694"/>
            <a:ext cx="18287999" cy="687306"/>
            <a:chOff x="0" y="0"/>
            <a:chExt cx="5260714" cy="490218"/>
          </a:xfrm>
        </p:grpSpPr>
        <p:sp>
          <p:nvSpPr>
            <p:cNvPr id="12" name="Freeform 12"/>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Levelling </a:t>
            </a:r>
            <a:r>
              <a:rPr lang="en-US" sz="2400" dirty="0">
                <a:solidFill>
                  <a:srgbClr val="000000"/>
                </a:solidFill>
                <a:latin typeface="Nunito 1" panose="020B0604020202020204" charset="0"/>
                <a:ea typeface="Nunito 1 Bold"/>
                <a:cs typeface="Nunito 1 Bold"/>
                <a:sym typeface="Nunito 1 Bold"/>
              </a:rPr>
              <a:t>is the process by which elevations of points or differences in elevation are determined.</a:t>
            </a:r>
          </a:p>
        </p:txBody>
      </p:sp>
      <p:sp>
        <p:nvSpPr>
          <p:cNvPr id="19" name="TextBox 12">
            <a:extLst>
              <a:ext uri="{FF2B5EF4-FFF2-40B4-BE49-F238E27FC236}">
                <a16:creationId xmlns:a16="http://schemas.microsoft.com/office/drawing/2014/main" id="{B9668538-DD20-BCC2-F3A9-5041BDC9BBE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D631758-831D-FDAC-170D-5F56A02D08F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1" name="TextBox 15">
            <a:extLst>
              <a:ext uri="{FF2B5EF4-FFF2-40B4-BE49-F238E27FC236}">
                <a16:creationId xmlns:a16="http://schemas.microsoft.com/office/drawing/2014/main" id="{467C18A5-1FC9-F880-355B-D6C6CBD983E7}"/>
              </a:ext>
            </a:extLst>
          </p:cNvPr>
          <p:cNvSpPr txBox="1"/>
          <p:nvPr/>
        </p:nvSpPr>
        <p:spPr>
          <a:xfrm>
            <a:off x="1676400" y="2860581"/>
            <a:ext cx="14935200" cy="4062651"/>
          </a:xfrm>
          <a:prstGeom prst="rect">
            <a:avLst/>
          </a:prstGeom>
        </p:spPr>
        <p:txBody>
          <a:bodyPr wrap="square" lIns="0" tIns="0" rIns="0" bIns="0" rtlCol="0" anchor="t">
            <a:spAutoFit/>
          </a:bodyPr>
          <a:lstStyle/>
          <a:p>
            <a:pPr marL="457200" indent="-457200" algn="just">
              <a:buFont typeface="+mj-lt"/>
              <a:buAutoNum type="alphaLcPeriod" startAt="7"/>
            </a:pPr>
            <a:r>
              <a:rPr lang="en-US" sz="2400" dirty="0">
                <a:solidFill>
                  <a:srgbClr val="000000"/>
                </a:solidFill>
                <a:latin typeface="Nunito 1" panose="020B0604020202020204" charset="0"/>
                <a:ea typeface="Nunito 1 Bold"/>
                <a:cs typeface="Nunito 1 Bold"/>
                <a:sym typeface="Nunito 1 Bold"/>
              </a:rPr>
              <a:t>Reciprocal levelling - readings are taken from both directions between two points in order to reduce errors. It is utilized when a river, pond, or other obstruction prevents the level from being set up between the two places.</a:t>
            </a:r>
          </a:p>
          <a:p>
            <a:pPr marL="457200" indent="-457200" algn="just">
              <a:buFont typeface="+mj-lt"/>
              <a:buAutoNum type="alphaLcPeriod" startAt="7"/>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Font typeface="+mj-lt"/>
              <a:buAutoNum type="alphaLcPeriod" startAt="7"/>
            </a:pPr>
            <a:r>
              <a:rPr lang="en-US" sz="2400" dirty="0">
                <a:solidFill>
                  <a:srgbClr val="000000"/>
                </a:solidFill>
                <a:latin typeface="Nunito 1" panose="020B0604020202020204" charset="0"/>
                <a:ea typeface="Nunito 1 Bold"/>
                <a:cs typeface="Nunito 1 Bold"/>
                <a:sym typeface="Nunito 1 Bold"/>
              </a:rPr>
              <a:t>Fly levelling - type of differential levelling in surveying done to determine approximate elevations of different points. The fly levelling is done where rapidity, but low precision is required.</a:t>
            </a:r>
          </a:p>
          <a:p>
            <a:pPr marL="457200" indent="-457200" algn="just">
              <a:buFont typeface="+mj-lt"/>
              <a:buAutoNum type="alphaLcPeriod" startAt="7"/>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Font typeface="+mj-lt"/>
              <a:buAutoNum type="alphaLcPeriod" startAt="7"/>
            </a:pPr>
            <a:r>
              <a:rPr lang="en-US" sz="2400" dirty="0">
                <a:solidFill>
                  <a:srgbClr val="000000"/>
                </a:solidFill>
                <a:latin typeface="Nunito 1" panose="020B0604020202020204" charset="0"/>
                <a:ea typeface="Nunito 1 Bold"/>
                <a:cs typeface="Nunito 1 Bold"/>
                <a:sym typeface="Nunito 1 Bold"/>
              </a:rPr>
              <a:t>Profile levelling - determining the height of the points at brief, determined intervals along a fixed line, such as the middle of a railway, road, canal, or sewer.</a:t>
            </a:r>
          </a:p>
          <a:p>
            <a:pPr marL="457200" indent="-457200" algn="just">
              <a:buFont typeface="+mj-lt"/>
              <a:buAutoNum type="alphaLcPeriod" startAt="7"/>
            </a:pPr>
            <a:endParaRPr lang="en-US" sz="2400" dirty="0">
              <a:solidFill>
                <a:srgbClr val="000000"/>
              </a:solidFill>
              <a:latin typeface="Nunito 1" panose="020B0604020202020204" charset="0"/>
              <a:ea typeface="Nunito 1 Bold"/>
              <a:cs typeface="Nunito 1 Bold"/>
              <a:sym typeface="Nunito 1 Bold"/>
            </a:endParaRPr>
          </a:p>
          <a:p>
            <a:pPr marL="457200" indent="-457200" algn="just">
              <a:buFont typeface="+mj-lt"/>
              <a:buAutoNum type="alphaLcPeriod" startAt="7"/>
            </a:pPr>
            <a:endParaRPr lang="en-US" sz="2400" dirty="0">
              <a:solidFill>
                <a:srgbClr val="000000"/>
              </a:solidFill>
              <a:latin typeface="Nunito 1" panose="020B0604020202020204" charset="0"/>
              <a:ea typeface="Nunito 1 Bold"/>
              <a:cs typeface="Nunito 1 Bold"/>
              <a:sym typeface="Nunito 1 Bold"/>
            </a:endParaRPr>
          </a:p>
        </p:txBody>
      </p:sp>
      <p:grpSp>
        <p:nvGrpSpPr>
          <p:cNvPr id="23" name="Group 5">
            <a:extLst>
              <a:ext uri="{FF2B5EF4-FFF2-40B4-BE49-F238E27FC236}">
                <a16:creationId xmlns:a16="http://schemas.microsoft.com/office/drawing/2014/main" id="{18185611-A09E-E4E4-BA6B-7660945581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8390AF7-4970-63EE-1125-59C67C1C95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44E4C9C-0562-6DAF-B29D-D383E9ED85E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B3677CD-DD33-D6E8-1845-50C666D0509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grpSp>
        <p:nvGrpSpPr>
          <p:cNvPr id="5" name="Group 4">
            <a:extLst>
              <a:ext uri="{FF2B5EF4-FFF2-40B4-BE49-F238E27FC236}">
                <a16:creationId xmlns:a16="http://schemas.microsoft.com/office/drawing/2014/main" id="{CDE75EA7-0E9E-B4A7-8C92-7F02E0662528}"/>
              </a:ext>
            </a:extLst>
          </p:cNvPr>
          <p:cNvGrpSpPr/>
          <p:nvPr/>
        </p:nvGrpSpPr>
        <p:grpSpPr>
          <a:xfrm>
            <a:off x="0" y="9599693"/>
            <a:ext cx="18287999" cy="687306"/>
            <a:chOff x="0" y="9599693"/>
            <a:chExt cx="18287999" cy="687306"/>
          </a:xfrm>
        </p:grpSpPr>
        <p:grpSp>
          <p:nvGrpSpPr>
            <p:cNvPr id="6" name="Group 11">
              <a:extLst>
                <a:ext uri="{FF2B5EF4-FFF2-40B4-BE49-F238E27FC236}">
                  <a16:creationId xmlns:a16="http://schemas.microsoft.com/office/drawing/2014/main" id="{8637966D-FFA1-A871-46D6-E5D88E1D6001}"/>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CC80AFB4-E806-5F75-DF97-7ED8DCBCCDA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EFF10282-685F-7AF6-DBDC-5A6B14F89F0B}"/>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12">
              <a:extLst>
                <a:ext uri="{FF2B5EF4-FFF2-40B4-BE49-F238E27FC236}">
                  <a16:creationId xmlns:a16="http://schemas.microsoft.com/office/drawing/2014/main" id="{5CCE12D4-9E61-2F29-4A87-ED2887A2A9D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4" name="TextBox 13">
              <a:extLst>
                <a:ext uri="{FF2B5EF4-FFF2-40B4-BE49-F238E27FC236}">
                  <a16:creationId xmlns:a16="http://schemas.microsoft.com/office/drawing/2014/main" id="{07E044AC-933C-0092-8E9F-7CAB3FB4939E}"/>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42221391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9A886-DA73-2A3E-E1CF-B946E326AF84}"/>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6AFE3D56-D78C-64D6-5E79-15357D10B7BA}"/>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9FD7AE3A-BADE-CB52-3538-E2386AA08B7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5967ED91-21C0-FBE4-2560-ED92B09475B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3CC7CC58-87E1-3ACD-5319-1B48121171BD}"/>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ECA34E1F-AC94-68B7-34CD-809C2AF4FD92}"/>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FFC9505E-7070-7C76-357B-F82732A5FC7D}"/>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E78DEF1C-18EF-2B2C-A102-946BC723AE8A}"/>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79106981-9754-9AC5-CE9A-84D1EED40040}"/>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DF50ADBF-9B81-8850-6B29-F2EC6C063252}"/>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D09DD873-7BFB-0F72-0746-CDB453BFAD86}"/>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6B207DB2-70E2-D498-6F3C-A475842D03DC}"/>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7C0D3FD4-B3CE-91A9-05AE-4BE0A9CC108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21D49A75-5956-B37D-3442-8536FB6833F6}"/>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17</a:t>
            </a:r>
          </a:p>
        </p:txBody>
      </p:sp>
      <p:sp>
        <p:nvSpPr>
          <p:cNvPr id="15" name="TextBox 15">
            <a:extLst>
              <a:ext uri="{FF2B5EF4-FFF2-40B4-BE49-F238E27FC236}">
                <a16:creationId xmlns:a16="http://schemas.microsoft.com/office/drawing/2014/main" id="{BC4EA323-91CC-79DD-8575-91F9A622D76F}"/>
              </a:ext>
            </a:extLst>
          </p:cNvPr>
          <p:cNvSpPr txBox="1"/>
          <p:nvPr/>
        </p:nvSpPr>
        <p:spPr>
          <a:xfrm>
            <a:off x="2246041" y="2025065"/>
            <a:ext cx="13795916" cy="738664"/>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This refers to the line of 0° longitude, the starting point for measuring distance both east and west around Earth.</a:t>
            </a:r>
          </a:p>
        </p:txBody>
      </p:sp>
      <p:sp>
        <p:nvSpPr>
          <p:cNvPr id="19" name="TextBox 12">
            <a:extLst>
              <a:ext uri="{FF2B5EF4-FFF2-40B4-BE49-F238E27FC236}">
                <a16:creationId xmlns:a16="http://schemas.microsoft.com/office/drawing/2014/main" id="{1183B03E-7A59-F294-FF64-FAF74A553EE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465CF639-47C3-827B-79A0-D9B0CE528951}"/>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2" name="Oval 21">
            <a:extLst>
              <a:ext uri="{FF2B5EF4-FFF2-40B4-BE49-F238E27FC236}">
                <a16:creationId xmlns:a16="http://schemas.microsoft.com/office/drawing/2014/main" id="{FB2B8D23-23EF-2983-98C3-737F63F5BE81}"/>
              </a:ext>
            </a:extLst>
          </p:cNvPr>
          <p:cNvSpPr/>
          <p:nvPr/>
        </p:nvSpPr>
        <p:spPr>
          <a:xfrm>
            <a:off x="1517070" y="3346512"/>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792A7762-28BE-A1D9-00B7-1815B624B732}"/>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F28F3C74-D31B-767C-3C6E-866CFE3B450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FDFECC00-A54E-3CF6-6A3A-F6FE1F312BFD}"/>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7486F286-D9BD-DF04-6DF6-55C08F56A051}"/>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https://education.nationalgeographic.org/resource/prime-meridian/</a:t>
            </a:r>
          </a:p>
        </p:txBody>
      </p:sp>
      <p:sp>
        <p:nvSpPr>
          <p:cNvPr id="5" name="TextBox 15">
            <a:extLst>
              <a:ext uri="{FF2B5EF4-FFF2-40B4-BE49-F238E27FC236}">
                <a16:creationId xmlns:a16="http://schemas.microsoft.com/office/drawing/2014/main" id="{C787DB68-69B2-0469-56A9-F50210BDFE74}"/>
              </a:ext>
            </a:extLst>
          </p:cNvPr>
          <p:cNvSpPr txBox="1"/>
          <p:nvPr/>
        </p:nvSpPr>
        <p:spPr>
          <a:xfrm>
            <a:off x="1676400" y="3394176"/>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Prime Meridian</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Equator</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Longitude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Latitude</a:t>
            </a:r>
          </a:p>
        </p:txBody>
      </p:sp>
      <p:pic>
        <p:nvPicPr>
          <p:cNvPr id="1026" name="Picture 2" descr="Prime Meridian: Location, Countries it Passes Through">
            <a:extLst>
              <a:ext uri="{FF2B5EF4-FFF2-40B4-BE49-F238E27FC236}">
                <a16:creationId xmlns:a16="http://schemas.microsoft.com/office/drawing/2014/main" id="{C16F75C6-BBB8-94CC-204F-19E4615908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0207" y="3234944"/>
            <a:ext cx="7620000" cy="3981450"/>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05C4541D-1D07-4FC0-9BD8-0BE8DB81008D}"/>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0F612006-D646-BEBB-61BB-61AEA6D3873D}"/>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FE0236E7-F928-4A13-C0E3-905D3BB85078}"/>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70785BB4-D139-9D6B-F06F-3829C4FA0AC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12">
              <a:extLst>
                <a:ext uri="{FF2B5EF4-FFF2-40B4-BE49-F238E27FC236}">
                  <a16:creationId xmlns:a16="http://schemas.microsoft.com/office/drawing/2014/main" id="{B3BA7710-E4E4-04BE-8978-C0456D4AC0F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7D1C6C86-2A49-427C-3D20-06FC6B6DC8A6}"/>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1467747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26"/>
                                        </p:tgtEl>
                                        <p:attrNameLst>
                                          <p:attrName>style.visibility</p:attrName>
                                        </p:attrNameLst>
                                      </p:cBhvr>
                                      <p:to>
                                        <p:strVal val="visible"/>
                                      </p:to>
                                    </p:set>
                                    <p:animEffect transition="in" filter="fade">
                                      <p:cBhvr>
                                        <p:cTn id="12" dur="5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A9489-CE43-9B08-EA93-5AA739CFB10A}"/>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29BE92D3-9E13-6C8A-4E89-6FE11B4D452D}"/>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532EE0E4-4EBB-2831-CB2B-7EF063551E9C}"/>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F149B3B1-8217-0F04-7ED0-A65776791D7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1502B2E4-9E63-7FA8-4E0F-9FDC1B11F007}"/>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2308AD40-A40A-51A3-77D3-D11C5109EF80}"/>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FBAD519B-2BB7-DAB2-4BAA-9B69108E6036}"/>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A1DCA69F-9E37-1A9A-5EBE-45133F55BFD6}"/>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551D0EE6-D2DF-D400-E182-54C1133263E7}"/>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FDEC1BB9-94B4-AA96-EFCB-B1EEF826109F}"/>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AE9B231F-0AA3-194B-CF34-0D83699B1C38}"/>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A5FA4B58-6AF9-E3B8-1245-EA4780C6D17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8CAE1801-0938-1D4C-2587-389E129B78F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BA6CAC6D-083A-B6A2-7CF2-A7EECDCF75E2}"/>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18</a:t>
            </a:r>
          </a:p>
        </p:txBody>
      </p:sp>
      <p:sp>
        <p:nvSpPr>
          <p:cNvPr id="15" name="TextBox 15">
            <a:extLst>
              <a:ext uri="{FF2B5EF4-FFF2-40B4-BE49-F238E27FC236}">
                <a16:creationId xmlns:a16="http://schemas.microsoft.com/office/drawing/2014/main" id="{892AC06A-1D35-3F9E-7C03-526BCDBADDEC}"/>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This refers to a measurement of a location north or south of the equator.</a:t>
            </a:r>
          </a:p>
        </p:txBody>
      </p:sp>
      <p:sp>
        <p:nvSpPr>
          <p:cNvPr id="19" name="TextBox 12">
            <a:extLst>
              <a:ext uri="{FF2B5EF4-FFF2-40B4-BE49-F238E27FC236}">
                <a16:creationId xmlns:a16="http://schemas.microsoft.com/office/drawing/2014/main" id="{19C50F79-0B46-8DD9-4CFE-65BE20072DB0}"/>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0031E327-22B8-B390-20C2-5299AED97760}"/>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2" name="Oval 21">
            <a:extLst>
              <a:ext uri="{FF2B5EF4-FFF2-40B4-BE49-F238E27FC236}">
                <a16:creationId xmlns:a16="http://schemas.microsoft.com/office/drawing/2014/main" id="{569C6245-327E-EFDE-EC3B-8611E49D1CB0}"/>
              </a:ext>
            </a:extLst>
          </p:cNvPr>
          <p:cNvSpPr/>
          <p:nvPr/>
        </p:nvSpPr>
        <p:spPr>
          <a:xfrm>
            <a:off x="1517070" y="551118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1E8085B0-A3A2-2E87-A886-E6EA2927B5F9}"/>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9700BE81-F20C-9392-1A62-D8D9DA19D10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F20E7619-3407-E44F-8A9A-C0345C5CE9B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776CE256-9A39-02A2-E7FE-9CAD1BD152CD}"/>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https://www.primaryhomeworkhelp.co.uk/time/equator.htm</a:t>
            </a:r>
          </a:p>
        </p:txBody>
      </p:sp>
      <p:sp>
        <p:nvSpPr>
          <p:cNvPr id="5" name="TextBox 15">
            <a:extLst>
              <a:ext uri="{FF2B5EF4-FFF2-40B4-BE49-F238E27FC236}">
                <a16:creationId xmlns:a16="http://schemas.microsoft.com/office/drawing/2014/main" id="{1E90615C-F06A-C9C3-4F7F-A4FEB37CFAC4}"/>
              </a:ext>
            </a:extLst>
          </p:cNvPr>
          <p:cNvSpPr txBox="1"/>
          <p:nvPr/>
        </p:nvSpPr>
        <p:spPr>
          <a:xfrm>
            <a:off x="1676400" y="3394176"/>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Prime Meridian</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Equator</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Longitude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Latitude</a:t>
            </a:r>
          </a:p>
        </p:txBody>
      </p:sp>
      <p:grpSp>
        <p:nvGrpSpPr>
          <p:cNvPr id="28" name="Group 27">
            <a:extLst>
              <a:ext uri="{FF2B5EF4-FFF2-40B4-BE49-F238E27FC236}">
                <a16:creationId xmlns:a16="http://schemas.microsoft.com/office/drawing/2014/main" id="{5ED25816-8A32-18E6-A299-74B3A08FA31D}"/>
              </a:ext>
            </a:extLst>
          </p:cNvPr>
          <p:cNvGrpSpPr/>
          <p:nvPr/>
        </p:nvGrpSpPr>
        <p:grpSpPr>
          <a:xfrm>
            <a:off x="6477000" y="2690199"/>
            <a:ext cx="9753600" cy="6193614"/>
            <a:chOff x="6477000" y="2690199"/>
            <a:chExt cx="9753600" cy="6193614"/>
          </a:xfrm>
        </p:grpSpPr>
        <p:sp>
          <p:nvSpPr>
            <p:cNvPr id="27" name="TextBox 15">
              <a:extLst>
                <a:ext uri="{FF2B5EF4-FFF2-40B4-BE49-F238E27FC236}">
                  <a16:creationId xmlns:a16="http://schemas.microsoft.com/office/drawing/2014/main" id="{C9049660-0ADA-C9C4-460B-13B5BE7FA993}"/>
                </a:ext>
              </a:extLst>
            </p:cNvPr>
            <p:cNvSpPr txBox="1"/>
            <p:nvPr/>
          </p:nvSpPr>
          <p:spPr>
            <a:xfrm>
              <a:off x="6477000" y="7037154"/>
              <a:ext cx="9753600" cy="1846659"/>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The Equator is at 0° latitude, and separates the northern and southern hemispheres. The Prime Meridian runs through Greenwich, England and is at 0° longitude, and separates the eastern and western hemispheres. </a:t>
              </a:r>
            </a:p>
            <a:p>
              <a:pPr algn="just"/>
              <a:endParaRPr lang="en-US" sz="2400" dirty="0">
                <a:solidFill>
                  <a:srgbClr val="000000"/>
                </a:solidFill>
                <a:latin typeface="Nunito 1" panose="020B0604020202020204" charset="0"/>
                <a:ea typeface="Nunito 1 Bold"/>
                <a:cs typeface="Nunito 1 Bold"/>
                <a:sym typeface="Nunito 1 Bold"/>
              </a:endParaRPr>
            </a:p>
          </p:txBody>
        </p:sp>
        <p:pic>
          <p:nvPicPr>
            <p:cNvPr id="3074" name="Picture 2" descr="What Is Longitude and Latitude?">
              <a:extLst>
                <a:ext uri="{FF2B5EF4-FFF2-40B4-BE49-F238E27FC236}">
                  <a16:creationId xmlns:a16="http://schemas.microsoft.com/office/drawing/2014/main" id="{DC4D8A02-E85E-9C23-12DA-DC131B0C74E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333" t="10373" r="11333" b="14822"/>
            <a:stretch/>
          </p:blipFill>
          <p:spPr bwMode="auto">
            <a:xfrm>
              <a:off x="7521455" y="2690199"/>
              <a:ext cx="7570216" cy="411293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 name="Group 5">
            <a:extLst>
              <a:ext uri="{FF2B5EF4-FFF2-40B4-BE49-F238E27FC236}">
                <a16:creationId xmlns:a16="http://schemas.microsoft.com/office/drawing/2014/main" id="{12AE61AA-8100-9248-046A-15E6A6AFE7D0}"/>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68152FC5-3CFC-C1D7-E4B8-D9D739CB5455}"/>
                </a:ext>
              </a:extLst>
            </p:cNvPr>
            <p:cNvGrpSpPr/>
            <p:nvPr/>
          </p:nvGrpSpPr>
          <p:grpSpPr>
            <a:xfrm>
              <a:off x="0" y="9599694"/>
              <a:ext cx="18287999" cy="687305"/>
              <a:chOff x="0" y="0"/>
              <a:chExt cx="5260714" cy="490218"/>
            </a:xfrm>
          </p:grpSpPr>
          <p:sp>
            <p:nvSpPr>
              <p:cNvPr id="30" name="Freeform 12">
                <a:extLst>
                  <a:ext uri="{FF2B5EF4-FFF2-40B4-BE49-F238E27FC236}">
                    <a16:creationId xmlns:a16="http://schemas.microsoft.com/office/drawing/2014/main" id="{2101E3EE-EB50-8555-99C5-AE68CD2376F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1" name="TextBox 13">
                <a:extLst>
                  <a:ext uri="{FF2B5EF4-FFF2-40B4-BE49-F238E27FC236}">
                    <a16:creationId xmlns:a16="http://schemas.microsoft.com/office/drawing/2014/main" id="{2F9F289E-2AD6-967F-D7C7-08F238CB362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12">
              <a:extLst>
                <a:ext uri="{FF2B5EF4-FFF2-40B4-BE49-F238E27FC236}">
                  <a16:creationId xmlns:a16="http://schemas.microsoft.com/office/drawing/2014/main" id="{8BFFC6B4-1D89-CD7F-7067-2B9112132ABF}"/>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9" name="TextBox 13">
              <a:extLst>
                <a:ext uri="{FF2B5EF4-FFF2-40B4-BE49-F238E27FC236}">
                  <a16:creationId xmlns:a16="http://schemas.microsoft.com/office/drawing/2014/main" id="{F78A4AE1-7F74-592B-E5CE-51CABE062C3A}"/>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48615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36DDF-21B7-C31F-A7BD-60BA2FE9E331}"/>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FFA34755-0D45-0F92-6647-86BD19AF5D72}"/>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C2F2E302-FC59-F514-D0A4-10337CB00F1B}"/>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0051AB39-C305-B9C1-C3C4-4609574ACBA8}"/>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B64B483C-F6C6-9A4B-F040-1A1AE3BA77E9}"/>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FE9B8F51-3165-221F-B7A9-C8E8B0688688}"/>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F32B4CCF-0438-8739-DFDF-2ECA1A7C769A}"/>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47D04F45-F9C8-0143-43F6-B4A86A090C2C}"/>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B1FE87D5-376E-2251-F5D0-61B547418052}"/>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7CA7C814-BC7A-F5CA-B7F6-8E52474B4F49}"/>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8C94058C-2030-6CB6-E17D-DAD8281D6DD4}"/>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27FE6C76-A7C3-6955-D812-09E62FF8106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F4EEC2C4-D48B-ED1E-F726-97FF673442CF}"/>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3CA8074C-F4F8-F867-DEB1-75DBE620AD4E}"/>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19</a:t>
            </a:r>
          </a:p>
        </p:txBody>
      </p:sp>
      <p:sp>
        <p:nvSpPr>
          <p:cNvPr id="15" name="TextBox 15">
            <a:extLst>
              <a:ext uri="{FF2B5EF4-FFF2-40B4-BE49-F238E27FC236}">
                <a16:creationId xmlns:a16="http://schemas.microsoft.com/office/drawing/2014/main" id="{8070C942-9D87-E554-B3D3-774F46A0D67C}"/>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of the following runs parallel to the Earth’s axis?</a:t>
            </a:r>
          </a:p>
        </p:txBody>
      </p:sp>
      <p:sp>
        <p:nvSpPr>
          <p:cNvPr id="19" name="TextBox 12">
            <a:extLst>
              <a:ext uri="{FF2B5EF4-FFF2-40B4-BE49-F238E27FC236}">
                <a16:creationId xmlns:a16="http://schemas.microsoft.com/office/drawing/2014/main" id="{4B25AACA-F1B3-324B-6E39-387C39578E3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CF252A5E-2F40-E650-5E7A-902D10262857}"/>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sp>
        <p:nvSpPr>
          <p:cNvPr id="22" name="Oval 21">
            <a:extLst>
              <a:ext uri="{FF2B5EF4-FFF2-40B4-BE49-F238E27FC236}">
                <a16:creationId xmlns:a16="http://schemas.microsoft.com/office/drawing/2014/main" id="{A1D41967-4752-F0FA-24A4-510131D34FD7}"/>
              </a:ext>
            </a:extLst>
          </p:cNvPr>
          <p:cNvSpPr/>
          <p:nvPr/>
        </p:nvSpPr>
        <p:spPr>
          <a:xfrm>
            <a:off x="1517070" y="3346512"/>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3" name="Group 5">
            <a:extLst>
              <a:ext uri="{FF2B5EF4-FFF2-40B4-BE49-F238E27FC236}">
                <a16:creationId xmlns:a16="http://schemas.microsoft.com/office/drawing/2014/main" id="{743FE49B-6B99-62E6-6B95-3B8DA2310873}"/>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CE0CB74D-3E16-5404-6938-719A637CE07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5956284D-1317-8BA5-A65D-22EB4930BCA5}"/>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9A612DE3-3CCA-9B3F-C69F-FE95F7E71A4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https://www.geographyrealm.com/true-north-magnetic-north-and-grid-north/</a:t>
            </a:r>
          </a:p>
        </p:txBody>
      </p:sp>
      <p:sp>
        <p:nvSpPr>
          <p:cNvPr id="5" name="TextBox 15">
            <a:extLst>
              <a:ext uri="{FF2B5EF4-FFF2-40B4-BE49-F238E27FC236}">
                <a16:creationId xmlns:a16="http://schemas.microsoft.com/office/drawing/2014/main" id="{3FFBFF19-0F5D-B62F-4CD2-47B04524FB54}"/>
              </a:ext>
            </a:extLst>
          </p:cNvPr>
          <p:cNvSpPr txBox="1"/>
          <p:nvPr/>
        </p:nvSpPr>
        <p:spPr>
          <a:xfrm>
            <a:off x="1676400" y="3394176"/>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True North</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Magnetic North</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Grid north</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Northern meridian</a:t>
            </a:r>
          </a:p>
        </p:txBody>
      </p:sp>
      <p:grpSp>
        <p:nvGrpSpPr>
          <p:cNvPr id="6" name="Group 5">
            <a:extLst>
              <a:ext uri="{FF2B5EF4-FFF2-40B4-BE49-F238E27FC236}">
                <a16:creationId xmlns:a16="http://schemas.microsoft.com/office/drawing/2014/main" id="{4007A749-EBAA-7417-4697-A798D61C83E5}"/>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1597F635-D4C2-312F-E216-666591118556}"/>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491B9440-0B47-5FD8-5D7B-426FEC1638A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5E5CEDB2-DF3F-29A3-382A-2700ED6CB34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12">
              <a:extLst>
                <a:ext uri="{FF2B5EF4-FFF2-40B4-BE49-F238E27FC236}">
                  <a16:creationId xmlns:a16="http://schemas.microsoft.com/office/drawing/2014/main" id="{C16DA93D-2B91-68E7-74FD-4E5BEEB3598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4DC28F85-50AE-956E-1E34-9C941BCD348A}"/>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300582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8AF20-0306-DB18-1C9F-70DFF2323474}"/>
            </a:ext>
          </a:extLst>
        </p:cNvPr>
        <p:cNvGrpSpPr/>
        <p:nvPr/>
      </p:nvGrpSpPr>
      <p:grpSpPr>
        <a:xfrm>
          <a:off x="0" y="0"/>
          <a:ext cx="0" cy="0"/>
          <a:chOff x="0" y="0"/>
          <a:chExt cx="0" cy="0"/>
        </a:xfrm>
      </p:grpSpPr>
      <p:grpSp>
        <p:nvGrpSpPr>
          <p:cNvPr id="16" name="Group 5">
            <a:extLst>
              <a:ext uri="{FF2B5EF4-FFF2-40B4-BE49-F238E27FC236}">
                <a16:creationId xmlns:a16="http://schemas.microsoft.com/office/drawing/2014/main" id="{0BFC0B9D-ED9C-4E1A-C3A6-01D7C7D817B7}"/>
              </a:ext>
            </a:extLst>
          </p:cNvPr>
          <p:cNvGrpSpPr/>
          <p:nvPr/>
        </p:nvGrpSpPr>
        <p:grpSpPr>
          <a:xfrm>
            <a:off x="1028700" y="1233888"/>
            <a:ext cx="16230600" cy="7447557"/>
            <a:chOff x="0" y="0"/>
            <a:chExt cx="4274726" cy="1718953"/>
          </a:xfrm>
        </p:grpSpPr>
        <p:sp>
          <p:nvSpPr>
            <p:cNvPr id="17" name="Freeform 6">
              <a:extLst>
                <a:ext uri="{FF2B5EF4-FFF2-40B4-BE49-F238E27FC236}">
                  <a16:creationId xmlns:a16="http://schemas.microsoft.com/office/drawing/2014/main" id="{DD6749D2-173B-738C-3C5C-D495E91631C1}"/>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18" name="TextBox 7">
              <a:extLst>
                <a:ext uri="{FF2B5EF4-FFF2-40B4-BE49-F238E27FC236}">
                  <a16:creationId xmlns:a16="http://schemas.microsoft.com/office/drawing/2014/main" id="{5C53D512-A3BB-3F88-382E-7D5046F3DDA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2" name="Group 2">
            <a:extLst>
              <a:ext uri="{FF2B5EF4-FFF2-40B4-BE49-F238E27FC236}">
                <a16:creationId xmlns:a16="http://schemas.microsoft.com/office/drawing/2014/main" id="{ABAFFF29-7F48-2C3D-7CCD-3E4047085828}"/>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031DFD38-C2E4-6C30-1379-E0B0BF5EA53F}"/>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DD529B49-14B8-AE4F-C6C4-3666494786E5}"/>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8" name="Group 8">
            <a:extLst>
              <a:ext uri="{FF2B5EF4-FFF2-40B4-BE49-F238E27FC236}">
                <a16:creationId xmlns:a16="http://schemas.microsoft.com/office/drawing/2014/main" id="{22E37E5F-B56A-2E52-D41E-E94F88081EC8}"/>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CF035AC7-C054-3627-72E0-97E070B70DC4}"/>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2FD8F660-2A25-315B-B597-A44BA223741B}"/>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7E89A4AB-7E0E-5671-E036-C6B0DD466524}"/>
              </a:ext>
            </a:extLst>
          </p:cNvPr>
          <p:cNvGrpSpPr/>
          <p:nvPr/>
        </p:nvGrpSpPr>
        <p:grpSpPr>
          <a:xfrm>
            <a:off x="0" y="9599694"/>
            <a:ext cx="18287999" cy="687306"/>
            <a:chOff x="0" y="0"/>
            <a:chExt cx="5260714" cy="490218"/>
          </a:xfrm>
        </p:grpSpPr>
        <p:sp>
          <p:nvSpPr>
            <p:cNvPr id="12" name="Freeform 12">
              <a:extLst>
                <a:ext uri="{FF2B5EF4-FFF2-40B4-BE49-F238E27FC236}">
                  <a16:creationId xmlns:a16="http://schemas.microsoft.com/office/drawing/2014/main" id="{44DBD207-3EF2-B632-AB7E-33E399AD30E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A8B8A5AE-F45A-ED97-0CB2-D19012FAC19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EC8D039C-28FC-D1DE-D9F9-9BC6CEBAF21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3540933D-2984-2044-A013-588942BAEE1D}"/>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nvGrpSpPr>
          <p:cNvPr id="23" name="Group 5">
            <a:extLst>
              <a:ext uri="{FF2B5EF4-FFF2-40B4-BE49-F238E27FC236}">
                <a16:creationId xmlns:a16="http://schemas.microsoft.com/office/drawing/2014/main" id="{3CDD46F4-060E-490D-667E-C7AB6201B3FE}"/>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37DFDF96-A36C-051B-CE96-67B43B61F2E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4E7498E5-0235-6AE8-5E2F-23C92E2B7DCC}"/>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51226EBF-1BFD-B5EB-21FE-53B658F3D789}"/>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http://www.nwcg.gov/course/ffm/mapping/55-contour-lines-and-intervals</a:t>
            </a:r>
          </a:p>
        </p:txBody>
      </p:sp>
      <p:pic>
        <p:nvPicPr>
          <p:cNvPr id="2054" name="Picture 6" descr="A Tale of three Norths | OS GetOutside">
            <a:extLst>
              <a:ext uri="{FF2B5EF4-FFF2-40B4-BE49-F238E27FC236}">
                <a16:creationId xmlns:a16="http://schemas.microsoft.com/office/drawing/2014/main" id="{6EDD8C1E-650F-AE40-349E-E0D972D810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54518" y="2147271"/>
            <a:ext cx="6680932" cy="50107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15">
            <a:extLst>
              <a:ext uri="{FF2B5EF4-FFF2-40B4-BE49-F238E27FC236}">
                <a16:creationId xmlns:a16="http://schemas.microsoft.com/office/drawing/2014/main" id="{F53752AE-9449-BB4D-D8D6-E8DF82A06999}"/>
              </a:ext>
            </a:extLst>
          </p:cNvPr>
          <p:cNvSpPr txBox="1"/>
          <p:nvPr/>
        </p:nvSpPr>
        <p:spPr>
          <a:xfrm>
            <a:off x="1676400" y="1852511"/>
            <a:ext cx="8254268" cy="6647974"/>
          </a:xfrm>
          <a:prstGeom prst="rect">
            <a:avLst/>
          </a:prstGeom>
        </p:spPr>
        <p:txBody>
          <a:bodyPr wrap="square" lIns="0" tIns="0" rIns="0" bIns="0" rtlCol="0" anchor="t">
            <a:spAutoFit/>
          </a:bodyPr>
          <a:lstStyle/>
          <a:p>
            <a:pPr algn="just"/>
            <a:r>
              <a:rPr lang="en-US" sz="2400" b="1" dirty="0">
                <a:solidFill>
                  <a:srgbClr val="000000"/>
                </a:solidFill>
                <a:latin typeface="Nunito 1" panose="020B0604020202020204" charset="0"/>
                <a:ea typeface="Nunito 1 Bold"/>
                <a:cs typeface="Nunito 1 Bold"/>
                <a:sym typeface="Nunito 1 Bold"/>
              </a:rPr>
              <a:t>a. True North (Geographic North)</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Direction toward the North Pole (Earth’s rotational axis).</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Used in astronomy and geodetic systems.</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Constant and not affected by Earth's magnetic field.</a:t>
            </a:r>
          </a:p>
          <a:p>
            <a:pPr marL="182562" algn="just"/>
            <a:endParaRPr lang="en-US" sz="2400"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b. Grid North</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The direction parallel to the grid lines on a map projection (e.g., UTM).</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Usually slightly different from True North due to map projection distortion.</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Used in mapping and engineering surveys.</a:t>
            </a:r>
          </a:p>
          <a:p>
            <a:pPr marL="514350" indent="-331788" algn="just">
              <a:buFont typeface="Arial" panose="020B0604020202020204" pitchFamily="34" charset="0"/>
              <a:buChar char="•"/>
            </a:pPr>
            <a:endParaRPr lang="en-US" sz="2400"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c. Magnetic North</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The direction a compass needle points, toward Earth’s magnetic pole.</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Varies with time and location (because Earth’s magnetic field shifts).</a:t>
            </a:r>
          </a:p>
          <a:p>
            <a:pPr marL="514350" indent="-331788" algn="just">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Used in field navigation.</a:t>
            </a:r>
          </a:p>
        </p:txBody>
      </p:sp>
      <p:sp>
        <p:nvSpPr>
          <p:cNvPr id="28" name="TextBox 15">
            <a:extLst>
              <a:ext uri="{FF2B5EF4-FFF2-40B4-BE49-F238E27FC236}">
                <a16:creationId xmlns:a16="http://schemas.microsoft.com/office/drawing/2014/main" id="{315A4EC3-D9E9-A34E-5681-84CCAC43AA58}"/>
              </a:ext>
            </a:extLst>
          </p:cNvPr>
          <p:cNvSpPr txBox="1"/>
          <p:nvPr/>
        </p:nvSpPr>
        <p:spPr>
          <a:xfrm>
            <a:off x="5016865" y="1051173"/>
            <a:ext cx="8254268" cy="430887"/>
          </a:xfrm>
          <a:prstGeom prst="rect">
            <a:avLst/>
          </a:prstGeom>
        </p:spPr>
        <p:txBody>
          <a:bodyPr wrap="square" lIns="0" tIns="0" rIns="0" bIns="0" rtlCol="0" anchor="t">
            <a:spAutoFit/>
          </a:bodyPr>
          <a:lstStyle/>
          <a:p>
            <a:pPr algn="ctr"/>
            <a:r>
              <a:rPr lang="en-US" sz="2800" b="1" dirty="0">
                <a:latin typeface="Nunito" pitchFamily="2" charset="0"/>
              </a:rPr>
              <a:t>True North, Grid North, and Magnetic North</a:t>
            </a:r>
            <a:endParaRPr lang="en-US" sz="2800" b="1" dirty="0">
              <a:solidFill>
                <a:srgbClr val="000000"/>
              </a:solidFill>
              <a:latin typeface="Nunito" pitchFamily="2" charset="0"/>
              <a:ea typeface="Nunito 1 Bold"/>
              <a:cs typeface="Nunito 1 Bold"/>
              <a:sym typeface="Nunito 1 Bold"/>
            </a:endParaRPr>
          </a:p>
        </p:txBody>
      </p:sp>
      <p:grpSp>
        <p:nvGrpSpPr>
          <p:cNvPr id="6" name="Group 5">
            <a:extLst>
              <a:ext uri="{FF2B5EF4-FFF2-40B4-BE49-F238E27FC236}">
                <a16:creationId xmlns:a16="http://schemas.microsoft.com/office/drawing/2014/main" id="{02DDDC7A-78AA-6EB5-C825-A7B935228800}"/>
              </a:ext>
            </a:extLst>
          </p:cNvPr>
          <p:cNvGrpSpPr/>
          <p:nvPr/>
        </p:nvGrpSpPr>
        <p:grpSpPr>
          <a:xfrm>
            <a:off x="0" y="9599693"/>
            <a:ext cx="18287999" cy="687306"/>
            <a:chOff x="0" y="9599693"/>
            <a:chExt cx="18287999" cy="687306"/>
          </a:xfrm>
        </p:grpSpPr>
        <p:grpSp>
          <p:nvGrpSpPr>
            <p:cNvPr id="7" name="Group 11">
              <a:extLst>
                <a:ext uri="{FF2B5EF4-FFF2-40B4-BE49-F238E27FC236}">
                  <a16:creationId xmlns:a16="http://schemas.microsoft.com/office/drawing/2014/main" id="{A69CD92E-4B31-DDD0-1755-E4116B656F35}"/>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FE774982-A9B0-926E-3EA4-7A1FC39077C7}"/>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9CB3E055-46F6-DD8A-63D7-86B7E440490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2">
              <a:extLst>
                <a:ext uri="{FF2B5EF4-FFF2-40B4-BE49-F238E27FC236}">
                  <a16:creationId xmlns:a16="http://schemas.microsoft.com/office/drawing/2014/main" id="{A2850AEB-C1F8-3BE4-62AF-98A570F1011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5" name="TextBox 13">
              <a:extLst>
                <a:ext uri="{FF2B5EF4-FFF2-40B4-BE49-F238E27FC236}">
                  <a16:creationId xmlns:a16="http://schemas.microsoft.com/office/drawing/2014/main" id="{336E4C04-5526-18C3-5E56-541743CF0916}"/>
                </a:ext>
              </a:extLst>
            </p:cNvPr>
            <p:cNvSpPr txBox="1"/>
            <p:nvPr/>
          </p:nvSpPr>
          <p:spPr>
            <a:xfrm>
              <a:off x="11811000" y="9599693"/>
              <a:ext cx="54483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Surveying</a:t>
              </a:r>
            </a:p>
          </p:txBody>
        </p:sp>
      </p:grpSp>
    </p:spTree>
    <p:extLst>
      <p:ext uri="{BB962C8B-B14F-4D97-AF65-F5344CB8AC3E}">
        <p14:creationId xmlns:p14="http://schemas.microsoft.com/office/powerpoint/2010/main" val="2993017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54"/>
                                        </p:tgtEl>
                                        <p:attrNameLst>
                                          <p:attrName>style.visibility</p:attrName>
                                        </p:attrNameLst>
                                      </p:cBhvr>
                                      <p:to>
                                        <p:strVal val="visible"/>
                                      </p:to>
                                    </p:set>
                                    <p:animEffect transition="in" filter="fade">
                                      <p:cBhvr>
                                        <p:cTn id="7" dur="500"/>
                                        <p:tgtEl>
                                          <p:spTgt spid="20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0"/>
            <a:ext cx="18288000" cy="10287000"/>
            <a:chOff x="0" y="0"/>
            <a:chExt cx="27343100" cy="13716000"/>
          </a:xfrm>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sp>
        <p:nvSpPr>
          <p:cNvPr id="8" name="Freeform 8"/>
          <p:cNvSpPr/>
          <p:nvPr/>
        </p:nvSpPr>
        <p:spPr>
          <a:xfrm>
            <a:off x="12076251" y="1662606"/>
            <a:ext cx="2942276" cy="294227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flipH="1">
            <a:off x="2120044" y="6010601"/>
            <a:ext cx="3395204" cy="1049427"/>
          </a:xfrm>
          <a:custGeom>
            <a:avLst/>
            <a:gdLst/>
            <a:ahLst/>
            <a:cxnLst/>
            <a:rect l="l" t="t" r="r" b="b"/>
            <a:pathLst>
              <a:path w="3395204" h="1049427">
                <a:moveTo>
                  <a:pt x="3395205" y="0"/>
                </a:moveTo>
                <a:lnTo>
                  <a:pt x="0" y="0"/>
                </a:lnTo>
                <a:lnTo>
                  <a:pt x="0" y="1049427"/>
                </a:lnTo>
                <a:lnTo>
                  <a:pt x="3395205" y="1049427"/>
                </a:lnTo>
                <a:lnTo>
                  <a:pt x="3395205"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0" name="TextBox 10"/>
          <p:cNvSpPr txBox="1"/>
          <p:nvPr/>
        </p:nvSpPr>
        <p:spPr>
          <a:xfrm>
            <a:off x="3269473" y="3960262"/>
            <a:ext cx="11749054" cy="1793183"/>
          </a:xfrm>
          <a:prstGeom prst="rect">
            <a:avLst/>
          </a:prstGeom>
        </p:spPr>
        <p:txBody>
          <a:bodyPr lIns="0" tIns="0" rIns="0" bIns="0" rtlCol="0" anchor="t">
            <a:spAutoFit/>
          </a:bodyPr>
          <a:lstStyle/>
          <a:p>
            <a:pPr algn="ctr">
              <a:lnSpc>
                <a:spcPts val="14620"/>
              </a:lnSpc>
            </a:pPr>
            <a:r>
              <a:rPr lang="en-US" sz="10443" dirty="0">
                <a:solidFill>
                  <a:srgbClr val="000000"/>
                </a:solidFill>
                <a:latin typeface="Fredoka"/>
                <a:ea typeface="Fredoka"/>
                <a:cs typeface="Fredoka"/>
                <a:sym typeface="Fredoka"/>
              </a:rPr>
              <a:t>THANK YOU</a:t>
            </a:r>
          </a:p>
        </p:txBody>
      </p:sp>
      <p:grpSp>
        <p:nvGrpSpPr>
          <p:cNvPr id="14" name="Group 5">
            <a:extLst>
              <a:ext uri="{FF2B5EF4-FFF2-40B4-BE49-F238E27FC236}">
                <a16:creationId xmlns:a16="http://schemas.microsoft.com/office/drawing/2014/main" id="{997EE1D9-F945-1E98-51E8-4649CFE2F648}"/>
              </a:ext>
            </a:extLst>
          </p:cNvPr>
          <p:cNvGrpSpPr/>
          <p:nvPr/>
        </p:nvGrpSpPr>
        <p:grpSpPr>
          <a:xfrm>
            <a:off x="0" y="8353252"/>
            <a:ext cx="18288000" cy="1420979"/>
            <a:chOff x="0" y="0"/>
            <a:chExt cx="5260714" cy="374250"/>
          </a:xfrm>
        </p:grpSpPr>
        <p:sp>
          <p:nvSpPr>
            <p:cNvPr id="15" name="Freeform 6">
              <a:extLst>
                <a:ext uri="{FF2B5EF4-FFF2-40B4-BE49-F238E27FC236}">
                  <a16:creationId xmlns:a16="http://schemas.microsoft.com/office/drawing/2014/main" id="{F64EC73E-B5C2-A4A2-DE7F-F8267FECCE9E}"/>
                </a:ext>
              </a:extLst>
            </p:cNvPr>
            <p:cNvSpPr/>
            <p:nvPr/>
          </p:nvSpPr>
          <p:spPr>
            <a:xfrm>
              <a:off x="0" y="0"/>
              <a:ext cx="5260714" cy="374250"/>
            </a:xfrm>
            <a:custGeom>
              <a:avLst/>
              <a:gdLst/>
              <a:ahLst/>
              <a:cxnLst/>
              <a:rect l="l" t="t" r="r" b="b"/>
              <a:pathLst>
                <a:path w="5260714" h="374250">
                  <a:moveTo>
                    <a:pt x="0" y="0"/>
                  </a:moveTo>
                  <a:lnTo>
                    <a:pt x="5260714" y="0"/>
                  </a:lnTo>
                  <a:lnTo>
                    <a:pt x="5260714" y="374250"/>
                  </a:lnTo>
                  <a:lnTo>
                    <a:pt x="0" y="374250"/>
                  </a:lnTo>
                  <a:close/>
                </a:path>
              </a:pathLst>
            </a:custGeom>
            <a:solidFill>
              <a:srgbClr val="F1F2F2"/>
            </a:solidFill>
          </p:spPr>
        </p:sp>
        <p:sp>
          <p:nvSpPr>
            <p:cNvPr id="16" name="TextBox 7">
              <a:extLst>
                <a:ext uri="{FF2B5EF4-FFF2-40B4-BE49-F238E27FC236}">
                  <a16:creationId xmlns:a16="http://schemas.microsoft.com/office/drawing/2014/main" id="{6F825F64-2141-C165-F5DF-496290D8BF74}"/>
                </a:ext>
              </a:extLst>
            </p:cNvPr>
            <p:cNvSpPr txBox="1"/>
            <p:nvPr/>
          </p:nvSpPr>
          <p:spPr>
            <a:xfrm>
              <a:off x="0" y="-38100"/>
              <a:ext cx="5260714" cy="412350"/>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A3D2CCD0-A1A3-BAB4-2B30-07CAC39D47D8}"/>
              </a:ext>
            </a:extLst>
          </p:cNvPr>
          <p:cNvSpPr txBox="1"/>
          <p:nvPr/>
        </p:nvSpPr>
        <p:spPr>
          <a:xfrm>
            <a:off x="1028700" y="8743950"/>
            <a:ext cx="5577893" cy="514350"/>
          </a:xfrm>
          <a:prstGeom prst="rect">
            <a:avLst/>
          </a:prstGeom>
        </p:spPr>
        <p:txBody>
          <a:bodyPr lIns="0" tIns="0" rIns="0" bIns="0" rtlCol="0" anchor="t">
            <a:spAutoFit/>
          </a:bodyPr>
          <a:lstStyle/>
          <a:p>
            <a:pPr algn="l">
              <a:lnSpc>
                <a:spcPts val="4200"/>
              </a:lnSpc>
            </a:pPr>
            <a:r>
              <a:rPr lang="en-US" sz="3000" dirty="0">
                <a:solidFill>
                  <a:srgbClr val="000000"/>
                </a:solidFill>
                <a:latin typeface="Nunito 1"/>
                <a:ea typeface="Nunito 1"/>
                <a:cs typeface="Nunito 1"/>
                <a:sym typeface="Nunito 1"/>
              </a:rPr>
              <a:t>ABELE | 2025</a:t>
            </a:r>
          </a:p>
        </p:txBody>
      </p:sp>
      <p:sp>
        <p:nvSpPr>
          <p:cNvPr id="18" name="TextBox 13">
            <a:extLst>
              <a:ext uri="{FF2B5EF4-FFF2-40B4-BE49-F238E27FC236}">
                <a16:creationId xmlns:a16="http://schemas.microsoft.com/office/drawing/2014/main" id="{2702E126-B5B5-4F09-A901-BC28BFBCF505}"/>
              </a:ext>
            </a:extLst>
          </p:cNvPr>
          <p:cNvSpPr txBox="1"/>
          <p:nvPr/>
        </p:nvSpPr>
        <p:spPr>
          <a:xfrm>
            <a:off x="12777754" y="8743950"/>
            <a:ext cx="4481546" cy="514350"/>
          </a:xfrm>
          <a:prstGeom prst="rect">
            <a:avLst/>
          </a:prstGeom>
        </p:spPr>
        <p:txBody>
          <a:bodyPr lIns="0" tIns="0" rIns="0" bIns="0" rtlCol="0" anchor="t">
            <a:spAutoFit/>
          </a:bodyPr>
          <a:lstStyle/>
          <a:p>
            <a:pPr algn="r">
              <a:lnSpc>
                <a:spcPts val="4200"/>
              </a:lnSpc>
            </a:pPr>
            <a:r>
              <a:rPr lang="en-US" sz="3000" dirty="0" err="1">
                <a:solidFill>
                  <a:srgbClr val="000000"/>
                </a:solidFill>
                <a:latin typeface="Nunito 1"/>
                <a:ea typeface="Nunito 1"/>
                <a:cs typeface="Nunito 1"/>
                <a:sym typeface="Nunito 1"/>
              </a:rPr>
              <a:t>ATTRTC</a:t>
            </a:r>
            <a:r>
              <a:rPr lang="en-US" sz="3000" dirty="0">
                <a:solidFill>
                  <a:srgbClr val="000000"/>
                </a:solidFill>
                <a:latin typeface="Nunito 1"/>
                <a:ea typeface="Nunito 1"/>
                <a:cs typeface="Nunito 1"/>
                <a:sym typeface="Nunito 1"/>
              </a:rPr>
              <a:t> - Iligan City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1862</TotalTime>
  <Words>5304</Words>
  <Application>Microsoft Office PowerPoint</Application>
  <PresentationFormat>Custom</PresentationFormat>
  <Paragraphs>700</Paragraphs>
  <Slides>49</Slides>
  <Notes>44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49</vt:i4>
      </vt:variant>
    </vt:vector>
  </HeadingPairs>
  <TitlesOfParts>
    <vt:vector size="59" baseType="lpstr">
      <vt:lpstr>Nunito 1</vt:lpstr>
      <vt:lpstr>Arial</vt:lpstr>
      <vt:lpstr>Nunito</vt:lpstr>
      <vt:lpstr>Fredoka</vt:lpstr>
      <vt:lpstr>Calibri</vt:lpstr>
      <vt:lpstr>Canva Sans</vt:lpstr>
      <vt:lpstr>Nunito 1 Bold</vt:lpstr>
      <vt:lpstr>Open Sans</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ATTRTC Review</dc:title>
  <dc:creator>Nicole Jane J. Lim</dc:creator>
  <cp:lastModifiedBy>Nicole Jane Lim</cp:lastModifiedBy>
  <cp:revision>68</cp:revision>
  <dcterms:created xsi:type="dcterms:W3CDTF">2006-08-16T00:00:00Z</dcterms:created>
  <dcterms:modified xsi:type="dcterms:W3CDTF">2025-08-05T04:25:59Z</dcterms:modified>
  <dc:identifier>DAGRv5agEMg</dc:identifier>
</cp:coreProperties>
</file>