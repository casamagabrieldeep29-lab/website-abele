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5"/>
  </p:notesMasterIdLst>
  <p:sldIdLst>
    <p:sldId id="256" r:id="rId2"/>
    <p:sldId id="257" r:id="rId3"/>
    <p:sldId id="300" r:id="rId4"/>
    <p:sldId id="307" r:id="rId5"/>
    <p:sldId id="316" r:id="rId6"/>
    <p:sldId id="317" r:id="rId7"/>
    <p:sldId id="347" r:id="rId8"/>
    <p:sldId id="323" r:id="rId9"/>
    <p:sldId id="346" r:id="rId10"/>
    <p:sldId id="319" r:id="rId11"/>
    <p:sldId id="349" r:id="rId12"/>
    <p:sldId id="320" r:id="rId13"/>
    <p:sldId id="318" r:id="rId14"/>
    <p:sldId id="321" r:id="rId15"/>
    <p:sldId id="325" r:id="rId16"/>
    <p:sldId id="326" r:id="rId17"/>
    <p:sldId id="330" r:id="rId18"/>
    <p:sldId id="348" r:id="rId19"/>
    <p:sldId id="331" r:id="rId20"/>
    <p:sldId id="345" r:id="rId21"/>
    <p:sldId id="332" r:id="rId22"/>
    <p:sldId id="334" r:id="rId23"/>
    <p:sldId id="340" r:id="rId24"/>
    <p:sldId id="322" r:id="rId25"/>
    <p:sldId id="336" r:id="rId26"/>
    <p:sldId id="338" r:id="rId27"/>
    <p:sldId id="337" r:id="rId28"/>
    <p:sldId id="339" r:id="rId29"/>
    <p:sldId id="341" r:id="rId30"/>
    <p:sldId id="342" r:id="rId31"/>
    <p:sldId id="343" r:id="rId32"/>
    <p:sldId id="344" r:id="rId33"/>
    <p:sldId id="271" r:id="rId34"/>
  </p:sldIdLst>
  <p:sldSz cx="18288000" cy="10287000"/>
  <p:notesSz cx="6858000" cy="9144000"/>
  <p:embeddedFontLst>
    <p:embeddedFont>
      <p:font typeface="Cambria Math" panose="02040503050406030204" pitchFamily="18" charset="0"/>
      <p:regular r:id="rId36"/>
    </p:embeddedFont>
    <p:embeddedFont>
      <p:font typeface="Canva Sans" panose="020B0604020202020204" charset="0"/>
      <p:regular r:id="rId37"/>
    </p:embeddedFont>
    <p:embeddedFont>
      <p:font typeface="Fredoka" pitchFamily="2" charset="-79"/>
      <p:regular r:id="rId38"/>
      <p:bold r:id="rId39"/>
    </p:embeddedFont>
    <p:embeddedFont>
      <p:font typeface="Fredoka SemiBold" pitchFamily="2" charset="-79"/>
      <p:bold r:id="rId40"/>
    </p:embeddedFont>
    <p:embeddedFont>
      <p:font typeface="Nunito 1" panose="020B0604020202020204" charset="0"/>
      <p:regular r:id="rId41"/>
    </p:embeddedFont>
    <p:embeddedFont>
      <p:font typeface="Nunito 1 Bold" panose="020B0604020202020204" charset="0"/>
      <p:regular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1F2F2"/>
    <a:srgbClr val="FFFF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88446" autoAdjust="0"/>
  </p:normalViewPr>
  <p:slideViewPr>
    <p:cSldViewPr>
      <p:cViewPr varScale="1">
        <p:scale>
          <a:sx n="44" d="100"/>
          <a:sy n="44" d="100"/>
        </p:scale>
        <p:origin x="1397"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7.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2BD163-B8EE-451D-AFA3-A94063D858EC}" type="datetimeFigureOut">
              <a:rPr lang="en-PH" smtClean="0"/>
              <a:t>05/08/2025</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4731FA-A794-438D-9C93-55A23472C33A}" type="slidenum">
              <a:rPr lang="en-PH" smtClean="0"/>
              <a:t>‹#›</a:t>
            </a:fld>
            <a:endParaRPr lang="en-PH"/>
          </a:p>
        </p:txBody>
      </p:sp>
    </p:spTree>
    <p:extLst>
      <p:ext uri="{BB962C8B-B14F-4D97-AF65-F5344CB8AC3E}">
        <p14:creationId xmlns:p14="http://schemas.microsoft.com/office/powerpoint/2010/main" val="22021962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4731FA-A794-438D-9C93-55A23472C33A}" type="slidenum">
              <a:rPr lang="en-PH" smtClean="0"/>
              <a:t>6</a:t>
            </a:fld>
            <a:endParaRPr lang="en-PH"/>
          </a:p>
        </p:txBody>
      </p:sp>
    </p:spTree>
    <p:extLst>
      <p:ext uri="{BB962C8B-B14F-4D97-AF65-F5344CB8AC3E}">
        <p14:creationId xmlns:p14="http://schemas.microsoft.com/office/powerpoint/2010/main" val="35180734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76927-F40D-7E73-4198-AC8AFE3504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44CE20-2A6D-0A47-BA37-A36EA90DCC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EF9AAA-1CA0-B2EA-4226-F4BC8803E7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6A5DF8-FAFD-BAFB-CBBE-68D49F9EF4CF}"/>
              </a:ext>
            </a:extLst>
          </p:cNvPr>
          <p:cNvSpPr>
            <a:spLocks noGrp="1"/>
          </p:cNvSpPr>
          <p:nvPr>
            <p:ph type="sldNum" sz="quarter" idx="5"/>
          </p:nvPr>
        </p:nvSpPr>
        <p:spPr/>
        <p:txBody>
          <a:bodyPr/>
          <a:lstStyle/>
          <a:p>
            <a:fld id="{E74731FA-A794-438D-9C93-55A23472C33A}" type="slidenum">
              <a:rPr lang="en-PH" smtClean="0"/>
              <a:t>7</a:t>
            </a:fld>
            <a:endParaRPr lang="en-PH"/>
          </a:p>
        </p:txBody>
      </p:sp>
    </p:spTree>
    <p:extLst>
      <p:ext uri="{BB962C8B-B14F-4D97-AF65-F5344CB8AC3E}">
        <p14:creationId xmlns:p14="http://schemas.microsoft.com/office/powerpoint/2010/main" val="17879886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E2374-9A10-A649-855D-C93170C14D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EF114E-454A-BB6F-ACC0-837212B7EE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D1A32B-3878-4729-4F17-AC7C47673820}"/>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88876E9E-A33A-43DD-2775-4145584B4B60}"/>
              </a:ext>
            </a:extLst>
          </p:cNvPr>
          <p:cNvSpPr>
            <a:spLocks noGrp="1"/>
          </p:cNvSpPr>
          <p:nvPr>
            <p:ph type="sldNum" sz="quarter" idx="5"/>
          </p:nvPr>
        </p:nvSpPr>
        <p:spPr/>
        <p:txBody>
          <a:bodyPr/>
          <a:lstStyle/>
          <a:p>
            <a:fld id="{E74731FA-A794-438D-9C93-55A23472C33A}" type="slidenum">
              <a:rPr lang="en-PH" smtClean="0"/>
              <a:t>8</a:t>
            </a:fld>
            <a:endParaRPr lang="en-PH"/>
          </a:p>
        </p:txBody>
      </p:sp>
    </p:spTree>
    <p:extLst>
      <p:ext uri="{BB962C8B-B14F-4D97-AF65-F5344CB8AC3E}">
        <p14:creationId xmlns:p14="http://schemas.microsoft.com/office/powerpoint/2010/main" val="30226002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FA8C1-EDB5-3647-4E18-A410F9653D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EBAECE-9145-BC60-2CB4-33955F00BE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B39204-F85F-A931-B2CD-477B6F03DE5C}"/>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2456E116-4770-6AC3-0CD0-05E36B78FB58}"/>
              </a:ext>
            </a:extLst>
          </p:cNvPr>
          <p:cNvSpPr>
            <a:spLocks noGrp="1"/>
          </p:cNvSpPr>
          <p:nvPr>
            <p:ph type="sldNum" sz="quarter" idx="5"/>
          </p:nvPr>
        </p:nvSpPr>
        <p:spPr/>
        <p:txBody>
          <a:bodyPr/>
          <a:lstStyle/>
          <a:p>
            <a:fld id="{E74731FA-A794-438D-9C93-55A23472C33A}" type="slidenum">
              <a:rPr lang="en-PH" smtClean="0"/>
              <a:t>9</a:t>
            </a:fld>
            <a:endParaRPr lang="en-PH"/>
          </a:p>
        </p:txBody>
      </p:sp>
    </p:spTree>
    <p:extLst>
      <p:ext uri="{BB962C8B-B14F-4D97-AF65-F5344CB8AC3E}">
        <p14:creationId xmlns:p14="http://schemas.microsoft.com/office/powerpoint/2010/main" val="23147320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E74731FA-A794-438D-9C93-55A23472C33A}" type="slidenum">
              <a:rPr lang="en-PH" smtClean="0"/>
              <a:t>10</a:t>
            </a:fld>
            <a:endParaRPr lang="en-PH"/>
          </a:p>
        </p:txBody>
      </p:sp>
    </p:spTree>
    <p:extLst>
      <p:ext uri="{BB962C8B-B14F-4D97-AF65-F5344CB8AC3E}">
        <p14:creationId xmlns:p14="http://schemas.microsoft.com/office/powerpoint/2010/main" val="24311860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57ACB-4113-DC5D-F301-4A6FDD3ED9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354A1C-79EB-D591-74C8-D71D3A2723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D00849-6A02-9D95-59C3-B52741C6EE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BA6CF2-21F0-93C3-6D91-FCF9D645A79E}"/>
              </a:ext>
            </a:extLst>
          </p:cNvPr>
          <p:cNvSpPr>
            <a:spLocks noGrp="1"/>
          </p:cNvSpPr>
          <p:nvPr>
            <p:ph type="sldNum" sz="quarter" idx="5"/>
          </p:nvPr>
        </p:nvSpPr>
        <p:spPr/>
        <p:txBody>
          <a:bodyPr/>
          <a:lstStyle/>
          <a:p>
            <a:fld id="{E74731FA-A794-438D-9C93-55A23472C33A}" type="slidenum">
              <a:rPr lang="en-PH" smtClean="0"/>
              <a:t>11</a:t>
            </a:fld>
            <a:endParaRPr lang="en-PH"/>
          </a:p>
        </p:txBody>
      </p:sp>
    </p:spTree>
    <p:extLst>
      <p:ext uri="{BB962C8B-B14F-4D97-AF65-F5344CB8AC3E}">
        <p14:creationId xmlns:p14="http://schemas.microsoft.com/office/powerpoint/2010/main" val="778402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E74731FA-A794-438D-9C93-55A23472C33A}" type="slidenum">
              <a:rPr lang="en-PH" smtClean="0"/>
              <a:t>12</a:t>
            </a:fld>
            <a:endParaRPr lang="en-PH"/>
          </a:p>
        </p:txBody>
      </p:sp>
    </p:spTree>
    <p:extLst>
      <p:ext uri="{BB962C8B-B14F-4D97-AF65-F5344CB8AC3E}">
        <p14:creationId xmlns:p14="http://schemas.microsoft.com/office/powerpoint/2010/main" val="2897682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E74731FA-A794-438D-9C93-55A23472C33A}" type="slidenum">
              <a:rPr lang="en-PH" smtClean="0"/>
              <a:t>13</a:t>
            </a:fld>
            <a:endParaRPr lang="en-PH"/>
          </a:p>
        </p:txBody>
      </p:sp>
    </p:spTree>
    <p:extLst>
      <p:ext uri="{BB962C8B-B14F-4D97-AF65-F5344CB8AC3E}">
        <p14:creationId xmlns:p14="http://schemas.microsoft.com/office/powerpoint/2010/main" val="37245046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E74731FA-A794-438D-9C93-55A23472C33A}" type="slidenum">
              <a:rPr lang="en-PH" smtClean="0"/>
              <a:t>14</a:t>
            </a:fld>
            <a:endParaRPr lang="en-PH"/>
          </a:p>
        </p:txBody>
      </p:sp>
    </p:spTree>
    <p:extLst>
      <p:ext uri="{BB962C8B-B14F-4D97-AF65-F5344CB8AC3E}">
        <p14:creationId xmlns:p14="http://schemas.microsoft.com/office/powerpoint/2010/main" val="10257265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E74731FA-A794-438D-9C93-55A23472C33A}" type="slidenum">
              <a:rPr lang="en-PH" smtClean="0"/>
              <a:t>15</a:t>
            </a:fld>
            <a:endParaRPr lang="en-PH"/>
          </a:p>
        </p:txBody>
      </p:sp>
    </p:spTree>
    <p:extLst>
      <p:ext uri="{BB962C8B-B14F-4D97-AF65-F5344CB8AC3E}">
        <p14:creationId xmlns:p14="http://schemas.microsoft.com/office/powerpoint/2010/main" val="171396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BB4A6-1F76-33BA-A6C8-307CF605E7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7B2A42-3DB2-2EAC-C964-D6A0FC906B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2DAD3D-1E98-884C-FE59-2F89992BFB3B}"/>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CC2149F5-4071-C29B-78E6-0061B850C25F}"/>
              </a:ext>
            </a:extLst>
          </p:cNvPr>
          <p:cNvSpPr>
            <a:spLocks noGrp="1"/>
          </p:cNvSpPr>
          <p:nvPr>
            <p:ph type="sldNum" sz="quarter" idx="5"/>
          </p:nvPr>
        </p:nvSpPr>
        <p:spPr/>
        <p:txBody>
          <a:bodyPr/>
          <a:lstStyle/>
          <a:p>
            <a:fld id="{E74731FA-A794-438D-9C93-55A23472C33A}" type="slidenum">
              <a:rPr lang="en-PH" smtClean="0"/>
              <a:t>16</a:t>
            </a:fld>
            <a:endParaRPr lang="en-PH"/>
          </a:p>
        </p:txBody>
      </p:sp>
    </p:spTree>
    <p:extLst>
      <p:ext uri="{BB962C8B-B14F-4D97-AF65-F5344CB8AC3E}">
        <p14:creationId xmlns:p14="http://schemas.microsoft.com/office/powerpoint/2010/main" val="9939874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71F78-6571-D22C-2486-8081C9BFC6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23AA40-9BC6-D228-5A19-D6EAC47A09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40C925-99AF-A28C-C44F-3BEBF92BE1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ADE48D-E673-CDDE-ED27-F2077F911D2E}"/>
              </a:ext>
            </a:extLst>
          </p:cNvPr>
          <p:cNvSpPr>
            <a:spLocks noGrp="1"/>
          </p:cNvSpPr>
          <p:nvPr>
            <p:ph type="sldNum" sz="quarter" idx="5"/>
          </p:nvPr>
        </p:nvSpPr>
        <p:spPr/>
        <p:txBody>
          <a:bodyPr/>
          <a:lstStyle/>
          <a:p>
            <a:fld id="{E74731FA-A794-438D-9C93-55A23472C33A}" type="slidenum">
              <a:rPr lang="en-PH" smtClean="0"/>
              <a:t>17</a:t>
            </a:fld>
            <a:endParaRPr lang="en-PH"/>
          </a:p>
        </p:txBody>
      </p:sp>
    </p:spTree>
    <p:extLst>
      <p:ext uri="{BB962C8B-B14F-4D97-AF65-F5344CB8AC3E}">
        <p14:creationId xmlns:p14="http://schemas.microsoft.com/office/powerpoint/2010/main" val="25925485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109EB-8A26-6E66-419E-80EE52AEF6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A2DED8-95AD-4143-48BB-3B34A8CA5E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83E792-2DC9-4C48-6FAE-F715B04CCAB8}"/>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888B6F52-AF68-08A1-C95B-E071DCEF3C07}"/>
              </a:ext>
            </a:extLst>
          </p:cNvPr>
          <p:cNvSpPr>
            <a:spLocks noGrp="1"/>
          </p:cNvSpPr>
          <p:nvPr>
            <p:ph type="sldNum" sz="quarter" idx="5"/>
          </p:nvPr>
        </p:nvSpPr>
        <p:spPr/>
        <p:txBody>
          <a:bodyPr/>
          <a:lstStyle/>
          <a:p>
            <a:fld id="{E74731FA-A794-438D-9C93-55A23472C33A}" type="slidenum">
              <a:rPr lang="en-PH" smtClean="0"/>
              <a:t>18</a:t>
            </a:fld>
            <a:endParaRPr lang="en-PH"/>
          </a:p>
        </p:txBody>
      </p:sp>
    </p:spTree>
    <p:extLst>
      <p:ext uri="{BB962C8B-B14F-4D97-AF65-F5344CB8AC3E}">
        <p14:creationId xmlns:p14="http://schemas.microsoft.com/office/powerpoint/2010/main" val="5125850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40DE9-30E4-A59B-EC0D-EC33EB6957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1AA677-BC4E-2F33-239D-9CB1CB6473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5D21A4-957D-2CC7-3B16-80F296351E64}"/>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D61EC52C-0EFA-F91F-C26D-2963D9E31DD2}"/>
              </a:ext>
            </a:extLst>
          </p:cNvPr>
          <p:cNvSpPr>
            <a:spLocks noGrp="1"/>
          </p:cNvSpPr>
          <p:nvPr>
            <p:ph type="sldNum" sz="quarter" idx="5"/>
          </p:nvPr>
        </p:nvSpPr>
        <p:spPr/>
        <p:txBody>
          <a:bodyPr/>
          <a:lstStyle/>
          <a:p>
            <a:fld id="{E74731FA-A794-438D-9C93-55A23472C33A}" type="slidenum">
              <a:rPr lang="en-PH" smtClean="0"/>
              <a:t>19</a:t>
            </a:fld>
            <a:endParaRPr lang="en-PH"/>
          </a:p>
        </p:txBody>
      </p:sp>
    </p:spTree>
    <p:extLst>
      <p:ext uri="{BB962C8B-B14F-4D97-AF65-F5344CB8AC3E}">
        <p14:creationId xmlns:p14="http://schemas.microsoft.com/office/powerpoint/2010/main" val="24374293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D6DEF-0055-2173-5F65-9EE700B82B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2BDA8F-2E7B-2250-2302-9E40C7C7B2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10FB8D-90FD-63ED-8C05-C48FEFC7AE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E77F86-1C8A-3945-C356-D17F63CF671A}"/>
              </a:ext>
            </a:extLst>
          </p:cNvPr>
          <p:cNvSpPr>
            <a:spLocks noGrp="1"/>
          </p:cNvSpPr>
          <p:nvPr>
            <p:ph type="sldNum" sz="quarter" idx="5"/>
          </p:nvPr>
        </p:nvSpPr>
        <p:spPr/>
        <p:txBody>
          <a:bodyPr/>
          <a:lstStyle/>
          <a:p>
            <a:fld id="{E74731FA-A794-438D-9C93-55A23472C33A}" type="slidenum">
              <a:rPr lang="en-PH" smtClean="0"/>
              <a:t>20</a:t>
            </a:fld>
            <a:endParaRPr lang="en-PH"/>
          </a:p>
        </p:txBody>
      </p:sp>
    </p:spTree>
    <p:extLst>
      <p:ext uri="{BB962C8B-B14F-4D97-AF65-F5344CB8AC3E}">
        <p14:creationId xmlns:p14="http://schemas.microsoft.com/office/powerpoint/2010/main" val="10878259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60AFB-0C00-C024-82C5-25274470FF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9DB0AC-2772-802D-046E-D9205A88CF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D917C4-960F-6EB9-69B1-578E4ABC0B19}"/>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2162825B-8D06-37BA-6DDB-0CDC4B6E5EA4}"/>
              </a:ext>
            </a:extLst>
          </p:cNvPr>
          <p:cNvSpPr>
            <a:spLocks noGrp="1"/>
          </p:cNvSpPr>
          <p:nvPr>
            <p:ph type="sldNum" sz="quarter" idx="5"/>
          </p:nvPr>
        </p:nvSpPr>
        <p:spPr/>
        <p:txBody>
          <a:bodyPr/>
          <a:lstStyle/>
          <a:p>
            <a:fld id="{E74731FA-A794-438D-9C93-55A23472C33A}" type="slidenum">
              <a:rPr lang="en-PH" smtClean="0"/>
              <a:t>21</a:t>
            </a:fld>
            <a:endParaRPr lang="en-PH"/>
          </a:p>
        </p:txBody>
      </p:sp>
    </p:spTree>
    <p:extLst>
      <p:ext uri="{BB962C8B-B14F-4D97-AF65-F5344CB8AC3E}">
        <p14:creationId xmlns:p14="http://schemas.microsoft.com/office/powerpoint/2010/main" val="38073839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1D254-EF6C-746A-5D4A-5F7AFB2E20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CB8A6F-7756-DB3E-A7CB-24CCADDFA0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F6090B-EDBC-F8B7-95BD-AFE54E6CF424}"/>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4248BD82-1CCA-C685-94AD-6936B678E3F6}"/>
              </a:ext>
            </a:extLst>
          </p:cNvPr>
          <p:cNvSpPr>
            <a:spLocks noGrp="1"/>
          </p:cNvSpPr>
          <p:nvPr>
            <p:ph type="sldNum" sz="quarter" idx="5"/>
          </p:nvPr>
        </p:nvSpPr>
        <p:spPr/>
        <p:txBody>
          <a:bodyPr/>
          <a:lstStyle/>
          <a:p>
            <a:fld id="{E74731FA-A794-438D-9C93-55A23472C33A}" type="slidenum">
              <a:rPr lang="en-PH" smtClean="0"/>
              <a:t>22</a:t>
            </a:fld>
            <a:endParaRPr lang="en-PH"/>
          </a:p>
        </p:txBody>
      </p:sp>
    </p:spTree>
    <p:extLst>
      <p:ext uri="{BB962C8B-B14F-4D97-AF65-F5344CB8AC3E}">
        <p14:creationId xmlns:p14="http://schemas.microsoft.com/office/powerpoint/2010/main" val="22595182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E74731FA-A794-438D-9C93-55A23472C33A}" type="slidenum">
              <a:rPr lang="en-PH" smtClean="0"/>
              <a:t>25</a:t>
            </a:fld>
            <a:endParaRPr lang="en-PH"/>
          </a:p>
        </p:txBody>
      </p:sp>
    </p:spTree>
    <p:extLst>
      <p:ext uri="{BB962C8B-B14F-4D97-AF65-F5344CB8AC3E}">
        <p14:creationId xmlns:p14="http://schemas.microsoft.com/office/powerpoint/2010/main" val="11634688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PH"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a:t>
                </a:r>
                <a:r>
                  <a:rPr lang="en-US" baseline="30000" dirty="0"/>
                  <a:t>nd</a:t>
                </a:r>
                <a:r>
                  <a:rPr lang="en-US" dirty="0"/>
                  <a:t> image </a:t>
                </a:r>
                <a:r>
                  <a:rPr lang="en-US" dirty="0" err="1"/>
                  <a:t>Patm</a:t>
                </a:r>
                <a:r>
                  <a:rPr lang="en-US" dirty="0"/>
                  <a:t> – </a:t>
                </a:r>
                <a:r>
                  <a:rPr lang="en-US" dirty="0" err="1"/>
                  <a:t>Pgas</a:t>
                </a:r>
                <a:r>
                  <a:rPr lang="en-US" dirty="0"/>
                  <a:t> = </a:t>
                </a:r>
                <a:r>
                  <a:rPr lang="en-PH" sz="1200" b="1" i="0">
                    <a:solidFill>
                      <a:srgbClr val="000000"/>
                    </a:solidFill>
                    <a:latin typeface="Cambria Math" panose="02040503050406030204" pitchFamily="18" charset="0"/>
                    <a:ea typeface="Cambria Math" panose="02040503050406030204" pitchFamily="18" charset="0"/>
                    <a:cs typeface="Courier New" panose="02070309020205020404" pitchFamily="49" charset="0"/>
                    <a:sym typeface="Nunito 1 Bold"/>
                  </a:rPr>
                  <a:t>"ρg∆h</a:t>
                </a:r>
                <a:r>
                  <a:rPr lang="en-PH" sz="1200" b="1" i="0">
                    <a:solidFill>
                      <a:srgbClr val="000000"/>
                    </a:solidFill>
                    <a:latin typeface="Courier New" panose="02070309020205020404" pitchFamily="49" charset="0"/>
                    <a:ea typeface="Cambria Math" panose="02040503050406030204" pitchFamily="18" charset="0"/>
                    <a:cs typeface="Courier New" panose="02070309020205020404" pitchFamily="49" charset="0"/>
                    <a:sym typeface="Nunito 1 Bold"/>
                  </a:rPr>
                  <a:t>"</a:t>
                </a:r>
                <a:r>
                  <a:rPr lang="en-PH" dirty="0"/>
                  <a:t> therefore </a:t>
                </a:r>
                <a:r>
                  <a:rPr lang="en-PH" dirty="0" err="1"/>
                  <a:t>Pgas</a:t>
                </a:r>
                <a:r>
                  <a:rPr lang="en-PH" dirty="0"/>
                  <a:t> = </a:t>
                </a:r>
                <a:r>
                  <a:rPr lang="en-PH" dirty="0" err="1"/>
                  <a:t>Patm</a:t>
                </a:r>
                <a:r>
                  <a:rPr lang="en-PH" dirty="0"/>
                  <a:t> - </a:t>
                </a:r>
                <a:r>
                  <a:rPr lang="en-PH" sz="1200" b="1" i="0">
                    <a:solidFill>
                      <a:srgbClr val="000000"/>
                    </a:solidFill>
                    <a:latin typeface="Cambria Math" panose="02040503050406030204" pitchFamily="18" charset="0"/>
                    <a:ea typeface="Cambria Math" panose="02040503050406030204" pitchFamily="18" charset="0"/>
                    <a:cs typeface="Courier New" panose="02070309020205020404" pitchFamily="49" charset="0"/>
                    <a:sym typeface="Nunito 1 Bold"/>
                  </a:rPr>
                  <a:t>"ρg∆h</a:t>
                </a:r>
                <a:r>
                  <a:rPr lang="en-PH" sz="1200" b="1" i="0">
                    <a:solidFill>
                      <a:srgbClr val="000000"/>
                    </a:solidFill>
                    <a:latin typeface="Courier New" panose="02070309020205020404" pitchFamily="49" charset="0"/>
                    <a:ea typeface="Cambria Math" panose="02040503050406030204" pitchFamily="18" charset="0"/>
                    <a:cs typeface="Courier New" panose="02070309020205020404" pitchFamily="49" charset="0"/>
                    <a:sym typeface="Nunito 1 Bold"/>
                  </a:rPr>
                  <a:t>"</a:t>
                </a:r>
                <a:endParaRPr lang="en-PH"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3</a:t>
                </a:r>
                <a:r>
                  <a:rPr lang="en-US" baseline="30000" dirty="0"/>
                  <a:t>rd</a:t>
                </a:r>
                <a:r>
                  <a:rPr lang="en-US" dirty="0"/>
                  <a:t> image </a:t>
                </a:r>
                <a:r>
                  <a:rPr lang="en-US" dirty="0" err="1"/>
                  <a:t>Pgas</a:t>
                </a:r>
                <a:r>
                  <a:rPr lang="en-US" dirty="0"/>
                  <a:t> – </a:t>
                </a:r>
                <a:r>
                  <a:rPr lang="en-US" dirty="0" err="1"/>
                  <a:t>Patm</a:t>
                </a:r>
                <a:r>
                  <a:rPr lang="en-US" dirty="0"/>
                  <a:t> = </a:t>
                </a:r>
                <a:r>
                  <a:rPr lang="en-PH" sz="1200" b="1" i="0">
                    <a:solidFill>
                      <a:srgbClr val="000000"/>
                    </a:solidFill>
                    <a:latin typeface="Cambria Math" panose="02040503050406030204" pitchFamily="18" charset="0"/>
                    <a:ea typeface="Cambria Math" panose="02040503050406030204" pitchFamily="18" charset="0"/>
                    <a:cs typeface="Courier New" panose="02070309020205020404" pitchFamily="49" charset="0"/>
                    <a:sym typeface="Nunito 1 Bold"/>
                  </a:rPr>
                  <a:t>"ρg∆h</a:t>
                </a:r>
                <a:r>
                  <a:rPr lang="en-PH" sz="1200" b="1" i="0">
                    <a:solidFill>
                      <a:srgbClr val="000000"/>
                    </a:solidFill>
                    <a:latin typeface="Courier New" panose="02070309020205020404" pitchFamily="49" charset="0"/>
                    <a:ea typeface="Cambria Math" panose="02040503050406030204" pitchFamily="18" charset="0"/>
                    <a:cs typeface="Courier New" panose="02070309020205020404" pitchFamily="49" charset="0"/>
                    <a:sym typeface="Nunito 1 Bold"/>
                  </a:rPr>
                  <a:t>"</a:t>
                </a:r>
                <a:r>
                  <a:rPr lang="en-PH" dirty="0"/>
                  <a:t> therefore </a:t>
                </a:r>
                <a:r>
                  <a:rPr lang="en-PH" dirty="0" err="1"/>
                  <a:t>Pgas</a:t>
                </a:r>
                <a:r>
                  <a:rPr lang="en-PH" dirty="0"/>
                  <a:t> = </a:t>
                </a:r>
                <a:r>
                  <a:rPr lang="en-PH" dirty="0" err="1"/>
                  <a:t>Patm</a:t>
                </a:r>
                <a:r>
                  <a:rPr lang="en-PH" dirty="0"/>
                  <a:t> = </a:t>
                </a:r>
                <a:r>
                  <a:rPr lang="en-PH" sz="1200" b="1" i="0">
                    <a:solidFill>
                      <a:srgbClr val="000000"/>
                    </a:solidFill>
                    <a:latin typeface="Cambria Math" panose="02040503050406030204" pitchFamily="18" charset="0"/>
                    <a:ea typeface="Cambria Math" panose="02040503050406030204" pitchFamily="18" charset="0"/>
                    <a:cs typeface="Courier New" panose="02070309020205020404" pitchFamily="49" charset="0"/>
                    <a:sym typeface="Nunito 1 Bold"/>
                  </a:rPr>
                  <a:t>"ρg∆h</a:t>
                </a:r>
                <a:r>
                  <a:rPr lang="en-PH" sz="1200" b="1" i="0">
                    <a:solidFill>
                      <a:srgbClr val="000000"/>
                    </a:solidFill>
                    <a:latin typeface="Courier New" panose="02070309020205020404" pitchFamily="49" charset="0"/>
                    <a:ea typeface="Cambria Math" panose="02040503050406030204" pitchFamily="18" charset="0"/>
                    <a:cs typeface="Courier New" panose="02070309020205020404" pitchFamily="49" charset="0"/>
                    <a:sym typeface="Nunito 1 Bold"/>
                  </a:rPr>
                  <a:t>"</a:t>
                </a:r>
                <a:endParaRPr lang="en-PH" dirty="0"/>
              </a:p>
              <a:p>
                <a:endParaRPr lang="en-PH" dirty="0"/>
              </a:p>
            </p:txBody>
          </p:sp>
        </mc:Fallback>
      </mc:AlternateContent>
      <p:sp>
        <p:nvSpPr>
          <p:cNvPr id="4" name="Slide Number Placeholder 3"/>
          <p:cNvSpPr>
            <a:spLocks noGrp="1"/>
          </p:cNvSpPr>
          <p:nvPr>
            <p:ph type="sldNum" sz="quarter" idx="5"/>
          </p:nvPr>
        </p:nvSpPr>
        <p:spPr/>
        <p:txBody>
          <a:bodyPr/>
          <a:lstStyle/>
          <a:p>
            <a:fld id="{E74731FA-A794-438D-9C93-55A23472C33A}" type="slidenum">
              <a:rPr lang="en-PH" smtClean="0"/>
              <a:t>26</a:t>
            </a:fld>
            <a:endParaRPr lang="en-PH"/>
          </a:p>
        </p:txBody>
      </p:sp>
    </p:spTree>
    <p:extLst>
      <p:ext uri="{BB962C8B-B14F-4D97-AF65-F5344CB8AC3E}">
        <p14:creationId xmlns:p14="http://schemas.microsoft.com/office/powerpoint/2010/main" val="12028278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E74731FA-A794-438D-9C93-55A23472C33A}" type="slidenum">
              <a:rPr lang="en-PH" smtClean="0"/>
              <a:t>27</a:t>
            </a:fld>
            <a:endParaRPr lang="en-PH"/>
          </a:p>
        </p:txBody>
      </p:sp>
    </p:spTree>
    <p:extLst>
      <p:ext uri="{BB962C8B-B14F-4D97-AF65-F5344CB8AC3E}">
        <p14:creationId xmlns:p14="http://schemas.microsoft.com/office/powerpoint/2010/main" val="31451607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22A57-3AC0-0838-45CC-AE8B575F60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5DE46F-C259-5AC3-36E1-D83C188181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939E40-33FE-E57B-9A7D-EC2A11F0B538}"/>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787CB4E7-C404-0741-DAA8-599FC4F93521}"/>
              </a:ext>
            </a:extLst>
          </p:cNvPr>
          <p:cNvSpPr>
            <a:spLocks noGrp="1"/>
          </p:cNvSpPr>
          <p:nvPr>
            <p:ph type="sldNum" sz="quarter" idx="5"/>
          </p:nvPr>
        </p:nvSpPr>
        <p:spPr/>
        <p:txBody>
          <a:bodyPr/>
          <a:lstStyle/>
          <a:p>
            <a:fld id="{E74731FA-A794-438D-9C93-55A23472C33A}" type="slidenum">
              <a:rPr lang="en-PH" smtClean="0"/>
              <a:t>28</a:t>
            </a:fld>
            <a:endParaRPr lang="en-PH"/>
          </a:p>
        </p:txBody>
      </p:sp>
    </p:spTree>
    <p:extLst>
      <p:ext uri="{BB962C8B-B14F-4D97-AF65-F5344CB8AC3E}">
        <p14:creationId xmlns:p14="http://schemas.microsoft.com/office/powerpoint/2010/main" val="12372164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D5838-2334-9CA5-E316-41FDD33B4B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7F679F-704F-D7AE-7DA2-D498E4B356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A893C-49B8-08BC-251F-11DC3863C504}"/>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0D00E913-AE11-9E14-36BA-A251A26ADAE3}"/>
              </a:ext>
            </a:extLst>
          </p:cNvPr>
          <p:cNvSpPr>
            <a:spLocks noGrp="1"/>
          </p:cNvSpPr>
          <p:nvPr>
            <p:ph type="sldNum" sz="quarter" idx="5"/>
          </p:nvPr>
        </p:nvSpPr>
        <p:spPr/>
        <p:txBody>
          <a:bodyPr/>
          <a:lstStyle/>
          <a:p>
            <a:fld id="{E74731FA-A794-438D-9C93-55A23472C33A}" type="slidenum">
              <a:rPr lang="en-PH" smtClean="0"/>
              <a:t>29</a:t>
            </a:fld>
            <a:endParaRPr lang="en-PH"/>
          </a:p>
        </p:txBody>
      </p:sp>
    </p:spTree>
    <p:extLst>
      <p:ext uri="{BB962C8B-B14F-4D97-AF65-F5344CB8AC3E}">
        <p14:creationId xmlns:p14="http://schemas.microsoft.com/office/powerpoint/2010/main" val="35060760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10C13-DB26-C546-A2A3-4899205604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EEA93D-A7FD-C093-7BBC-946465DE81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88B8B9-97EC-F9A4-D773-1D6DD441EC92}"/>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9C8D7293-7337-27DF-3A86-0ED8A3E64404}"/>
              </a:ext>
            </a:extLst>
          </p:cNvPr>
          <p:cNvSpPr>
            <a:spLocks noGrp="1"/>
          </p:cNvSpPr>
          <p:nvPr>
            <p:ph type="sldNum" sz="quarter" idx="5"/>
          </p:nvPr>
        </p:nvSpPr>
        <p:spPr/>
        <p:txBody>
          <a:bodyPr/>
          <a:lstStyle/>
          <a:p>
            <a:fld id="{E74731FA-A794-438D-9C93-55A23472C33A}" type="slidenum">
              <a:rPr lang="en-PH" smtClean="0"/>
              <a:t>30</a:t>
            </a:fld>
            <a:endParaRPr lang="en-PH"/>
          </a:p>
        </p:txBody>
      </p:sp>
    </p:spTree>
    <p:extLst>
      <p:ext uri="{BB962C8B-B14F-4D97-AF65-F5344CB8AC3E}">
        <p14:creationId xmlns:p14="http://schemas.microsoft.com/office/powerpoint/2010/main" val="9564470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99043-961C-7843-2C0D-6A3998F7D5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B1E845-CB25-08FC-A852-8B67E0B4FF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62479F-ED94-832A-018C-30D6A4F6B08B}"/>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E38C72AC-3108-2501-866E-E1A796EE6C4E}"/>
              </a:ext>
            </a:extLst>
          </p:cNvPr>
          <p:cNvSpPr>
            <a:spLocks noGrp="1"/>
          </p:cNvSpPr>
          <p:nvPr>
            <p:ph type="sldNum" sz="quarter" idx="5"/>
          </p:nvPr>
        </p:nvSpPr>
        <p:spPr/>
        <p:txBody>
          <a:bodyPr/>
          <a:lstStyle/>
          <a:p>
            <a:fld id="{E74731FA-A794-438D-9C93-55A23472C33A}" type="slidenum">
              <a:rPr lang="en-PH" smtClean="0"/>
              <a:t>31</a:t>
            </a:fld>
            <a:endParaRPr lang="en-PH"/>
          </a:p>
        </p:txBody>
      </p:sp>
    </p:spTree>
    <p:extLst>
      <p:ext uri="{BB962C8B-B14F-4D97-AF65-F5344CB8AC3E}">
        <p14:creationId xmlns:p14="http://schemas.microsoft.com/office/powerpoint/2010/main" val="24810265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DFB4E-BF57-41DC-7F13-77365B1A45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025B42-D885-D89B-69D2-13F71A074E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217593-D1FE-FA40-8BEC-F9F50F0FFD3B}"/>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E63CF95B-71D2-5A3E-F1D0-C0D45738DBB1}"/>
              </a:ext>
            </a:extLst>
          </p:cNvPr>
          <p:cNvSpPr>
            <a:spLocks noGrp="1"/>
          </p:cNvSpPr>
          <p:nvPr>
            <p:ph type="sldNum" sz="quarter" idx="5"/>
          </p:nvPr>
        </p:nvSpPr>
        <p:spPr/>
        <p:txBody>
          <a:bodyPr/>
          <a:lstStyle/>
          <a:p>
            <a:fld id="{E74731FA-A794-438D-9C93-55A23472C33A}" type="slidenum">
              <a:rPr lang="en-PH" smtClean="0"/>
              <a:t>32</a:t>
            </a:fld>
            <a:endParaRPr lang="en-PH"/>
          </a:p>
        </p:txBody>
      </p:sp>
    </p:spTree>
    <p:extLst>
      <p:ext uri="{BB962C8B-B14F-4D97-AF65-F5344CB8AC3E}">
        <p14:creationId xmlns:p14="http://schemas.microsoft.com/office/powerpoint/2010/main" val="34103820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0.jpe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microsoft.com/office/2007/relationships/hdphoto" Target="../media/hdphoto1.wdp"/><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7.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221.png"/></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260.png"/></Relationships>
</file>

<file path=ppt/slides/_rels/slide33.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 y="0"/>
            <a:ext cx="18288000" cy="10287000"/>
            <a:chOff x="0" y="0"/>
            <a:chExt cx="27343100" cy="13716000"/>
          </a:xfrm>
        </p:grpSpPr>
        <p:sp>
          <p:nvSpPr>
            <p:cNvPr id="3" name="Freeform 3"/>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grpSp>
        <p:nvGrpSpPr>
          <p:cNvPr id="5" name="Group 5"/>
          <p:cNvGrpSpPr/>
          <p:nvPr/>
        </p:nvGrpSpPr>
        <p:grpSpPr>
          <a:xfrm>
            <a:off x="0" y="8353252"/>
            <a:ext cx="18288000" cy="1420979"/>
            <a:chOff x="0" y="0"/>
            <a:chExt cx="5260714" cy="374250"/>
          </a:xfrm>
        </p:grpSpPr>
        <p:sp>
          <p:nvSpPr>
            <p:cNvPr id="6" name="Freeform 6"/>
            <p:cNvSpPr/>
            <p:nvPr/>
          </p:nvSpPr>
          <p:spPr>
            <a:xfrm>
              <a:off x="0" y="0"/>
              <a:ext cx="5260714" cy="374250"/>
            </a:xfrm>
            <a:custGeom>
              <a:avLst/>
              <a:gdLst/>
              <a:ahLst/>
              <a:cxnLst/>
              <a:rect l="l" t="t" r="r" b="b"/>
              <a:pathLst>
                <a:path w="5260714" h="374250">
                  <a:moveTo>
                    <a:pt x="0" y="0"/>
                  </a:moveTo>
                  <a:lnTo>
                    <a:pt x="5260714" y="0"/>
                  </a:lnTo>
                  <a:lnTo>
                    <a:pt x="5260714" y="374250"/>
                  </a:lnTo>
                  <a:lnTo>
                    <a:pt x="0" y="374250"/>
                  </a:lnTo>
                  <a:close/>
                </a:path>
              </a:pathLst>
            </a:custGeom>
            <a:solidFill>
              <a:srgbClr val="F1F2F2"/>
            </a:solidFill>
          </p:spPr>
        </p:sp>
        <p:sp>
          <p:nvSpPr>
            <p:cNvPr id="7" name="TextBox 7"/>
            <p:cNvSpPr txBox="1"/>
            <p:nvPr/>
          </p:nvSpPr>
          <p:spPr>
            <a:xfrm>
              <a:off x="0" y="-38100"/>
              <a:ext cx="5260714" cy="412350"/>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600877" y="559518"/>
            <a:ext cx="2942276" cy="2942276"/>
          </a:xfrm>
          <a:custGeom>
            <a:avLst/>
            <a:gdLst/>
            <a:ahLst/>
            <a:cxnLst/>
            <a:rect l="l" t="t" r="r" b="b"/>
            <a:pathLst>
              <a:path w="2942276" h="2942276">
                <a:moveTo>
                  <a:pt x="0" y="0"/>
                </a:moveTo>
                <a:lnTo>
                  <a:pt x="2942276" y="0"/>
                </a:lnTo>
                <a:lnTo>
                  <a:pt x="2942276" y="2942277"/>
                </a:lnTo>
                <a:lnTo>
                  <a:pt x="0" y="29422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a:off x="12399945" y="6931538"/>
            <a:ext cx="3395204" cy="1049427"/>
          </a:xfrm>
          <a:custGeom>
            <a:avLst/>
            <a:gdLst/>
            <a:ahLst/>
            <a:cxnLst/>
            <a:rect l="l" t="t" r="r" b="b"/>
            <a:pathLst>
              <a:path w="3395204" h="1049427">
                <a:moveTo>
                  <a:pt x="0" y="0"/>
                </a:moveTo>
                <a:lnTo>
                  <a:pt x="3395204" y="0"/>
                </a:lnTo>
                <a:lnTo>
                  <a:pt x="3395204" y="1049427"/>
                </a:lnTo>
                <a:lnTo>
                  <a:pt x="0" y="104942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TextBox 10"/>
          <p:cNvSpPr txBox="1"/>
          <p:nvPr/>
        </p:nvSpPr>
        <p:spPr>
          <a:xfrm>
            <a:off x="1668631" y="1573137"/>
            <a:ext cx="14950738" cy="4549859"/>
          </a:xfrm>
          <a:prstGeom prst="rect">
            <a:avLst/>
          </a:prstGeom>
        </p:spPr>
        <p:txBody>
          <a:bodyPr lIns="0" tIns="0" rIns="0" bIns="0" rtlCol="0" anchor="t">
            <a:spAutoFit/>
          </a:bodyPr>
          <a:lstStyle/>
          <a:p>
            <a:pPr algn="ctr">
              <a:lnSpc>
                <a:spcPts val="14620"/>
              </a:lnSpc>
            </a:pPr>
            <a:r>
              <a:rPr lang="en-US" sz="10443" dirty="0">
                <a:solidFill>
                  <a:srgbClr val="000000"/>
                </a:solidFill>
                <a:latin typeface="Fredoka SemiBold" pitchFamily="2" charset="-79"/>
                <a:ea typeface="Fredoka"/>
                <a:cs typeface="Fredoka SemiBold" pitchFamily="2" charset="-79"/>
                <a:sym typeface="Fredoka"/>
              </a:rPr>
              <a:t>AREA II:</a:t>
            </a:r>
          </a:p>
          <a:p>
            <a:pPr algn="ctr">
              <a:lnSpc>
                <a:spcPts val="10259"/>
              </a:lnSpc>
            </a:pPr>
            <a:r>
              <a:rPr lang="en-US" sz="8999" dirty="0">
                <a:solidFill>
                  <a:srgbClr val="000000"/>
                </a:solidFill>
                <a:latin typeface="Fredoka SemiBold" pitchFamily="2" charset="-79"/>
                <a:ea typeface="Fredoka"/>
                <a:cs typeface="Fredoka SemiBold" pitchFamily="2" charset="-79"/>
                <a:sym typeface="Fredoka"/>
              </a:rPr>
              <a:t>LAND AND WATER RESOURCES ENGINEERING</a:t>
            </a:r>
          </a:p>
        </p:txBody>
      </p:sp>
      <p:sp>
        <p:nvSpPr>
          <p:cNvPr id="11" name="TextBox 11"/>
          <p:cNvSpPr txBox="1"/>
          <p:nvPr/>
        </p:nvSpPr>
        <p:spPr>
          <a:xfrm>
            <a:off x="4190453" y="6893438"/>
            <a:ext cx="9907094" cy="361637"/>
          </a:xfrm>
          <a:prstGeom prst="rect">
            <a:avLst/>
          </a:prstGeom>
        </p:spPr>
        <p:txBody>
          <a:bodyPr lIns="0" tIns="0" rIns="0" bIns="0" rtlCol="0" anchor="t">
            <a:spAutoFit/>
          </a:bodyPr>
          <a:lstStyle/>
          <a:p>
            <a:pPr algn="ctr">
              <a:lnSpc>
                <a:spcPts val="2800"/>
              </a:lnSpc>
            </a:pPr>
            <a:r>
              <a:rPr lang="en-US" sz="2400" b="1" dirty="0">
                <a:solidFill>
                  <a:srgbClr val="000000"/>
                </a:solidFill>
                <a:latin typeface="Nunito 1 Bold" panose="020B0604020202020204" charset="0"/>
                <a:ea typeface="Nunito 1 Bold"/>
                <a:cs typeface="Nunito 1 Bold"/>
                <a:sym typeface="Nunito 1 Bold"/>
              </a:rPr>
              <a:t>Prepared by: Engr. Nicole Jane J. Lim</a:t>
            </a:r>
          </a:p>
        </p:txBody>
      </p:sp>
      <p:sp>
        <p:nvSpPr>
          <p:cNvPr id="12" name="TextBox 12"/>
          <p:cNvSpPr txBox="1"/>
          <p:nvPr/>
        </p:nvSpPr>
        <p:spPr>
          <a:xfrm>
            <a:off x="1028700" y="8743950"/>
            <a:ext cx="5577893" cy="514350"/>
          </a:xfrm>
          <a:prstGeom prst="rect">
            <a:avLst/>
          </a:prstGeom>
        </p:spPr>
        <p:txBody>
          <a:bodyPr lIns="0" tIns="0" rIns="0" bIns="0" rtlCol="0" anchor="t">
            <a:spAutoFit/>
          </a:bodyPr>
          <a:lstStyle/>
          <a:p>
            <a:pPr algn="l">
              <a:lnSpc>
                <a:spcPts val="4200"/>
              </a:lnSpc>
            </a:pPr>
            <a:r>
              <a:rPr lang="en-US" sz="3000" dirty="0">
                <a:solidFill>
                  <a:srgbClr val="000000"/>
                </a:solidFill>
                <a:latin typeface="Nunito 1"/>
                <a:ea typeface="Nunito 1"/>
                <a:cs typeface="Nunito 1"/>
                <a:sym typeface="Nunito 1"/>
              </a:rPr>
              <a:t>ABELE | 2025</a:t>
            </a:r>
          </a:p>
        </p:txBody>
      </p:sp>
      <p:sp>
        <p:nvSpPr>
          <p:cNvPr id="13" name="TextBox 13"/>
          <p:cNvSpPr txBox="1"/>
          <p:nvPr/>
        </p:nvSpPr>
        <p:spPr>
          <a:xfrm>
            <a:off x="12777754" y="8743950"/>
            <a:ext cx="4481546" cy="514350"/>
          </a:xfrm>
          <a:prstGeom prst="rect">
            <a:avLst/>
          </a:prstGeom>
        </p:spPr>
        <p:txBody>
          <a:bodyPr lIns="0" tIns="0" rIns="0" bIns="0" rtlCol="0" anchor="t">
            <a:spAutoFit/>
          </a:bodyPr>
          <a:lstStyle/>
          <a:p>
            <a:pPr algn="r">
              <a:lnSpc>
                <a:spcPts val="4200"/>
              </a:lnSpc>
            </a:pPr>
            <a:r>
              <a:rPr lang="en-US" sz="3000" dirty="0" err="1">
                <a:solidFill>
                  <a:srgbClr val="000000"/>
                </a:solidFill>
                <a:latin typeface="Nunito 1"/>
                <a:ea typeface="Nunito 1"/>
                <a:cs typeface="Nunito 1"/>
                <a:sym typeface="Nunito 1"/>
              </a:rPr>
              <a:t>ATTRC</a:t>
            </a:r>
            <a:r>
              <a:rPr lang="en-US" sz="3000" dirty="0">
                <a:solidFill>
                  <a:srgbClr val="000000"/>
                </a:solidFill>
                <a:latin typeface="Nunito 1"/>
                <a:ea typeface="Nunito 1"/>
                <a:cs typeface="Nunito 1"/>
                <a:sym typeface="Nunito 1"/>
              </a:rPr>
              <a:t> - Iligan City</a:t>
            </a:r>
          </a:p>
        </p:txBody>
      </p:sp>
      <p:sp>
        <p:nvSpPr>
          <p:cNvPr id="14" name="Freeform 14"/>
          <p:cNvSpPr/>
          <p:nvPr/>
        </p:nvSpPr>
        <p:spPr>
          <a:xfrm>
            <a:off x="17216912" y="0"/>
            <a:ext cx="1071088" cy="2030656"/>
          </a:xfrm>
          <a:custGeom>
            <a:avLst/>
            <a:gdLst/>
            <a:ahLst/>
            <a:cxnLst/>
            <a:rect l="l" t="t" r="r" b="b"/>
            <a:pathLst>
              <a:path w="2942276" h="2942276">
                <a:moveTo>
                  <a:pt x="0" y="0"/>
                </a:moveTo>
                <a:lnTo>
                  <a:pt x="2942276" y="0"/>
                </a:lnTo>
                <a:lnTo>
                  <a:pt x="2942276" y="2942276"/>
                </a:lnTo>
                <a:lnTo>
                  <a:pt x="0" y="2942276"/>
                </a:lnTo>
                <a:lnTo>
                  <a:pt x="0" y="0"/>
                </a:lnTo>
                <a:close/>
              </a:path>
            </a:pathLst>
          </a:custGeom>
          <a:blipFill>
            <a:blip r:embed="rId4">
              <a:extLst>
                <a:ext uri="{96DAC541-7B7A-43D3-8B79-37D633B846F1}">
                  <asvg:svgBlip xmlns:asvg="http://schemas.microsoft.com/office/drawing/2016/SVG/main" r:embed="rId5"/>
                </a:ext>
              </a:extLst>
            </a:blip>
            <a:stretch>
              <a:fillRect t="-44892" r="-174700"/>
            </a:stretch>
          </a:blipFill>
        </p:spPr>
      </p:sp>
      <p:pic>
        <p:nvPicPr>
          <p:cNvPr id="15" name="Picture 2" descr="No photo description available.">
            <a:extLst>
              <a:ext uri="{FF2B5EF4-FFF2-40B4-BE49-F238E27FC236}">
                <a16:creationId xmlns:a16="http://schemas.microsoft.com/office/drawing/2014/main" id="{B4B6732B-8B1E-FA9F-329D-A933B90711C7}"/>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994088" y="952729"/>
            <a:ext cx="2155854" cy="2155854"/>
          </a:xfrm>
          <a:prstGeom prst="ellipse">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descr="Round Geometric Memphis Design"/>
          <p:cNvSpPr/>
          <p:nvPr/>
        </p:nvSpPr>
        <p:spPr>
          <a:xfrm>
            <a:off x="600877" y="559518"/>
            <a:ext cx="2942276" cy="2942276"/>
          </a:xfrm>
          <a:custGeom>
            <a:avLst/>
            <a:gdLst/>
            <a:ahLst/>
            <a:cxnLst/>
            <a:rect l="l" t="t" r="r" b="b"/>
            <a:pathLst>
              <a:path w="2942276" h="2942276">
                <a:moveTo>
                  <a:pt x="0" y="0"/>
                </a:moveTo>
                <a:lnTo>
                  <a:pt x="2942276" y="0"/>
                </a:lnTo>
                <a:lnTo>
                  <a:pt x="2942276" y="2942277"/>
                </a:lnTo>
                <a:lnTo>
                  <a:pt x="0" y="29422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descr="Round Geometric Memphis Design"/>
          <p:cNvSpPr/>
          <p:nvPr/>
        </p:nvSpPr>
        <p:spPr>
          <a:xfrm>
            <a:off x="17216912" y="0"/>
            <a:ext cx="1071088" cy="2030656"/>
          </a:xfrm>
          <a:custGeom>
            <a:avLst/>
            <a:gdLst/>
            <a:ahLst/>
            <a:cxnLst/>
            <a:rect l="l" t="t" r="r" b="b"/>
            <a:pathLst>
              <a:path w="2942276" h="2942276">
                <a:moveTo>
                  <a:pt x="0" y="0"/>
                </a:moveTo>
                <a:lnTo>
                  <a:pt x="2942276" y="0"/>
                </a:lnTo>
                <a:lnTo>
                  <a:pt x="2942276" y="2942276"/>
                </a:lnTo>
                <a:lnTo>
                  <a:pt x="0" y="2942276"/>
                </a:lnTo>
                <a:lnTo>
                  <a:pt x="0" y="0"/>
                </a:lnTo>
                <a:close/>
              </a:path>
            </a:pathLst>
          </a:custGeom>
          <a:blipFill>
            <a:blip r:embed="rId2">
              <a:extLst>
                <a:ext uri="{96DAC541-7B7A-43D3-8B79-37D633B846F1}">
                  <asvg:svgBlip xmlns:asvg="http://schemas.microsoft.com/office/drawing/2016/SVG/main" r:embed="rId3"/>
                </a:ext>
              </a:extLst>
            </a:blip>
            <a:stretch>
              <a:fillRect t="-44892" r="-174700"/>
            </a:stretch>
          </a:blipFill>
        </p:spPr>
      </p:sp>
      <p:sp>
        <p:nvSpPr>
          <p:cNvPr id="4" name="TextBox 4"/>
          <p:cNvSpPr txBox="1"/>
          <p:nvPr/>
        </p:nvSpPr>
        <p:spPr>
          <a:xfrm>
            <a:off x="2673585" y="1495435"/>
            <a:ext cx="12940831" cy="2447925"/>
          </a:xfrm>
          <a:prstGeom prst="rect">
            <a:avLst/>
          </a:prstGeom>
        </p:spPr>
        <p:txBody>
          <a:bodyPr lIns="0" tIns="0" rIns="0" bIns="0" rtlCol="0" anchor="t">
            <a:spAutoFit/>
          </a:bodyPr>
          <a:lstStyle/>
          <a:p>
            <a:pPr marL="0" lvl="0" indent="0" algn="ctr">
              <a:lnSpc>
                <a:spcPts val="9600"/>
              </a:lnSpc>
              <a:spcBef>
                <a:spcPct val="0"/>
              </a:spcBef>
            </a:pPr>
            <a:r>
              <a:rPr lang="en-US" sz="8000" dirty="0">
                <a:solidFill>
                  <a:srgbClr val="000000"/>
                </a:solidFill>
                <a:latin typeface="Fredoka"/>
                <a:ea typeface="Fredoka"/>
                <a:cs typeface="Fredoka"/>
                <a:sym typeface="Fredoka"/>
              </a:rPr>
              <a:t>IRRIGATION AND DRAINAGE ENGINEERING</a:t>
            </a:r>
          </a:p>
        </p:txBody>
      </p:sp>
      <p:grpSp>
        <p:nvGrpSpPr>
          <p:cNvPr id="52" name="Group 51">
            <a:extLst>
              <a:ext uri="{FF2B5EF4-FFF2-40B4-BE49-F238E27FC236}">
                <a16:creationId xmlns:a16="http://schemas.microsoft.com/office/drawing/2014/main" id="{5D52C3D3-2A8D-FE8D-613B-C77B75FC372A}"/>
              </a:ext>
            </a:extLst>
          </p:cNvPr>
          <p:cNvGrpSpPr/>
          <p:nvPr/>
        </p:nvGrpSpPr>
        <p:grpSpPr>
          <a:xfrm>
            <a:off x="2673585" y="4405473"/>
            <a:ext cx="6019800" cy="880074"/>
            <a:chOff x="1295400" y="5558827"/>
            <a:chExt cx="6019800" cy="880074"/>
          </a:xfrm>
        </p:grpSpPr>
        <p:grpSp>
          <p:nvGrpSpPr>
            <p:cNvPr id="15" name="Group 10">
              <a:extLst>
                <a:ext uri="{FF2B5EF4-FFF2-40B4-BE49-F238E27FC236}">
                  <a16:creationId xmlns:a16="http://schemas.microsoft.com/office/drawing/2014/main" id="{CA6D57E5-28FF-B36D-BD04-43444F9BFADB}"/>
                </a:ext>
              </a:extLst>
            </p:cNvPr>
            <p:cNvGrpSpPr/>
            <p:nvPr/>
          </p:nvGrpSpPr>
          <p:grpSpPr>
            <a:xfrm>
              <a:off x="1295400" y="5558827"/>
              <a:ext cx="6019800" cy="880074"/>
              <a:chOff x="0" y="0"/>
              <a:chExt cx="3247348" cy="455698"/>
            </a:xfrm>
          </p:grpSpPr>
          <p:sp>
            <p:nvSpPr>
              <p:cNvPr id="16" name="Freeform 11">
                <a:extLst>
                  <a:ext uri="{FF2B5EF4-FFF2-40B4-BE49-F238E27FC236}">
                    <a16:creationId xmlns:a16="http://schemas.microsoft.com/office/drawing/2014/main" id="{81FFA35C-E2E3-8FBB-3915-83ED68FC3DDE}"/>
                  </a:ext>
                </a:extLst>
              </p:cNvPr>
              <p:cNvSpPr/>
              <p:nvPr/>
            </p:nvSpPr>
            <p:spPr>
              <a:xfrm>
                <a:off x="0" y="0"/>
                <a:ext cx="3247348" cy="455698"/>
              </a:xfrm>
              <a:prstGeom prst="roundRect">
                <a:avLst/>
              </a:prstGeom>
              <a:solidFill>
                <a:srgbClr val="DDDEDE"/>
              </a:solidFill>
              <a:ln w="38100" cap="sq">
                <a:solidFill>
                  <a:srgbClr val="F1F2F2"/>
                </a:solidFill>
                <a:prstDash val="solid"/>
                <a:miter/>
              </a:ln>
            </p:spPr>
          </p:sp>
          <p:sp>
            <p:nvSpPr>
              <p:cNvPr id="17" name="TextBox 12">
                <a:extLst>
                  <a:ext uri="{FF2B5EF4-FFF2-40B4-BE49-F238E27FC236}">
                    <a16:creationId xmlns:a16="http://schemas.microsoft.com/office/drawing/2014/main" id="{9E1B37F0-4F53-E73A-AF04-8BEC670E9344}"/>
                  </a:ext>
                </a:extLst>
              </p:cNvPr>
              <p:cNvSpPr txBox="1"/>
              <p:nvPr/>
            </p:nvSpPr>
            <p:spPr>
              <a:xfrm>
                <a:off x="0" y="-38100"/>
                <a:ext cx="3247348" cy="493798"/>
              </a:xfrm>
              <a:prstGeom prst="round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2015271" y="5659411"/>
              <a:ext cx="4580058" cy="541751"/>
            </a:xfrm>
            <a:prstGeom prst="rect">
              <a:avLst/>
            </a:prstGeom>
          </p:spPr>
          <p:txBody>
            <a:bodyPr lIns="0" tIns="0" rIns="0" bIns="0" rtlCol="0" anchor="t">
              <a:spAutoFit/>
            </a:bodyPr>
            <a:lstStyle/>
            <a:p>
              <a:pPr algn="ctr">
                <a:lnSpc>
                  <a:spcPts val="4620"/>
                </a:lnSpc>
              </a:pPr>
              <a:r>
                <a:rPr lang="en-US" sz="2600" b="1" dirty="0">
                  <a:solidFill>
                    <a:srgbClr val="000000"/>
                  </a:solidFill>
                  <a:latin typeface="Canva Sans"/>
                  <a:ea typeface="Canva Sans"/>
                  <a:cs typeface="Canva Sans"/>
                  <a:sym typeface="Canva Sans"/>
                </a:rPr>
                <a:t>Surveying</a:t>
              </a:r>
            </a:p>
          </p:txBody>
        </p:sp>
      </p:grpSp>
      <p:grpSp>
        <p:nvGrpSpPr>
          <p:cNvPr id="21" name="Group 20">
            <a:extLst>
              <a:ext uri="{FF2B5EF4-FFF2-40B4-BE49-F238E27FC236}">
                <a16:creationId xmlns:a16="http://schemas.microsoft.com/office/drawing/2014/main" id="{02992D13-A5B8-36E8-5F45-32FEEB737F70}"/>
              </a:ext>
            </a:extLst>
          </p:cNvPr>
          <p:cNvGrpSpPr/>
          <p:nvPr/>
        </p:nvGrpSpPr>
        <p:grpSpPr>
          <a:xfrm>
            <a:off x="2673585" y="5624673"/>
            <a:ext cx="6019800" cy="880074"/>
            <a:chOff x="1295400" y="6709252"/>
            <a:chExt cx="6019800" cy="880074"/>
          </a:xfrm>
        </p:grpSpPr>
        <p:grpSp>
          <p:nvGrpSpPr>
            <p:cNvPr id="18" name="Group 10">
              <a:extLst>
                <a:ext uri="{FF2B5EF4-FFF2-40B4-BE49-F238E27FC236}">
                  <a16:creationId xmlns:a16="http://schemas.microsoft.com/office/drawing/2014/main" id="{7394E585-E2CF-6055-BCB9-FAAF8A04B346}"/>
                </a:ext>
              </a:extLst>
            </p:cNvPr>
            <p:cNvGrpSpPr/>
            <p:nvPr/>
          </p:nvGrpSpPr>
          <p:grpSpPr>
            <a:xfrm>
              <a:off x="1295400" y="6709252"/>
              <a:ext cx="6019800" cy="880074"/>
              <a:chOff x="0" y="0"/>
              <a:chExt cx="3247348" cy="455698"/>
            </a:xfrm>
          </p:grpSpPr>
          <p:sp>
            <p:nvSpPr>
              <p:cNvPr id="19" name="Freeform 11">
                <a:extLst>
                  <a:ext uri="{FF2B5EF4-FFF2-40B4-BE49-F238E27FC236}">
                    <a16:creationId xmlns:a16="http://schemas.microsoft.com/office/drawing/2014/main" id="{F7CE2F9B-1182-B17B-D325-4BBB24C8DF2F}"/>
                  </a:ext>
                </a:extLst>
              </p:cNvPr>
              <p:cNvSpPr/>
              <p:nvPr/>
            </p:nvSpPr>
            <p:spPr>
              <a:xfrm>
                <a:off x="0" y="0"/>
                <a:ext cx="3247348" cy="455698"/>
              </a:xfrm>
              <a:prstGeom prst="roundRect">
                <a:avLst/>
              </a:prstGeom>
              <a:solidFill>
                <a:srgbClr val="DDDEDE"/>
              </a:solidFill>
              <a:ln w="38100" cap="sq">
                <a:solidFill>
                  <a:srgbClr val="F1F2F2"/>
                </a:solidFill>
                <a:prstDash val="solid"/>
                <a:miter/>
              </a:ln>
            </p:spPr>
          </p:sp>
          <p:sp>
            <p:nvSpPr>
              <p:cNvPr id="20" name="TextBox 12">
                <a:extLst>
                  <a:ext uri="{FF2B5EF4-FFF2-40B4-BE49-F238E27FC236}">
                    <a16:creationId xmlns:a16="http://schemas.microsoft.com/office/drawing/2014/main" id="{9D747EB2-554C-6B6D-31DD-47590C127339}"/>
                  </a:ext>
                </a:extLst>
              </p:cNvPr>
              <p:cNvSpPr txBox="1"/>
              <p:nvPr/>
            </p:nvSpPr>
            <p:spPr>
              <a:xfrm>
                <a:off x="0" y="-38100"/>
                <a:ext cx="3247348" cy="493798"/>
              </a:xfrm>
              <a:prstGeom prst="round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634797" y="6846154"/>
              <a:ext cx="5414229" cy="528478"/>
            </a:xfrm>
            <a:prstGeom prst="rect">
              <a:avLst/>
            </a:prstGeom>
          </p:spPr>
          <p:txBody>
            <a:bodyPr wrap="square" lIns="0" tIns="0" rIns="0" bIns="0" rtlCol="0" anchor="t">
              <a:spAutoFit/>
            </a:bodyPr>
            <a:lstStyle/>
            <a:p>
              <a:pPr marL="0" lvl="0" indent="0" algn="ctr">
                <a:lnSpc>
                  <a:spcPts val="4620"/>
                </a:lnSpc>
                <a:spcBef>
                  <a:spcPct val="0"/>
                </a:spcBef>
              </a:pPr>
              <a:r>
                <a:rPr lang="en-US" sz="2600" b="1" dirty="0">
                  <a:solidFill>
                    <a:srgbClr val="000000"/>
                  </a:solidFill>
                  <a:latin typeface="Canva Sans"/>
                  <a:ea typeface="Canva Sans"/>
                  <a:cs typeface="Canva Sans"/>
                  <a:sym typeface="Canva Sans"/>
                </a:rPr>
                <a:t>Fluid Mechanics</a:t>
              </a:r>
            </a:p>
          </p:txBody>
        </p:sp>
      </p:grpSp>
      <p:grpSp>
        <p:nvGrpSpPr>
          <p:cNvPr id="22" name="Group 21">
            <a:extLst>
              <a:ext uri="{FF2B5EF4-FFF2-40B4-BE49-F238E27FC236}">
                <a16:creationId xmlns:a16="http://schemas.microsoft.com/office/drawing/2014/main" id="{F867F948-1C06-4BA7-CB05-BCF5EAB65403}"/>
              </a:ext>
            </a:extLst>
          </p:cNvPr>
          <p:cNvGrpSpPr/>
          <p:nvPr/>
        </p:nvGrpSpPr>
        <p:grpSpPr>
          <a:xfrm>
            <a:off x="2673585" y="6770292"/>
            <a:ext cx="6019800" cy="880074"/>
            <a:chOff x="1295400" y="6709252"/>
            <a:chExt cx="6019800" cy="880074"/>
          </a:xfrm>
        </p:grpSpPr>
        <p:grpSp>
          <p:nvGrpSpPr>
            <p:cNvPr id="23" name="Group 10">
              <a:extLst>
                <a:ext uri="{FF2B5EF4-FFF2-40B4-BE49-F238E27FC236}">
                  <a16:creationId xmlns:a16="http://schemas.microsoft.com/office/drawing/2014/main" id="{58CFF5F9-EAFF-D0A0-FA2E-CAD99F5E316C}"/>
                </a:ext>
              </a:extLst>
            </p:cNvPr>
            <p:cNvGrpSpPr/>
            <p:nvPr/>
          </p:nvGrpSpPr>
          <p:grpSpPr>
            <a:xfrm>
              <a:off x="1295400" y="6709252"/>
              <a:ext cx="6019800" cy="880074"/>
              <a:chOff x="0" y="0"/>
              <a:chExt cx="3247348" cy="455698"/>
            </a:xfrm>
          </p:grpSpPr>
          <p:sp>
            <p:nvSpPr>
              <p:cNvPr id="25" name="Freeform 11">
                <a:extLst>
                  <a:ext uri="{FF2B5EF4-FFF2-40B4-BE49-F238E27FC236}">
                    <a16:creationId xmlns:a16="http://schemas.microsoft.com/office/drawing/2014/main" id="{5CCDF30F-3D1E-C536-909B-2C3259F2CCC5}"/>
                  </a:ext>
                </a:extLst>
              </p:cNvPr>
              <p:cNvSpPr/>
              <p:nvPr/>
            </p:nvSpPr>
            <p:spPr>
              <a:xfrm>
                <a:off x="0" y="0"/>
                <a:ext cx="3247348" cy="455698"/>
              </a:xfrm>
              <a:prstGeom prst="roundRect">
                <a:avLst/>
              </a:prstGeom>
              <a:solidFill>
                <a:srgbClr val="DDDEDE"/>
              </a:solidFill>
              <a:ln w="38100" cap="sq">
                <a:solidFill>
                  <a:srgbClr val="F1F2F2"/>
                </a:solidFill>
                <a:prstDash val="solid"/>
                <a:miter/>
              </a:ln>
            </p:spPr>
          </p:sp>
          <p:sp>
            <p:nvSpPr>
              <p:cNvPr id="26" name="TextBox 12">
                <a:extLst>
                  <a:ext uri="{FF2B5EF4-FFF2-40B4-BE49-F238E27FC236}">
                    <a16:creationId xmlns:a16="http://schemas.microsoft.com/office/drawing/2014/main" id="{CDD9264F-5263-23B8-7D20-BEE5A40324BA}"/>
                  </a:ext>
                </a:extLst>
              </p:cNvPr>
              <p:cNvSpPr txBox="1"/>
              <p:nvPr/>
            </p:nvSpPr>
            <p:spPr>
              <a:xfrm>
                <a:off x="0" y="-38100"/>
                <a:ext cx="3247348" cy="493798"/>
              </a:xfrm>
              <a:prstGeom prst="roundRect">
                <a:avLst/>
              </a:prstGeom>
            </p:spPr>
            <p:txBody>
              <a:bodyPr lIns="50800" tIns="50800" rIns="50800" bIns="50800" rtlCol="0" anchor="ctr"/>
              <a:lstStyle/>
              <a:p>
                <a:pPr algn="ctr">
                  <a:lnSpc>
                    <a:spcPts val="2659"/>
                  </a:lnSpc>
                  <a:spcBef>
                    <a:spcPct val="0"/>
                  </a:spcBef>
                </a:pPr>
                <a:endParaRPr/>
              </a:p>
            </p:txBody>
          </p:sp>
        </p:grpSp>
        <p:sp>
          <p:nvSpPr>
            <p:cNvPr id="24" name="TextBox 6">
              <a:extLst>
                <a:ext uri="{FF2B5EF4-FFF2-40B4-BE49-F238E27FC236}">
                  <a16:creationId xmlns:a16="http://schemas.microsoft.com/office/drawing/2014/main" id="{DD7920BA-C74C-3878-1EAE-EDCC78D1BE86}"/>
                </a:ext>
              </a:extLst>
            </p:cNvPr>
            <p:cNvSpPr txBox="1"/>
            <p:nvPr/>
          </p:nvSpPr>
          <p:spPr>
            <a:xfrm>
              <a:off x="1634797" y="6846154"/>
              <a:ext cx="5414229" cy="528478"/>
            </a:xfrm>
            <a:prstGeom prst="rect">
              <a:avLst/>
            </a:prstGeom>
          </p:spPr>
          <p:txBody>
            <a:bodyPr wrap="square" lIns="0" tIns="0" rIns="0" bIns="0" rtlCol="0" anchor="t">
              <a:spAutoFit/>
            </a:bodyPr>
            <a:lstStyle/>
            <a:p>
              <a:pPr marL="0" lvl="0" indent="0" algn="ctr">
                <a:lnSpc>
                  <a:spcPts val="4620"/>
                </a:lnSpc>
                <a:spcBef>
                  <a:spcPct val="0"/>
                </a:spcBef>
              </a:pPr>
              <a:r>
                <a:rPr lang="en-US" sz="2600" b="1" dirty="0">
                  <a:solidFill>
                    <a:srgbClr val="000000"/>
                  </a:solidFill>
                  <a:latin typeface="Canva Sans"/>
                  <a:ea typeface="Canva Sans"/>
                  <a:cs typeface="Canva Sans"/>
                  <a:sym typeface="Canva Sans"/>
                </a:rPr>
                <a:t>Groundwater Hydrology</a:t>
              </a:r>
            </a:p>
          </p:txBody>
        </p:sp>
      </p:grpSp>
      <p:grpSp>
        <p:nvGrpSpPr>
          <p:cNvPr id="29" name="Group 28">
            <a:extLst>
              <a:ext uri="{FF2B5EF4-FFF2-40B4-BE49-F238E27FC236}">
                <a16:creationId xmlns:a16="http://schemas.microsoft.com/office/drawing/2014/main" id="{60222F70-0399-4A77-CBCA-A5DED8F50A33}"/>
              </a:ext>
            </a:extLst>
          </p:cNvPr>
          <p:cNvGrpSpPr/>
          <p:nvPr/>
        </p:nvGrpSpPr>
        <p:grpSpPr>
          <a:xfrm>
            <a:off x="9551873" y="4405473"/>
            <a:ext cx="6019800" cy="880074"/>
            <a:chOff x="1295400" y="6709252"/>
            <a:chExt cx="6019800" cy="880074"/>
          </a:xfrm>
        </p:grpSpPr>
        <p:grpSp>
          <p:nvGrpSpPr>
            <p:cNvPr id="30" name="Group 10">
              <a:extLst>
                <a:ext uri="{FF2B5EF4-FFF2-40B4-BE49-F238E27FC236}">
                  <a16:creationId xmlns:a16="http://schemas.microsoft.com/office/drawing/2014/main" id="{26FA2352-2FE0-0573-EB89-2DD8F13F83D8}"/>
                </a:ext>
              </a:extLst>
            </p:cNvPr>
            <p:cNvGrpSpPr/>
            <p:nvPr/>
          </p:nvGrpSpPr>
          <p:grpSpPr>
            <a:xfrm>
              <a:off x="1295400" y="6709252"/>
              <a:ext cx="6019800" cy="880074"/>
              <a:chOff x="0" y="0"/>
              <a:chExt cx="3247348" cy="455698"/>
            </a:xfrm>
          </p:grpSpPr>
          <p:sp>
            <p:nvSpPr>
              <p:cNvPr id="32" name="Freeform 11">
                <a:extLst>
                  <a:ext uri="{FF2B5EF4-FFF2-40B4-BE49-F238E27FC236}">
                    <a16:creationId xmlns:a16="http://schemas.microsoft.com/office/drawing/2014/main" id="{ABAEDEB5-D286-1E69-433D-2EA3A5AEF501}"/>
                  </a:ext>
                </a:extLst>
              </p:cNvPr>
              <p:cNvSpPr/>
              <p:nvPr/>
            </p:nvSpPr>
            <p:spPr>
              <a:xfrm>
                <a:off x="0" y="0"/>
                <a:ext cx="3247348" cy="455698"/>
              </a:xfrm>
              <a:prstGeom prst="roundRect">
                <a:avLst/>
              </a:prstGeom>
              <a:solidFill>
                <a:srgbClr val="DDDEDE"/>
              </a:solidFill>
              <a:ln w="38100" cap="sq">
                <a:solidFill>
                  <a:srgbClr val="F1F2F2"/>
                </a:solidFill>
                <a:prstDash val="solid"/>
                <a:miter/>
              </a:ln>
            </p:spPr>
          </p:sp>
          <p:sp>
            <p:nvSpPr>
              <p:cNvPr id="33" name="TextBox 12">
                <a:extLst>
                  <a:ext uri="{FF2B5EF4-FFF2-40B4-BE49-F238E27FC236}">
                    <a16:creationId xmlns:a16="http://schemas.microsoft.com/office/drawing/2014/main" id="{DCD6BD17-BD57-E202-9226-1A7DBDC59665}"/>
                  </a:ext>
                </a:extLst>
              </p:cNvPr>
              <p:cNvSpPr txBox="1"/>
              <p:nvPr/>
            </p:nvSpPr>
            <p:spPr>
              <a:xfrm>
                <a:off x="0" y="-38100"/>
                <a:ext cx="3247348" cy="493798"/>
              </a:xfrm>
              <a:prstGeom prst="roundRect">
                <a:avLst/>
              </a:prstGeom>
            </p:spPr>
            <p:txBody>
              <a:bodyPr lIns="50800" tIns="50800" rIns="50800" bIns="50800" rtlCol="0" anchor="ctr"/>
              <a:lstStyle/>
              <a:p>
                <a:pPr algn="ctr">
                  <a:lnSpc>
                    <a:spcPts val="2659"/>
                  </a:lnSpc>
                  <a:spcBef>
                    <a:spcPct val="0"/>
                  </a:spcBef>
                </a:pPr>
                <a:endParaRPr/>
              </a:p>
            </p:txBody>
          </p:sp>
        </p:grpSp>
        <p:sp>
          <p:nvSpPr>
            <p:cNvPr id="31" name="TextBox 6">
              <a:extLst>
                <a:ext uri="{FF2B5EF4-FFF2-40B4-BE49-F238E27FC236}">
                  <a16:creationId xmlns:a16="http://schemas.microsoft.com/office/drawing/2014/main" id="{BDD836E0-F179-D95C-4820-DBA6379C74AF}"/>
                </a:ext>
              </a:extLst>
            </p:cNvPr>
            <p:cNvSpPr txBox="1"/>
            <p:nvPr/>
          </p:nvSpPr>
          <p:spPr>
            <a:xfrm>
              <a:off x="1634797" y="6846154"/>
              <a:ext cx="5414229" cy="528478"/>
            </a:xfrm>
            <a:prstGeom prst="rect">
              <a:avLst/>
            </a:prstGeom>
          </p:spPr>
          <p:txBody>
            <a:bodyPr wrap="square" lIns="0" tIns="0" rIns="0" bIns="0" rtlCol="0" anchor="t">
              <a:spAutoFit/>
            </a:bodyPr>
            <a:lstStyle/>
            <a:p>
              <a:pPr marL="0" lvl="0" indent="0" algn="ctr">
                <a:lnSpc>
                  <a:spcPts val="4620"/>
                </a:lnSpc>
                <a:spcBef>
                  <a:spcPct val="0"/>
                </a:spcBef>
              </a:pPr>
              <a:r>
                <a:rPr lang="en-US" sz="2600" b="1" dirty="0">
                  <a:solidFill>
                    <a:srgbClr val="000000"/>
                  </a:solidFill>
                  <a:latin typeface="Canva Sans"/>
                  <a:ea typeface="Canva Sans"/>
                  <a:cs typeface="Canva Sans"/>
                  <a:sym typeface="Canva Sans"/>
                </a:rPr>
                <a:t>Pumps</a:t>
              </a:r>
            </a:p>
          </p:txBody>
        </p:sp>
      </p:grpSp>
      <p:grpSp>
        <p:nvGrpSpPr>
          <p:cNvPr id="53" name="Group 52">
            <a:extLst>
              <a:ext uri="{FF2B5EF4-FFF2-40B4-BE49-F238E27FC236}">
                <a16:creationId xmlns:a16="http://schemas.microsoft.com/office/drawing/2014/main" id="{8DB5B269-8652-4AEA-3EAD-E45CFA8BB4B9}"/>
              </a:ext>
            </a:extLst>
          </p:cNvPr>
          <p:cNvGrpSpPr/>
          <p:nvPr/>
        </p:nvGrpSpPr>
        <p:grpSpPr>
          <a:xfrm>
            <a:off x="9551873" y="5624673"/>
            <a:ext cx="6019800" cy="880074"/>
            <a:chOff x="1295400" y="5558827"/>
            <a:chExt cx="6019800" cy="880074"/>
          </a:xfrm>
        </p:grpSpPr>
        <p:grpSp>
          <p:nvGrpSpPr>
            <p:cNvPr id="54" name="Group 10">
              <a:extLst>
                <a:ext uri="{FF2B5EF4-FFF2-40B4-BE49-F238E27FC236}">
                  <a16:creationId xmlns:a16="http://schemas.microsoft.com/office/drawing/2014/main" id="{6758D15C-1D6B-9C94-4F08-692093EE31AA}"/>
                </a:ext>
              </a:extLst>
            </p:cNvPr>
            <p:cNvGrpSpPr/>
            <p:nvPr/>
          </p:nvGrpSpPr>
          <p:grpSpPr>
            <a:xfrm>
              <a:off x="1295400" y="5558827"/>
              <a:ext cx="6019800" cy="880074"/>
              <a:chOff x="0" y="0"/>
              <a:chExt cx="3247348" cy="455698"/>
            </a:xfrm>
          </p:grpSpPr>
          <p:sp>
            <p:nvSpPr>
              <p:cNvPr id="56" name="Freeform 11">
                <a:extLst>
                  <a:ext uri="{FF2B5EF4-FFF2-40B4-BE49-F238E27FC236}">
                    <a16:creationId xmlns:a16="http://schemas.microsoft.com/office/drawing/2014/main" id="{F32738D0-8D0B-3865-23D7-47E4C29F57AC}"/>
                  </a:ext>
                </a:extLst>
              </p:cNvPr>
              <p:cNvSpPr/>
              <p:nvPr/>
            </p:nvSpPr>
            <p:spPr>
              <a:xfrm>
                <a:off x="0" y="0"/>
                <a:ext cx="3247348" cy="455698"/>
              </a:xfrm>
              <a:prstGeom prst="roundRect">
                <a:avLst/>
              </a:prstGeom>
              <a:solidFill>
                <a:srgbClr val="DDDEDE"/>
              </a:solidFill>
              <a:ln w="38100" cap="sq">
                <a:solidFill>
                  <a:srgbClr val="F1F2F2"/>
                </a:solidFill>
                <a:prstDash val="solid"/>
                <a:miter/>
              </a:ln>
            </p:spPr>
          </p:sp>
          <p:sp>
            <p:nvSpPr>
              <p:cNvPr id="57" name="TextBox 12">
                <a:extLst>
                  <a:ext uri="{FF2B5EF4-FFF2-40B4-BE49-F238E27FC236}">
                    <a16:creationId xmlns:a16="http://schemas.microsoft.com/office/drawing/2014/main" id="{C4198CEB-3F10-9E30-BB38-18156B6E30EE}"/>
                  </a:ext>
                </a:extLst>
              </p:cNvPr>
              <p:cNvSpPr txBox="1"/>
              <p:nvPr/>
            </p:nvSpPr>
            <p:spPr>
              <a:xfrm>
                <a:off x="0" y="-38100"/>
                <a:ext cx="3247348" cy="493798"/>
              </a:xfrm>
              <a:prstGeom prst="roundRect">
                <a:avLst/>
              </a:prstGeom>
            </p:spPr>
            <p:txBody>
              <a:bodyPr lIns="50800" tIns="50800" rIns="50800" bIns="50800" rtlCol="0" anchor="ctr"/>
              <a:lstStyle/>
              <a:p>
                <a:pPr algn="ctr">
                  <a:lnSpc>
                    <a:spcPts val="2659"/>
                  </a:lnSpc>
                  <a:spcBef>
                    <a:spcPct val="0"/>
                  </a:spcBef>
                </a:pPr>
                <a:endParaRPr/>
              </a:p>
            </p:txBody>
          </p:sp>
        </p:grpSp>
        <p:sp>
          <p:nvSpPr>
            <p:cNvPr id="55" name="TextBox 5">
              <a:extLst>
                <a:ext uri="{FF2B5EF4-FFF2-40B4-BE49-F238E27FC236}">
                  <a16:creationId xmlns:a16="http://schemas.microsoft.com/office/drawing/2014/main" id="{6B3ECAF5-1F80-2D8A-1DF2-A31DAC552751}"/>
                </a:ext>
              </a:extLst>
            </p:cNvPr>
            <p:cNvSpPr txBox="1"/>
            <p:nvPr/>
          </p:nvSpPr>
          <p:spPr>
            <a:xfrm>
              <a:off x="2051882" y="5651100"/>
              <a:ext cx="4580058" cy="541751"/>
            </a:xfrm>
            <a:prstGeom prst="rect">
              <a:avLst/>
            </a:prstGeom>
          </p:spPr>
          <p:txBody>
            <a:bodyPr lIns="0" tIns="0" rIns="0" bIns="0" rtlCol="0" anchor="t">
              <a:spAutoFit/>
            </a:bodyPr>
            <a:lstStyle/>
            <a:p>
              <a:pPr marL="0" lvl="0" indent="0" algn="ctr">
                <a:lnSpc>
                  <a:spcPts val="4620"/>
                </a:lnSpc>
                <a:spcBef>
                  <a:spcPct val="0"/>
                </a:spcBef>
              </a:pPr>
              <a:r>
                <a:rPr lang="en-US" sz="2600" b="1" dirty="0">
                  <a:solidFill>
                    <a:srgbClr val="000000"/>
                  </a:solidFill>
                  <a:latin typeface="Canva Sans"/>
                  <a:ea typeface="Canva Sans"/>
                  <a:cs typeface="Canva Sans"/>
                  <a:sym typeface="Canva Sans"/>
                </a:rPr>
                <a:t>Open Channel</a:t>
              </a:r>
            </a:p>
          </p:txBody>
        </p:sp>
      </p:grpSp>
      <p:grpSp>
        <p:nvGrpSpPr>
          <p:cNvPr id="58" name="Group 57">
            <a:extLst>
              <a:ext uri="{FF2B5EF4-FFF2-40B4-BE49-F238E27FC236}">
                <a16:creationId xmlns:a16="http://schemas.microsoft.com/office/drawing/2014/main" id="{A6B622DC-D04B-F027-1CBF-F8F117EC952A}"/>
              </a:ext>
            </a:extLst>
          </p:cNvPr>
          <p:cNvGrpSpPr/>
          <p:nvPr/>
        </p:nvGrpSpPr>
        <p:grpSpPr>
          <a:xfrm>
            <a:off x="9551873" y="6765162"/>
            <a:ext cx="6019800" cy="880074"/>
            <a:chOff x="1295400" y="6709252"/>
            <a:chExt cx="6019800" cy="880074"/>
          </a:xfrm>
        </p:grpSpPr>
        <p:grpSp>
          <p:nvGrpSpPr>
            <p:cNvPr id="59" name="Group 10">
              <a:extLst>
                <a:ext uri="{FF2B5EF4-FFF2-40B4-BE49-F238E27FC236}">
                  <a16:creationId xmlns:a16="http://schemas.microsoft.com/office/drawing/2014/main" id="{A685B682-44BB-CB0E-B1A9-6581D8062BC5}"/>
                </a:ext>
              </a:extLst>
            </p:cNvPr>
            <p:cNvGrpSpPr/>
            <p:nvPr/>
          </p:nvGrpSpPr>
          <p:grpSpPr>
            <a:xfrm>
              <a:off x="1295400" y="6709252"/>
              <a:ext cx="6019800" cy="880074"/>
              <a:chOff x="0" y="0"/>
              <a:chExt cx="3247348" cy="455698"/>
            </a:xfrm>
          </p:grpSpPr>
          <p:sp>
            <p:nvSpPr>
              <p:cNvPr id="61" name="Freeform 11">
                <a:extLst>
                  <a:ext uri="{FF2B5EF4-FFF2-40B4-BE49-F238E27FC236}">
                    <a16:creationId xmlns:a16="http://schemas.microsoft.com/office/drawing/2014/main" id="{65C6099B-B529-C1F2-533F-EC9B299FF46F}"/>
                  </a:ext>
                </a:extLst>
              </p:cNvPr>
              <p:cNvSpPr/>
              <p:nvPr/>
            </p:nvSpPr>
            <p:spPr>
              <a:xfrm>
                <a:off x="0" y="0"/>
                <a:ext cx="3247348" cy="455698"/>
              </a:xfrm>
              <a:prstGeom prst="roundRect">
                <a:avLst/>
              </a:prstGeom>
              <a:solidFill>
                <a:srgbClr val="DDDEDE"/>
              </a:solidFill>
              <a:ln w="38100" cap="sq">
                <a:solidFill>
                  <a:srgbClr val="F1F2F2"/>
                </a:solidFill>
                <a:prstDash val="solid"/>
                <a:miter/>
              </a:ln>
            </p:spPr>
          </p:sp>
          <p:sp>
            <p:nvSpPr>
              <p:cNvPr id="62" name="TextBox 12">
                <a:extLst>
                  <a:ext uri="{FF2B5EF4-FFF2-40B4-BE49-F238E27FC236}">
                    <a16:creationId xmlns:a16="http://schemas.microsoft.com/office/drawing/2014/main" id="{4FB9F9AE-D89F-4CE4-BFA2-924314D9BB2B}"/>
                  </a:ext>
                </a:extLst>
              </p:cNvPr>
              <p:cNvSpPr txBox="1"/>
              <p:nvPr/>
            </p:nvSpPr>
            <p:spPr>
              <a:xfrm>
                <a:off x="0" y="-38100"/>
                <a:ext cx="3247348" cy="493798"/>
              </a:xfrm>
              <a:prstGeom prst="roundRect">
                <a:avLst/>
              </a:prstGeom>
            </p:spPr>
            <p:txBody>
              <a:bodyPr lIns="50800" tIns="50800" rIns="50800" bIns="50800" rtlCol="0" anchor="ctr"/>
              <a:lstStyle/>
              <a:p>
                <a:pPr algn="ctr">
                  <a:lnSpc>
                    <a:spcPts val="2659"/>
                  </a:lnSpc>
                  <a:spcBef>
                    <a:spcPct val="0"/>
                  </a:spcBef>
                </a:pPr>
                <a:endParaRPr/>
              </a:p>
            </p:txBody>
          </p:sp>
        </p:grpSp>
        <p:sp>
          <p:nvSpPr>
            <p:cNvPr id="60" name="TextBox 6">
              <a:extLst>
                <a:ext uri="{FF2B5EF4-FFF2-40B4-BE49-F238E27FC236}">
                  <a16:creationId xmlns:a16="http://schemas.microsoft.com/office/drawing/2014/main" id="{929D3B86-3EDC-9AD0-1657-60245F74EDA2}"/>
                </a:ext>
              </a:extLst>
            </p:cNvPr>
            <p:cNvSpPr txBox="1"/>
            <p:nvPr/>
          </p:nvSpPr>
          <p:spPr>
            <a:xfrm>
              <a:off x="1634797" y="6846154"/>
              <a:ext cx="5414229" cy="528478"/>
            </a:xfrm>
            <a:prstGeom prst="rect">
              <a:avLst/>
            </a:prstGeom>
          </p:spPr>
          <p:txBody>
            <a:bodyPr wrap="square" lIns="0" tIns="0" rIns="0" bIns="0" rtlCol="0" anchor="t">
              <a:spAutoFit/>
            </a:bodyPr>
            <a:lstStyle/>
            <a:p>
              <a:pPr algn="ctr">
                <a:lnSpc>
                  <a:spcPts val="4620"/>
                </a:lnSpc>
              </a:pPr>
              <a:r>
                <a:rPr lang="en-US" sz="2600" b="1" dirty="0">
                  <a:solidFill>
                    <a:srgbClr val="000000"/>
                  </a:solidFill>
                  <a:latin typeface="Canva Sans"/>
                  <a:ea typeface="Canva Sans"/>
                  <a:cs typeface="Canva Sans"/>
                  <a:sym typeface="Canva Sans"/>
                </a:rPr>
                <a:t>Pressurized Irrigation Systems</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9C24E-170B-250E-E59A-BD4485974BC0}"/>
            </a:ext>
          </a:extLst>
        </p:cNvPr>
        <p:cNvGrpSpPr/>
        <p:nvPr/>
      </p:nvGrpSpPr>
      <p:grpSpPr>
        <a:xfrm>
          <a:off x="0" y="0"/>
          <a:ext cx="0" cy="0"/>
          <a:chOff x="0" y="0"/>
          <a:chExt cx="0" cy="0"/>
        </a:xfrm>
      </p:grpSpPr>
      <p:sp>
        <p:nvSpPr>
          <p:cNvPr id="2" name="Freeform 2" descr="Round Geometric Memphis Design">
            <a:extLst>
              <a:ext uri="{FF2B5EF4-FFF2-40B4-BE49-F238E27FC236}">
                <a16:creationId xmlns:a16="http://schemas.microsoft.com/office/drawing/2014/main" id="{DC4C034A-7FE6-A31C-F5D2-DCCCED4123F5}"/>
              </a:ext>
            </a:extLst>
          </p:cNvPr>
          <p:cNvSpPr/>
          <p:nvPr/>
        </p:nvSpPr>
        <p:spPr>
          <a:xfrm>
            <a:off x="600877" y="559518"/>
            <a:ext cx="2942276" cy="2942276"/>
          </a:xfrm>
          <a:custGeom>
            <a:avLst/>
            <a:gdLst/>
            <a:ahLst/>
            <a:cxnLst/>
            <a:rect l="l" t="t" r="r" b="b"/>
            <a:pathLst>
              <a:path w="2942276" h="2942276">
                <a:moveTo>
                  <a:pt x="0" y="0"/>
                </a:moveTo>
                <a:lnTo>
                  <a:pt x="2942276" y="0"/>
                </a:lnTo>
                <a:lnTo>
                  <a:pt x="2942276" y="2942277"/>
                </a:lnTo>
                <a:lnTo>
                  <a:pt x="0" y="29422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descr="Round Geometric Memphis Design">
            <a:extLst>
              <a:ext uri="{FF2B5EF4-FFF2-40B4-BE49-F238E27FC236}">
                <a16:creationId xmlns:a16="http://schemas.microsoft.com/office/drawing/2014/main" id="{2C25B5C9-7558-6F18-39C6-D54CC9399DFF}"/>
              </a:ext>
            </a:extLst>
          </p:cNvPr>
          <p:cNvSpPr/>
          <p:nvPr/>
        </p:nvSpPr>
        <p:spPr>
          <a:xfrm>
            <a:off x="17216912" y="0"/>
            <a:ext cx="1071088" cy="2030656"/>
          </a:xfrm>
          <a:custGeom>
            <a:avLst/>
            <a:gdLst/>
            <a:ahLst/>
            <a:cxnLst/>
            <a:rect l="l" t="t" r="r" b="b"/>
            <a:pathLst>
              <a:path w="2942276" h="2942276">
                <a:moveTo>
                  <a:pt x="0" y="0"/>
                </a:moveTo>
                <a:lnTo>
                  <a:pt x="2942276" y="0"/>
                </a:lnTo>
                <a:lnTo>
                  <a:pt x="2942276" y="2942276"/>
                </a:lnTo>
                <a:lnTo>
                  <a:pt x="0" y="2942276"/>
                </a:lnTo>
                <a:lnTo>
                  <a:pt x="0" y="0"/>
                </a:lnTo>
                <a:close/>
              </a:path>
            </a:pathLst>
          </a:custGeom>
          <a:blipFill>
            <a:blip r:embed="rId2">
              <a:extLst>
                <a:ext uri="{96DAC541-7B7A-43D3-8B79-37D633B846F1}">
                  <asvg:svgBlip xmlns:asvg="http://schemas.microsoft.com/office/drawing/2016/SVG/main" r:embed="rId3"/>
                </a:ext>
              </a:extLst>
            </a:blip>
            <a:stretch>
              <a:fillRect t="-44892" r="-174700"/>
            </a:stretch>
          </a:blipFill>
        </p:spPr>
      </p:sp>
      <p:sp>
        <p:nvSpPr>
          <p:cNvPr id="4" name="TextBox 4">
            <a:extLst>
              <a:ext uri="{FF2B5EF4-FFF2-40B4-BE49-F238E27FC236}">
                <a16:creationId xmlns:a16="http://schemas.microsoft.com/office/drawing/2014/main" id="{081EB90A-38A2-4BE6-8712-D079713A20F6}"/>
              </a:ext>
            </a:extLst>
          </p:cNvPr>
          <p:cNvSpPr txBox="1"/>
          <p:nvPr/>
        </p:nvSpPr>
        <p:spPr>
          <a:xfrm>
            <a:off x="2673585" y="1495435"/>
            <a:ext cx="12940831" cy="2447925"/>
          </a:xfrm>
          <a:prstGeom prst="rect">
            <a:avLst/>
          </a:prstGeom>
        </p:spPr>
        <p:txBody>
          <a:bodyPr lIns="0" tIns="0" rIns="0" bIns="0" rtlCol="0" anchor="t">
            <a:spAutoFit/>
          </a:bodyPr>
          <a:lstStyle/>
          <a:p>
            <a:pPr marL="0" lvl="0" indent="0" algn="ctr">
              <a:lnSpc>
                <a:spcPts val="9600"/>
              </a:lnSpc>
              <a:spcBef>
                <a:spcPct val="0"/>
              </a:spcBef>
            </a:pPr>
            <a:r>
              <a:rPr lang="en-US" sz="8000" dirty="0">
                <a:solidFill>
                  <a:srgbClr val="000000"/>
                </a:solidFill>
                <a:latin typeface="Fredoka"/>
                <a:ea typeface="Fredoka"/>
                <a:cs typeface="Fredoka"/>
                <a:sym typeface="Fredoka"/>
              </a:rPr>
              <a:t>IRRIGATION AND DRAINAGE ENGINEERING</a:t>
            </a:r>
          </a:p>
        </p:txBody>
      </p:sp>
      <p:grpSp>
        <p:nvGrpSpPr>
          <p:cNvPr id="22" name="Group 21">
            <a:extLst>
              <a:ext uri="{FF2B5EF4-FFF2-40B4-BE49-F238E27FC236}">
                <a16:creationId xmlns:a16="http://schemas.microsoft.com/office/drawing/2014/main" id="{9BC22110-D09D-8520-7EA6-06CDD9859A53}"/>
              </a:ext>
            </a:extLst>
          </p:cNvPr>
          <p:cNvGrpSpPr/>
          <p:nvPr/>
        </p:nvGrpSpPr>
        <p:grpSpPr>
          <a:xfrm>
            <a:off x="2673585" y="6770292"/>
            <a:ext cx="6019800" cy="880074"/>
            <a:chOff x="1295400" y="6709252"/>
            <a:chExt cx="6019800" cy="880074"/>
          </a:xfrm>
          <a:solidFill>
            <a:schemeClr val="bg1">
              <a:lumMod val="95000"/>
            </a:schemeClr>
          </a:solidFill>
        </p:grpSpPr>
        <p:grpSp>
          <p:nvGrpSpPr>
            <p:cNvPr id="23" name="Group 10">
              <a:extLst>
                <a:ext uri="{FF2B5EF4-FFF2-40B4-BE49-F238E27FC236}">
                  <a16:creationId xmlns:a16="http://schemas.microsoft.com/office/drawing/2014/main" id="{0E008E92-9104-2594-9344-46B986417177}"/>
                </a:ext>
              </a:extLst>
            </p:cNvPr>
            <p:cNvGrpSpPr/>
            <p:nvPr/>
          </p:nvGrpSpPr>
          <p:grpSpPr>
            <a:xfrm>
              <a:off x="1295400" y="6709252"/>
              <a:ext cx="6019800" cy="880074"/>
              <a:chOff x="0" y="0"/>
              <a:chExt cx="3247348" cy="455698"/>
            </a:xfrm>
            <a:grpFill/>
          </p:grpSpPr>
          <p:sp>
            <p:nvSpPr>
              <p:cNvPr id="25" name="Freeform 11">
                <a:extLst>
                  <a:ext uri="{FF2B5EF4-FFF2-40B4-BE49-F238E27FC236}">
                    <a16:creationId xmlns:a16="http://schemas.microsoft.com/office/drawing/2014/main" id="{8FC35B21-AA11-42C7-686A-EEC9BF9A136B}"/>
                  </a:ext>
                </a:extLst>
              </p:cNvPr>
              <p:cNvSpPr/>
              <p:nvPr/>
            </p:nvSpPr>
            <p:spPr>
              <a:xfrm>
                <a:off x="0" y="0"/>
                <a:ext cx="3247348" cy="455698"/>
              </a:xfrm>
              <a:prstGeom prst="roundRect">
                <a:avLst/>
              </a:prstGeom>
              <a:grpFill/>
              <a:ln w="38100" cap="sq">
                <a:solidFill>
                  <a:srgbClr val="F1F2F2"/>
                </a:solidFill>
                <a:prstDash val="solid"/>
                <a:miter/>
              </a:ln>
            </p:spPr>
          </p:sp>
          <p:sp>
            <p:nvSpPr>
              <p:cNvPr id="26" name="TextBox 12">
                <a:extLst>
                  <a:ext uri="{FF2B5EF4-FFF2-40B4-BE49-F238E27FC236}">
                    <a16:creationId xmlns:a16="http://schemas.microsoft.com/office/drawing/2014/main" id="{3DEF18C6-E5D0-A0CC-854E-5B3D6D37DB7B}"/>
                  </a:ext>
                </a:extLst>
              </p:cNvPr>
              <p:cNvSpPr txBox="1"/>
              <p:nvPr/>
            </p:nvSpPr>
            <p:spPr>
              <a:xfrm>
                <a:off x="0" y="-38100"/>
                <a:ext cx="3247348" cy="493798"/>
              </a:xfrm>
              <a:prstGeom prst="roundRect">
                <a:avLst/>
              </a:prstGeom>
              <a:grpFill/>
            </p:spPr>
            <p:txBody>
              <a:bodyPr lIns="50800" tIns="50800" rIns="50800" bIns="50800" rtlCol="0" anchor="ctr"/>
              <a:lstStyle/>
              <a:p>
                <a:pPr algn="ctr">
                  <a:lnSpc>
                    <a:spcPts val="2659"/>
                  </a:lnSpc>
                  <a:spcBef>
                    <a:spcPct val="0"/>
                  </a:spcBef>
                </a:pPr>
                <a:endParaRPr>
                  <a:solidFill>
                    <a:schemeClr val="bg1">
                      <a:lumMod val="85000"/>
                    </a:schemeClr>
                  </a:solidFill>
                </a:endParaRPr>
              </a:p>
            </p:txBody>
          </p:sp>
        </p:grpSp>
        <p:sp>
          <p:nvSpPr>
            <p:cNvPr id="24" name="TextBox 6">
              <a:extLst>
                <a:ext uri="{FF2B5EF4-FFF2-40B4-BE49-F238E27FC236}">
                  <a16:creationId xmlns:a16="http://schemas.microsoft.com/office/drawing/2014/main" id="{CFEB0186-1A68-4737-2098-5FC138E8ECEC}"/>
                </a:ext>
              </a:extLst>
            </p:cNvPr>
            <p:cNvSpPr txBox="1"/>
            <p:nvPr/>
          </p:nvSpPr>
          <p:spPr>
            <a:xfrm>
              <a:off x="1634797" y="6846154"/>
              <a:ext cx="5414229" cy="528478"/>
            </a:xfrm>
            <a:prstGeom prst="rect">
              <a:avLst/>
            </a:prstGeom>
            <a:grpFill/>
          </p:spPr>
          <p:txBody>
            <a:bodyPr wrap="square" lIns="0" tIns="0" rIns="0" bIns="0" rtlCol="0" anchor="t">
              <a:spAutoFit/>
            </a:bodyPr>
            <a:lstStyle/>
            <a:p>
              <a:pPr marL="0" lvl="0" indent="0" algn="ctr">
                <a:lnSpc>
                  <a:spcPts val="4620"/>
                </a:lnSpc>
                <a:spcBef>
                  <a:spcPct val="0"/>
                </a:spcBef>
              </a:pPr>
              <a:r>
                <a:rPr lang="en-US" sz="2600" b="1" dirty="0">
                  <a:solidFill>
                    <a:schemeClr val="bg1">
                      <a:lumMod val="85000"/>
                    </a:schemeClr>
                  </a:solidFill>
                  <a:latin typeface="Canva Sans"/>
                  <a:ea typeface="Canva Sans"/>
                  <a:cs typeface="Canva Sans"/>
                  <a:sym typeface="Canva Sans"/>
                </a:rPr>
                <a:t>Groundwater Hydrology</a:t>
              </a:r>
            </a:p>
          </p:txBody>
        </p:sp>
      </p:grpSp>
      <p:grpSp>
        <p:nvGrpSpPr>
          <p:cNvPr id="29" name="Group 28">
            <a:extLst>
              <a:ext uri="{FF2B5EF4-FFF2-40B4-BE49-F238E27FC236}">
                <a16:creationId xmlns:a16="http://schemas.microsoft.com/office/drawing/2014/main" id="{6800753F-331D-7F9F-0B03-27ADEF28DBBE}"/>
              </a:ext>
            </a:extLst>
          </p:cNvPr>
          <p:cNvGrpSpPr/>
          <p:nvPr/>
        </p:nvGrpSpPr>
        <p:grpSpPr>
          <a:xfrm>
            <a:off x="9551873" y="4405473"/>
            <a:ext cx="6019800" cy="880074"/>
            <a:chOff x="1295400" y="6709252"/>
            <a:chExt cx="6019800" cy="880074"/>
          </a:xfrm>
          <a:solidFill>
            <a:schemeClr val="bg1">
              <a:lumMod val="95000"/>
            </a:schemeClr>
          </a:solidFill>
        </p:grpSpPr>
        <p:grpSp>
          <p:nvGrpSpPr>
            <p:cNvPr id="30" name="Group 10">
              <a:extLst>
                <a:ext uri="{FF2B5EF4-FFF2-40B4-BE49-F238E27FC236}">
                  <a16:creationId xmlns:a16="http://schemas.microsoft.com/office/drawing/2014/main" id="{2666FFEE-9425-1513-5821-A6CD0708EAB6}"/>
                </a:ext>
              </a:extLst>
            </p:cNvPr>
            <p:cNvGrpSpPr/>
            <p:nvPr/>
          </p:nvGrpSpPr>
          <p:grpSpPr>
            <a:xfrm>
              <a:off x="1295400" y="6709252"/>
              <a:ext cx="6019800" cy="880074"/>
              <a:chOff x="0" y="0"/>
              <a:chExt cx="3247348" cy="455698"/>
            </a:xfrm>
            <a:grpFill/>
          </p:grpSpPr>
          <p:sp>
            <p:nvSpPr>
              <p:cNvPr id="32" name="Freeform 11">
                <a:extLst>
                  <a:ext uri="{FF2B5EF4-FFF2-40B4-BE49-F238E27FC236}">
                    <a16:creationId xmlns:a16="http://schemas.microsoft.com/office/drawing/2014/main" id="{12F246ED-C0D2-414D-6C68-C7A343EA3D00}"/>
                  </a:ext>
                </a:extLst>
              </p:cNvPr>
              <p:cNvSpPr/>
              <p:nvPr/>
            </p:nvSpPr>
            <p:spPr>
              <a:xfrm>
                <a:off x="0" y="0"/>
                <a:ext cx="3247348" cy="455698"/>
              </a:xfrm>
              <a:prstGeom prst="roundRect">
                <a:avLst/>
              </a:prstGeom>
              <a:grpFill/>
              <a:ln w="38100" cap="sq">
                <a:solidFill>
                  <a:srgbClr val="F1F2F2"/>
                </a:solidFill>
                <a:prstDash val="solid"/>
                <a:miter/>
              </a:ln>
            </p:spPr>
          </p:sp>
          <p:sp>
            <p:nvSpPr>
              <p:cNvPr id="33" name="TextBox 12">
                <a:extLst>
                  <a:ext uri="{FF2B5EF4-FFF2-40B4-BE49-F238E27FC236}">
                    <a16:creationId xmlns:a16="http://schemas.microsoft.com/office/drawing/2014/main" id="{16B670DB-19F6-34B2-0553-69E7EDCB1378}"/>
                  </a:ext>
                </a:extLst>
              </p:cNvPr>
              <p:cNvSpPr txBox="1"/>
              <p:nvPr/>
            </p:nvSpPr>
            <p:spPr>
              <a:xfrm>
                <a:off x="0" y="-38100"/>
                <a:ext cx="3247348" cy="493798"/>
              </a:xfrm>
              <a:prstGeom prst="roundRect">
                <a:avLst/>
              </a:prstGeom>
              <a:grpFill/>
            </p:spPr>
            <p:txBody>
              <a:bodyPr lIns="50800" tIns="50800" rIns="50800" bIns="50800" rtlCol="0" anchor="ctr"/>
              <a:lstStyle/>
              <a:p>
                <a:pPr algn="ctr">
                  <a:lnSpc>
                    <a:spcPts val="2659"/>
                  </a:lnSpc>
                  <a:spcBef>
                    <a:spcPct val="0"/>
                  </a:spcBef>
                </a:pPr>
                <a:endParaRPr>
                  <a:solidFill>
                    <a:schemeClr val="bg1">
                      <a:lumMod val="85000"/>
                    </a:schemeClr>
                  </a:solidFill>
                </a:endParaRPr>
              </a:p>
            </p:txBody>
          </p:sp>
        </p:grpSp>
        <p:sp>
          <p:nvSpPr>
            <p:cNvPr id="31" name="TextBox 6">
              <a:extLst>
                <a:ext uri="{FF2B5EF4-FFF2-40B4-BE49-F238E27FC236}">
                  <a16:creationId xmlns:a16="http://schemas.microsoft.com/office/drawing/2014/main" id="{B8C724C1-AD11-F1AF-BD2F-C9B7F7CC8F7E}"/>
                </a:ext>
              </a:extLst>
            </p:cNvPr>
            <p:cNvSpPr txBox="1"/>
            <p:nvPr/>
          </p:nvSpPr>
          <p:spPr>
            <a:xfrm>
              <a:off x="1634797" y="6846154"/>
              <a:ext cx="5414229" cy="528478"/>
            </a:xfrm>
            <a:prstGeom prst="rect">
              <a:avLst/>
            </a:prstGeom>
            <a:grpFill/>
          </p:spPr>
          <p:txBody>
            <a:bodyPr wrap="square" lIns="0" tIns="0" rIns="0" bIns="0" rtlCol="0" anchor="t">
              <a:spAutoFit/>
            </a:bodyPr>
            <a:lstStyle/>
            <a:p>
              <a:pPr marL="0" lvl="0" indent="0" algn="ctr">
                <a:lnSpc>
                  <a:spcPts val="4620"/>
                </a:lnSpc>
                <a:spcBef>
                  <a:spcPct val="0"/>
                </a:spcBef>
              </a:pPr>
              <a:r>
                <a:rPr lang="en-US" sz="2600" b="1" dirty="0">
                  <a:solidFill>
                    <a:schemeClr val="bg1">
                      <a:lumMod val="85000"/>
                    </a:schemeClr>
                  </a:solidFill>
                  <a:latin typeface="Canva Sans"/>
                  <a:ea typeface="Canva Sans"/>
                  <a:cs typeface="Canva Sans"/>
                  <a:sym typeface="Canva Sans"/>
                </a:rPr>
                <a:t>Pumps</a:t>
              </a:r>
            </a:p>
          </p:txBody>
        </p:sp>
      </p:grpSp>
      <p:grpSp>
        <p:nvGrpSpPr>
          <p:cNvPr id="53" name="Group 52">
            <a:extLst>
              <a:ext uri="{FF2B5EF4-FFF2-40B4-BE49-F238E27FC236}">
                <a16:creationId xmlns:a16="http://schemas.microsoft.com/office/drawing/2014/main" id="{9967253D-7F14-BDAA-EC63-CF9E897D981E}"/>
              </a:ext>
            </a:extLst>
          </p:cNvPr>
          <p:cNvGrpSpPr/>
          <p:nvPr/>
        </p:nvGrpSpPr>
        <p:grpSpPr>
          <a:xfrm>
            <a:off x="9551873" y="5624673"/>
            <a:ext cx="6019800" cy="880074"/>
            <a:chOff x="1295400" y="5558827"/>
            <a:chExt cx="6019800" cy="880074"/>
          </a:xfrm>
          <a:solidFill>
            <a:schemeClr val="bg1">
              <a:lumMod val="95000"/>
            </a:schemeClr>
          </a:solidFill>
        </p:grpSpPr>
        <p:grpSp>
          <p:nvGrpSpPr>
            <p:cNvPr id="54" name="Group 10">
              <a:extLst>
                <a:ext uri="{FF2B5EF4-FFF2-40B4-BE49-F238E27FC236}">
                  <a16:creationId xmlns:a16="http://schemas.microsoft.com/office/drawing/2014/main" id="{C96A262D-B635-2B46-8B25-B9A77B1CE23E}"/>
                </a:ext>
              </a:extLst>
            </p:cNvPr>
            <p:cNvGrpSpPr/>
            <p:nvPr/>
          </p:nvGrpSpPr>
          <p:grpSpPr>
            <a:xfrm>
              <a:off x="1295400" y="5558827"/>
              <a:ext cx="6019800" cy="880074"/>
              <a:chOff x="0" y="0"/>
              <a:chExt cx="3247348" cy="455698"/>
            </a:xfrm>
            <a:grpFill/>
          </p:grpSpPr>
          <p:sp>
            <p:nvSpPr>
              <p:cNvPr id="56" name="Freeform 11">
                <a:extLst>
                  <a:ext uri="{FF2B5EF4-FFF2-40B4-BE49-F238E27FC236}">
                    <a16:creationId xmlns:a16="http://schemas.microsoft.com/office/drawing/2014/main" id="{85910207-729B-9081-4FAE-94431A1F9AB9}"/>
                  </a:ext>
                </a:extLst>
              </p:cNvPr>
              <p:cNvSpPr/>
              <p:nvPr/>
            </p:nvSpPr>
            <p:spPr>
              <a:xfrm>
                <a:off x="0" y="0"/>
                <a:ext cx="3247348" cy="455698"/>
              </a:xfrm>
              <a:prstGeom prst="roundRect">
                <a:avLst/>
              </a:prstGeom>
              <a:grpFill/>
              <a:ln w="38100" cap="sq">
                <a:solidFill>
                  <a:srgbClr val="F1F2F2"/>
                </a:solidFill>
                <a:prstDash val="solid"/>
                <a:miter/>
              </a:ln>
            </p:spPr>
          </p:sp>
          <p:sp>
            <p:nvSpPr>
              <p:cNvPr id="57" name="TextBox 12">
                <a:extLst>
                  <a:ext uri="{FF2B5EF4-FFF2-40B4-BE49-F238E27FC236}">
                    <a16:creationId xmlns:a16="http://schemas.microsoft.com/office/drawing/2014/main" id="{4CC839D5-985A-6F63-968C-77E150D2A82E}"/>
                  </a:ext>
                </a:extLst>
              </p:cNvPr>
              <p:cNvSpPr txBox="1"/>
              <p:nvPr/>
            </p:nvSpPr>
            <p:spPr>
              <a:xfrm>
                <a:off x="0" y="-38100"/>
                <a:ext cx="3247348" cy="493798"/>
              </a:xfrm>
              <a:prstGeom prst="roundRect">
                <a:avLst/>
              </a:prstGeom>
              <a:grpFill/>
            </p:spPr>
            <p:txBody>
              <a:bodyPr lIns="50800" tIns="50800" rIns="50800" bIns="50800" rtlCol="0" anchor="ctr"/>
              <a:lstStyle/>
              <a:p>
                <a:pPr algn="ctr">
                  <a:lnSpc>
                    <a:spcPts val="2659"/>
                  </a:lnSpc>
                  <a:spcBef>
                    <a:spcPct val="0"/>
                  </a:spcBef>
                </a:pPr>
                <a:endParaRPr>
                  <a:solidFill>
                    <a:schemeClr val="bg1">
                      <a:lumMod val="85000"/>
                    </a:schemeClr>
                  </a:solidFill>
                </a:endParaRPr>
              </a:p>
            </p:txBody>
          </p:sp>
        </p:grpSp>
        <p:sp>
          <p:nvSpPr>
            <p:cNvPr id="55" name="TextBox 5">
              <a:extLst>
                <a:ext uri="{FF2B5EF4-FFF2-40B4-BE49-F238E27FC236}">
                  <a16:creationId xmlns:a16="http://schemas.microsoft.com/office/drawing/2014/main" id="{EA2A5B0E-6A24-FAC6-F72D-64416C891FC8}"/>
                </a:ext>
              </a:extLst>
            </p:cNvPr>
            <p:cNvSpPr txBox="1"/>
            <p:nvPr/>
          </p:nvSpPr>
          <p:spPr>
            <a:xfrm>
              <a:off x="2051882" y="5651100"/>
              <a:ext cx="4580058" cy="541751"/>
            </a:xfrm>
            <a:prstGeom prst="rect">
              <a:avLst/>
            </a:prstGeom>
            <a:grpFill/>
          </p:spPr>
          <p:txBody>
            <a:bodyPr lIns="0" tIns="0" rIns="0" bIns="0" rtlCol="0" anchor="t">
              <a:spAutoFit/>
            </a:bodyPr>
            <a:lstStyle/>
            <a:p>
              <a:pPr marL="0" lvl="0" indent="0" algn="ctr">
                <a:lnSpc>
                  <a:spcPts val="4620"/>
                </a:lnSpc>
                <a:spcBef>
                  <a:spcPct val="0"/>
                </a:spcBef>
              </a:pPr>
              <a:r>
                <a:rPr lang="en-US" sz="2600" b="1" dirty="0">
                  <a:solidFill>
                    <a:schemeClr val="bg1">
                      <a:lumMod val="85000"/>
                    </a:schemeClr>
                  </a:solidFill>
                  <a:latin typeface="Canva Sans"/>
                  <a:ea typeface="Canva Sans"/>
                  <a:cs typeface="Canva Sans"/>
                  <a:sym typeface="Canva Sans"/>
                </a:rPr>
                <a:t>Open Channel</a:t>
              </a:r>
            </a:p>
          </p:txBody>
        </p:sp>
      </p:grpSp>
      <p:grpSp>
        <p:nvGrpSpPr>
          <p:cNvPr id="58" name="Group 57">
            <a:extLst>
              <a:ext uri="{FF2B5EF4-FFF2-40B4-BE49-F238E27FC236}">
                <a16:creationId xmlns:a16="http://schemas.microsoft.com/office/drawing/2014/main" id="{BD0D2DA2-D2E3-EBF0-8A71-011371FEA52E}"/>
              </a:ext>
            </a:extLst>
          </p:cNvPr>
          <p:cNvGrpSpPr/>
          <p:nvPr/>
        </p:nvGrpSpPr>
        <p:grpSpPr>
          <a:xfrm>
            <a:off x="9551873" y="6765162"/>
            <a:ext cx="6019800" cy="880074"/>
            <a:chOff x="1295400" y="6709252"/>
            <a:chExt cx="6019800" cy="880074"/>
          </a:xfrm>
          <a:solidFill>
            <a:schemeClr val="bg1">
              <a:lumMod val="95000"/>
            </a:schemeClr>
          </a:solidFill>
        </p:grpSpPr>
        <p:grpSp>
          <p:nvGrpSpPr>
            <p:cNvPr id="59" name="Group 10">
              <a:extLst>
                <a:ext uri="{FF2B5EF4-FFF2-40B4-BE49-F238E27FC236}">
                  <a16:creationId xmlns:a16="http://schemas.microsoft.com/office/drawing/2014/main" id="{5030653E-C8DF-74DE-5FDE-9A969B0137B8}"/>
                </a:ext>
              </a:extLst>
            </p:cNvPr>
            <p:cNvGrpSpPr/>
            <p:nvPr/>
          </p:nvGrpSpPr>
          <p:grpSpPr>
            <a:xfrm>
              <a:off x="1295400" y="6709252"/>
              <a:ext cx="6019800" cy="880074"/>
              <a:chOff x="0" y="0"/>
              <a:chExt cx="3247348" cy="455698"/>
            </a:xfrm>
            <a:grpFill/>
          </p:grpSpPr>
          <p:sp>
            <p:nvSpPr>
              <p:cNvPr id="61" name="Freeform 11">
                <a:extLst>
                  <a:ext uri="{FF2B5EF4-FFF2-40B4-BE49-F238E27FC236}">
                    <a16:creationId xmlns:a16="http://schemas.microsoft.com/office/drawing/2014/main" id="{E1BAF6D3-DCFA-CF25-1FAD-147AD4C69B55}"/>
                  </a:ext>
                </a:extLst>
              </p:cNvPr>
              <p:cNvSpPr/>
              <p:nvPr/>
            </p:nvSpPr>
            <p:spPr>
              <a:xfrm>
                <a:off x="0" y="0"/>
                <a:ext cx="3247348" cy="455698"/>
              </a:xfrm>
              <a:prstGeom prst="roundRect">
                <a:avLst/>
              </a:prstGeom>
              <a:grpFill/>
              <a:ln w="38100" cap="sq">
                <a:solidFill>
                  <a:srgbClr val="F1F2F2"/>
                </a:solidFill>
                <a:prstDash val="solid"/>
                <a:miter/>
              </a:ln>
            </p:spPr>
          </p:sp>
          <p:sp>
            <p:nvSpPr>
              <p:cNvPr id="62" name="TextBox 12">
                <a:extLst>
                  <a:ext uri="{FF2B5EF4-FFF2-40B4-BE49-F238E27FC236}">
                    <a16:creationId xmlns:a16="http://schemas.microsoft.com/office/drawing/2014/main" id="{441E1205-2DF0-3FEE-602C-4768B34C0561}"/>
                  </a:ext>
                </a:extLst>
              </p:cNvPr>
              <p:cNvSpPr txBox="1"/>
              <p:nvPr/>
            </p:nvSpPr>
            <p:spPr>
              <a:xfrm>
                <a:off x="0" y="-38100"/>
                <a:ext cx="3247348" cy="493798"/>
              </a:xfrm>
              <a:prstGeom prst="roundRect">
                <a:avLst/>
              </a:prstGeom>
              <a:grpFill/>
            </p:spPr>
            <p:txBody>
              <a:bodyPr lIns="50800" tIns="50800" rIns="50800" bIns="50800" rtlCol="0" anchor="ctr"/>
              <a:lstStyle/>
              <a:p>
                <a:pPr algn="ctr">
                  <a:lnSpc>
                    <a:spcPts val="2659"/>
                  </a:lnSpc>
                  <a:spcBef>
                    <a:spcPct val="0"/>
                  </a:spcBef>
                </a:pPr>
                <a:endParaRPr>
                  <a:solidFill>
                    <a:schemeClr val="bg1">
                      <a:lumMod val="85000"/>
                    </a:schemeClr>
                  </a:solidFill>
                </a:endParaRPr>
              </a:p>
            </p:txBody>
          </p:sp>
        </p:grpSp>
        <p:sp>
          <p:nvSpPr>
            <p:cNvPr id="60" name="TextBox 6">
              <a:extLst>
                <a:ext uri="{FF2B5EF4-FFF2-40B4-BE49-F238E27FC236}">
                  <a16:creationId xmlns:a16="http://schemas.microsoft.com/office/drawing/2014/main" id="{FDB9BA84-1EDB-A3D1-698F-5FE4357ECC51}"/>
                </a:ext>
              </a:extLst>
            </p:cNvPr>
            <p:cNvSpPr txBox="1"/>
            <p:nvPr/>
          </p:nvSpPr>
          <p:spPr>
            <a:xfrm>
              <a:off x="1634797" y="6846154"/>
              <a:ext cx="5414229" cy="528478"/>
            </a:xfrm>
            <a:prstGeom prst="rect">
              <a:avLst/>
            </a:prstGeom>
            <a:grpFill/>
          </p:spPr>
          <p:txBody>
            <a:bodyPr wrap="square" lIns="0" tIns="0" rIns="0" bIns="0" rtlCol="0" anchor="t">
              <a:spAutoFit/>
            </a:bodyPr>
            <a:lstStyle/>
            <a:p>
              <a:pPr algn="ctr">
                <a:lnSpc>
                  <a:spcPts val="4620"/>
                </a:lnSpc>
              </a:pPr>
              <a:r>
                <a:rPr lang="en-US" sz="2600" b="1" dirty="0">
                  <a:solidFill>
                    <a:schemeClr val="bg1">
                      <a:lumMod val="85000"/>
                    </a:schemeClr>
                  </a:solidFill>
                  <a:latin typeface="Canva Sans"/>
                  <a:ea typeface="Canva Sans"/>
                  <a:cs typeface="Canva Sans"/>
                  <a:sym typeface="Canva Sans"/>
                </a:rPr>
                <a:t>Pressurized Irrigation Systems</a:t>
              </a:r>
            </a:p>
          </p:txBody>
        </p:sp>
      </p:grpSp>
      <p:grpSp>
        <p:nvGrpSpPr>
          <p:cNvPr id="7" name="Group 6">
            <a:extLst>
              <a:ext uri="{FF2B5EF4-FFF2-40B4-BE49-F238E27FC236}">
                <a16:creationId xmlns:a16="http://schemas.microsoft.com/office/drawing/2014/main" id="{7A9FFE63-CACD-73C1-4108-D15DB53B72E5}"/>
              </a:ext>
            </a:extLst>
          </p:cNvPr>
          <p:cNvGrpSpPr/>
          <p:nvPr/>
        </p:nvGrpSpPr>
        <p:grpSpPr>
          <a:xfrm>
            <a:off x="2673585" y="5624673"/>
            <a:ext cx="6019800" cy="880074"/>
            <a:chOff x="1295400" y="6709252"/>
            <a:chExt cx="6019800" cy="880074"/>
          </a:xfrm>
        </p:grpSpPr>
        <p:grpSp>
          <p:nvGrpSpPr>
            <p:cNvPr id="8" name="Group 10">
              <a:extLst>
                <a:ext uri="{FF2B5EF4-FFF2-40B4-BE49-F238E27FC236}">
                  <a16:creationId xmlns:a16="http://schemas.microsoft.com/office/drawing/2014/main" id="{4C5BE64C-3115-B0A8-78CE-0AA37A024CAC}"/>
                </a:ext>
              </a:extLst>
            </p:cNvPr>
            <p:cNvGrpSpPr/>
            <p:nvPr/>
          </p:nvGrpSpPr>
          <p:grpSpPr>
            <a:xfrm>
              <a:off x="1295400" y="6709252"/>
              <a:ext cx="6019800" cy="880074"/>
              <a:chOff x="0" y="0"/>
              <a:chExt cx="3247348" cy="455698"/>
            </a:xfrm>
          </p:grpSpPr>
          <p:sp>
            <p:nvSpPr>
              <p:cNvPr id="10" name="Freeform 11">
                <a:extLst>
                  <a:ext uri="{FF2B5EF4-FFF2-40B4-BE49-F238E27FC236}">
                    <a16:creationId xmlns:a16="http://schemas.microsoft.com/office/drawing/2014/main" id="{E698233B-DD10-A508-DB76-694B6925CFEA}"/>
                  </a:ext>
                </a:extLst>
              </p:cNvPr>
              <p:cNvSpPr/>
              <p:nvPr/>
            </p:nvSpPr>
            <p:spPr>
              <a:xfrm>
                <a:off x="0" y="0"/>
                <a:ext cx="3247348" cy="455698"/>
              </a:xfrm>
              <a:prstGeom prst="roundRect">
                <a:avLst/>
              </a:prstGeom>
              <a:solidFill>
                <a:srgbClr val="DDDEDE"/>
              </a:solidFill>
              <a:ln w="38100" cap="sq">
                <a:solidFill>
                  <a:srgbClr val="F1F2F2"/>
                </a:solidFill>
                <a:prstDash val="solid"/>
                <a:miter/>
              </a:ln>
            </p:spPr>
          </p:sp>
          <p:sp>
            <p:nvSpPr>
              <p:cNvPr id="11" name="TextBox 12">
                <a:extLst>
                  <a:ext uri="{FF2B5EF4-FFF2-40B4-BE49-F238E27FC236}">
                    <a16:creationId xmlns:a16="http://schemas.microsoft.com/office/drawing/2014/main" id="{FDFA629D-6A23-9365-285E-6605313CBA70}"/>
                  </a:ext>
                </a:extLst>
              </p:cNvPr>
              <p:cNvSpPr txBox="1"/>
              <p:nvPr/>
            </p:nvSpPr>
            <p:spPr>
              <a:xfrm>
                <a:off x="0" y="-38100"/>
                <a:ext cx="3247348" cy="493798"/>
              </a:xfrm>
              <a:prstGeom prst="roundRect">
                <a:avLst/>
              </a:prstGeom>
            </p:spPr>
            <p:txBody>
              <a:bodyPr lIns="50800" tIns="50800" rIns="50800" bIns="50800" rtlCol="0" anchor="ctr"/>
              <a:lstStyle/>
              <a:p>
                <a:pPr algn="ctr">
                  <a:lnSpc>
                    <a:spcPts val="2659"/>
                  </a:lnSpc>
                  <a:spcBef>
                    <a:spcPct val="0"/>
                  </a:spcBef>
                </a:pPr>
                <a:endParaRPr/>
              </a:p>
            </p:txBody>
          </p:sp>
        </p:grpSp>
        <p:sp>
          <p:nvSpPr>
            <p:cNvPr id="9" name="TextBox 6">
              <a:extLst>
                <a:ext uri="{FF2B5EF4-FFF2-40B4-BE49-F238E27FC236}">
                  <a16:creationId xmlns:a16="http://schemas.microsoft.com/office/drawing/2014/main" id="{ADE212DF-4171-0253-FA4F-1629ADE08E85}"/>
                </a:ext>
              </a:extLst>
            </p:cNvPr>
            <p:cNvSpPr txBox="1"/>
            <p:nvPr/>
          </p:nvSpPr>
          <p:spPr>
            <a:xfrm>
              <a:off x="1634797" y="6846154"/>
              <a:ext cx="5414229" cy="528478"/>
            </a:xfrm>
            <a:prstGeom prst="rect">
              <a:avLst/>
            </a:prstGeom>
          </p:spPr>
          <p:txBody>
            <a:bodyPr wrap="square" lIns="0" tIns="0" rIns="0" bIns="0" rtlCol="0" anchor="t">
              <a:spAutoFit/>
            </a:bodyPr>
            <a:lstStyle/>
            <a:p>
              <a:pPr marL="0" lvl="0" indent="0" algn="ctr">
                <a:lnSpc>
                  <a:spcPts val="4620"/>
                </a:lnSpc>
                <a:spcBef>
                  <a:spcPct val="0"/>
                </a:spcBef>
              </a:pPr>
              <a:r>
                <a:rPr lang="en-US" sz="2600" b="1" dirty="0">
                  <a:solidFill>
                    <a:srgbClr val="000000"/>
                  </a:solidFill>
                  <a:latin typeface="Canva Sans"/>
                  <a:ea typeface="Canva Sans"/>
                  <a:cs typeface="Canva Sans"/>
                  <a:sym typeface="Canva Sans"/>
                </a:rPr>
                <a:t>Fluid Mechanics</a:t>
              </a:r>
            </a:p>
          </p:txBody>
        </p:sp>
      </p:grpSp>
      <p:grpSp>
        <p:nvGrpSpPr>
          <p:cNvPr id="12" name="Group 11">
            <a:extLst>
              <a:ext uri="{FF2B5EF4-FFF2-40B4-BE49-F238E27FC236}">
                <a16:creationId xmlns:a16="http://schemas.microsoft.com/office/drawing/2014/main" id="{91EDA205-F149-A3D2-DD34-0237814DBF58}"/>
              </a:ext>
            </a:extLst>
          </p:cNvPr>
          <p:cNvGrpSpPr/>
          <p:nvPr/>
        </p:nvGrpSpPr>
        <p:grpSpPr>
          <a:xfrm>
            <a:off x="2673585" y="4405473"/>
            <a:ext cx="6019800" cy="880074"/>
            <a:chOff x="1295400" y="5558827"/>
            <a:chExt cx="6019800" cy="880074"/>
          </a:xfrm>
          <a:solidFill>
            <a:schemeClr val="bg1">
              <a:lumMod val="95000"/>
            </a:schemeClr>
          </a:solidFill>
        </p:grpSpPr>
        <p:grpSp>
          <p:nvGrpSpPr>
            <p:cNvPr id="13" name="Group 10">
              <a:extLst>
                <a:ext uri="{FF2B5EF4-FFF2-40B4-BE49-F238E27FC236}">
                  <a16:creationId xmlns:a16="http://schemas.microsoft.com/office/drawing/2014/main" id="{30C52C17-80F8-F784-29FE-70AE2299DF12}"/>
                </a:ext>
              </a:extLst>
            </p:cNvPr>
            <p:cNvGrpSpPr/>
            <p:nvPr/>
          </p:nvGrpSpPr>
          <p:grpSpPr>
            <a:xfrm>
              <a:off x="1295400" y="5558827"/>
              <a:ext cx="6019800" cy="880074"/>
              <a:chOff x="0" y="0"/>
              <a:chExt cx="3247348" cy="455698"/>
            </a:xfrm>
            <a:grpFill/>
          </p:grpSpPr>
          <p:sp>
            <p:nvSpPr>
              <p:cNvPr id="27" name="Freeform 11">
                <a:extLst>
                  <a:ext uri="{FF2B5EF4-FFF2-40B4-BE49-F238E27FC236}">
                    <a16:creationId xmlns:a16="http://schemas.microsoft.com/office/drawing/2014/main" id="{741BC267-AD74-CFDB-105C-AA4CDD7307A2}"/>
                  </a:ext>
                </a:extLst>
              </p:cNvPr>
              <p:cNvSpPr/>
              <p:nvPr/>
            </p:nvSpPr>
            <p:spPr>
              <a:xfrm>
                <a:off x="0" y="0"/>
                <a:ext cx="3247348" cy="455698"/>
              </a:xfrm>
              <a:prstGeom prst="roundRect">
                <a:avLst/>
              </a:prstGeom>
              <a:grpFill/>
              <a:ln w="38100" cap="sq">
                <a:solidFill>
                  <a:srgbClr val="F1F2F2"/>
                </a:solidFill>
                <a:prstDash val="solid"/>
                <a:miter/>
              </a:ln>
            </p:spPr>
          </p:sp>
          <p:sp>
            <p:nvSpPr>
              <p:cNvPr id="28" name="TextBox 12">
                <a:extLst>
                  <a:ext uri="{FF2B5EF4-FFF2-40B4-BE49-F238E27FC236}">
                    <a16:creationId xmlns:a16="http://schemas.microsoft.com/office/drawing/2014/main" id="{F25C32DF-EA38-5F08-6D17-744F6C1CEC36}"/>
                  </a:ext>
                </a:extLst>
              </p:cNvPr>
              <p:cNvSpPr txBox="1"/>
              <p:nvPr/>
            </p:nvSpPr>
            <p:spPr>
              <a:xfrm>
                <a:off x="0" y="-38100"/>
                <a:ext cx="3247348" cy="493798"/>
              </a:xfrm>
              <a:prstGeom prst="roundRect">
                <a:avLst/>
              </a:prstGeom>
              <a:grpFill/>
            </p:spPr>
            <p:txBody>
              <a:bodyPr lIns="50800" tIns="50800" rIns="50800" bIns="50800" rtlCol="0" anchor="ctr"/>
              <a:lstStyle/>
              <a:p>
                <a:pPr algn="ctr">
                  <a:lnSpc>
                    <a:spcPts val="2659"/>
                  </a:lnSpc>
                  <a:spcBef>
                    <a:spcPct val="0"/>
                  </a:spcBef>
                </a:pPr>
                <a:endParaRPr>
                  <a:solidFill>
                    <a:schemeClr val="bg1">
                      <a:lumMod val="85000"/>
                    </a:schemeClr>
                  </a:solidFill>
                </a:endParaRPr>
              </a:p>
            </p:txBody>
          </p:sp>
        </p:grpSp>
        <p:sp>
          <p:nvSpPr>
            <p:cNvPr id="14" name="TextBox 5">
              <a:extLst>
                <a:ext uri="{FF2B5EF4-FFF2-40B4-BE49-F238E27FC236}">
                  <a16:creationId xmlns:a16="http://schemas.microsoft.com/office/drawing/2014/main" id="{D2D85E0D-60ED-23C4-A792-0409B9B925C7}"/>
                </a:ext>
              </a:extLst>
            </p:cNvPr>
            <p:cNvSpPr txBox="1"/>
            <p:nvPr/>
          </p:nvSpPr>
          <p:spPr>
            <a:xfrm>
              <a:off x="2015271" y="5659411"/>
              <a:ext cx="4580058" cy="541751"/>
            </a:xfrm>
            <a:prstGeom prst="rect">
              <a:avLst/>
            </a:prstGeom>
            <a:grpFill/>
          </p:spPr>
          <p:txBody>
            <a:bodyPr lIns="0" tIns="0" rIns="0" bIns="0" rtlCol="0" anchor="t">
              <a:spAutoFit/>
            </a:bodyPr>
            <a:lstStyle/>
            <a:p>
              <a:pPr algn="ctr">
                <a:lnSpc>
                  <a:spcPts val="4620"/>
                </a:lnSpc>
              </a:pPr>
              <a:r>
                <a:rPr lang="en-US" sz="2600" b="1" dirty="0">
                  <a:solidFill>
                    <a:schemeClr val="bg1">
                      <a:lumMod val="85000"/>
                    </a:schemeClr>
                  </a:solidFill>
                  <a:latin typeface="Canva Sans"/>
                  <a:ea typeface="Canva Sans"/>
                  <a:cs typeface="Canva Sans"/>
                  <a:sym typeface="Canva Sans"/>
                </a:rPr>
                <a:t>Surveying</a:t>
              </a:r>
            </a:p>
          </p:txBody>
        </p:sp>
      </p:grpSp>
    </p:spTree>
    <p:extLst>
      <p:ext uri="{BB962C8B-B14F-4D97-AF65-F5344CB8AC3E}">
        <p14:creationId xmlns:p14="http://schemas.microsoft.com/office/powerpoint/2010/main" val="5974331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2D33C-7283-1526-3B4D-4D018FCCB820}"/>
            </a:ext>
          </a:extLst>
        </p:cNvPr>
        <p:cNvGrpSpPr/>
        <p:nvPr/>
      </p:nvGrpSpPr>
      <p:grpSpPr>
        <a:xfrm>
          <a:off x="0" y="0"/>
          <a:ext cx="0" cy="0"/>
          <a:chOff x="0" y="0"/>
          <a:chExt cx="0" cy="0"/>
        </a:xfrm>
      </p:grpSpPr>
      <p:sp>
        <p:nvSpPr>
          <p:cNvPr id="2" name="Freeform 2" descr="Round Geometric Memphis Design">
            <a:extLst>
              <a:ext uri="{FF2B5EF4-FFF2-40B4-BE49-F238E27FC236}">
                <a16:creationId xmlns:a16="http://schemas.microsoft.com/office/drawing/2014/main" id="{C0018A8B-EFAF-430E-6FA5-E99A0E42F624}"/>
              </a:ext>
            </a:extLst>
          </p:cNvPr>
          <p:cNvSpPr/>
          <p:nvPr/>
        </p:nvSpPr>
        <p:spPr>
          <a:xfrm>
            <a:off x="600877" y="559518"/>
            <a:ext cx="2942276" cy="2942276"/>
          </a:xfrm>
          <a:custGeom>
            <a:avLst/>
            <a:gdLst/>
            <a:ahLst/>
            <a:cxnLst/>
            <a:rect l="l" t="t" r="r" b="b"/>
            <a:pathLst>
              <a:path w="2942276" h="2942276">
                <a:moveTo>
                  <a:pt x="0" y="0"/>
                </a:moveTo>
                <a:lnTo>
                  <a:pt x="2942276" y="0"/>
                </a:lnTo>
                <a:lnTo>
                  <a:pt x="2942276" y="2942277"/>
                </a:lnTo>
                <a:lnTo>
                  <a:pt x="0" y="29422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descr="Round Geometric Memphis Design">
            <a:extLst>
              <a:ext uri="{FF2B5EF4-FFF2-40B4-BE49-F238E27FC236}">
                <a16:creationId xmlns:a16="http://schemas.microsoft.com/office/drawing/2014/main" id="{C4C9D44A-79E2-E38A-57EE-2D5F9D83BE90}"/>
              </a:ext>
            </a:extLst>
          </p:cNvPr>
          <p:cNvSpPr/>
          <p:nvPr/>
        </p:nvSpPr>
        <p:spPr>
          <a:xfrm>
            <a:off x="17216912" y="0"/>
            <a:ext cx="1071088" cy="2030656"/>
          </a:xfrm>
          <a:custGeom>
            <a:avLst/>
            <a:gdLst/>
            <a:ahLst/>
            <a:cxnLst/>
            <a:rect l="l" t="t" r="r" b="b"/>
            <a:pathLst>
              <a:path w="2942276" h="2942276">
                <a:moveTo>
                  <a:pt x="0" y="0"/>
                </a:moveTo>
                <a:lnTo>
                  <a:pt x="2942276" y="0"/>
                </a:lnTo>
                <a:lnTo>
                  <a:pt x="2942276" y="2942276"/>
                </a:lnTo>
                <a:lnTo>
                  <a:pt x="0" y="2942276"/>
                </a:lnTo>
                <a:lnTo>
                  <a:pt x="0" y="0"/>
                </a:lnTo>
                <a:close/>
              </a:path>
            </a:pathLst>
          </a:custGeom>
          <a:blipFill>
            <a:blip r:embed="rId2">
              <a:extLst>
                <a:ext uri="{96DAC541-7B7A-43D3-8B79-37D633B846F1}">
                  <asvg:svgBlip xmlns:asvg="http://schemas.microsoft.com/office/drawing/2016/SVG/main" r:embed="rId3"/>
                </a:ext>
              </a:extLst>
            </a:blip>
            <a:stretch>
              <a:fillRect t="-44892" r="-174700"/>
            </a:stretch>
          </a:blipFill>
        </p:spPr>
      </p:sp>
      <p:grpSp>
        <p:nvGrpSpPr>
          <p:cNvPr id="22" name="Group 21">
            <a:extLst>
              <a:ext uri="{FF2B5EF4-FFF2-40B4-BE49-F238E27FC236}">
                <a16:creationId xmlns:a16="http://schemas.microsoft.com/office/drawing/2014/main" id="{D056EB58-E178-3D14-3D35-90DC2CD9DF69}"/>
              </a:ext>
            </a:extLst>
          </p:cNvPr>
          <p:cNvGrpSpPr/>
          <p:nvPr/>
        </p:nvGrpSpPr>
        <p:grpSpPr>
          <a:xfrm>
            <a:off x="-13202888" y="6770292"/>
            <a:ext cx="6019800" cy="880074"/>
            <a:chOff x="1295400" y="6709252"/>
            <a:chExt cx="6019800" cy="880074"/>
          </a:xfrm>
          <a:solidFill>
            <a:schemeClr val="bg1">
              <a:lumMod val="95000"/>
            </a:schemeClr>
          </a:solidFill>
        </p:grpSpPr>
        <p:grpSp>
          <p:nvGrpSpPr>
            <p:cNvPr id="23" name="Group 10">
              <a:extLst>
                <a:ext uri="{FF2B5EF4-FFF2-40B4-BE49-F238E27FC236}">
                  <a16:creationId xmlns:a16="http://schemas.microsoft.com/office/drawing/2014/main" id="{EEFB327E-6D9E-98B5-6856-0E6470E4CE9A}"/>
                </a:ext>
              </a:extLst>
            </p:cNvPr>
            <p:cNvGrpSpPr/>
            <p:nvPr/>
          </p:nvGrpSpPr>
          <p:grpSpPr>
            <a:xfrm>
              <a:off x="1295400" y="6709252"/>
              <a:ext cx="6019800" cy="880074"/>
              <a:chOff x="0" y="0"/>
              <a:chExt cx="3247348" cy="455698"/>
            </a:xfrm>
            <a:grpFill/>
          </p:grpSpPr>
          <p:sp>
            <p:nvSpPr>
              <p:cNvPr id="25" name="Freeform 11">
                <a:extLst>
                  <a:ext uri="{FF2B5EF4-FFF2-40B4-BE49-F238E27FC236}">
                    <a16:creationId xmlns:a16="http://schemas.microsoft.com/office/drawing/2014/main" id="{B9CAA734-C6B1-9DA7-E383-F72B39B6DAFC}"/>
                  </a:ext>
                </a:extLst>
              </p:cNvPr>
              <p:cNvSpPr/>
              <p:nvPr/>
            </p:nvSpPr>
            <p:spPr>
              <a:xfrm>
                <a:off x="0" y="0"/>
                <a:ext cx="3247348" cy="455698"/>
              </a:xfrm>
              <a:prstGeom prst="roundRect">
                <a:avLst/>
              </a:prstGeom>
              <a:grpFill/>
              <a:ln w="38100" cap="sq">
                <a:solidFill>
                  <a:srgbClr val="F1F2F2"/>
                </a:solidFill>
                <a:prstDash val="solid"/>
                <a:miter/>
              </a:ln>
            </p:spPr>
          </p:sp>
          <p:sp>
            <p:nvSpPr>
              <p:cNvPr id="26" name="TextBox 12">
                <a:extLst>
                  <a:ext uri="{FF2B5EF4-FFF2-40B4-BE49-F238E27FC236}">
                    <a16:creationId xmlns:a16="http://schemas.microsoft.com/office/drawing/2014/main" id="{AA49A3FE-1F3B-13EF-0455-4D38CB268FEF}"/>
                  </a:ext>
                </a:extLst>
              </p:cNvPr>
              <p:cNvSpPr txBox="1"/>
              <p:nvPr/>
            </p:nvSpPr>
            <p:spPr>
              <a:xfrm>
                <a:off x="0" y="-38100"/>
                <a:ext cx="3247348" cy="493798"/>
              </a:xfrm>
              <a:prstGeom prst="roundRect">
                <a:avLst/>
              </a:prstGeom>
              <a:grpFill/>
            </p:spPr>
            <p:txBody>
              <a:bodyPr lIns="50800" tIns="50800" rIns="50800" bIns="50800" rtlCol="0" anchor="ctr"/>
              <a:lstStyle/>
              <a:p>
                <a:pPr algn="ctr">
                  <a:lnSpc>
                    <a:spcPts val="2659"/>
                  </a:lnSpc>
                  <a:spcBef>
                    <a:spcPct val="0"/>
                  </a:spcBef>
                </a:pPr>
                <a:endParaRPr>
                  <a:solidFill>
                    <a:schemeClr val="bg1">
                      <a:lumMod val="85000"/>
                    </a:schemeClr>
                  </a:solidFill>
                </a:endParaRPr>
              </a:p>
            </p:txBody>
          </p:sp>
        </p:grpSp>
        <p:sp>
          <p:nvSpPr>
            <p:cNvPr id="24" name="TextBox 6">
              <a:extLst>
                <a:ext uri="{FF2B5EF4-FFF2-40B4-BE49-F238E27FC236}">
                  <a16:creationId xmlns:a16="http://schemas.microsoft.com/office/drawing/2014/main" id="{A8E14C4A-2961-5D76-D2B5-4E2DD5646B7F}"/>
                </a:ext>
              </a:extLst>
            </p:cNvPr>
            <p:cNvSpPr txBox="1"/>
            <p:nvPr/>
          </p:nvSpPr>
          <p:spPr>
            <a:xfrm>
              <a:off x="1634797" y="6846154"/>
              <a:ext cx="5414229" cy="528478"/>
            </a:xfrm>
            <a:prstGeom prst="rect">
              <a:avLst/>
            </a:prstGeom>
            <a:grpFill/>
          </p:spPr>
          <p:txBody>
            <a:bodyPr wrap="square" lIns="0" tIns="0" rIns="0" bIns="0" rtlCol="0" anchor="t">
              <a:spAutoFit/>
            </a:bodyPr>
            <a:lstStyle/>
            <a:p>
              <a:pPr marL="0" lvl="0" indent="0" algn="ctr">
                <a:lnSpc>
                  <a:spcPts val="4620"/>
                </a:lnSpc>
                <a:spcBef>
                  <a:spcPct val="0"/>
                </a:spcBef>
              </a:pPr>
              <a:r>
                <a:rPr lang="en-US" sz="2600" b="1" dirty="0">
                  <a:solidFill>
                    <a:schemeClr val="bg1">
                      <a:lumMod val="85000"/>
                    </a:schemeClr>
                  </a:solidFill>
                  <a:latin typeface="Canva Sans"/>
                  <a:ea typeface="Canva Sans"/>
                  <a:cs typeface="Canva Sans"/>
                  <a:sym typeface="Canva Sans"/>
                </a:rPr>
                <a:t>Groundwater Hydrology</a:t>
              </a:r>
            </a:p>
          </p:txBody>
        </p:sp>
      </p:grpSp>
      <p:grpSp>
        <p:nvGrpSpPr>
          <p:cNvPr id="29" name="Group 28">
            <a:extLst>
              <a:ext uri="{FF2B5EF4-FFF2-40B4-BE49-F238E27FC236}">
                <a16:creationId xmlns:a16="http://schemas.microsoft.com/office/drawing/2014/main" id="{F25C9066-FE3E-33D5-6C02-5CFA57CD70B7}"/>
              </a:ext>
            </a:extLst>
          </p:cNvPr>
          <p:cNvGrpSpPr/>
          <p:nvPr/>
        </p:nvGrpSpPr>
        <p:grpSpPr>
          <a:xfrm>
            <a:off x="-6324600" y="4405473"/>
            <a:ext cx="6019800" cy="880074"/>
            <a:chOff x="1295400" y="6709252"/>
            <a:chExt cx="6019800" cy="880074"/>
          </a:xfrm>
          <a:solidFill>
            <a:schemeClr val="bg1">
              <a:lumMod val="95000"/>
            </a:schemeClr>
          </a:solidFill>
        </p:grpSpPr>
        <p:grpSp>
          <p:nvGrpSpPr>
            <p:cNvPr id="30" name="Group 10">
              <a:extLst>
                <a:ext uri="{FF2B5EF4-FFF2-40B4-BE49-F238E27FC236}">
                  <a16:creationId xmlns:a16="http://schemas.microsoft.com/office/drawing/2014/main" id="{5034C087-F384-A403-410F-FE277A8C16CD}"/>
                </a:ext>
              </a:extLst>
            </p:cNvPr>
            <p:cNvGrpSpPr/>
            <p:nvPr/>
          </p:nvGrpSpPr>
          <p:grpSpPr>
            <a:xfrm>
              <a:off x="1295400" y="6709252"/>
              <a:ext cx="6019800" cy="880074"/>
              <a:chOff x="0" y="0"/>
              <a:chExt cx="3247348" cy="455698"/>
            </a:xfrm>
            <a:grpFill/>
          </p:grpSpPr>
          <p:sp>
            <p:nvSpPr>
              <p:cNvPr id="32" name="Freeform 11">
                <a:extLst>
                  <a:ext uri="{FF2B5EF4-FFF2-40B4-BE49-F238E27FC236}">
                    <a16:creationId xmlns:a16="http://schemas.microsoft.com/office/drawing/2014/main" id="{B1A3A2EF-4007-71C2-ECCD-4A009FEC9215}"/>
                  </a:ext>
                </a:extLst>
              </p:cNvPr>
              <p:cNvSpPr/>
              <p:nvPr/>
            </p:nvSpPr>
            <p:spPr>
              <a:xfrm>
                <a:off x="0" y="0"/>
                <a:ext cx="3247348" cy="455698"/>
              </a:xfrm>
              <a:prstGeom prst="roundRect">
                <a:avLst/>
              </a:prstGeom>
              <a:grpFill/>
              <a:ln w="38100" cap="sq">
                <a:solidFill>
                  <a:srgbClr val="F1F2F2"/>
                </a:solidFill>
                <a:prstDash val="solid"/>
                <a:miter/>
              </a:ln>
            </p:spPr>
          </p:sp>
          <p:sp>
            <p:nvSpPr>
              <p:cNvPr id="33" name="TextBox 12">
                <a:extLst>
                  <a:ext uri="{FF2B5EF4-FFF2-40B4-BE49-F238E27FC236}">
                    <a16:creationId xmlns:a16="http://schemas.microsoft.com/office/drawing/2014/main" id="{2BB38A8C-9F59-31BF-143E-BA42167DD251}"/>
                  </a:ext>
                </a:extLst>
              </p:cNvPr>
              <p:cNvSpPr txBox="1"/>
              <p:nvPr/>
            </p:nvSpPr>
            <p:spPr>
              <a:xfrm>
                <a:off x="0" y="-38100"/>
                <a:ext cx="3247348" cy="493798"/>
              </a:xfrm>
              <a:prstGeom prst="roundRect">
                <a:avLst/>
              </a:prstGeom>
              <a:grpFill/>
            </p:spPr>
            <p:txBody>
              <a:bodyPr lIns="50800" tIns="50800" rIns="50800" bIns="50800" rtlCol="0" anchor="ctr"/>
              <a:lstStyle/>
              <a:p>
                <a:pPr algn="ctr">
                  <a:lnSpc>
                    <a:spcPts val="2659"/>
                  </a:lnSpc>
                  <a:spcBef>
                    <a:spcPct val="0"/>
                  </a:spcBef>
                </a:pPr>
                <a:endParaRPr>
                  <a:solidFill>
                    <a:schemeClr val="bg1">
                      <a:lumMod val="85000"/>
                    </a:schemeClr>
                  </a:solidFill>
                </a:endParaRPr>
              </a:p>
            </p:txBody>
          </p:sp>
        </p:grpSp>
        <p:sp>
          <p:nvSpPr>
            <p:cNvPr id="31" name="TextBox 6">
              <a:extLst>
                <a:ext uri="{FF2B5EF4-FFF2-40B4-BE49-F238E27FC236}">
                  <a16:creationId xmlns:a16="http://schemas.microsoft.com/office/drawing/2014/main" id="{567DF263-7A21-0BAC-FF54-ED949EC1D400}"/>
                </a:ext>
              </a:extLst>
            </p:cNvPr>
            <p:cNvSpPr txBox="1"/>
            <p:nvPr/>
          </p:nvSpPr>
          <p:spPr>
            <a:xfrm>
              <a:off x="1634797" y="6846154"/>
              <a:ext cx="5414229" cy="528478"/>
            </a:xfrm>
            <a:prstGeom prst="rect">
              <a:avLst/>
            </a:prstGeom>
            <a:grpFill/>
          </p:spPr>
          <p:txBody>
            <a:bodyPr wrap="square" lIns="0" tIns="0" rIns="0" bIns="0" rtlCol="0" anchor="t">
              <a:spAutoFit/>
            </a:bodyPr>
            <a:lstStyle/>
            <a:p>
              <a:pPr marL="0" lvl="0" indent="0" algn="ctr">
                <a:lnSpc>
                  <a:spcPts val="4620"/>
                </a:lnSpc>
                <a:spcBef>
                  <a:spcPct val="0"/>
                </a:spcBef>
              </a:pPr>
              <a:r>
                <a:rPr lang="en-US" sz="2600" b="1" dirty="0">
                  <a:solidFill>
                    <a:schemeClr val="bg1">
                      <a:lumMod val="85000"/>
                    </a:schemeClr>
                  </a:solidFill>
                  <a:latin typeface="Canva Sans"/>
                  <a:ea typeface="Canva Sans"/>
                  <a:cs typeface="Canva Sans"/>
                  <a:sym typeface="Canva Sans"/>
                </a:rPr>
                <a:t>Pumps</a:t>
              </a:r>
            </a:p>
          </p:txBody>
        </p:sp>
      </p:grpSp>
      <p:grpSp>
        <p:nvGrpSpPr>
          <p:cNvPr id="53" name="Group 52">
            <a:extLst>
              <a:ext uri="{FF2B5EF4-FFF2-40B4-BE49-F238E27FC236}">
                <a16:creationId xmlns:a16="http://schemas.microsoft.com/office/drawing/2014/main" id="{D7A78C01-594A-ED65-CD36-732E379751A0}"/>
              </a:ext>
            </a:extLst>
          </p:cNvPr>
          <p:cNvGrpSpPr/>
          <p:nvPr/>
        </p:nvGrpSpPr>
        <p:grpSpPr>
          <a:xfrm>
            <a:off x="-6324600" y="5624673"/>
            <a:ext cx="6019800" cy="880074"/>
            <a:chOff x="1295400" y="5558827"/>
            <a:chExt cx="6019800" cy="880074"/>
          </a:xfrm>
          <a:solidFill>
            <a:schemeClr val="bg1">
              <a:lumMod val="95000"/>
            </a:schemeClr>
          </a:solidFill>
        </p:grpSpPr>
        <p:grpSp>
          <p:nvGrpSpPr>
            <p:cNvPr id="54" name="Group 10">
              <a:extLst>
                <a:ext uri="{FF2B5EF4-FFF2-40B4-BE49-F238E27FC236}">
                  <a16:creationId xmlns:a16="http://schemas.microsoft.com/office/drawing/2014/main" id="{6D30712E-937E-BAC5-94DC-F9E7337393C0}"/>
                </a:ext>
              </a:extLst>
            </p:cNvPr>
            <p:cNvGrpSpPr/>
            <p:nvPr/>
          </p:nvGrpSpPr>
          <p:grpSpPr>
            <a:xfrm>
              <a:off x="1295400" y="5558827"/>
              <a:ext cx="6019800" cy="880074"/>
              <a:chOff x="0" y="0"/>
              <a:chExt cx="3247348" cy="455698"/>
            </a:xfrm>
            <a:grpFill/>
          </p:grpSpPr>
          <p:sp>
            <p:nvSpPr>
              <p:cNvPr id="56" name="Freeform 11">
                <a:extLst>
                  <a:ext uri="{FF2B5EF4-FFF2-40B4-BE49-F238E27FC236}">
                    <a16:creationId xmlns:a16="http://schemas.microsoft.com/office/drawing/2014/main" id="{62AD03F4-9D9A-14F8-9032-A06CEBC8D924}"/>
                  </a:ext>
                </a:extLst>
              </p:cNvPr>
              <p:cNvSpPr/>
              <p:nvPr/>
            </p:nvSpPr>
            <p:spPr>
              <a:xfrm>
                <a:off x="0" y="0"/>
                <a:ext cx="3247348" cy="455698"/>
              </a:xfrm>
              <a:prstGeom prst="roundRect">
                <a:avLst/>
              </a:prstGeom>
              <a:grpFill/>
              <a:ln w="38100" cap="sq">
                <a:solidFill>
                  <a:srgbClr val="F1F2F2"/>
                </a:solidFill>
                <a:prstDash val="solid"/>
                <a:miter/>
              </a:ln>
            </p:spPr>
          </p:sp>
          <p:sp>
            <p:nvSpPr>
              <p:cNvPr id="57" name="TextBox 12">
                <a:extLst>
                  <a:ext uri="{FF2B5EF4-FFF2-40B4-BE49-F238E27FC236}">
                    <a16:creationId xmlns:a16="http://schemas.microsoft.com/office/drawing/2014/main" id="{4E38A3BA-10B3-E828-B692-015F1A3402EC}"/>
                  </a:ext>
                </a:extLst>
              </p:cNvPr>
              <p:cNvSpPr txBox="1"/>
              <p:nvPr/>
            </p:nvSpPr>
            <p:spPr>
              <a:xfrm>
                <a:off x="0" y="-38100"/>
                <a:ext cx="3247348" cy="493798"/>
              </a:xfrm>
              <a:prstGeom prst="roundRect">
                <a:avLst/>
              </a:prstGeom>
              <a:grpFill/>
            </p:spPr>
            <p:txBody>
              <a:bodyPr lIns="50800" tIns="50800" rIns="50800" bIns="50800" rtlCol="0" anchor="ctr"/>
              <a:lstStyle/>
              <a:p>
                <a:pPr algn="ctr">
                  <a:lnSpc>
                    <a:spcPts val="2659"/>
                  </a:lnSpc>
                  <a:spcBef>
                    <a:spcPct val="0"/>
                  </a:spcBef>
                </a:pPr>
                <a:endParaRPr>
                  <a:solidFill>
                    <a:schemeClr val="bg1">
                      <a:lumMod val="85000"/>
                    </a:schemeClr>
                  </a:solidFill>
                </a:endParaRPr>
              </a:p>
            </p:txBody>
          </p:sp>
        </p:grpSp>
        <p:sp>
          <p:nvSpPr>
            <p:cNvPr id="55" name="TextBox 5">
              <a:extLst>
                <a:ext uri="{FF2B5EF4-FFF2-40B4-BE49-F238E27FC236}">
                  <a16:creationId xmlns:a16="http://schemas.microsoft.com/office/drawing/2014/main" id="{2BC664DC-C2E5-2149-B432-3CBDB1FE9F24}"/>
                </a:ext>
              </a:extLst>
            </p:cNvPr>
            <p:cNvSpPr txBox="1"/>
            <p:nvPr/>
          </p:nvSpPr>
          <p:spPr>
            <a:xfrm>
              <a:off x="2051882" y="5651100"/>
              <a:ext cx="4580058" cy="541751"/>
            </a:xfrm>
            <a:prstGeom prst="rect">
              <a:avLst/>
            </a:prstGeom>
            <a:grpFill/>
          </p:spPr>
          <p:txBody>
            <a:bodyPr lIns="0" tIns="0" rIns="0" bIns="0" rtlCol="0" anchor="t">
              <a:spAutoFit/>
            </a:bodyPr>
            <a:lstStyle/>
            <a:p>
              <a:pPr marL="0" lvl="0" indent="0" algn="ctr">
                <a:lnSpc>
                  <a:spcPts val="4620"/>
                </a:lnSpc>
                <a:spcBef>
                  <a:spcPct val="0"/>
                </a:spcBef>
              </a:pPr>
              <a:r>
                <a:rPr lang="en-US" sz="2600" b="1" dirty="0">
                  <a:solidFill>
                    <a:schemeClr val="bg1">
                      <a:lumMod val="85000"/>
                    </a:schemeClr>
                  </a:solidFill>
                  <a:latin typeface="Canva Sans"/>
                  <a:ea typeface="Canva Sans"/>
                  <a:cs typeface="Canva Sans"/>
                  <a:sym typeface="Canva Sans"/>
                </a:rPr>
                <a:t>Open Channel</a:t>
              </a:r>
            </a:p>
          </p:txBody>
        </p:sp>
      </p:grpSp>
      <p:grpSp>
        <p:nvGrpSpPr>
          <p:cNvPr id="58" name="Group 57">
            <a:extLst>
              <a:ext uri="{FF2B5EF4-FFF2-40B4-BE49-F238E27FC236}">
                <a16:creationId xmlns:a16="http://schemas.microsoft.com/office/drawing/2014/main" id="{FC5B9D1D-FF9B-BF27-4087-08A4CBFC0DAB}"/>
              </a:ext>
            </a:extLst>
          </p:cNvPr>
          <p:cNvGrpSpPr/>
          <p:nvPr/>
        </p:nvGrpSpPr>
        <p:grpSpPr>
          <a:xfrm>
            <a:off x="-6324600" y="6765162"/>
            <a:ext cx="6019800" cy="880074"/>
            <a:chOff x="1295400" y="6709252"/>
            <a:chExt cx="6019800" cy="880074"/>
          </a:xfrm>
          <a:solidFill>
            <a:schemeClr val="bg1">
              <a:lumMod val="95000"/>
            </a:schemeClr>
          </a:solidFill>
        </p:grpSpPr>
        <p:grpSp>
          <p:nvGrpSpPr>
            <p:cNvPr id="59" name="Group 10">
              <a:extLst>
                <a:ext uri="{FF2B5EF4-FFF2-40B4-BE49-F238E27FC236}">
                  <a16:creationId xmlns:a16="http://schemas.microsoft.com/office/drawing/2014/main" id="{3DFBB387-937A-F6BB-7FBD-1A1B554FE551}"/>
                </a:ext>
              </a:extLst>
            </p:cNvPr>
            <p:cNvGrpSpPr/>
            <p:nvPr/>
          </p:nvGrpSpPr>
          <p:grpSpPr>
            <a:xfrm>
              <a:off x="1295400" y="6709252"/>
              <a:ext cx="6019800" cy="880074"/>
              <a:chOff x="0" y="0"/>
              <a:chExt cx="3247348" cy="455698"/>
            </a:xfrm>
            <a:grpFill/>
          </p:grpSpPr>
          <p:sp>
            <p:nvSpPr>
              <p:cNvPr id="61" name="Freeform 11">
                <a:extLst>
                  <a:ext uri="{FF2B5EF4-FFF2-40B4-BE49-F238E27FC236}">
                    <a16:creationId xmlns:a16="http://schemas.microsoft.com/office/drawing/2014/main" id="{A0A2448F-C321-B9F6-265A-D59BABB0C8F7}"/>
                  </a:ext>
                </a:extLst>
              </p:cNvPr>
              <p:cNvSpPr/>
              <p:nvPr/>
            </p:nvSpPr>
            <p:spPr>
              <a:xfrm>
                <a:off x="0" y="0"/>
                <a:ext cx="3247348" cy="455698"/>
              </a:xfrm>
              <a:prstGeom prst="roundRect">
                <a:avLst/>
              </a:prstGeom>
              <a:grpFill/>
              <a:ln w="38100" cap="sq">
                <a:solidFill>
                  <a:srgbClr val="F1F2F2"/>
                </a:solidFill>
                <a:prstDash val="solid"/>
                <a:miter/>
              </a:ln>
            </p:spPr>
          </p:sp>
          <p:sp>
            <p:nvSpPr>
              <p:cNvPr id="62" name="TextBox 12">
                <a:extLst>
                  <a:ext uri="{FF2B5EF4-FFF2-40B4-BE49-F238E27FC236}">
                    <a16:creationId xmlns:a16="http://schemas.microsoft.com/office/drawing/2014/main" id="{3AA29970-0C5C-0CF6-FD2C-3F79B3E5BDBC}"/>
                  </a:ext>
                </a:extLst>
              </p:cNvPr>
              <p:cNvSpPr txBox="1"/>
              <p:nvPr/>
            </p:nvSpPr>
            <p:spPr>
              <a:xfrm>
                <a:off x="0" y="-38100"/>
                <a:ext cx="3247348" cy="493798"/>
              </a:xfrm>
              <a:prstGeom prst="roundRect">
                <a:avLst/>
              </a:prstGeom>
              <a:grpFill/>
            </p:spPr>
            <p:txBody>
              <a:bodyPr lIns="50800" tIns="50800" rIns="50800" bIns="50800" rtlCol="0" anchor="ctr"/>
              <a:lstStyle/>
              <a:p>
                <a:pPr algn="ctr">
                  <a:lnSpc>
                    <a:spcPts val="2659"/>
                  </a:lnSpc>
                  <a:spcBef>
                    <a:spcPct val="0"/>
                  </a:spcBef>
                </a:pPr>
                <a:endParaRPr>
                  <a:solidFill>
                    <a:schemeClr val="bg1">
                      <a:lumMod val="85000"/>
                    </a:schemeClr>
                  </a:solidFill>
                </a:endParaRPr>
              </a:p>
            </p:txBody>
          </p:sp>
        </p:grpSp>
        <p:sp>
          <p:nvSpPr>
            <p:cNvPr id="60" name="TextBox 6">
              <a:extLst>
                <a:ext uri="{FF2B5EF4-FFF2-40B4-BE49-F238E27FC236}">
                  <a16:creationId xmlns:a16="http://schemas.microsoft.com/office/drawing/2014/main" id="{9A3DB5E4-14AC-FDB7-91C2-DC9B61E18615}"/>
                </a:ext>
              </a:extLst>
            </p:cNvPr>
            <p:cNvSpPr txBox="1"/>
            <p:nvPr/>
          </p:nvSpPr>
          <p:spPr>
            <a:xfrm>
              <a:off x="1634797" y="6846154"/>
              <a:ext cx="5414229" cy="528478"/>
            </a:xfrm>
            <a:prstGeom prst="rect">
              <a:avLst/>
            </a:prstGeom>
            <a:grpFill/>
          </p:spPr>
          <p:txBody>
            <a:bodyPr wrap="square" lIns="0" tIns="0" rIns="0" bIns="0" rtlCol="0" anchor="t">
              <a:spAutoFit/>
            </a:bodyPr>
            <a:lstStyle/>
            <a:p>
              <a:pPr algn="ctr">
                <a:lnSpc>
                  <a:spcPts val="4620"/>
                </a:lnSpc>
              </a:pPr>
              <a:r>
                <a:rPr lang="en-US" sz="2600" b="1" dirty="0">
                  <a:solidFill>
                    <a:schemeClr val="bg1">
                      <a:lumMod val="85000"/>
                    </a:schemeClr>
                  </a:solidFill>
                  <a:latin typeface="Canva Sans"/>
                  <a:ea typeface="Canva Sans"/>
                  <a:cs typeface="Canva Sans"/>
                  <a:sym typeface="Canva Sans"/>
                </a:rPr>
                <a:t>Pressurized Irrigation Systems</a:t>
              </a:r>
            </a:p>
          </p:txBody>
        </p:sp>
      </p:grpSp>
      <p:grpSp>
        <p:nvGrpSpPr>
          <p:cNvPr id="12" name="Group 11">
            <a:extLst>
              <a:ext uri="{FF2B5EF4-FFF2-40B4-BE49-F238E27FC236}">
                <a16:creationId xmlns:a16="http://schemas.microsoft.com/office/drawing/2014/main" id="{3B698D18-5991-768A-1C08-BC9B9916D451}"/>
              </a:ext>
            </a:extLst>
          </p:cNvPr>
          <p:cNvGrpSpPr/>
          <p:nvPr/>
        </p:nvGrpSpPr>
        <p:grpSpPr>
          <a:xfrm>
            <a:off x="-13202888" y="4405473"/>
            <a:ext cx="6019800" cy="880074"/>
            <a:chOff x="1295400" y="5558827"/>
            <a:chExt cx="6019800" cy="880074"/>
          </a:xfrm>
          <a:solidFill>
            <a:schemeClr val="bg1">
              <a:lumMod val="95000"/>
            </a:schemeClr>
          </a:solidFill>
        </p:grpSpPr>
        <p:grpSp>
          <p:nvGrpSpPr>
            <p:cNvPr id="13" name="Group 10">
              <a:extLst>
                <a:ext uri="{FF2B5EF4-FFF2-40B4-BE49-F238E27FC236}">
                  <a16:creationId xmlns:a16="http://schemas.microsoft.com/office/drawing/2014/main" id="{58B799A8-6EDB-B015-3F9E-2FA19C51C354}"/>
                </a:ext>
              </a:extLst>
            </p:cNvPr>
            <p:cNvGrpSpPr/>
            <p:nvPr/>
          </p:nvGrpSpPr>
          <p:grpSpPr>
            <a:xfrm>
              <a:off x="1295400" y="5558827"/>
              <a:ext cx="6019800" cy="880074"/>
              <a:chOff x="0" y="0"/>
              <a:chExt cx="3247348" cy="455698"/>
            </a:xfrm>
            <a:grpFill/>
          </p:grpSpPr>
          <p:sp>
            <p:nvSpPr>
              <p:cNvPr id="27" name="Freeform 11">
                <a:extLst>
                  <a:ext uri="{FF2B5EF4-FFF2-40B4-BE49-F238E27FC236}">
                    <a16:creationId xmlns:a16="http://schemas.microsoft.com/office/drawing/2014/main" id="{EAEC3A7E-AB54-BC86-4FC2-2ED42622EEEB}"/>
                  </a:ext>
                </a:extLst>
              </p:cNvPr>
              <p:cNvSpPr/>
              <p:nvPr/>
            </p:nvSpPr>
            <p:spPr>
              <a:xfrm>
                <a:off x="0" y="0"/>
                <a:ext cx="3247348" cy="455698"/>
              </a:xfrm>
              <a:prstGeom prst="roundRect">
                <a:avLst/>
              </a:prstGeom>
              <a:grpFill/>
              <a:ln w="38100" cap="sq">
                <a:solidFill>
                  <a:srgbClr val="F1F2F2"/>
                </a:solidFill>
                <a:prstDash val="solid"/>
                <a:miter/>
              </a:ln>
            </p:spPr>
          </p:sp>
          <p:sp>
            <p:nvSpPr>
              <p:cNvPr id="28" name="TextBox 12">
                <a:extLst>
                  <a:ext uri="{FF2B5EF4-FFF2-40B4-BE49-F238E27FC236}">
                    <a16:creationId xmlns:a16="http://schemas.microsoft.com/office/drawing/2014/main" id="{81B8BAFE-37F0-6200-D39B-C26B0264ADF4}"/>
                  </a:ext>
                </a:extLst>
              </p:cNvPr>
              <p:cNvSpPr txBox="1"/>
              <p:nvPr/>
            </p:nvSpPr>
            <p:spPr>
              <a:xfrm>
                <a:off x="0" y="-38100"/>
                <a:ext cx="3247348" cy="493798"/>
              </a:xfrm>
              <a:prstGeom prst="roundRect">
                <a:avLst/>
              </a:prstGeom>
              <a:grpFill/>
            </p:spPr>
            <p:txBody>
              <a:bodyPr lIns="50800" tIns="50800" rIns="50800" bIns="50800" rtlCol="0" anchor="ctr"/>
              <a:lstStyle/>
              <a:p>
                <a:pPr algn="ctr">
                  <a:lnSpc>
                    <a:spcPts val="2659"/>
                  </a:lnSpc>
                  <a:spcBef>
                    <a:spcPct val="0"/>
                  </a:spcBef>
                </a:pPr>
                <a:endParaRPr>
                  <a:solidFill>
                    <a:schemeClr val="bg1">
                      <a:lumMod val="85000"/>
                    </a:schemeClr>
                  </a:solidFill>
                </a:endParaRPr>
              </a:p>
            </p:txBody>
          </p:sp>
        </p:grpSp>
        <p:sp>
          <p:nvSpPr>
            <p:cNvPr id="14" name="TextBox 5">
              <a:extLst>
                <a:ext uri="{FF2B5EF4-FFF2-40B4-BE49-F238E27FC236}">
                  <a16:creationId xmlns:a16="http://schemas.microsoft.com/office/drawing/2014/main" id="{D13D4640-525F-2AE5-938D-B56B4902FC56}"/>
                </a:ext>
              </a:extLst>
            </p:cNvPr>
            <p:cNvSpPr txBox="1"/>
            <p:nvPr/>
          </p:nvSpPr>
          <p:spPr>
            <a:xfrm>
              <a:off x="2015271" y="5659411"/>
              <a:ext cx="4580058" cy="541751"/>
            </a:xfrm>
            <a:prstGeom prst="rect">
              <a:avLst/>
            </a:prstGeom>
            <a:grpFill/>
          </p:spPr>
          <p:txBody>
            <a:bodyPr lIns="0" tIns="0" rIns="0" bIns="0" rtlCol="0" anchor="t">
              <a:spAutoFit/>
            </a:bodyPr>
            <a:lstStyle/>
            <a:p>
              <a:pPr algn="ctr">
                <a:lnSpc>
                  <a:spcPts val="4620"/>
                </a:lnSpc>
              </a:pPr>
              <a:r>
                <a:rPr lang="en-US" sz="2600" b="1" dirty="0">
                  <a:solidFill>
                    <a:schemeClr val="bg1">
                      <a:lumMod val="85000"/>
                    </a:schemeClr>
                  </a:solidFill>
                  <a:latin typeface="Canva Sans"/>
                  <a:ea typeface="Canva Sans"/>
                  <a:cs typeface="Canva Sans"/>
                  <a:sym typeface="Canva Sans"/>
                </a:rPr>
                <a:t>Surveying</a:t>
              </a:r>
            </a:p>
          </p:txBody>
        </p:sp>
      </p:grpSp>
      <p:grpSp>
        <p:nvGrpSpPr>
          <p:cNvPr id="5" name="Group 4">
            <a:extLst>
              <a:ext uri="{FF2B5EF4-FFF2-40B4-BE49-F238E27FC236}">
                <a16:creationId xmlns:a16="http://schemas.microsoft.com/office/drawing/2014/main" id="{969F018B-6F6D-2CF8-EBC8-CB65A6D68D03}"/>
              </a:ext>
            </a:extLst>
          </p:cNvPr>
          <p:cNvGrpSpPr/>
          <p:nvPr/>
        </p:nvGrpSpPr>
        <p:grpSpPr>
          <a:xfrm>
            <a:off x="2673585" y="4405473"/>
            <a:ext cx="12890728" cy="1884580"/>
            <a:chOff x="1295400" y="5558827"/>
            <a:chExt cx="6019800" cy="880074"/>
          </a:xfrm>
        </p:grpSpPr>
        <p:grpSp>
          <p:nvGrpSpPr>
            <p:cNvPr id="6" name="Group 10">
              <a:extLst>
                <a:ext uri="{FF2B5EF4-FFF2-40B4-BE49-F238E27FC236}">
                  <a16:creationId xmlns:a16="http://schemas.microsoft.com/office/drawing/2014/main" id="{C6312167-80BB-E421-A55D-65B99C4930EF}"/>
                </a:ext>
              </a:extLst>
            </p:cNvPr>
            <p:cNvGrpSpPr/>
            <p:nvPr/>
          </p:nvGrpSpPr>
          <p:grpSpPr>
            <a:xfrm>
              <a:off x="1295400" y="5558827"/>
              <a:ext cx="6019800" cy="880074"/>
              <a:chOff x="0" y="0"/>
              <a:chExt cx="3247348" cy="455698"/>
            </a:xfrm>
          </p:grpSpPr>
          <p:sp>
            <p:nvSpPr>
              <p:cNvPr id="16" name="Freeform 11">
                <a:extLst>
                  <a:ext uri="{FF2B5EF4-FFF2-40B4-BE49-F238E27FC236}">
                    <a16:creationId xmlns:a16="http://schemas.microsoft.com/office/drawing/2014/main" id="{C1B0D659-60A1-E8B7-647C-08E17E85C9C2}"/>
                  </a:ext>
                </a:extLst>
              </p:cNvPr>
              <p:cNvSpPr/>
              <p:nvPr/>
            </p:nvSpPr>
            <p:spPr>
              <a:xfrm>
                <a:off x="0" y="0"/>
                <a:ext cx="3247348" cy="455698"/>
              </a:xfrm>
              <a:prstGeom prst="roundRect">
                <a:avLst/>
              </a:prstGeom>
              <a:solidFill>
                <a:srgbClr val="DDDEDE"/>
              </a:solidFill>
              <a:ln w="38100" cap="sq">
                <a:solidFill>
                  <a:srgbClr val="F1F2F2"/>
                </a:solidFill>
                <a:prstDash val="solid"/>
                <a:miter/>
              </a:ln>
            </p:spPr>
          </p:sp>
          <p:sp>
            <p:nvSpPr>
              <p:cNvPr id="17" name="TextBox 12">
                <a:extLst>
                  <a:ext uri="{FF2B5EF4-FFF2-40B4-BE49-F238E27FC236}">
                    <a16:creationId xmlns:a16="http://schemas.microsoft.com/office/drawing/2014/main" id="{96818993-76B6-9089-3F25-A9D50F4AABFF}"/>
                  </a:ext>
                </a:extLst>
              </p:cNvPr>
              <p:cNvSpPr txBox="1"/>
              <p:nvPr/>
            </p:nvSpPr>
            <p:spPr>
              <a:xfrm>
                <a:off x="0" y="-38100"/>
                <a:ext cx="3247348" cy="493798"/>
              </a:xfrm>
              <a:prstGeom prst="roundRect">
                <a:avLst/>
              </a:prstGeom>
            </p:spPr>
            <p:txBody>
              <a:bodyPr lIns="50800" tIns="50800" rIns="50800" bIns="50800" rtlCol="0" anchor="ctr"/>
              <a:lstStyle/>
              <a:p>
                <a:pPr algn="ctr">
                  <a:lnSpc>
                    <a:spcPts val="2659"/>
                  </a:lnSpc>
                  <a:spcBef>
                    <a:spcPct val="0"/>
                  </a:spcBef>
                </a:pPr>
                <a:endParaRPr lang="en-PH" sz="4800" dirty="0"/>
              </a:p>
            </p:txBody>
          </p:sp>
        </p:grpSp>
        <p:sp>
          <p:nvSpPr>
            <p:cNvPr id="15" name="TextBox 5">
              <a:extLst>
                <a:ext uri="{FF2B5EF4-FFF2-40B4-BE49-F238E27FC236}">
                  <a16:creationId xmlns:a16="http://schemas.microsoft.com/office/drawing/2014/main" id="{D133F31E-F92B-0DEC-A600-CC01E99626B1}"/>
                </a:ext>
              </a:extLst>
            </p:cNvPr>
            <p:cNvSpPr txBox="1"/>
            <p:nvPr/>
          </p:nvSpPr>
          <p:spPr>
            <a:xfrm>
              <a:off x="1838278" y="5984481"/>
              <a:ext cx="4934044" cy="364709"/>
            </a:xfrm>
            <a:prstGeom prst="rect">
              <a:avLst/>
            </a:prstGeom>
          </p:spPr>
          <p:txBody>
            <a:bodyPr wrap="square" lIns="0" tIns="0" rIns="0" bIns="0" rtlCol="0" anchor="t">
              <a:spAutoFit/>
            </a:bodyPr>
            <a:lstStyle/>
            <a:p>
              <a:pPr algn="ctr">
                <a:lnSpc>
                  <a:spcPts val="4620"/>
                </a:lnSpc>
              </a:pPr>
              <a:r>
                <a:rPr lang="en-US" sz="8800" b="1" dirty="0">
                  <a:solidFill>
                    <a:srgbClr val="000000"/>
                  </a:solidFill>
                  <a:latin typeface="Nunito 1 Bold" panose="020B0604020202020204" charset="0"/>
                  <a:ea typeface="Canva Sans"/>
                  <a:cs typeface="Canva Sans"/>
                  <a:sym typeface="Canva Sans"/>
                </a:rPr>
                <a:t>FLUID MECHANICS</a:t>
              </a:r>
            </a:p>
          </p:txBody>
        </p:sp>
      </p:grpSp>
    </p:spTree>
    <p:extLst>
      <p:ext uri="{BB962C8B-B14F-4D97-AF65-F5344CB8AC3E}">
        <p14:creationId xmlns:p14="http://schemas.microsoft.com/office/powerpoint/2010/main" val="8378953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C835F-8224-9B2F-32B8-A9A065F6723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9E47884-A832-72A1-2BFE-C526902689E4}"/>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181B5401-5F36-C76C-D886-8F67E8D80E70}"/>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593CCB1B-DEB1-D2A3-42F4-BCD867B04658}"/>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F5D35869-AF91-4A5D-462E-D1A79EEAD769}"/>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304CDC4D-C57F-CA9F-8126-BA75460D231D}"/>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C8C5203B-3553-C984-2EB1-F3B5842CAF9B}"/>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58D6AA84-32D7-8A6C-879E-BE97BF980A05}"/>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7F160EAB-DAE3-C6E2-0037-3BA8BDD7C943}"/>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1EDEC6D1-247E-C964-B96D-1B47E5C68711}"/>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8C2CA7DF-7F63-FB94-8F8C-2937B7D81934}"/>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b="1" dirty="0">
                <a:solidFill>
                  <a:srgbClr val="000000"/>
                </a:solidFill>
                <a:latin typeface="Fredoka" pitchFamily="2" charset="-79"/>
                <a:ea typeface="Fredoka"/>
                <a:cs typeface="Fredoka" pitchFamily="2" charset="-79"/>
                <a:sym typeface="Fredoka"/>
              </a:rPr>
              <a:t>QUESTION 1</a:t>
            </a:r>
          </a:p>
        </p:txBody>
      </p:sp>
      <p:sp>
        <p:nvSpPr>
          <p:cNvPr id="15" name="TextBox 15">
            <a:extLst>
              <a:ext uri="{FF2B5EF4-FFF2-40B4-BE49-F238E27FC236}">
                <a16:creationId xmlns:a16="http://schemas.microsoft.com/office/drawing/2014/main" id="{477B5D90-E45E-0E00-124E-C81CC3AFE19D}"/>
              </a:ext>
            </a:extLst>
          </p:cNvPr>
          <p:cNvSpPr txBox="1"/>
          <p:nvPr/>
        </p:nvSpPr>
        <p:spPr>
          <a:xfrm>
            <a:off x="2246041" y="2025065"/>
            <a:ext cx="13795916" cy="738664"/>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This property is defined as a measure of a fluid's resistance to flow, and describes the internal friction of a moving fluid.</a:t>
            </a:r>
          </a:p>
        </p:txBody>
      </p:sp>
      <p:grpSp>
        <p:nvGrpSpPr>
          <p:cNvPr id="18" name="Group 17">
            <a:extLst>
              <a:ext uri="{FF2B5EF4-FFF2-40B4-BE49-F238E27FC236}">
                <a16:creationId xmlns:a16="http://schemas.microsoft.com/office/drawing/2014/main" id="{1B15036F-F653-63E6-E88D-BB985243FD1E}"/>
              </a:ext>
            </a:extLst>
          </p:cNvPr>
          <p:cNvGrpSpPr/>
          <p:nvPr/>
        </p:nvGrpSpPr>
        <p:grpSpPr>
          <a:xfrm>
            <a:off x="0" y="9599693"/>
            <a:ext cx="18287999" cy="687306"/>
            <a:chOff x="0" y="9599693"/>
            <a:chExt cx="18287999" cy="687306"/>
          </a:xfrm>
        </p:grpSpPr>
        <p:grpSp>
          <p:nvGrpSpPr>
            <p:cNvPr id="11" name="Group 11">
              <a:extLst>
                <a:ext uri="{FF2B5EF4-FFF2-40B4-BE49-F238E27FC236}">
                  <a16:creationId xmlns:a16="http://schemas.microsoft.com/office/drawing/2014/main" id="{9D11E769-E932-8DAE-FD5C-4640A4FE54F6}"/>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DB3183FB-5535-FE5B-9C5F-3713F2595549}"/>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43779686-1371-569E-BC48-8B0D373BF0D6}"/>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2">
              <a:extLst>
                <a:ext uri="{FF2B5EF4-FFF2-40B4-BE49-F238E27FC236}">
                  <a16:creationId xmlns:a16="http://schemas.microsoft.com/office/drawing/2014/main" id="{261EFD1F-770E-4993-E9E9-C6B8DC094B99}"/>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0" name="TextBox 13">
              <a:extLst>
                <a:ext uri="{FF2B5EF4-FFF2-40B4-BE49-F238E27FC236}">
                  <a16:creationId xmlns:a16="http://schemas.microsoft.com/office/drawing/2014/main" id="{87AF8D08-8513-A983-B567-C8A93C00733A}"/>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grpSp>
        <p:nvGrpSpPr>
          <p:cNvPr id="23" name="Group 5">
            <a:extLst>
              <a:ext uri="{FF2B5EF4-FFF2-40B4-BE49-F238E27FC236}">
                <a16:creationId xmlns:a16="http://schemas.microsoft.com/office/drawing/2014/main" id="{4D521F7E-5C1F-6D92-FEF5-DE434F7A3F61}"/>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831AD018-5D45-58DE-2405-5A086EBE2D3C}"/>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86446289-A9CB-4720-2E26-BD313AE3DF87}"/>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0A6F8194-973C-8516-AF14-FD8A3D2722DC}"/>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https://chem.libretexts.org/Courses/University_of_Arkansas_Little_Rock/Chem_1402%3A_General_Chemistry_1_(Kattoum)</a:t>
            </a:r>
          </a:p>
        </p:txBody>
      </p:sp>
      <p:sp>
        <p:nvSpPr>
          <p:cNvPr id="16" name="TextBox 15">
            <a:extLst>
              <a:ext uri="{FF2B5EF4-FFF2-40B4-BE49-F238E27FC236}">
                <a16:creationId xmlns:a16="http://schemas.microsoft.com/office/drawing/2014/main" id="{F69BADD0-DCE4-81DD-C5DF-A7579667870B}"/>
              </a:ext>
            </a:extLst>
          </p:cNvPr>
          <p:cNvSpPr txBox="1"/>
          <p:nvPr/>
        </p:nvSpPr>
        <p:spPr>
          <a:xfrm>
            <a:off x="1676400" y="2941299"/>
            <a:ext cx="14935200" cy="3323987"/>
          </a:xfrm>
          <a:prstGeom prst="rect">
            <a:avLst/>
          </a:prstGeom>
        </p:spPr>
        <p:txBody>
          <a:bodyPr wrap="square" lIns="0" tIns="0" rIns="0" bIns="0" rtlCol="0" anchor="t">
            <a:spAutoFit/>
          </a:bodyPr>
          <a:lstStyle/>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Shear rate</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Viscosity</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Consistency</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Density</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p:txBody>
      </p:sp>
      <p:sp>
        <p:nvSpPr>
          <p:cNvPr id="17" name="Oval 16">
            <a:extLst>
              <a:ext uri="{FF2B5EF4-FFF2-40B4-BE49-F238E27FC236}">
                <a16:creationId xmlns:a16="http://schemas.microsoft.com/office/drawing/2014/main" id="{0FDF3AD6-B1AF-3918-3313-D920C1D35960}"/>
              </a:ext>
            </a:extLst>
          </p:cNvPr>
          <p:cNvSpPr/>
          <p:nvPr/>
        </p:nvSpPr>
        <p:spPr>
          <a:xfrm>
            <a:off x="1524000" y="3619500"/>
            <a:ext cx="475936" cy="47593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26693352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86371-8FA1-475E-5128-B8FF99FA01C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848CC46-AA69-B9B7-D4DC-3184A2B3838B}"/>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41EA7906-B2A9-C4B9-B612-683C0E794CCD}"/>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895901F4-C549-ED10-2C66-26B67B477F03}"/>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377F1E58-3072-BDD6-337E-C621ADBB5644}"/>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7FBBC96B-1E5E-4D02-CE36-D5CA9727AE5F}"/>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764840DA-EA46-3239-F5D0-8D119B43E5F9}"/>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30C80EB4-50EC-1DE9-3768-FFE373672196}"/>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E6DC974C-5B12-FE0A-9149-25B085DC6544}"/>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309C67C8-C51E-971E-A28D-48C61D8B7D8C}"/>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sp>
        <p:nvSpPr>
          <p:cNvPr id="15" name="TextBox 15">
            <a:extLst>
              <a:ext uri="{FF2B5EF4-FFF2-40B4-BE49-F238E27FC236}">
                <a16:creationId xmlns:a16="http://schemas.microsoft.com/office/drawing/2014/main" id="{B0CE7D94-2E69-E336-B047-1A99A67D839F}"/>
              </a:ext>
            </a:extLst>
          </p:cNvPr>
          <p:cNvSpPr txBox="1"/>
          <p:nvPr/>
        </p:nvSpPr>
        <p:spPr>
          <a:xfrm>
            <a:off x="2246041" y="2025065"/>
            <a:ext cx="13795916" cy="369332"/>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Some Properties of Fluid Relevant in ABE</a:t>
            </a:r>
          </a:p>
        </p:txBody>
      </p:sp>
      <p:grpSp>
        <p:nvGrpSpPr>
          <p:cNvPr id="23" name="Group 5">
            <a:extLst>
              <a:ext uri="{FF2B5EF4-FFF2-40B4-BE49-F238E27FC236}">
                <a16:creationId xmlns:a16="http://schemas.microsoft.com/office/drawing/2014/main" id="{CB3EEF5B-241A-C6F9-82D6-D14034DAEEEA}"/>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75BB8BA9-ACDD-8B28-18A4-FDAE1B0E633F}"/>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159923D7-B97E-5234-7030-E46AF10E2887}"/>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AD089466-48B4-D8D9-5618-EE86076BF7A3}"/>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http://ecoursesonline.iasri.res.in/mod/resource/view.php?id=147003</a:t>
            </a:r>
          </a:p>
        </p:txBody>
      </p:sp>
      <p:sp>
        <p:nvSpPr>
          <p:cNvPr id="14" name="TextBox 15">
            <a:extLst>
              <a:ext uri="{FF2B5EF4-FFF2-40B4-BE49-F238E27FC236}">
                <a16:creationId xmlns:a16="http://schemas.microsoft.com/office/drawing/2014/main" id="{B53F81B8-FD4A-9DE1-3B8A-32FE6E212EC9}"/>
              </a:ext>
            </a:extLst>
          </p:cNvPr>
          <p:cNvSpPr txBox="1"/>
          <p:nvPr/>
        </p:nvSpPr>
        <p:spPr>
          <a:xfrm>
            <a:off x="1447800" y="2598126"/>
            <a:ext cx="15392400" cy="4431983"/>
          </a:xfrm>
          <a:prstGeom prst="rect">
            <a:avLst/>
          </a:prstGeom>
        </p:spPr>
        <p:txBody>
          <a:bodyPr wrap="square" lIns="0" tIns="0" rIns="0" bIns="0" rtlCol="0" anchor="t">
            <a:spAutoFit/>
          </a:bodyPr>
          <a:lstStyle/>
          <a:p>
            <a:pPr algn="just"/>
            <a:r>
              <a:rPr lang="en-US" sz="2400" b="1" dirty="0">
                <a:latin typeface="Nunito 1" panose="020B0604020202020204" charset="0"/>
              </a:rPr>
              <a:t>Density  - </a:t>
            </a:r>
            <a:r>
              <a:rPr lang="en-US" sz="2400" dirty="0">
                <a:latin typeface="Nunito 1" panose="020B0604020202020204" charset="0"/>
              </a:rPr>
              <a:t>determines the mass of a fluid per unit volume and affects flow rates, buoyancy, and energy requirements in pumping systems. In irrigation, knowing the density helps calculate the force needed to move water through pipes and canals. It also affects the design of fluid storage and distribution systems.</a:t>
            </a:r>
          </a:p>
          <a:p>
            <a:pPr algn="just"/>
            <a:endParaRPr lang="en-US" sz="2400" dirty="0">
              <a:latin typeface="Nunito 1" panose="020B0604020202020204" charset="0"/>
            </a:endParaRPr>
          </a:p>
          <a:p>
            <a:pPr algn="just"/>
            <a:r>
              <a:rPr lang="en-US" sz="2400" b="1" dirty="0">
                <a:latin typeface="Nunito 1" panose="020B0604020202020204" charset="0"/>
              </a:rPr>
              <a:t>Specific Gravity - t</a:t>
            </a:r>
            <a:r>
              <a:rPr lang="en-US" sz="2400" dirty="0">
                <a:latin typeface="Nunito 1" panose="020B0604020202020204" charset="0"/>
              </a:rPr>
              <a:t>his dimensionless property is the ratio of a fluid's density to that of water (reference density). Specific gravity helps in comparing different fluids in applications such as liquid fertilizers or pesticides, where the fluid's behavior under different conditions affects distribution.</a:t>
            </a:r>
          </a:p>
          <a:p>
            <a:pPr algn="just"/>
            <a:endParaRPr lang="en-US" sz="2400" dirty="0">
              <a:latin typeface="Nunito 1" panose="020B0604020202020204" charset="0"/>
            </a:endParaRPr>
          </a:p>
          <a:p>
            <a:pPr algn="just"/>
            <a:r>
              <a:rPr lang="en-US" sz="2400" b="1" dirty="0">
                <a:latin typeface="Nunito 1" panose="020B0604020202020204" charset="0"/>
              </a:rPr>
              <a:t>Compressibility</a:t>
            </a:r>
            <a:r>
              <a:rPr lang="en-US" sz="2400" dirty="0">
                <a:latin typeface="Nunito 1" panose="020B0604020202020204" charset="0"/>
              </a:rPr>
              <a:t>: Compressibility refers to the change in fluid volume under pressure. In ABE, most liquids are considered incompressible for ease of calculations. However, understanding compressibility is critical in systems where gases are involved, such as in pneumatic systems or air-assisted spraying, as it influences the system's efficiency and energy consumption.</a:t>
            </a:r>
          </a:p>
        </p:txBody>
      </p:sp>
      <p:grpSp>
        <p:nvGrpSpPr>
          <p:cNvPr id="17" name="Group 16">
            <a:extLst>
              <a:ext uri="{FF2B5EF4-FFF2-40B4-BE49-F238E27FC236}">
                <a16:creationId xmlns:a16="http://schemas.microsoft.com/office/drawing/2014/main" id="{4FC8E86B-C370-6E8D-6480-58A92F48C6FC}"/>
              </a:ext>
            </a:extLst>
          </p:cNvPr>
          <p:cNvGrpSpPr/>
          <p:nvPr/>
        </p:nvGrpSpPr>
        <p:grpSpPr>
          <a:xfrm>
            <a:off x="0" y="9599693"/>
            <a:ext cx="18287999" cy="687306"/>
            <a:chOff x="0" y="9599693"/>
            <a:chExt cx="18287999" cy="687306"/>
          </a:xfrm>
        </p:grpSpPr>
        <p:grpSp>
          <p:nvGrpSpPr>
            <p:cNvPr id="18" name="Group 11">
              <a:extLst>
                <a:ext uri="{FF2B5EF4-FFF2-40B4-BE49-F238E27FC236}">
                  <a16:creationId xmlns:a16="http://schemas.microsoft.com/office/drawing/2014/main" id="{5FD4DDB0-F593-5459-B256-AAAD51C8B818}"/>
                </a:ext>
              </a:extLst>
            </p:cNvPr>
            <p:cNvGrpSpPr/>
            <p:nvPr/>
          </p:nvGrpSpPr>
          <p:grpSpPr>
            <a:xfrm>
              <a:off x="0" y="9599694"/>
              <a:ext cx="18287999" cy="687305"/>
              <a:chOff x="0" y="0"/>
              <a:chExt cx="5260714" cy="490218"/>
            </a:xfrm>
          </p:grpSpPr>
          <p:sp>
            <p:nvSpPr>
              <p:cNvPr id="28" name="Freeform 12">
                <a:extLst>
                  <a:ext uri="{FF2B5EF4-FFF2-40B4-BE49-F238E27FC236}">
                    <a16:creationId xmlns:a16="http://schemas.microsoft.com/office/drawing/2014/main" id="{C523BF8D-71A2-0E3D-147E-E4A09C779472}"/>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9" name="TextBox 13">
                <a:extLst>
                  <a:ext uri="{FF2B5EF4-FFF2-40B4-BE49-F238E27FC236}">
                    <a16:creationId xmlns:a16="http://schemas.microsoft.com/office/drawing/2014/main" id="{066D940A-0DD9-9F98-8A1E-939EA2BEAD7A}"/>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1" name="TextBox 12">
              <a:extLst>
                <a:ext uri="{FF2B5EF4-FFF2-40B4-BE49-F238E27FC236}">
                  <a16:creationId xmlns:a16="http://schemas.microsoft.com/office/drawing/2014/main" id="{B33771B7-8DB4-1A7E-3FD1-44C9E3E4A4E4}"/>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2" name="TextBox 13">
              <a:extLst>
                <a:ext uri="{FF2B5EF4-FFF2-40B4-BE49-F238E27FC236}">
                  <a16:creationId xmlns:a16="http://schemas.microsoft.com/office/drawing/2014/main" id="{207D1E36-5BFA-74A0-7ED0-170947E6DD0E}"/>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spTree>
    <p:extLst>
      <p:ext uri="{BB962C8B-B14F-4D97-AF65-F5344CB8AC3E}">
        <p14:creationId xmlns:p14="http://schemas.microsoft.com/office/powerpoint/2010/main" val="33794352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70026-ED07-CB3A-3E5D-4B7B2D10054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16DEA8E-A42B-1FAA-48AE-6357C4599322}"/>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84ABF4D1-E2D6-E507-4ADD-EC7585A1C279}"/>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59CEC708-59D7-E802-68C3-6829BFE29610}"/>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8C087B62-0BA9-A106-F29A-03EF90E1A52D}"/>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EB0199B2-181F-02CA-05BD-0FF2F2CC916E}"/>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810E230B-30B7-1C42-1DD3-72FF7A1E5878}"/>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88D1B48F-5D0D-5482-B4E4-4FDBA62A30A8}"/>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91F2EC52-FECF-5CEE-B8BF-92F4CF2DECC3}"/>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6FE24F2A-324E-B433-6CFE-E7DA984C07C5}"/>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A5F293FA-7019-2A9F-93F1-4B969BB1D41C}"/>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FC73C777-A362-EEFA-E902-1386D62F1E5B}"/>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8F35FB0C-B40A-3325-ED9E-1641E05F8F05}"/>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5" name="TextBox 15">
            <a:extLst>
              <a:ext uri="{FF2B5EF4-FFF2-40B4-BE49-F238E27FC236}">
                <a16:creationId xmlns:a16="http://schemas.microsoft.com/office/drawing/2014/main" id="{E9EBF236-2BAF-C439-53AA-0E2244B59806}"/>
              </a:ext>
            </a:extLst>
          </p:cNvPr>
          <p:cNvSpPr txBox="1"/>
          <p:nvPr/>
        </p:nvSpPr>
        <p:spPr>
          <a:xfrm>
            <a:off x="2246041" y="2025065"/>
            <a:ext cx="13795916" cy="369332"/>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Some Properties of Fluid Relevant in ABE</a:t>
            </a:r>
          </a:p>
        </p:txBody>
      </p:sp>
      <p:sp>
        <p:nvSpPr>
          <p:cNvPr id="19" name="TextBox 12">
            <a:extLst>
              <a:ext uri="{FF2B5EF4-FFF2-40B4-BE49-F238E27FC236}">
                <a16:creationId xmlns:a16="http://schemas.microsoft.com/office/drawing/2014/main" id="{907986CC-FE8B-D071-3B5E-3435AAC46DC8}"/>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581032F1-7079-DFE5-79F2-ADEB75B18B32}"/>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nvGrpSpPr>
          <p:cNvPr id="23" name="Group 5">
            <a:extLst>
              <a:ext uri="{FF2B5EF4-FFF2-40B4-BE49-F238E27FC236}">
                <a16:creationId xmlns:a16="http://schemas.microsoft.com/office/drawing/2014/main" id="{90955F62-6F96-05A0-8226-0119AFEE01C1}"/>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8E96999F-0D0E-4E32-CCB1-BBD291152EA8}"/>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B09E3D4C-7C55-42B3-2AF4-404C1B99F3B6}"/>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CC4298F6-8F47-AF8A-D75F-4C552A7EB680}"/>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http://ecoursesonline.iasri.res.in/mod/resource/view.php?id=147003</a:t>
            </a:r>
          </a:p>
        </p:txBody>
      </p:sp>
      <p:sp>
        <p:nvSpPr>
          <p:cNvPr id="14" name="TextBox 15">
            <a:extLst>
              <a:ext uri="{FF2B5EF4-FFF2-40B4-BE49-F238E27FC236}">
                <a16:creationId xmlns:a16="http://schemas.microsoft.com/office/drawing/2014/main" id="{C295A295-DABD-85C1-9A08-839F920B3D3F}"/>
              </a:ext>
            </a:extLst>
          </p:cNvPr>
          <p:cNvSpPr txBox="1"/>
          <p:nvPr/>
        </p:nvSpPr>
        <p:spPr>
          <a:xfrm>
            <a:off x="1447800" y="2598126"/>
            <a:ext cx="15392400" cy="5170646"/>
          </a:xfrm>
          <a:prstGeom prst="rect">
            <a:avLst/>
          </a:prstGeom>
        </p:spPr>
        <p:txBody>
          <a:bodyPr wrap="square" lIns="0" tIns="0" rIns="0" bIns="0" rtlCol="0" anchor="t">
            <a:spAutoFit/>
          </a:bodyPr>
          <a:lstStyle/>
          <a:p>
            <a:r>
              <a:rPr lang="en-US" sz="2400" b="1" dirty="0">
                <a:latin typeface="Nunito 1" panose="020B0604020202020204" charset="0"/>
              </a:rPr>
              <a:t>Capillarity</a:t>
            </a:r>
            <a:r>
              <a:rPr lang="en-US" sz="2400" dirty="0">
                <a:latin typeface="Nunito 1" panose="020B0604020202020204" charset="0"/>
              </a:rPr>
              <a:t>: This property is the ability of a fluid to move through small spaces due to adhesive and cohesive forces. Capillary action is significant in soil moisture movement, affecting water availability to plants. It is also crucial in designing irrigation systems, particularly drip irrigation, where the controlled release of water relies on capillary action to spread moisture uniformly around roots.</a:t>
            </a:r>
          </a:p>
          <a:p>
            <a:endParaRPr lang="en-US" sz="2400" dirty="0">
              <a:latin typeface="Nunito 1" panose="020B0604020202020204" charset="0"/>
            </a:endParaRPr>
          </a:p>
          <a:p>
            <a:r>
              <a:rPr lang="en-US" sz="2400" b="1" dirty="0">
                <a:latin typeface="Nunito 1" panose="020B0604020202020204" charset="0"/>
              </a:rPr>
              <a:t>Surface Tension</a:t>
            </a:r>
            <a:r>
              <a:rPr lang="en-US" sz="2400" dirty="0">
                <a:latin typeface="Nunito 1" panose="020B0604020202020204" charset="0"/>
              </a:rPr>
              <a:t>: Surface tension affects the behavior of liquids at the interface with other materials. In agricultural spraying, surface tension impacts droplet formation, spread, and adhesion on plant surfaces, which are essential for effective pesticide or nutrient application. In micro-irrigation, controlling surface tension helps improve water distribution and minimize evaporation losses.</a:t>
            </a:r>
          </a:p>
          <a:p>
            <a:endParaRPr lang="en-US" sz="2400" dirty="0">
              <a:latin typeface="Nunito 1" panose="020B0604020202020204" charset="0"/>
            </a:endParaRPr>
          </a:p>
          <a:p>
            <a:r>
              <a:rPr lang="en-US" sz="2400" b="1" dirty="0">
                <a:latin typeface="Nunito 1" panose="020B0604020202020204" charset="0"/>
              </a:rPr>
              <a:t>Pressure  </a:t>
            </a:r>
            <a:r>
              <a:rPr lang="en-US" sz="2400" dirty="0">
                <a:latin typeface="Nunito 1" panose="020B0604020202020204" charset="0"/>
              </a:rPr>
              <a:t>- pressure in fluids is determined by depth, density, and gravity. Understanding pressure is critical in designing water delivery systems, such as pumps and pipes, where sufficient pressure must be maintained to transport water efficiently. In irrigation, managing pressure ensures even water distribution, reducing energy costs and optimizing water use.</a:t>
            </a:r>
          </a:p>
        </p:txBody>
      </p:sp>
      <p:grpSp>
        <p:nvGrpSpPr>
          <p:cNvPr id="16" name="Group 15">
            <a:extLst>
              <a:ext uri="{FF2B5EF4-FFF2-40B4-BE49-F238E27FC236}">
                <a16:creationId xmlns:a16="http://schemas.microsoft.com/office/drawing/2014/main" id="{C7BFA38B-81D5-87F4-F1A1-241C78630294}"/>
              </a:ext>
            </a:extLst>
          </p:cNvPr>
          <p:cNvGrpSpPr/>
          <p:nvPr/>
        </p:nvGrpSpPr>
        <p:grpSpPr>
          <a:xfrm>
            <a:off x="0" y="9599693"/>
            <a:ext cx="18287999" cy="687306"/>
            <a:chOff x="0" y="9599693"/>
            <a:chExt cx="18287999" cy="687306"/>
          </a:xfrm>
        </p:grpSpPr>
        <p:grpSp>
          <p:nvGrpSpPr>
            <p:cNvPr id="17" name="Group 11">
              <a:extLst>
                <a:ext uri="{FF2B5EF4-FFF2-40B4-BE49-F238E27FC236}">
                  <a16:creationId xmlns:a16="http://schemas.microsoft.com/office/drawing/2014/main" id="{82BB2096-7D79-9066-3B04-2041C82F5679}"/>
                </a:ext>
              </a:extLst>
            </p:cNvPr>
            <p:cNvGrpSpPr/>
            <p:nvPr/>
          </p:nvGrpSpPr>
          <p:grpSpPr>
            <a:xfrm>
              <a:off x="0" y="9599694"/>
              <a:ext cx="18287999" cy="687305"/>
              <a:chOff x="0" y="0"/>
              <a:chExt cx="5260714" cy="490218"/>
            </a:xfrm>
          </p:grpSpPr>
          <p:sp>
            <p:nvSpPr>
              <p:cNvPr id="22" name="Freeform 12">
                <a:extLst>
                  <a:ext uri="{FF2B5EF4-FFF2-40B4-BE49-F238E27FC236}">
                    <a16:creationId xmlns:a16="http://schemas.microsoft.com/office/drawing/2014/main" id="{1917C248-6A3F-A020-B0BA-7C6853E7B997}"/>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7" name="TextBox 13">
                <a:extLst>
                  <a:ext uri="{FF2B5EF4-FFF2-40B4-BE49-F238E27FC236}">
                    <a16:creationId xmlns:a16="http://schemas.microsoft.com/office/drawing/2014/main" id="{40B12683-172E-7DE8-9C92-AF15A61C71E5}"/>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2">
              <a:extLst>
                <a:ext uri="{FF2B5EF4-FFF2-40B4-BE49-F238E27FC236}">
                  <a16:creationId xmlns:a16="http://schemas.microsoft.com/office/drawing/2014/main" id="{C37BCC35-498C-54F9-DBD7-CA9BEDDD4D6C}"/>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1" name="TextBox 13">
              <a:extLst>
                <a:ext uri="{FF2B5EF4-FFF2-40B4-BE49-F238E27FC236}">
                  <a16:creationId xmlns:a16="http://schemas.microsoft.com/office/drawing/2014/main" id="{AFD3DF06-651A-170C-AC44-41DF1B38E60C}"/>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spTree>
    <p:extLst>
      <p:ext uri="{BB962C8B-B14F-4D97-AF65-F5344CB8AC3E}">
        <p14:creationId xmlns:p14="http://schemas.microsoft.com/office/powerpoint/2010/main" val="31085932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76D99-54AE-844B-732B-D05EE6DF80D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A9479A5-6D37-AF79-2BE9-C0CB4B7CEC9D}"/>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C37E3FC1-987D-8F17-145A-A0A26F3B5501}"/>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5136F845-A186-0593-50BF-33A4ABE52ADD}"/>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1DDBAABD-52E7-27F2-D150-7281B4D5A32F}"/>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7E4E3AA7-A910-C733-389B-74771F44C5F3}"/>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8CD8CFBD-860B-3F07-4182-B15411AA2F8A}"/>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23E01A5E-9F75-5CC3-9CE1-B1AC26020167}"/>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CBECB0AC-B033-05E6-D1B0-522BC7E60751}"/>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35CF76BB-8D65-9DAA-5E51-BF65E176AB34}"/>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E0CBA7E6-FB0F-08C8-6319-4F115EF01161}"/>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F0C82C18-0DF3-1F78-619C-5398DAF64C05}"/>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5BF3041C-ACB3-61DC-0DC4-25FF2962711F}"/>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43A43A43-57BB-8E0A-D841-3018B04CB389}"/>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 2</a:t>
            </a:r>
          </a:p>
        </p:txBody>
      </p:sp>
      <p:sp>
        <p:nvSpPr>
          <p:cNvPr id="15" name="TextBox 15">
            <a:extLst>
              <a:ext uri="{FF2B5EF4-FFF2-40B4-BE49-F238E27FC236}">
                <a16:creationId xmlns:a16="http://schemas.microsoft.com/office/drawing/2014/main" id="{D87270AC-47E3-824F-D6BD-B218BCB78E41}"/>
              </a:ext>
            </a:extLst>
          </p:cNvPr>
          <p:cNvSpPr txBox="1"/>
          <p:nvPr/>
        </p:nvSpPr>
        <p:spPr>
          <a:xfrm>
            <a:off x="2246041" y="2025065"/>
            <a:ext cx="13795916" cy="369332"/>
          </a:xfrm>
          <a:prstGeom prst="rect">
            <a:avLst/>
          </a:prstGeom>
        </p:spPr>
        <p:txBody>
          <a:bodyPr wrap="square" lIns="0" tIns="0" rIns="0" bIns="0" rtlCol="0" anchor="t">
            <a:spAutoFit/>
          </a:bodyPr>
          <a:lstStyle/>
          <a:p>
            <a:pPr algn="ctr"/>
            <a:r>
              <a:rPr lang="en-US" sz="2400" b="1" dirty="0">
                <a:solidFill>
                  <a:srgbClr val="000000"/>
                </a:solidFill>
                <a:latin typeface="Nunito 1 Bold"/>
                <a:ea typeface="Nunito 1 Bold"/>
                <a:cs typeface="Nunito 1 Bold"/>
                <a:sym typeface="Nunito 1 Bold"/>
              </a:rPr>
              <a:t>Hydrometer is an instrument used to determine what characteristic of fluid?</a:t>
            </a:r>
          </a:p>
        </p:txBody>
      </p:sp>
      <p:sp>
        <p:nvSpPr>
          <p:cNvPr id="19" name="TextBox 12">
            <a:extLst>
              <a:ext uri="{FF2B5EF4-FFF2-40B4-BE49-F238E27FC236}">
                <a16:creationId xmlns:a16="http://schemas.microsoft.com/office/drawing/2014/main" id="{C879A69F-75AC-C48F-986E-5A74A887DBB4}"/>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A0B44049-B204-1FCC-C4C0-E7A1690791D8}"/>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nvGrpSpPr>
          <p:cNvPr id="23" name="Group 5">
            <a:extLst>
              <a:ext uri="{FF2B5EF4-FFF2-40B4-BE49-F238E27FC236}">
                <a16:creationId xmlns:a16="http://schemas.microsoft.com/office/drawing/2014/main" id="{4B47D625-057E-FFA4-FBF9-A77BFF67439F}"/>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60DF7590-4F51-85B5-5DB1-079C3E764FEC}"/>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5EB85E14-8C56-8B2E-8007-F622DC73C475}"/>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5">
            <a:extLst>
              <a:ext uri="{FF2B5EF4-FFF2-40B4-BE49-F238E27FC236}">
                <a16:creationId xmlns:a16="http://schemas.microsoft.com/office/drawing/2014/main" id="{8BE5ED3F-A5FB-C696-7FBD-7FF2F6C58A2F}"/>
              </a:ext>
            </a:extLst>
          </p:cNvPr>
          <p:cNvSpPr txBox="1"/>
          <p:nvPr/>
        </p:nvSpPr>
        <p:spPr>
          <a:xfrm>
            <a:off x="1676400" y="2823830"/>
            <a:ext cx="14935200" cy="2585323"/>
          </a:xfrm>
          <a:prstGeom prst="rect">
            <a:avLst/>
          </a:prstGeom>
        </p:spPr>
        <p:txBody>
          <a:bodyPr wrap="square" lIns="0" tIns="0" rIns="0" bIns="0" rtlCol="0" anchor="t">
            <a:spAutoFit/>
          </a:bodyPr>
          <a:lstStyle/>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Humidity</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Flow rate</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Velocity</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Specific gravity</a:t>
            </a:r>
          </a:p>
        </p:txBody>
      </p:sp>
      <p:sp>
        <p:nvSpPr>
          <p:cNvPr id="17" name="Oval 16">
            <a:extLst>
              <a:ext uri="{FF2B5EF4-FFF2-40B4-BE49-F238E27FC236}">
                <a16:creationId xmlns:a16="http://schemas.microsoft.com/office/drawing/2014/main" id="{BA5025F8-07E2-220B-D052-4EFCF28B7B3D}"/>
              </a:ext>
            </a:extLst>
          </p:cNvPr>
          <p:cNvSpPr/>
          <p:nvPr/>
        </p:nvSpPr>
        <p:spPr>
          <a:xfrm>
            <a:off x="1505640" y="4920268"/>
            <a:ext cx="475936" cy="47593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18" name="Group 17">
            <a:extLst>
              <a:ext uri="{FF2B5EF4-FFF2-40B4-BE49-F238E27FC236}">
                <a16:creationId xmlns:a16="http://schemas.microsoft.com/office/drawing/2014/main" id="{0D4750C3-F4E1-945F-4D57-54D0D3CA2402}"/>
              </a:ext>
            </a:extLst>
          </p:cNvPr>
          <p:cNvGrpSpPr/>
          <p:nvPr/>
        </p:nvGrpSpPr>
        <p:grpSpPr>
          <a:xfrm>
            <a:off x="0" y="9599693"/>
            <a:ext cx="18287999" cy="687306"/>
            <a:chOff x="0" y="9599693"/>
            <a:chExt cx="18287999" cy="687306"/>
          </a:xfrm>
        </p:grpSpPr>
        <p:grpSp>
          <p:nvGrpSpPr>
            <p:cNvPr id="21" name="Group 11">
              <a:extLst>
                <a:ext uri="{FF2B5EF4-FFF2-40B4-BE49-F238E27FC236}">
                  <a16:creationId xmlns:a16="http://schemas.microsoft.com/office/drawing/2014/main" id="{18739696-5B1F-204C-579D-C00C0212C262}"/>
                </a:ext>
              </a:extLst>
            </p:cNvPr>
            <p:cNvGrpSpPr/>
            <p:nvPr/>
          </p:nvGrpSpPr>
          <p:grpSpPr>
            <a:xfrm>
              <a:off x="0" y="9599694"/>
              <a:ext cx="18287999" cy="687305"/>
              <a:chOff x="0" y="0"/>
              <a:chExt cx="5260714" cy="490218"/>
            </a:xfrm>
          </p:grpSpPr>
          <p:sp>
            <p:nvSpPr>
              <p:cNvPr id="27" name="Freeform 12">
                <a:extLst>
                  <a:ext uri="{FF2B5EF4-FFF2-40B4-BE49-F238E27FC236}">
                    <a16:creationId xmlns:a16="http://schemas.microsoft.com/office/drawing/2014/main" id="{E5A2C741-C276-C259-2DB1-619706E52049}"/>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8" name="TextBox 13">
                <a:extLst>
                  <a:ext uri="{FF2B5EF4-FFF2-40B4-BE49-F238E27FC236}">
                    <a16:creationId xmlns:a16="http://schemas.microsoft.com/office/drawing/2014/main" id="{F285DE65-064E-C225-4FE2-645F52A34474}"/>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2" name="TextBox 12">
              <a:extLst>
                <a:ext uri="{FF2B5EF4-FFF2-40B4-BE49-F238E27FC236}">
                  <a16:creationId xmlns:a16="http://schemas.microsoft.com/office/drawing/2014/main" id="{C23EB290-AF12-65D9-0524-5144E29233D3}"/>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6" name="TextBox 13">
              <a:extLst>
                <a:ext uri="{FF2B5EF4-FFF2-40B4-BE49-F238E27FC236}">
                  <a16:creationId xmlns:a16="http://schemas.microsoft.com/office/drawing/2014/main" id="{A5ACB7F6-B47D-7F41-21C5-3BC8D745EF7E}"/>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spTree>
    <p:extLst>
      <p:ext uri="{BB962C8B-B14F-4D97-AF65-F5344CB8AC3E}">
        <p14:creationId xmlns:p14="http://schemas.microsoft.com/office/powerpoint/2010/main" val="2436283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D78B2-E0D1-43AF-E2C5-4B153BFB43E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10BCCB5-5C7B-5B8B-7243-1E619B5A8D95}"/>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4B758CB2-BF8F-5820-8903-828CEDC4EC49}"/>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2CA16ADA-75BC-9F04-A4DD-E6237F5D7CE7}"/>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61B4BCD8-4055-34EC-49E8-D876D920E684}"/>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54FF7314-2639-803B-D5B0-BAC895419AB3}"/>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00A8806F-BDD5-CC83-56D8-7F352E95FB2C}"/>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2FCF0AB3-D769-7778-6B89-5D204552FA5C}"/>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54CD6797-A017-8227-A91A-2DCC5BC2B43C}"/>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16262D5D-6DD7-4881-61A9-DDDA06CFA959}"/>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794C9CC6-9546-C9E4-DD6A-F640E45C1DEA}"/>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9F605F94-DFFD-66E6-ACF2-45370F6457DF}"/>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6A447ED0-FD6D-C191-1FCF-C8929F6F38E9}"/>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5" name="TextBox 15">
            <a:extLst>
              <a:ext uri="{FF2B5EF4-FFF2-40B4-BE49-F238E27FC236}">
                <a16:creationId xmlns:a16="http://schemas.microsoft.com/office/drawing/2014/main" id="{2C984C03-2678-A8FA-B506-266BF4735E90}"/>
              </a:ext>
            </a:extLst>
          </p:cNvPr>
          <p:cNvSpPr txBox="1"/>
          <p:nvPr/>
        </p:nvSpPr>
        <p:spPr>
          <a:xfrm>
            <a:off x="2246041" y="2025065"/>
            <a:ext cx="13795916" cy="369332"/>
          </a:xfrm>
          <a:prstGeom prst="rect">
            <a:avLst/>
          </a:prstGeom>
        </p:spPr>
        <p:txBody>
          <a:bodyPr wrap="square" lIns="0" tIns="0" rIns="0" bIns="0" rtlCol="0" anchor="t">
            <a:spAutoFit/>
          </a:bodyPr>
          <a:lstStyle/>
          <a:p>
            <a:pPr algn="ctr"/>
            <a:r>
              <a:rPr lang="en-US" sz="2400" b="1" dirty="0">
                <a:solidFill>
                  <a:srgbClr val="000000"/>
                </a:solidFill>
                <a:latin typeface="Nunito 1 Bold"/>
                <a:ea typeface="Nunito 1 Bold"/>
                <a:cs typeface="Nunito 1 Bold"/>
                <a:sym typeface="Nunito 1 Bold"/>
              </a:rPr>
              <a:t>Some Fluid Mechanics Measuring Instruments</a:t>
            </a:r>
          </a:p>
        </p:txBody>
      </p:sp>
      <p:sp>
        <p:nvSpPr>
          <p:cNvPr id="19" name="TextBox 12">
            <a:extLst>
              <a:ext uri="{FF2B5EF4-FFF2-40B4-BE49-F238E27FC236}">
                <a16:creationId xmlns:a16="http://schemas.microsoft.com/office/drawing/2014/main" id="{6CD2807B-5F81-69CD-88AB-36783916F39E}"/>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81B0F8A1-86A1-181A-F6CE-7E3F259D65A6}"/>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nvGrpSpPr>
          <p:cNvPr id="23" name="Group 5">
            <a:extLst>
              <a:ext uri="{FF2B5EF4-FFF2-40B4-BE49-F238E27FC236}">
                <a16:creationId xmlns:a16="http://schemas.microsoft.com/office/drawing/2014/main" id="{6C659396-EA7E-1C02-B406-9C7A2D84A740}"/>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2155C648-201A-30ED-3BCB-AA11028DF06A}"/>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4B5392F6-E73E-0AF7-689F-A29846E19344}"/>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31" name="Group 30">
            <a:extLst>
              <a:ext uri="{FF2B5EF4-FFF2-40B4-BE49-F238E27FC236}">
                <a16:creationId xmlns:a16="http://schemas.microsoft.com/office/drawing/2014/main" id="{B39260DA-1B74-C090-8383-EA1D626956F1}"/>
              </a:ext>
            </a:extLst>
          </p:cNvPr>
          <p:cNvGrpSpPr/>
          <p:nvPr/>
        </p:nvGrpSpPr>
        <p:grpSpPr>
          <a:xfrm>
            <a:off x="1533266" y="3906789"/>
            <a:ext cx="15221465" cy="4725484"/>
            <a:chOff x="1595266" y="2936385"/>
            <a:chExt cx="15221465" cy="4725484"/>
          </a:xfrm>
        </p:grpSpPr>
        <p:pic>
          <p:nvPicPr>
            <p:cNvPr id="28" name="Picture 27">
              <a:extLst>
                <a:ext uri="{FF2B5EF4-FFF2-40B4-BE49-F238E27FC236}">
                  <a16:creationId xmlns:a16="http://schemas.microsoft.com/office/drawing/2014/main" id="{8067E29F-779B-F2D3-AC39-6014B6D29D1D}"/>
                </a:ext>
              </a:extLst>
            </p:cNvPr>
            <p:cNvPicPr>
              <a:picLocks noChangeAspect="1"/>
            </p:cNvPicPr>
            <p:nvPr/>
          </p:nvPicPr>
          <p:blipFill>
            <a:blip r:embed="rId3"/>
            <a:stretch>
              <a:fillRect/>
            </a:stretch>
          </p:blipFill>
          <p:spPr>
            <a:xfrm>
              <a:off x="1595266" y="2936385"/>
              <a:ext cx="7548734" cy="4725484"/>
            </a:xfrm>
            <a:prstGeom prst="rect">
              <a:avLst/>
            </a:prstGeom>
          </p:spPr>
        </p:pic>
        <p:pic>
          <p:nvPicPr>
            <p:cNvPr id="30" name="Picture 29">
              <a:extLst>
                <a:ext uri="{FF2B5EF4-FFF2-40B4-BE49-F238E27FC236}">
                  <a16:creationId xmlns:a16="http://schemas.microsoft.com/office/drawing/2014/main" id="{B22BF970-E15D-3160-B324-54A0D7B4D547}"/>
                </a:ext>
              </a:extLst>
            </p:cNvPr>
            <p:cNvPicPr>
              <a:picLocks noChangeAspect="1"/>
            </p:cNvPicPr>
            <p:nvPr/>
          </p:nvPicPr>
          <p:blipFill>
            <a:blip r:embed="rId4"/>
            <a:stretch>
              <a:fillRect/>
            </a:stretch>
          </p:blipFill>
          <p:spPr>
            <a:xfrm>
              <a:off x="9255957" y="3463692"/>
              <a:ext cx="7560774" cy="3798446"/>
            </a:xfrm>
            <a:prstGeom prst="rect">
              <a:avLst/>
            </a:prstGeom>
          </p:spPr>
        </p:pic>
      </p:grpSp>
      <p:sp>
        <p:nvSpPr>
          <p:cNvPr id="32" name="TextBox 15">
            <a:extLst>
              <a:ext uri="{FF2B5EF4-FFF2-40B4-BE49-F238E27FC236}">
                <a16:creationId xmlns:a16="http://schemas.microsoft.com/office/drawing/2014/main" id="{F3536A1B-E39E-9466-C796-B6E44B7B3F8C}"/>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https://www.laboratorydeal.com/blogs/blogs/fluid-mechanics-physics-instruments-equipment</a:t>
            </a:r>
          </a:p>
        </p:txBody>
      </p:sp>
      <p:sp>
        <p:nvSpPr>
          <p:cNvPr id="14" name="TextBox 15">
            <a:extLst>
              <a:ext uri="{FF2B5EF4-FFF2-40B4-BE49-F238E27FC236}">
                <a16:creationId xmlns:a16="http://schemas.microsoft.com/office/drawing/2014/main" id="{5C7CEC53-04C5-28AA-E6A3-C1D401163661}"/>
              </a:ext>
            </a:extLst>
          </p:cNvPr>
          <p:cNvSpPr txBox="1"/>
          <p:nvPr/>
        </p:nvSpPr>
        <p:spPr>
          <a:xfrm>
            <a:off x="2246041" y="2744313"/>
            <a:ext cx="13795916" cy="738664"/>
          </a:xfrm>
          <a:prstGeom prst="rect">
            <a:avLst/>
          </a:prstGeom>
        </p:spPr>
        <p:txBody>
          <a:bodyPr wrap="square" lIns="0" tIns="0" rIns="0" bIns="0" rtlCol="0" anchor="t">
            <a:spAutoFit/>
          </a:bodyPr>
          <a:lstStyle/>
          <a:p>
            <a:pPr algn="ctr"/>
            <a:r>
              <a:rPr lang="en-US" sz="2400" dirty="0">
                <a:solidFill>
                  <a:srgbClr val="000000"/>
                </a:solidFill>
                <a:latin typeface="Nunito 1" panose="020B0604020202020204" charset="0"/>
                <a:ea typeface="Nunito 1 Bold"/>
                <a:cs typeface="Nunito 1 Bold"/>
                <a:sym typeface="Nunito 1 Bold"/>
              </a:rPr>
              <a:t>A </a:t>
            </a:r>
            <a:r>
              <a:rPr lang="en-US" sz="2400" dirty="0">
                <a:solidFill>
                  <a:srgbClr val="000000"/>
                </a:solidFill>
                <a:latin typeface="Nunito 1 Bold" panose="020B0604020202020204" charset="0"/>
                <a:ea typeface="Nunito 1 Bold"/>
                <a:cs typeface="Nunito 1 Bold"/>
                <a:sym typeface="Nunito 1 Bold"/>
              </a:rPr>
              <a:t>hydrometer</a:t>
            </a:r>
            <a:r>
              <a:rPr lang="en-US" sz="2400" dirty="0">
                <a:solidFill>
                  <a:srgbClr val="000000"/>
                </a:solidFill>
                <a:latin typeface="Nunito 1" panose="020B0604020202020204" charset="0"/>
                <a:ea typeface="Nunito 1 Bold"/>
                <a:cs typeface="Nunito 1 Bold"/>
                <a:sym typeface="Nunito 1 Bold"/>
              </a:rPr>
              <a:t> measures the density (specific gravity) of liquids, while a </a:t>
            </a:r>
            <a:r>
              <a:rPr lang="en-US" sz="2400" dirty="0">
                <a:solidFill>
                  <a:srgbClr val="000000"/>
                </a:solidFill>
                <a:latin typeface="Nunito 1 Bold" panose="020B0604020202020204" charset="0"/>
                <a:ea typeface="Nunito 1 Bold"/>
                <a:cs typeface="Nunito 1 Bold"/>
                <a:sym typeface="Nunito 1 Bold"/>
              </a:rPr>
              <a:t>hygrometer</a:t>
            </a:r>
            <a:r>
              <a:rPr lang="en-US" sz="2400" dirty="0">
                <a:solidFill>
                  <a:srgbClr val="000000"/>
                </a:solidFill>
                <a:latin typeface="Nunito 1" panose="020B0604020202020204" charset="0"/>
                <a:ea typeface="Nunito 1 Bold"/>
                <a:cs typeface="Nunito 1 Bold"/>
                <a:sym typeface="Nunito 1 Bold"/>
              </a:rPr>
              <a:t> measures the humidity (water vapor in the air).</a:t>
            </a:r>
          </a:p>
        </p:txBody>
      </p:sp>
      <p:grpSp>
        <p:nvGrpSpPr>
          <p:cNvPr id="16" name="Group 15">
            <a:extLst>
              <a:ext uri="{FF2B5EF4-FFF2-40B4-BE49-F238E27FC236}">
                <a16:creationId xmlns:a16="http://schemas.microsoft.com/office/drawing/2014/main" id="{6049AAF1-CA07-FB42-A1D7-ABEE078D9DD3}"/>
              </a:ext>
            </a:extLst>
          </p:cNvPr>
          <p:cNvGrpSpPr/>
          <p:nvPr/>
        </p:nvGrpSpPr>
        <p:grpSpPr>
          <a:xfrm>
            <a:off x="0" y="9599693"/>
            <a:ext cx="18287999" cy="687306"/>
            <a:chOff x="0" y="9599693"/>
            <a:chExt cx="18287999" cy="687306"/>
          </a:xfrm>
        </p:grpSpPr>
        <p:grpSp>
          <p:nvGrpSpPr>
            <p:cNvPr id="17" name="Group 11">
              <a:extLst>
                <a:ext uri="{FF2B5EF4-FFF2-40B4-BE49-F238E27FC236}">
                  <a16:creationId xmlns:a16="http://schemas.microsoft.com/office/drawing/2014/main" id="{35095BCA-BE3C-055D-1236-C28972965522}"/>
                </a:ext>
              </a:extLst>
            </p:cNvPr>
            <p:cNvGrpSpPr/>
            <p:nvPr/>
          </p:nvGrpSpPr>
          <p:grpSpPr>
            <a:xfrm>
              <a:off x="0" y="9599694"/>
              <a:ext cx="18287999" cy="687305"/>
              <a:chOff x="0" y="0"/>
              <a:chExt cx="5260714" cy="490218"/>
            </a:xfrm>
          </p:grpSpPr>
          <p:sp>
            <p:nvSpPr>
              <p:cNvPr id="22" name="Freeform 12">
                <a:extLst>
                  <a:ext uri="{FF2B5EF4-FFF2-40B4-BE49-F238E27FC236}">
                    <a16:creationId xmlns:a16="http://schemas.microsoft.com/office/drawing/2014/main" id="{FF5C11A7-64D8-E059-97D1-438B1BAD1E2C}"/>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6" name="TextBox 13">
                <a:extLst>
                  <a:ext uri="{FF2B5EF4-FFF2-40B4-BE49-F238E27FC236}">
                    <a16:creationId xmlns:a16="http://schemas.microsoft.com/office/drawing/2014/main" id="{F6C42909-6D00-FE76-6A89-2BAF2F17B42B}"/>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2">
              <a:extLst>
                <a:ext uri="{FF2B5EF4-FFF2-40B4-BE49-F238E27FC236}">
                  <a16:creationId xmlns:a16="http://schemas.microsoft.com/office/drawing/2014/main" id="{896846D4-635C-8F9C-66E5-5F1217F9F663}"/>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1" name="TextBox 13">
              <a:extLst>
                <a:ext uri="{FF2B5EF4-FFF2-40B4-BE49-F238E27FC236}">
                  <a16:creationId xmlns:a16="http://schemas.microsoft.com/office/drawing/2014/main" id="{F9628492-169A-9AAF-08A0-67F12065F7D8}"/>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sp>
        <p:nvSpPr>
          <p:cNvPr id="27" name="Rectangle 26">
            <a:extLst>
              <a:ext uri="{FF2B5EF4-FFF2-40B4-BE49-F238E27FC236}">
                <a16:creationId xmlns:a16="http://schemas.microsoft.com/office/drawing/2014/main" id="{200A03BC-AF12-5078-2DF4-2383DA561016}"/>
              </a:ext>
            </a:extLst>
          </p:cNvPr>
          <p:cNvSpPr/>
          <p:nvPr/>
        </p:nvSpPr>
        <p:spPr>
          <a:xfrm>
            <a:off x="4267200" y="4434096"/>
            <a:ext cx="2133600" cy="7424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9" name="Rectangle 28">
            <a:extLst>
              <a:ext uri="{FF2B5EF4-FFF2-40B4-BE49-F238E27FC236}">
                <a16:creationId xmlns:a16="http://schemas.microsoft.com/office/drawing/2014/main" id="{F6F417F0-3DB2-3816-1684-609A6AB76FAA}"/>
              </a:ext>
            </a:extLst>
          </p:cNvPr>
          <p:cNvSpPr/>
          <p:nvPr/>
        </p:nvSpPr>
        <p:spPr>
          <a:xfrm>
            <a:off x="4240833" y="5460951"/>
            <a:ext cx="2133600" cy="7424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3" name="Rectangle 32">
            <a:extLst>
              <a:ext uri="{FF2B5EF4-FFF2-40B4-BE49-F238E27FC236}">
                <a16:creationId xmlns:a16="http://schemas.microsoft.com/office/drawing/2014/main" id="{AFCCCA3A-422F-4A8A-619B-FED65FFC3C54}"/>
              </a:ext>
            </a:extLst>
          </p:cNvPr>
          <p:cNvSpPr/>
          <p:nvPr/>
        </p:nvSpPr>
        <p:spPr>
          <a:xfrm>
            <a:off x="4231640" y="6531444"/>
            <a:ext cx="2133600" cy="7424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4" name="Rectangle 33">
            <a:extLst>
              <a:ext uri="{FF2B5EF4-FFF2-40B4-BE49-F238E27FC236}">
                <a16:creationId xmlns:a16="http://schemas.microsoft.com/office/drawing/2014/main" id="{49AE1D11-AF35-DAA5-BC5C-9BCF3C9A2B14}"/>
              </a:ext>
            </a:extLst>
          </p:cNvPr>
          <p:cNvSpPr/>
          <p:nvPr/>
        </p:nvSpPr>
        <p:spPr>
          <a:xfrm>
            <a:off x="4196080" y="7719293"/>
            <a:ext cx="2204720" cy="7424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5" name="Rectangle 34">
            <a:extLst>
              <a:ext uri="{FF2B5EF4-FFF2-40B4-BE49-F238E27FC236}">
                <a16:creationId xmlns:a16="http://schemas.microsoft.com/office/drawing/2014/main" id="{7DACB2B0-1302-C019-39E3-E49DA9A7F82E}"/>
              </a:ext>
            </a:extLst>
          </p:cNvPr>
          <p:cNvSpPr/>
          <p:nvPr/>
        </p:nvSpPr>
        <p:spPr>
          <a:xfrm>
            <a:off x="11789567" y="4914770"/>
            <a:ext cx="2320640" cy="7424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6" name="Rectangle 35">
            <a:extLst>
              <a:ext uri="{FF2B5EF4-FFF2-40B4-BE49-F238E27FC236}">
                <a16:creationId xmlns:a16="http://schemas.microsoft.com/office/drawing/2014/main" id="{DD08F4B8-380B-8D2F-4B42-DDB469853FBF}"/>
              </a:ext>
            </a:extLst>
          </p:cNvPr>
          <p:cNvSpPr/>
          <p:nvPr/>
        </p:nvSpPr>
        <p:spPr>
          <a:xfrm>
            <a:off x="11976607" y="6160243"/>
            <a:ext cx="2133600" cy="7424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7" name="Rectangle 36">
            <a:extLst>
              <a:ext uri="{FF2B5EF4-FFF2-40B4-BE49-F238E27FC236}">
                <a16:creationId xmlns:a16="http://schemas.microsoft.com/office/drawing/2014/main" id="{9AA55A38-3155-1283-B76D-67E549F97881}"/>
              </a:ext>
            </a:extLst>
          </p:cNvPr>
          <p:cNvSpPr/>
          <p:nvPr/>
        </p:nvSpPr>
        <p:spPr>
          <a:xfrm>
            <a:off x="11789566" y="7277974"/>
            <a:ext cx="2302353" cy="7424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7051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29"/>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33"/>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34"/>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35"/>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36"/>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3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9" grpId="0" animBg="1"/>
      <p:bldP spid="33" grpId="0" animBg="1"/>
      <p:bldP spid="34" grpId="0" animBg="1"/>
      <p:bldP spid="35" grpId="0" animBg="1"/>
      <p:bldP spid="36" grpId="0" animBg="1"/>
      <p:bldP spid="3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3781F-9A60-404F-3CC3-A44E359819F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FC4856C-A411-B8BA-50D8-86DB63DDC39E}"/>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6A335035-33CE-83AC-C030-BD2CF7F55AC0}"/>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0704517F-3B8F-D0A7-40CA-FE476C05C911}"/>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89A8A62A-0887-F6D7-A22C-D49EDDE40911}"/>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4B31ED07-A339-0245-4424-EDC043D4BB7A}"/>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69F3F2DD-0918-E8C1-254D-A72E90E9B83D}"/>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63461537-ABC9-9FA8-6ACB-732285BCA531}"/>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7814FB50-6803-5FC6-592B-AE65078C2B3C}"/>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E545A3C1-8585-2841-CEBF-59D8068EAF6A}"/>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108475DB-24D3-D199-1733-B4082B6C92D1}"/>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057D5A3D-2E29-01A6-C32F-3B9E889D5275}"/>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5F141A4E-570F-F9BC-A1AD-64786754F973}"/>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B1E8D02F-073C-251D-688C-CB834263C5EC}"/>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 3</a:t>
            </a:r>
          </a:p>
        </p:txBody>
      </p:sp>
      <p:sp>
        <p:nvSpPr>
          <p:cNvPr id="15" name="TextBox 15">
            <a:extLst>
              <a:ext uri="{FF2B5EF4-FFF2-40B4-BE49-F238E27FC236}">
                <a16:creationId xmlns:a16="http://schemas.microsoft.com/office/drawing/2014/main" id="{20A37F10-C984-E657-F1BF-F79710572BAC}"/>
              </a:ext>
            </a:extLst>
          </p:cNvPr>
          <p:cNvSpPr txBox="1"/>
          <p:nvPr/>
        </p:nvSpPr>
        <p:spPr>
          <a:xfrm>
            <a:off x="2246041" y="2025065"/>
            <a:ext cx="13795916" cy="369332"/>
          </a:xfrm>
          <a:prstGeom prst="rect">
            <a:avLst/>
          </a:prstGeom>
        </p:spPr>
        <p:txBody>
          <a:bodyPr wrap="square" lIns="0" tIns="0" rIns="0" bIns="0" rtlCol="0" anchor="t">
            <a:spAutoFit/>
          </a:bodyPr>
          <a:lstStyle/>
          <a:p>
            <a:pPr algn="ctr"/>
            <a:r>
              <a:rPr lang="en-US" sz="2400" b="1" dirty="0">
                <a:solidFill>
                  <a:srgbClr val="000000"/>
                </a:solidFill>
                <a:latin typeface="Nunito 1 Bold"/>
                <a:ea typeface="Nunito 1 Bold"/>
                <a:cs typeface="Nunito 1 Bold"/>
                <a:sym typeface="Nunito 1 Bold"/>
              </a:rPr>
              <a:t>Which of the following concepts derives its principle from the law of conservation of energy?</a:t>
            </a:r>
          </a:p>
        </p:txBody>
      </p:sp>
      <p:sp>
        <p:nvSpPr>
          <p:cNvPr id="19" name="TextBox 12">
            <a:extLst>
              <a:ext uri="{FF2B5EF4-FFF2-40B4-BE49-F238E27FC236}">
                <a16:creationId xmlns:a16="http://schemas.microsoft.com/office/drawing/2014/main" id="{6338E2E8-C837-C4CD-8E0C-883A9A856946}"/>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C11E92FC-0AA1-6F90-8B11-ED1EF10897D0}"/>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nvGrpSpPr>
          <p:cNvPr id="23" name="Group 5">
            <a:extLst>
              <a:ext uri="{FF2B5EF4-FFF2-40B4-BE49-F238E27FC236}">
                <a16:creationId xmlns:a16="http://schemas.microsoft.com/office/drawing/2014/main" id="{31360066-647E-306C-115E-7E0D2A2EBB80}"/>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EC91CFEB-A92B-EAE8-E755-502C2C1813D3}"/>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38A467EC-5C28-174D-677D-1E04F3F70EE4}"/>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5">
            <a:extLst>
              <a:ext uri="{FF2B5EF4-FFF2-40B4-BE49-F238E27FC236}">
                <a16:creationId xmlns:a16="http://schemas.microsoft.com/office/drawing/2014/main" id="{6A636DD5-15AE-449F-AEA8-DA114B83A3BE}"/>
              </a:ext>
            </a:extLst>
          </p:cNvPr>
          <p:cNvSpPr txBox="1"/>
          <p:nvPr/>
        </p:nvSpPr>
        <p:spPr>
          <a:xfrm>
            <a:off x="1676400" y="2823830"/>
            <a:ext cx="14935200" cy="2585323"/>
          </a:xfrm>
          <a:prstGeom prst="rect">
            <a:avLst/>
          </a:prstGeom>
        </p:spPr>
        <p:txBody>
          <a:bodyPr wrap="square" lIns="0" tIns="0" rIns="0" bIns="0" rtlCol="0" anchor="t">
            <a:spAutoFit/>
          </a:bodyPr>
          <a:lstStyle/>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Darcy’s equation</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Manning’s equation</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Bernoulli’s equation</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Hagen-</a:t>
            </a:r>
            <a:r>
              <a:rPr lang="en-US" sz="2400" dirty="0" err="1">
                <a:solidFill>
                  <a:srgbClr val="000000"/>
                </a:solidFill>
                <a:latin typeface="Nunito 1" panose="020B0604020202020204" charset="0"/>
                <a:ea typeface="Nunito 1 Bold"/>
                <a:cs typeface="Nunito 1 Bold"/>
                <a:sym typeface="Nunito 1 Bold"/>
              </a:rPr>
              <a:t>Poisceuille</a:t>
            </a:r>
            <a:r>
              <a:rPr lang="en-US" sz="2400" dirty="0">
                <a:solidFill>
                  <a:srgbClr val="000000"/>
                </a:solidFill>
                <a:latin typeface="Nunito 1" panose="020B0604020202020204" charset="0"/>
                <a:ea typeface="Nunito 1 Bold"/>
                <a:cs typeface="Nunito 1 Bold"/>
                <a:sym typeface="Nunito 1 Bold"/>
              </a:rPr>
              <a:t> equation</a:t>
            </a:r>
          </a:p>
        </p:txBody>
      </p:sp>
      <p:sp>
        <p:nvSpPr>
          <p:cNvPr id="17" name="Oval 16">
            <a:extLst>
              <a:ext uri="{FF2B5EF4-FFF2-40B4-BE49-F238E27FC236}">
                <a16:creationId xmlns:a16="http://schemas.microsoft.com/office/drawing/2014/main" id="{484533DB-F2D7-B5C3-FC1E-819CA156CC2C}"/>
              </a:ext>
            </a:extLst>
          </p:cNvPr>
          <p:cNvSpPr/>
          <p:nvPr/>
        </p:nvSpPr>
        <p:spPr>
          <a:xfrm>
            <a:off x="1505640" y="4223819"/>
            <a:ext cx="475936" cy="47593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28" name="Picture 27" descr="Learn All about Bernoulli Equation and Its Applications">
            <a:extLst>
              <a:ext uri="{FF2B5EF4-FFF2-40B4-BE49-F238E27FC236}">
                <a16:creationId xmlns:a16="http://schemas.microsoft.com/office/drawing/2014/main" id="{7572C0C5-9B6A-0F40-B4E3-51321B355A3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0785" t="43025" r="17896" b="34758"/>
          <a:stretch/>
        </p:blipFill>
        <p:spPr bwMode="auto">
          <a:xfrm>
            <a:off x="7674979" y="3679038"/>
            <a:ext cx="7259518" cy="1479198"/>
          </a:xfrm>
          <a:prstGeom prst="rect">
            <a:avLst/>
          </a:prstGeom>
          <a:noFill/>
          <a:ln>
            <a:noFill/>
          </a:ln>
          <a:extLst>
            <a:ext uri="{53640926-AAD7-44D8-BBD7-CCE9431645EC}">
              <a14:shadowObscured xmlns:a14="http://schemas.microsoft.com/office/drawing/2010/main"/>
            </a:ext>
          </a:extLst>
        </p:spPr>
      </p:pic>
      <p:grpSp>
        <p:nvGrpSpPr>
          <p:cNvPr id="18" name="Group 17">
            <a:extLst>
              <a:ext uri="{FF2B5EF4-FFF2-40B4-BE49-F238E27FC236}">
                <a16:creationId xmlns:a16="http://schemas.microsoft.com/office/drawing/2014/main" id="{4534D4D6-1E73-5CE7-B2F3-83ED46085942}"/>
              </a:ext>
            </a:extLst>
          </p:cNvPr>
          <p:cNvGrpSpPr/>
          <p:nvPr/>
        </p:nvGrpSpPr>
        <p:grpSpPr>
          <a:xfrm>
            <a:off x="0" y="9599693"/>
            <a:ext cx="18287999" cy="687306"/>
            <a:chOff x="0" y="9599693"/>
            <a:chExt cx="18287999" cy="687306"/>
          </a:xfrm>
        </p:grpSpPr>
        <p:grpSp>
          <p:nvGrpSpPr>
            <p:cNvPr id="21" name="Group 11">
              <a:extLst>
                <a:ext uri="{FF2B5EF4-FFF2-40B4-BE49-F238E27FC236}">
                  <a16:creationId xmlns:a16="http://schemas.microsoft.com/office/drawing/2014/main" id="{708B6D65-3FBA-9B62-71A7-FF19C74453C3}"/>
                </a:ext>
              </a:extLst>
            </p:cNvPr>
            <p:cNvGrpSpPr/>
            <p:nvPr/>
          </p:nvGrpSpPr>
          <p:grpSpPr>
            <a:xfrm>
              <a:off x="0" y="9599694"/>
              <a:ext cx="18287999" cy="687305"/>
              <a:chOff x="0" y="0"/>
              <a:chExt cx="5260714" cy="490218"/>
            </a:xfrm>
          </p:grpSpPr>
          <p:sp>
            <p:nvSpPr>
              <p:cNvPr id="27" name="Freeform 12">
                <a:extLst>
                  <a:ext uri="{FF2B5EF4-FFF2-40B4-BE49-F238E27FC236}">
                    <a16:creationId xmlns:a16="http://schemas.microsoft.com/office/drawing/2014/main" id="{38511183-918E-4A9A-15EF-431FD77A76F8}"/>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9" name="TextBox 13">
                <a:extLst>
                  <a:ext uri="{FF2B5EF4-FFF2-40B4-BE49-F238E27FC236}">
                    <a16:creationId xmlns:a16="http://schemas.microsoft.com/office/drawing/2014/main" id="{10391A42-133B-42B3-62F3-FC37F84D51C4}"/>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2" name="TextBox 12">
              <a:extLst>
                <a:ext uri="{FF2B5EF4-FFF2-40B4-BE49-F238E27FC236}">
                  <a16:creationId xmlns:a16="http://schemas.microsoft.com/office/drawing/2014/main" id="{0E1F7AEE-EF6B-2EA0-8B80-48850A578DB2}"/>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6" name="TextBox 13">
              <a:extLst>
                <a:ext uri="{FF2B5EF4-FFF2-40B4-BE49-F238E27FC236}">
                  <a16:creationId xmlns:a16="http://schemas.microsoft.com/office/drawing/2014/main" id="{0C39FCC6-70D8-227F-7E2C-F9C61B60D134}"/>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spTree>
    <p:extLst>
      <p:ext uri="{BB962C8B-B14F-4D97-AF65-F5344CB8AC3E}">
        <p14:creationId xmlns:p14="http://schemas.microsoft.com/office/powerpoint/2010/main" val="1476013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7DD6B-496F-E771-5CF1-166997E53B21}"/>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7924266D-BD49-59D1-D661-C563648AD05C}"/>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1805D079-5DAD-ED44-2E5D-E2C11F58E819}"/>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81C537AB-6663-575A-5751-17DBD33BF286}"/>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2" name="Group 2">
            <a:extLst>
              <a:ext uri="{FF2B5EF4-FFF2-40B4-BE49-F238E27FC236}">
                <a16:creationId xmlns:a16="http://schemas.microsoft.com/office/drawing/2014/main" id="{E7A0D19E-847F-CE58-7CD8-A535D574A304}"/>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D5E3545D-D51B-7C93-3959-BCB6D4EAAB97}"/>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DBA90145-C7AF-76E5-3883-432981446174}"/>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8" name="Group 8">
            <a:extLst>
              <a:ext uri="{FF2B5EF4-FFF2-40B4-BE49-F238E27FC236}">
                <a16:creationId xmlns:a16="http://schemas.microsoft.com/office/drawing/2014/main" id="{97347902-B2EC-B9C1-03BA-633567FE7898}"/>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C3E8294A-5300-FC50-F1F5-C318FEB0C73C}"/>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B9079832-8B69-069F-021B-5199D33BFA16}"/>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BED3CCC8-1889-4507-2FD6-B299865DAD50}"/>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80A09FCA-B42B-72FF-9C1C-78108B8306C9}"/>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D2765D9D-0956-089D-87A3-E71F169B2725}"/>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2">
            <a:extLst>
              <a:ext uri="{FF2B5EF4-FFF2-40B4-BE49-F238E27FC236}">
                <a16:creationId xmlns:a16="http://schemas.microsoft.com/office/drawing/2014/main" id="{0ABACA8F-6F5E-95DA-8651-66DF56B10C04}"/>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3D12C350-065C-56FB-6055-1D25BB085833}"/>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nvGrpSpPr>
          <p:cNvPr id="23" name="Group 5">
            <a:extLst>
              <a:ext uri="{FF2B5EF4-FFF2-40B4-BE49-F238E27FC236}">
                <a16:creationId xmlns:a16="http://schemas.microsoft.com/office/drawing/2014/main" id="{DD419070-911F-B639-7CF1-C00940DFFBB3}"/>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59019C2A-ED80-2863-A245-F3C3C1D4E635}"/>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9DC4BA8A-DD25-8BD0-8B93-19613C3335D4}"/>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16" name="Group 15">
            <a:extLst>
              <a:ext uri="{FF2B5EF4-FFF2-40B4-BE49-F238E27FC236}">
                <a16:creationId xmlns:a16="http://schemas.microsoft.com/office/drawing/2014/main" id="{DC91893A-183B-AFD5-C1D8-F715DC1C8308}"/>
              </a:ext>
            </a:extLst>
          </p:cNvPr>
          <p:cNvGrpSpPr/>
          <p:nvPr/>
        </p:nvGrpSpPr>
        <p:grpSpPr>
          <a:xfrm>
            <a:off x="0" y="9599693"/>
            <a:ext cx="18287999" cy="687306"/>
            <a:chOff x="0" y="9599693"/>
            <a:chExt cx="18287999" cy="687306"/>
          </a:xfrm>
        </p:grpSpPr>
        <p:grpSp>
          <p:nvGrpSpPr>
            <p:cNvPr id="17" name="Group 11">
              <a:extLst>
                <a:ext uri="{FF2B5EF4-FFF2-40B4-BE49-F238E27FC236}">
                  <a16:creationId xmlns:a16="http://schemas.microsoft.com/office/drawing/2014/main" id="{33E828F9-7607-5545-3585-0573F5F74D7C}"/>
                </a:ext>
              </a:extLst>
            </p:cNvPr>
            <p:cNvGrpSpPr/>
            <p:nvPr/>
          </p:nvGrpSpPr>
          <p:grpSpPr>
            <a:xfrm>
              <a:off x="0" y="9599694"/>
              <a:ext cx="18287999" cy="687305"/>
              <a:chOff x="0" y="0"/>
              <a:chExt cx="5260714" cy="490218"/>
            </a:xfrm>
          </p:grpSpPr>
          <p:sp>
            <p:nvSpPr>
              <p:cNvPr id="37" name="Freeform 12">
                <a:extLst>
                  <a:ext uri="{FF2B5EF4-FFF2-40B4-BE49-F238E27FC236}">
                    <a16:creationId xmlns:a16="http://schemas.microsoft.com/office/drawing/2014/main" id="{5292DBE1-0E2F-F7D4-6F79-6267E3A00FB0}"/>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38" name="TextBox 13">
                <a:extLst>
                  <a:ext uri="{FF2B5EF4-FFF2-40B4-BE49-F238E27FC236}">
                    <a16:creationId xmlns:a16="http://schemas.microsoft.com/office/drawing/2014/main" id="{06E4C42A-F632-9FFC-3AC7-62A94FD72AA3}"/>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35" name="TextBox 12">
              <a:extLst>
                <a:ext uri="{FF2B5EF4-FFF2-40B4-BE49-F238E27FC236}">
                  <a16:creationId xmlns:a16="http://schemas.microsoft.com/office/drawing/2014/main" id="{B6AC7E8E-D435-40D3-438A-0A0893EB1B2E}"/>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36" name="TextBox 13">
              <a:extLst>
                <a:ext uri="{FF2B5EF4-FFF2-40B4-BE49-F238E27FC236}">
                  <a16:creationId xmlns:a16="http://schemas.microsoft.com/office/drawing/2014/main" id="{D00B068F-E1CF-8CAA-F036-FC9346B36609}"/>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pic>
        <p:nvPicPr>
          <p:cNvPr id="2050" name="Picture 2" descr="Understanding Bernoulli's Equation | The Efficient Engineer">
            <a:extLst>
              <a:ext uri="{FF2B5EF4-FFF2-40B4-BE49-F238E27FC236}">
                <a16:creationId xmlns:a16="http://schemas.microsoft.com/office/drawing/2014/main" id="{3F41292C-E988-9403-47EE-2F030BD701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56262" y="4744994"/>
            <a:ext cx="9375476" cy="350498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Learn All about Bernoulli Equation and Its Applications">
            <a:extLst>
              <a:ext uri="{FF2B5EF4-FFF2-40B4-BE49-F238E27FC236}">
                <a16:creationId xmlns:a16="http://schemas.microsoft.com/office/drawing/2014/main" id="{0ACCA1D9-9DA6-BABA-129C-AA742823CDC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6667" b="14445"/>
          <a:stretch>
            <a:fillRect/>
          </a:stretch>
        </p:blipFill>
        <p:spPr bwMode="auto">
          <a:xfrm>
            <a:off x="5638800" y="1943886"/>
            <a:ext cx="7010400" cy="27165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67040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9A172-C73D-1F68-1476-9E12582023F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B41C716-035C-18E3-D1C7-6B832CAABA57}"/>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AD312D23-FD36-AB1C-8614-BB9059AF97DC}"/>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E7BB26AA-299C-59F7-8D3D-688AC01E5D74}"/>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4B407BD0-A12F-4BD3-94A6-8C581F7F7C2C}"/>
              </a:ext>
            </a:extLst>
          </p:cNvPr>
          <p:cNvGrpSpPr/>
          <p:nvPr/>
        </p:nvGrpSpPr>
        <p:grpSpPr>
          <a:xfrm>
            <a:off x="1039585" y="1224012"/>
            <a:ext cx="16230600" cy="7447557"/>
            <a:chOff x="0" y="0"/>
            <a:chExt cx="4274726" cy="1718953"/>
          </a:xfrm>
        </p:grpSpPr>
        <p:sp>
          <p:nvSpPr>
            <p:cNvPr id="6" name="Freeform 6">
              <a:extLst>
                <a:ext uri="{FF2B5EF4-FFF2-40B4-BE49-F238E27FC236}">
                  <a16:creationId xmlns:a16="http://schemas.microsoft.com/office/drawing/2014/main" id="{6ED8CA62-90A7-3507-68EE-6BD64BED7DDA}"/>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B4C724A9-7557-6229-D6C4-B286A41BE205}"/>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D7C0468D-E39E-1086-23D6-B4AA40E96F9F}"/>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78DE2C60-7467-CCFD-D116-5F8BFCFF95A5}"/>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B8A4BF58-F030-2F49-0B9D-9E59135E6EA3}"/>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492E42C7-9986-BDBA-5D1F-4C619725F89A}"/>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835B8A2F-DF93-D71E-286C-41F789C7AD07}"/>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43F76CB2-D45A-A8D5-5A59-7084BDECDB22}"/>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5" name="TextBox 15">
            <a:extLst>
              <a:ext uri="{FF2B5EF4-FFF2-40B4-BE49-F238E27FC236}">
                <a16:creationId xmlns:a16="http://schemas.microsoft.com/office/drawing/2014/main" id="{4FE55837-948D-94A9-2626-3A2361E72D9C}"/>
              </a:ext>
            </a:extLst>
          </p:cNvPr>
          <p:cNvSpPr txBox="1"/>
          <p:nvPr/>
        </p:nvSpPr>
        <p:spPr>
          <a:xfrm>
            <a:off x="2246041" y="2025065"/>
            <a:ext cx="13795916" cy="369332"/>
          </a:xfrm>
          <a:prstGeom prst="rect">
            <a:avLst/>
          </a:prstGeom>
        </p:spPr>
        <p:txBody>
          <a:bodyPr wrap="square" lIns="0" tIns="0" rIns="0" bIns="0" rtlCol="0" anchor="t">
            <a:spAutoFit/>
          </a:bodyPr>
          <a:lstStyle/>
          <a:p>
            <a:pPr algn="ctr">
              <a:tabLst>
                <a:tab pos="11671300" algn="l"/>
              </a:tabLst>
            </a:pPr>
            <a:r>
              <a:rPr lang="en-US" sz="2400" b="1" dirty="0">
                <a:solidFill>
                  <a:srgbClr val="000000"/>
                </a:solidFill>
                <a:latin typeface="Nunito 1 Bold"/>
                <a:ea typeface="Nunito 1 Bold"/>
                <a:cs typeface="Nunito 1 Bold"/>
                <a:sym typeface="Nunito 1 Bold"/>
              </a:rPr>
              <a:t>Darcy’s, Manning’s, Bernoulli’s, and Hagen-Poiseuille Equation and their Application in ABE</a:t>
            </a:r>
          </a:p>
        </p:txBody>
      </p:sp>
      <p:sp>
        <p:nvSpPr>
          <p:cNvPr id="19" name="TextBox 12">
            <a:extLst>
              <a:ext uri="{FF2B5EF4-FFF2-40B4-BE49-F238E27FC236}">
                <a16:creationId xmlns:a16="http://schemas.microsoft.com/office/drawing/2014/main" id="{9FC4AA10-1958-3246-DE70-F722CDDD2382}"/>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8D19A065-0580-D7F4-6280-C56B3BEA2E77}"/>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nvGrpSpPr>
          <p:cNvPr id="23" name="Group 5">
            <a:extLst>
              <a:ext uri="{FF2B5EF4-FFF2-40B4-BE49-F238E27FC236}">
                <a16:creationId xmlns:a16="http://schemas.microsoft.com/office/drawing/2014/main" id="{78E1ABFF-460A-093A-9C19-ECEE6D680B4D}"/>
              </a:ext>
            </a:extLst>
          </p:cNvPr>
          <p:cNvGrpSpPr/>
          <p:nvPr/>
        </p:nvGrpSpPr>
        <p:grpSpPr>
          <a:xfrm flipV="1">
            <a:off x="1028699" y="8931628"/>
            <a:ext cx="16230600" cy="452163"/>
            <a:chOff x="0" y="0"/>
            <a:chExt cx="4274726" cy="1718953"/>
          </a:xfrm>
        </p:grpSpPr>
        <p:sp>
          <p:nvSpPr>
            <p:cNvPr id="24" name="Freeform 6">
              <a:extLst>
                <a:ext uri="{FF2B5EF4-FFF2-40B4-BE49-F238E27FC236}">
                  <a16:creationId xmlns:a16="http://schemas.microsoft.com/office/drawing/2014/main" id="{EC64C4BD-10E7-1BFA-51F9-D7EB21EDEF6E}"/>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507B9317-D78B-EEA9-20C7-ABE6498477EB}"/>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pic>
        <p:nvPicPr>
          <p:cNvPr id="21" name="Picture 20">
            <a:extLst>
              <a:ext uri="{FF2B5EF4-FFF2-40B4-BE49-F238E27FC236}">
                <a16:creationId xmlns:a16="http://schemas.microsoft.com/office/drawing/2014/main" id="{A6E1EE48-FE09-E7B9-E9B0-CD0CDAC5A3DC}"/>
              </a:ext>
            </a:extLst>
          </p:cNvPr>
          <p:cNvPicPr>
            <a:picLocks noChangeAspect="1"/>
          </p:cNvPicPr>
          <p:nvPr/>
        </p:nvPicPr>
        <p:blipFill>
          <a:blip r:embed="rId3"/>
          <a:stretch>
            <a:fillRect/>
          </a:stretch>
        </p:blipFill>
        <p:spPr>
          <a:xfrm>
            <a:off x="2514599" y="2853420"/>
            <a:ext cx="13258802" cy="4580160"/>
          </a:xfrm>
          <a:prstGeom prst="rect">
            <a:avLst/>
          </a:prstGeom>
        </p:spPr>
      </p:pic>
      <p:grpSp>
        <p:nvGrpSpPr>
          <p:cNvPr id="49" name="Group 48">
            <a:extLst>
              <a:ext uri="{FF2B5EF4-FFF2-40B4-BE49-F238E27FC236}">
                <a16:creationId xmlns:a16="http://schemas.microsoft.com/office/drawing/2014/main" id="{72523256-0CAA-4A03-828D-6A798556EFB2}"/>
              </a:ext>
            </a:extLst>
          </p:cNvPr>
          <p:cNvGrpSpPr/>
          <p:nvPr/>
        </p:nvGrpSpPr>
        <p:grpSpPr>
          <a:xfrm>
            <a:off x="2746354" y="3195451"/>
            <a:ext cx="6305114" cy="4979217"/>
            <a:chOff x="2746354" y="3195451"/>
            <a:chExt cx="6305114" cy="4979217"/>
          </a:xfrm>
        </p:grpSpPr>
        <p:sp>
          <p:nvSpPr>
            <p:cNvPr id="16" name="Rectangle: Rounded Corners 15">
              <a:extLst>
                <a:ext uri="{FF2B5EF4-FFF2-40B4-BE49-F238E27FC236}">
                  <a16:creationId xmlns:a16="http://schemas.microsoft.com/office/drawing/2014/main" id="{38994383-9CBF-E5B0-6083-7431F03778CB}"/>
                </a:ext>
              </a:extLst>
            </p:cNvPr>
            <p:cNvSpPr/>
            <p:nvPr/>
          </p:nvSpPr>
          <p:spPr>
            <a:xfrm>
              <a:off x="2746354" y="7567199"/>
              <a:ext cx="6305114" cy="607469"/>
            </a:xfrm>
            <a:prstGeom prst="round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dirty="0">
                  <a:solidFill>
                    <a:sysClr val="windowText" lastClr="000000"/>
                  </a:solidFill>
                  <a:latin typeface="Nunito 1" panose="020B0604020202020204" charset="0"/>
                  <a:ea typeface="Nunito 1 Bold"/>
                  <a:cs typeface="Nunito 1 Bold"/>
                  <a:sym typeface="Nunito 1 Bold"/>
                </a:rPr>
                <a:t>Take note: Darcy’s law is only applicable for laminar flow. It defines the flow of a fluid through a porous medium</a:t>
              </a:r>
            </a:p>
          </p:txBody>
        </p:sp>
        <p:cxnSp>
          <p:nvCxnSpPr>
            <p:cNvPr id="39" name="Connector: Elbow 38">
              <a:extLst>
                <a:ext uri="{FF2B5EF4-FFF2-40B4-BE49-F238E27FC236}">
                  <a16:creationId xmlns:a16="http://schemas.microsoft.com/office/drawing/2014/main" id="{3AE21653-1957-4AB4-CD76-C05AE9833C42}"/>
                </a:ext>
              </a:extLst>
            </p:cNvPr>
            <p:cNvCxnSpPr>
              <a:cxnSpLocks/>
              <a:stCxn id="42" idx="1"/>
              <a:endCxn id="16" idx="1"/>
            </p:cNvCxnSpPr>
            <p:nvPr/>
          </p:nvCxnSpPr>
          <p:spPr>
            <a:xfrm rot="10800000" flipV="1">
              <a:off x="2746354" y="3530926"/>
              <a:ext cx="12700" cy="4340007"/>
            </a:xfrm>
            <a:prstGeom prst="bentConnector3">
              <a:avLst>
                <a:gd name="adj1" fmla="val 5142858"/>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2" name="Rectangle: Rounded Corners 41">
              <a:extLst>
                <a:ext uri="{FF2B5EF4-FFF2-40B4-BE49-F238E27FC236}">
                  <a16:creationId xmlns:a16="http://schemas.microsoft.com/office/drawing/2014/main" id="{3183AC77-FA69-C06E-E737-609A76B23FDB}"/>
                </a:ext>
              </a:extLst>
            </p:cNvPr>
            <p:cNvSpPr/>
            <p:nvPr/>
          </p:nvSpPr>
          <p:spPr>
            <a:xfrm>
              <a:off x="2746354" y="3195451"/>
              <a:ext cx="2805359" cy="670952"/>
            </a:xfrm>
            <a:prstGeom prst="round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dirty="0">
                <a:solidFill>
                  <a:sysClr val="windowText" lastClr="000000"/>
                </a:solidFill>
                <a:latin typeface="Nunito 1" panose="020B0604020202020204" charset="0"/>
                <a:ea typeface="Nunito 1 Bold"/>
                <a:cs typeface="Nunito 1 Bold"/>
                <a:sym typeface="Nunito 1 Bold"/>
              </a:endParaRPr>
            </a:p>
          </p:txBody>
        </p:sp>
      </p:grpSp>
      <p:grpSp>
        <p:nvGrpSpPr>
          <p:cNvPr id="14" name="Group 13">
            <a:extLst>
              <a:ext uri="{FF2B5EF4-FFF2-40B4-BE49-F238E27FC236}">
                <a16:creationId xmlns:a16="http://schemas.microsoft.com/office/drawing/2014/main" id="{2E38239B-8586-2FB2-9979-014354DCC738}"/>
              </a:ext>
            </a:extLst>
          </p:cNvPr>
          <p:cNvGrpSpPr/>
          <p:nvPr/>
        </p:nvGrpSpPr>
        <p:grpSpPr>
          <a:xfrm>
            <a:off x="0" y="9599693"/>
            <a:ext cx="18287999" cy="687306"/>
            <a:chOff x="0" y="9599693"/>
            <a:chExt cx="18287999" cy="687306"/>
          </a:xfrm>
        </p:grpSpPr>
        <p:grpSp>
          <p:nvGrpSpPr>
            <p:cNvPr id="17" name="Group 11">
              <a:extLst>
                <a:ext uri="{FF2B5EF4-FFF2-40B4-BE49-F238E27FC236}">
                  <a16:creationId xmlns:a16="http://schemas.microsoft.com/office/drawing/2014/main" id="{CBDDE5CA-4FEE-60F7-C4F4-A1B8B86B05F7}"/>
                </a:ext>
              </a:extLst>
            </p:cNvPr>
            <p:cNvGrpSpPr/>
            <p:nvPr/>
          </p:nvGrpSpPr>
          <p:grpSpPr>
            <a:xfrm>
              <a:off x="0" y="9599694"/>
              <a:ext cx="18287999" cy="687305"/>
              <a:chOff x="0" y="0"/>
              <a:chExt cx="5260714" cy="490218"/>
            </a:xfrm>
          </p:grpSpPr>
          <p:sp>
            <p:nvSpPr>
              <p:cNvPr id="26" name="Freeform 12">
                <a:extLst>
                  <a:ext uri="{FF2B5EF4-FFF2-40B4-BE49-F238E27FC236}">
                    <a16:creationId xmlns:a16="http://schemas.microsoft.com/office/drawing/2014/main" id="{595AFE93-C2DE-F3A7-DF00-56E55B115E6A}"/>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7" name="TextBox 13">
                <a:extLst>
                  <a:ext uri="{FF2B5EF4-FFF2-40B4-BE49-F238E27FC236}">
                    <a16:creationId xmlns:a16="http://schemas.microsoft.com/office/drawing/2014/main" id="{B1ADA318-2ED6-C2D0-E507-B2BF05FE907B}"/>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2">
              <a:extLst>
                <a:ext uri="{FF2B5EF4-FFF2-40B4-BE49-F238E27FC236}">
                  <a16:creationId xmlns:a16="http://schemas.microsoft.com/office/drawing/2014/main" id="{E2F79786-0EEA-41FA-DBF2-C1B56659A127}"/>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2" name="TextBox 13">
              <a:extLst>
                <a:ext uri="{FF2B5EF4-FFF2-40B4-BE49-F238E27FC236}">
                  <a16:creationId xmlns:a16="http://schemas.microsoft.com/office/drawing/2014/main" id="{BF31D85F-D31C-3A93-1B4B-072C75BACAC6}"/>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spTree>
    <p:extLst>
      <p:ext uri="{BB962C8B-B14F-4D97-AF65-F5344CB8AC3E}">
        <p14:creationId xmlns:p14="http://schemas.microsoft.com/office/powerpoint/2010/main" val="932663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82B1F-E4C5-A1FF-B988-0D86AEEDD3A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45E7B89-F9C1-7F07-DAF3-8523A0871A97}"/>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3D246C1D-ED0B-3A59-CE70-AAA1262AA456}"/>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1B269EE7-BD60-E128-C79A-57776EC0701A}"/>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E4DC7701-6B84-68EF-F216-6EBBAEFB7C79}"/>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5CFD706E-608A-CE78-F2AE-9450173DE672}"/>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41F1D551-967C-C871-DA6F-1F04891E8C7B}"/>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2E9F21AC-F833-BBBC-DCE6-E2116124BAFB}"/>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26C55008-2F4A-5E4B-B8D5-718316494298}"/>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5F7A1B7A-6224-A5B7-78F0-77E1B92FEA57}"/>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090EBDA0-32EF-75A0-BD22-21E995A18B05}"/>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66881467-D2BF-4AC0-2293-C04B92F7500C}"/>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0A34A2A2-22B9-7516-6DA5-722E1F9B0FD5}"/>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E87B7E92-7A62-5B64-4D13-11A293F8A9DE}"/>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 4</a:t>
            </a:r>
          </a:p>
        </p:txBody>
      </p:sp>
      <p:sp>
        <p:nvSpPr>
          <p:cNvPr id="15" name="TextBox 15">
            <a:extLst>
              <a:ext uri="{FF2B5EF4-FFF2-40B4-BE49-F238E27FC236}">
                <a16:creationId xmlns:a16="http://schemas.microsoft.com/office/drawing/2014/main" id="{2D93EA52-485D-BE1D-18BB-D962E4021514}"/>
              </a:ext>
            </a:extLst>
          </p:cNvPr>
          <p:cNvSpPr txBox="1"/>
          <p:nvPr/>
        </p:nvSpPr>
        <p:spPr>
          <a:xfrm>
            <a:off x="2246041" y="2025065"/>
            <a:ext cx="13795916" cy="1107996"/>
          </a:xfrm>
          <a:prstGeom prst="rect">
            <a:avLst/>
          </a:prstGeom>
        </p:spPr>
        <p:txBody>
          <a:bodyPr wrap="square" lIns="0" tIns="0" rIns="0" bIns="0" rtlCol="0" anchor="t">
            <a:spAutoFit/>
          </a:bodyPr>
          <a:lstStyle/>
          <a:p>
            <a:pPr algn="ctr"/>
            <a:r>
              <a:rPr lang="en-US" sz="2400" b="1" dirty="0">
                <a:solidFill>
                  <a:srgbClr val="000000"/>
                </a:solidFill>
                <a:latin typeface="Nunito 1 Bold"/>
                <a:ea typeface="Nunito 1 Bold"/>
                <a:cs typeface="Nunito 1 Bold"/>
                <a:sym typeface="Nunito 1 Bold"/>
              </a:rPr>
              <a:t>This is a dimensionless number that gives a measure of the ratio of inertial forces to viscous forces and, consequently, it quantifies the relative importance of these two types of forces for</a:t>
            </a:r>
          </a:p>
          <a:p>
            <a:pPr algn="ctr"/>
            <a:r>
              <a:rPr lang="en-US" sz="2400" b="1" dirty="0">
                <a:solidFill>
                  <a:srgbClr val="000000"/>
                </a:solidFill>
                <a:latin typeface="Nunito 1 Bold"/>
                <a:ea typeface="Nunito 1 Bold"/>
                <a:cs typeface="Nunito 1 Bold"/>
                <a:sym typeface="Nunito 1 Bold"/>
              </a:rPr>
              <a:t>given flow conditions.</a:t>
            </a:r>
          </a:p>
        </p:txBody>
      </p:sp>
      <p:sp>
        <p:nvSpPr>
          <p:cNvPr id="19" name="TextBox 12">
            <a:extLst>
              <a:ext uri="{FF2B5EF4-FFF2-40B4-BE49-F238E27FC236}">
                <a16:creationId xmlns:a16="http://schemas.microsoft.com/office/drawing/2014/main" id="{7893291A-01D8-6234-AA55-506BF8174E42}"/>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7F1940A8-C342-2381-8C8A-7442CC39478B}"/>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nvGrpSpPr>
          <p:cNvPr id="23" name="Group 5">
            <a:extLst>
              <a:ext uri="{FF2B5EF4-FFF2-40B4-BE49-F238E27FC236}">
                <a16:creationId xmlns:a16="http://schemas.microsoft.com/office/drawing/2014/main" id="{E0E74B5F-4627-B034-27E7-18147FC9F661}"/>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4B3F7934-C99E-9DD6-09CC-08FAB54D6894}"/>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9CADAE24-BAD2-C1B5-1302-95DFF3518DE5}"/>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2D5D2230-5166-DB24-5076-DA1F60332741}"/>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https://chem.libretexts.org/Courses/University_of_Arkansas_Little_Rock/Chem_1402%3A_General_Chemistry_1_(Kattoum)</a:t>
            </a:r>
          </a:p>
        </p:txBody>
      </p:sp>
      <p:sp>
        <p:nvSpPr>
          <p:cNvPr id="16" name="TextBox 15">
            <a:extLst>
              <a:ext uri="{FF2B5EF4-FFF2-40B4-BE49-F238E27FC236}">
                <a16:creationId xmlns:a16="http://schemas.microsoft.com/office/drawing/2014/main" id="{7961ED0F-648A-3204-C569-C392F699D506}"/>
              </a:ext>
            </a:extLst>
          </p:cNvPr>
          <p:cNvSpPr txBox="1"/>
          <p:nvPr/>
        </p:nvSpPr>
        <p:spPr>
          <a:xfrm>
            <a:off x="1676400" y="3737753"/>
            <a:ext cx="14935200" cy="2585323"/>
          </a:xfrm>
          <a:prstGeom prst="rect">
            <a:avLst/>
          </a:prstGeom>
        </p:spPr>
        <p:txBody>
          <a:bodyPr wrap="square" lIns="0" tIns="0" rIns="0" bIns="0" rtlCol="0" anchor="t">
            <a:spAutoFit/>
          </a:bodyPr>
          <a:lstStyle/>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Reynolds Number</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Prandtl Number</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Nusselt Number</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Avogadro's Number</a:t>
            </a:r>
          </a:p>
        </p:txBody>
      </p:sp>
      <p:sp>
        <p:nvSpPr>
          <p:cNvPr id="17" name="Oval 16">
            <a:extLst>
              <a:ext uri="{FF2B5EF4-FFF2-40B4-BE49-F238E27FC236}">
                <a16:creationId xmlns:a16="http://schemas.microsoft.com/office/drawing/2014/main" id="{42F746E5-A0D0-4767-269D-600F0DAD36DE}"/>
              </a:ext>
            </a:extLst>
          </p:cNvPr>
          <p:cNvSpPr/>
          <p:nvPr/>
        </p:nvSpPr>
        <p:spPr>
          <a:xfrm>
            <a:off x="1505640" y="3653176"/>
            <a:ext cx="475936" cy="47593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8" name="TextBox 17">
            <a:extLst>
              <a:ext uri="{FF2B5EF4-FFF2-40B4-BE49-F238E27FC236}">
                <a16:creationId xmlns:a16="http://schemas.microsoft.com/office/drawing/2014/main" id="{5FBB4227-C9F7-30D3-67C9-9B9277250E15}"/>
              </a:ext>
            </a:extLst>
          </p:cNvPr>
          <p:cNvSpPr txBox="1"/>
          <p:nvPr/>
        </p:nvSpPr>
        <p:spPr>
          <a:xfrm>
            <a:off x="5622890" y="3727731"/>
            <a:ext cx="11636409" cy="2585323"/>
          </a:xfrm>
          <a:prstGeom prst="rect">
            <a:avLst/>
          </a:prstGeom>
        </p:spPr>
        <p:txBody>
          <a:bodyPr wrap="square" lIns="0" tIns="0" rIns="0" bIns="0" rtlCol="0" anchor="t">
            <a:spAutoFit/>
          </a:bodyPr>
          <a:lstStyle/>
          <a:p>
            <a:pPr algn="just"/>
            <a:r>
              <a:rPr lang="en-US" sz="2400" dirty="0">
                <a:solidFill>
                  <a:srgbClr val="000000"/>
                </a:solidFill>
                <a:latin typeface="Nunito 1" panose="020B0604020202020204" charset="0"/>
                <a:ea typeface="Nunito 1 Bold"/>
                <a:cs typeface="Nunito 1 Bold"/>
                <a:sym typeface="Nunito 1 Bold"/>
              </a:rPr>
              <a:t>- represents the ratio of inertial to viscous forces within a fluid</a:t>
            </a:r>
          </a:p>
          <a:p>
            <a:pPr algn="just"/>
            <a:endParaRPr lang="en-US" sz="2400" dirty="0">
              <a:solidFill>
                <a:srgbClr val="000000"/>
              </a:solidFill>
              <a:latin typeface="Nunito 1" panose="020B0604020202020204" charset="0"/>
              <a:ea typeface="Nunito 1 Bold"/>
              <a:cs typeface="Nunito 1 Bold"/>
              <a:sym typeface="Nunito 1 Bold"/>
            </a:endParaRPr>
          </a:p>
          <a:p>
            <a:pPr algn="just"/>
            <a:r>
              <a:rPr lang="en-US" sz="2400" dirty="0">
                <a:solidFill>
                  <a:srgbClr val="000000"/>
                </a:solidFill>
                <a:latin typeface="Nunito 1" panose="020B0604020202020204" charset="0"/>
                <a:ea typeface="Nunito 1 Bold"/>
                <a:cs typeface="Nunito 1 Bold"/>
                <a:sym typeface="Nunito 1 Bold"/>
              </a:rPr>
              <a:t>- relates the viscosity of a fluid to its thermal conductivity</a:t>
            </a:r>
          </a:p>
          <a:p>
            <a:pPr algn="just"/>
            <a:endParaRPr lang="en-US" sz="2400" dirty="0">
              <a:solidFill>
                <a:srgbClr val="000000"/>
              </a:solidFill>
              <a:latin typeface="Nunito 1" panose="020B0604020202020204" charset="0"/>
              <a:ea typeface="Nunito 1 Bold"/>
              <a:cs typeface="Nunito 1 Bold"/>
              <a:sym typeface="Nunito 1 Bold"/>
            </a:endParaRPr>
          </a:p>
          <a:p>
            <a:pPr algn="just"/>
            <a:r>
              <a:rPr lang="en-US" sz="2400" dirty="0">
                <a:solidFill>
                  <a:srgbClr val="000000"/>
                </a:solidFill>
                <a:latin typeface="Nunito 1" panose="020B0604020202020204" charset="0"/>
                <a:ea typeface="Nunito 1 Bold"/>
                <a:cs typeface="Nunito 1 Bold"/>
                <a:sym typeface="Nunito 1 Bold"/>
              </a:rPr>
              <a:t>- ratio of convective heat transfer to conductive heat transfer in a fluid system</a:t>
            </a:r>
          </a:p>
          <a:p>
            <a:pPr algn="just"/>
            <a:endParaRPr lang="en-US" sz="2400" dirty="0">
              <a:solidFill>
                <a:srgbClr val="000000"/>
              </a:solidFill>
              <a:latin typeface="Nunito 1" panose="020B0604020202020204" charset="0"/>
              <a:ea typeface="Nunito 1 Bold"/>
              <a:cs typeface="Nunito 1 Bold"/>
              <a:sym typeface="Nunito 1 Bold"/>
            </a:endParaRPr>
          </a:p>
          <a:p>
            <a:pPr algn="just"/>
            <a:r>
              <a:rPr lang="en-US" sz="2400" dirty="0">
                <a:solidFill>
                  <a:srgbClr val="000000"/>
                </a:solidFill>
                <a:latin typeface="Nunito 1" panose="020B0604020202020204" charset="0"/>
                <a:ea typeface="Nunito 1 Bold"/>
                <a:cs typeface="Nunito 1 Bold"/>
                <a:sym typeface="Nunito 1 Bold"/>
              </a:rPr>
              <a:t>- number of units in one mole of any substance</a:t>
            </a:r>
          </a:p>
        </p:txBody>
      </p:sp>
      <p:grpSp>
        <p:nvGrpSpPr>
          <p:cNvPr id="21" name="Group 20">
            <a:extLst>
              <a:ext uri="{FF2B5EF4-FFF2-40B4-BE49-F238E27FC236}">
                <a16:creationId xmlns:a16="http://schemas.microsoft.com/office/drawing/2014/main" id="{D10E8FA8-CC54-FAC8-05C2-9ABB93FDBDC8}"/>
              </a:ext>
            </a:extLst>
          </p:cNvPr>
          <p:cNvGrpSpPr/>
          <p:nvPr/>
        </p:nvGrpSpPr>
        <p:grpSpPr>
          <a:xfrm>
            <a:off x="7295892" y="6553029"/>
            <a:ext cx="8602092" cy="1657581"/>
            <a:chOff x="7295892" y="6553029"/>
            <a:chExt cx="8602092" cy="1657581"/>
          </a:xfrm>
        </p:grpSpPr>
        <p:pic>
          <p:nvPicPr>
            <p:cNvPr id="22" name="Picture 21">
              <a:extLst>
                <a:ext uri="{FF2B5EF4-FFF2-40B4-BE49-F238E27FC236}">
                  <a16:creationId xmlns:a16="http://schemas.microsoft.com/office/drawing/2014/main" id="{23E2D7DE-AB92-3802-0A12-AD12ABF53F67}"/>
                </a:ext>
              </a:extLst>
            </p:cNvPr>
            <p:cNvPicPr>
              <a:picLocks noChangeAspect="1"/>
            </p:cNvPicPr>
            <p:nvPr/>
          </p:nvPicPr>
          <p:blipFill>
            <a:blip r:embed="rId3"/>
            <a:stretch>
              <a:fillRect/>
            </a:stretch>
          </p:blipFill>
          <p:spPr>
            <a:xfrm>
              <a:off x="7295892" y="6553029"/>
              <a:ext cx="3696216" cy="1657581"/>
            </a:xfrm>
            <a:prstGeom prst="rect">
              <a:avLst/>
            </a:prstGeom>
          </p:spPr>
        </p:pic>
        <p:pic>
          <p:nvPicPr>
            <p:cNvPr id="1026" name="Picture 2" descr="Reynolds Number Formula: Derivation, Equation, Examples">
              <a:extLst>
                <a:ext uri="{FF2B5EF4-FFF2-40B4-BE49-F238E27FC236}">
                  <a16:creationId xmlns:a16="http://schemas.microsoft.com/office/drawing/2014/main" id="{799712FA-6C91-A881-F0F7-8D7BE694E697}"/>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saturation sat="400000"/>
                      </a14:imgEffect>
                    </a14:imgLayer>
                  </a14:imgProps>
                </a:ext>
                <a:ext uri="{28A0092B-C50C-407E-A947-70E740481C1C}">
                  <a14:useLocalDpi xmlns:a14="http://schemas.microsoft.com/office/drawing/2010/main" val="0"/>
                </a:ext>
              </a:extLst>
            </a:blip>
            <a:srcRect t="47751"/>
            <a:stretch/>
          </p:blipFill>
          <p:spPr bwMode="auto">
            <a:xfrm>
              <a:off x="10992108" y="6553030"/>
              <a:ext cx="4905876" cy="165758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7" name="Group 26">
            <a:extLst>
              <a:ext uri="{FF2B5EF4-FFF2-40B4-BE49-F238E27FC236}">
                <a16:creationId xmlns:a16="http://schemas.microsoft.com/office/drawing/2014/main" id="{51969966-B007-8923-BF28-A17E5EE29B47}"/>
              </a:ext>
            </a:extLst>
          </p:cNvPr>
          <p:cNvGrpSpPr/>
          <p:nvPr/>
        </p:nvGrpSpPr>
        <p:grpSpPr>
          <a:xfrm>
            <a:off x="0" y="9599693"/>
            <a:ext cx="18287999" cy="687306"/>
            <a:chOff x="0" y="9599693"/>
            <a:chExt cx="18287999" cy="687306"/>
          </a:xfrm>
        </p:grpSpPr>
        <p:grpSp>
          <p:nvGrpSpPr>
            <p:cNvPr id="28" name="Group 11">
              <a:extLst>
                <a:ext uri="{FF2B5EF4-FFF2-40B4-BE49-F238E27FC236}">
                  <a16:creationId xmlns:a16="http://schemas.microsoft.com/office/drawing/2014/main" id="{FDFB2516-4B4D-2398-B9A5-8208437E3A5E}"/>
                </a:ext>
              </a:extLst>
            </p:cNvPr>
            <p:cNvGrpSpPr/>
            <p:nvPr/>
          </p:nvGrpSpPr>
          <p:grpSpPr>
            <a:xfrm>
              <a:off x="0" y="9599694"/>
              <a:ext cx="18287999" cy="687305"/>
              <a:chOff x="0" y="0"/>
              <a:chExt cx="5260714" cy="490218"/>
            </a:xfrm>
          </p:grpSpPr>
          <p:sp>
            <p:nvSpPr>
              <p:cNvPr id="31" name="Freeform 12">
                <a:extLst>
                  <a:ext uri="{FF2B5EF4-FFF2-40B4-BE49-F238E27FC236}">
                    <a16:creationId xmlns:a16="http://schemas.microsoft.com/office/drawing/2014/main" id="{CFE5D9BA-BF87-2583-D84E-3EA033B391FC}"/>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32" name="TextBox 13">
                <a:extLst>
                  <a:ext uri="{FF2B5EF4-FFF2-40B4-BE49-F238E27FC236}">
                    <a16:creationId xmlns:a16="http://schemas.microsoft.com/office/drawing/2014/main" id="{84BE15DD-88B7-C0F6-1CC8-CD8897A94E9B}"/>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9" name="TextBox 12">
              <a:extLst>
                <a:ext uri="{FF2B5EF4-FFF2-40B4-BE49-F238E27FC236}">
                  <a16:creationId xmlns:a16="http://schemas.microsoft.com/office/drawing/2014/main" id="{F4457B41-58A2-DC55-3B93-DE45BBE0A7F1}"/>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30" name="TextBox 13">
              <a:extLst>
                <a:ext uri="{FF2B5EF4-FFF2-40B4-BE49-F238E27FC236}">
                  <a16:creationId xmlns:a16="http://schemas.microsoft.com/office/drawing/2014/main" id="{5687B0E4-5445-8B53-D122-18CB716520FE}"/>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spTree>
    <p:extLst>
      <p:ext uri="{BB962C8B-B14F-4D97-AF65-F5344CB8AC3E}">
        <p14:creationId xmlns:p14="http://schemas.microsoft.com/office/powerpoint/2010/main" val="3471258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32F63-AD94-B211-0B76-8ACACAA2D82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849CF4C-D943-0050-DC5E-7EB1EA634C2F}"/>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AABB7FF1-FF5A-CD99-EACF-FB3A1507C5B3}"/>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B82C7078-05B6-E3CE-99AC-66492DF2EC82}"/>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4DA1BB3D-1CB0-43D8-AB41-F98591DCDB83}"/>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11FC1C25-B0B6-F995-F4A8-D577D4C2B566}"/>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5ED2035B-4BDD-DB88-04F7-D9E9BCE44A61}"/>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8D8476DF-1AE9-F169-AB85-34461F2B7B8D}"/>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60466794-8A50-735F-B7C2-43546243F422}"/>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203529BB-D82D-BB45-C7BF-67A88C66FBFD}"/>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71694914-5E9E-BFD6-16A7-4BB075BF2245}"/>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F89E837F-74E9-CA82-6B08-7E01D9AB31B8}"/>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8D5D6AD3-C891-E3B9-E169-3ED13F9CCA5E}"/>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3DCCDD7D-4199-1286-4778-9A74EA5BD09F}"/>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 5</a:t>
            </a:r>
          </a:p>
        </p:txBody>
      </p:sp>
      <p:sp>
        <p:nvSpPr>
          <p:cNvPr id="15" name="TextBox 15">
            <a:extLst>
              <a:ext uri="{FF2B5EF4-FFF2-40B4-BE49-F238E27FC236}">
                <a16:creationId xmlns:a16="http://schemas.microsoft.com/office/drawing/2014/main" id="{C94C345C-EAE7-AA64-B5D3-259A534DA3FC}"/>
              </a:ext>
            </a:extLst>
          </p:cNvPr>
          <p:cNvSpPr txBox="1"/>
          <p:nvPr/>
        </p:nvSpPr>
        <p:spPr>
          <a:xfrm>
            <a:off x="2246041" y="2025065"/>
            <a:ext cx="13795916" cy="369332"/>
          </a:xfrm>
          <a:prstGeom prst="rect">
            <a:avLst/>
          </a:prstGeom>
        </p:spPr>
        <p:txBody>
          <a:bodyPr wrap="square" lIns="0" tIns="0" rIns="0" bIns="0" rtlCol="0" anchor="t">
            <a:spAutoFit/>
          </a:bodyPr>
          <a:lstStyle/>
          <a:p>
            <a:pPr algn="ctr"/>
            <a:r>
              <a:rPr lang="en-US" sz="2400" b="1" dirty="0">
                <a:solidFill>
                  <a:srgbClr val="000000"/>
                </a:solidFill>
                <a:latin typeface="Nunito 1 Bold"/>
                <a:ea typeface="Nunito 1 Bold"/>
                <a:cs typeface="Nunito 1 Bold"/>
                <a:sym typeface="Nunito 1 Bold"/>
              </a:rPr>
              <a:t>Reynold’s number for laminar flow is?</a:t>
            </a:r>
          </a:p>
        </p:txBody>
      </p:sp>
      <p:sp>
        <p:nvSpPr>
          <p:cNvPr id="19" name="TextBox 12">
            <a:extLst>
              <a:ext uri="{FF2B5EF4-FFF2-40B4-BE49-F238E27FC236}">
                <a16:creationId xmlns:a16="http://schemas.microsoft.com/office/drawing/2014/main" id="{2C6771CC-E512-5CDF-C4EC-F7748C469F9B}"/>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3C417C7F-9C21-24C7-4B9F-4A715A04A3C7}"/>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nvGrpSpPr>
          <p:cNvPr id="23" name="Group 5">
            <a:extLst>
              <a:ext uri="{FF2B5EF4-FFF2-40B4-BE49-F238E27FC236}">
                <a16:creationId xmlns:a16="http://schemas.microsoft.com/office/drawing/2014/main" id="{3696D01B-FA20-98E0-954A-AA96B1D480FC}"/>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69695F69-1D69-B596-4C98-0B11ECF3A755}"/>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76A608CD-8905-0D94-1EF1-A473DC2AB33D}"/>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42F30E0A-443A-8FC4-1CD7-C0B17CBEC78A}"/>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https://chem.libretexts.org/Courses/University_of_Arkansas_Little_Rock/Chem_1402%3A_General_Chemistry_1_(Kattoum)</a:t>
            </a:r>
          </a:p>
        </p:txBody>
      </p:sp>
      <p:sp>
        <p:nvSpPr>
          <p:cNvPr id="16" name="TextBox 15">
            <a:extLst>
              <a:ext uri="{FF2B5EF4-FFF2-40B4-BE49-F238E27FC236}">
                <a16:creationId xmlns:a16="http://schemas.microsoft.com/office/drawing/2014/main" id="{C5A8134E-B44F-2C17-B954-32570C8247FD}"/>
              </a:ext>
            </a:extLst>
          </p:cNvPr>
          <p:cNvSpPr txBox="1"/>
          <p:nvPr/>
        </p:nvSpPr>
        <p:spPr>
          <a:xfrm>
            <a:off x="1676400" y="3737753"/>
            <a:ext cx="14935200" cy="2585323"/>
          </a:xfrm>
          <a:prstGeom prst="rect">
            <a:avLst/>
          </a:prstGeom>
        </p:spPr>
        <p:txBody>
          <a:bodyPr wrap="square" lIns="0" tIns="0" rIns="0" bIns="0" rtlCol="0" anchor="t">
            <a:spAutoFit/>
          </a:bodyPr>
          <a:lstStyle/>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Re &lt; 2000</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2000 &lt; Re &lt; 4000</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Re  &gt;  4000</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Re = 0</a:t>
            </a:r>
          </a:p>
        </p:txBody>
      </p:sp>
      <p:sp>
        <p:nvSpPr>
          <p:cNvPr id="17" name="Oval 16">
            <a:extLst>
              <a:ext uri="{FF2B5EF4-FFF2-40B4-BE49-F238E27FC236}">
                <a16:creationId xmlns:a16="http://schemas.microsoft.com/office/drawing/2014/main" id="{E95A947B-7327-13D2-6099-816D9566B96F}"/>
              </a:ext>
            </a:extLst>
          </p:cNvPr>
          <p:cNvSpPr/>
          <p:nvPr/>
        </p:nvSpPr>
        <p:spPr>
          <a:xfrm>
            <a:off x="1505640" y="3653176"/>
            <a:ext cx="475936" cy="47593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28" name="Group 27">
            <a:extLst>
              <a:ext uri="{FF2B5EF4-FFF2-40B4-BE49-F238E27FC236}">
                <a16:creationId xmlns:a16="http://schemas.microsoft.com/office/drawing/2014/main" id="{570BAC1D-5724-F4EB-2475-F945B62B9495}"/>
              </a:ext>
            </a:extLst>
          </p:cNvPr>
          <p:cNvGrpSpPr/>
          <p:nvPr/>
        </p:nvGrpSpPr>
        <p:grpSpPr>
          <a:xfrm>
            <a:off x="1549470" y="2990557"/>
            <a:ext cx="13254778" cy="4974964"/>
            <a:chOff x="1549470" y="2990557"/>
            <a:chExt cx="13254778" cy="4974964"/>
          </a:xfrm>
        </p:grpSpPr>
        <p:pic>
          <p:nvPicPr>
            <p:cNvPr id="2050" name="Picture 2" descr="Laminar Flow · Phy 426 Fluid Mechanics">
              <a:extLst>
                <a:ext uri="{FF2B5EF4-FFF2-40B4-BE49-F238E27FC236}">
                  <a16:creationId xmlns:a16="http://schemas.microsoft.com/office/drawing/2014/main" id="{AB173D25-DDD5-CADB-7507-4BA53983D4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46444" y="2990557"/>
              <a:ext cx="5557804" cy="4974964"/>
            </a:xfrm>
            <a:prstGeom prst="rect">
              <a:avLst/>
            </a:prstGeom>
            <a:noFill/>
            <a:extLst>
              <a:ext uri="{909E8E84-426E-40DD-AFC4-6F175D3DCCD1}">
                <a14:hiddenFill xmlns:a14="http://schemas.microsoft.com/office/drawing/2010/main">
                  <a:solidFill>
                    <a:srgbClr val="FFFFFF"/>
                  </a:solidFill>
                </a14:hiddenFill>
              </a:ext>
            </a:extLst>
          </p:spPr>
        </p:pic>
        <p:grpSp>
          <p:nvGrpSpPr>
            <p:cNvPr id="27" name="Group 26">
              <a:extLst>
                <a:ext uri="{FF2B5EF4-FFF2-40B4-BE49-F238E27FC236}">
                  <a16:creationId xmlns:a16="http://schemas.microsoft.com/office/drawing/2014/main" id="{0AD40847-D191-9E15-CF64-B7B40B7E7516}"/>
                </a:ext>
              </a:extLst>
            </p:cNvPr>
            <p:cNvGrpSpPr/>
            <p:nvPr/>
          </p:nvGrpSpPr>
          <p:grpSpPr>
            <a:xfrm>
              <a:off x="1549470" y="3653176"/>
              <a:ext cx="6527730" cy="2635507"/>
              <a:chOff x="1549470" y="3653176"/>
              <a:chExt cx="6527730" cy="2635507"/>
            </a:xfrm>
          </p:grpSpPr>
          <p:sp>
            <p:nvSpPr>
              <p:cNvPr id="18" name="TextBox 17">
                <a:extLst>
                  <a:ext uri="{FF2B5EF4-FFF2-40B4-BE49-F238E27FC236}">
                    <a16:creationId xmlns:a16="http://schemas.microsoft.com/office/drawing/2014/main" id="{9129DBFC-9630-39E1-BFD7-EB132E20A428}"/>
                  </a:ext>
                </a:extLst>
              </p:cNvPr>
              <p:cNvSpPr txBox="1"/>
              <p:nvPr/>
            </p:nvSpPr>
            <p:spPr>
              <a:xfrm>
                <a:off x="5099375" y="3653176"/>
                <a:ext cx="2977825" cy="1846659"/>
              </a:xfrm>
              <a:prstGeom prst="rect">
                <a:avLst/>
              </a:prstGeom>
            </p:spPr>
            <p:txBody>
              <a:bodyPr wrap="square" lIns="0" tIns="0" rIns="0" bIns="0" rtlCol="0" anchor="t">
                <a:spAutoFit/>
              </a:bodyPr>
              <a:lstStyle/>
              <a:p>
                <a:pPr marL="342900" indent="-342900" algn="just">
                  <a:buFontTx/>
                  <a:buChar char="-"/>
                </a:pPr>
                <a:r>
                  <a:rPr lang="en-US" sz="2400" dirty="0">
                    <a:solidFill>
                      <a:srgbClr val="000000"/>
                    </a:solidFill>
                    <a:latin typeface="Nunito 1" panose="020B0604020202020204" charset="0"/>
                    <a:ea typeface="Nunito 1 Bold"/>
                    <a:cs typeface="Nunito 1 Bold"/>
                    <a:sym typeface="Nunito 1 Bold"/>
                  </a:rPr>
                  <a:t>Laminar flow</a:t>
                </a:r>
              </a:p>
              <a:p>
                <a:pPr marL="342900" indent="-342900" algn="just">
                  <a:buFontTx/>
                  <a:buChar char="-"/>
                </a:pPr>
                <a:endParaRPr lang="en-US" sz="2400" dirty="0">
                  <a:solidFill>
                    <a:srgbClr val="000000"/>
                  </a:solidFill>
                  <a:latin typeface="Nunito 1" panose="020B0604020202020204" charset="0"/>
                  <a:ea typeface="Nunito 1 Bold"/>
                  <a:cs typeface="Nunito 1 Bold"/>
                  <a:sym typeface="Nunito 1 Bold"/>
                </a:endParaRPr>
              </a:p>
              <a:p>
                <a:pPr marL="342900" indent="-342900" algn="just">
                  <a:buFontTx/>
                  <a:buChar char="-"/>
                </a:pPr>
                <a:r>
                  <a:rPr lang="en-US" sz="2400" dirty="0">
                    <a:solidFill>
                      <a:srgbClr val="000000"/>
                    </a:solidFill>
                    <a:latin typeface="Nunito 1" panose="020B0604020202020204" charset="0"/>
                    <a:ea typeface="Nunito 1 Bold"/>
                    <a:cs typeface="Nunito 1 Bold"/>
                    <a:sym typeface="Nunito 1 Bold"/>
                  </a:rPr>
                  <a:t>Transitional flow</a:t>
                </a:r>
              </a:p>
              <a:p>
                <a:pPr marL="342900" indent="-342900" algn="just">
                  <a:buFontTx/>
                  <a:buChar char="-"/>
                </a:pPr>
                <a:endParaRPr lang="en-US" sz="2400" dirty="0">
                  <a:solidFill>
                    <a:srgbClr val="000000"/>
                  </a:solidFill>
                  <a:latin typeface="Nunito 1" panose="020B0604020202020204" charset="0"/>
                  <a:ea typeface="Nunito 1 Bold"/>
                  <a:cs typeface="Nunito 1 Bold"/>
                  <a:sym typeface="Nunito 1 Bold"/>
                </a:endParaRPr>
              </a:p>
              <a:p>
                <a:pPr marL="342900" indent="-342900" algn="just">
                  <a:buFontTx/>
                  <a:buChar char="-"/>
                </a:pPr>
                <a:r>
                  <a:rPr lang="en-US" sz="2400" dirty="0">
                    <a:solidFill>
                      <a:srgbClr val="000000"/>
                    </a:solidFill>
                    <a:latin typeface="Nunito 1" panose="020B0604020202020204" charset="0"/>
                    <a:ea typeface="Nunito 1 Bold"/>
                    <a:cs typeface="Nunito 1 Bold"/>
                    <a:sym typeface="Nunito 1 Bold"/>
                  </a:rPr>
                  <a:t>Turbulent flow</a:t>
                </a:r>
              </a:p>
            </p:txBody>
          </p:sp>
          <p:sp>
            <p:nvSpPr>
              <p:cNvPr id="21" name="TextBox 20">
                <a:extLst>
                  <a:ext uri="{FF2B5EF4-FFF2-40B4-BE49-F238E27FC236}">
                    <a16:creationId xmlns:a16="http://schemas.microsoft.com/office/drawing/2014/main" id="{78015FB5-FBB6-EEB6-FD49-D13F3D2B364F}"/>
                  </a:ext>
                </a:extLst>
              </p:cNvPr>
              <p:cNvSpPr txBox="1"/>
              <p:nvPr/>
            </p:nvSpPr>
            <p:spPr>
              <a:xfrm>
                <a:off x="1549470" y="5919351"/>
                <a:ext cx="2977825" cy="369332"/>
              </a:xfrm>
              <a:prstGeom prst="rect">
                <a:avLst/>
              </a:prstGeom>
            </p:spPr>
            <p:txBody>
              <a:bodyPr wrap="square" lIns="0" tIns="0" rIns="0" bIns="0" rtlCol="0" anchor="t">
                <a:spAutoFit/>
              </a:bodyPr>
              <a:lstStyle/>
              <a:p>
                <a:pPr algn="just"/>
                <a:r>
                  <a:rPr lang="en-US" sz="2400" dirty="0">
                    <a:solidFill>
                      <a:srgbClr val="000000"/>
                    </a:solidFill>
                    <a:latin typeface="Nunito 1" panose="020B0604020202020204" charset="0"/>
                    <a:ea typeface="Nunito 1 Bold"/>
                    <a:cs typeface="Nunito 1 Bold"/>
                    <a:sym typeface="Nunito 1 Bold"/>
                  </a:rPr>
                  <a:t>-----------------</a:t>
                </a:r>
              </a:p>
            </p:txBody>
          </p:sp>
        </p:grpSp>
      </p:grpSp>
      <p:grpSp>
        <p:nvGrpSpPr>
          <p:cNvPr id="22" name="Group 21">
            <a:extLst>
              <a:ext uri="{FF2B5EF4-FFF2-40B4-BE49-F238E27FC236}">
                <a16:creationId xmlns:a16="http://schemas.microsoft.com/office/drawing/2014/main" id="{DAA97E9B-1BDC-C2B5-455B-FCF89F222E1A}"/>
              </a:ext>
            </a:extLst>
          </p:cNvPr>
          <p:cNvGrpSpPr/>
          <p:nvPr/>
        </p:nvGrpSpPr>
        <p:grpSpPr>
          <a:xfrm>
            <a:off x="0" y="9599693"/>
            <a:ext cx="18287999" cy="687306"/>
            <a:chOff x="0" y="9599693"/>
            <a:chExt cx="18287999" cy="687306"/>
          </a:xfrm>
        </p:grpSpPr>
        <p:grpSp>
          <p:nvGrpSpPr>
            <p:cNvPr id="29" name="Group 11">
              <a:extLst>
                <a:ext uri="{FF2B5EF4-FFF2-40B4-BE49-F238E27FC236}">
                  <a16:creationId xmlns:a16="http://schemas.microsoft.com/office/drawing/2014/main" id="{4EE6CCE4-F2A9-CC8D-EA80-C05EC57E1040}"/>
                </a:ext>
              </a:extLst>
            </p:cNvPr>
            <p:cNvGrpSpPr/>
            <p:nvPr/>
          </p:nvGrpSpPr>
          <p:grpSpPr>
            <a:xfrm>
              <a:off x="0" y="9599694"/>
              <a:ext cx="18287999" cy="687305"/>
              <a:chOff x="0" y="0"/>
              <a:chExt cx="5260714" cy="490218"/>
            </a:xfrm>
          </p:grpSpPr>
          <p:sp>
            <p:nvSpPr>
              <p:cNvPr id="32" name="Freeform 12">
                <a:extLst>
                  <a:ext uri="{FF2B5EF4-FFF2-40B4-BE49-F238E27FC236}">
                    <a16:creationId xmlns:a16="http://schemas.microsoft.com/office/drawing/2014/main" id="{1FCD41CC-EDFA-7996-74ED-9103B030B046}"/>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33" name="TextBox 13">
                <a:extLst>
                  <a:ext uri="{FF2B5EF4-FFF2-40B4-BE49-F238E27FC236}">
                    <a16:creationId xmlns:a16="http://schemas.microsoft.com/office/drawing/2014/main" id="{797A3BDA-CA5D-125D-C2E6-F5546A1EBD7E}"/>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30" name="TextBox 12">
              <a:extLst>
                <a:ext uri="{FF2B5EF4-FFF2-40B4-BE49-F238E27FC236}">
                  <a16:creationId xmlns:a16="http://schemas.microsoft.com/office/drawing/2014/main" id="{C4308CFC-F7FA-3910-1DC8-EBD54F177FF0}"/>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31" name="TextBox 13">
              <a:extLst>
                <a:ext uri="{FF2B5EF4-FFF2-40B4-BE49-F238E27FC236}">
                  <a16:creationId xmlns:a16="http://schemas.microsoft.com/office/drawing/2014/main" id="{3094C1B7-FC2B-81BF-7CEA-F745E7C7195E}"/>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spTree>
    <p:extLst>
      <p:ext uri="{BB962C8B-B14F-4D97-AF65-F5344CB8AC3E}">
        <p14:creationId xmlns:p14="http://schemas.microsoft.com/office/powerpoint/2010/main" val="3209674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090D7-C17A-BACC-1FB2-CAF68B32130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D4B084D-7D18-D232-0FAD-AFC56232F3F4}"/>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6C60AF8C-F912-45A5-3FD0-66B9534F4353}"/>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33D869D1-18B9-28FA-3882-CD88B3CC0DD5}"/>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2BFAEBAD-B689-19DD-768B-8174D2F1CF4F}"/>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65490652-0511-B0DB-518B-0B828DD18479}"/>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6B065D8E-12BC-24A9-421B-E64B2A155C37}"/>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7D083DF8-A70E-16B4-A2B3-FB3CE7EA86B2}"/>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1F836752-DEDB-1736-AAE7-4277999EE8C0}"/>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14ED8C45-79AA-22A8-D735-46D1B3C671A7}"/>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DAB2B011-7282-108D-E73A-E6E994C3398B}"/>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3AC61737-FF04-32B3-2759-4852583903FD}"/>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1B9E5B13-CB3B-34A2-3E4C-CC900A64AA60}"/>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572EFC46-3241-BB45-B3AF-7D5CB1ECBE6B}"/>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 6</a:t>
            </a:r>
          </a:p>
        </p:txBody>
      </p:sp>
      <p:sp>
        <p:nvSpPr>
          <p:cNvPr id="15" name="TextBox 15">
            <a:extLst>
              <a:ext uri="{FF2B5EF4-FFF2-40B4-BE49-F238E27FC236}">
                <a16:creationId xmlns:a16="http://schemas.microsoft.com/office/drawing/2014/main" id="{331B2946-CAB4-A2D6-C58F-60B22E5C5EB5}"/>
              </a:ext>
            </a:extLst>
          </p:cNvPr>
          <p:cNvSpPr txBox="1"/>
          <p:nvPr/>
        </p:nvSpPr>
        <p:spPr>
          <a:xfrm>
            <a:off x="2246041" y="2025065"/>
            <a:ext cx="13795916" cy="738664"/>
          </a:xfrm>
          <a:prstGeom prst="rect">
            <a:avLst/>
          </a:prstGeom>
        </p:spPr>
        <p:txBody>
          <a:bodyPr wrap="square" lIns="0" tIns="0" rIns="0" bIns="0" rtlCol="0" anchor="t">
            <a:spAutoFit/>
          </a:bodyPr>
          <a:lstStyle/>
          <a:p>
            <a:pPr algn="ctr"/>
            <a:r>
              <a:rPr lang="en-US" sz="2400" b="1" dirty="0">
                <a:solidFill>
                  <a:srgbClr val="000000"/>
                </a:solidFill>
                <a:latin typeface="Nunito 1 Bold"/>
                <a:ea typeface="Nunito 1 Bold"/>
                <a:cs typeface="Nunito 1 Bold"/>
                <a:sym typeface="Nunito 1 Bold"/>
              </a:rPr>
              <a:t>This type of flow is one in which all conditions at any point in a stream remain constant with respect to time.</a:t>
            </a:r>
          </a:p>
        </p:txBody>
      </p:sp>
      <p:sp>
        <p:nvSpPr>
          <p:cNvPr id="19" name="TextBox 12">
            <a:extLst>
              <a:ext uri="{FF2B5EF4-FFF2-40B4-BE49-F238E27FC236}">
                <a16:creationId xmlns:a16="http://schemas.microsoft.com/office/drawing/2014/main" id="{56A32404-AB0C-BBBE-7B0C-37418861F1EF}"/>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1B919EF5-E1B5-BC52-86BA-F826D726E97E}"/>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nvGrpSpPr>
          <p:cNvPr id="23" name="Group 5">
            <a:extLst>
              <a:ext uri="{FF2B5EF4-FFF2-40B4-BE49-F238E27FC236}">
                <a16:creationId xmlns:a16="http://schemas.microsoft.com/office/drawing/2014/main" id="{A271FB8C-E01C-883F-6A33-096EAD4E5F5D}"/>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573E5C63-0079-A524-4F8D-D64B4AF0F929}"/>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8EE50ED6-8CA8-46F8-F47F-7759BFCF4036}"/>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11B895C5-3947-377E-EB7F-20B93EA2C900}"/>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https://learn.lboro.ac.uk/pluginfile.php/504741/mod_resource/content/1/Fluid_Mechanics_3.pdf</a:t>
            </a:r>
          </a:p>
        </p:txBody>
      </p:sp>
      <p:sp>
        <p:nvSpPr>
          <p:cNvPr id="16" name="TextBox 15">
            <a:extLst>
              <a:ext uri="{FF2B5EF4-FFF2-40B4-BE49-F238E27FC236}">
                <a16:creationId xmlns:a16="http://schemas.microsoft.com/office/drawing/2014/main" id="{167F675A-EB4C-356C-E870-02F7B61A898A}"/>
              </a:ext>
            </a:extLst>
          </p:cNvPr>
          <p:cNvSpPr txBox="1"/>
          <p:nvPr/>
        </p:nvSpPr>
        <p:spPr>
          <a:xfrm>
            <a:off x="1676400" y="3737753"/>
            <a:ext cx="14935200" cy="2585323"/>
          </a:xfrm>
          <a:prstGeom prst="rect">
            <a:avLst/>
          </a:prstGeom>
        </p:spPr>
        <p:txBody>
          <a:bodyPr wrap="square" lIns="0" tIns="0" rIns="0" bIns="0" rtlCol="0" anchor="t">
            <a:spAutoFit/>
          </a:bodyPr>
          <a:lstStyle/>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Uniform flow</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Non-uniform flow</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Steady flow</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Unsteady flow</a:t>
            </a:r>
          </a:p>
        </p:txBody>
      </p:sp>
      <p:sp>
        <p:nvSpPr>
          <p:cNvPr id="17" name="Oval 16">
            <a:extLst>
              <a:ext uri="{FF2B5EF4-FFF2-40B4-BE49-F238E27FC236}">
                <a16:creationId xmlns:a16="http://schemas.microsoft.com/office/drawing/2014/main" id="{F9898482-6EDD-A5B0-6C87-C020ADFCD35B}"/>
              </a:ext>
            </a:extLst>
          </p:cNvPr>
          <p:cNvSpPr/>
          <p:nvPr/>
        </p:nvSpPr>
        <p:spPr>
          <a:xfrm>
            <a:off x="1505640" y="5113283"/>
            <a:ext cx="475936" cy="47593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18" name="Group 17">
            <a:extLst>
              <a:ext uri="{FF2B5EF4-FFF2-40B4-BE49-F238E27FC236}">
                <a16:creationId xmlns:a16="http://schemas.microsoft.com/office/drawing/2014/main" id="{287AA35A-BFA3-A402-16D0-C7ECE753198D}"/>
              </a:ext>
            </a:extLst>
          </p:cNvPr>
          <p:cNvGrpSpPr/>
          <p:nvPr/>
        </p:nvGrpSpPr>
        <p:grpSpPr>
          <a:xfrm>
            <a:off x="0" y="9599693"/>
            <a:ext cx="18287999" cy="687306"/>
            <a:chOff x="0" y="9599693"/>
            <a:chExt cx="18287999" cy="687306"/>
          </a:xfrm>
        </p:grpSpPr>
        <p:grpSp>
          <p:nvGrpSpPr>
            <p:cNvPr id="21" name="Group 11">
              <a:extLst>
                <a:ext uri="{FF2B5EF4-FFF2-40B4-BE49-F238E27FC236}">
                  <a16:creationId xmlns:a16="http://schemas.microsoft.com/office/drawing/2014/main" id="{8F554D67-10FA-87DF-DE22-A0D90BA06F75}"/>
                </a:ext>
              </a:extLst>
            </p:cNvPr>
            <p:cNvGrpSpPr/>
            <p:nvPr/>
          </p:nvGrpSpPr>
          <p:grpSpPr>
            <a:xfrm>
              <a:off x="0" y="9599694"/>
              <a:ext cx="18287999" cy="687305"/>
              <a:chOff x="0" y="0"/>
              <a:chExt cx="5260714" cy="490218"/>
            </a:xfrm>
          </p:grpSpPr>
          <p:sp>
            <p:nvSpPr>
              <p:cNvPr id="28" name="Freeform 12">
                <a:extLst>
                  <a:ext uri="{FF2B5EF4-FFF2-40B4-BE49-F238E27FC236}">
                    <a16:creationId xmlns:a16="http://schemas.microsoft.com/office/drawing/2014/main" id="{DEE119C5-E15E-73A6-F8C3-EC6AC845B185}"/>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9" name="TextBox 13">
                <a:extLst>
                  <a:ext uri="{FF2B5EF4-FFF2-40B4-BE49-F238E27FC236}">
                    <a16:creationId xmlns:a16="http://schemas.microsoft.com/office/drawing/2014/main" id="{BEA4A47E-ADDC-315A-88C3-278C460B3FBE}"/>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2" name="TextBox 12">
              <a:extLst>
                <a:ext uri="{FF2B5EF4-FFF2-40B4-BE49-F238E27FC236}">
                  <a16:creationId xmlns:a16="http://schemas.microsoft.com/office/drawing/2014/main" id="{E25EA1CD-09AE-877C-25FD-8B77F1BCC507}"/>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7" name="TextBox 13">
              <a:extLst>
                <a:ext uri="{FF2B5EF4-FFF2-40B4-BE49-F238E27FC236}">
                  <a16:creationId xmlns:a16="http://schemas.microsoft.com/office/drawing/2014/main" id="{7E873603-E35A-FDBD-1EE3-57967B3B395C}"/>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spTree>
    <p:extLst>
      <p:ext uri="{BB962C8B-B14F-4D97-AF65-F5344CB8AC3E}">
        <p14:creationId xmlns:p14="http://schemas.microsoft.com/office/powerpoint/2010/main" val="2847259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E84D4-5E8B-83F0-AD23-1F4E60B36A0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6A9A44F-72E0-0A02-B9A4-4BD3B1A76974}"/>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15E2994F-2E7E-B291-3F11-2E66475D3CA5}"/>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0D8BE28B-F765-3778-A549-BEE045C64B01}"/>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7145CE5D-613E-F1A3-AA57-E25F315A57A1}"/>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A433C989-497C-033F-8251-E786980539E1}"/>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9F9A8361-4878-33F3-CDC0-77A1FF4C5C88}"/>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4EF85806-DC12-106B-1F4B-4249DC23BA96}"/>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19013C68-9A6D-1BFB-467A-E40CEDC4F959}"/>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94A993EB-EB1D-BAF1-CE9E-2ADABA13B12C}"/>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B0C5F6BE-60D9-A420-34CD-45188B3CC2D4}"/>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D554362A-7F8A-2625-494B-037782C719F5}"/>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95B02E84-0D15-C9D0-7E23-81746AEE4A0E}"/>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D8BD6A40-8924-F64E-F7EC-F4CC8605E3B4}"/>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 7</a:t>
            </a:r>
          </a:p>
        </p:txBody>
      </p:sp>
      <p:sp>
        <p:nvSpPr>
          <p:cNvPr id="15" name="TextBox 15">
            <a:extLst>
              <a:ext uri="{FF2B5EF4-FFF2-40B4-BE49-F238E27FC236}">
                <a16:creationId xmlns:a16="http://schemas.microsoft.com/office/drawing/2014/main" id="{102B9CF9-9AFE-8E90-5786-A5023D1C6818}"/>
              </a:ext>
            </a:extLst>
          </p:cNvPr>
          <p:cNvSpPr txBox="1"/>
          <p:nvPr/>
        </p:nvSpPr>
        <p:spPr>
          <a:xfrm>
            <a:off x="2246041" y="2025065"/>
            <a:ext cx="13795916" cy="738664"/>
          </a:xfrm>
          <a:prstGeom prst="rect">
            <a:avLst/>
          </a:prstGeom>
        </p:spPr>
        <p:txBody>
          <a:bodyPr wrap="square" lIns="0" tIns="0" rIns="0" bIns="0" rtlCol="0" anchor="t">
            <a:spAutoFit/>
          </a:bodyPr>
          <a:lstStyle/>
          <a:p>
            <a:pPr algn="ctr"/>
            <a:r>
              <a:rPr lang="en-US" sz="2400" b="1" dirty="0">
                <a:solidFill>
                  <a:srgbClr val="000000"/>
                </a:solidFill>
                <a:latin typeface="Nunito 1 Bold"/>
                <a:ea typeface="Nunito 1 Bold"/>
                <a:cs typeface="Nunito 1 Bold"/>
                <a:sym typeface="Nunito 1 Bold"/>
              </a:rPr>
              <a:t>If the flow velocity is the same magnitude and direction at every point in the fluid, it is said to be in this type of flow.</a:t>
            </a:r>
          </a:p>
        </p:txBody>
      </p:sp>
      <p:sp>
        <p:nvSpPr>
          <p:cNvPr id="19" name="TextBox 12">
            <a:extLst>
              <a:ext uri="{FF2B5EF4-FFF2-40B4-BE49-F238E27FC236}">
                <a16:creationId xmlns:a16="http://schemas.microsoft.com/office/drawing/2014/main" id="{4618F1CF-E8F0-7815-3FA6-5888427F3E43}"/>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67FDF98A-255E-ACBA-0821-57C523E4D427}"/>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nvGrpSpPr>
          <p:cNvPr id="23" name="Group 5">
            <a:extLst>
              <a:ext uri="{FF2B5EF4-FFF2-40B4-BE49-F238E27FC236}">
                <a16:creationId xmlns:a16="http://schemas.microsoft.com/office/drawing/2014/main" id="{A12E1780-D15D-5F19-8320-2250FDE9DDD0}"/>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7CF9018F-180B-C3E9-C5F9-BB150C2F3449}"/>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AFF363A9-DBC4-2583-C3B1-D56F1446E1D7}"/>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7F7317DB-8BD5-9151-F927-D3EE9DA6B89D}"/>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https://learn.lboro.ac.uk/pluginfile.php/504741/mod_resource/content/1/Fluid_Mechanics_3.pdf</a:t>
            </a:r>
          </a:p>
        </p:txBody>
      </p:sp>
      <p:sp>
        <p:nvSpPr>
          <p:cNvPr id="16" name="TextBox 15">
            <a:extLst>
              <a:ext uri="{FF2B5EF4-FFF2-40B4-BE49-F238E27FC236}">
                <a16:creationId xmlns:a16="http://schemas.microsoft.com/office/drawing/2014/main" id="{FF67A873-0924-4B2E-9B54-766C61043443}"/>
              </a:ext>
            </a:extLst>
          </p:cNvPr>
          <p:cNvSpPr txBox="1"/>
          <p:nvPr/>
        </p:nvSpPr>
        <p:spPr>
          <a:xfrm>
            <a:off x="1676400" y="3737753"/>
            <a:ext cx="14935200" cy="2585323"/>
          </a:xfrm>
          <a:prstGeom prst="rect">
            <a:avLst/>
          </a:prstGeom>
        </p:spPr>
        <p:txBody>
          <a:bodyPr wrap="square" lIns="0" tIns="0" rIns="0" bIns="0" rtlCol="0" anchor="t">
            <a:spAutoFit/>
          </a:bodyPr>
          <a:lstStyle/>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Uniform flow</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Non-uniform flow</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Steady flow</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Unsteady flow</a:t>
            </a:r>
          </a:p>
        </p:txBody>
      </p:sp>
      <p:sp>
        <p:nvSpPr>
          <p:cNvPr id="17" name="Oval 16">
            <a:extLst>
              <a:ext uri="{FF2B5EF4-FFF2-40B4-BE49-F238E27FC236}">
                <a16:creationId xmlns:a16="http://schemas.microsoft.com/office/drawing/2014/main" id="{4E1FCF3F-32CB-03F7-3813-3225364AEF5E}"/>
              </a:ext>
            </a:extLst>
          </p:cNvPr>
          <p:cNvSpPr/>
          <p:nvPr/>
        </p:nvSpPr>
        <p:spPr>
          <a:xfrm>
            <a:off x="1505640" y="3653176"/>
            <a:ext cx="475936" cy="47593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18" name="Group 17">
            <a:extLst>
              <a:ext uri="{FF2B5EF4-FFF2-40B4-BE49-F238E27FC236}">
                <a16:creationId xmlns:a16="http://schemas.microsoft.com/office/drawing/2014/main" id="{0CC66E2A-8164-8546-6E37-294465BCD98B}"/>
              </a:ext>
            </a:extLst>
          </p:cNvPr>
          <p:cNvGrpSpPr/>
          <p:nvPr/>
        </p:nvGrpSpPr>
        <p:grpSpPr>
          <a:xfrm>
            <a:off x="0" y="9599693"/>
            <a:ext cx="18287999" cy="687306"/>
            <a:chOff x="0" y="9599693"/>
            <a:chExt cx="18287999" cy="687306"/>
          </a:xfrm>
        </p:grpSpPr>
        <p:grpSp>
          <p:nvGrpSpPr>
            <p:cNvPr id="21" name="Group 11">
              <a:extLst>
                <a:ext uri="{FF2B5EF4-FFF2-40B4-BE49-F238E27FC236}">
                  <a16:creationId xmlns:a16="http://schemas.microsoft.com/office/drawing/2014/main" id="{4D20E846-7027-6D8C-E7B5-3CA93D81008C}"/>
                </a:ext>
              </a:extLst>
            </p:cNvPr>
            <p:cNvGrpSpPr/>
            <p:nvPr/>
          </p:nvGrpSpPr>
          <p:grpSpPr>
            <a:xfrm>
              <a:off x="0" y="9599694"/>
              <a:ext cx="18287999" cy="687305"/>
              <a:chOff x="0" y="0"/>
              <a:chExt cx="5260714" cy="490218"/>
            </a:xfrm>
          </p:grpSpPr>
          <p:sp>
            <p:nvSpPr>
              <p:cNvPr id="28" name="Freeform 12">
                <a:extLst>
                  <a:ext uri="{FF2B5EF4-FFF2-40B4-BE49-F238E27FC236}">
                    <a16:creationId xmlns:a16="http://schemas.microsoft.com/office/drawing/2014/main" id="{C972A2D5-C7F4-0F46-16A1-1296149624F3}"/>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9" name="TextBox 13">
                <a:extLst>
                  <a:ext uri="{FF2B5EF4-FFF2-40B4-BE49-F238E27FC236}">
                    <a16:creationId xmlns:a16="http://schemas.microsoft.com/office/drawing/2014/main" id="{57EC098F-1F1A-E4F1-6042-EDA8CC67101A}"/>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2" name="TextBox 12">
              <a:extLst>
                <a:ext uri="{FF2B5EF4-FFF2-40B4-BE49-F238E27FC236}">
                  <a16:creationId xmlns:a16="http://schemas.microsoft.com/office/drawing/2014/main" id="{B42FAF4F-FA94-1D2C-5512-BF9940726031}"/>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7" name="TextBox 13">
              <a:extLst>
                <a:ext uri="{FF2B5EF4-FFF2-40B4-BE49-F238E27FC236}">
                  <a16:creationId xmlns:a16="http://schemas.microsoft.com/office/drawing/2014/main" id="{9C16C08E-79D3-9697-B8F5-055A73822D88}"/>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spTree>
    <p:extLst>
      <p:ext uri="{BB962C8B-B14F-4D97-AF65-F5344CB8AC3E}">
        <p14:creationId xmlns:p14="http://schemas.microsoft.com/office/powerpoint/2010/main" val="128742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0985B-0A33-2741-51CE-AADA5212F02C}"/>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A4242672-A0E9-1C0C-35B2-318E6C97ADEE}"/>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1A2E7C1D-9417-EC7D-1413-10A59D83B742}"/>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81A33761-778C-FD01-568E-8257C33544EA}"/>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2" name="Group 2">
            <a:extLst>
              <a:ext uri="{FF2B5EF4-FFF2-40B4-BE49-F238E27FC236}">
                <a16:creationId xmlns:a16="http://schemas.microsoft.com/office/drawing/2014/main" id="{05752757-F862-79FC-F57E-186703CEBAEF}"/>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48187DD3-9524-C7C4-0AA4-A8AA1F2F482C}"/>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C06480BC-54C3-1976-93C9-8F3FDE32C21A}"/>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8" name="Group 8">
            <a:extLst>
              <a:ext uri="{FF2B5EF4-FFF2-40B4-BE49-F238E27FC236}">
                <a16:creationId xmlns:a16="http://schemas.microsoft.com/office/drawing/2014/main" id="{1BAF334B-904C-BBEF-228D-F53F447BFFDD}"/>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C4F247EA-0292-9FDA-7EE3-A02CDF994D1E}"/>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2DC91149-1D91-EE7D-B568-2FD059828546}"/>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06651990-4EE6-D896-CDDB-8C99A3F6C252}"/>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E61E0A17-47D1-C02B-E9AA-3551A2BBCE74}"/>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C96C6D3D-64A0-8A32-D9A9-75BFAD74F519}"/>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2">
            <a:extLst>
              <a:ext uri="{FF2B5EF4-FFF2-40B4-BE49-F238E27FC236}">
                <a16:creationId xmlns:a16="http://schemas.microsoft.com/office/drawing/2014/main" id="{8FAA95E3-65F3-1CE0-9A21-DE56EC6D3C23}"/>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22A1048D-306D-F635-EE0D-0899B1B4201B}"/>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nvGrpSpPr>
          <p:cNvPr id="23" name="Group 5">
            <a:extLst>
              <a:ext uri="{FF2B5EF4-FFF2-40B4-BE49-F238E27FC236}">
                <a16:creationId xmlns:a16="http://schemas.microsoft.com/office/drawing/2014/main" id="{78C9020B-D897-3F19-66D1-44B748308F38}"/>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087199A9-D6CB-BB68-856A-D70D1A637081}"/>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8539CF73-C785-5B64-85C7-254F5FFC0356}"/>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16" name="Group 15">
            <a:extLst>
              <a:ext uri="{FF2B5EF4-FFF2-40B4-BE49-F238E27FC236}">
                <a16:creationId xmlns:a16="http://schemas.microsoft.com/office/drawing/2014/main" id="{9C6243E0-BCD2-9FEB-82AE-0F8A42B453D9}"/>
              </a:ext>
            </a:extLst>
          </p:cNvPr>
          <p:cNvGrpSpPr/>
          <p:nvPr/>
        </p:nvGrpSpPr>
        <p:grpSpPr>
          <a:xfrm>
            <a:off x="0" y="9599693"/>
            <a:ext cx="18287999" cy="687306"/>
            <a:chOff x="0" y="9599693"/>
            <a:chExt cx="18287999" cy="687306"/>
          </a:xfrm>
        </p:grpSpPr>
        <p:grpSp>
          <p:nvGrpSpPr>
            <p:cNvPr id="17" name="Group 11">
              <a:extLst>
                <a:ext uri="{FF2B5EF4-FFF2-40B4-BE49-F238E27FC236}">
                  <a16:creationId xmlns:a16="http://schemas.microsoft.com/office/drawing/2014/main" id="{63E34789-7EEC-A3FA-3830-1FFD75C12F0E}"/>
                </a:ext>
              </a:extLst>
            </p:cNvPr>
            <p:cNvGrpSpPr/>
            <p:nvPr/>
          </p:nvGrpSpPr>
          <p:grpSpPr>
            <a:xfrm>
              <a:off x="0" y="9599694"/>
              <a:ext cx="18287999" cy="687305"/>
              <a:chOff x="0" y="0"/>
              <a:chExt cx="5260714" cy="490218"/>
            </a:xfrm>
          </p:grpSpPr>
          <p:sp>
            <p:nvSpPr>
              <p:cNvPr id="37" name="Freeform 12">
                <a:extLst>
                  <a:ext uri="{FF2B5EF4-FFF2-40B4-BE49-F238E27FC236}">
                    <a16:creationId xmlns:a16="http://schemas.microsoft.com/office/drawing/2014/main" id="{D3010A51-21B3-AF0E-A3B0-B0686CEA1108}"/>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38" name="TextBox 13">
                <a:extLst>
                  <a:ext uri="{FF2B5EF4-FFF2-40B4-BE49-F238E27FC236}">
                    <a16:creationId xmlns:a16="http://schemas.microsoft.com/office/drawing/2014/main" id="{2E222109-861C-366E-6502-F28319F2B064}"/>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35" name="TextBox 12">
              <a:extLst>
                <a:ext uri="{FF2B5EF4-FFF2-40B4-BE49-F238E27FC236}">
                  <a16:creationId xmlns:a16="http://schemas.microsoft.com/office/drawing/2014/main" id="{B4C1F8B8-1F18-175E-4F24-F3C6D27E27DC}"/>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36" name="TextBox 13">
              <a:extLst>
                <a:ext uri="{FF2B5EF4-FFF2-40B4-BE49-F238E27FC236}">
                  <a16:creationId xmlns:a16="http://schemas.microsoft.com/office/drawing/2014/main" id="{46511F1A-B8A3-DC7D-0070-BA1011DA93A6}"/>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grpSp>
        <p:nvGrpSpPr>
          <p:cNvPr id="18" name="Group 17">
            <a:extLst>
              <a:ext uri="{FF2B5EF4-FFF2-40B4-BE49-F238E27FC236}">
                <a16:creationId xmlns:a16="http://schemas.microsoft.com/office/drawing/2014/main" id="{81D00071-90B3-DD16-547B-84ACE31B37F3}"/>
              </a:ext>
            </a:extLst>
          </p:cNvPr>
          <p:cNvGrpSpPr/>
          <p:nvPr/>
        </p:nvGrpSpPr>
        <p:grpSpPr>
          <a:xfrm>
            <a:off x="4419600" y="2093952"/>
            <a:ext cx="6705600" cy="2483952"/>
            <a:chOff x="5791199" y="2093952"/>
            <a:chExt cx="6705600" cy="2483952"/>
          </a:xfrm>
        </p:grpSpPr>
        <p:pic>
          <p:nvPicPr>
            <p:cNvPr id="1028" name="Picture 4" descr="Laminar Flow versus Turbulent Flow: A Comprehensive Comparison -  EngineerExcel">
              <a:extLst>
                <a:ext uri="{FF2B5EF4-FFF2-40B4-BE49-F238E27FC236}">
                  <a16:creationId xmlns:a16="http://schemas.microsoft.com/office/drawing/2014/main" id="{1D10306E-2559-B438-8A38-76DB354BB89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1067" t="11897" r="11067" b="59259"/>
            <a:stretch>
              <a:fillRect/>
            </a:stretch>
          </p:blipFill>
          <p:spPr bwMode="auto">
            <a:xfrm>
              <a:off x="5791199" y="2093952"/>
              <a:ext cx="6705600" cy="2483952"/>
            </a:xfrm>
            <a:prstGeom prst="rect">
              <a:avLst/>
            </a:prstGeom>
            <a:noFill/>
            <a:extLst>
              <a:ext uri="{909E8E84-426E-40DD-AFC4-6F175D3DCCD1}">
                <a14:hiddenFill xmlns:a14="http://schemas.microsoft.com/office/drawing/2010/main">
                  <a:solidFill>
                    <a:srgbClr val="FFFFFF"/>
                  </a:solidFill>
                </a14:hiddenFill>
              </a:ext>
            </a:extLst>
          </p:spPr>
        </p:pic>
        <p:grpSp>
          <p:nvGrpSpPr>
            <p:cNvPr id="44" name="Group 43">
              <a:extLst>
                <a:ext uri="{FF2B5EF4-FFF2-40B4-BE49-F238E27FC236}">
                  <a16:creationId xmlns:a16="http://schemas.microsoft.com/office/drawing/2014/main" id="{5E848B70-8F7E-8E42-31C0-7132750AFE26}"/>
                </a:ext>
              </a:extLst>
            </p:cNvPr>
            <p:cNvGrpSpPr/>
            <p:nvPr/>
          </p:nvGrpSpPr>
          <p:grpSpPr>
            <a:xfrm>
              <a:off x="7239000" y="2500582"/>
              <a:ext cx="763699" cy="1639372"/>
              <a:chOff x="7239000" y="2500582"/>
              <a:chExt cx="763699" cy="1639372"/>
            </a:xfrm>
            <a:solidFill>
              <a:schemeClr val="accent3">
                <a:lumMod val="50000"/>
              </a:schemeClr>
            </a:solidFill>
          </p:grpSpPr>
          <p:sp>
            <p:nvSpPr>
              <p:cNvPr id="39" name="Oval 38">
                <a:extLst>
                  <a:ext uri="{FF2B5EF4-FFF2-40B4-BE49-F238E27FC236}">
                    <a16:creationId xmlns:a16="http://schemas.microsoft.com/office/drawing/2014/main" id="{2B5B86DC-0D90-D735-FB16-B9DD55063C55}"/>
                  </a:ext>
                </a:extLst>
              </p:cNvPr>
              <p:cNvSpPr/>
              <p:nvPr/>
            </p:nvSpPr>
            <p:spPr>
              <a:xfrm>
                <a:off x="7239000" y="2500582"/>
                <a:ext cx="154099" cy="1540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0" name="Oval 39">
                <a:extLst>
                  <a:ext uri="{FF2B5EF4-FFF2-40B4-BE49-F238E27FC236}">
                    <a16:creationId xmlns:a16="http://schemas.microsoft.com/office/drawing/2014/main" id="{5BC3E32A-59F8-E4D0-523F-18E7A4353DCE}"/>
                  </a:ext>
                </a:extLst>
              </p:cNvPr>
              <p:cNvSpPr/>
              <p:nvPr/>
            </p:nvSpPr>
            <p:spPr>
              <a:xfrm>
                <a:off x="7543800" y="2873112"/>
                <a:ext cx="154099" cy="1540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1" name="Oval 40">
                <a:extLst>
                  <a:ext uri="{FF2B5EF4-FFF2-40B4-BE49-F238E27FC236}">
                    <a16:creationId xmlns:a16="http://schemas.microsoft.com/office/drawing/2014/main" id="{4D7F2ACC-E58F-647A-8658-FB182EB91DD2}"/>
                  </a:ext>
                </a:extLst>
              </p:cNvPr>
              <p:cNvSpPr/>
              <p:nvPr/>
            </p:nvSpPr>
            <p:spPr>
              <a:xfrm>
                <a:off x="7848600" y="3258878"/>
                <a:ext cx="154099" cy="1540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2" name="Oval 41">
                <a:extLst>
                  <a:ext uri="{FF2B5EF4-FFF2-40B4-BE49-F238E27FC236}">
                    <a16:creationId xmlns:a16="http://schemas.microsoft.com/office/drawing/2014/main" id="{968F7299-0646-168A-A5B3-5C1D0B67D805}"/>
                  </a:ext>
                </a:extLst>
              </p:cNvPr>
              <p:cNvSpPr/>
              <p:nvPr/>
            </p:nvSpPr>
            <p:spPr>
              <a:xfrm>
                <a:off x="7543799" y="3587993"/>
                <a:ext cx="154099" cy="1540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3" name="Oval 42">
                <a:extLst>
                  <a:ext uri="{FF2B5EF4-FFF2-40B4-BE49-F238E27FC236}">
                    <a16:creationId xmlns:a16="http://schemas.microsoft.com/office/drawing/2014/main" id="{A76C945D-C038-160A-4516-3BBFFBFC4347}"/>
                  </a:ext>
                </a:extLst>
              </p:cNvPr>
              <p:cNvSpPr/>
              <p:nvPr/>
            </p:nvSpPr>
            <p:spPr>
              <a:xfrm>
                <a:off x="7242048" y="3985855"/>
                <a:ext cx="154099" cy="1540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52" name="Group 51">
              <a:extLst>
                <a:ext uri="{FF2B5EF4-FFF2-40B4-BE49-F238E27FC236}">
                  <a16:creationId xmlns:a16="http://schemas.microsoft.com/office/drawing/2014/main" id="{86753769-C6F8-51E1-476C-BFEE2C3DF5AF}"/>
                </a:ext>
              </a:extLst>
            </p:cNvPr>
            <p:cNvGrpSpPr/>
            <p:nvPr/>
          </p:nvGrpSpPr>
          <p:grpSpPr>
            <a:xfrm>
              <a:off x="9853552" y="2500582"/>
              <a:ext cx="763699" cy="1639372"/>
              <a:chOff x="7239000" y="2500582"/>
              <a:chExt cx="763699" cy="1639372"/>
            </a:xfrm>
            <a:solidFill>
              <a:schemeClr val="accent3">
                <a:lumMod val="50000"/>
              </a:schemeClr>
            </a:solidFill>
          </p:grpSpPr>
          <p:sp>
            <p:nvSpPr>
              <p:cNvPr id="53" name="Oval 52">
                <a:extLst>
                  <a:ext uri="{FF2B5EF4-FFF2-40B4-BE49-F238E27FC236}">
                    <a16:creationId xmlns:a16="http://schemas.microsoft.com/office/drawing/2014/main" id="{B025DA88-8DC9-F8E1-D9C2-D0E8BB352FEA}"/>
                  </a:ext>
                </a:extLst>
              </p:cNvPr>
              <p:cNvSpPr/>
              <p:nvPr/>
            </p:nvSpPr>
            <p:spPr>
              <a:xfrm>
                <a:off x="7239000" y="2500582"/>
                <a:ext cx="154099" cy="1540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4" name="Oval 53">
                <a:extLst>
                  <a:ext uri="{FF2B5EF4-FFF2-40B4-BE49-F238E27FC236}">
                    <a16:creationId xmlns:a16="http://schemas.microsoft.com/office/drawing/2014/main" id="{ECF30F2C-0653-3B6F-27A0-8ABDB0225336}"/>
                  </a:ext>
                </a:extLst>
              </p:cNvPr>
              <p:cNvSpPr/>
              <p:nvPr/>
            </p:nvSpPr>
            <p:spPr>
              <a:xfrm>
                <a:off x="7543800" y="2873112"/>
                <a:ext cx="154099" cy="1540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5" name="Oval 54">
                <a:extLst>
                  <a:ext uri="{FF2B5EF4-FFF2-40B4-BE49-F238E27FC236}">
                    <a16:creationId xmlns:a16="http://schemas.microsoft.com/office/drawing/2014/main" id="{D28A38C2-39CB-8810-9748-D90FE5C345F4}"/>
                  </a:ext>
                </a:extLst>
              </p:cNvPr>
              <p:cNvSpPr/>
              <p:nvPr/>
            </p:nvSpPr>
            <p:spPr>
              <a:xfrm>
                <a:off x="7848600" y="3258878"/>
                <a:ext cx="154099" cy="1540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6" name="Oval 55">
                <a:extLst>
                  <a:ext uri="{FF2B5EF4-FFF2-40B4-BE49-F238E27FC236}">
                    <a16:creationId xmlns:a16="http://schemas.microsoft.com/office/drawing/2014/main" id="{56F20DC4-3B11-5300-65D1-EB6BFCBD2E33}"/>
                  </a:ext>
                </a:extLst>
              </p:cNvPr>
              <p:cNvSpPr/>
              <p:nvPr/>
            </p:nvSpPr>
            <p:spPr>
              <a:xfrm>
                <a:off x="7543799" y="3587993"/>
                <a:ext cx="154099" cy="1540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7" name="Oval 56">
                <a:extLst>
                  <a:ext uri="{FF2B5EF4-FFF2-40B4-BE49-F238E27FC236}">
                    <a16:creationId xmlns:a16="http://schemas.microsoft.com/office/drawing/2014/main" id="{B8F9E688-BBAB-A0C2-AC03-0050EB22A32A}"/>
                  </a:ext>
                </a:extLst>
              </p:cNvPr>
              <p:cNvSpPr/>
              <p:nvPr/>
            </p:nvSpPr>
            <p:spPr>
              <a:xfrm>
                <a:off x="7242048" y="3985855"/>
                <a:ext cx="154099" cy="1540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grpSp>
        <p:nvGrpSpPr>
          <p:cNvPr id="21" name="Group 20">
            <a:extLst>
              <a:ext uri="{FF2B5EF4-FFF2-40B4-BE49-F238E27FC236}">
                <a16:creationId xmlns:a16="http://schemas.microsoft.com/office/drawing/2014/main" id="{8F676FA5-2ECF-7FBE-FE38-208478F2B3F7}"/>
              </a:ext>
            </a:extLst>
          </p:cNvPr>
          <p:cNvGrpSpPr/>
          <p:nvPr/>
        </p:nvGrpSpPr>
        <p:grpSpPr>
          <a:xfrm>
            <a:off x="3845409" y="5131066"/>
            <a:ext cx="7853986" cy="3061982"/>
            <a:chOff x="5217008" y="5131066"/>
            <a:chExt cx="7853986" cy="3061982"/>
          </a:xfrm>
        </p:grpSpPr>
        <p:pic>
          <p:nvPicPr>
            <p:cNvPr id="1026" name="Picture 2" descr="An Understanding of Flow Principles | Tameson.com">
              <a:extLst>
                <a:ext uri="{FF2B5EF4-FFF2-40B4-BE49-F238E27FC236}">
                  <a16:creationId xmlns:a16="http://schemas.microsoft.com/office/drawing/2014/main" id="{1D41CE7D-ED49-1A63-0790-271E27FF55D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17008" y="5131066"/>
              <a:ext cx="7853986" cy="3061982"/>
            </a:xfrm>
            <a:prstGeom prst="rect">
              <a:avLst/>
            </a:prstGeom>
            <a:noFill/>
            <a:extLst>
              <a:ext uri="{909E8E84-426E-40DD-AFC4-6F175D3DCCD1}">
                <a14:hiddenFill xmlns:a14="http://schemas.microsoft.com/office/drawing/2010/main">
                  <a:solidFill>
                    <a:srgbClr val="FFFFFF"/>
                  </a:solidFill>
                </a14:hiddenFill>
              </a:ext>
            </a:extLst>
          </p:spPr>
        </p:pic>
        <p:grpSp>
          <p:nvGrpSpPr>
            <p:cNvPr id="58" name="Group 57">
              <a:extLst>
                <a:ext uri="{FF2B5EF4-FFF2-40B4-BE49-F238E27FC236}">
                  <a16:creationId xmlns:a16="http://schemas.microsoft.com/office/drawing/2014/main" id="{DFBFA227-DBC0-F81B-D1BA-6135FCAF2082}"/>
                </a:ext>
              </a:extLst>
            </p:cNvPr>
            <p:cNvGrpSpPr/>
            <p:nvPr/>
          </p:nvGrpSpPr>
          <p:grpSpPr>
            <a:xfrm>
              <a:off x="7393099" y="6142919"/>
              <a:ext cx="763699" cy="1639372"/>
              <a:chOff x="7239000" y="2500582"/>
              <a:chExt cx="763699" cy="1639372"/>
            </a:xfrm>
            <a:solidFill>
              <a:schemeClr val="accent3">
                <a:lumMod val="50000"/>
              </a:schemeClr>
            </a:solidFill>
          </p:grpSpPr>
          <p:sp>
            <p:nvSpPr>
              <p:cNvPr id="59" name="Oval 58">
                <a:extLst>
                  <a:ext uri="{FF2B5EF4-FFF2-40B4-BE49-F238E27FC236}">
                    <a16:creationId xmlns:a16="http://schemas.microsoft.com/office/drawing/2014/main" id="{4B3FDEE4-AD59-0E52-8DAB-1734DCCA06CD}"/>
                  </a:ext>
                </a:extLst>
              </p:cNvPr>
              <p:cNvSpPr/>
              <p:nvPr/>
            </p:nvSpPr>
            <p:spPr>
              <a:xfrm>
                <a:off x="7239000" y="2500582"/>
                <a:ext cx="154099" cy="1540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60" name="Oval 59">
                <a:extLst>
                  <a:ext uri="{FF2B5EF4-FFF2-40B4-BE49-F238E27FC236}">
                    <a16:creationId xmlns:a16="http://schemas.microsoft.com/office/drawing/2014/main" id="{32FF181C-81BB-EAB8-6E24-99B3E21C1EF3}"/>
                  </a:ext>
                </a:extLst>
              </p:cNvPr>
              <p:cNvSpPr/>
              <p:nvPr/>
            </p:nvSpPr>
            <p:spPr>
              <a:xfrm>
                <a:off x="7543800" y="2873112"/>
                <a:ext cx="154099" cy="1540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61" name="Oval 60">
                <a:extLst>
                  <a:ext uri="{FF2B5EF4-FFF2-40B4-BE49-F238E27FC236}">
                    <a16:creationId xmlns:a16="http://schemas.microsoft.com/office/drawing/2014/main" id="{C6B04499-8B9B-16D2-115E-B3255B9C18B9}"/>
                  </a:ext>
                </a:extLst>
              </p:cNvPr>
              <p:cNvSpPr/>
              <p:nvPr/>
            </p:nvSpPr>
            <p:spPr>
              <a:xfrm>
                <a:off x="7848600" y="3258878"/>
                <a:ext cx="154099" cy="1540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62" name="Oval 61">
                <a:extLst>
                  <a:ext uri="{FF2B5EF4-FFF2-40B4-BE49-F238E27FC236}">
                    <a16:creationId xmlns:a16="http://schemas.microsoft.com/office/drawing/2014/main" id="{A129479D-0731-FBB9-9302-2394F9CFFF8C}"/>
                  </a:ext>
                </a:extLst>
              </p:cNvPr>
              <p:cNvSpPr/>
              <p:nvPr/>
            </p:nvSpPr>
            <p:spPr>
              <a:xfrm>
                <a:off x="7543799" y="3587993"/>
                <a:ext cx="154099" cy="1540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63" name="Oval 62">
                <a:extLst>
                  <a:ext uri="{FF2B5EF4-FFF2-40B4-BE49-F238E27FC236}">
                    <a16:creationId xmlns:a16="http://schemas.microsoft.com/office/drawing/2014/main" id="{524E3D98-CC6A-762B-C2FA-C6A95C4E101C}"/>
                  </a:ext>
                </a:extLst>
              </p:cNvPr>
              <p:cNvSpPr/>
              <p:nvPr/>
            </p:nvSpPr>
            <p:spPr>
              <a:xfrm>
                <a:off x="7242048" y="3985855"/>
                <a:ext cx="154099" cy="1540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1024" name="Group 1023">
              <a:extLst>
                <a:ext uri="{FF2B5EF4-FFF2-40B4-BE49-F238E27FC236}">
                  <a16:creationId xmlns:a16="http://schemas.microsoft.com/office/drawing/2014/main" id="{77D9C0D4-FE59-09DF-0A84-462FFBEF48C3}"/>
                </a:ext>
              </a:extLst>
            </p:cNvPr>
            <p:cNvGrpSpPr/>
            <p:nvPr/>
          </p:nvGrpSpPr>
          <p:grpSpPr>
            <a:xfrm>
              <a:off x="9622446" y="6472617"/>
              <a:ext cx="763699" cy="1006694"/>
              <a:chOff x="7239000" y="2856014"/>
              <a:chExt cx="763699" cy="1006694"/>
            </a:xfrm>
            <a:solidFill>
              <a:schemeClr val="accent3">
                <a:lumMod val="50000"/>
              </a:schemeClr>
            </a:solidFill>
          </p:grpSpPr>
          <p:sp>
            <p:nvSpPr>
              <p:cNvPr id="1025" name="Oval 1024">
                <a:extLst>
                  <a:ext uri="{FF2B5EF4-FFF2-40B4-BE49-F238E27FC236}">
                    <a16:creationId xmlns:a16="http://schemas.microsoft.com/office/drawing/2014/main" id="{4AB8BC72-65D6-26B7-1E12-3FD6EED51CD3}"/>
                  </a:ext>
                </a:extLst>
              </p:cNvPr>
              <p:cNvSpPr/>
              <p:nvPr/>
            </p:nvSpPr>
            <p:spPr>
              <a:xfrm>
                <a:off x="7239000" y="2856014"/>
                <a:ext cx="154099" cy="1540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p>
            </p:txBody>
          </p:sp>
          <p:sp>
            <p:nvSpPr>
              <p:cNvPr id="1027" name="Oval 1026">
                <a:extLst>
                  <a:ext uri="{FF2B5EF4-FFF2-40B4-BE49-F238E27FC236}">
                    <a16:creationId xmlns:a16="http://schemas.microsoft.com/office/drawing/2014/main" id="{34A33B74-CB89-397D-EC41-5C6A3723AEFA}"/>
                  </a:ext>
                </a:extLst>
              </p:cNvPr>
              <p:cNvSpPr/>
              <p:nvPr/>
            </p:nvSpPr>
            <p:spPr>
              <a:xfrm>
                <a:off x="7543800" y="3099596"/>
                <a:ext cx="154099" cy="1540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029" name="Oval 1028">
                <a:extLst>
                  <a:ext uri="{FF2B5EF4-FFF2-40B4-BE49-F238E27FC236}">
                    <a16:creationId xmlns:a16="http://schemas.microsoft.com/office/drawing/2014/main" id="{4C31990F-3157-1DAE-4A4B-1535D2F8EC57}"/>
                  </a:ext>
                </a:extLst>
              </p:cNvPr>
              <p:cNvSpPr/>
              <p:nvPr/>
            </p:nvSpPr>
            <p:spPr>
              <a:xfrm>
                <a:off x="7848600" y="3258878"/>
                <a:ext cx="154099" cy="1540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030" name="Oval 1029">
                <a:extLst>
                  <a:ext uri="{FF2B5EF4-FFF2-40B4-BE49-F238E27FC236}">
                    <a16:creationId xmlns:a16="http://schemas.microsoft.com/office/drawing/2014/main" id="{34101B48-63CC-E762-B103-91CF554505FE}"/>
                  </a:ext>
                </a:extLst>
              </p:cNvPr>
              <p:cNvSpPr/>
              <p:nvPr/>
            </p:nvSpPr>
            <p:spPr>
              <a:xfrm>
                <a:off x="7543799" y="3469841"/>
                <a:ext cx="154099" cy="1540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p>
            </p:txBody>
          </p:sp>
          <p:sp>
            <p:nvSpPr>
              <p:cNvPr id="1031" name="Oval 1030">
                <a:extLst>
                  <a:ext uri="{FF2B5EF4-FFF2-40B4-BE49-F238E27FC236}">
                    <a16:creationId xmlns:a16="http://schemas.microsoft.com/office/drawing/2014/main" id="{36214338-81F5-7C1F-1A41-D4E02489AECA}"/>
                  </a:ext>
                </a:extLst>
              </p:cNvPr>
              <p:cNvSpPr/>
              <p:nvPr/>
            </p:nvSpPr>
            <p:spPr>
              <a:xfrm>
                <a:off x="7242048" y="3708609"/>
                <a:ext cx="154099" cy="1540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sp>
        <p:nvSpPr>
          <p:cNvPr id="14" name="TextBox 13">
            <a:extLst>
              <a:ext uri="{FF2B5EF4-FFF2-40B4-BE49-F238E27FC236}">
                <a16:creationId xmlns:a16="http://schemas.microsoft.com/office/drawing/2014/main" id="{3B1CA012-08C2-9A4B-FF9E-B1D1AE6277E2}"/>
              </a:ext>
            </a:extLst>
          </p:cNvPr>
          <p:cNvSpPr txBox="1"/>
          <p:nvPr/>
        </p:nvSpPr>
        <p:spPr>
          <a:xfrm>
            <a:off x="1683428" y="3151261"/>
            <a:ext cx="2716586" cy="369332"/>
          </a:xfrm>
          <a:prstGeom prst="rect">
            <a:avLst/>
          </a:prstGeom>
        </p:spPr>
        <p:txBody>
          <a:bodyPr wrap="square" lIns="0" tIns="0" rIns="0" bIns="0" rtlCol="0" anchor="t">
            <a:spAutoFit/>
          </a:bodyPr>
          <a:lstStyle/>
          <a:p>
            <a:pPr algn="just"/>
            <a:r>
              <a:rPr lang="en-US" sz="2400" dirty="0">
                <a:solidFill>
                  <a:srgbClr val="000000"/>
                </a:solidFill>
                <a:latin typeface="Nunito 1" panose="020B0604020202020204" charset="0"/>
                <a:ea typeface="Nunito 1 Bold"/>
                <a:cs typeface="Nunito 1 Bold"/>
                <a:sym typeface="Nunito 1 Bold"/>
              </a:rPr>
              <a:t>Uniform flow</a:t>
            </a:r>
          </a:p>
        </p:txBody>
      </p:sp>
      <p:sp>
        <p:nvSpPr>
          <p:cNvPr id="15" name="TextBox 14">
            <a:extLst>
              <a:ext uri="{FF2B5EF4-FFF2-40B4-BE49-F238E27FC236}">
                <a16:creationId xmlns:a16="http://schemas.microsoft.com/office/drawing/2014/main" id="{80956B63-FC68-BF86-B315-DAE764BFDCEE}"/>
              </a:ext>
            </a:extLst>
          </p:cNvPr>
          <p:cNvSpPr txBox="1"/>
          <p:nvPr/>
        </p:nvSpPr>
        <p:spPr>
          <a:xfrm>
            <a:off x="12120166" y="2489647"/>
            <a:ext cx="4495292" cy="1231106"/>
          </a:xfrm>
          <a:prstGeom prst="rect">
            <a:avLst/>
          </a:prstGeom>
        </p:spPr>
        <p:txBody>
          <a:bodyPr wrap="square" lIns="0" tIns="0" rIns="0" bIns="0" rtlCol="0" anchor="t">
            <a:spAutoFit/>
          </a:bodyPr>
          <a:lstStyle/>
          <a:p>
            <a:pPr algn="just"/>
            <a:r>
              <a:rPr lang="en-US" sz="2000" dirty="0">
                <a:solidFill>
                  <a:srgbClr val="000000"/>
                </a:solidFill>
                <a:latin typeface="Nunito 1" panose="020B0604020202020204" charset="0"/>
                <a:ea typeface="Nunito 1 Bold"/>
                <a:cs typeface="Nunito 1 Bold"/>
                <a:sym typeface="Nunito 1 Bold"/>
              </a:rPr>
              <a:t>Flow velocity is the </a:t>
            </a:r>
            <a:r>
              <a:rPr lang="en-US" sz="2000" dirty="0">
                <a:solidFill>
                  <a:srgbClr val="000000"/>
                </a:solidFill>
                <a:latin typeface="Nunito 1 Bold" panose="020B0604020202020204" charset="0"/>
                <a:ea typeface="Nunito 1 Bold"/>
                <a:cs typeface="Nunito 1 Bold"/>
                <a:sym typeface="Nunito 1 Bold"/>
              </a:rPr>
              <a:t>same magnitude and direction</a:t>
            </a:r>
            <a:r>
              <a:rPr lang="en-US" sz="2000" dirty="0">
                <a:solidFill>
                  <a:srgbClr val="000000"/>
                </a:solidFill>
                <a:latin typeface="Nunito 1" panose="020B0604020202020204" charset="0"/>
                <a:ea typeface="Nunito 1 Bold"/>
                <a:cs typeface="Nunito 1 Bold"/>
                <a:sym typeface="Nunito 1 Bold"/>
              </a:rPr>
              <a:t> at </a:t>
            </a:r>
            <a:r>
              <a:rPr lang="en-US" sz="2000" b="1" dirty="0">
                <a:solidFill>
                  <a:srgbClr val="000000"/>
                </a:solidFill>
                <a:latin typeface="Nunito 1 Bold"/>
                <a:ea typeface="Nunito 1 Bold"/>
                <a:cs typeface="Nunito 1 Bold"/>
                <a:sym typeface="Nunito 1 Bold"/>
              </a:rPr>
              <a:t>all points</a:t>
            </a:r>
          </a:p>
          <a:p>
            <a:pPr algn="just"/>
            <a:endParaRPr lang="en-US" sz="2000" b="1" dirty="0">
              <a:solidFill>
                <a:srgbClr val="000000"/>
              </a:solidFill>
              <a:latin typeface="Nunito 1 Bold"/>
              <a:ea typeface="Nunito 1 Bold"/>
              <a:cs typeface="Nunito 1 Bold"/>
              <a:sym typeface="Nunito 1 Bold"/>
            </a:endParaRPr>
          </a:p>
          <a:p>
            <a:pPr algn="just"/>
            <a:r>
              <a:rPr lang="en-US" sz="2000" dirty="0">
                <a:solidFill>
                  <a:srgbClr val="000000"/>
                </a:solidFill>
                <a:latin typeface="Nunito 1" panose="020B0604020202020204" charset="0"/>
                <a:ea typeface="Nunito 1 Bold"/>
                <a:cs typeface="Nunito 1 Bold"/>
                <a:sym typeface="Nunito 1 Bold"/>
              </a:rPr>
              <a:t>Point A = Point B = Point C = …</a:t>
            </a:r>
          </a:p>
        </p:txBody>
      </p:sp>
      <p:sp>
        <p:nvSpPr>
          <p:cNvPr id="22" name="TextBox 21">
            <a:extLst>
              <a:ext uri="{FF2B5EF4-FFF2-40B4-BE49-F238E27FC236}">
                <a16:creationId xmlns:a16="http://schemas.microsoft.com/office/drawing/2014/main" id="{6C47E207-CCB9-6A5B-C872-F8054843A7AF}"/>
              </a:ext>
            </a:extLst>
          </p:cNvPr>
          <p:cNvSpPr txBox="1"/>
          <p:nvPr/>
        </p:nvSpPr>
        <p:spPr>
          <a:xfrm>
            <a:off x="1683428" y="6747578"/>
            <a:ext cx="2716586" cy="369332"/>
          </a:xfrm>
          <a:prstGeom prst="rect">
            <a:avLst/>
          </a:prstGeom>
        </p:spPr>
        <p:txBody>
          <a:bodyPr wrap="square" lIns="0" tIns="0" rIns="0" bIns="0" rtlCol="0" anchor="t">
            <a:spAutoFit/>
          </a:bodyPr>
          <a:lstStyle/>
          <a:p>
            <a:pPr algn="just"/>
            <a:r>
              <a:rPr lang="en-US" sz="2400" dirty="0">
                <a:solidFill>
                  <a:srgbClr val="000000"/>
                </a:solidFill>
                <a:latin typeface="Nunito 1" panose="020B0604020202020204" charset="0"/>
                <a:ea typeface="Nunito 1 Bold"/>
                <a:cs typeface="Nunito 1 Bold"/>
                <a:sym typeface="Nunito 1 Bold"/>
              </a:rPr>
              <a:t>Steady flow</a:t>
            </a:r>
          </a:p>
        </p:txBody>
      </p:sp>
      <p:sp>
        <p:nvSpPr>
          <p:cNvPr id="26" name="TextBox 25">
            <a:extLst>
              <a:ext uri="{FF2B5EF4-FFF2-40B4-BE49-F238E27FC236}">
                <a16:creationId xmlns:a16="http://schemas.microsoft.com/office/drawing/2014/main" id="{12480B1A-26A4-E926-015B-5E0081397AB3}"/>
              </a:ext>
            </a:extLst>
          </p:cNvPr>
          <p:cNvSpPr txBox="1"/>
          <p:nvPr/>
        </p:nvSpPr>
        <p:spPr>
          <a:xfrm>
            <a:off x="12120166" y="5685252"/>
            <a:ext cx="4948634" cy="2154436"/>
          </a:xfrm>
          <a:prstGeom prst="rect">
            <a:avLst/>
          </a:prstGeom>
        </p:spPr>
        <p:txBody>
          <a:bodyPr wrap="square" lIns="0" tIns="0" rIns="0" bIns="0" rtlCol="0" anchor="t">
            <a:spAutoFit/>
          </a:bodyPr>
          <a:lstStyle/>
          <a:p>
            <a:pPr algn="just"/>
            <a:r>
              <a:rPr lang="en-US" sz="2000" dirty="0">
                <a:solidFill>
                  <a:srgbClr val="000000"/>
                </a:solidFill>
                <a:latin typeface="Nunito 1" panose="020B0604020202020204" charset="0"/>
                <a:ea typeface="Nunito 1 Bold"/>
                <a:cs typeface="Nunito 1 Bold"/>
                <a:sym typeface="Nunito 1 Bold"/>
              </a:rPr>
              <a:t>This type of flow is one in which </a:t>
            </a:r>
            <a:r>
              <a:rPr lang="en-US" sz="2000" dirty="0">
                <a:solidFill>
                  <a:srgbClr val="000000"/>
                </a:solidFill>
                <a:latin typeface="Nunito 1 Bold" panose="020B0604020202020204" charset="0"/>
                <a:ea typeface="Nunito 1 Bold"/>
                <a:cs typeface="Nunito 1 Bold"/>
                <a:sym typeface="Nunito 1 Bold"/>
              </a:rPr>
              <a:t>all conditions </a:t>
            </a:r>
            <a:r>
              <a:rPr lang="en-US" sz="2000" dirty="0">
                <a:solidFill>
                  <a:srgbClr val="000000"/>
                </a:solidFill>
                <a:latin typeface="Nunito 1" panose="020B0604020202020204" charset="0"/>
                <a:ea typeface="Nunito 1 Bold"/>
                <a:cs typeface="Nunito 1 Bold"/>
                <a:sym typeface="Nunito 1 Bold"/>
              </a:rPr>
              <a:t>at </a:t>
            </a:r>
            <a:r>
              <a:rPr lang="en-US" sz="2000" dirty="0">
                <a:solidFill>
                  <a:srgbClr val="000000"/>
                </a:solidFill>
                <a:latin typeface="Nunito 1 Bold" panose="020B0604020202020204" charset="0"/>
                <a:ea typeface="Nunito 1 Bold"/>
                <a:cs typeface="Nunito 1 Bold"/>
                <a:sym typeface="Nunito 1 Bold"/>
              </a:rPr>
              <a:t>any point </a:t>
            </a:r>
            <a:r>
              <a:rPr lang="en-US" sz="2000" dirty="0">
                <a:solidFill>
                  <a:srgbClr val="000000"/>
                </a:solidFill>
                <a:latin typeface="Nunito 1" panose="020B0604020202020204" charset="0"/>
                <a:ea typeface="Nunito 1 Bold"/>
                <a:cs typeface="Nunito 1 Bold"/>
                <a:sym typeface="Nunito 1 Bold"/>
              </a:rPr>
              <a:t>in a stream remain </a:t>
            </a:r>
            <a:r>
              <a:rPr lang="en-US" sz="2000" dirty="0">
                <a:solidFill>
                  <a:srgbClr val="000000"/>
                </a:solidFill>
                <a:latin typeface="Nunito 1 Bold" panose="020B0604020202020204" charset="0"/>
                <a:ea typeface="Nunito 1 Bold"/>
                <a:cs typeface="Nunito 1 Bold"/>
                <a:sym typeface="Nunito 1 Bold"/>
              </a:rPr>
              <a:t>constant</a:t>
            </a:r>
            <a:r>
              <a:rPr lang="en-US" sz="2000" dirty="0">
                <a:solidFill>
                  <a:srgbClr val="000000"/>
                </a:solidFill>
                <a:latin typeface="Nunito 1" panose="020B0604020202020204" charset="0"/>
                <a:ea typeface="Nunito 1 Bold"/>
                <a:cs typeface="Nunito 1 Bold"/>
                <a:sym typeface="Nunito 1 Bold"/>
              </a:rPr>
              <a:t> with respect to </a:t>
            </a:r>
            <a:r>
              <a:rPr lang="en-US" sz="2000" dirty="0">
                <a:solidFill>
                  <a:srgbClr val="000000"/>
                </a:solidFill>
                <a:latin typeface="Nunito 1 Bold" panose="020B0604020202020204" charset="0"/>
                <a:ea typeface="Nunito 1 Bold"/>
                <a:cs typeface="Nunito 1 Bold"/>
                <a:sym typeface="Nunito 1 Bold"/>
              </a:rPr>
              <a:t>time</a:t>
            </a:r>
            <a:r>
              <a:rPr lang="en-US" sz="2000" dirty="0">
                <a:solidFill>
                  <a:srgbClr val="000000"/>
                </a:solidFill>
                <a:latin typeface="Nunito 1" panose="020B0604020202020204" charset="0"/>
                <a:ea typeface="Nunito 1 Bold"/>
                <a:cs typeface="Nunito 1 Bold"/>
                <a:sym typeface="Nunito 1 Bold"/>
              </a:rPr>
              <a:t>.</a:t>
            </a:r>
          </a:p>
          <a:p>
            <a:pPr algn="just"/>
            <a:endParaRPr lang="en-US" sz="2000" b="1" dirty="0">
              <a:solidFill>
                <a:srgbClr val="000000"/>
              </a:solidFill>
              <a:latin typeface="Nunito 1 Bold"/>
              <a:ea typeface="Nunito 1 Bold"/>
              <a:cs typeface="Nunito 1 Bold"/>
              <a:sym typeface="Nunito 1 Bold"/>
            </a:endParaRPr>
          </a:p>
          <a:p>
            <a:pPr algn="just"/>
            <a:r>
              <a:rPr lang="en-US" sz="2000" dirty="0">
                <a:solidFill>
                  <a:srgbClr val="000000"/>
                </a:solidFill>
                <a:latin typeface="Nunito 1" panose="020B0604020202020204" charset="0"/>
                <a:ea typeface="Nunito 1 Bold"/>
                <a:cs typeface="Nunito 1 Bold"/>
                <a:sym typeface="Nunito 1 Bold"/>
              </a:rPr>
              <a:t>Point A @ T1 = Point A @ T2 = …</a:t>
            </a:r>
          </a:p>
          <a:p>
            <a:pPr algn="just"/>
            <a:r>
              <a:rPr lang="en-US" sz="2000" dirty="0">
                <a:solidFill>
                  <a:srgbClr val="000000"/>
                </a:solidFill>
                <a:latin typeface="Nunito 1" panose="020B0604020202020204" charset="0"/>
                <a:ea typeface="Nunito 1 Bold"/>
                <a:cs typeface="Nunito 1 Bold"/>
                <a:sym typeface="Nunito 1 Bold"/>
              </a:rPr>
              <a:t>Point B @ T1 = Point B @ T2 = …</a:t>
            </a:r>
          </a:p>
          <a:p>
            <a:pPr algn="just"/>
            <a:endParaRPr lang="en-US" sz="2000" b="1" dirty="0">
              <a:solidFill>
                <a:srgbClr val="000000"/>
              </a:solidFill>
              <a:latin typeface="Nunito 1" panose="020B0604020202020204" charset="0"/>
              <a:ea typeface="Nunito 1 Bold"/>
              <a:cs typeface="Nunito 1 Bold"/>
              <a:sym typeface="Nunito 1 Bold"/>
            </a:endParaRPr>
          </a:p>
        </p:txBody>
      </p:sp>
    </p:spTree>
    <p:extLst>
      <p:ext uri="{BB962C8B-B14F-4D97-AF65-F5344CB8AC3E}">
        <p14:creationId xmlns:p14="http://schemas.microsoft.com/office/powerpoint/2010/main" val="5013127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27E23-D7B5-14E6-A1EA-2FE4EB6C8CD7}"/>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79224FBB-552E-048B-23CE-6B7B599A9BBF}"/>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ADBD7730-FBFE-BF3C-A1F4-77D28C7DE11C}"/>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0BF2E8AE-C02F-C9B0-94E0-7FC562C2AC5A}"/>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2" name="Group 2">
            <a:extLst>
              <a:ext uri="{FF2B5EF4-FFF2-40B4-BE49-F238E27FC236}">
                <a16:creationId xmlns:a16="http://schemas.microsoft.com/office/drawing/2014/main" id="{AA7F86DC-F568-E0D2-F311-F6744A5C8413}"/>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2E035CBE-6FF3-7666-C902-07F9EC5C3E96}"/>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F1B4E9E4-A868-9DC6-B89B-89B1EACB99F7}"/>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8" name="Group 8">
            <a:extLst>
              <a:ext uri="{FF2B5EF4-FFF2-40B4-BE49-F238E27FC236}">
                <a16:creationId xmlns:a16="http://schemas.microsoft.com/office/drawing/2014/main" id="{E3A19F00-513D-1B0C-EC40-6F231C72C5E7}"/>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4E2B2847-A9DA-F609-525A-F9DEC57A1DF2}"/>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99431853-DF33-A1EF-F284-AACF4734FB12}"/>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3AE0BF5F-E7D0-5731-FA01-5112EB385989}"/>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DEE40A9B-67E8-B07F-6B00-9CA2269859FE}"/>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1682E715-C162-9526-F94E-E26BBB821949}"/>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2">
            <a:extLst>
              <a:ext uri="{FF2B5EF4-FFF2-40B4-BE49-F238E27FC236}">
                <a16:creationId xmlns:a16="http://schemas.microsoft.com/office/drawing/2014/main" id="{6728CC45-7CD9-A7B4-07F9-058B8994869C}"/>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35905DF8-1C23-6B3A-7AB3-4289C5AB8AE3}"/>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nvGrpSpPr>
          <p:cNvPr id="23" name="Group 5">
            <a:extLst>
              <a:ext uri="{FF2B5EF4-FFF2-40B4-BE49-F238E27FC236}">
                <a16:creationId xmlns:a16="http://schemas.microsoft.com/office/drawing/2014/main" id="{8A56C148-03AB-12E2-30E7-5BC6069C4758}"/>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FB92579E-9980-A6C1-1677-980DDF2F152F}"/>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27D010F3-DC71-E30A-5019-4AE10CF515F7}"/>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ADC81A0E-3616-8E7E-48AC-063C73249171}"/>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https://learn.lboro.ac.uk/pluginfile.php/504741/mod_resource/content/1/Fluid_Mechanics_3.pdf</a:t>
            </a:r>
          </a:p>
        </p:txBody>
      </p:sp>
      <p:sp>
        <p:nvSpPr>
          <p:cNvPr id="18" name="Rectangle 17">
            <a:extLst>
              <a:ext uri="{FF2B5EF4-FFF2-40B4-BE49-F238E27FC236}">
                <a16:creationId xmlns:a16="http://schemas.microsoft.com/office/drawing/2014/main" id="{10ABB596-F2B2-B590-6105-E91AE15F3BF2}"/>
              </a:ext>
            </a:extLst>
          </p:cNvPr>
          <p:cNvSpPr/>
          <p:nvPr/>
        </p:nvSpPr>
        <p:spPr>
          <a:xfrm>
            <a:off x="2438400" y="2693671"/>
            <a:ext cx="2514600" cy="914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H" dirty="0">
                <a:solidFill>
                  <a:schemeClr val="tx1"/>
                </a:solidFill>
                <a:latin typeface="Nunito 1" panose="020B0604020202020204" charset="0"/>
              </a:rPr>
              <a:t>Uniform flow</a:t>
            </a:r>
          </a:p>
        </p:txBody>
      </p:sp>
      <p:sp>
        <p:nvSpPr>
          <p:cNvPr id="31" name="Rectangle 30">
            <a:extLst>
              <a:ext uri="{FF2B5EF4-FFF2-40B4-BE49-F238E27FC236}">
                <a16:creationId xmlns:a16="http://schemas.microsoft.com/office/drawing/2014/main" id="{07030E59-84FF-4FF1-5842-F2105217E91A}"/>
              </a:ext>
            </a:extLst>
          </p:cNvPr>
          <p:cNvSpPr/>
          <p:nvPr/>
        </p:nvSpPr>
        <p:spPr>
          <a:xfrm>
            <a:off x="4952232" y="4899585"/>
            <a:ext cx="10668000" cy="914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Nunito 1" panose="020B0604020202020204" charset="0"/>
              </a:rPr>
              <a:t>The conditions (velocity, pressure and cross-section) may differ from point to point but do not change with time.</a:t>
            </a:r>
            <a:endParaRPr lang="en-PH" dirty="0">
              <a:solidFill>
                <a:schemeClr val="tx1"/>
              </a:solidFill>
              <a:latin typeface="Nunito 1" panose="020B0604020202020204" charset="0"/>
            </a:endParaRPr>
          </a:p>
        </p:txBody>
      </p:sp>
      <p:sp>
        <p:nvSpPr>
          <p:cNvPr id="30" name="Rectangle 29">
            <a:extLst>
              <a:ext uri="{FF2B5EF4-FFF2-40B4-BE49-F238E27FC236}">
                <a16:creationId xmlns:a16="http://schemas.microsoft.com/office/drawing/2014/main" id="{1CA15BBF-069C-90A0-4F35-C70931542270}"/>
              </a:ext>
            </a:extLst>
          </p:cNvPr>
          <p:cNvSpPr/>
          <p:nvPr/>
        </p:nvSpPr>
        <p:spPr>
          <a:xfrm>
            <a:off x="4945480" y="3785332"/>
            <a:ext cx="10668000" cy="914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Nunito 1" panose="020B0604020202020204" charset="0"/>
              </a:rPr>
              <a:t>The velocity is not the same at every point.</a:t>
            </a:r>
            <a:endParaRPr lang="en-PH" dirty="0">
              <a:solidFill>
                <a:schemeClr val="tx1"/>
              </a:solidFill>
              <a:latin typeface="Nunito 1" panose="020B0604020202020204" charset="0"/>
            </a:endParaRPr>
          </a:p>
        </p:txBody>
      </p:sp>
      <p:sp>
        <p:nvSpPr>
          <p:cNvPr id="22" name="Rectangle 21">
            <a:extLst>
              <a:ext uri="{FF2B5EF4-FFF2-40B4-BE49-F238E27FC236}">
                <a16:creationId xmlns:a16="http://schemas.microsoft.com/office/drawing/2014/main" id="{DE25F4C7-DDCF-5AD7-9FBE-040D919F107E}"/>
              </a:ext>
            </a:extLst>
          </p:cNvPr>
          <p:cNvSpPr/>
          <p:nvPr/>
        </p:nvSpPr>
        <p:spPr>
          <a:xfrm>
            <a:off x="2430880" y="3788733"/>
            <a:ext cx="2514600" cy="914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H" dirty="0">
                <a:solidFill>
                  <a:schemeClr val="tx1"/>
                </a:solidFill>
                <a:latin typeface="Nunito 1" panose="020B0604020202020204" charset="0"/>
              </a:rPr>
              <a:t>Non-uniform flow</a:t>
            </a:r>
          </a:p>
        </p:txBody>
      </p:sp>
      <p:sp>
        <p:nvSpPr>
          <p:cNvPr id="27" name="Rectangle 26">
            <a:extLst>
              <a:ext uri="{FF2B5EF4-FFF2-40B4-BE49-F238E27FC236}">
                <a16:creationId xmlns:a16="http://schemas.microsoft.com/office/drawing/2014/main" id="{38F4CC1A-830F-EF6E-7443-4687C58E84EB}"/>
              </a:ext>
            </a:extLst>
          </p:cNvPr>
          <p:cNvSpPr/>
          <p:nvPr/>
        </p:nvSpPr>
        <p:spPr>
          <a:xfrm>
            <a:off x="2437632" y="4902480"/>
            <a:ext cx="2514600" cy="914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H" dirty="0">
                <a:solidFill>
                  <a:schemeClr val="tx1"/>
                </a:solidFill>
                <a:latin typeface="Nunito 1" panose="020B0604020202020204" charset="0"/>
              </a:rPr>
              <a:t>Steady flow</a:t>
            </a:r>
          </a:p>
        </p:txBody>
      </p:sp>
      <p:sp>
        <p:nvSpPr>
          <p:cNvPr id="28" name="Rectangle 27">
            <a:extLst>
              <a:ext uri="{FF2B5EF4-FFF2-40B4-BE49-F238E27FC236}">
                <a16:creationId xmlns:a16="http://schemas.microsoft.com/office/drawing/2014/main" id="{43CABB65-178D-91EE-6989-1BD1C7ECEEE7}"/>
              </a:ext>
            </a:extLst>
          </p:cNvPr>
          <p:cNvSpPr/>
          <p:nvPr/>
        </p:nvSpPr>
        <p:spPr>
          <a:xfrm>
            <a:off x="2438400" y="5980925"/>
            <a:ext cx="2514600" cy="914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H" dirty="0">
                <a:solidFill>
                  <a:schemeClr val="tx1"/>
                </a:solidFill>
                <a:latin typeface="Nunito 1" panose="020B0604020202020204" charset="0"/>
              </a:rPr>
              <a:t>Unsteady flow</a:t>
            </a:r>
          </a:p>
        </p:txBody>
      </p:sp>
      <p:sp>
        <p:nvSpPr>
          <p:cNvPr id="29" name="Rectangle 28">
            <a:extLst>
              <a:ext uri="{FF2B5EF4-FFF2-40B4-BE49-F238E27FC236}">
                <a16:creationId xmlns:a16="http://schemas.microsoft.com/office/drawing/2014/main" id="{B0EFB11E-CFEB-9691-AB6D-369613E2C92C}"/>
              </a:ext>
            </a:extLst>
          </p:cNvPr>
          <p:cNvSpPr/>
          <p:nvPr/>
        </p:nvSpPr>
        <p:spPr>
          <a:xfrm>
            <a:off x="4953000" y="2698682"/>
            <a:ext cx="10668000" cy="914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Nunito 1" panose="020B0604020202020204" charset="0"/>
              </a:rPr>
              <a:t>The flow velocity is the same magnitude and direction at every point in the fluid.</a:t>
            </a:r>
            <a:endParaRPr lang="en-PH" dirty="0">
              <a:solidFill>
                <a:schemeClr val="tx1"/>
              </a:solidFill>
              <a:latin typeface="Nunito 1" panose="020B0604020202020204" charset="0"/>
            </a:endParaRPr>
          </a:p>
        </p:txBody>
      </p:sp>
      <p:sp>
        <p:nvSpPr>
          <p:cNvPr id="32" name="Rectangle 31">
            <a:extLst>
              <a:ext uri="{FF2B5EF4-FFF2-40B4-BE49-F238E27FC236}">
                <a16:creationId xmlns:a16="http://schemas.microsoft.com/office/drawing/2014/main" id="{672D78B3-F8C4-6FA3-0313-24A2CA77DAC9}"/>
              </a:ext>
            </a:extLst>
          </p:cNvPr>
          <p:cNvSpPr/>
          <p:nvPr/>
        </p:nvSpPr>
        <p:spPr>
          <a:xfrm>
            <a:off x="4952232" y="5980925"/>
            <a:ext cx="10668000" cy="914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Nunito 1" panose="020B0604020202020204" charset="0"/>
              </a:rPr>
              <a:t>The conditions change with time.</a:t>
            </a:r>
            <a:endParaRPr lang="en-PH" dirty="0">
              <a:solidFill>
                <a:schemeClr val="tx1"/>
              </a:solidFill>
              <a:latin typeface="Nunito 1" panose="020B0604020202020204" charset="0"/>
            </a:endParaRPr>
          </a:p>
        </p:txBody>
      </p:sp>
      <p:sp>
        <p:nvSpPr>
          <p:cNvPr id="14" name="Rectangle 13">
            <a:extLst>
              <a:ext uri="{FF2B5EF4-FFF2-40B4-BE49-F238E27FC236}">
                <a16:creationId xmlns:a16="http://schemas.microsoft.com/office/drawing/2014/main" id="{0C411674-9AAB-1CCB-FF8A-D4234F31401A}"/>
              </a:ext>
            </a:extLst>
          </p:cNvPr>
          <p:cNvSpPr/>
          <p:nvPr/>
        </p:nvSpPr>
        <p:spPr>
          <a:xfrm>
            <a:off x="2437632" y="2693402"/>
            <a:ext cx="2514600" cy="914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H" dirty="0">
                <a:solidFill>
                  <a:schemeClr val="tx1"/>
                </a:solidFill>
                <a:latin typeface="Nunito 1" panose="020B0604020202020204" charset="0"/>
              </a:rPr>
              <a:t>Uniform flow</a:t>
            </a:r>
          </a:p>
        </p:txBody>
      </p:sp>
      <p:sp>
        <p:nvSpPr>
          <p:cNvPr id="15" name="Rectangle 14">
            <a:extLst>
              <a:ext uri="{FF2B5EF4-FFF2-40B4-BE49-F238E27FC236}">
                <a16:creationId xmlns:a16="http://schemas.microsoft.com/office/drawing/2014/main" id="{02D8704B-4EBA-AAAB-03CB-274AFBAF4656}"/>
              </a:ext>
            </a:extLst>
          </p:cNvPr>
          <p:cNvSpPr/>
          <p:nvPr/>
        </p:nvSpPr>
        <p:spPr>
          <a:xfrm>
            <a:off x="2430880" y="3785332"/>
            <a:ext cx="2514600" cy="914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H" dirty="0">
                <a:solidFill>
                  <a:schemeClr val="tx1"/>
                </a:solidFill>
                <a:latin typeface="Nunito 1" panose="020B0604020202020204" charset="0"/>
              </a:rPr>
              <a:t>Non-uniform flow</a:t>
            </a:r>
          </a:p>
        </p:txBody>
      </p:sp>
      <p:sp>
        <p:nvSpPr>
          <p:cNvPr id="21" name="Rectangle 20">
            <a:extLst>
              <a:ext uri="{FF2B5EF4-FFF2-40B4-BE49-F238E27FC236}">
                <a16:creationId xmlns:a16="http://schemas.microsoft.com/office/drawing/2014/main" id="{07F02B0A-1B06-66F4-C0BB-F446CB9A34A5}"/>
              </a:ext>
            </a:extLst>
          </p:cNvPr>
          <p:cNvSpPr/>
          <p:nvPr/>
        </p:nvSpPr>
        <p:spPr>
          <a:xfrm>
            <a:off x="2437632" y="5981078"/>
            <a:ext cx="2514600" cy="914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H" dirty="0">
                <a:solidFill>
                  <a:schemeClr val="tx1"/>
                </a:solidFill>
                <a:latin typeface="Nunito 1" panose="020B0604020202020204" charset="0"/>
              </a:rPr>
              <a:t>Unsteady flow</a:t>
            </a:r>
          </a:p>
        </p:txBody>
      </p:sp>
      <p:sp>
        <p:nvSpPr>
          <p:cNvPr id="33" name="TextBox 32">
            <a:extLst>
              <a:ext uri="{FF2B5EF4-FFF2-40B4-BE49-F238E27FC236}">
                <a16:creationId xmlns:a16="http://schemas.microsoft.com/office/drawing/2014/main" id="{63FEBF3D-5AB6-A3B8-1F82-D76B971196B8}"/>
              </a:ext>
            </a:extLst>
          </p:cNvPr>
          <p:cNvSpPr txBox="1"/>
          <p:nvPr/>
        </p:nvSpPr>
        <p:spPr>
          <a:xfrm>
            <a:off x="1676400" y="7278181"/>
            <a:ext cx="14935200" cy="738664"/>
          </a:xfrm>
          <a:prstGeom prst="rect">
            <a:avLst/>
          </a:prstGeom>
        </p:spPr>
        <p:txBody>
          <a:bodyPr wrap="square" lIns="0" tIns="0" rIns="0" bIns="0" rtlCol="0" anchor="t">
            <a:spAutoFit/>
          </a:bodyPr>
          <a:lstStyle/>
          <a:p>
            <a:pPr algn="ctr"/>
            <a:r>
              <a:rPr lang="en-US" sz="2400" dirty="0">
                <a:solidFill>
                  <a:srgbClr val="000000"/>
                </a:solidFill>
                <a:latin typeface="Nunito 1" panose="020B0604020202020204" charset="0"/>
                <a:ea typeface="Nunito 1 Bold"/>
                <a:cs typeface="Nunito 1 Bold"/>
                <a:sym typeface="Nunito 1 Bold"/>
              </a:rPr>
              <a:t>In practice there is always slight variations in velocity and pressure, but if the average values are constant, the flow is considered steady.</a:t>
            </a:r>
          </a:p>
        </p:txBody>
      </p:sp>
      <p:sp>
        <p:nvSpPr>
          <p:cNvPr id="34" name="Rectangle 33">
            <a:extLst>
              <a:ext uri="{FF2B5EF4-FFF2-40B4-BE49-F238E27FC236}">
                <a16:creationId xmlns:a16="http://schemas.microsoft.com/office/drawing/2014/main" id="{3BF0F1E1-4386-EBE8-6EDB-3615398116D7}"/>
              </a:ext>
            </a:extLst>
          </p:cNvPr>
          <p:cNvSpPr/>
          <p:nvPr/>
        </p:nvSpPr>
        <p:spPr>
          <a:xfrm>
            <a:off x="2437632" y="4899079"/>
            <a:ext cx="2514600" cy="914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H" dirty="0">
                <a:solidFill>
                  <a:schemeClr val="tx1"/>
                </a:solidFill>
                <a:latin typeface="Nunito 1" panose="020B0604020202020204" charset="0"/>
              </a:rPr>
              <a:t>Steady flow</a:t>
            </a:r>
          </a:p>
        </p:txBody>
      </p:sp>
      <p:grpSp>
        <p:nvGrpSpPr>
          <p:cNvPr id="16" name="Group 15">
            <a:extLst>
              <a:ext uri="{FF2B5EF4-FFF2-40B4-BE49-F238E27FC236}">
                <a16:creationId xmlns:a16="http://schemas.microsoft.com/office/drawing/2014/main" id="{0EC64FE1-7976-F1F5-8FA8-CCC05F289C69}"/>
              </a:ext>
            </a:extLst>
          </p:cNvPr>
          <p:cNvGrpSpPr/>
          <p:nvPr/>
        </p:nvGrpSpPr>
        <p:grpSpPr>
          <a:xfrm>
            <a:off x="0" y="9599693"/>
            <a:ext cx="18287999" cy="687306"/>
            <a:chOff x="0" y="9599693"/>
            <a:chExt cx="18287999" cy="687306"/>
          </a:xfrm>
        </p:grpSpPr>
        <p:grpSp>
          <p:nvGrpSpPr>
            <p:cNvPr id="17" name="Group 11">
              <a:extLst>
                <a:ext uri="{FF2B5EF4-FFF2-40B4-BE49-F238E27FC236}">
                  <a16:creationId xmlns:a16="http://schemas.microsoft.com/office/drawing/2014/main" id="{9E7B8481-2255-B1E6-F670-45D9B71FC080}"/>
                </a:ext>
              </a:extLst>
            </p:cNvPr>
            <p:cNvGrpSpPr/>
            <p:nvPr/>
          </p:nvGrpSpPr>
          <p:grpSpPr>
            <a:xfrm>
              <a:off x="0" y="9599694"/>
              <a:ext cx="18287999" cy="687305"/>
              <a:chOff x="0" y="0"/>
              <a:chExt cx="5260714" cy="490218"/>
            </a:xfrm>
          </p:grpSpPr>
          <p:sp>
            <p:nvSpPr>
              <p:cNvPr id="37" name="Freeform 12">
                <a:extLst>
                  <a:ext uri="{FF2B5EF4-FFF2-40B4-BE49-F238E27FC236}">
                    <a16:creationId xmlns:a16="http://schemas.microsoft.com/office/drawing/2014/main" id="{51DDBB9E-7065-D57F-A840-E02658D6EE1B}"/>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38" name="TextBox 13">
                <a:extLst>
                  <a:ext uri="{FF2B5EF4-FFF2-40B4-BE49-F238E27FC236}">
                    <a16:creationId xmlns:a16="http://schemas.microsoft.com/office/drawing/2014/main" id="{566049BC-07E1-0CC6-85EE-DF8162B359E6}"/>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35" name="TextBox 12">
              <a:extLst>
                <a:ext uri="{FF2B5EF4-FFF2-40B4-BE49-F238E27FC236}">
                  <a16:creationId xmlns:a16="http://schemas.microsoft.com/office/drawing/2014/main" id="{D4A696A7-ABA2-68CD-0E67-E74C750AD3ED}"/>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36" name="TextBox 13">
              <a:extLst>
                <a:ext uri="{FF2B5EF4-FFF2-40B4-BE49-F238E27FC236}">
                  <a16:creationId xmlns:a16="http://schemas.microsoft.com/office/drawing/2014/main" id="{1885023B-88E9-5A74-7825-FE14035A994E}"/>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spTree>
    <p:extLst>
      <p:ext uri="{BB962C8B-B14F-4D97-AF65-F5344CB8AC3E}">
        <p14:creationId xmlns:p14="http://schemas.microsoft.com/office/powerpoint/2010/main" val="5088863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2CE12-C2FC-FE8D-EF56-E3765815EE61}"/>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C7B0F098-C67E-3AF9-422F-708E91B3C654}"/>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DED0FAF5-0DC9-6AC0-AEAC-7A24D6A5F232}"/>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E3EB1E02-BA0A-02EA-1EC9-86E856A0C93F}"/>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2" name="Group 2">
            <a:extLst>
              <a:ext uri="{FF2B5EF4-FFF2-40B4-BE49-F238E27FC236}">
                <a16:creationId xmlns:a16="http://schemas.microsoft.com/office/drawing/2014/main" id="{A816672F-5583-393B-E262-EE378AC3DFF9}"/>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9918100D-D483-B010-DBA3-D59181828B45}"/>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B5D6A80F-FBBB-03B6-0220-9A86DD4F76E6}"/>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8" name="Group 8">
            <a:extLst>
              <a:ext uri="{FF2B5EF4-FFF2-40B4-BE49-F238E27FC236}">
                <a16:creationId xmlns:a16="http://schemas.microsoft.com/office/drawing/2014/main" id="{9A38A725-EF71-0601-AB97-03EA44D7FB7D}"/>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3CE667DD-B982-989B-73BB-92FB65B6460B}"/>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47E0F638-8C63-1F4B-B62E-A7E9A6544D26}"/>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CD80DDF5-94F0-183E-0CFE-D47DDB3B2332}"/>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1A147AC2-EA06-CD90-FB4C-52A483271CB6}"/>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744CD9B3-9FB2-4B3D-1AD5-6C1A2CF6172D}"/>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2">
            <a:extLst>
              <a:ext uri="{FF2B5EF4-FFF2-40B4-BE49-F238E27FC236}">
                <a16:creationId xmlns:a16="http://schemas.microsoft.com/office/drawing/2014/main" id="{D77AEDDB-080B-6334-8257-DD37FAD5ABC7}"/>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9D935751-772C-10B4-2047-4183E144B242}"/>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nvGrpSpPr>
          <p:cNvPr id="23" name="Group 5">
            <a:extLst>
              <a:ext uri="{FF2B5EF4-FFF2-40B4-BE49-F238E27FC236}">
                <a16:creationId xmlns:a16="http://schemas.microsoft.com/office/drawing/2014/main" id="{C1CDAC61-3C64-9A8C-9745-A13F60C0D9DE}"/>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7D284C8D-8BD7-D8AC-D1B8-3AAF5D79D365}"/>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61B06BAA-E6B8-FA4F-3C8D-92695BAC0746}"/>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F93656C8-9437-63F3-863A-2258FCBEE005}"/>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https://learn.lboro.ac.uk/pluginfile.php/504741/mod_resource/content/1/Fluid_Mechanics_3.pdf</a:t>
            </a:r>
          </a:p>
        </p:txBody>
      </p:sp>
      <p:sp>
        <p:nvSpPr>
          <p:cNvPr id="18" name="Rectangle 17">
            <a:extLst>
              <a:ext uri="{FF2B5EF4-FFF2-40B4-BE49-F238E27FC236}">
                <a16:creationId xmlns:a16="http://schemas.microsoft.com/office/drawing/2014/main" id="{9455065C-4CB0-6BC3-BCA3-0976190DF848}"/>
              </a:ext>
            </a:extLst>
          </p:cNvPr>
          <p:cNvSpPr/>
          <p:nvPr/>
        </p:nvSpPr>
        <p:spPr>
          <a:xfrm>
            <a:off x="4952232" y="2693671"/>
            <a:ext cx="2514600" cy="914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H" dirty="0">
                <a:solidFill>
                  <a:schemeClr val="tx1"/>
                </a:solidFill>
                <a:latin typeface="Nunito 1" panose="020B0604020202020204" charset="0"/>
              </a:rPr>
              <a:t>Uniform flow</a:t>
            </a:r>
          </a:p>
        </p:txBody>
      </p:sp>
      <p:sp>
        <p:nvSpPr>
          <p:cNvPr id="31" name="Rectangle 30">
            <a:extLst>
              <a:ext uri="{FF2B5EF4-FFF2-40B4-BE49-F238E27FC236}">
                <a16:creationId xmlns:a16="http://schemas.microsoft.com/office/drawing/2014/main" id="{49D66F39-E38F-0429-861D-D5DF1E8E81DB}"/>
              </a:ext>
            </a:extLst>
          </p:cNvPr>
          <p:cNvSpPr/>
          <p:nvPr/>
        </p:nvSpPr>
        <p:spPr>
          <a:xfrm>
            <a:off x="4952232" y="4899585"/>
            <a:ext cx="10668000" cy="914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Nunito 1" panose="020B0604020202020204" charset="0"/>
              </a:rPr>
              <a:t>The conditions (velocity, pressure and cross-section) may differ from point to point but do not change with time.</a:t>
            </a:r>
            <a:endParaRPr lang="en-PH" dirty="0">
              <a:solidFill>
                <a:schemeClr val="tx1"/>
              </a:solidFill>
              <a:latin typeface="Nunito 1" panose="020B0604020202020204" charset="0"/>
            </a:endParaRPr>
          </a:p>
        </p:txBody>
      </p:sp>
      <p:sp>
        <p:nvSpPr>
          <p:cNvPr id="30" name="Rectangle 29">
            <a:extLst>
              <a:ext uri="{FF2B5EF4-FFF2-40B4-BE49-F238E27FC236}">
                <a16:creationId xmlns:a16="http://schemas.microsoft.com/office/drawing/2014/main" id="{63878FC2-EB36-38AA-12F1-877A7319A720}"/>
              </a:ext>
            </a:extLst>
          </p:cNvPr>
          <p:cNvSpPr/>
          <p:nvPr/>
        </p:nvSpPr>
        <p:spPr>
          <a:xfrm>
            <a:off x="4945480" y="3785332"/>
            <a:ext cx="10668000" cy="914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Nunito 1" panose="020B0604020202020204" charset="0"/>
              </a:rPr>
              <a:t>The velocity is not the same at every point.</a:t>
            </a:r>
            <a:endParaRPr lang="en-PH" dirty="0">
              <a:solidFill>
                <a:schemeClr val="tx1"/>
              </a:solidFill>
              <a:latin typeface="Nunito 1" panose="020B0604020202020204" charset="0"/>
            </a:endParaRPr>
          </a:p>
        </p:txBody>
      </p:sp>
      <p:sp>
        <p:nvSpPr>
          <p:cNvPr id="22" name="Rectangle 21">
            <a:extLst>
              <a:ext uri="{FF2B5EF4-FFF2-40B4-BE49-F238E27FC236}">
                <a16:creationId xmlns:a16="http://schemas.microsoft.com/office/drawing/2014/main" id="{F736ED1F-9E16-75A2-0268-6667E2F82C90}"/>
              </a:ext>
            </a:extLst>
          </p:cNvPr>
          <p:cNvSpPr/>
          <p:nvPr/>
        </p:nvSpPr>
        <p:spPr>
          <a:xfrm>
            <a:off x="4955658" y="3788733"/>
            <a:ext cx="2514600" cy="914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H" dirty="0">
                <a:solidFill>
                  <a:schemeClr val="tx1"/>
                </a:solidFill>
                <a:latin typeface="Nunito 1" panose="020B0604020202020204" charset="0"/>
              </a:rPr>
              <a:t>Non-uniform flow</a:t>
            </a:r>
          </a:p>
        </p:txBody>
      </p:sp>
      <p:sp>
        <p:nvSpPr>
          <p:cNvPr id="27" name="Rectangle 26">
            <a:extLst>
              <a:ext uri="{FF2B5EF4-FFF2-40B4-BE49-F238E27FC236}">
                <a16:creationId xmlns:a16="http://schemas.microsoft.com/office/drawing/2014/main" id="{2199C278-231E-3786-2D45-2928D84C45E4}"/>
              </a:ext>
            </a:extLst>
          </p:cNvPr>
          <p:cNvSpPr/>
          <p:nvPr/>
        </p:nvSpPr>
        <p:spPr>
          <a:xfrm>
            <a:off x="2437632" y="2698176"/>
            <a:ext cx="2514600" cy="914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H" dirty="0">
                <a:solidFill>
                  <a:schemeClr val="tx1"/>
                </a:solidFill>
                <a:latin typeface="Nunito 1" panose="020B0604020202020204" charset="0"/>
              </a:rPr>
              <a:t>Steady flow</a:t>
            </a:r>
          </a:p>
        </p:txBody>
      </p:sp>
      <p:sp>
        <p:nvSpPr>
          <p:cNvPr id="28" name="Rectangle 27">
            <a:extLst>
              <a:ext uri="{FF2B5EF4-FFF2-40B4-BE49-F238E27FC236}">
                <a16:creationId xmlns:a16="http://schemas.microsoft.com/office/drawing/2014/main" id="{E7713E4B-7A01-D9B4-559A-2F9A0081D60C}"/>
              </a:ext>
            </a:extLst>
          </p:cNvPr>
          <p:cNvSpPr/>
          <p:nvPr/>
        </p:nvSpPr>
        <p:spPr>
          <a:xfrm>
            <a:off x="2438400" y="5980925"/>
            <a:ext cx="2514600" cy="914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H" dirty="0">
                <a:solidFill>
                  <a:schemeClr val="tx1"/>
                </a:solidFill>
                <a:latin typeface="Nunito 1" panose="020B0604020202020204" charset="0"/>
              </a:rPr>
              <a:t>Unsteady flow</a:t>
            </a:r>
          </a:p>
        </p:txBody>
      </p:sp>
      <p:sp>
        <p:nvSpPr>
          <p:cNvPr id="29" name="Rectangle 28">
            <a:extLst>
              <a:ext uri="{FF2B5EF4-FFF2-40B4-BE49-F238E27FC236}">
                <a16:creationId xmlns:a16="http://schemas.microsoft.com/office/drawing/2014/main" id="{E0D0AE00-2C71-92C8-3F2B-A4F491CCC6EE}"/>
              </a:ext>
            </a:extLst>
          </p:cNvPr>
          <p:cNvSpPr/>
          <p:nvPr/>
        </p:nvSpPr>
        <p:spPr>
          <a:xfrm>
            <a:off x="4953000" y="2698682"/>
            <a:ext cx="10668000" cy="914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Nunito 1" panose="020B0604020202020204" charset="0"/>
              </a:rPr>
              <a:t>The flow velocity is the same magnitude and direction at every point in the fluid.</a:t>
            </a:r>
            <a:endParaRPr lang="en-PH" dirty="0">
              <a:solidFill>
                <a:schemeClr val="tx1"/>
              </a:solidFill>
              <a:latin typeface="Nunito 1" panose="020B0604020202020204" charset="0"/>
            </a:endParaRPr>
          </a:p>
        </p:txBody>
      </p:sp>
      <p:sp>
        <p:nvSpPr>
          <p:cNvPr id="32" name="Rectangle 31">
            <a:extLst>
              <a:ext uri="{FF2B5EF4-FFF2-40B4-BE49-F238E27FC236}">
                <a16:creationId xmlns:a16="http://schemas.microsoft.com/office/drawing/2014/main" id="{A6FDF4FE-01EE-3AC3-57BF-33320DE64746}"/>
              </a:ext>
            </a:extLst>
          </p:cNvPr>
          <p:cNvSpPr/>
          <p:nvPr/>
        </p:nvSpPr>
        <p:spPr>
          <a:xfrm>
            <a:off x="4952232" y="5980925"/>
            <a:ext cx="10668000" cy="914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Nunito 1" panose="020B0604020202020204" charset="0"/>
              </a:rPr>
              <a:t>The conditions change with time.</a:t>
            </a:r>
            <a:endParaRPr lang="en-PH" dirty="0">
              <a:solidFill>
                <a:schemeClr val="tx1"/>
              </a:solidFill>
              <a:latin typeface="Nunito 1" panose="020B0604020202020204" charset="0"/>
            </a:endParaRPr>
          </a:p>
        </p:txBody>
      </p:sp>
      <p:sp>
        <p:nvSpPr>
          <p:cNvPr id="14" name="Rectangle 13">
            <a:extLst>
              <a:ext uri="{FF2B5EF4-FFF2-40B4-BE49-F238E27FC236}">
                <a16:creationId xmlns:a16="http://schemas.microsoft.com/office/drawing/2014/main" id="{677B6942-0961-E7FA-50D3-2F325046B760}"/>
              </a:ext>
            </a:extLst>
          </p:cNvPr>
          <p:cNvSpPr/>
          <p:nvPr/>
        </p:nvSpPr>
        <p:spPr>
          <a:xfrm>
            <a:off x="4945480" y="4907491"/>
            <a:ext cx="2514600" cy="914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H" dirty="0">
                <a:solidFill>
                  <a:schemeClr val="tx1"/>
                </a:solidFill>
                <a:latin typeface="Nunito 1" panose="020B0604020202020204" charset="0"/>
              </a:rPr>
              <a:t>Uniform flow</a:t>
            </a:r>
          </a:p>
        </p:txBody>
      </p:sp>
      <p:sp>
        <p:nvSpPr>
          <p:cNvPr id="15" name="Rectangle 14">
            <a:extLst>
              <a:ext uri="{FF2B5EF4-FFF2-40B4-BE49-F238E27FC236}">
                <a16:creationId xmlns:a16="http://schemas.microsoft.com/office/drawing/2014/main" id="{70195E89-7EE2-59A2-2003-92B5E39DA907}"/>
              </a:ext>
            </a:extLst>
          </p:cNvPr>
          <p:cNvSpPr/>
          <p:nvPr/>
        </p:nvSpPr>
        <p:spPr>
          <a:xfrm>
            <a:off x="4945480" y="5970903"/>
            <a:ext cx="2514600" cy="914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H" dirty="0">
                <a:solidFill>
                  <a:schemeClr val="tx1"/>
                </a:solidFill>
                <a:latin typeface="Nunito 1" panose="020B0604020202020204" charset="0"/>
              </a:rPr>
              <a:t>Non-uniform flow</a:t>
            </a:r>
          </a:p>
        </p:txBody>
      </p:sp>
      <p:sp>
        <p:nvSpPr>
          <p:cNvPr id="21" name="Rectangle 20">
            <a:extLst>
              <a:ext uri="{FF2B5EF4-FFF2-40B4-BE49-F238E27FC236}">
                <a16:creationId xmlns:a16="http://schemas.microsoft.com/office/drawing/2014/main" id="{37F9A253-C501-A2F8-F1E3-72847B75BF03}"/>
              </a:ext>
            </a:extLst>
          </p:cNvPr>
          <p:cNvSpPr/>
          <p:nvPr/>
        </p:nvSpPr>
        <p:spPr>
          <a:xfrm>
            <a:off x="2437632" y="4893105"/>
            <a:ext cx="2514600" cy="914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H" dirty="0">
                <a:solidFill>
                  <a:schemeClr val="tx1"/>
                </a:solidFill>
                <a:latin typeface="Nunito 1" panose="020B0604020202020204" charset="0"/>
              </a:rPr>
              <a:t>Unsteady flow</a:t>
            </a:r>
          </a:p>
        </p:txBody>
      </p:sp>
      <p:sp>
        <p:nvSpPr>
          <p:cNvPr id="34" name="Rectangle 33">
            <a:extLst>
              <a:ext uri="{FF2B5EF4-FFF2-40B4-BE49-F238E27FC236}">
                <a16:creationId xmlns:a16="http://schemas.microsoft.com/office/drawing/2014/main" id="{038C12BE-9183-10F2-335C-ED5986CF0235}"/>
              </a:ext>
            </a:extLst>
          </p:cNvPr>
          <p:cNvSpPr/>
          <p:nvPr/>
        </p:nvSpPr>
        <p:spPr>
          <a:xfrm>
            <a:off x="2437632" y="3791812"/>
            <a:ext cx="2514600" cy="914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H" dirty="0">
                <a:solidFill>
                  <a:schemeClr val="tx1"/>
                </a:solidFill>
                <a:latin typeface="Nunito 1" panose="020B0604020202020204" charset="0"/>
              </a:rPr>
              <a:t>Steady flow</a:t>
            </a:r>
          </a:p>
        </p:txBody>
      </p:sp>
      <p:sp>
        <p:nvSpPr>
          <p:cNvPr id="16" name="Rectangle 15">
            <a:extLst>
              <a:ext uri="{FF2B5EF4-FFF2-40B4-BE49-F238E27FC236}">
                <a16:creationId xmlns:a16="http://schemas.microsoft.com/office/drawing/2014/main" id="{A9841BCE-B899-4304-CEE0-7CE5869C6A9B}"/>
              </a:ext>
            </a:extLst>
          </p:cNvPr>
          <p:cNvSpPr/>
          <p:nvPr/>
        </p:nvSpPr>
        <p:spPr>
          <a:xfrm>
            <a:off x="2430684" y="2710288"/>
            <a:ext cx="5043668" cy="914400"/>
          </a:xfrm>
          <a:prstGeom prst="rect">
            <a:avLst/>
          </a:prstGeom>
          <a:solidFill>
            <a:srgbClr val="F1F2F2"/>
          </a:solid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H" dirty="0">
                <a:solidFill>
                  <a:schemeClr val="tx1"/>
                </a:solidFill>
                <a:latin typeface="Nunito 1" panose="020B0604020202020204" charset="0"/>
              </a:rPr>
              <a:t>Steady uniform flow</a:t>
            </a:r>
          </a:p>
        </p:txBody>
      </p:sp>
      <p:sp>
        <p:nvSpPr>
          <p:cNvPr id="17" name="Rectangle 16">
            <a:extLst>
              <a:ext uri="{FF2B5EF4-FFF2-40B4-BE49-F238E27FC236}">
                <a16:creationId xmlns:a16="http://schemas.microsoft.com/office/drawing/2014/main" id="{E577D81F-1D6D-C545-55D6-9EEDFDAD064A}"/>
              </a:ext>
            </a:extLst>
          </p:cNvPr>
          <p:cNvSpPr/>
          <p:nvPr/>
        </p:nvSpPr>
        <p:spPr>
          <a:xfrm>
            <a:off x="2438400" y="3787667"/>
            <a:ext cx="5043668" cy="914400"/>
          </a:xfrm>
          <a:prstGeom prst="rect">
            <a:avLst/>
          </a:prstGeom>
          <a:solidFill>
            <a:srgbClr val="F1F2F2"/>
          </a:solid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H" dirty="0">
                <a:solidFill>
                  <a:schemeClr val="tx1"/>
                </a:solidFill>
                <a:latin typeface="Nunito 1" panose="020B0604020202020204" charset="0"/>
              </a:rPr>
              <a:t>Steady non-uniform flow</a:t>
            </a:r>
          </a:p>
        </p:txBody>
      </p:sp>
      <p:sp>
        <p:nvSpPr>
          <p:cNvPr id="35" name="Rectangle 34">
            <a:extLst>
              <a:ext uri="{FF2B5EF4-FFF2-40B4-BE49-F238E27FC236}">
                <a16:creationId xmlns:a16="http://schemas.microsoft.com/office/drawing/2014/main" id="{D6581995-F40A-D2F8-88CE-D4C05624D145}"/>
              </a:ext>
            </a:extLst>
          </p:cNvPr>
          <p:cNvSpPr/>
          <p:nvPr/>
        </p:nvSpPr>
        <p:spPr>
          <a:xfrm>
            <a:off x="2438400" y="4886991"/>
            <a:ext cx="5043668" cy="914400"/>
          </a:xfrm>
          <a:prstGeom prst="rect">
            <a:avLst/>
          </a:prstGeom>
          <a:solidFill>
            <a:srgbClr val="F1F2F2"/>
          </a:solid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H" dirty="0">
                <a:solidFill>
                  <a:schemeClr val="tx1"/>
                </a:solidFill>
                <a:latin typeface="Nunito 1" panose="020B0604020202020204" charset="0"/>
              </a:rPr>
              <a:t>Unsteady uniform flow</a:t>
            </a:r>
          </a:p>
        </p:txBody>
      </p:sp>
      <p:sp>
        <p:nvSpPr>
          <p:cNvPr id="36" name="Rectangle 35">
            <a:extLst>
              <a:ext uri="{FF2B5EF4-FFF2-40B4-BE49-F238E27FC236}">
                <a16:creationId xmlns:a16="http://schemas.microsoft.com/office/drawing/2014/main" id="{4084157A-DBE1-F708-C305-53E54A30B234}"/>
              </a:ext>
            </a:extLst>
          </p:cNvPr>
          <p:cNvSpPr/>
          <p:nvPr/>
        </p:nvSpPr>
        <p:spPr>
          <a:xfrm>
            <a:off x="2438400" y="5989504"/>
            <a:ext cx="5043668" cy="914400"/>
          </a:xfrm>
          <a:prstGeom prst="rect">
            <a:avLst/>
          </a:prstGeom>
          <a:solidFill>
            <a:srgbClr val="F1F2F2"/>
          </a:solid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H" dirty="0">
                <a:solidFill>
                  <a:schemeClr val="tx1"/>
                </a:solidFill>
                <a:latin typeface="Nunito 1" panose="020B0604020202020204" charset="0"/>
              </a:rPr>
              <a:t>Unsteady non-uniform flow</a:t>
            </a:r>
          </a:p>
        </p:txBody>
      </p:sp>
      <p:sp>
        <p:nvSpPr>
          <p:cNvPr id="37" name="Rectangle 36">
            <a:extLst>
              <a:ext uri="{FF2B5EF4-FFF2-40B4-BE49-F238E27FC236}">
                <a16:creationId xmlns:a16="http://schemas.microsoft.com/office/drawing/2014/main" id="{6093DB60-4458-FEB4-BF54-884331D986BE}"/>
              </a:ext>
            </a:extLst>
          </p:cNvPr>
          <p:cNvSpPr/>
          <p:nvPr/>
        </p:nvSpPr>
        <p:spPr>
          <a:xfrm>
            <a:off x="7466350" y="2714433"/>
            <a:ext cx="8146166" cy="914400"/>
          </a:xfrm>
          <a:prstGeom prst="rect">
            <a:avLst/>
          </a:prstGeom>
          <a:solidFill>
            <a:srgbClr val="F1F2F2"/>
          </a:solid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Nunito 1" panose="020B0604020202020204" charset="0"/>
              </a:rPr>
              <a:t>Conditions do not change with position in the stream or with</a:t>
            </a:r>
          </a:p>
          <a:p>
            <a:pPr algn="ctr"/>
            <a:r>
              <a:rPr lang="en-US" dirty="0">
                <a:solidFill>
                  <a:schemeClr val="tx1"/>
                </a:solidFill>
                <a:latin typeface="Nunito 1" panose="020B0604020202020204" charset="0"/>
              </a:rPr>
              <a:t>time.</a:t>
            </a:r>
            <a:endParaRPr lang="en-PH" dirty="0">
              <a:solidFill>
                <a:schemeClr val="tx1"/>
              </a:solidFill>
              <a:latin typeface="Nunito 1" panose="020B0604020202020204" charset="0"/>
            </a:endParaRPr>
          </a:p>
        </p:txBody>
      </p:sp>
      <p:sp>
        <p:nvSpPr>
          <p:cNvPr id="38" name="Rectangle 37">
            <a:extLst>
              <a:ext uri="{FF2B5EF4-FFF2-40B4-BE49-F238E27FC236}">
                <a16:creationId xmlns:a16="http://schemas.microsoft.com/office/drawing/2014/main" id="{C7E2890B-56E0-8680-732C-BD4A7CF4C0F5}"/>
              </a:ext>
            </a:extLst>
          </p:cNvPr>
          <p:cNvSpPr/>
          <p:nvPr/>
        </p:nvSpPr>
        <p:spPr>
          <a:xfrm>
            <a:off x="7474066" y="3791812"/>
            <a:ext cx="8146166" cy="914400"/>
          </a:xfrm>
          <a:prstGeom prst="rect">
            <a:avLst/>
          </a:prstGeom>
          <a:solidFill>
            <a:srgbClr val="F1F2F2"/>
          </a:solid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Nunito 1" panose="020B0604020202020204" charset="0"/>
              </a:rPr>
              <a:t>Conditions change from point to point in the stream but</a:t>
            </a:r>
          </a:p>
          <a:p>
            <a:pPr algn="ctr"/>
            <a:r>
              <a:rPr lang="en-US" dirty="0">
                <a:solidFill>
                  <a:schemeClr val="tx1"/>
                </a:solidFill>
                <a:latin typeface="Nunito 1" panose="020B0604020202020204" charset="0"/>
              </a:rPr>
              <a:t>do not change with time. </a:t>
            </a:r>
            <a:endParaRPr lang="en-PH" dirty="0">
              <a:solidFill>
                <a:schemeClr val="tx1"/>
              </a:solidFill>
              <a:latin typeface="Nunito 1" panose="020B0604020202020204" charset="0"/>
            </a:endParaRPr>
          </a:p>
        </p:txBody>
      </p:sp>
      <p:sp>
        <p:nvSpPr>
          <p:cNvPr id="39" name="Rectangle 38">
            <a:extLst>
              <a:ext uri="{FF2B5EF4-FFF2-40B4-BE49-F238E27FC236}">
                <a16:creationId xmlns:a16="http://schemas.microsoft.com/office/drawing/2014/main" id="{9B55FAB9-A753-CD1C-5614-41C649CC6F1C}"/>
              </a:ext>
            </a:extLst>
          </p:cNvPr>
          <p:cNvSpPr/>
          <p:nvPr/>
        </p:nvSpPr>
        <p:spPr>
          <a:xfrm>
            <a:off x="7474066" y="4891136"/>
            <a:ext cx="8146166" cy="914400"/>
          </a:xfrm>
          <a:prstGeom prst="rect">
            <a:avLst/>
          </a:prstGeom>
          <a:solidFill>
            <a:srgbClr val="F1F2F2"/>
          </a:solid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Nunito 1" panose="020B0604020202020204" charset="0"/>
              </a:rPr>
              <a:t>At a given instant in time the conditions at every point are</a:t>
            </a:r>
          </a:p>
          <a:p>
            <a:pPr algn="ctr"/>
            <a:r>
              <a:rPr lang="en-US" dirty="0">
                <a:solidFill>
                  <a:schemeClr val="tx1"/>
                </a:solidFill>
                <a:latin typeface="Nunito 1" panose="020B0604020202020204" charset="0"/>
              </a:rPr>
              <a:t>the same, but will change with time.</a:t>
            </a:r>
            <a:endParaRPr lang="en-PH" dirty="0">
              <a:solidFill>
                <a:schemeClr val="tx1"/>
              </a:solidFill>
              <a:latin typeface="Nunito 1" panose="020B0604020202020204" charset="0"/>
            </a:endParaRPr>
          </a:p>
        </p:txBody>
      </p:sp>
      <p:sp>
        <p:nvSpPr>
          <p:cNvPr id="40" name="Rectangle 39">
            <a:extLst>
              <a:ext uri="{FF2B5EF4-FFF2-40B4-BE49-F238E27FC236}">
                <a16:creationId xmlns:a16="http://schemas.microsoft.com/office/drawing/2014/main" id="{8F0CC206-9C7E-A29E-3F70-862A6538E508}"/>
              </a:ext>
            </a:extLst>
          </p:cNvPr>
          <p:cNvSpPr/>
          <p:nvPr/>
        </p:nvSpPr>
        <p:spPr>
          <a:xfrm>
            <a:off x="7474066" y="5993649"/>
            <a:ext cx="8146166" cy="914400"/>
          </a:xfrm>
          <a:prstGeom prst="rect">
            <a:avLst/>
          </a:prstGeom>
          <a:solidFill>
            <a:srgbClr val="F1F2F2"/>
          </a:solid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Nunito 1" panose="020B0604020202020204" charset="0"/>
              </a:rPr>
              <a:t>Every condition of the flow may change from point to</a:t>
            </a:r>
          </a:p>
          <a:p>
            <a:pPr algn="ctr"/>
            <a:r>
              <a:rPr lang="en-US" dirty="0">
                <a:solidFill>
                  <a:schemeClr val="tx1"/>
                </a:solidFill>
                <a:latin typeface="Nunito 1" panose="020B0604020202020204" charset="0"/>
              </a:rPr>
              <a:t>point and with time at every point.</a:t>
            </a:r>
            <a:endParaRPr lang="en-PH" dirty="0">
              <a:solidFill>
                <a:schemeClr val="tx1"/>
              </a:solidFill>
              <a:latin typeface="Nunito 1" panose="020B0604020202020204" charset="0"/>
            </a:endParaRPr>
          </a:p>
        </p:txBody>
      </p:sp>
      <p:grpSp>
        <p:nvGrpSpPr>
          <p:cNvPr id="33" name="Group 32">
            <a:extLst>
              <a:ext uri="{FF2B5EF4-FFF2-40B4-BE49-F238E27FC236}">
                <a16:creationId xmlns:a16="http://schemas.microsoft.com/office/drawing/2014/main" id="{8CF58D34-2CBC-198B-2AE8-339CA55AE467}"/>
              </a:ext>
            </a:extLst>
          </p:cNvPr>
          <p:cNvGrpSpPr/>
          <p:nvPr/>
        </p:nvGrpSpPr>
        <p:grpSpPr>
          <a:xfrm>
            <a:off x="0" y="9599693"/>
            <a:ext cx="18287999" cy="687306"/>
            <a:chOff x="0" y="9599693"/>
            <a:chExt cx="18287999" cy="687306"/>
          </a:xfrm>
        </p:grpSpPr>
        <p:grpSp>
          <p:nvGrpSpPr>
            <p:cNvPr id="41" name="Group 11">
              <a:extLst>
                <a:ext uri="{FF2B5EF4-FFF2-40B4-BE49-F238E27FC236}">
                  <a16:creationId xmlns:a16="http://schemas.microsoft.com/office/drawing/2014/main" id="{CC7E6583-3DF7-132A-8644-6A6DB046398E}"/>
                </a:ext>
              </a:extLst>
            </p:cNvPr>
            <p:cNvGrpSpPr/>
            <p:nvPr/>
          </p:nvGrpSpPr>
          <p:grpSpPr>
            <a:xfrm>
              <a:off x="0" y="9599694"/>
              <a:ext cx="18287999" cy="687305"/>
              <a:chOff x="0" y="0"/>
              <a:chExt cx="5260714" cy="490218"/>
            </a:xfrm>
          </p:grpSpPr>
          <p:sp>
            <p:nvSpPr>
              <p:cNvPr id="44" name="Freeform 12">
                <a:extLst>
                  <a:ext uri="{FF2B5EF4-FFF2-40B4-BE49-F238E27FC236}">
                    <a16:creationId xmlns:a16="http://schemas.microsoft.com/office/drawing/2014/main" id="{ECE7D7CA-BD0C-0C35-6818-6FA8AC3F2B4C}"/>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45" name="TextBox 13">
                <a:extLst>
                  <a:ext uri="{FF2B5EF4-FFF2-40B4-BE49-F238E27FC236}">
                    <a16:creationId xmlns:a16="http://schemas.microsoft.com/office/drawing/2014/main" id="{EE7B97F4-D115-4C60-E158-3948E5E39843}"/>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42" name="TextBox 12">
              <a:extLst>
                <a:ext uri="{FF2B5EF4-FFF2-40B4-BE49-F238E27FC236}">
                  <a16:creationId xmlns:a16="http://schemas.microsoft.com/office/drawing/2014/main" id="{7341E25F-A6D8-C4E6-841C-FFAC710834DA}"/>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43" name="TextBox 13">
              <a:extLst>
                <a:ext uri="{FF2B5EF4-FFF2-40B4-BE49-F238E27FC236}">
                  <a16:creationId xmlns:a16="http://schemas.microsoft.com/office/drawing/2014/main" id="{9C2A897C-A690-E4D4-C3AF-1444D9675E51}"/>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spTree>
    <p:extLst>
      <p:ext uri="{BB962C8B-B14F-4D97-AF65-F5344CB8AC3E}">
        <p14:creationId xmlns:p14="http://schemas.microsoft.com/office/powerpoint/2010/main" val="87460612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25C49-D829-F1E7-F5C3-11E3EFF9917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267128B-A6B3-2926-F149-A695B511FF8F}"/>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3FE47EC8-EDB0-5233-C429-798497EA7AB3}"/>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CCC61A94-F366-3B58-F4B0-41BD0D5D2E0C}"/>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430E95D6-C135-0369-4E13-CDBCCBAED774}"/>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8D64808C-C103-FDB4-77CF-33B5CC4C0727}"/>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40670A3D-AD56-F466-0966-7FE7D0B5C5FE}"/>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6DC5635C-FC34-D511-331D-C19241217694}"/>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3F656F2B-0D97-288F-D22D-EDFCB00BF8F7}"/>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6EBB9F9A-DA68-6704-37A4-1942D56F9605}"/>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FD3AF6CB-D1E6-E293-0DCC-2558B3D4A3E9}"/>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C49AA1EA-A6F5-EFFC-28C7-4D7B0851874A}"/>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8ABE8F70-F517-E6E1-2D81-B375D32992B4}"/>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21473AD1-8587-9EC8-3F9C-64A1075193B9}"/>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ADDITIONAL QUESTION</a:t>
            </a:r>
          </a:p>
        </p:txBody>
      </p:sp>
      <p:sp>
        <p:nvSpPr>
          <p:cNvPr id="15" name="TextBox 15">
            <a:extLst>
              <a:ext uri="{FF2B5EF4-FFF2-40B4-BE49-F238E27FC236}">
                <a16:creationId xmlns:a16="http://schemas.microsoft.com/office/drawing/2014/main" id="{BBA9E367-1324-C4FC-85C9-FFDB91A4A791}"/>
              </a:ext>
            </a:extLst>
          </p:cNvPr>
          <p:cNvSpPr txBox="1"/>
          <p:nvPr/>
        </p:nvSpPr>
        <p:spPr>
          <a:xfrm>
            <a:off x="2246041" y="2025065"/>
            <a:ext cx="13795916" cy="738664"/>
          </a:xfrm>
          <a:prstGeom prst="rect">
            <a:avLst/>
          </a:prstGeom>
        </p:spPr>
        <p:txBody>
          <a:bodyPr wrap="square" lIns="0" tIns="0" rIns="0" bIns="0" rtlCol="0" anchor="t">
            <a:spAutoFit/>
          </a:bodyPr>
          <a:lstStyle/>
          <a:p>
            <a:pPr algn="ctr"/>
            <a:r>
              <a:rPr lang="en-US" sz="2400" b="1" dirty="0">
                <a:solidFill>
                  <a:srgbClr val="000000"/>
                </a:solidFill>
                <a:latin typeface="Nunito 1 Bold"/>
                <a:ea typeface="Nunito 1 Bold"/>
                <a:cs typeface="Nunito 1 Bold"/>
                <a:sym typeface="Nunito 1 Bold"/>
              </a:rPr>
              <a:t>What type of flow does a water flowing at a constant rate through a conical pipe exhibit, based on the previous discussion?</a:t>
            </a:r>
          </a:p>
        </p:txBody>
      </p:sp>
      <p:sp>
        <p:nvSpPr>
          <p:cNvPr id="19" name="TextBox 12">
            <a:extLst>
              <a:ext uri="{FF2B5EF4-FFF2-40B4-BE49-F238E27FC236}">
                <a16:creationId xmlns:a16="http://schemas.microsoft.com/office/drawing/2014/main" id="{F6FF60F4-A321-660C-080C-319632D947EA}"/>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BB72F4F7-04DF-743D-BF54-A05A78812AD3}"/>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nvGrpSpPr>
          <p:cNvPr id="23" name="Group 5">
            <a:extLst>
              <a:ext uri="{FF2B5EF4-FFF2-40B4-BE49-F238E27FC236}">
                <a16:creationId xmlns:a16="http://schemas.microsoft.com/office/drawing/2014/main" id="{CC6108CD-4353-0327-B151-D5216EBCE82C}"/>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2F731D84-6E10-0523-7CE2-1F0C5D171BEF}"/>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4854DDE1-AA59-E84F-1F96-12980F661757}"/>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F0278434-2705-23AA-DC05-5B122A0E75CA}"/>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https://chem.libretexts.org/Courses/University_of_Arkansas_Little_Rock/Chem_1402%3A_General_Chemistry_1_(Kattoum)</a:t>
            </a:r>
          </a:p>
        </p:txBody>
      </p:sp>
      <p:sp>
        <p:nvSpPr>
          <p:cNvPr id="16" name="TextBox 15">
            <a:extLst>
              <a:ext uri="{FF2B5EF4-FFF2-40B4-BE49-F238E27FC236}">
                <a16:creationId xmlns:a16="http://schemas.microsoft.com/office/drawing/2014/main" id="{B2EB855A-9F29-DF83-C44F-8C1A6919B07B}"/>
              </a:ext>
            </a:extLst>
          </p:cNvPr>
          <p:cNvSpPr txBox="1"/>
          <p:nvPr/>
        </p:nvSpPr>
        <p:spPr>
          <a:xfrm>
            <a:off x="1676400" y="3259228"/>
            <a:ext cx="14935200" cy="369332"/>
          </a:xfrm>
          <a:prstGeom prst="rect">
            <a:avLst/>
          </a:prstGeom>
        </p:spPr>
        <p:txBody>
          <a:bodyPr wrap="square" lIns="0" tIns="0" rIns="0" bIns="0" rtlCol="0" anchor="t">
            <a:spAutoFit/>
          </a:bodyPr>
          <a:lstStyle/>
          <a:p>
            <a:pPr algn="ctr"/>
            <a:r>
              <a:rPr lang="en-US" sz="2400" dirty="0">
                <a:solidFill>
                  <a:srgbClr val="000000"/>
                </a:solidFill>
                <a:latin typeface="Nunito 1" panose="020B0604020202020204" charset="0"/>
                <a:ea typeface="Nunito 1 Bold"/>
                <a:cs typeface="Nunito 1 Bold"/>
                <a:sym typeface="Nunito 1 Bold"/>
              </a:rPr>
              <a:t>Water flowing at a constant rate through a conical pipe exhibits </a:t>
            </a:r>
            <a:r>
              <a:rPr lang="en-US" sz="2400" b="1" dirty="0">
                <a:solidFill>
                  <a:srgbClr val="000000"/>
                </a:solidFill>
                <a:latin typeface="Nunito 1" panose="020B0604020202020204" charset="0"/>
                <a:ea typeface="Nunito 1 Bold"/>
                <a:cs typeface="Nunito 1 Bold"/>
                <a:sym typeface="Nunito 1 Bold"/>
              </a:rPr>
              <a:t>steady, non-uniform flow</a:t>
            </a:r>
            <a:r>
              <a:rPr lang="en-US" sz="2400" dirty="0">
                <a:solidFill>
                  <a:srgbClr val="000000"/>
                </a:solidFill>
                <a:latin typeface="Nunito 1" panose="020B0604020202020204" charset="0"/>
                <a:ea typeface="Nunito 1 Bold"/>
                <a:cs typeface="Nunito 1 Bold"/>
                <a:sym typeface="Nunito 1 Bold"/>
              </a:rPr>
              <a:t>.</a:t>
            </a:r>
          </a:p>
        </p:txBody>
      </p:sp>
      <p:grpSp>
        <p:nvGrpSpPr>
          <p:cNvPr id="27" name="Group 26">
            <a:extLst>
              <a:ext uri="{FF2B5EF4-FFF2-40B4-BE49-F238E27FC236}">
                <a16:creationId xmlns:a16="http://schemas.microsoft.com/office/drawing/2014/main" id="{8C968FF1-A25B-3A10-1927-E0E5702075EE}"/>
              </a:ext>
            </a:extLst>
          </p:cNvPr>
          <p:cNvGrpSpPr/>
          <p:nvPr/>
        </p:nvGrpSpPr>
        <p:grpSpPr>
          <a:xfrm>
            <a:off x="8763000" y="2321560"/>
            <a:ext cx="5029200" cy="2540"/>
            <a:chOff x="8763000" y="2321560"/>
            <a:chExt cx="5029200" cy="2540"/>
          </a:xfrm>
        </p:grpSpPr>
        <p:cxnSp>
          <p:nvCxnSpPr>
            <p:cNvPr id="18" name="Straight Connector 17">
              <a:extLst>
                <a:ext uri="{FF2B5EF4-FFF2-40B4-BE49-F238E27FC236}">
                  <a16:creationId xmlns:a16="http://schemas.microsoft.com/office/drawing/2014/main" id="{1A594CE1-76B7-DC0F-2FBE-EB82AC83A654}"/>
                </a:ext>
              </a:extLst>
            </p:cNvPr>
            <p:cNvCxnSpPr/>
            <p:nvPr/>
          </p:nvCxnSpPr>
          <p:spPr>
            <a:xfrm>
              <a:off x="8763000" y="2324100"/>
              <a:ext cx="18288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073BF498-72F1-BC19-77E1-1407BF130E01}"/>
                </a:ext>
              </a:extLst>
            </p:cNvPr>
            <p:cNvCxnSpPr>
              <a:cxnSpLocks/>
            </p:cNvCxnSpPr>
            <p:nvPr/>
          </p:nvCxnSpPr>
          <p:spPr>
            <a:xfrm>
              <a:off x="12192000" y="2321560"/>
              <a:ext cx="1600200" cy="0"/>
            </a:xfrm>
            <a:prstGeom prst="line">
              <a:avLst/>
            </a:prstGeom>
            <a:ln w="19050"/>
          </p:spPr>
          <p:style>
            <a:lnRef idx="1">
              <a:schemeClr val="dk1"/>
            </a:lnRef>
            <a:fillRef idx="0">
              <a:schemeClr val="dk1"/>
            </a:fillRef>
            <a:effectRef idx="0">
              <a:schemeClr val="dk1"/>
            </a:effectRef>
            <a:fontRef idx="minor">
              <a:schemeClr val="tx1"/>
            </a:fontRef>
          </p:style>
        </p:cxnSp>
      </p:grpSp>
      <p:sp>
        <p:nvSpPr>
          <p:cNvPr id="17" name="TextBox 16">
            <a:extLst>
              <a:ext uri="{FF2B5EF4-FFF2-40B4-BE49-F238E27FC236}">
                <a16:creationId xmlns:a16="http://schemas.microsoft.com/office/drawing/2014/main" id="{15C865F6-A988-F07A-9C4F-3C75321126CE}"/>
              </a:ext>
            </a:extLst>
          </p:cNvPr>
          <p:cNvSpPr txBox="1"/>
          <p:nvPr/>
        </p:nvSpPr>
        <p:spPr>
          <a:xfrm>
            <a:off x="1676400" y="4061147"/>
            <a:ext cx="6781800" cy="4985980"/>
          </a:xfrm>
          <a:prstGeom prst="rect">
            <a:avLst/>
          </a:prstGeom>
        </p:spPr>
        <p:txBody>
          <a:bodyPr wrap="square" lIns="0" tIns="0" rIns="0" bIns="0" rtlCol="0" anchor="t">
            <a:spAutoFit/>
          </a:bodyPr>
          <a:lstStyle/>
          <a:p>
            <a:pPr algn="just"/>
            <a:r>
              <a:rPr lang="en-US" dirty="0">
                <a:solidFill>
                  <a:srgbClr val="000000"/>
                </a:solidFill>
                <a:latin typeface="Nunito 1" panose="020B0604020202020204" charset="0"/>
                <a:ea typeface="Nunito 1 Bold"/>
                <a:cs typeface="Nunito 1 Bold"/>
                <a:sym typeface="Nunito 1 Bold"/>
              </a:rPr>
              <a:t>Why </a:t>
            </a:r>
            <a:r>
              <a:rPr lang="en-US" dirty="0">
                <a:solidFill>
                  <a:srgbClr val="000000"/>
                </a:solidFill>
                <a:latin typeface="Nunito 1 Bold" panose="020B0604020202020204" charset="0"/>
                <a:ea typeface="Nunito 1 Bold"/>
                <a:cs typeface="Nunito 1 Bold"/>
                <a:sym typeface="Nunito 1 Bold"/>
              </a:rPr>
              <a:t>steady</a:t>
            </a:r>
            <a:r>
              <a:rPr lang="en-US" dirty="0">
                <a:solidFill>
                  <a:srgbClr val="000000"/>
                </a:solidFill>
                <a:latin typeface="Nunito 1" panose="020B0604020202020204" charset="0"/>
                <a:ea typeface="Nunito 1 Bold"/>
                <a:cs typeface="Nunito 1 Bold"/>
                <a:sym typeface="Nunito 1 Bold"/>
              </a:rPr>
              <a:t>?</a:t>
            </a:r>
          </a:p>
          <a:p>
            <a:pPr algn="just"/>
            <a:endParaRPr lang="en-US" dirty="0">
              <a:solidFill>
                <a:srgbClr val="000000"/>
              </a:solidFill>
              <a:latin typeface="Nunito 1" panose="020B0604020202020204" charset="0"/>
              <a:ea typeface="Nunito 1 Bold"/>
              <a:cs typeface="Nunito 1 Bold"/>
              <a:sym typeface="Nunito 1 Bold"/>
            </a:endParaRPr>
          </a:p>
          <a:p>
            <a:pPr marL="342900" indent="-342900">
              <a:buFont typeface="Arial" panose="020B0604020202020204" pitchFamily="34" charset="0"/>
              <a:buChar char="•"/>
            </a:pPr>
            <a:r>
              <a:rPr lang="en-US" dirty="0">
                <a:latin typeface="Nunito 1" panose="020B0604020202020204" charset="0"/>
              </a:rPr>
              <a:t>The </a:t>
            </a:r>
            <a:r>
              <a:rPr lang="en-US" b="1" dirty="0">
                <a:latin typeface="Nunito 1" panose="020B0604020202020204" charset="0"/>
              </a:rPr>
              <a:t>flow rate is constant</a:t>
            </a:r>
            <a:r>
              <a:rPr lang="en-US" dirty="0">
                <a:latin typeface="Nunito 1" panose="020B0604020202020204" charset="0"/>
              </a:rPr>
              <a:t> over time.</a:t>
            </a:r>
          </a:p>
          <a:p>
            <a:pPr marL="342900" indent="-342900">
              <a:buFont typeface="Arial" panose="020B0604020202020204" pitchFamily="34" charset="0"/>
              <a:buChar char="•"/>
            </a:pPr>
            <a:r>
              <a:rPr lang="en-US" dirty="0">
                <a:latin typeface="Nunito 1" panose="020B0604020202020204" charset="0"/>
              </a:rPr>
              <a:t>This means that at any fixed point in the pipe, the </a:t>
            </a:r>
            <a:r>
              <a:rPr lang="en-US" b="1" dirty="0">
                <a:latin typeface="Nunito 1" panose="020B0604020202020204" charset="0"/>
              </a:rPr>
              <a:t>velocity, pressure, and other properties do not change with time</a:t>
            </a:r>
            <a:r>
              <a:rPr lang="en-US" dirty="0">
                <a:latin typeface="Nunito 1" panose="020B0604020202020204" charset="0"/>
              </a:rPr>
              <a:t>.</a:t>
            </a:r>
          </a:p>
          <a:p>
            <a:pPr marL="342900" indent="-342900">
              <a:buFont typeface="Arial" panose="020B0604020202020204" pitchFamily="34" charset="0"/>
              <a:buChar char="•"/>
            </a:pPr>
            <a:endParaRPr lang="en-US" dirty="0">
              <a:solidFill>
                <a:srgbClr val="000000"/>
              </a:solidFill>
              <a:latin typeface="Nunito 1" panose="020B0604020202020204" charset="0"/>
              <a:ea typeface="Nunito 1 Bold"/>
              <a:cs typeface="Nunito 1 Bold"/>
              <a:sym typeface="Nunito 1 Bold"/>
            </a:endParaRPr>
          </a:p>
          <a:p>
            <a:pPr algn="just"/>
            <a:r>
              <a:rPr lang="en-US" dirty="0">
                <a:solidFill>
                  <a:srgbClr val="000000"/>
                </a:solidFill>
                <a:latin typeface="Nunito 1" panose="020B0604020202020204" charset="0"/>
                <a:ea typeface="Nunito 1 Bold"/>
                <a:cs typeface="Nunito 1 Bold"/>
                <a:sym typeface="Nunito 1 Bold"/>
              </a:rPr>
              <a:t>Why non-uniform?</a:t>
            </a:r>
          </a:p>
          <a:p>
            <a:pPr algn="just"/>
            <a:endParaRPr lang="en-US" dirty="0">
              <a:solidFill>
                <a:srgbClr val="000000"/>
              </a:solidFill>
              <a:latin typeface="Nunito 1" panose="020B0604020202020204" charset="0"/>
              <a:ea typeface="Nunito 1 Bold"/>
              <a:cs typeface="Nunito 1 Bold"/>
              <a:sym typeface="Nunito 1 Bold"/>
            </a:endParaRPr>
          </a:p>
          <a:p>
            <a:pPr marL="342900" indent="-342900">
              <a:buFont typeface="Arial" panose="020B0604020202020204" pitchFamily="34" charset="0"/>
              <a:buChar char="•"/>
            </a:pPr>
            <a:r>
              <a:rPr lang="en-US" dirty="0">
                <a:latin typeface="Nunito 1" panose="020B0604020202020204" charset="0"/>
              </a:rPr>
              <a:t>The </a:t>
            </a:r>
            <a:r>
              <a:rPr lang="en-US" b="1" dirty="0">
                <a:latin typeface="Nunito 1" panose="020B0604020202020204" charset="0"/>
              </a:rPr>
              <a:t>cross-sectional area of a conical pipe changes</a:t>
            </a:r>
            <a:r>
              <a:rPr lang="en-US" dirty="0">
                <a:latin typeface="Nunito 1" panose="020B0604020202020204" charset="0"/>
              </a:rPr>
              <a:t> (either narrowing or widening).</a:t>
            </a:r>
          </a:p>
          <a:p>
            <a:pPr marL="342900" indent="-342900">
              <a:buFont typeface="Arial" panose="020B0604020202020204" pitchFamily="34" charset="0"/>
              <a:buChar char="•"/>
            </a:pPr>
            <a:r>
              <a:rPr lang="en-US" dirty="0">
                <a:latin typeface="Nunito 1" panose="020B0604020202020204" charset="0"/>
              </a:rPr>
              <a:t>So the </a:t>
            </a:r>
            <a:r>
              <a:rPr lang="en-US" b="1" dirty="0">
                <a:latin typeface="Nunito 1" panose="020B0604020202020204" charset="0"/>
              </a:rPr>
              <a:t>velocity changes from point to point</a:t>
            </a:r>
            <a:r>
              <a:rPr lang="en-US" dirty="0">
                <a:latin typeface="Nunito 1" panose="020B0604020202020204" charset="0"/>
              </a:rPr>
              <a:t> along the pipe due to continuity (as area decreases, velocity increases, and vice versa).</a:t>
            </a:r>
          </a:p>
          <a:p>
            <a:pPr marL="342900" indent="-342900">
              <a:buFont typeface="Arial" panose="020B0604020202020204" pitchFamily="34" charset="0"/>
              <a:buChar char="•"/>
            </a:pPr>
            <a:r>
              <a:rPr lang="en-US" dirty="0">
                <a:latin typeface="Nunito 1" panose="020B0604020202020204" charset="0"/>
              </a:rPr>
              <a:t>Hence, </a:t>
            </a:r>
            <a:r>
              <a:rPr lang="en-US" b="1" dirty="0">
                <a:latin typeface="Nunito 1" panose="020B0604020202020204" charset="0"/>
              </a:rPr>
              <a:t>flow properties vary with position</a:t>
            </a:r>
            <a:r>
              <a:rPr lang="en-US" dirty="0">
                <a:latin typeface="Nunito 1" panose="020B0604020202020204" charset="0"/>
              </a:rPr>
              <a:t>, making it non-uniform in space.</a:t>
            </a:r>
          </a:p>
          <a:p>
            <a:pPr algn="just"/>
            <a:endParaRPr lang="en-US" dirty="0">
              <a:solidFill>
                <a:srgbClr val="000000"/>
              </a:solidFill>
              <a:latin typeface="Nunito 1" panose="020B0604020202020204" charset="0"/>
              <a:ea typeface="Nunito 1 Bold"/>
              <a:cs typeface="Nunito 1 Bold"/>
              <a:sym typeface="Nunito 1 Bold"/>
            </a:endParaRPr>
          </a:p>
          <a:p>
            <a:pPr marL="342900" indent="-342900">
              <a:buFont typeface="Arial" panose="020B0604020202020204" pitchFamily="34" charset="0"/>
              <a:buChar char="•"/>
            </a:pPr>
            <a:endParaRPr lang="en-US" dirty="0">
              <a:solidFill>
                <a:srgbClr val="000000"/>
              </a:solidFill>
              <a:latin typeface="Nunito 1" panose="020B0604020202020204" charset="0"/>
              <a:ea typeface="Nunito 1 Bold"/>
              <a:cs typeface="Nunito 1 Bold"/>
              <a:sym typeface="Nunito 1 Bold"/>
            </a:endParaRPr>
          </a:p>
          <a:p>
            <a:pPr algn="just"/>
            <a:endParaRPr lang="en-US" dirty="0">
              <a:solidFill>
                <a:srgbClr val="000000"/>
              </a:solidFill>
              <a:latin typeface="Nunito 1" panose="020B0604020202020204" charset="0"/>
              <a:ea typeface="Nunito 1 Bold"/>
              <a:cs typeface="Nunito 1 Bold"/>
              <a:sym typeface="Nunito 1 Bold"/>
            </a:endParaRPr>
          </a:p>
        </p:txBody>
      </p:sp>
      <p:pic>
        <p:nvPicPr>
          <p:cNvPr id="29" name="Picture 28">
            <a:extLst>
              <a:ext uri="{FF2B5EF4-FFF2-40B4-BE49-F238E27FC236}">
                <a16:creationId xmlns:a16="http://schemas.microsoft.com/office/drawing/2014/main" id="{5F8DA9A0-C7FC-2245-7521-6A4B0A03755D}"/>
              </a:ext>
            </a:extLst>
          </p:cNvPr>
          <p:cNvPicPr>
            <a:picLocks noChangeAspect="1"/>
          </p:cNvPicPr>
          <p:nvPr/>
        </p:nvPicPr>
        <p:blipFill>
          <a:blip r:embed="rId3">
            <a:duotone>
              <a:schemeClr val="accent1">
                <a:shade val="45000"/>
                <a:satMod val="135000"/>
              </a:schemeClr>
              <a:prstClr val="white"/>
            </a:duotone>
          </a:blip>
          <a:stretch>
            <a:fillRect/>
          </a:stretch>
        </p:blipFill>
        <p:spPr>
          <a:xfrm>
            <a:off x="9912571" y="3984638"/>
            <a:ext cx="6033074" cy="4022048"/>
          </a:xfrm>
          <a:prstGeom prst="rect">
            <a:avLst/>
          </a:prstGeom>
        </p:spPr>
      </p:pic>
      <p:grpSp>
        <p:nvGrpSpPr>
          <p:cNvPr id="30" name="Group 29">
            <a:extLst>
              <a:ext uri="{FF2B5EF4-FFF2-40B4-BE49-F238E27FC236}">
                <a16:creationId xmlns:a16="http://schemas.microsoft.com/office/drawing/2014/main" id="{703D3E7C-B379-9783-4EEF-EEFB4314CF61}"/>
              </a:ext>
            </a:extLst>
          </p:cNvPr>
          <p:cNvGrpSpPr/>
          <p:nvPr/>
        </p:nvGrpSpPr>
        <p:grpSpPr>
          <a:xfrm>
            <a:off x="0" y="9599693"/>
            <a:ext cx="18287999" cy="687306"/>
            <a:chOff x="0" y="9599693"/>
            <a:chExt cx="18287999" cy="687306"/>
          </a:xfrm>
        </p:grpSpPr>
        <p:grpSp>
          <p:nvGrpSpPr>
            <p:cNvPr id="31" name="Group 11">
              <a:extLst>
                <a:ext uri="{FF2B5EF4-FFF2-40B4-BE49-F238E27FC236}">
                  <a16:creationId xmlns:a16="http://schemas.microsoft.com/office/drawing/2014/main" id="{E3095CC0-9933-8FC1-3DC2-F295AA0EA8DC}"/>
                </a:ext>
              </a:extLst>
            </p:cNvPr>
            <p:cNvGrpSpPr/>
            <p:nvPr/>
          </p:nvGrpSpPr>
          <p:grpSpPr>
            <a:xfrm>
              <a:off x="0" y="9599694"/>
              <a:ext cx="18287999" cy="687305"/>
              <a:chOff x="0" y="0"/>
              <a:chExt cx="5260714" cy="490218"/>
            </a:xfrm>
          </p:grpSpPr>
          <p:sp>
            <p:nvSpPr>
              <p:cNvPr id="34" name="Freeform 12">
                <a:extLst>
                  <a:ext uri="{FF2B5EF4-FFF2-40B4-BE49-F238E27FC236}">
                    <a16:creationId xmlns:a16="http://schemas.microsoft.com/office/drawing/2014/main" id="{AEE47A2C-857E-9FD9-FE3D-B793B06D09ED}"/>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35" name="TextBox 13">
                <a:extLst>
                  <a:ext uri="{FF2B5EF4-FFF2-40B4-BE49-F238E27FC236}">
                    <a16:creationId xmlns:a16="http://schemas.microsoft.com/office/drawing/2014/main" id="{ECB54132-4A6C-135D-FC0E-A4050CF5AA02}"/>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32" name="TextBox 12">
              <a:extLst>
                <a:ext uri="{FF2B5EF4-FFF2-40B4-BE49-F238E27FC236}">
                  <a16:creationId xmlns:a16="http://schemas.microsoft.com/office/drawing/2014/main" id="{686F6DA1-DBED-0D61-27A8-9198F083977D}"/>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33" name="TextBox 13">
              <a:extLst>
                <a:ext uri="{FF2B5EF4-FFF2-40B4-BE49-F238E27FC236}">
                  <a16:creationId xmlns:a16="http://schemas.microsoft.com/office/drawing/2014/main" id="{40825F58-FB1B-15D4-8CC1-8F98DCE0680E}"/>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spTree>
    <p:extLst>
      <p:ext uri="{BB962C8B-B14F-4D97-AF65-F5344CB8AC3E}">
        <p14:creationId xmlns:p14="http://schemas.microsoft.com/office/powerpoint/2010/main" val="4270259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79A44-ACD6-961B-7AB5-4A7AC7EC072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AEB07D2-D282-26EC-D68C-276DC2424782}"/>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A5464394-025D-566D-6CA0-539637FFC9C6}"/>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26125D14-4DC6-6A43-896A-93E6757E93C3}"/>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9DEB59CE-2D24-01B1-B379-60E4485B3128}"/>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7985BACA-3283-62EB-46BC-7789E132C8AA}"/>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788B8FBC-63CF-EAF7-1567-A0CC14C449F0}"/>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4F25804C-6F8D-7B6F-34BE-116B8B968D1D}"/>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80B78244-8A9E-F98B-E113-20E3D0BF405E}"/>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795E673A-B882-227B-8D1C-6B7484560814}"/>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96D9FCDB-FE32-1015-D9C4-843B35280D1A}"/>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788F7CC3-8FCB-9C80-4438-A491188CF6B0}"/>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521D05F0-FE41-DF86-73DC-AC75A8172E24}"/>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D84FAF07-A21C-ECEF-E479-7E8B507BA1B3}"/>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 8</a:t>
            </a:r>
          </a:p>
        </p:txBody>
      </p:sp>
      <p:sp>
        <p:nvSpPr>
          <p:cNvPr id="15" name="TextBox 15">
            <a:extLst>
              <a:ext uri="{FF2B5EF4-FFF2-40B4-BE49-F238E27FC236}">
                <a16:creationId xmlns:a16="http://schemas.microsoft.com/office/drawing/2014/main" id="{2294C0A1-BF0D-D1A2-CA7F-2E6E9587CA15}"/>
              </a:ext>
            </a:extLst>
          </p:cNvPr>
          <p:cNvSpPr txBox="1"/>
          <p:nvPr/>
        </p:nvSpPr>
        <p:spPr>
          <a:xfrm>
            <a:off x="2246041" y="2025065"/>
            <a:ext cx="13795916" cy="369332"/>
          </a:xfrm>
          <a:prstGeom prst="rect">
            <a:avLst/>
          </a:prstGeom>
        </p:spPr>
        <p:txBody>
          <a:bodyPr wrap="square" lIns="0" tIns="0" rIns="0" bIns="0" rtlCol="0" anchor="t">
            <a:spAutoFit/>
          </a:bodyPr>
          <a:lstStyle/>
          <a:p>
            <a:pPr algn="ctr"/>
            <a:r>
              <a:rPr lang="en-US" sz="2400" b="1" dirty="0">
                <a:solidFill>
                  <a:srgbClr val="000000"/>
                </a:solidFill>
                <a:latin typeface="Nunito 1 Bold"/>
                <a:ea typeface="Nunito 1 Bold"/>
                <a:cs typeface="Nunito 1 Bold"/>
                <a:sym typeface="Nunito 1 Bold"/>
              </a:rPr>
              <a:t>A hydraulic jump is an example of which type of flow? </a:t>
            </a:r>
          </a:p>
        </p:txBody>
      </p:sp>
      <p:sp>
        <p:nvSpPr>
          <p:cNvPr id="19" name="TextBox 12">
            <a:extLst>
              <a:ext uri="{FF2B5EF4-FFF2-40B4-BE49-F238E27FC236}">
                <a16:creationId xmlns:a16="http://schemas.microsoft.com/office/drawing/2014/main" id="{E52EEECF-E00E-7516-A06D-ADE1E5EF2D18}"/>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6CFFE2E9-4E8A-9F4B-A072-922FC450F620}"/>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nvGrpSpPr>
          <p:cNvPr id="23" name="Group 5">
            <a:extLst>
              <a:ext uri="{FF2B5EF4-FFF2-40B4-BE49-F238E27FC236}">
                <a16:creationId xmlns:a16="http://schemas.microsoft.com/office/drawing/2014/main" id="{FF8642AE-2DA1-9527-8875-6578FE1A779A}"/>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8DFB457F-5DE8-AB42-6455-2DED28B4E4EA}"/>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84CDBCE3-DE0F-0C18-854F-A7F5776DC9CC}"/>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488B398E-BC35-90C3-501D-1475D2400D93}"/>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https://chem.libretexts.org/Courses/University_of_Arkansas_Little_Rock/Chem_1402%3A_General_Chemistry_1_(Kattoum)</a:t>
            </a:r>
          </a:p>
        </p:txBody>
      </p:sp>
      <p:sp>
        <p:nvSpPr>
          <p:cNvPr id="16" name="TextBox 15">
            <a:extLst>
              <a:ext uri="{FF2B5EF4-FFF2-40B4-BE49-F238E27FC236}">
                <a16:creationId xmlns:a16="http://schemas.microsoft.com/office/drawing/2014/main" id="{F05B8BCB-FD8F-F25E-1B2B-1462FD1C8431}"/>
              </a:ext>
            </a:extLst>
          </p:cNvPr>
          <p:cNvSpPr txBox="1"/>
          <p:nvPr/>
        </p:nvSpPr>
        <p:spPr>
          <a:xfrm>
            <a:off x="1676400" y="2794608"/>
            <a:ext cx="14935200" cy="2585323"/>
          </a:xfrm>
          <a:prstGeom prst="rect">
            <a:avLst/>
          </a:prstGeom>
        </p:spPr>
        <p:txBody>
          <a:bodyPr wrap="square" lIns="0" tIns="0" rIns="0" bIns="0" rtlCol="0" anchor="t">
            <a:spAutoFit/>
          </a:bodyPr>
          <a:lstStyle/>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Laminar</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Turbulent</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Gradually varied flow</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Rapidly varied flow</a:t>
            </a:r>
          </a:p>
        </p:txBody>
      </p:sp>
      <p:sp>
        <p:nvSpPr>
          <p:cNvPr id="17" name="Oval 16">
            <a:extLst>
              <a:ext uri="{FF2B5EF4-FFF2-40B4-BE49-F238E27FC236}">
                <a16:creationId xmlns:a16="http://schemas.microsoft.com/office/drawing/2014/main" id="{7131A665-5CE6-8BC1-ED95-91814DD26FF5}"/>
              </a:ext>
            </a:extLst>
          </p:cNvPr>
          <p:cNvSpPr/>
          <p:nvPr/>
        </p:nvSpPr>
        <p:spPr>
          <a:xfrm>
            <a:off x="1505640" y="4881796"/>
            <a:ext cx="475936" cy="47593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18" name="Group 17">
            <a:extLst>
              <a:ext uri="{FF2B5EF4-FFF2-40B4-BE49-F238E27FC236}">
                <a16:creationId xmlns:a16="http://schemas.microsoft.com/office/drawing/2014/main" id="{186F1376-F2AD-7AEF-CB66-317463DDAE28}"/>
              </a:ext>
            </a:extLst>
          </p:cNvPr>
          <p:cNvGrpSpPr/>
          <p:nvPr/>
        </p:nvGrpSpPr>
        <p:grpSpPr>
          <a:xfrm>
            <a:off x="1676399" y="3173899"/>
            <a:ext cx="14935200" cy="4336253"/>
            <a:chOff x="1676399" y="3173899"/>
            <a:chExt cx="14935200" cy="4336253"/>
          </a:xfrm>
        </p:grpSpPr>
        <p:sp>
          <p:nvSpPr>
            <p:cNvPr id="22" name="TextBox 21">
              <a:extLst>
                <a:ext uri="{FF2B5EF4-FFF2-40B4-BE49-F238E27FC236}">
                  <a16:creationId xmlns:a16="http://schemas.microsoft.com/office/drawing/2014/main" id="{4D185E6A-B162-D39D-5AC9-B8688610EF73}"/>
                </a:ext>
              </a:extLst>
            </p:cNvPr>
            <p:cNvSpPr txBox="1"/>
            <p:nvPr/>
          </p:nvSpPr>
          <p:spPr>
            <a:xfrm>
              <a:off x="1676399" y="6771488"/>
              <a:ext cx="14935200" cy="738664"/>
            </a:xfrm>
            <a:prstGeom prst="rect">
              <a:avLst/>
            </a:prstGeom>
          </p:spPr>
          <p:txBody>
            <a:bodyPr wrap="square" lIns="0" tIns="0" rIns="0" bIns="0" rtlCol="0" anchor="t">
              <a:spAutoFit/>
            </a:bodyPr>
            <a:lstStyle/>
            <a:p>
              <a:pPr algn="just"/>
              <a:r>
                <a:rPr lang="en-US" sz="2400" dirty="0">
                  <a:solidFill>
                    <a:srgbClr val="000000"/>
                  </a:solidFill>
                  <a:latin typeface="Nunito 1" panose="020B0604020202020204" charset="0"/>
                  <a:ea typeface="Nunito 1 Bold"/>
                  <a:cs typeface="Nunito 1 Bold"/>
                  <a:sym typeface="Nunito 1 Bold"/>
                </a:rPr>
                <a:t>Rapidly-varied flow is a significant change in water depth over a short distance. Gradually Varied Flow (GVF) is the flow where the water depth changes gradually over a large distance and usually connects RVF and </a:t>
              </a:r>
              <a:r>
                <a:rPr lang="en-US" sz="2400" dirty="0" err="1">
                  <a:solidFill>
                    <a:srgbClr val="000000"/>
                  </a:solidFill>
                  <a:latin typeface="Nunito 1" panose="020B0604020202020204" charset="0"/>
                  <a:ea typeface="Nunito 1 Bold"/>
                  <a:cs typeface="Nunito 1 Bold"/>
                  <a:sym typeface="Nunito 1 Bold"/>
                </a:rPr>
                <a:t>UF</a:t>
              </a:r>
              <a:r>
                <a:rPr lang="en-US" sz="2400" dirty="0">
                  <a:solidFill>
                    <a:srgbClr val="000000"/>
                  </a:solidFill>
                  <a:latin typeface="Nunito 1" panose="020B0604020202020204" charset="0"/>
                  <a:ea typeface="Nunito 1 Bold"/>
                  <a:cs typeface="Nunito 1 Bold"/>
                  <a:sym typeface="Nunito 1 Bold"/>
                </a:rPr>
                <a:t>.</a:t>
              </a:r>
            </a:p>
          </p:txBody>
        </p:sp>
        <p:pic>
          <p:nvPicPr>
            <p:cNvPr id="1028" name="Picture 4" descr="Gradually varied flow and Rapidly varied flow | Download Scientific Diagram">
              <a:extLst>
                <a:ext uri="{FF2B5EF4-FFF2-40B4-BE49-F238E27FC236}">
                  <a16:creationId xmlns:a16="http://schemas.microsoft.com/office/drawing/2014/main" id="{798915E4-5D8F-C4F8-7F95-292EBCF999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96150" y="3173899"/>
              <a:ext cx="6858000" cy="273275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1" name="Group 20">
            <a:extLst>
              <a:ext uri="{FF2B5EF4-FFF2-40B4-BE49-F238E27FC236}">
                <a16:creationId xmlns:a16="http://schemas.microsoft.com/office/drawing/2014/main" id="{4527F83D-ADA2-E494-BC84-03FE9D4B56B3}"/>
              </a:ext>
            </a:extLst>
          </p:cNvPr>
          <p:cNvGrpSpPr/>
          <p:nvPr/>
        </p:nvGrpSpPr>
        <p:grpSpPr>
          <a:xfrm>
            <a:off x="0" y="9599693"/>
            <a:ext cx="18287999" cy="687306"/>
            <a:chOff x="0" y="9599693"/>
            <a:chExt cx="18287999" cy="687306"/>
          </a:xfrm>
        </p:grpSpPr>
        <p:grpSp>
          <p:nvGrpSpPr>
            <p:cNvPr id="27" name="Group 11">
              <a:extLst>
                <a:ext uri="{FF2B5EF4-FFF2-40B4-BE49-F238E27FC236}">
                  <a16:creationId xmlns:a16="http://schemas.microsoft.com/office/drawing/2014/main" id="{BC55AF5E-B250-7956-426A-9C1CE28E18C7}"/>
                </a:ext>
              </a:extLst>
            </p:cNvPr>
            <p:cNvGrpSpPr/>
            <p:nvPr/>
          </p:nvGrpSpPr>
          <p:grpSpPr>
            <a:xfrm>
              <a:off x="0" y="9599694"/>
              <a:ext cx="18287999" cy="687305"/>
              <a:chOff x="0" y="0"/>
              <a:chExt cx="5260714" cy="490218"/>
            </a:xfrm>
          </p:grpSpPr>
          <p:sp>
            <p:nvSpPr>
              <p:cNvPr id="30" name="Freeform 12">
                <a:extLst>
                  <a:ext uri="{FF2B5EF4-FFF2-40B4-BE49-F238E27FC236}">
                    <a16:creationId xmlns:a16="http://schemas.microsoft.com/office/drawing/2014/main" id="{704C28BC-F91D-D869-33E2-5F2706536F33}"/>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31" name="TextBox 13">
                <a:extLst>
                  <a:ext uri="{FF2B5EF4-FFF2-40B4-BE49-F238E27FC236}">
                    <a16:creationId xmlns:a16="http://schemas.microsoft.com/office/drawing/2014/main" id="{8DDD6905-C9E1-EB7E-503D-1E4E447AD31F}"/>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8" name="TextBox 12">
              <a:extLst>
                <a:ext uri="{FF2B5EF4-FFF2-40B4-BE49-F238E27FC236}">
                  <a16:creationId xmlns:a16="http://schemas.microsoft.com/office/drawing/2014/main" id="{80492EB7-7C3F-45E3-DFD3-4A7B3589B296}"/>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9" name="TextBox 13">
              <a:extLst>
                <a:ext uri="{FF2B5EF4-FFF2-40B4-BE49-F238E27FC236}">
                  <a16:creationId xmlns:a16="http://schemas.microsoft.com/office/drawing/2014/main" id="{652E72EB-A9A9-B34C-0BE3-B0CFD8A6EC91}"/>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spTree>
    <p:extLst>
      <p:ext uri="{BB962C8B-B14F-4D97-AF65-F5344CB8AC3E}">
        <p14:creationId xmlns:p14="http://schemas.microsoft.com/office/powerpoint/2010/main" val="460967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0C0B7-ED44-B23F-3ACE-D3AA26B1752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91B9249-DD4D-DA57-7B9F-A71E49E14513}"/>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3BBC7D98-E244-066D-C167-F58BD3E4F8B0}"/>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D412D7C5-3D33-AC74-DAE7-B135EBF57CF1}"/>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7C82E3E5-93DD-FADF-4033-7377A2B5F569}"/>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098943D8-8284-B11E-16E9-544A13F2787C}"/>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3CE52B1B-00B9-859C-DA28-DB24C06FDD86}"/>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4B4DFF3C-092C-DB8A-5D1C-6FDB34544762}"/>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9F71AD08-65D3-6695-157F-5D2C4F3C2F32}"/>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853A2A11-B244-B962-1A24-013AC3B5238A}"/>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3E637395-F427-9455-D350-797CB161ADFA}"/>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FE0E6F89-3345-1F88-03B2-58974AAD938C}"/>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3B9978C5-6436-0940-918C-3A699D861ABF}"/>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B70EB1A5-B84B-CAA4-6DBD-9AEBCCB355D0}"/>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 8</a:t>
            </a:r>
          </a:p>
        </p:txBody>
      </p:sp>
      <p:sp>
        <p:nvSpPr>
          <p:cNvPr id="15" name="TextBox 15">
            <a:extLst>
              <a:ext uri="{FF2B5EF4-FFF2-40B4-BE49-F238E27FC236}">
                <a16:creationId xmlns:a16="http://schemas.microsoft.com/office/drawing/2014/main" id="{4AACB643-1B8D-4789-3A3A-13172D9BAB45}"/>
              </a:ext>
            </a:extLst>
          </p:cNvPr>
          <p:cNvSpPr txBox="1"/>
          <p:nvPr/>
        </p:nvSpPr>
        <p:spPr>
          <a:xfrm>
            <a:off x="2246041" y="2025065"/>
            <a:ext cx="13795916" cy="1107996"/>
          </a:xfrm>
          <a:prstGeom prst="rect">
            <a:avLst/>
          </a:prstGeom>
        </p:spPr>
        <p:txBody>
          <a:bodyPr wrap="square" lIns="0" tIns="0" rIns="0" bIns="0" rtlCol="0" anchor="t">
            <a:spAutoFit/>
          </a:bodyPr>
          <a:lstStyle/>
          <a:p>
            <a:pPr algn="ctr"/>
            <a:r>
              <a:rPr lang="en-US" sz="2400" b="1" dirty="0">
                <a:solidFill>
                  <a:srgbClr val="000000"/>
                </a:solidFill>
                <a:latin typeface="Nunito 1 Bold"/>
                <a:ea typeface="Nunito 1 Bold"/>
                <a:cs typeface="Nunito 1 Bold"/>
                <a:sym typeface="Nunito 1 Bold"/>
              </a:rPr>
              <a:t>This dimensionless number which represents the ratio of inertial and gravitational forces value and describes different flow regimes of open channel flow. </a:t>
            </a:r>
          </a:p>
          <a:p>
            <a:pPr algn="ctr"/>
            <a:r>
              <a:rPr lang="en-US" sz="2400" b="1" dirty="0">
                <a:solidFill>
                  <a:srgbClr val="000000"/>
                </a:solidFill>
                <a:latin typeface="Nunito 1 Bold"/>
                <a:ea typeface="Nunito 1 Bold"/>
                <a:cs typeface="Nunito 1 Bold"/>
                <a:sym typeface="Nunito 1 Bold"/>
              </a:rPr>
              <a:t> </a:t>
            </a:r>
          </a:p>
        </p:txBody>
      </p:sp>
      <p:sp>
        <p:nvSpPr>
          <p:cNvPr id="19" name="TextBox 12">
            <a:extLst>
              <a:ext uri="{FF2B5EF4-FFF2-40B4-BE49-F238E27FC236}">
                <a16:creationId xmlns:a16="http://schemas.microsoft.com/office/drawing/2014/main" id="{2AFCC065-7BE7-9AE5-A3D2-521B92FD0555}"/>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13F7FCA4-2F8B-FF4F-DDDC-1EA36C38EFBE}"/>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nvGrpSpPr>
          <p:cNvPr id="23" name="Group 5">
            <a:extLst>
              <a:ext uri="{FF2B5EF4-FFF2-40B4-BE49-F238E27FC236}">
                <a16:creationId xmlns:a16="http://schemas.microsoft.com/office/drawing/2014/main" id="{4D90C331-50F9-D445-FC40-4F39150AF363}"/>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0332C5EC-3147-B91C-A872-F4522B03E00A}"/>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B89E09E4-63D5-7499-9D76-A59656C4E1FF}"/>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676BF773-AEAB-091C-1616-835B1C9C224F}"/>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https://www.fsl.orst.edu/geowater/FX3/help/8_Hydraulic_Reference/Froude_Number_and_Flow_States.htm</a:t>
            </a:r>
          </a:p>
        </p:txBody>
      </p:sp>
      <p:sp>
        <p:nvSpPr>
          <p:cNvPr id="16" name="TextBox 15">
            <a:extLst>
              <a:ext uri="{FF2B5EF4-FFF2-40B4-BE49-F238E27FC236}">
                <a16:creationId xmlns:a16="http://schemas.microsoft.com/office/drawing/2014/main" id="{5BAF6B62-7763-0118-AD15-99785BD31DAA}"/>
              </a:ext>
            </a:extLst>
          </p:cNvPr>
          <p:cNvSpPr txBox="1"/>
          <p:nvPr/>
        </p:nvSpPr>
        <p:spPr>
          <a:xfrm>
            <a:off x="1676400" y="2794608"/>
            <a:ext cx="14935200" cy="3323987"/>
          </a:xfrm>
          <a:prstGeom prst="rect">
            <a:avLst/>
          </a:prstGeom>
        </p:spPr>
        <p:txBody>
          <a:bodyPr wrap="square" lIns="0" tIns="0" rIns="0" bIns="0" rtlCol="0" anchor="t">
            <a:spAutoFit/>
          </a:bodyPr>
          <a:lstStyle/>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Reynold’s number</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Froude’s number</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Weber's number</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Euler's number </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p:txBody>
      </p:sp>
      <p:sp>
        <p:nvSpPr>
          <p:cNvPr id="17" name="Oval 16">
            <a:extLst>
              <a:ext uri="{FF2B5EF4-FFF2-40B4-BE49-F238E27FC236}">
                <a16:creationId xmlns:a16="http://schemas.microsoft.com/office/drawing/2014/main" id="{16A52110-A383-EC07-2C88-BC19042BDA8E}"/>
              </a:ext>
            </a:extLst>
          </p:cNvPr>
          <p:cNvSpPr/>
          <p:nvPr/>
        </p:nvSpPr>
        <p:spPr>
          <a:xfrm>
            <a:off x="1505640" y="3504383"/>
            <a:ext cx="475936" cy="47593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3074" name="Picture 2" descr="Understanding the Froude Number in computational hydraulics – Surface Water  Solutions: Consulting and Software Training">
            <a:extLst>
              <a:ext uri="{FF2B5EF4-FFF2-40B4-BE49-F238E27FC236}">
                <a16:creationId xmlns:a16="http://schemas.microsoft.com/office/drawing/2014/main" id="{FAF2568E-C7D3-C2C5-0177-05A95907BC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51359" y="3648791"/>
            <a:ext cx="3868750" cy="1058550"/>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a:extLst>
              <a:ext uri="{FF2B5EF4-FFF2-40B4-BE49-F238E27FC236}">
                <a16:creationId xmlns:a16="http://schemas.microsoft.com/office/drawing/2014/main" id="{27969646-DC7E-BAB5-BCB4-004780CBD5E0}"/>
              </a:ext>
            </a:extLst>
          </p:cNvPr>
          <p:cNvPicPr>
            <a:picLocks noChangeAspect="1"/>
          </p:cNvPicPr>
          <p:nvPr/>
        </p:nvPicPr>
        <p:blipFill>
          <a:blip r:embed="rId4"/>
          <a:stretch>
            <a:fillRect/>
          </a:stretch>
        </p:blipFill>
        <p:spPr>
          <a:xfrm>
            <a:off x="5219151" y="5992807"/>
            <a:ext cx="7849695" cy="1867161"/>
          </a:xfrm>
          <a:prstGeom prst="rect">
            <a:avLst/>
          </a:prstGeom>
        </p:spPr>
      </p:pic>
      <p:grpSp>
        <p:nvGrpSpPr>
          <p:cNvPr id="18" name="Group 17">
            <a:extLst>
              <a:ext uri="{FF2B5EF4-FFF2-40B4-BE49-F238E27FC236}">
                <a16:creationId xmlns:a16="http://schemas.microsoft.com/office/drawing/2014/main" id="{91731A58-4EA3-1BEC-B615-1C91D3A3F892}"/>
              </a:ext>
            </a:extLst>
          </p:cNvPr>
          <p:cNvGrpSpPr/>
          <p:nvPr/>
        </p:nvGrpSpPr>
        <p:grpSpPr>
          <a:xfrm>
            <a:off x="0" y="9599693"/>
            <a:ext cx="18287999" cy="687306"/>
            <a:chOff x="0" y="9599693"/>
            <a:chExt cx="18287999" cy="687306"/>
          </a:xfrm>
        </p:grpSpPr>
        <p:grpSp>
          <p:nvGrpSpPr>
            <p:cNvPr id="22" name="Group 11">
              <a:extLst>
                <a:ext uri="{FF2B5EF4-FFF2-40B4-BE49-F238E27FC236}">
                  <a16:creationId xmlns:a16="http://schemas.microsoft.com/office/drawing/2014/main" id="{F45D9649-365D-2438-FC47-643B68048234}"/>
                </a:ext>
              </a:extLst>
            </p:cNvPr>
            <p:cNvGrpSpPr/>
            <p:nvPr/>
          </p:nvGrpSpPr>
          <p:grpSpPr>
            <a:xfrm>
              <a:off x="0" y="9599694"/>
              <a:ext cx="18287999" cy="687305"/>
              <a:chOff x="0" y="0"/>
              <a:chExt cx="5260714" cy="490218"/>
            </a:xfrm>
          </p:grpSpPr>
          <p:sp>
            <p:nvSpPr>
              <p:cNvPr id="29" name="Freeform 12">
                <a:extLst>
                  <a:ext uri="{FF2B5EF4-FFF2-40B4-BE49-F238E27FC236}">
                    <a16:creationId xmlns:a16="http://schemas.microsoft.com/office/drawing/2014/main" id="{AACBDBFD-6A55-454C-C5A8-D759395D74C5}"/>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30" name="TextBox 13">
                <a:extLst>
                  <a:ext uri="{FF2B5EF4-FFF2-40B4-BE49-F238E27FC236}">
                    <a16:creationId xmlns:a16="http://schemas.microsoft.com/office/drawing/2014/main" id="{9896E18A-BDC4-280A-F2A0-E9EF80CA1286}"/>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7" name="TextBox 12">
              <a:extLst>
                <a:ext uri="{FF2B5EF4-FFF2-40B4-BE49-F238E27FC236}">
                  <a16:creationId xmlns:a16="http://schemas.microsoft.com/office/drawing/2014/main" id="{8A937C4A-6AFE-60E6-1793-063D2110014B}"/>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8" name="TextBox 13">
              <a:extLst>
                <a:ext uri="{FF2B5EF4-FFF2-40B4-BE49-F238E27FC236}">
                  <a16:creationId xmlns:a16="http://schemas.microsoft.com/office/drawing/2014/main" id="{0FA72E36-4B6F-B6ED-4D1C-E2AABA1C9B74}"/>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spTree>
    <p:extLst>
      <p:ext uri="{BB962C8B-B14F-4D97-AF65-F5344CB8AC3E}">
        <p14:creationId xmlns:p14="http://schemas.microsoft.com/office/powerpoint/2010/main" val="419921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74"/>
                                        </p:tgtEl>
                                        <p:attrNameLst>
                                          <p:attrName>style.visibility</p:attrName>
                                        </p:attrNameLst>
                                      </p:cBhvr>
                                      <p:to>
                                        <p:strVal val="visible"/>
                                      </p:to>
                                    </p:set>
                                    <p:animEffect transition="in" filter="fade">
                                      <p:cBhvr>
                                        <p:cTn id="12" dur="500"/>
                                        <p:tgtEl>
                                          <p:spTgt spid="307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3366C-B723-85D5-38AF-972CB7132CC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2E592CC-79F1-07DE-29FA-5187B74B80F0}"/>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24807B74-A7EB-1FD7-11AF-19307F4BDF8D}"/>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3CB09EBE-B62C-7880-F5E0-42BDCBDA759B}"/>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9FB2B2E2-5E18-6646-08AD-B6EF840BEFC5}"/>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66C6BE8C-05F8-FFE6-C695-608D47FBA6F6}"/>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66482B78-F889-7AD4-F879-2A3352925165}"/>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998700B3-62B6-B673-5177-B8A9EE913955}"/>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3E9B368B-6549-95B4-5615-2646E3788E77}"/>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053C2257-0D3A-3BAE-D488-89E8D396F3AF}"/>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50833DD9-B68D-1826-5077-0378D01F6D19}"/>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D1A686FC-2A0B-2FC5-458A-E52CD98677D9}"/>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F828DAD8-DEB2-DAD6-6A43-B80A488AA0F7}"/>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9B80F24C-28CB-D7CE-340B-036B49D3EDB0}"/>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 9</a:t>
            </a:r>
          </a:p>
        </p:txBody>
      </p:sp>
      <p:sp>
        <p:nvSpPr>
          <p:cNvPr id="15" name="TextBox 15">
            <a:extLst>
              <a:ext uri="{FF2B5EF4-FFF2-40B4-BE49-F238E27FC236}">
                <a16:creationId xmlns:a16="http://schemas.microsoft.com/office/drawing/2014/main" id="{B9174EF8-877F-67A8-4718-00FD5555272F}"/>
              </a:ext>
            </a:extLst>
          </p:cNvPr>
          <p:cNvSpPr txBox="1"/>
          <p:nvPr/>
        </p:nvSpPr>
        <p:spPr>
          <a:xfrm>
            <a:off x="2246041" y="2025065"/>
            <a:ext cx="13795916" cy="738664"/>
          </a:xfrm>
          <a:prstGeom prst="rect">
            <a:avLst/>
          </a:prstGeom>
        </p:spPr>
        <p:txBody>
          <a:bodyPr wrap="square" lIns="0" tIns="0" rIns="0" bIns="0" rtlCol="0" anchor="t">
            <a:spAutoFit/>
          </a:bodyPr>
          <a:lstStyle/>
          <a:p>
            <a:pPr algn="ctr"/>
            <a:r>
              <a:rPr lang="en-US" sz="2400" b="1" dirty="0">
                <a:solidFill>
                  <a:srgbClr val="000000"/>
                </a:solidFill>
                <a:latin typeface="Nunito 1 Bold"/>
                <a:ea typeface="Nunito 1 Bold"/>
                <a:cs typeface="Nunito 1 Bold"/>
                <a:sym typeface="Nunito 1 Bold"/>
              </a:rPr>
              <a:t>What is the rate of flow of coconut oil in a 2 in. pipe if the velocity of the fluid is measured at 0.02 m/s? The specific weight of oil is 1500 kg/cubic meter?</a:t>
            </a:r>
          </a:p>
        </p:txBody>
      </p:sp>
      <p:sp>
        <p:nvSpPr>
          <p:cNvPr id="19" name="TextBox 12">
            <a:extLst>
              <a:ext uri="{FF2B5EF4-FFF2-40B4-BE49-F238E27FC236}">
                <a16:creationId xmlns:a16="http://schemas.microsoft.com/office/drawing/2014/main" id="{980B5D77-E339-44C7-25B7-D75055843DBD}"/>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3EF94015-0743-BCF8-02C3-6EDDF784C115}"/>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nvGrpSpPr>
          <p:cNvPr id="23" name="Group 5">
            <a:extLst>
              <a:ext uri="{FF2B5EF4-FFF2-40B4-BE49-F238E27FC236}">
                <a16:creationId xmlns:a16="http://schemas.microsoft.com/office/drawing/2014/main" id="{3EA3EDF6-C1C4-2BEA-7D3F-EC398873DC50}"/>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3498A39F-45CB-0AFE-8328-B03C9D90644E}"/>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0930C4FB-5A76-04A5-EF20-9671FCA83198}"/>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5">
            <a:extLst>
              <a:ext uri="{FF2B5EF4-FFF2-40B4-BE49-F238E27FC236}">
                <a16:creationId xmlns:a16="http://schemas.microsoft.com/office/drawing/2014/main" id="{92ACFEAD-279B-2CB0-B871-04EAA9911FA0}"/>
              </a:ext>
            </a:extLst>
          </p:cNvPr>
          <p:cNvSpPr txBox="1"/>
          <p:nvPr/>
        </p:nvSpPr>
        <p:spPr>
          <a:xfrm>
            <a:off x="1676400" y="3737753"/>
            <a:ext cx="14935200" cy="2585323"/>
          </a:xfrm>
          <a:prstGeom prst="rect">
            <a:avLst/>
          </a:prstGeom>
        </p:spPr>
        <p:txBody>
          <a:bodyPr wrap="square" lIns="0" tIns="0" rIns="0" bIns="0" rtlCol="0" anchor="t">
            <a:spAutoFit/>
          </a:bodyPr>
          <a:lstStyle/>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0.01lps</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0.02lps</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0.03lps</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0.04lps</a:t>
            </a:r>
          </a:p>
        </p:txBody>
      </p:sp>
      <p:pic>
        <p:nvPicPr>
          <p:cNvPr id="2050" name="Picture 2" descr="WATER VELOCITY CALCULATOR IN A PIPE – Flow meter Supplier Philippines">
            <a:extLst>
              <a:ext uri="{FF2B5EF4-FFF2-40B4-BE49-F238E27FC236}">
                <a16:creationId xmlns:a16="http://schemas.microsoft.com/office/drawing/2014/main" id="{B3076AA8-9A87-1888-34EA-4364953D9C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24800" y="3417099"/>
            <a:ext cx="4546882" cy="3226630"/>
          </a:xfrm>
          <a:prstGeom prst="rect">
            <a:avLst/>
          </a:prstGeom>
          <a:noFill/>
          <a:extLst>
            <a:ext uri="{909E8E84-426E-40DD-AFC4-6F175D3DCCD1}">
              <a14:hiddenFill xmlns:a14="http://schemas.microsoft.com/office/drawing/2010/main">
                <a:solidFill>
                  <a:srgbClr val="FFFFFF"/>
                </a:solidFill>
              </a14:hiddenFill>
            </a:ext>
          </a:extLst>
        </p:spPr>
      </p:pic>
      <p:grpSp>
        <p:nvGrpSpPr>
          <p:cNvPr id="17" name="Group 16">
            <a:extLst>
              <a:ext uri="{FF2B5EF4-FFF2-40B4-BE49-F238E27FC236}">
                <a16:creationId xmlns:a16="http://schemas.microsoft.com/office/drawing/2014/main" id="{E98916B7-18FB-7B44-A314-B20607F63807}"/>
              </a:ext>
            </a:extLst>
          </p:cNvPr>
          <p:cNvGrpSpPr/>
          <p:nvPr/>
        </p:nvGrpSpPr>
        <p:grpSpPr>
          <a:xfrm>
            <a:off x="0" y="9599693"/>
            <a:ext cx="18287999" cy="687306"/>
            <a:chOff x="0" y="9599693"/>
            <a:chExt cx="18287999" cy="687306"/>
          </a:xfrm>
        </p:grpSpPr>
        <p:grpSp>
          <p:nvGrpSpPr>
            <p:cNvPr id="18" name="Group 11">
              <a:extLst>
                <a:ext uri="{FF2B5EF4-FFF2-40B4-BE49-F238E27FC236}">
                  <a16:creationId xmlns:a16="http://schemas.microsoft.com/office/drawing/2014/main" id="{9DFCC5DE-1EDB-C12B-55DA-6DAA78DECEAE}"/>
                </a:ext>
              </a:extLst>
            </p:cNvPr>
            <p:cNvGrpSpPr/>
            <p:nvPr/>
          </p:nvGrpSpPr>
          <p:grpSpPr>
            <a:xfrm>
              <a:off x="0" y="9599694"/>
              <a:ext cx="18287999" cy="687305"/>
              <a:chOff x="0" y="0"/>
              <a:chExt cx="5260714" cy="490218"/>
            </a:xfrm>
          </p:grpSpPr>
          <p:sp>
            <p:nvSpPr>
              <p:cNvPr id="26" name="Freeform 12">
                <a:extLst>
                  <a:ext uri="{FF2B5EF4-FFF2-40B4-BE49-F238E27FC236}">
                    <a16:creationId xmlns:a16="http://schemas.microsoft.com/office/drawing/2014/main" id="{A613AC67-CE0A-AE7C-09BF-19547308CEDA}"/>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7" name="TextBox 13">
                <a:extLst>
                  <a:ext uri="{FF2B5EF4-FFF2-40B4-BE49-F238E27FC236}">
                    <a16:creationId xmlns:a16="http://schemas.microsoft.com/office/drawing/2014/main" id="{88216431-5797-2D11-01DD-593C3F0FB257}"/>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1" name="TextBox 12">
              <a:extLst>
                <a:ext uri="{FF2B5EF4-FFF2-40B4-BE49-F238E27FC236}">
                  <a16:creationId xmlns:a16="http://schemas.microsoft.com/office/drawing/2014/main" id="{330EC673-0BF5-EBF6-1DFE-CD5ACF27C929}"/>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2" name="TextBox 13">
              <a:extLst>
                <a:ext uri="{FF2B5EF4-FFF2-40B4-BE49-F238E27FC236}">
                  <a16:creationId xmlns:a16="http://schemas.microsoft.com/office/drawing/2014/main" id="{DD683049-7A64-F477-2E90-0C9B5D6B7956}"/>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spTree>
    <p:extLst>
      <p:ext uri="{BB962C8B-B14F-4D97-AF65-F5344CB8AC3E}">
        <p14:creationId xmlns:p14="http://schemas.microsoft.com/office/powerpoint/2010/main" val="5629363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C202E-F834-01DD-EA7B-D522942C5C9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DE4968B-91A4-BD83-4FC8-C083E69AB123}"/>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939B73EA-DFA1-12A1-F8A5-27C4AF0152F5}"/>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FB378254-68D3-EB5C-36EB-37C8F57BB5AF}"/>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A5A953FB-FB05-DBC6-F140-2847732E9850}"/>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A0A43A2A-286B-5C5C-3E32-82F72D987241}"/>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D4044015-5A23-541C-4F98-7E05BDB68AD5}"/>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41DF1BBC-48D5-10E1-9E62-AF0E5CA7C741}"/>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601F14FF-2EF7-718C-0E65-EADDAAB07166}"/>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B4F4203A-5299-CA75-B8C8-BEAC4021CBCE}"/>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2A426A17-F6E8-0FF3-1517-F2D242DE91E2}"/>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C0B66128-D9B9-6ABC-B254-FF1A38FC7AF2}"/>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55B3B8EC-264B-28FA-BB84-9E646DB142AF}"/>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90AD508F-CAAA-FAB7-D89D-150E07E096CC}"/>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 9</a:t>
            </a:r>
          </a:p>
        </p:txBody>
      </p:sp>
      <p:sp>
        <p:nvSpPr>
          <p:cNvPr id="15" name="TextBox 15">
            <a:extLst>
              <a:ext uri="{FF2B5EF4-FFF2-40B4-BE49-F238E27FC236}">
                <a16:creationId xmlns:a16="http://schemas.microsoft.com/office/drawing/2014/main" id="{E99219A1-8DD6-9001-A6C7-A55B0FE045D2}"/>
              </a:ext>
            </a:extLst>
          </p:cNvPr>
          <p:cNvSpPr txBox="1"/>
          <p:nvPr/>
        </p:nvSpPr>
        <p:spPr>
          <a:xfrm>
            <a:off x="2246041" y="2025065"/>
            <a:ext cx="13795916" cy="738664"/>
          </a:xfrm>
          <a:prstGeom prst="rect">
            <a:avLst/>
          </a:prstGeom>
        </p:spPr>
        <p:txBody>
          <a:bodyPr wrap="square" lIns="0" tIns="0" rIns="0" bIns="0" rtlCol="0" anchor="t">
            <a:spAutoFit/>
          </a:bodyPr>
          <a:lstStyle/>
          <a:p>
            <a:pPr algn="ctr"/>
            <a:r>
              <a:rPr lang="en-US" sz="2400" b="1" dirty="0">
                <a:solidFill>
                  <a:srgbClr val="000000"/>
                </a:solidFill>
                <a:latin typeface="Nunito 1 Bold"/>
                <a:ea typeface="Nunito 1 Bold"/>
                <a:cs typeface="Nunito 1 Bold"/>
                <a:sym typeface="Nunito 1 Bold"/>
              </a:rPr>
              <a:t>What is the rate of flow of coconut oil in a 2 in. pipe if the velocity of the fluid is measured at 0.02 m/s? The specific weight of oil is 1500 kg/cubic meter?</a:t>
            </a:r>
          </a:p>
        </p:txBody>
      </p:sp>
      <p:sp>
        <p:nvSpPr>
          <p:cNvPr id="19" name="TextBox 12">
            <a:extLst>
              <a:ext uri="{FF2B5EF4-FFF2-40B4-BE49-F238E27FC236}">
                <a16:creationId xmlns:a16="http://schemas.microsoft.com/office/drawing/2014/main" id="{8BC89D7B-A78E-F92F-4D8A-4442D0B9160C}"/>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4DA97EA1-A440-5537-F747-021051E399BB}"/>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nvGrpSpPr>
          <p:cNvPr id="23" name="Group 5">
            <a:extLst>
              <a:ext uri="{FF2B5EF4-FFF2-40B4-BE49-F238E27FC236}">
                <a16:creationId xmlns:a16="http://schemas.microsoft.com/office/drawing/2014/main" id="{4D762B11-BACE-7C2D-4A2F-05516B612EB8}"/>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7E2F2C8E-3DF9-4428-E9B6-94D6E24104C3}"/>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67BE98AF-8A9A-653B-D9B2-B8808EBDBAA2}"/>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5">
            <a:extLst>
              <a:ext uri="{FF2B5EF4-FFF2-40B4-BE49-F238E27FC236}">
                <a16:creationId xmlns:a16="http://schemas.microsoft.com/office/drawing/2014/main" id="{6F8587BE-5B85-22EF-5793-5F296B6677FC}"/>
              </a:ext>
            </a:extLst>
          </p:cNvPr>
          <p:cNvSpPr txBox="1"/>
          <p:nvPr/>
        </p:nvSpPr>
        <p:spPr>
          <a:xfrm>
            <a:off x="1676400" y="3737753"/>
            <a:ext cx="14935200" cy="2585323"/>
          </a:xfrm>
          <a:prstGeom prst="rect">
            <a:avLst/>
          </a:prstGeom>
        </p:spPr>
        <p:txBody>
          <a:bodyPr wrap="square" lIns="0" tIns="0" rIns="0" bIns="0" rtlCol="0" anchor="t">
            <a:spAutoFit/>
          </a:bodyPr>
          <a:lstStyle/>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0.01lps</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0.02lps</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0.03lps</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0.04lps</a:t>
            </a:r>
          </a:p>
        </p:txBody>
      </p:sp>
      <p:sp>
        <p:nvSpPr>
          <p:cNvPr id="17" name="Oval 16">
            <a:extLst>
              <a:ext uri="{FF2B5EF4-FFF2-40B4-BE49-F238E27FC236}">
                <a16:creationId xmlns:a16="http://schemas.microsoft.com/office/drawing/2014/main" id="{33A75C75-0B34-93D2-F146-F95E3BE424B3}"/>
              </a:ext>
            </a:extLst>
          </p:cNvPr>
          <p:cNvSpPr/>
          <p:nvPr/>
        </p:nvSpPr>
        <p:spPr>
          <a:xfrm>
            <a:off x="1505640" y="5889429"/>
            <a:ext cx="475936" cy="47593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056761C9-68FB-2343-3012-455E226E25F3}"/>
                  </a:ext>
                </a:extLst>
              </p:cNvPr>
              <p:cNvSpPr txBox="1"/>
              <p:nvPr/>
            </p:nvSpPr>
            <p:spPr>
              <a:xfrm>
                <a:off x="6745399" y="3738590"/>
                <a:ext cx="8316829" cy="1718804"/>
              </a:xfrm>
              <a:prstGeom prst="rect">
                <a:avLst/>
              </a:prstGeom>
              <a:noFill/>
            </p:spPr>
            <p:txBody>
              <a:bodyPr wrap="none" lIns="0" tIns="0" rIns="0" bIns="0" rtlCol="0">
                <a:spAutoFit/>
              </a:bodyPr>
              <a:lstStyle/>
              <a:p>
                <a:r>
                  <a:rPr lang="en-PH" sz="2400" b="0" i="0" dirty="0">
                    <a:latin typeface="Nunito 1" panose="020B0604020202020204" charset="0"/>
                  </a:rPr>
                  <a:t>Solution:</a:t>
                </a:r>
              </a:p>
              <a:p>
                <a:endParaRPr lang="en-PH" sz="2400" b="0" i="0" dirty="0">
                  <a:latin typeface="Nunito 1" panose="020B0604020202020204" charset="0"/>
                </a:endParaRPr>
              </a:p>
              <a:p>
                <a:pPr/>
                <a14:m>
                  <m:oMathPara xmlns:m="http://schemas.openxmlformats.org/officeDocument/2006/math">
                    <m:oMathParaPr>
                      <m:jc m:val="centerGroup"/>
                    </m:oMathParaPr>
                    <m:oMath xmlns:m="http://schemas.openxmlformats.org/officeDocument/2006/math">
                      <m:r>
                        <m:rPr>
                          <m:nor/>
                        </m:rPr>
                        <a:rPr lang="en-PH" sz="2400" b="0" i="0" smtClean="0">
                          <a:latin typeface="Nunito 1" panose="020B0604020202020204" charset="0"/>
                        </a:rPr>
                        <m:t>Q</m:t>
                      </m:r>
                      <m:r>
                        <m:rPr>
                          <m:nor/>
                        </m:rPr>
                        <a:rPr lang="en-PH" sz="2400" b="0" i="0" smtClean="0">
                          <a:latin typeface="Nunito 1" panose="020B0604020202020204" charset="0"/>
                        </a:rPr>
                        <m:t> = </m:t>
                      </m:r>
                      <m:r>
                        <m:rPr>
                          <m:nor/>
                        </m:rPr>
                        <a:rPr lang="en-PH" sz="2400" b="0" i="0" smtClean="0">
                          <a:latin typeface="Nunito 1" panose="020B0604020202020204" charset="0"/>
                        </a:rPr>
                        <m:t>Av</m:t>
                      </m:r>
                      <m:r>
                        <m:rPr>
                          <m:nor/>
                        </m:rPr>
                        <a:rPr lang="en-PH" sz="2400" b="0" i="0" smtClean="0">
                          <a:latin typeface="Nunito 1" panose="020B0604020202020204" charset="0"/>
                        </a:rPr>
                        <m:t> = </m:t>
                      </m:r>
                      <m:d>
                        <m:dPr>
                          <m:ctrlPr>
                            <a:rPr lang="en-PH" sz="2400" b="0" i="1" smtClean="0">
                              <a:latin typeface="Cambria Math" panose="02040503050406030204" pitchFamily="18" charset="0"/>
                            </a:rPr>
                          </m:ctrlPr>
                        </m:dPr>
                        <m:e>
                          <m:r>
                            <m:rPr>
                              <m:nor/>
                            </m:rPr>
                            <a:rPr lang="en-PH" sz="2400" i="0">
                              <a:latin typeface="Nunito 1" panose="020B0604020202020204" charset="0"/>
                              <a:ea typeface="Cambria Math" panose="02040503050406030204" pitchFamily="18" charset="0"/>
                            </a:rPr>
                            <m:t>π</m:t>
                          </m:r>
                          <m:f>
                            <m:fPr>
                              <m:ctrlPr>
                                <a:rPr lang="en-PH" sz="2400" i="1">
                                  <a:latin typeface="Cambria Math" panose="02040503050406030204" pitchFamily="18" charset="0"/>
                                </a:rPr>
                              </m:ctrlPr>
                            </m:fPr>
                            <m:num>
                              <m:sSup>
                                <m:sSupPr>
                                  <m:ctrlPr>
                                    <a:rPr lang="en-PH" sz="2400" i="1">
                                      <a:latin typeface="Cambria Math" panose="02040503050406030204" pitchFamily="18" charset="0"/>
                                    </a:rPr>
                                  </m:ctrlPr>
                                </m:sSupPr>
                                <m:e>
                                  <m:r>
                                    <m:rPr>
                                      <m:nor/>
                                    </m:rPr>
                                    <a:rPr lang="en-PH" sz="2400" i="0" smtClean="0">
                                      <a:latin typeface="Nunito 1" panose="020B0604020202020204" charset="0"/>
                                    </a:rPr>
                                    <m:t>d</m:t>
                                  </m:r>
                                </m:e>
                                <m:sup>
                                  <m:r>
                                    <m:rPr>
                                      <m:nor/>
                                    </m:rPr>
                                    <a:rPr lang="en-PH" sz="2400" i="0">
                                      <a:latin typeface="Nunito 1" panose="020B0604020202020204" charset="0"/>
                                    </a:rPr>
                                    <m:t>2</m:t>
                                  </m:r>
                                </m:sup>
                              </m:sSup>
                            </m:num>
                            <m:den>
                              <m:r>
                                <m:rPr>
                                  <m:nor/>
                                </m:rPr>
                                <a:rPr lang="en-PH" sz="2400" i="0">
                                  <a:latin typeface="Nunito 1" panose="020B0604020202020204" charset="0"/>
                                </a:rPr>
                                <m:t>4</m:t>
                              </m:r>
                            </m:den>
                          </m:f>
                          <m:r>
                            <m:rPr>
                              <m:nor/>
                            </m:rPr>
                            <a:rPr lang="en-PH" sz="2400" i="0">
                              <a:latin typeface="Nunito 1" panose="020B0604020202020204" charset="0"/>
                            </a:rPr>
                            <m:t> </m:t>
                          </m:r>
                        </m:e>
                      </m:d>
                      <m:d>
                        <m:dPr>
                          <m:ctrlPr>
                            <a:rPr lang="en-PH" sz="2400" b="0" i="1" smtClean="0">
                              <a:latin typeface="Cambria Math" panose="02040503050406030204" pitchFamily="18" charset="0"/>
                            </a:rPr>
                          </m:ctrlPr>
                        </m:dPr>
                        <m:e>
                          <m:r>
                            <m:rPr>
                              <m:nor/>
                            </m:rPr>
                            <a:rPr lang="en-PH" sz="2400" i="0">
                              <a:latin typeface="Nunito 1" panose="020B0604020202020204" charset="0"/>
                            </a:rPr>
                            <m:t>v</m:t>
                          </m:r>
                        </m:e>
                      </m:d>
                      <m:r>
                        <a:rPr lang="en-PH" sz="2400" b="0" i="1" smtClean="0">
                          <a:latin typeface="Cambria Math" panose="02040503050406030204" pitchFamily="18" charset="0"/>
                        </a:rPr>
                        <m:t> </m:t>
                      </m:r>
                      <m:r>
                        <m:rPr>
                          <m:nor/>
                        </m:rPr>
                        <a:rPr lang="en-PH" sz="2400" b="0" i="0" smtClean="0">
                          <a:latin typeface="Nunito 1" panose="020B0604020202020204" charset="0"/>
                        </a:rPr>
                        <m:t>= </m:t>
                      </m:r>
                      <m:d>
                        <m:dPr>
                          <m:ctrlPr>
                            <a:rPr lang="en-PH" sz="2400" i="1">
                              <a:latin typeface="Cambria Math" panose="02040503050406030204" pitchFamily="18" charset="0"/>
                            </a:rPr>
                          </m:ctrlPr>
                        </m:dPr>
                        <m:e>
                          <m:r>
                            <m:rPr>
                              <m:nor/>
                            </m:rPr>
                            <a:rPr lang="en-PH" sz="2400" i="0">
                              <a:latin typeface="Nunito 1" panose="020B0604020202020204" charset="0"/>
                              <a:ea typeface="Cambria Math" panose="02040503050406030204" pitchFamily="18" charset="0"/>
                            </a:rPr>
                            <m:t>π</m:t>
                          </m:r>
                          <m:f>
                            <m:fPr>
                              <m:ctrlPr>
                                <a:rPr lang="en-PH" sz="2400" i="1">
                                  <a:latin typeface="Cambria Math" panose="02040503050406030204" pitchFamily="18" charset="0"/>
                                </a:rPr>
                              </m:ctrlPr>
                            </m:fPr>
                            <m:num>
                              <m:sSup>
                                <m:sSupPr>
                                  <m:ctrlPr>
                                    <a:rPr lang="en-PH" sz="2400" i="1">
                                      <a:latin typeface="Cambria Math" panose="02040503050406030204" pitchFamily="18" charset="0"/>
                                    </a:rPr>
                                  </m:ctrlPr>
                                </m:sSupPr>
                                <m:e>
                                  <m:r>
                                    <m:rPr>
                                      <m:nor/>
                                    </m:rPr>
                                    <a:rPr lang="en-PH" sz="2400" b="0" i="0" smtClean="0">
                                      <a:latin typeface="Nunito 1" panose="020B0604020202020204" charset="0"/>
                                    </a:rPr>
                                    <m:t>(2</m:t>
                                  </m:r>
                                  <m:r>
                                    <m:rPr>
                                      <m:nor/>
                                    </m:rPr>
                                    <a:rPr lang="en-PH" sz="2400" b="0" i="0" smtClean="0">
                                      <a:latin typeface="Nunito 1" panose="020B0604020202020204" charset="0"/>
                                    </a:rPr>
                                    <m:t>in</m:t>
                                  </m:r>
                                  <m:r>
                                    <m:rPr>
                                      <m:nor/>
                                    </m:rPr>
                                    <a:rPr lang="en-PH" sz="2400" b="0" i="0" smtClean="0">
                                      <a:latin typeface="Nunito 1" panose="020B0604020202020204" charset="0"/>
                                    </a:rPr>
                                    <m:t>)</m:t>
                                  </m:r>
                                </m:e>
                                <m:sup>
                                  <m:r>
                                    <m:rPr>
                                      <m:nor/>
                                    </m:rPr>
                                    <a:rPr lang="en-PH" sz="2400" i="0">
                                      <a:latin typeface="Nunito 1" panose="020B0604020202020204" charset="0"/>
                                    </a:rPr>
                                    <m:t>2</m:t>
                                  </m:r>
                                </m:sup>
                              </m:sSup>
                            </m:num>
                            <m:den>
                              <m:r>
                                <m:rPr>
                                  <m:nor/>
                                </m:rPr>
                                <a:rPr lang="en-PH" sz="2400" i="0">
                                  <a:latin typeface="Nunito 1" panose="020B0604020202020204" charset="0"/>
                                </a:rPr>
                                <m:t>4</m:t>
                              </m:r>
                            </m:den>
                          </m:f>
                          <m:r>
                            <m:rPr>
                              <m:nor/>
                            </m:rPr>
                            <a:rPr lang="en-PH" sz="2400" i="0">
                              <a:latin typeface="Nunito 1" panose="020B0604020202020204" charset="0"/>
                            </a:rPr>
                            <m:t> </m:t>
                          </m:r>
                        </m:e>
                      </m:d>
                      <m:sSup>
                        <m:sSupPr>
                          <m:ctrlPr>
                            <a:rPr lang="en-PH" sz="2400" i="1" smtClean="0">
                              <a:latin typeface="Cambria Math" panose="02040503050406030204" pitchFamily="18" charset="0"/>
                            </a:rPr>
                          </m:ctrlPr>
                        </m:sSupPr>
                        <m:e>
                          <m:d>
                            <m:dPr>
                              <m:ctrlPr>
                                <a:rPr lang="en-PH" sz="2400" i="1">
                                  <a:latin typeface="Cambria Math" panose="02040503050406030204" pitchFamily="18" charset="0"/>
                                </a:rPr>
                              </m:ctrlPr>
                            </m:dPr>
                            <m:e>
                              <m:f>
                                <m:fPr>
                                  <m:ctrlPr>
                                    <a:rPr lang="en-PH" sz="2400" i="1">
                                      <a:latin typeface="Cambria Math" panose="02040503050406030204" pitchFamily="18" charset="0"/>
                                    </a:rPr>
                                  </m:ctrlPr>
                                </m:fPr>
                                <m:num>
                                  <m:r>
                                    <m:rPr>
                                      <m:nor/>
                                    </m:rPr>
                                    <a:rPr lang="en-PH" sz="2400" i="0">
                                      <a:latin typeface="Nunito 1" panose="020B0604020202020204" charset="0"/>
                                    </a:rPr>
                                    <m:t>0.0254</m:t>
                                  </m:r>
                                  <m:r>
                                    <m:rPr>
                                      <m:nor/>
                                    </m:rPr>
                                    <a:rPr lang="en-PH" sz="2400" i="0">
                                      <a:latin typeface="Nunito 1" panose="020B0604020202020204" charset="0"/>
                                    </a:rPr>
                                    <m:t>m</m:t>
                                  </m:r>
                                </m:num>
                                <m:den>
                                  <m:r>
                                    <m:rPr>
                                      <m:nor/>
                                    </m:rPr>
                                    <a:rPr lang="en-PH" sz="2400" i="0">
                                      <a:latin typeface="Nunito 1" panose="020B0604020202020204" charset="0"/>
                                    </a:rPr>
                                    <m:t>1</m:t>
                                  </m:r>
                                  <m:r>
                                    <m:rPr>
                                      <m:nor/>
                                    </m:rPr>
                                    <a:rPr lang="en-PH" sz="2400" i="0">
                                      <a:latin typeface="Nunito 1" panose="020B0604020202020204" charset="0"/>
                                    </a:rPr>
                                    <m:t>in</m:t>
                                  </m:r>
                                </m:den>
                              </m:f>
                            </m:e>
                          </m:d>
                        </m:e>
                        <m:sup>
                          <m:r>
                            <m:rPr>
                              <m:nor/>
                            </m:rPr>
                            <a:rPr lang="en-PH" sz="2400" b="0" i="0" smtClean="0">
                              <a:latin typeface="Nunito 1" panose="020B0604020202020204" charset="0"/>
                            </a:rPr>
                            <m:t>2</m:t>
                          </m:r>
                        </m:sup>
                      </m:sSup>
                      <m:d>
                        <m:dPr>
                          <m:ctrlPr>
                            <a:rPr lang="en-PH" sz="2400" i="1">
                              <a:latin typeface="Cambria Math" panose="02040503050406030204" pitchFamily="18" charset="0"/>
                            </a:rPr>
                          </m:ctrlPr>
                        </m:dPr>
                        <m:e>
                          <m:r>
                            <m:rPr>
                              <m:nor/>
                            </m:rPr>
                            <a:rPr lang="en-PH" sz="2400" b="0" i="0" smtClean="0">
                              <a:latin typeface="Nunito 1" panose="020B0604020202020204" charset="0"/>
                            </a:rPr>
                            <m:t>0.02</m:t>
                          </m:r>
                          <m:r>
                            <m:rPr>
                              <m:nor/>
                            </m:rPr>
                            <a:rPr lang="en-PH" sz="2400" b="0" i="0" smtClean="0">
                              <a:latin typeface="Nunito 1" panose="020B0604020202020204" charset="0"/>
                            </a:rPr>
                            <m:t>m</m:t>
                          </m:r>
                          <m:r>
                            <m:rPr>
                              <m:nor/>
                            </m:rPr>
                            <a:rPr lang="en-PH" sz="2400" b="0" i="0" smtClean="0">
                              <a:latin typeface="Nunito 1" panose="020B0604020202020204" charset="0"/>
                            </a:rPr>
                            <m:t>/</m:t>
                          </m:r>
                          <m:r>
                            <m:rPr>
                              <m:nor/>
                            </m:rPr>
                            <a:rPr lang="en-PH" sz="2400" b="0" i="0" smtClean="0">
                              <a:latin typeface="Nunito 1" panose="020B0604020202020204" charset="0"/>
                            </a:rPr>
                            <m:t>s</m:t>
                          </m:r>
                        </m:e>
                      </m:d>
                    </m:oMath>
                  </m:oMathPara>
                </a14:m>
                <a:endParaRPr lang="en-PH" sz="2400" dirty="0">
                  <a:latin typeface="Nunito 1" panose="020B0604020202020204" charset="0"/>
                </a:endParaRPr>
              </a:p>
            </p:txBody>
          </p:sp>
        </mc:Choice>
        <mc:Fallback xmlns="">
          <p:sp>
            <p:nvSpPr>
              <p:cNvPr id="18" name="TextBox 17">
                <a:extLst>
                  <a:ext uri="{FF2B5EF4-FFF2-40B4-BE49-F238E27FC236}">
                    <a16:creationId xmlns:a16="http://schemas.microsoft.com/office/drawing/2014/main" id="{056761C9-68FB-2343-3012-455E226E25F3}"/>
                  </a:ext>
                </a:extLst>
              </p:cNvPr>
              <p:cNvSpPr txBox="1">
                <a:spLocks noRot="1" noChangeAspect="1" noMove="1" noResize="1" noEditPoints="1" noAdjustHandles="1" noChangeArrowheads="1" noChangeShapeType="1" noTextEdit="1"/>
              </p:cNvSpPr>
              <p:nvPr/>
            </p:nvSpPr>
            <p:spPr>
              <a:xfrm>
                <a:off x="6745399" y="3738590"/>
                <a:ext cx="8316829" cy="1718804"/>
              </a:xfrm>
              <a:prstGeom prst="rect">
                <a:avLst/>
              </a:prstGeom>
              <a:blipFill>
                <a:blip r:embed="rId2"/>
                <a:stretch>
                  <a:fillRect l="-2273" t="-5319"/>
                </a:stretch>
              </a:blipFill>
            </p:spPr>
            <p:txBody>
              <a:bodyPr/>
              <a:lstStyle/>
              <a:p>
                <a:r>
                  <a:rPr lang="en-PH">
                    <a:noFill/>
                  </a:rPr>
                  <a:t> </a:t>
                </a:r>
              </a:p>
            </p:txBody>
          </p:sp>
        </mc:Fallback>
      </mc:AlternateContent>
      <p:sp>
        <p:nvSpPr>
          <p:cNvPr id="22" name="TextBox 21">
            <a:extLst>
              <a:ext uri="{FF2B5EF4-FFF2-40B4-BE49-F238E27FC236}">
                <a16:creationId xmlns:a16="http://schemas.microsoft.com/office/drawing/2014/main" id="{D4984612-D3EE-DE43-A415-DC808BD209BE}"/>
              </a:ext>
            </a:extLst>
          </p:cNvPr>
          <p:cNvSpPr txBox="1"/>
          <p:nvPr/>
        </p:nvSpPr>
        <p:spPr>
          <a:xfrm>
            <a:off x="6819131" y="5835112"/>
            <a:ext cx="9222826" cy="461665"/>
          </a:xfrm>
          <a:prstGeom prst="rect">
            <a:avLst/>
          </a:prstGeom>
          <a:noFill/>
        </p:spPr>
        <p:txBody>
          <a:bodyPr wrap="square">
            <a:spAutoFit/>
          </a:bodyPr>
          <a:lstStyle/>
          <a:p>
            <a:r>
              <a:rPr lang="en-PH" sz="2400" dirty="0">
                <a:latin typeface="Nunito 1" panose="020B0604020202020204" charset="0"/>
              </a:rPr>
              <a:t>Q = 0.00004054m3/s or 0.04lps</a:t>
            </a:r>
          </a:p>
        </p:txBody>
      </p:sp>
      <p:grpSp>
        <p:nvGrpSpPr>
          <p:cNvPr id="21" name="Group 20">
            <a:extLst>
              <a:ext uri="{FF2B5EF4-FFF2-40B4-BE49-F238E27FC236}">
                <a16:creationId xmlns:a16="http://schemas.microsoft.com/office/drawing/2014/main" id="{8C488992-2F0B-56A6-05F9-FAF41C098D9E}"/>
              </a:ext>
            </a:extLst>
          </p:cNvPr>
          <p:cNvGrpSpPr/>
          <p:nvPr/>
        </p:nvGrpSpPr>
        <p:grpSpPr>
          <a:xfrm>
            <a:off x="0" y="9599693"/>
            <a:ext cx="18287999" cy="687306"/>
            <a:chOff x="0" y="9599693"/>
            <a:chExt cx="18287999" cy="687306"/>
          </a:xfrm>
        </p:grpSpPr>
        <p:grpSp>
          <p:nvGrpSpPr>
            <p:cNvPr id="26" name="Group 11">
              <a:extLst>
                <a:ext uri="{FF2B5EF4-FFF2-40B4-BE49-F238E27FC236}">
                  <a16:creationId xmlns:a16="http://schemas.microsoft.com/office/drawing/2014/main" id="{A2F1531D-F2ED-47BD-77EA-C58E6F85DA93}"/>
                </a:ext>
              </a:extLst>
            </p:cNvPr>
            <p:cNvGrpSpPr/>
            <p:nvPr/>
          </p:nvGrpSpPr>
          <p:grpSpPr>
            <a:xfrm>
              <a:off x="0" y="9599694"/>
              <a:ext cx="18287999" cy="687305"/>
              <a:chOff x="0" y="0"/>
              <a:chExt cx="5260714" cy="490218"/>
            </a:xfrm>
          </p:grpSpPr>
          <p:sp>
            <p:nvSpPr>
              <p:cNvPr id="29" name="Freeform 12">
                <a:extLst>
                  <a:ext uri="{FF2B5EF4-FFF2-40B4-BE49-F238E27FC236}">
                    <a16:creationId xmlns:a16="http://schemas.microsoft.com/office/drawing/2014/main" id="{441F17B1-114C-FD43-D70E-788FCF8B11FE}"/>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30" name="TextBox 13">
                <a:extLst>
                  <a:ext uri="{FF2B5EF4-FFF2-40B4-BE49-F238E27FC236}">
                    <a16:creationId xmlns:a16="http://schemas.microsoft.com/office/drawing/2014/main" id="{5632256C-C595-2A53-848F-726D2BAB64A3}"/>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7" name="TextBox 12">
              <a:extLst>
                <a:ext uri="{FF2B5EF4-FFF2-40B4-BE49-F238E27FC236}">
                  <a16:creationId xmlns:a16="http://schemas.microsoft.com/office/drawing/2014/main" id="{F33B62ED-4904-941F-FCF8-7F442A4C26B5}"/>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8" name="TextBox 13">
              <a:extLst>
                <a:ext uri="{FF2B5EF4-FFF2-40B4-BE49-F238E27FC236}">
                  <a16:creationId xmlns:a16="http://schemas.microsoft.com/office/drawing/2014/main" id="{BC5C6868-285D-A829-F309-D45A97E81D85}"/>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spTree>
    <p:extLst>
      <p:ext uri="{BB962C8B-B14F-4D97-AF65-F5344CB8AC3E}">
        <p14:creationId xmlns:p14="http://schemas.microsoft.com/office/powerpoint/2010/main" val="2480853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42714-E5FD-3357-14E3-5CD3F13D239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0696B23-F845-3FC6-6496-D2D270F962A0}"/>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0AAC3970-19D5-6701-AD44-4A7C97476B4A}"/>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85F62775-227B-5758-65AF-48EB69ED7A5F}"/>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B5714368-1FBA-F8A0-DCDB-C41015F9CC9E}"/>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A4316F98-36E8-11AA-EBBE-A4F3CD26E218}"/>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CCCDD893-B70F-BD40-0616-A953D139A991}"/>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F181542A-5B36-37FA-24BC-D9EFC6FCFBE5}"/>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ABB3C66B-A961-68AD-8EB4-4DC420F75A8F}"/>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B042C46A-1290-3560-F6E0-C26C1895D7FA}"/>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AE71B125-B204-F06B-557F-157DA52927B7}"/>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F28FB009-8336-598D-BFC4-51BBA47D7035}"/>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04E34C49-9BEA-53A3-3338-8C2C9F8B929A}"/>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A4D0787A-0762-9427-32C5-CC7D40FCDEF1}"/>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 10</a:t>
            </a:r>
          </a:p>
        </p:txBody>
      </p:sp>
      <p:sp>
        <p:nvSpPr>
          <p:cNvPr id="15" name="TextBox 15">
            <a:extLst>
              <a:ext uri="{FF2B5EF4-FFF2-40B4-BE49-F238E27FC236}">
                <a16:creationId xmlns:a16="http://schemas.microsoft.com/office/drawing/2014/main" id="{FBC7286D-2353-ED1C-DA74-A87BE3765405}"/>
              </a:ext>
            </a:extLst>
          </p:cNvPr>
          <p:cNvSpPr txBox="1"/>
          <p:nvPr/>
        </p:nvSpPr>
        <p:spPr>
          <a:xfrm>
            <a:off x="2246041" y="2025065"/>
            <a:ext cx="13795916" cy="1477328"/>
          </a:xfrm>
          <a:prstGeom prst="rect">
            <a:avLst/>
          </a:prstGeom>
        </p:spPr>
        <p:txBody>
          <a:bodyPr wrap="square" lIns="0" tIns="0" rIns="0" bIns="0" rtlCol="0" anchor="t">
            <a:spAutoFit/>
          </a:bodyPr>
          <a:lstStyle/>
          <a:p>
            <a:pPr algn="ctr"/>
            <a:r>
              <a:rPr lang="en-US" sz="2400" b="0" i="0" dirty="0">
                <a:solidFill>
                  <a:srgbClr val="000000"/>
                </a:solidFill>
                <a:effectLst/>
                <a:latin typeface="Nunito 1 Bold" panose="020B0604020202020204" charset="0"/>
              </a:rPr>
              <a:t>The U-shaped tube as shown contains mercury that has a density of 13‎ ‎595 kg/m</a:t>
            </a:r>
            <a:r>
              <a:rPr lang="en-US" sz="2400" b="0" i="0" baseline="30000" dirty="0">
                <a:solidFill>
                  <a:srgbClr val="000000"/>
                </a:solidFill>
                <a:effectLst/>
                <a:latin typeface="Nunito 1 Bold" panose="020B0604020202020204" charset="0"/>
              </a:rPr>
              <a:t>3</a:t>
            </a:r>
            <a:r>
              <a:rPr lang="en-US" sz="2400" b="0" i="0" dirty="0">
                <a:solidFill>
                  <a:srgbClr val="000000"/>
                </a:solidFill>
                <a:effectLst/>
                <a:latin typeface="Nunito 1 Bold" panose="020B0604020202020204" charset="0"/>
              </a:rPr>
              <a:t>. The top of the mercury column in contact with the atmosphere is vertically below the top of the mercury column in contact with the gas reservoir. The vertical distance between the column tops h = 25cm. Find the pressure of the gas in the reservoir. </a:t>
            </a:r>
            <a:endParaRPr lang="en-US" sz="2400" b="1" dirty="0">
              <a:solidFill>
                <a:srgbClr val="000000"/>
              </a:solidFill>
              <a:latin typeface="Nunito 1 Bold" panose="020B0604020202020204" charset="0"/>
              <a:ea typeface="Nunito 1 Bold"/>
              <a:cs typeface="Nunito 1 Bold"/>
              <a:sym typeface="Nunito 1 Bold"/>
            </a:endParaRPr>
          </a:p>
        </p:txBody>
      </p:sp>
      <p:sp>
        <p:nvSpPr>
          <p:cNvPr id="19" name="TextBox 12">
            <a:extLst>
              <a:ext uri="{FF2B5EF4-FFF2-40B4-BE49-F238E27FC236}">
                <a16:creationId xmlns:a16="http://schemas.microsoft.com/office/drawing/2014/main" id="{13CE06A4-867A-88C0-2D43-A614EF2367B6}"/>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35267AD0-44DC-4291-F9F9-9BDFF103147E}"/>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nvGrpSpPr>
          <p:cNvPr id="23" name="Group 5">
            <a:extLst>
              <a:ext uri="{FF2B5EF4-FFF2-40B4-BE49-F238E27FC236}">
                <a16:creationId xmlns:a16="http://schemas.microsoft.com/office/drawing/2014/main" id="{3A193D43-3049-634B-A324-5BC88186A205}"/>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C8A447B1-E777-B264-6A1C-4AB5AB261FB0}"/>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DF4826B2-60C1-2A93-DFF3-A1EAC979FACF}"/>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5">
            <a:extLst>
              <a:ext uri="{FF2B5EF4-FFF2-40B4-BE49-F238E27FC236}">
                <a16:creationId xmlns:a16="http://schemas.microsoft.com/office/drawing/2014/main" id="{8DF3FBFF-7555-EE9D-0705-763938CA0206}"/>
              </a:ext>
            </a:extLst>
          </p:cNvPr>
          <p:cNvSpPr txBox="1"/>
          <p:nvPr/>
        </p:nvSpPr>
        <p:spPr>
          <a:xfrm>
            <a:off x="1676400" y="4635597"/>
            <a:ext cx="14935200" cy="2585323"/>
          </a:xfrm>
          <a:prstGeom prst="rect">
            <a:avLst/>
          </a:prstGeom>
        </p:spPr>
        <p:txBody>
          <a:bodyPr wrap="square" lIns="0" tIns="0" rIns="0" bIns="0" rtlCol="0" anchor="t">
            <a:spAutoFit/>
          </a:bodyPr>
          <a:lstStyle/>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33kPa</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68kPa</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101kPa</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105kPa</a:t>
            </a:r>
          </a:p>
        </p:txBody>
      </p:sp>
      <p:sp>
        <p:nvSpPr>
          <p:cNvPr id="21" name="TextBox 15">
            <a:extLst>
              <a:ext uri="{FF2B5EF4-FFF2-40B4-BE49-F238E27FC236}">
                <a16:creationId xmlns:a16="http://schemas.microsoft.com/office/drawing/2014/main" id="{47973581-5E40-8674-8A58-119FB1C5F271}"/>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https://www.nagwa.com/en/explainers/216152184514/</a:t>
            </a:r>
          </a:p>
        </p:txBody>
      </p:sp>
      <p:pic>
        <p:nvPicPr>
          <p:cNvPr id="28" name="Picture 27">
            <a:extLst>
              <a:ext uri="{FF2B5EF4-FFF2-40B4-BE49-F238E27FC236}">
                <a16:creationId xmlns:a16="http://schemas.microsoft.com/office/drawing/2014/main" id="{D32750E2-6FCA-730A-255A-6A8A89879318}"/>
              </a:ext>
            </a:extLst>
          </p:cNvPr>
          <p:cNvPicPr>
            <a:picLocks noChangeAspect="1"/>
          </p:cNvPicPr>
          <p:nvPr/>
        </p:nvPicPr>
        <p:blipFill>
          <a:blip r:embed="rId3"/>
          <a:stretch>
            <a:fillRect/>
          </a:stretch>
        </p:blipFill>
        <p:spPr>
          <a:xfrm>
            <a:off x="7407910" y="3977691"/>
            <a:ext cx="3562350" cy="3505200"/>
          </a:xfrm>
          <a:prstGeom prst="rect">
            <a:avLst/>
          </a:prstGeom>
        </p:spPr>
      </p:pic>
      <p:sp>
        <p:nvSpPr>
          <p:cNvPr id="29" name="TextBox 28">
            <a:extLst>
              <a:ext uri="{FF2B5EF4-FFF2-40B4-BE49-F238E27FC236}">
                <a16:creationId xmlns:a16="http://schemas.microsoft.com/office/drawing/2014/main" id="{57BA3AD3-03AD-5D64-49D9-BFF98004BB24}"/>
              </a:ext>
            </a:extLst>
          </p:cNvPr>
          <p:cNvSpPr txBox="1"/>
          <p:nvPr/>
        </p:nvSpPr>
        <p:spPr>
          <a:xfrm>
            <a:off x="2235018" y="6085334"/>
            <a:ext cx="1752600" cy="1107996"/>
          </a:xfrm>
          <a:prstGeom prst="rect">
            <a:avLst/>
          </a:prstGeom>
        </p:spPr>
        <p:txBody>
          <a:bodyPr wrap="square" lIns="0" tIns="0" rIns="0" bIns="0" rtlCol="0" anchor="t">
            <a:spAutoFit/>
          </a:bodyPr>
          <a:lstStyle/>
          <a:p>
            <a:pPr algn="just"/>
            <a:r>
              <a:rPr lang="en-US" sz="2400" dirty="0">
                <a:solidFill>
                  <a:srgbClr val="000000"/>
                </a:solidFill>
                <a:latin typeface="Nunito 1" panose="020B0604020202020204" charset="0"/>
                <a:ea typeface="Nunito 1 Bold"/>
                <a:cs typeface="Nunito 1 Bold"/>
                <a:sym typeface="Nunito 1 Bold"/>
              </a:rPr>
              <a:t>-----------</a:t>
            </a:r>
          </a:p>
          <a:p>
            <a:pPr algn="just"/>
            <a:endParaRPr lang="en-US" sz="2400" dirty="0">
              <a:solidFill>
                <a:srgbClr val="000000"/>
              </a:solidFill>
              <a:latin typeface="Nunito 1" panose="020B0604020202020204" charset="0"/>
              <a:ea typeface="Nunito 1 Bold"/>
              <a:cs typeface="Nunito 1 Bold"/>
              <a:sym typeface="Nunito 1 Bold"/>
            </a:endParaRPr>
          </a:p>
          <a:p>
            <a:pPr algn="just"/>
            <a:r>
              <a:rPr lang="en-US" sz="2400" dirty="0">
                <a:solidFill>
                  <a:srgbClr val="000000"/>
                </a:solidFill>
                <a:latin typeface="Nunito 1" panose="020B0604020202020204" charset="0"/>
                <a:ea typeface="Nunito 1 Bold"/>
                <a:cs typeface="Nunito 1 Bold"/>
                <a:sym typeface="Nunito 1 Bold"/>
              </a:rPr>
              <a:t>-----------</a:t>
            </a:r>
          </a:p>
        </p:txBody>
      </p:sp>
      <p:sp>
        <p:nvSpPr>
          <p:cNvPr id="31" name="TextBox 30">
            <a:extLst>
              <a:ext uri="{FF2B5EF4-FFF2-40B4-BE49-F238E27FC236}">
                <a16:creationId xmlns:a16="http://schemas.microsoft.com/office/drawing/2014/main" id="{7A5CD09A-8827-FA22-BF28-2612E15444B3}"/>
              </a:ext>
            </a:extLst>
          </p:cNvPr>
          <p:cNvSpPr txBox="1"/>
          <p:nvPr/>
        </p:nvSpPr>
        <p:spPr>
          <a:xfrm>
            <a:off x="6019800" y="7430938"/>
            <a:ext cx="9222826" cy="830997"/>
          </a:xfrm>
          <a:prstGeom prst="rect">
            <a:avLst/>
          </a:prstGeom>
          <a:noFill/>
        </p:spPr>
        <p:txBody>
          <a:bodyPr wrap="square">
            <a:spAutoFit/>
          </a:bodyPr>
          <a:lstStyle/>
          <a:p>
            <a:pPr algn="just"/>
            <a:endParaRPr lang="en-US" sz="2400" dirty="0">
              <a:solidFill>
                <a:srgbClr val="000000"/>
              </a:solidFill>
              <a:latin typeface="Nunito 1" panose="020B0604020202020204" charset="0"/>
              <a:ea typeface="Nunito 1 Bold"/>
              <a:cs typeface="Nunito 1 Bold"/>
              <a:sym typeface="Nunito 1 Bold"/>
            </a:endParaRPr>
          </a:p>
          <a:p>
            <a:pPr algn="just"/>
            <a:r>
              <a:rPr lang="en-US" sz="2400" dirty="0">
                <a:solidFill>
                  <a:srgbClr val="000000"/>
                </a:solidFill>
                <a:latin typeface="Nunito 1" panose="020B0604020202020204" charset="0"/>
                <a:ea typeface="Nunito 1 Bold"/>
                <a:cs typeface="Nunito 1 Bold"/>
                <a:sym typeface="Nunito 1 Bold"/>
              </a:rPr>
              <a:t>Liquid Manometer Equation:	</a:t>
            </a:r>
            <a:r>
              <a:rPr lang="el-GR" sz="2400" dirty="0">
                <a:solidFill>
                  <a:srgbClr val="000000"/>
                </a:solidFill>
                <a:latin typeface="Nunito 1" panose="020B0604020202020204" charset="0"/>
                <a:ea typeface="Nunito 1 Bold"/>
                <a:cs typeface="Nunito 1 Bold"/>
                <a:sym typeface="Nunito 1 Bold"/>
              </a:rPr>
              <a:t> Δ</a:t>
            </a:r>
            <a:r>
              <a:rPr lang="en-PH" sz="2400" dirty="0">
                <a:solidFill>
                  <a:srgbClr val="000000"/>
                </a:solidFill>
                <a:latin typeface="Nunito 1" panose="020B0604020202020204" charset="0"/>
                <a:ea typeface="Nunito 1 Bold"/>
                <a:cs typeface="Nunito 1 Bold"/>
                <a:sym typeface="Nunito 1 Bold"/>
              </a:rPr>
              <a:t>P</a:t>
            </a:r>
            <a:r>
              <a:rPr lang="en-US" sz="2400" dirty="0">
                <a:solidFill>
                  <a:srgbClr val="000000"/>
                </a:solidFill>
                <a:latin typeface="Nunito 1" panose="020B0604020202020204" charset="0"/>
                <a:ea typeface="Nunito 1 Bold"/>
                <a:cs typeface="Nunito 1 Bold"/>
                <a:sym typeface="Nunito 1 Bold"/>
              </a:rPr>
              <a:t> = </a:t>
            </a:r>
            <a:r>
              <a:rPr lang="el-GR" sz="2400" dirty="0">
                <a:solidFill>
                  <a:srgbClr val="000000"/>
                </a:solidFill>
                <a:latin typeface="Nunito 1" panose="020B0604020202020204" charset="0"/>
                <a:ea typeface="Nunito 1 Bold"/>
                <a:cs typeface="Nunito 1 Bold"/>
                <a:sym typeface="Nunito 1 Bold"/>
              </a:rPr>
              <a:t>ρ</a:t>
            </a:r>
            <a:r>
              <a:rPr lang="en-PH" sz="2400" dirty="0">
                <a:solidFill>
                  <a:srgbClr val="000000"/>
                </a:solidFill>
                <a:latin typeface="Nunito 1" panose="020B0604020202020204" charset="0"/>
                <a:ea typeface="Nunito 1 Bold"/>
                <a:cs typeface="Nunito 1 Bold"/>
                <a:sym typeface="Nunito 1 Bold"/>
              </a:rPr>
              <a:t>g</a:t>
            </a:r>
            <a:r>
              <a:rPr lang="el-GR" sz="2400" dirty="0">
                <a:solidFill>
                  <a:srgbClr val="000000"/>
                </a:solidFill>
                <a:latin typeface="Nunito 1" panose="020B0604020202020204" charset="0"/>
                <a:ea typeface="Nunito 1 Bold"/>
                <a:cs typeface="Nunito 1 Bold"/>
                <a:sym typeface="Nunito 1 Bold"/>
              </a:rPr>
              <a:t>Δ</a:t>
            </a:r>
            <a:r>
              <a:rPr lang="en-PH" sz="2400" dirty="0">
                <a:solidFill>
                  <a:srgbClr val="000000"/>
                </a:solidFill>
                <a:latin typeface="Nunito 1" panose="020B0604020202020204" charset="0"/>
                <a:ea typeface="Nunito 1 Bold"/>
                <a:cs typeface="Nunito 1 Bold"/>
                <a:sym typeface="Nunito 1 Bold"/>
              </a:rPr>
              <a:t>h</a:t>
            </a:r>
            <a:r>
              <a:rPr lang="en-US" sz="2400" dirty="0">
                <a:solidFill>
                  <a:srgbClr val="000000"/>
                </a:solidFill>
                <a:latin typeface="Nunito 1" panose="020B0604020202020204" charset="0"/>
                <a:ea typeface="Nunito 1 Bold"/>
                <a:cs typeface="Nunito 1 Bold"/>
                <a:sym typeface="Nunito 1 Bold"/>
              </a:rPr>
              <a:t> </a:t>
            </a:r>
          </a:p>
        </p:txBody>
      </p:sp>
      <p:grpSp>
        <p:nvGrpSpPr>
          <p:cNvPr id="17" name="Group 16">
            <a:extLst>
              <a:ext uri="{FF2B5EF4-FFF2-40B4-BE49-F238E27FC236}">
                <a16:creationId xmlns:a16="http://schemas.microsoft.com/office/drawing/2014/main" id="{5A7069EA-F0E7-FADC-4259-604EEDC7719D}"/>
              </a:ext>
            </a:extLst>
          </p:cNvPr>
          <p:cNvGrpSpPr/>
          <p:nvPr/>
        </p:nvGrpSpPr>
        <p:grpSpPr>
          <a:xfrm>
            <a:off x="0" y="9599693"/>
            <a:ext cx="18287999" cy="687306"/>
            <a:chOff x="0" y="9599693"/>
            <a:chExt cx="18287999" cy="687306"/>
          </a:xfrm>
        </p:grpSpPr>
        <p:grpSp>
          <p:nvGrpSpPr>
            <p:cNvPr id="18" name="Group 11">
              <a:extLst>
                <a:ext uri="{FF2B5EF4-FFF2-40B4-BE49-F238E27FC236}">
                  <a16:creationId xmlns:a16="http://schemas.microsoft.com/office/drawing/2014/main" id="{B5B37713-208F-4D66-2677-7655068E1771}"/>
                </a:ext>
              </a:extLst>
            </p:cNvPr>
            <p:cNvGrpSpPr/>
            <p:nvPr/>
          </p:nvGrpSpPr>
          <p:grpSpPr>
            <a:xfrm>
              <a:off x="0" y="9599694"/>
              <a:ext cx="18287999" cy="687305"/>
              <a:chOff x="0" y="0"/>
              <a:chExt cx="5260714" cy="490218"/>
            </a:xfrm>
          </p:grpSpPr>
          <p:sp>
            <p:nvSpPr>
              <p:cNvPr id="27" name="Freeform 12">
                <a:extLst>
                  <a:ext uri="{FF2B5EF4-FFF2-40B4-BE49-F238E27FC236}">
                    <a16:creationId xmlns:a16="http://schemas.microsoft.com/office/drawing/2014/main" id="{F19712BD-6BB3-1DEE-E003-C8033C3A5F7A}"/>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30" name="TextBox 13">
                <a:extLst>
                  <a:ext uri="{FF2B5EF4-FFF2-40B4-BE49-F238E27FC236}">
                    <a16:creationId xmlns:a16="http://schemas.microsoft.com/office/drawing/2014/main" id="{B198E9A8-1197-DCD7-52F7-810B591251C7}"/>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2" name="TextBox 12">
              <a:extLst>
                <a:ext uri="{FF2B5EF4-FFF2-40B4-BE49-F238E27FC236}">
                  <a16:creationId xmlns:a16="http://schemas.microsoft.com/office/drawing/2014/main" id="{10CC784F-62B5-9961-120D-5B5DFB9CF20A}"/>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6" name="TextBox 13">
              <a:extLst>
                <a:ext uri="{FF2B5EF4-FFF2-40B4-BE49-F238E27FC236}">
                  <a16:creationId xmlns:a16="http://schemas.microsoft.com/office/drawing/2014/main" id="{7342FB65-83F1-8E01-C35D-FACAB517737E}"/>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spTree>
    <p:extLst>
      <p:ext uri="{BB962C8B-B14F-4D97-AF65-F5344CB8AC3E}">
        <p14:creationId xmlns:p14="http://schemas.microsoft.com/office/powerpoint/2010/main" val="3183151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E467C-1D9F-85DA-47E2-7C5342CC40C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4B1BF39-562E-A59F-6BDB-ECE76F22A514}"/>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47439503-ABB6-F183-054F-DA62672C1C87}"/>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A865B540-88A3-072B-520E-52B1D7D95548}"/>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1DD0A310-15AB-5D68-1C0D-632219D49496}"/>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A30AC9ED-8C87-C635-C3A6-8AF9270EEA23}"/>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F109BDDF-0831-5D9E-1869-5430A0AA78C2}"/>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C59153B3-2F9B-1C9D-713A-58ABE6CFB4AA}"/>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EEEAF1F4-FB3E-A06C-A460-B4E445BCE3ED}"/>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998FC4A9-63B2-6679-C110-51CA05442FD3}"/>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0E98FCF6-351C-F159-821F-125AF901FEF6}"/>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D14F9C1E-792D-18EC-7976-AFD58D65B232}"/>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B993A173-F38A-AB17-1F24-F6229E0F9172}"/>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5" name="TextBox 15">
            <a:extLst>
              <a:ext uri="{FF2B5EF4-FFF2-40B4-BE49-F238E27FC236}">
                <a16:creationId xmlns:a16="http://schemas.microsoft.com/office/drawing/2014/main" id="{71A459AD-165F-13BE-C9E2-7A6B812618CB}"/>
              </a:ext>
            </a:extLst>
          </p:cNvPr>
          <p:cNvSpPr txBox="1"/>
          <p:nvPr/>
        </p:nvSpPr>
        <p:spPr>
          <a:xfrm>
            <a:off x="2246041" y="2025065"/>
            <a:ext cx="13795916" cy="369332"/>
          </a:xfrm>
          <a:prstGeom prst="rect">
            <a:avLst/>
          </a:prstGeom>
        </p:spPr>
        <p:txBody>
          <a:bodyPr wrap="square" lIns="0" tIns="0" rIns="0" bIns="0" rtlCol="0" anchor="t">
            <a:spAutoFit/>
          </a:bodyPr>
          <a:lstStyle/>
          <a:p>
            <a:pPr algn="ctr"/>
            <a:r>
              <a:rPr lang="en-US" sz="2400" b="0" i="0" dirty="0">
                <a:solidFill>
                  <a:srgbClr val="000000"/>
                </a:solidFill>
                <a:effectLst/>
                <a:latin typeface="Nunito 1 Bold" panose="020B0604020202020204" charset="0"/>
              </a:rPr>
              <a:t>Recall: Pressure measurement using the height of a liquid column in a U-shaped manometer</a:t>
            </a:r>
            <a:endParaRPr lang="en-US" sz="2400" b="1" dirty="0">
              <a:solidFill>
                <a:srgbClr val="000000"/>
              </a:solidFill>
              <a:latin typeface="Nunito 1 Bold" panose="020B0604020202020204" charset="0"/>
              <a:ea typeface="Nunito 1 Bold"/>
              <a:cs typeface="Nunito 1 Bold"/>
              <a:sym typeface="Nunito 1 Bold"/>
            </a:endParaRPr>
          </a:p>
        </p:txBody>
      </p:sp>
      <p:sp>
        <p:nvSpPr>
          <p:cNvPr id="19" name="TextBox 12">
            <a:extLst>
              <a:ext uri="{FF2B5EF4-FFF2-40B4-BE49-F238E27FC236}">
                <a16:creationId xmlns:a16="http://schemas.microsoft.com/office/drawing/2014/main" id="{0123C8F7-354F-F4F5-82ED-C65C1C84706F}"/>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EF3B945A-FBC2-2643-FE8C-4100FADC2F39}"/>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nvGrpSpPr>
          <p:cNvPr id="23" name="Group 5">
            <a:extLst>
              <a:ext uri="{FF2B5EF4-FFF2-40B4-BE49-F238E27FC236}">
                <a16:creationId xmlns:a16="http://schemas.microsoft.com/office/drawing/2014/main" id="{D98B547C-E8B2-28CB-9FCC-569CBA047EDC}"/>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91AEABD1-C63D-2D7D-A530-94A34BDA3F0A}"/>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5D85CF41-366E-E152-349B-7C1E9B898ED6}"/>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1" name="TextBox 15">
            <a:extLst>
              <a:ext uri="{FF2B5EF4-FFF2-40B4-BE49-F238E27FC236}">
                <a16:creationId xmlns:a16="http://schemas.microsoft.com/office/drawing/2014/main" id="{AC09725D-E1FD-2836-4BA8-87E64EFB68C2}"/>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https://www.nagwa.com/en/explainers/216152184514/</a:t>
            </a:r>
          </a:p>
        </p:txBody>
      </p:sp>
      <p:pic>
        <p:nvPicPr>
          <p:cNvPr id="6150" name="Picture 6" descr="9.1: Gas Pressure - Chemistry LibreTexts">
            <a:extLst>
              <a:ext uri="{FF2B5EF4-FFF2-40B4-BE49-F238E27FC236}">
                <a16:creationId xmlns:a16="http://schemas.microsoft.com/office/drawing/2014/main" id="{7FB70EBB-0F7B-BC56-C60A-E4558EC5F3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598" y="2884680"/>
            <a:ext cx="11734802" cy="424423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4" name="TextBox 15">
                <a:extLst>
                  <a:ext uri="{FF2B5EF4-FFF2-40B4-BE49-F238E27FC236}">
                    <a16:creationId xmlns:a16="http://schemas.microsoft.com/office/drawing/2014/main" id="{CD5E23A3-64E5-597D-A3D8-66705C863A27}"/>
                  </a:ext>
                </a:extLst>
              </p:cNvPr>
              <p:cNvSpPr txBox="1"/>
              <p:nvPr/>
            </p:nvSpPr>
            <p:spPr>
              <a:xfrm>
                <a:off x="2468363" y="7603509"/>
                <a:ext cx="13795916" cy="430887"/>
              </a:xfrm>
              <a:prstGeom prst="rect">
                <a:avLst/>
              </a:prstGeom>
            </p:spPr>
            <p:txBody>
              <a:bodyPr wrap="square" lIns="0" tIns="0" rIns="0" bIns="0" rtlCol="0" anchor="t">
                <a:spAutoFit/>
              </a:bodyPr>
              <a:lstStyle/>
              <a:p>
                <a:pPr algn="ctr"/>
                <a14:m>
                  <m:oMathPara xmlns:m="http://schemas.openxmlformats.org/officeDocument/2006/math">
                    <m:oMathParaPr>
                      <m:jc m:val="centerGroup"/>
                    </m:oMathParaPr>
                    <m:oMath xmlns:m="http://schemas.openxmlformats.org/officeDocument/2006/math">
                      <m:r>
                        <m:rPr>
                          <m:nor/>
                        </m:rPr>
                        <a:rPr lang="en-US" sz="2800" b="1" i="0" smtClean="0">
                          <a:solidFill>
                            <a:srgbClr val="000000"/>
                          </a:solidFill>
                          <a:latin typeface="Courier New" panose="02070309020205020404" pitchFamily="49" charset="0"/>
                          <a:ea typeface="Cambria Math" panose="02040503050406030204" pitchFamily="18" charset="0"/>
                          <a:cs typeface="Courier New" panose="02070309020205020404" pitchFamily="49" charset="0"/>
                          <a:sym typeface="Nunito 1 Bold"/>
                        </a:rPr>
                        <m:t>∆</m:t>
                      </m:r>
                      <m:r>
                        <m:rPr>
                          <m:nor/>
                        </m:rPr>
                        <a:rPr lang="en-PH" sz="2800" b="1" i="0" smtClean="0">
                          <a:solidFill>
                            <a:srgbClr val="000000"/>
                          </a:solidFill>
                          <a:latin typeface="Courier New" panose="02070309020205020404" pitchFamily="49" charset="0"/>
                          <a:ea typeface="Cambria Math" panose="02040503050406030204" pitchFamily="18" charset="0"/>
                          <a:cs typeface="Courier New" panose="02070309020205020404" pitchFamily="49" charset="0"/>
                          <a:sym typeface="Nunito 1 Bold"/>
                        </a:rPr>
                        <m:t>P</m:t>
                      </m:r>
                      <m:r>
                        <m:rPr>
                          <m:nor/>
                        </m:rPr>
                        <a:rPr lang="en-PH" sz="2800" b="1" i="0" smtClean="0">
                          <a:solidFill>
                            <a:srgbClr val="000000"/>
                          </a:solidFill>
                          <a:latin typeface="Courier New" panose="02070309020205020404" pitchFamily="49" charset="0"/>
                          <a:ea typeface="Cambria Math" panose="02040503050406030204" pitchFamily="18" charset="0"/>
                          <a:cs typeface="Courier New" panose="02070309020205020404" pitchFamily="49" charset="0"/>
                          <a:sym typeface="Nunito 1 Bold"/>
                        </a:rPr>
                        <m:t> = </m:t>
                      </m:r>
                      <m:r>
                        <m:rPr>
                          <m:nor/>
                        </m:rPr>
                        <a:rPr lang="en-PH" sz="2800" b="1" i="0" smtClean="0">
                          <a:solidFill>
                            <a:srgbClr val="000000"/>
                          </a:solidFill>
                          <a:latin typeface="Courier New" panose="02070309020205020404" pitchFamily="49" charset="0"/>
                          <a:ea typeface="Cambria Math" panose="02040503050406030204" pitchFamily="18" charset="0"/>
                          <a:cs typeface="Courier New" panose="02070309020205020404" pitchFamily="49" charset="0"/>
                          <a:sym typeface="Nunito 1 Bold"/>
                        </a:rPr>
                        <m:t>ρg</m:t>
                      </m:r>
                      <m:r>
                        <m:rPr>
                          <m:nor/>
                        </m:rPr>
                        <a:rPr lang="en-PH" sz="2800" b="1" i="0" smtClean="0">
                          <a:solidFill>
                            <a:srgbClr val="000000"/>
                          </a:solidFill>
                          <a:latin typeface="Courier New" panose="02070309020205020404" pitchFamily="49" charset="0"/>
                          <a:ea typeface="Cambria Math" panose="02040503050406030204" pitchFamily="18" charset="0"/>
                          <a:cs typeface="Courier New" panose="02070309020205020404" pitchFamily="49" charset="0"/>
                          <a:sym typeface="Nunito 1 Bold"/>
                        </a:rPr>
                        <m:t>∆</m:t>
                      </m:r>
                      <m:r>
                        <m:rPr>
                          <m:nor/>
                        </m:rPr>
                        <a:rPr lang="en-PH" sz="2800" b="1" i="0" smtClean="0">
                          <a:solidFill>
                            <a:srgbClr val="000000"/>
                          </a:solidFill>
                          <a:latin typeface="Courier New" panose="02070309020205020404" pitchFamily="49" charset="0"/>
                          <a:ea typeface="Cambria Math" panose="02040503050406030204" pitchFamily="18" charset="0"/>
                          <a:cs typeface="Courier New" panose="02070309020205020404" pitchFamily="49" charset="0"/>
                          <a:sym typeface="Nunito 1 Bold"/>
                        </a:rPr>
                        <m:t>h</m:t>
                      </m:r>
                    </m:oMath>
                  </m:oMathPara>
                </a14:m>
                <a:endParaRPr lang="en-US" sz="2800" b="1" dirty="0">
                  <a:solidFill>
                    <a:srgbClr val="000000"/>
                  </a:solidFill>
                  <a:latin typeface="Courier New" panose="02070309020205020404" pitchFamily="49" charset="0"/>
                  <a:ea typeface="Nunito 1 Bold"/>
                  <a:cs typeface="Courier New" panose="02070309020205020404" pitchFamily="49" charset="0"/>
                  <a:sym typeface="Nunito 1 Bold"/>
                </a:endParaRPr>
              </a:p>
            </p:txBody>
          </p:sp>
        </mc:Choice>
        <mc:Fallback xmlns="">
          <p:sp>
            <p:nvSpPr>
              <p:cNvPr id="14" name="TextBox 15">
                <a:extLst>
                  <a:ext uri="{FF2B5EF4-FFF2-40B4-BE49-F238E27FC236}">
                    <a16:creationId xmlns:a16="http://schemas.microsoft.com/office/drawing/2014/main" id="{CD5E23A3-64E5-597D-A3D8-66705C863A27}"/>
                  </a:ext>
                </a:extLst>
              </p:cNvPr>
              <p:cNvSpPr txBox="1">
                <a:spLocks noRot="1" noChangeAspect="1" noMove="1" noResize="1" noEditPoints="1" noAdjustHandles="1" noChangeArrowheads="1" noChangeShapeType="1" noTextEdit="1"/>
              </p:cNvSpPr>
              <p:nvPr/>
            </p:nvSpPr>
            <p:spPr>
              <a:xfrm>
                <a:off x="2468363" y="7603509"/>
                <a:ext cx="13795916" cy="430887"/>
              </a:xfrm>
              <a:prstGeom prst="rect">
                <a:avLst/>
              </a:prstGeom>
              <a:blipFill>
                <a:blip r:embed="rId4"/>
                <a:stretch>
                  <a:fillRect/>
                </a:stretch>
              </a:blipFill>
            </p:spPr>
            <p:txBody>
              <a:bodyPr/>
              <a:lstStyle/>
              <a:p>
                <a:r>
                  <a:rPr lang="en-PH">
                    <a:noFill/>
                  </a:rPr>
                  <a:t> </a:t>
                </a:r>
              </a:p>
            </p:txBody>
          </p:sp>
        </mc:Fallback>
      </mc:AlternateContent>
      <p:grpSp>
        <p:nvGrpSpPr>
          <p:cNvPr id="16" name="Group 15">
            <a:extLst>
              <a:ext uri="{FF2B5EF4-FFF2-40B4-BE49-F238E27FC236}">
                <a16:creationId xmlns:a16="http://schemas.microsoft.com/office/drawing/2014/main" id="{D5800C0A-930F-BB84-D174-046F2F01797D}"/>
              </a:ext>
            </a:extLst>
          </p:cNvPr>
          <p:cNvGrpSpPr/>
          <p:nvPr/>
        </p:nvGrpSpPr>
        <p:grpSpPr>
          <a:xfrm>
            <a:off x="0" y="9599693"/>
            <a:ext cx="18287999" cy="687306"/>
            <a:chOff x="0" y="9599693"/>
            <a:chExt cx="18287999" cy="687306"/>
          </a:xfrm>
        </p:grpSpPr>
        <p:grpSp>
          <p:nvGrpSpPr>
            <p:cNvPr id="17" name="Group 11">
              <a:extLst>
                <a:ext uri="{FF2B5EF4-FFF2-40B4-BE49-F238E27FC236}">
                  <a16:creationId xmlns:a16="http://schemas.microsoft.com/office/drawing/2014/main" id="{13F84549-3275-9E32-A57B-6F9FED5A534F}"/>
                </a:ext>
              </a:extLst>
            </p:cNvPr>
            <p:cNvGrpSpPr/>
            <p:nvPr/>
          </p:nvGrpSpPr>
          <p:grpSpPr>
            <a:xfrm>
              <a:off x="0" y="9599694"/>
              <a:ext cx="18287999" cy="687305"/>
              <a:chOff x="0" y="0"/>
              <a:chExt cx="5260714" cy="490218"/>
            </a:xfrm>
          </p:grpSpPr>
          <p:sp>
            <p:nvSpPr>
              <p:cNvPr id="26" name="Freeform 12">
                <a:extLst>
                  <a:ext uri="{FF2B5EF4-FFF2-40B4-BE49-F238E27FC236}">
                    <a16:creationId xmlns:a16="http://schemas.microsoft.com/office/drawing/2014/main" id="{9D4EEE65-9F44-4068-69DA-7D1E43AAF1B7}"/>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7" name="TextBox 13">
                <a:extLst>
                  <a:ext uri="{FF2B5EF4-FFF2-40B4-BE49-F238E27FC236}">
                    <a16:creationId xmlns:a16="http://schemas.microsoft.com/office/drawing/2014/main" id="{D8E4CE0C-1454-CA03-8FD4-0366E64CADCA}"/>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2">
              <a:extLst>
                <a:ext uri="{FF2B5EF4-FFF2-40B4-BE49-F238E27FC236}">
                  <a16:creationId xmlns:a16="http://schemas.microsoft.com/office/drawing/2014/main" id="{13F92348-3D85-608F-1123-31C0D3E00BDF}"/>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2" name="TextBox 13">
              <a:extLst>
                <a:ext uri="{FF2B5EF4-FFF2-40B4-BE49-F238E27FC236}">
                  <a16:creationId xmlns:a16="http://schemas.microsoft.com/office/drawing/2014/main" id="{668393B6-DDD8-DA3E-4B19-21C44F02B6A2}"/>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spTree>
    <p:extLst>
      <p:ext uri="{BB962C8B-B14F-4D97-AF65-F5344CB8AC3E}">
        <p14:creationId xmlns:p14="http://schemas.microsoft.com/office/powerpoint/2010/main" val="28626397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C8DA8-AADE-3BCA-A249-237C19264E5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9AAAABF-456D-FE02-FE91-F2E8390BF35A}"/>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153FB25E-B699-44C6-EC36-C9C277D0E70F}"/>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6808278C-F012-A0E3-DA90-DCA6A3C7E5AD}"/>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7FAF124B-1993-60BC-D4B1-42122B13BBF2}"/>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F8CAED0E-4B09-6581-077E-E277D33E6631}"/>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F9BC89EB-8F72-470E-88A7-07FA4F046F7C}"/>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CDC5B917-4F35-6944-1552-761B856711C0}"/>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522CDF9D-A5E8-42E6-6FD7-B8918A399BEC}"/>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0FE9A160-AD75-9C4E-B8E2-801D5B373346}"/>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E9FA0CEE-F658-643E-9607-67FF21F25A84}"/>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8B8580ED-2402-B003-5E42-D14FACABA1C4}"/>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84E9433F-0B56-E514-46BD-8B01685D8D80}"/>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AE52FA54-3680-A46C-D19E-47039095BC11}"/>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 10</a:t>
            </a:r>
          </a:p>
        </p:txBody>
      </p:sp>
      <p:sp>
        <p:nvSpPr>
          <p:cNvPr id="15" name="TextBox 15">
            <a:extLst>
              <a:ext uri="{FF2B5EF4-FFF2-40B4-BE49-F238E27FC236}">
                <a16:creationId xmlns:a16="http://schemas.microsoft.com/office/drawing/2014/main" id="{D6A06BD4-7608-1B66-2BE8-4CCC38DD88E7}"/>
              </a:ext>
            </a:extLst>
          </p:cNvPr>
          <p:cNvSpPr txBox="1"/>
          <p:nvPr/>
        </p:nvSpPr>
        <p:spPr>
          <a:xfrm>
            <a:off x="2246041" y="2025065"/>
            <a:ext cx="13795916" cy="1477328"/>
          </a:xfrm>
          <a:prstGeom prst="rect">
            <a:avLst/>
          </a:prstGeom>
        </p:spPr>
        <p:txBody>
          <a:bodyPr wrap="square" lIns="0" tIns="0" rIns="0" bIns="0" rtlCol="0" anchor="t">
            <a:spAutoFit/>
          </a:bodyPr>
          <a:lstStyle/>
          <a:p>
            <a:pPr algn="ctr"/>
            <a:r>
              <a:rPr lang="en-US" sz="2400" b="0" i="0" dirty="0">
                <a:solidFill>
                  <a:srgbClr val="000000"/>
                </a:solidFill>
                <a:effectLst/>
                <a:latin typeface="Nunito 1 Bold" panose="020B0604020202020204" charset="0"/>
              </a:rPr>
              <a:t>The U-shaped tube as shown  contains mercury that has a density of 13‎ ‎595 kg/m</a:t>
            </a:r>
            <a:r>
              <a:rPr lang="en-US" sz="2400" b="0" i="0" baseline="30000" dirty="0">
                <a:solidFill>
                  <a:srgbClr val="000000"/>
                </a:solidFill>
                <a:effectLst/>
                <a:latin typeface="Nunito 1 Bold" panose="020B0604020202020204" charset="0"/>
              </a:rPr>
              <a:t>3</a:t>
            </a:r>
            <a:r>
              <a:rPr lang="en-US" sz="2400" b="0" i="0" dirty="0">
                <a:solidFill>
                  <a:srgbClr val="000000"/>
                </a:solidFill>
                <a:effectLst/>
                <a:latin typeface="Nunito 1 Bold" panose="020B0604020202020204" charset="0"/>
              </a:rPr>
              <a:t>.The top of the mercury column in contact with the atmosphere is vertically below the top of the mercury column in contact with the gas reservoir. The vertical distance between the column tops h = 25cm. Find the pressure of the gas in the reservoir. </a:t>
            </a:r>
            <a:endParaRPr lang="en-US" sz="2400" b="1" dirty="0">
              <a:solidFill>
                <a:srgbClr val="000000"/>
              </a:solidFill>
              <a:latin typeface="Nunito 1 Bold" panose="020B0604020202020204" charset="0"/>
              <a:ea typeface="Nunito 1 Bold"/>
              <a:cs typeface="Nunito 1 Bold"/>
              <a:sym typeface="Nunito 1 Bold"/>
            </a:endParaRPr>
          </a:p>
        </p:txBody>
      </p:sp>
      <p:sp>
        <p:nvSpPr>
          <p:cNvPr id="19" name="TextBox 12">
            <a:extLst>
              <a:ext uri="{FF2B5EF4-FFF2-40B4-BE49-F238E27FC236}">
                <a16:creationId xmlns:a16="http://schemas.microsoft.com/office/drawing/2014/main" id="{173E893D-B099-285B-C3A9-963E2F640346}"/>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2054F4D9-092B-5217-9883-57DFB2E6DB39}"/>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nvGrpSpPr>
          <p:cNvPr id="23" name="Group 5">
            <a:extLst>
              <a:ext uri="{FF2B5EF4-FFF2-40B4-BE49-F238E27FC236}">
                <a16:creationId xmlns:a16="http://schemas.microsoft.com/office/drawing/2014/main" id="{1B602488-8FAC-7CB1-AA97-8454E9AC60E9}"/>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7802A9DB-873F-C4B6-0F78-3C976C804F04}"/>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FD39606E-5DBF-28F6-5947-9E344A850789}"/>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5">
            <a:extLst>
              <a:ext uri="{FF2B5EF4-FFF2-40B4-BE49-F238E27FC236}">
                <a16:creationId xmlns:a16="http://schemas.microsoft.com/office/drawing/2014/main" id="{FA3FF1AD-57B2-D0B0-D01D-9902797883C7}"/>
              </a:ext>
            </a:extLst>
          </p:cNvPr>
          <p:cNvSpPr txBox="1"/>
          <p:nvPr/>
        </p:nvSpPr>
        <p:spPr>
          <a:xfrm>
            <a:off x="1676400" y="4635597"/>
            <a:ext cx="14935200" cy="2585323"/>
          </a:xfrm>
          <a:prstGeom prst="rect">
            <a:avLst/>
          </a:prstGeom>
        </p:spPr>
        <p:txBody>
          <a:bodyPr wrap="square" lIns="0" tIns="0" rIns="0" bIns="0" rtlCol="0" anchor="t">
            <a:spAutoFit/>
          </a:bodyPr>
          <a:lstStyle/>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33kPa</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68kPa</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101kPa</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105kPa</a:t>
            </a:r>
          </a:p>
        </p:txBody>
      </p:sp>
      <p:sp>
        <p:nvSpPr>
          <p:cNvPr id="17" name="Oval 16">
            <a:extLst>
              <a:ext uri="{FF2B5EF4-FFF2-40B4-BE49-F238E27FC236}">
                <a16:creationId xmlns:a16="http://schemas.microsoft.com/office/drawing/2014/main" id="{E7495B43-5C42-5F32-9273-04226BF927D2}"/>
              </a:ext>
            </a:extLst>
          </p:cNvPr>
          <p:cNvSpPr/>
          <p:nvPr/>
        </p:nvSpPr>
        <p:spPr>
          <a:xfrm>
            <a:off x="1505640" y="5302447"/>
            <a:ext cx="475936" cy="47593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1" name="TextBox 15">
            <a:extLst>
              <a:ext uri="{FF2B5EF4-FFF2-40B4-BE49-F238E27FC236}">
                <a16:creationId xmlns:a16="http://schemas.microsoft.com/office/drawing/2014/main" id="{F3111C62-E084-7B0A-5F17-2B64A30FF33A}"/>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https://www.nagwa.com/en/explainers/216152184514/</a:t>
            </a:r>
          </a:p>
        </p:txBody>
      </p:sp>
      <p:pic>
        <p:nvPicPr>
          <p:cNvPr id="27" name="Picture 26">
            <a:extLst>
              <a:ext uri="{FF2B5EF4-FFF2-40B4-BE49-F238E27FC236}">
                <a16:creationId xmlns:a16="http://schemas.microsoft.com/office/drawing/2014/main" id="{F23E632C-9A89-879B-CAEC-94214FD7EE8A}"/>
              </a:ext>
            </a:extLst>
          </p:cNvPr>
          <p:cNvPicPr>
            <a:picLocks noChangeAspect="1"/>
          </p:cNvPicPr>
          <p:nvPr/>
        </p:nvPicPr>
        <p:blipFill>
          <a:blip r:embed="rId3"/>
          <a:stretch>
            <a:fillRect/>
          </a:stretch>
        </p:blipFill>
        <p:spPr>
          <a:xfrm>
            <a:off x="5151745" y="3977691"/>
            <a:ext cx="3562350" cy="3505200"/>
          </a:xfrm>
          <a:prstGeom prst="rect">
            <a:avLst/>
          </a:prstGeom>
        </p:spPr>
      </p:pic>
      <p:sp>
        <p:nvSpPr>
          <p:cNvPr id="22" name="TextBox 21">
            <a:extLst>
              <a:ext uri="{FF2B5EF4-FFF2-40B4-BE49-F238E27FC236}">
                <a16:creationId xmlns:a16="http://schemas.microsoft.com/office/drawing/2014/main" id="{B063C374-6482-C57D-4C70-201DC707D0B3}"/>
              </a:ext>
            </a:extLst>
          </p:cNvPr>
          <p:cNvSpPr txBox="1"/>
          <p:nvPr/>
        </p:nvSpPr>
        <p:spPr>
          <a:xfrm>
            <a:off x="9366321" y="4235254"/>
            <a:ext cx="6864279" cy="2954655"/>
          </a:xfrm>
          <a:prstGeom prst="rect">
            <a:avLst/>
          </a:prstGeom>
        </p:spPr>
        <p:txBody>
          <a:bodyPr wrap="square" lIns="0" tIns="0" rIns="0" bIns="0" rtlCol="0" anchor="t">
            <a:spAutoFit/>
          </a:bodyPr>
          <a:lstStyle/>
          <a:p>
            <a:pPr algn="just"/>
            <a:r>
              <a:rPr lang="en-US" sz="2400" dirty="0">
                <a:solidFill>
                  <a:srgbClr val="000000"/>
                </a:solidFill>
                <a:latin typeface="Nunito 1" panose="020B0604020202020204" charset="0"/>
                <a:ea typeface="Nunito 1 Bold"/>
                <a:cs typeface="Nunito 1 Bold"/>
                <a:sym typeface="Nunito 1 Bold"/>
              </a:rPr>
              <a:t>Solution:</a:t>
            </a:r>
          </a:p>
          <a:p>
            <a:pPr algn="just"/>
            <a:endParaRPr lang="en-US" sz="2400" dirty="0">
              <a:solidFill>
                <a:srgbClr val="000000"/>
              </a:solidFill>
              <a:latin typeface="Nunito 1" panose="020B0604020202020204" charset="0"/>
              <a:ea typeface="Nunito 1 Bold"/>
              <a:cs typeface="Nunito 1 Bold"/>
              <a:sym typeface="Nunito 1 Bold"/>
            </a:endParaRPr>
          </a:p>
          <a:p>
            <a:pPr algn="just"/>
            <a:r>
              <a:rPr lang="en-US" sz="2400" dirty="0">
                <a:solidFill>
                  <a:srgbClr val="000000"/>
                </a:solidFill>
                <a:latin typeface="Nunito 1" panose="020B0604020202020204" charset="0"/>
                <a:ea typeface="Nunito 1 Bold"/>
                <a:cs typeface="Nunito 1 Bold"/>
                <a:sym typeface="Nunito 1 Bold"/>
              </a:rPr>
              <a:t>P</a:t>
            </a:r>
            <a:r>
              <a:rPr lang="en-US" sz="2400" baseline="-25000" dirty="0">
                <a:solidFill>
                  <a:srgbClr val="000000"/>
                </a:solidFill>
                <a:latin typeface="Nunito 1" panose="020B0604020202020204" charset="0"/>
                <a:ea typeface="Nunito 1 Bold"/>
                <a:cs typeface="Nunito 1 Bold"/>
                <a:sym typeface="Nunito 1 Bold"/>
              </a:rPr>
              <a:t>g</a:t>
            </a:r>
            <a:r>
              <a:rPr lang="en-US" sz="2400" dirty="0">
                <a:solidFill>
                  <a:srgbClr val="000000"/>
                </a:solidFill>
                <a:latin typeface="Nunito 1" panose="020B0604020202020204" charset="0"/>
                <a:ea typeface="Nunito 1 Bold"/>
                <a:cs typeface="Nunito 1 Bold"/>
                <a:sym typeface="Nunito 1 Bold"/>
              </a:rPr>
              <a:t> = </a:t>
            </a:r>
            <a:r>
              <a:rPr lang="en-US" sz="2400" dirty="0" err="1">
                <a:solidFill>
                  <a:srgbClr val="000000"/>
                </a:solidFill>
                <a:latin typeface="Nunito 1" panose="020B0604020202020204" charset="0"/>
                <a:ea typeface="Nunito 1 Bold"/>
                <a:cs typeface="Nunito 1 Bold"/>
                <a:sym typeface="Nunito 1 Bold"/>
              </a:rPr>
              <a:t>Patm</a:t>
            </a:r>
            <a:r>
              <a:rPr lang="en-US" sz="2400" dirty="0">
                <a:solidFill>
                  <a:srgbClr val="000000"/>
                </a:solidFill>
                <a:latin typeface="Nunito 1" panose="020B0604020202020204" charset="0"/>
                <a:ea typeface="Nunito 1 Bold"/>
                <a:cs typeface="Nunito 1 Bold"/>
                <a:sym typeface="Nunito 1 Bold"/>
              </a:rPr>
              <a:t> - </a:t>
            </a:r>
            <a:r>
              <a:rPr lang="el-GR" sz="2400" dirty="0">
                <a:solidFill>
                  <a:srgbClr val="000000"/>
                </a:solidFill>
                <a:latin typeface="Nunito 1" panose="020B0604020202020204" charset="0"/>
                <a:ea typeface="Nunito 1 Bold"/>
                <a:cs typeface="Nunito 1 Bold"/>
                <a:sym typeface="Nunito 1 Bold"/>
              </a:rPr>
              <a:t>ρ</a:t>
            </a:r>
            <a:r>
              <a:rPr lang="en-PH" sz="2400" dirty="0">
                <a:solidFill>
                  <a:srgbClr val="000000"/>
                </a:solidFill>
                <a:latin typeface="Nunito 1" panose="020B0604020202020204" charset="0"/>
                <a:ea typeface="Nunito 1 Bold"/>
                <a:cs typeface="Nunito 1 Bold"/>
                <a:sym typeface="Nunito 1 Bold"/>
              </a:rPr>
              <a:t>g</a:t>
            </a:r>
            <a:r>
              <a:rPr lang="el-GR" sz="2400" dirty="0">
                <a:solidFill>
                  <a:srgbClr val="000000"/>
                </a:solidFill>
                <a:latin typeface="Nunito 1" panose="020B0604020202020204" charset="0"/>
                <a:ea typeface="Nunito 1 Bold"/>
                <a:cs typeface="Nunito 1 Bold"/>
                <a:sym typeface="Nunito 1 Bold"/>
              </a:rPr>
              <a:t>Δ</a:t>
            </a:r>
            <a:r>
              <a:rPr lang="en-PH" sz="2400" dirty="0">
                <a:solidFill>
                  <a:srgbClr val="000000"/>
                </a:solidFill>
                <a:latin typeface="Nunito 1" panose="020B0604020202020204" charset="0"/>
                <a:ea typeface="Nunito 1 Bold"/>
                <a:cs typeface="Nunito 1 Bold"/>
                <a:sym typeface="Nunito 1 Bold"/>
              </a:rPr>
              <a:t>h</a:t>
            </a:r>
            <a:r>
              <a:rPr lang="en-US" sz="2400" dirty="0">
                <a:solidFill>
                  <a:srgbClr val="000000"/>
                </a:solidFill>
                <a:latin typeface="Nunito 1" panose="020B0604020202020204" charset="0"/>
                <a:ea typeface="Nunito 1 Bold"/>
                <a:cs typeface="Nunito 1 Bold"/>
                <a:sym typeface="Nunito 1 Bold"/>
              </a:rPr>
              <a:t> </a:t>
            </a:r>
          </a:p>
          <a:p>
            <a:pPr algn="just"/>
            <a:endParaRPr lang="en-US" sz="2400" dirty="0">
              <a:solidFill>
                <a:srgbClr val="000000"/>
              </a:solidFill>
              <a:latin typeface="Nunito 1" panose="020B0604020202020204" charset="0"/>
              <a:ea typeface="Nunito 1 Bold"/>
              <a:cs typeface="Nunito 1 Bold"/>
              <a:sym typeface="Nunito 1 Bold"/>
            </a:endParaRPr>
          </a:p>
          <a:p>
            <a:pPr algn="just"/>
            <a:r>
              <a:rPr lang="en-US" sz="2400" dirty="0">
                <a:solidFill>
                  <a:srgbClr val="000000"/>
                </a:solidFill>
                <a:latin typeface="Nunito 1" panose="020B0604020202020204" charset="0"/>
                <a:ea typeface="Nunito 1 Bold"/>
                <a:cs typeface="Nunito 1 Bold"/>
                <a:sym typeface="Nunito 1 Bold"/>
              </a:rPr>
              <a:t>P</a:t>
            </a:r>
            <a:r>
              <a:rPr lang="en-US" sz="2400" baseline="-25000" dirty="0">
                <a:solidFill>
                  <a:srgbClr val="000000"/>
                </a:solidFill>
                <a:latin typeface="Nunito 1" panose="020B0604020202020204" charset="0"/>
                <a:ea typeface="Nunito 1 Bold"/>
                <a:cs typeface="Nunito 1 Bold"/>
                <a:sym typeface="Nunito 1 Bold"/>
              </a:rPr>
              <a:t>g</a:t>
            </a:r>
            <a:r>
              <a:rPr lang="en-US" sz="2400" dirty="0">
                <a:solidFill>
                  <a:srgbClr val="000000"/>
                </a:solidFill>
                <a:latin typeface="Nunito 1" panose="020B0604020202020204" charset="0"/>
                <a:ea typeface="Nunito 1 Bold"/>
                <a:cs typeface="Nunito 1 Bold"/>
                <a:sym typeface="Nunito 1 Bold"/>
              </a:rPr>
              <a:t> = 101.3kPa – (13595kg/m3)(9.81m/s2)(0.25m)</a:t>
            </a:r>
          </a:p>
          <a:p>
            <a:pPr algn="just"/>
            <a:endParaRPr lang="en-US" sz="2400" dirty="0">
              <a:solidFill>
                <a:srgbClr val="000000"/>
              </a:solidFill>
              <a:latin typeface="Nunito 1" panose="020B0604020202020204" charset="0"/>
              <a:ea typeface="Nunito 1 Bold"/>
              <a:cs typeface="Nunito 1 Bold"/>
              <a:sym typeface="Nunito 1 Bold"/>
            </a:endParaRPr>
          </a:p>
          <a:p>
            <a:pPr algn="just"/>
            <a:r>
              <a:rPr lang="en-US" sz="2400" dirty="0">
                <a:solidFill>
                  <a:srgbClr val="000000"/>
                </a:solidFill>
                <a:latin typeface="Nunito 1" panose="020B0604020202020204" charset="0"/>
                <a:ea typeface="Nunito 1 Bold"/>
                <a:cs typeface="Nunito 1 Bold"/>
                <a:sym typeface="Nunito 1 Bold"/>
              </a:rPr>
              <a:t>P</a:t>
            </a:r>
            <a:r>
              <a:rPr lang="en-US" sz="2400" baseline="-25000" dirty="0">
                <a:solidFill>
                  <a:srgbClr val="000000"/>
                </a:solidFill>
                <a:latin typeface="Nunito 1" panose="020B0604020202020204" charset="0"/>
                <a:ea typeface="Nunito 1 Bold"/>
                <a:cs typeface="Nunito 1 Bold"/>
                <a:sym typeface="Nunito 1 Bold"/>
              </a:rPr>
              <a:t>g</a:t>
            </a:r>
            <a:r>
              <a:rPr lang="en-US" sz="2400" dirty="0">
                <a:solidFill>
                  <a:srgbClr val="000000"/>
                </a:solidFill>
                <a:latin typeface="Nunito 1" panose="020B0604020202020204" charset="0"/>
                <a:ea typeface="Nunito 1 Bold"/>
                <a:cs typeface="Nunito 1 Bold"/>
                <a:sym typeface="Nunito 1 Bold"/>
              </a:rPr>
              <a:t> = </a:t>
            </a:r>
            <a:r>
              <a:rPr lang="en-PH" sz="2400" dirty="0">
                <a:solidFill>
                  <a:srgbClr val="000000"/>
                </a:solidFill>
                <a:latin typeface="Nunito 1" panose="020B0604020202020204" charset="0"/>
                <a:ea typeface="Nunito 1 Bold"/>
                <a:cs typeface="Nunito 1 Bold"/>
                <a:sym typeface="Nunito 1 Bold"/>
              </a:rPr>
              <a:t>67.95kPa</a:t>
            </a:r>
            <a:endParaRPr lang="en-US" sz="2400" dirty="0">
              <a:solidFill>
                <a:srgbClr val="000000"/>
              </a:solidFill>
              <a:latin typeface="Nunito 1" panose="020B0604020202020204" charset="0"/>
              <a:ea typeface="Nunito 1 Bold"/>
              <a:cs typeface="Nunito 1 Bold"/>
              <a:sym typeface="Nunito 1 Bold"/>
            </a:endParaRPr>
          </a:p>
          <a:p>
            <a:pPr algn="just"/>
            <a:endParaRPr lang="en-US" sz="2400" dirty="0">
              <a:solidFill>
                <a:srgbClr val="000000"/>
              </a:solidFill>
              <a:latin typeface="Nunito 1" panose="020B0604020202020204" charset="0"/>
              <a:ea typeface="Nunito 1 Bold"/>
              <a:cs typeface="Nunito 1 Bold"/>
              <a:sym typeface="Nunito 1 Bold"/>
            </a:endParaRPr>
          </a:p>
        </p:txBody>
      </p:sp>
      <p:sp>
        <p:nvSpPr>
          <p:cNvPr id="26" name="TextBox 25">
            <a:extLst>
              <a:ext uri="{FF2B5EF4-FFF2-40B4-BE49-F238E27FC236}">
                <a16:creationId xmlns:a16="http://schemas.microsoft.com/office/drawing/2014/main" id="{64854D24-5E5F-F8B1-FC3F-A726B0021BF8}"/>
              </a:ext>
            </a:extLst>
          </p:cNvPr>
          <p:cNvSpPr txBox="1"/>
          <p:nvPr/>
        </p:nvSpPr>
        <p:spPr>
          <a:xfrm>
            <a:off x="2235018" y="6085334"/>
            <a:ext cx="1752600" cy="1107996"/>
          </a:xfrm>
          <a:prstGeom prst="rect">
            <a:avLst/>
          </a:prstGeom>
        </p:spPr>
        <p:txBody>
          <a:bodyPr wrap="square" lIns="0" tIns="0" rIns="0" bIns="0" rtlCol="0" anchor="t">
            <a:spAutoFit/>
          </a:bodyPr>
          <a:lstStyle/>
          <a:p>
            <a:pPr algn="just"/>
            <a:r>
              <a:rPr lang="en-US" sz="2400" dirty="0">
                <a:solidFill>
                  <a:srgbClr val="000000"/>
                </a:solidFill>
                <a:latin typeface="Nunito 1" panose="020B0604020202020204" charset="0"/>
                <a:ea typeface="Nunito 1 Bold"/>
                <a:cs typeface="Nunito 1 Bold"/>
                <a:sym typeface="Nunito 1 Bold"/>
              </a:rPr>
              <a:t>-----------</a:t>
            </a:r>
          </a:p>
          <a:p>
            <a:pPr algn="just"/>
            <a:endParaRPr lang="en-US" sz="2400" dirty="0">
              <a:solidFill>
                <a:srgbClr val="000000"/>
              </a:solidFill>
              <a:latin typeface="Nunito 1" panose="020B0604020202020204" charset="0"/>
              <a:ea typeface="Nunito 1 Bold"/>
              <a:cs typeface="Nunito 1 Bold"/>
              <a:sym typeface="Nunito 1 Bold"/>
            </a:endParaRPr>
          </a:p>
          <a:p>
            <a:pPr algn="just"/>
            <a:r>
              <a:rPr lang="en-US" sz="2400" dirty="0">
                <a:solidFill>
                  <a:srgbClr val="000000"/>
                </a:solidFill>
                <a:latin typeface="Nunito 1" panose="020B0604020202020204" charset="0"/>
                <a:ea typeface="Nunito 1 Bold"/>
                <a:cs typeface="Nunito 1 Bold"/>
                <a:sym typeface="Nunito 1 Bold"/>
              </a:rPr>
              <a:t>-----------</a:t>
            </a:r>
          </a:p>
        </p:txBody>
      </p:sp>
      <p:sp>
        <p:nvSpPr>
          <p:cNvPr id="28" name="TextBox 27">
            <a:extLst>
              <a:ext uri="{FF2B5EF4-FFF2-40B4-BE49-F238E27FC236}">
                <a16:creationId xmlns:a16="http://schemas.microsoft.com/office/drawing/2014/main" id="{7D3252A1-A3A8-A9DB-0664-264851F8C713}"/>
              </a:ext>
            </a:extLst>
          </p:cNvPr>
          <p:cNvSpPr txBox="1"/>
          <p:nvPr/>
        </p:nvSpPr>
        <p:spPr>
          <a:xfrm>
            <a:off x="6019800" y="7430938"/>
            <a:ext cx="9222826" cy="830997"/>
          </a:xfrm>
          <a:prstGeom prst="rect">
            <a:avLst/>
          </a:prstGeom>
          <a:noFill/>
        </p:spPr>
        <p:txBody>
          <a:bodyPr wrap="square">
            <a:spAutoFit/>
          </a:bodyPr>
          <a:lstStyle/>
          <a:p>
            <a:pPr algn="just"/>
            <a:endParaRPr lang="en-US" sz="2400" dirty="0">
              <a:solidFill>
                <a:srgbClr val="000000"/>
              </a:solidFill>
              <a:latin typeface="Nunito 1" panose="020B0604020202020204" charset="0"/>
              <a:ea typeface="Nunito 1 Bold"/>
              <a:cs typeface="Nunito 1 Bold"/>
              <a:sym typeface="Nunito 1 Bold"/>
            </a:endParaRPr>
          </a:p>
          <a:p>
            <a:pPr algn="just"/>
            <a:r>
              <a:rPr lang="en-US" sz="2400" dirty="0">
                <a:solidFill>
                  <a:srgbClr val="000000"/>
                </a:solidFill>
                <a:latin typeface="Nunito 1" panose="020B0604020202020204" charset="0"/>
                <a:ea typeface="Nunito 1 Bold"/>
                <a:cs typeface="Nunito 1 Bold"/>
                <a:sym typeface="Nunito 1 Bold"/>
              </a:rPr>
              <a:t>Liquid Manometer Equation:	</a:t>
            </a:r>
            <a:r>
              <a:rPr lang="el-GR" sz="2400" dirty="0">
                <a:solidFill>
                  <a:srgbClr val="000000"/>
                </a:solidFill>
                <a:latin typeface="Nunito 1" panose="020B0604020202020204" charset="0"/>
                <a:ea typeface="Nunito 1 Bold"/>
                <a:cs typeface="Nunito 1 Bold"/>
                <a:sym typeface="Nunito 1 Bold"/>
              </a:rPr>
              <a:t> Δ</a:t>
            </a:r>
            <a:r>
              <a:rPr lang="en-PH" sz="2400" dirty="0">
                <a:solidFill>
                  <a:srgbClr val="000000"/>
                </a:solidFill>
                <a:latin typeface="Nunito 1" panose="020B0604020202020204" charset="0"/>
                <a:ea typeface="Nunito 1 Bold"/>
                <a:cs typeface="Nunito 1 Bold"/>
                <a:sym typeface="Nunito 1 Bold"/>
              </a:rPr>
              <a:t>P</a:t>
            </a:r>
            <a:r>
              <a:rPr lang="en-US" sz="2400" dirty="0">
                <a:solidFill>
                  <a:srgbClr val="000000"/>
                </a:solidFill>
                <a:latin typeface="Nunito 1" panose="020B0604020202020204" charset="0"/>
                <a:ea typeface="Nunito 1 Bold"/>
                <a:cs typeface="Nunito 1 Bold"/>
                <a:sym typeface="Nunito 1 Bold"/>
              </a:rPr>
              <a:t> = </a:t>
            </a:r>
            <a:r>
              <a:rPr lang="el-GR" sz="2400" dirty="0">
                <a:solidFill>
                  <a:srgbClr val="000000"/>
                </a:solidFill>
                <a:latin typeface="Nunito 1" panose="020B0604020202020204" charset="0"/>
                <a:ea typeface="Nunito 1 Bold"/>
                <a:cs typeface="Nunito 1 Bold"/>
                <a:sym typeface="Nunito 1 Bold"/>
              </a:rPr>
              <a:t>ρ</a:t>
            </a:r>
            <a:r>
              <a:rPr lang="en-PH" sz="2400" dirty="0">
                <a:solidFill>
                  <a:srgbClr val="000000"/>
                </a:solidFill>
                <a:latin typeface="Nunito 1" panose="020B0604020202020204" charset="0"/>
                <a:ea typeface="Nunito 1 Bold"/>
                <a:cs typeface="Nunito 1 Bold"/>
                <a:sym typeface="Nunito 1 Bold"/>
              </a:rPr>
              <a:t>g</a:t>
            </a:r>
            <a:r>
              <a:rPr lang="el-GR" sz="2400" dirty="0">
                <a:solidFill>
                  <a:srgbClr val="000000"/>
                </a:solidFill>
                <a:latin typeface="Nunito 1" panose="020B0604020202020204" charset="0"/>
                <a:ea typeface="Nunito 1 Bold"/>
                <a:cs typeface="Nunito 1 Bold"/>
                <a:sym typeface="Nunito 1 Bold"/>
              </a:rPr>
              <a:t>Δ</a:t>
            </a:r>
            <a:r>
              <a:rPr lang="en-PH" sz="2400" dirty="0">
                <a:solidFill>
                  <a:srgbClr val="000000"/>
                </a:solidFill>
                <a:latin typeface="Nunito 1" panose="020B0604020202020204" charset="0"/>
                <a:ea typeface="Nunito 1 Bold"/>
                <a:cs typeface="Nunito 1 Bold"/>
                <a:sym typeface="Nunito 1 Bold"/>
              </a:rPr>
              <a:t>h</a:t>
            </a:r>
            <a:r>
              <a:rPr lang="en-US" sz="2400" dirty="0">
                <a:solidFill>
                  <a:srgbClr val="000000"/>
                </a:solidFill>
                <a:latin typeface="Nunito 1" panose="020B0604020202020204" charset="0"/>
                <a:ea typeface="Nunito 1 Bold"/>
                <a:cs typeface="Nunito 1 Bold"/>
                <a:sym typeface="Nunito 1 Bold"/>
              </a:rPr>
              <a:t> </a:t>
            </a:r>
          </a:p>
        </p:txBody>
      </p:sp>
      <p:grpSp>
        <p:nvGrpSpPr>
          <p:cNvPr id="18" name="Group 17">
            <a:extLst>
              <a:ext uri="{FF2B5EF4-FFF2-40B4-BE49-F238E27FC236}">
                <a16:creationId xmlns:a16="http://schemas.microsoft.com/office/drawing/2014/main" id="{17C69CB1-8A81-5BBB-C108-34F2829D9850}"/>
              </a:ext>
            </a:extLst>
          </p:cNvPr>
          <p:cNvGrpSpPr/>
          <p:nvPr/>
        </p:nvGrpSpPr>
        <p:grpSpPr>
          <a:xfrm>
            <a:off x="0" y="9599693"/>
            <a:ext cx="18287999" cy="687306"/>
            <a:chOff x="0" y="9599693"/>
            <a:chExt cx="18287999" cy="687306"/>
          </a:xfrm>
        </p:grpSpPr>
        <p:grpSp>
          <p:nvGrpSpPr>
            <p:cNvPr id="29" name="Group 11">
              <a:extLst>
                <a:ext uri="{FF2B5EF4-FFF2-40B4-BE49-F238E27FC236}">
                  <a16:creationId xmlns:a16="http://schemas.microsoft.com/office/drawing/2014/main" id="{CE31A237-3998-8DBB-B36A-CBD8E3EE93C4}"/>
                </a:ext>
              </a:extLst>
            </p:cNvPr>
            <p:cNvGrpSpPr/>
            <p:nvPr/>
          </p:nvGrpSpPr>
          <p:grpSpPr>
            <a:xfrm>
              <a:off x="0" y="9599694"/>
              <a:ext cx="18287999" cy="687305"/>
              <a:chOff x="0" y="0"/>
              <a:chExt cx="5260714" cy="490218"/>
            </a:xfrm>
          </p:grpSpPr>
          <p:sp>
            <p:nvSpPr>
              <p:cNvPr id="32" name="Freeform 12">
                <a:extLst>
                  <a:ext uri="{FF2B5EF4-FFF2-40B4-BE49-F238E27FC236}">
                    <a16:creationId xmlns:a16="http://schemas.microsoft.com/office/drawing/2014/main" id="{9AFDA151-A529-CA58-C359-ADEEAE838D00}"/>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33" name="TextBox 13">
                <a:extLst>
                  <a:ext uri="{FF2B5EF4-FFF2-40B4-BE49-F238E27FC236}">
                    <a16:creationId xmlns:a16="http://schemas.microsoft.com/office/drawing/2014/main" id="{D228121F-2766-5A80-FBD4-EFC7BC770F0B}"/>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30" name="TextBox 12">
              <a:extLst>
                <a:ext uri="{FF2B5EF4-FFF2-40B4-BE49-F238E27FC236}">
                  <a16:creationId xmlns:a16="http://schemas.microsoft.com/office/drawing/2014/main" id="{EE98369B-51FE-A999-EDAD-81705C1685A5}"/>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31" name="TextBox 13">
              <a:extLst>
                <a:ext uri="{FF2B5EF4-FFF2-40B4-BE49-F238E27FC236}">
                  <a16:creationId xmlns:a16="http://schemas.microsoft.com/office/drawing/2014/main" id="{4F3460B1-2D7E-D893-1587-FB87324AF173}"/>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spTree>
    <p:extLst>
      <p:ext uri="{BB962C8B-B14F-4D97-AF65-F5344CB8AC3E}">
        <p14:creationId xmlns:p14="http://schemas.microsoft.com/office/powerpoint/2010/main" val="1815980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2" grpId="0"/>
      <p:bldP spid="2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D32C5-7D1C-8DE2-7A7A-1017658CF24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A1D16C2-DD46-947D-5B02-9E6B2521C0D3}"/>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B0755CD1-C8B5-02F2-D4F0-19680F99156C}"/>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CB571F50-C5C9-2A39-AC79-BBFD34616EB9}"/>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71852171-44D1-89EA-07DB-7AAF80722817}"/>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E86FE564-B0F5-F090-0A90-22AA7AD8285D}"/>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111DB5ED-E7B0-D454-D265-74BA016A728E}"/>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E9F809EA-1BAA-1C58-4A62-6B05D24F432A}"/>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E97C2EBF-2BC6-E316-FB08-232DC8C372DD}"/>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6A28E7A4-CE94-AD89-FA51-46DE7CA003B7}"/>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75C76E7E-23E3-0B61-AD5A-F1419657A166}"/>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BABF879E-4D9F-7C90-3EA1-0446A32A66F7}"/>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F5CBED36-256E-D7D6-DB38-EE79FB676353}"/>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D6788DF6-3823-D58A-70CE-68D7A4341D6A}"/>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 11</a:t>
            </a:r>
          </a:p>
        </p:txBody>
      </p:sp>
      <p:sp>
        <p:nvSpPr>
          <p:cNvPr id="15" name="TextBox 15">
            <a:extLst>
              <a:ext uri="{FF2B5EF4-FFF2-40B4-BE49-F238E27FC236}">
                <a16:creationId xmlns:a16="http://schemas.microsoft.com/office/drawing/2014/main" id="{6B50ACE0-01E1-43C2-B711-419725852E8A}"/>
              </a:ext>
            </a:extLst>
          </p:cNvPr>
          <p:cNvSpPr txBox="1"/>
          <p:nvPr/>
        </p:nvSpPr>
        <p:spPr>
          <a:xfrm>
            <a:off x="2246041" y="2025065"/>
            <a:ext cx="13795916" cy="1107996"/>
          </a:xfrm>
          <a:prstGeom prst="rect">
            <a:avLst/>
          </a:prstGeom>
        </p:spPr>
        <p:txBody>
          <a:bodyPr wrap="square" lIns="0" tIns="0" rIns="0" bIns="0" rtlCol="0" anchor="t">
            <a:spAutoFit/>
          </a:bodyPr>
          <a:lstStyle/>
          <a:p>
            <a:pPr algn="ctr"/>
            <a:r>
              <a:rPr lang="en-US" sz="2400" b="0" i="0" dirty="0">
                <a:solidFill>
                  <a:srgbClr val="000000"/>
                </a:solidFill>
                <a:effectLst/>
                <a:latin typeface="Nunito 1 Bold" panose="020B0604020202020204" charset="0"/>
              </a:rPr>
              <a:t>The pressures of the gas reservoirs are P </a:t>
            </a:r>
            <a:r>
              <a:rPr lang="en-US" sz="2400" dirty="0">
                <a:latin typeface="Nunito 1 Bold" panose="020B0604020202020204" charset="0"/>
              </a:rPr>
              <a:t>= 110.3kPa</a:t>
            </a:r>
            <a:r>
              <a:rPr lang="en-US" sz="2400" b="0" i="0" dirty="0">
                <a:solidFill>
                  <a:srgbClr val="000000"/>
                </a:solidFill>
                <a:effectLst/>
                <a:latin typeface="Nunito 1 Bold" panose="020B0604020202020204" charset="0"/>
              </a:rPr>
              <a:t> and P = 110.1kPa.The U-shaped tube contains an oil with a density of 1‎ ‎080 kg/m</a:t>
            </a:r>
            <a:r>
              <a:rPr lang="en-US" sz="2400" b="0" i="0" baseline="30000" dirty="0">
                <a:solidFill>
                  <a:srgbClr val="000000"/>
                </a:solidFill>
                <a:effectLst/>
                <a:latin typeface="Nunito 1 Bold" panose="020B0604020202020204" charset="0"/>
              </a:rPr>
              <a:t>3</a:t>
            </a:r>
            <a:r>
              <a:rPr lang="en-US" sz="2400" b="0" i="0" dirty="0">
                <a:solidFill>
                  <a:srgbClr val="000000"/>
                </a:solidFill>
                <a:effectLst/>
                <a:latin typeface="Nunito 1 Bold" panose="020B0604020202020204" charset="0"/>
              </a:rPr>
              <a:t>. What is the vertical distance </a:t>
            </a:r>
            <a:r>
              <a:rPr lang="en-US" sz="2400" dirty="0">
                <a:latin typeface="Nunito 1 Bold" panose="020B0604020202020204" charset="0"/>
              </a:rPr>
              <a:t>h</a:t>
            </a:r>
            <a:r>
              <a:rPr lang="en-US" sz="2400" b="0" i="0" dirty="0">
                <a:solidFill>
                  <a:srgbClr val="000000"/>
                </a:solidFill>
                <a:effectLst/>
                <a:latin typeface="Nunito 1 Bold" panose="020B0604020202020204" charset="0"/>
              </a:rPr>
              <a:t> between the tops of the oil columns?</a:t>
            </a:r>
            <a:endParaRPr lang="en-US" sz="2400" b="1" dirty="0">
              <a:solidFill>
                <a:srgbClr val="000000"/>
              </a:solidFill>
              <a:latin typeface="Nunito 1 Bold" panose="020B0604020202020204" charset="0"/>
              <a:ea typeface="Nunito 1 Bold"/>
              <a:cs typeface="Nunito 1 Bold"/>
              <a:sym typeface="Nunito 1 Bold"/>
            </a:endParaRPr>
          </a:p>
        </p:txBody>
      </p:sp>
      <p:sp>
        <p:nvSpPr>
          <p:cNvPr id="19" name="TextBox 12">
            <a:extLst>
              <a:ext uri="{FF2B5EF4-FFF2-40B4-BE49-F238E27FC236}">
                <a16:creationId xmlns:a16="http://schemas.microsoft.com/office/drawing/2014/main" id="{89FC4445-9F12-C1F8-D0AE-BBB14E0AEEA6}"/>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53923738-E3B6-946C-D330-DDEB356C21CE}"/>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nvGrpSpPr>
          <p:cNvPr id="23" name="Group 5">
            <a:extLst>
              <a:ext uri="{FF2B5EF4-FFF2-40B4-BE49-F238E27FC236}">
                <a16:creationId xmlns:a16="http://schemas.microsoft.com/office/drawing/2014/main" id="{034CE1D7-A994-1210-396F-5F3E7D7D25C9}"/>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2FEFF2C0-ADF6-B228-DED7-D66E540EF095}"/>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42813745-6DD2-22EE-49F9-0573EA985FB5}"/>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5">
            <a:extLst>
              <a:ext uri="{FF2B5EF4-FFF2-40B4-BE49-F238E27FC236}">
                <a16:creationId xmlns:a16="http://schemas.microsoft.com/office/drawing/2014/main" id="{308E027D-E8BC-F0C0-1157-E5816ADA97C2}"/>
              </a:ext>
            </a:extLst>
          </p:cNvPr>
          <p:cNvSpPr txBox="1"/>
          <p:nvPr/>
        </p:nvSpPr>
        <p:spPr>
          <a:xfrm>
            <a:off x="1676400" y="4635597"/>
            <a:ext cx="14935200" cy="2585323"/>
          </a:xfrm>
          <a:prstGeom prst="rect">
            <a:avLst/>
          </a:prstGeom>
        </p:spPr>
        <p:txBody>
          <a:bodyPr wrap="square" lIns="0" tIns="0" rIns="0" bIns="0" rtlCol="0" anchor="t">
            <a:spAutoFit/>
          </a:bodyPr>
          <a:lstStyle/>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2.54cm</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2.25cm</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1.92cm</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1.89cm</a:t>
            </a:r>
          </a:p>
        </p:txBody>
      </p:sp>
      <p:sp>
        <p:nvSpPr>
          <p:cNvPr id="17" name="Oval 16">
            <a:extLst>
              <a:ext uri="{FF2B5EF4-FFF2-40B4-BE49-F238E27FC236}">
                <a16:creationId xmlns:a16="http://schemas.microsoft.com/office/drawing/2014/main" id="{ED92E2F1-DE85-414D-CE38-B4F0A6A8AC2B}"/>
              </a:ext>
            </a:extLst>
          </p:cNvPr>
          <p:cNvSpPr/>
          <p:nvPr/>
        </p:nvSpPr>
        <p:spPr>
          <a:xfrm>
            <a:off x="1524000" y="6768848"/>
            <a:ext cx="475936" cy="47593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1" name="TextBox 15">
            <a:extLst>
              <a:ext uri="{FF2B5EF4-FFF2-40B4-BE49-F238E27FC236}">
                <a16:creationId xmlns:a16="http://schemas.microsoft.com/office/drawing/2014/main" id="{FDB68133-82B1-DB31-13CC-02457AFB7BE0}"/>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https://www.nagwa.com/en/explainers/216152184514/</a:t>
            </a:r>
          </a:p>
        </p:txBody>
      </p:sp>
      <p:sp>
        <p:nvSpPr>
          <p:cNvPr id="18" name="AutoShape 2">
            <a:extLst>
              <a:ext uri="{FF2B5EF4-FFF2-40B4-BE49-F238E27FC236}">
                <a16:creationId xmlns:a16="http://schemas.microsoft.com/office/drawing/2014/main" id="{4DD85060-356F-37A0-0D3D-68FB8F4119A2}"/>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pic>
        <p:nvPicPr>
          <p:cNvPr id="26" name="Picture 25">
            <a:extLst>
              <a:ext uri="{FF2B5EF4-FFF2-40B4-BE49-F238E27FC236}">
                <a16:creationId xmlns:a16="http://schemas.microsoft.com/office/drawing/2014/main" id="{351CB38C-B13D-A165-207F-9F4DC7DDE210}"/>
              </a:ext>
            </a:extLst>
          </p:cNvPr>
          <p:cNvPicPr>
            <a:picLocks noChangeAspect="1"/>
          </p:cNvPicPr>
          <p:nvPr/>
        </p:nvPicPr>
        <p:blipFill>
          <a:blip r:embed="rId3"/>
          <a:stretch>
            <a:fillRect/>
          </a:stretch>
        </p:blipFill>
        <p:spPr>
          <a:xfrm>
            <a:off x="4547342" y="4070773"/>
            <a:ext cx="2996458" cy="3003460"/>
          </a:xfrm>
          <a:prstGeom prst="rect">
            <a:avLst/>
          </a:prstGeom>
        </p:spPr>
      </p:pic>
      <p:sp>
        <p:nvSpPr>
          <p:cNvPr id="28" name="TextBox 27">
            <a:extLst>
              <a:ext uri="{FF2B5EF4-FFF2-40B4-BE49-F238E27FC236}">
                <a16:creationId xmlns:a16="http://schemas.microsoft.com/office/drawing/2014/main" id="{D2541DC1-6D49-2D24-8AFB-7F393CFDDAFA}"/>
              </a:ext>
            </a:extLst>
          </p:cNvPr>
          <p:cNvSpPr txBox="1"/>
          <p:nvPr/>
        </p:nvSpPr>
        <p:spPr>
          <a:xfrm>
            <a:off x="6019800" y="7430938"/>
            <a:ext cx="9222826" cy="830997"/>
          </a:xfrm>
          <a:prstGeom prst="rect">
            <a:avLst/>
          </a:prstGeom>
          <a:noFill/>
        </p:spPr>
        <p:txBody>
          <a:bodyPr wrap="square">
            <a:spAutoFit/>
          </a:bodyPr>
          <a:lstStyle/>
          <a:p>
            <a:pPr algn="just"/>
            <a:endParaRPr lang="en-US" sz="2400" dirty="0">
              <a:solidFill>
                <a:srgbClr val="000000"/>
              </a:solidFill>
              <a:latin typeface="Nunito 1" panose="020B0604020202020204" charset="0"/>
              <a:ea typeface="Nunito 1 Bold"/>
              <a:cs typeface="Nunito 1 Bold"/>
              <a:sym typeface="Nunito 1 Bold"/>
            </a:endParaRPr>
          </a:p>
          <a:p>
            <a:pPr algn="just"/>
            <a:r>
              <a:rPr lang="en-US" sz="2400" dirty="0">
                <a:solidFill>
                  <a:srgbClr val="000000"/>
                </a:solidFill>
                <a:latin typeface="Nunito 1" panose="020B0604020202020204" charset="0"/>
                <a:ea typeface="Nunito 1 Bold"/>
                <a:cs typeface="Nunito 1 Bold"/>
                <a:sym typeface="Nunito 1 Bold"/>
              </a:rPr>
              <a:t>Liquid Manometer Equation:	</a:t>
            </a:r>
            <a:r>
              <a:rPr lang="el-GR" sz="2400" dirty="0">
                <a:solidFill>
                  <a:srgbClr val="000000"/>
                </a:solidFill>
                <a:latin typeface="Nunito 1" panose="020B0604020202020204" charset="0"/>
                <a:ea typeface="Nunito 1 Bold"/>
                <a:cs typeface="Nunito 1 Bold"/>
                <a:sym typeface="Nunito 1 Bold"/>
              </a:rPr>
              <a:t> Δ</a:t>
            </a:r>
            <a:r>
              <a:rPr lang="en-PH" sz="2400" dirty="0">
                <a:solidFill>
                  <a:srgbClr val="000000"/>
                </a:solidFill>
                <a:latin typeface="Nunito 1" panose="020B0604020202020204" charset="0"/>
                <a:ea typeface="Nunito 1 Bold"/>
                <a:cs typeface="Nunito 1 Bold"/>
                <a:sym typeface="Nunito 1 Bold"/>
              </a:rPr>
              <a:t>P</a:t>
            </a:r>
            <a:r>
              <a:rPr lang="en-US" sz="2400" dirty="0">
                <a:solidFill>
                  <a:srgbClr val="000000"/>
                </a:solidFill>
                <a:latin typeface="Nunito 1" panose="020B0604020202020204" charset="0"/>
                <a:ea typeface="Nunito 1 Bold"/>
                <a:cs typeface="Nunito 1 Bold"/>
                <a:sym typeface="Nunito 1 Bold"/>
              </a:rPr>
              <a:t> = </a:t>
            </a:r>
            <a:r>
              <a:rPr lang="el-GR" sz="2400" dirty="0">
                <a:solidFill>
                  <a:srgbClr val="000000"/>
                </a:solidFill>
                <a:latin typeface="Nunito 1" panose="020B0604020202020204" charset="0"/>
                <a:ea typeface="Nunito 1 Bold"/>
                <a:cs typeface="Nunito 1 Bold"/>
                <a:sym typeface="Nunito 1 Bold"/>
              </a:rPr>
              <a:t>ρ</a:t>
            </a:r>
            <a:r>
              <a:rPr lang="en-PH" sz="2400" dirty="0">
                <a:solidFill>
                  <a:srgbClr val="000000"/>
                </a:solidFill>
                <a:latin typeface="Nunito 1" panose="020B0604020202020204" charset="0"/>
                <a:ea typeface="Nunito 1 Bold"/>
                <a:cs typeface="Nunito 1 Bold"/>
                <a:sym typeface="Nunito 1 Bold"/>
              </a:rPr>
              <a:t>g</a:t>
            </a:r>
            <a:r>
              <a:rPr lang="el-GR" sz="2400" dirty="0">
                <a:solidFill>
                  <a:srgbClr val="000000"/>
                </a:solidFill>
                <a:latin typeface="Nunito 1" panose="020B0604020202020204" charset="0"/>
                <a:ea typeface="Nunito 1 Bold"/>
                <a:cs typeface="Nunito 1 Bold"/>
                <a:sym typeface="Nunito 1 Bold"/>
              </a:rPr>
              <a:t>Δ</a:t>
            </a:r>
            <a:r>
              <a:rPr lang="en-PH" sz="2400" dirty="0">
                <a:solidFill>
                  <a:srgbClr val="000000"/>
                </a:solidFill>
                <a:latin typeface="Nunito 1" panose="020B0604020202020204" charset="0"/>
                <a:ea typeface="Nunito 1 Bold"/>
                <a:cs typeface="Nunito 1 Bold"/>
                <a:sym typeface="Nunito 1 Bold"/>
              </a:rPr>
              <a:t>h</a:t>
            </a:r>
            <a:r>
              <a:rPr lang="en-US" sz="2400" dirty="0">
                <a:solidFill>
                  <a:srgbClr val="000000"/>
                </a:solidFill>
                <a:latin typeface="Nunito 1" panose="020B0604020202020204" charset="0"/>
                <a:ea typeface="Nunito 1 Bold"/>
                <a:cs typeface="Nunito 1 Bold"/>
                <a:sym typeface="Nunito 1 Bold"/>
              </a:rPr>
              <a:t> </a:t>
            </a:r>
          </a:p>
        </p:txBody>
      </p:sp>
      <p:sp>
        <p:nvSpPr>
          <p:cNvPr id="29" name="TextBox 28">
            <a:extLst>
              <a:ext uri="{FF2B5EF4-FFF2-40B4-BE49-F238E27FC236}">
                <a16:creationId xmlns:a16="http://schemas.microsoft.com/office/drawing/2014/main" id="{951159C1-8C30-AD4F-009B-7FD04B920858}"/>
              </a:ext>
            </a:extLst>
          </p:cNvPr>
          <p:cNvSpPr txBox="1"/>
          <p:nvPr/>
        </p:nvSpPr>
        <p:spPr>
          <a:xfrm>
            <a:off x="7865748" y="4225488"/>
            <a:ext cx="9380413" cy="2954655"/>
          </a:xfrm>
          <a:prstGeom prst="rect">
            <a:avLst/>
          </a:prstGeom>
        </p:spPr>
        <p:txBody>
          <a:bodyPr wrap="square" lIns="0" tIns="0" rIns="0" bIns="0" rtlCol="0" anchor="t">
            <a:spAutoFit/>
          </a:bodyPr>
          <a:lstStyle/>
          <a:p>
            <a:pPr algn="just"/>
            <a:r>
              <a:rPr lang="en-US" sz="2400" dirty="0">
                <a:solidFill>
                  <a:srgbClr val="000000"/>
                </a:solidFill>
                <a:latin typeface="Nunito 1" panose="020B0604020202020204" charset="0"/>
                <a:ea typeface="Nunito 1 Bold"/>
                <a:cs typeface="Nunito 1 Bold"/>
                <a:sym typeface="Nunito 1 Bold"/>
              </a:rPr>
              <a:t>Solution:</a:t>
            </a:r>
          </a:p>
          <a:p>
            <a:pPr algn="just"/>
            <a:endParaRPr lang="en-US" sz="2400" dirty="0">
              <a:solidFill>
                <a:srgbClr val="000000"/>
              </a:solidFill>
              <a:latin typeface="Nunito 1" panose="020B0604020202020204" charset="0"/>
              <a:ea typeface="Nunito 1 Bold"/>
              <a:cs typeface="Nunito 1 Bold"/>
              <a:sym typeface="Nunito 1 Bold"/>
            </a:endParaRPr>
          </a:p>
          <a:p>
            <a:pPr algn="just"/>
            <a:r>
              <a:rPr lang="el-GR" sz="2400" dirty="0">
                <a:solidFill>
                  <a:srgbClr val="000000"/>
                </a:solidFill>
                <a:latin typeface="Nunito 1" panose="020B0604020202020204" charset="0"/>
                <a:ea typeface="Nunito 1 Bold"/>
                <a:cs typeface="Nunito 1 Bold"/>
                <a:sym typeface="Nunito 1 Bold"/>
              </a:rPr>
              <a:t>Δ</a:t>
            </a:r>
            <a:r>
              <a:rPr lang="en-PH" sz="2400" dirty="0">
                <a:solidFill>
                  <a:srgbClr val="000000"/>
                </a:solidFill>
                <a:latin typeface="Nunito 1" panose="020B0604020202020204" charset="0"/>
                <a:ea typeface="Nunito 1 Bold"/>
                <a:cs typeface="Nunito 1 Bold"/>
                <a:sym typeface="Nunito 1 Bold"/>
              </a:rPr>
              <a:t>P</a:t>
            </a:r>
            <a:r>
              <a:rPr lang="en-US" sz="2400" dirty="0">
                <a:solidFill>
                  <a:srgbClr val="000000"/>
                </a:solidFill>
                <a:latin typeface="Nunito 1" panose="020B0604020202020204" charset="0"/>
                <a:ea typeface="Nunito 1 Bold"/>
                <a:cs typeface="Nunito 1 Bold"/>
                <a:sym typeface="Nunito 1 Bold"/>
              </a:rPr>
              <a:t> = </a:t>
            </a:r>
            <a:r>
              <a:rPr lang="el-GR" sz="2400" dirty="0">
                <a:solidFill>
                  <a:srgbClr val="000000"/>
                </a:solidFill>
                <a:latin typeface="Nunito 1" panose="020B0604020202020204" charset="0"/>
                <a:ea typeface="Nunito 1 Bold"/>
                <a:cs typeface="Nunito 1 Bold"/>
                <a:sym typeface="Nunito 1 Bold"/>
              </a:rPr>
              <a:t>ρ</a:t>
            </a:r>
            <a:r>
              <a:rPr lang="en-PH" sz="2400" dirty="0">
                <a:solidFill>
                  <a:srgbClr val="000000"/>
                </a:solidFill>
                <a:latin typeface="Nunito 1" panose="020B0604020202020204" charset="0"/>
                <a:ea typeface="Nunito 1 Bold"/>
                <a:cs typeface="Nunito 1 Bold"/>
                <a:sym typeface="Nunito 1 Bold"/>
              </a:rPr>
              <a:t>g</a:t>
            </a:r>
            <a:r>
              <a:rPr lang="el-GR" sz="2400" dirty="0">
                <a:solidFill>
                  <a:srgbClr val="000000"/>
                </a:solidFill>
                <a:latin typeface="Nunito 1" panose="020B0604020202020204" charset="0"/>
                <a:ea typeface="Nunito 1 Bold"/>
                <a:cs typeface="Nunito 1 Bold"/>
                <a:sym typeface="Nunito 1 Bold"/>
              </a:rPr>
              <a:t>Δ</a:t>
            </a:r>
            <a:r>
              <a:rPr lang="en-PH" sz="2400" dirty="0">
                <a:solidFill>
                  <a:srgbClr val="000000"/>
                </a:solidFill>
                <a:latin typeface="Nunito 1" panose="020B0604020202020204" charset="0"/>
                <a:ea typeface="Nunito 1 Bold"/>
                <a:cs typeface="Nunito 1 Bold"/>
                <a:sym typeface="Nunito 1 Bold"/>
              </a:rPr>
              <a:t>h</a:t>
            </a:r>
          </a:p>
          <a:p>
            <a:pPr algn="just"/>
            <a:endParaRPr lang="en-PH" sz="2400" dirty="0">
              <a:solidFill>
                <a:srgbClr val="000000"/>
              </a:solidFill>
              <a:latin typeface="Nunito 1" panose="020B0604020202020204" charset="0"/>
              <a:ea typeface="Nunito 1 Bold"/>
              <a:cs typeface="Nunito 1 Bold"/>
              <a:sym typeface="Nunito 1 Bold"/>
            </a:endParaRPr>
          </a:p>
          <a:p>
            <a:pPr algn="just"/>
            <a:r>
              <a:rPr lang="en-PH" sz="2400" dirty="0">
                <a:solidFill>
                  <a:srgbClr val="000000"/>
                </a:solidFill>
                <a:latin typeface="Nunito 1" panose="020B0604020202020204" charset="0"/>
                <a:ea typeface="Nunito 1 Bold"/>
                <a:cs typeface="Nunito 1 Bold"/>
                <a:sym typeface="Nunito 1 Bold"/>
              </a:rPr>
              <a:t>(110.3kPa – 110.1kPa) x 1000Pa/kPa = (1080kg/m3)(9.81m/s2)</a:t>
            </a:r>
            <a:r>
              <a:rPr lang="el-GR" sz="2400" dirty="0">
                <a:solidFill>
                  <a:srgbClr val="000000"/>
                </a:solidFill>
                <a:latin typeface="Nunito 1" panose="020B0604020202020204" charset="0"/>
                <a:ea typeface="Nunito 1 Bold"/>
                <a:cs typeface="Nunito 1 Bold"/>
                <a:sym typeface="Nunito 1 Bold"/>
              </a:rPr>
              <a:t> Δ</a:t>
            </a:r>
            <a:r>
              <a:rPr lang="en-PH" sz="2400" dirty="0">
                <a:solidFill>
                  <a:srgbClr val="000000"/>
                </a:solidFill>
                <a:latin typeface="Nunito 1" panose="020B0604020202020204" charset="0"/>
                <a:ea typeface="Nunito 1 Bold"/>
                <a:cs typeface="Nunito 1 Bold"/>
                <a:sym typeface="Nunito 1 Bold"/>
              </a:rPr>
              <a:t>h</a:t>
            </a:r>
          </a:p>
          <a:p>
            <a:pPr algn="just"/>
            <a:endParaRPr lang="en-PH" sz="2400" dirty="0">
              <a:solidFill>
                <a:srgbClr val="000000"/>
              </a:solidFill>
              <a:latin typeface="Nunito 1" panose="020B0604020202020204" charset="0"/>
              <a:ea typeface="Nunito 1 Bold"/>
              <a:cs typeface="Nunito 1 Bold"/>
              <a:sym typeface="Nunito 1 Bold"/>
            </a:endParaRPr>
          </a:p>
          <a:p>
            <a:pPr algn="just"/>
            <a:r>
              <a:rPr lang="el-GR" sz="2400" dirty="0">
                <a:solidFill>
                  <a:srgbClr val="000000"/>
                </a:solidFill>
                <a:latin typeface="Nunito 1" panose="020B0604020202020204" charset="0"/>
                <a:ea typeface="Nunito 1 Bold"/>
                <a:cs typeface="Nunito 1 Bold"/>
                <a:sym typeface="Nunito 1 Bold"/>
              </a:rPr>
              <a:t>Δ</a:t>
            </a:r>
            <a:r>
              <a:rPr lang="en-PH" sz="2400" dirty="0">
                <a:solidFill>
                  <a:srgbClr val="000000"/>
                </a:solidFill>
                <a:latin typeface="Nunito 1" panose="020B0604020202020204" charset="0"/>
                <a:ea typeface="Nunito 1 Bold"/>
                <a:cs typeface="Nunito 1 Bold"/>
                <a:sym typeface="Nunito 1 Bold"/>
              </a:rPr>
              <a:t>h = 0.0189m or 1.89cm</a:t>
            </a:r>
          </a:p>
          <a:p>
            <a:pPr algn="just"/>
            <a:endParaRPr lang="en-US" sz="2400" dirty="0">
              <a:solidFill>
                <a:srgbClr val="000000"/>
              </a:solidFill>
              <a:latin typeface="Nunito 1" panose="020B0604020202020204" charset="0"/>
              <a:ea typeface="Nunito 1 Bold"/>
              <a:cs typeface="Nunito 1 Bold"/>
              <a:sym typeface="Nunito 1 Bold"/>
            </a:endParaRPr>
          </a:p>
        </p:txBody>
      </p:sp>
      <p:grpSp>
        <p:nvGrpSpPr>
          <p:cNvPr id="22" name="Group 21">
            <a:extLst>
              <a:ext uri="{FF2B5EF4-FFF2-40B4-BE49-F238E27FC236}">
                <a16:creationId xmlns:a16="http://schemas.microsoft.com/office/drawing/2014/main" id="{CF456F7D-6A63-34BD-6267-B03518CCFB6E}"/>
              </a:ext>
            </a:extLst>
          </p:cNvPr>
          <p:cNvGrpSpPr/>
          <p:nvPr/>
        </p:nvGrpSpPr>
        <p:grpSpPr>
          <a:xfrm>
            <a:off x="0" y="9599693"/>
            <a:ext cx="18287999" cy="687306"/>
            <a:chOff x="0" y="9599693"/>
            <a:chExt cx="18287999" cy="687306"/>
          </a:xfrm>
        </p:grpSpPr>
        <p:grpSp>
          <p:nvGrpSpPr>
            <p:cNvPr id="27" name="Group 11">
              <a:extLst>
                <a:ext uri="{FF2B5EF4-FFF2-40B4-BE49-F238E27FC236}">
                  <a16:creationId xmlns:a16="http://schemas.microsoft.com/office/drawing/2014/main" id="{F214331B-BBC2-DF6B-A2FD-9C64B8E527DE}"/>
                </a:ext>
              </a:extLst>
            </p:cNvPr>
            <p:cNvGrpSpPr/>
            <p:nvPr/>
          </p:nvGrpSpPr>
          <p:grpSpPr>
            <a:xfrm>
              <a:off x="0" y="9599694"/>
              <a:ext cx="18287999" cy="687305"/>
              <a:chOff x="0" y="0"/>
              <a:chExt cx="5260714" cy="490218"/>
            </a:xfrm>
          </p:grpSpPr>
          <p:sp>
            <p:nvSpPr>
              <p:cNvPr id="32" name="Freeform 12">
                <a:extLst>
                  <a:ext uri="{FF2B5EF4-FFF2-40B4-BE49-F238E27FC236}">
                    <a16:creationId xmlns:a16="http://schemas.microsoft.com/office/drawing/2014/main" id="{22A0B4E2-30DC-AF06-370F-F71615EA09A3}"/>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33" name="TextBox 13">
                <a:extLst>
                  <a:ext uri="{FF2B5EF4-FFF2-40B4-BE49-F238E27FC236}">
                    <a16:creationId xmlns:a16="http://schemas.microsoft.com/office/drawing/2014/main" id="{0F1EF597-FCD2-EBFF-DCB3-AFC29AD03184}"/>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30" name="TextBox 12">
              <a:extLst>
                <a:ext uri="{FF2B5EF4-FFF2-40B4-BE49-F238E27FC236}">
                  <a16:creationId xmlns:a16="http://schemas.microsoft.com/office/drawing/2014/main" id="{B63EBDEE-039D-3383-B82C-B1E2A38417EC}"/>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31" name="TextBox 13">
              <a:extLst>
                <a:ext uri="{FF2B5EF4-FFF2-40B4-BE49-F238E27FC236}">
                  <a16:creationId xmlns:a16="http://schemas.microsoft.com/office/drawing/2014/main" id="{46CF4CDF-0A84-458B-5295-40C25E9F8F6F}"/>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spTree>
    <p:extLst>
      <p:ext uri="{BB962C8B-B14F-4D97-AF65-F5344CB8AC3E}">
        <p14:creationId xmlns:p14="http://schemas.microsoft.com/office/powerpoint/2010/main" val="1941053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3504E-18D1-5377-DFA7-A14481FCD57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64C6629-276F-9C80-28DD-7D2F86C00A22}"/>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35370944-0EF2-9468-9CE4-82FDBCB46B9E}"/>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F9A721F4-0039-BB3E-970D-3F3A398BE377}"/>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4A6C0D75-3AC1-BED3-A2F4-574A1940DE7B}"/>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87CCA758-6132-DF27-33C3-602309C95F8A}"/>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094BBC56-4D43-D941-876D-D09980BFDB70}"/>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5EE72251-A843-C9A9-8E61-059C9E62C03D}"/>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DC6098CD-E47B-CCD5-8035-2965EE6F1044}"/>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6E56C0CF-1362-2435-5552-721520DADDF1}"/>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3F3BDE83-B761-FA27-573E-0B2CC687D166}"/>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C55CD789-B781-4F31-828C-A3F7BF612539}"/>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693B4607-21F9-1F8A-EAE0-55F3557AA52E}"/>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B4C9F494-BBE6-1297-B704-AE2E055D9225}"/>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 11</a:t>
            </a:r>
          </a:p>
        </p:txBody>
      </p:sp>
      <p:sp>
        <p:nvSpPr>
          <p:cNvPr id="15" name="TextBox 15">
            <a:extLst>
              <a:ext uri="{FF2B5EF4-FFF2-40B4-BE49-F238E27FC236}">
                <a16:creationId xmlns:a16="http://schemas.microsoft.com/office/drawing/2014/main" id="{83B9AD46-BC38-FE1D-B17F-670CAAD6142A}"/>
              </a:ext>
            </a:extLst>
          </p:cNvPr>
          <p:cNvSpPr txBox="1"/>
          <p:nvPr/>
        </p:nvSpPr>
        <p:spPr>
          <a:xfrm>
            <a:off x="2246041" y="2025065"/>
            <a:ext cx="13795916" cy="2215991"/>
          </a:xfrm>
          <a:prstGeom prst="rect">
            <a:avLst/>
          </a:prstGeom>
        </p:spPr>
        <p:txBody>
          <a:bodyPr wrap="square" lIns="0" tIns="0" rIns="0" bIns="0" rtlCol="0" anchor="t">
            <a:spAutoFit/>
          </a:bodyPr>
          <a:lstStyle/>
          <a:p>
            <a:pPr algn="ctr"/>
            <a:r>
              <a:rPr lang="en-US" sz="2400" b="0" i="0" dirty="0">
                <a:solidFill>
                  <a:srgbClr val="000000"/>
                </a:solidFill>
                <a:effectLst/>
                <a:latin typeface="Nunito 1 Bold" panose="020B0604020202020204" charset="0"/>
              </a:rPr>
              <a:t>Using Bernoulli’s equation, find the velocity at the end of a pipe given the following conditions:</a:t>
            </a:r>
          </a:p>
          <a:p>
            <a:pPr algn="ctr"/>
            <a:endParaRPr lang="en-US" sz="2400" b="0" i="0" dirty="0">
              <a:solidFill>
                <a:srgbClr val="000000"/>
              </a:solidFill>
              <a:effectLst/>
              <a:latin typeface="Nunito 1 Bold" panose="020B0604020202020204" charset="0"/>
            </a:endParaRPr>
          </a:p>
          <a:p>
            <a:r>
              <a:rPr lang="en-US" sz="2400" b="0" i="0" dirty="0">
                <a:solidFill>
                  <a:srgbClr val="000000"/>
                </a:solidFill>
                <a:effectLst/>
                <a:latin typeface="Nunito 1 Bold" panose="020B0604020202020204" charset="0"/>
              </a:rPr>
              <a:t>V = 0.8m/s</a:t>
            </a:r>
          </a:p>
          <a:p>
            <a:r>
              <a:rPr lang="en-US" sz="2400" b="0" i="0" dirty="0">
                <a:solidFill>
                  <a:srgbClr val="000000"/>
                </a:solidFill>
                <a:effectLst/>
                <a:latin typeface="Nunito 1 Bold" panose="020B0604020202020204" charset="0"/>
              </a:rPr>
              <a:t>P1 = 15kPa</a:t>
            </a:r>
          </a:p>
          <a:p>
            <a:r>
              <a:rPr lang="en-US" sz="2400" b="0" i="0" dirty="0">
                <a:solidFill>
                  <a:srgbClr val="000000"/>
                </a:solidFill>
                <a:effectLst/>
                <a:latin typeface="Nunito 1 Bold" panose="020B0604020202020204" charset="0"/>
              </a:rPr>
              <a:t>P2 = 13kPa</a:t>
            </a:r>
          </a:p>
          <a:p>
            <a:r>
              <a:rPr lang="en-US" sz="2400" b="0" i="0" dirty="0">
                <a:solidFill>
                  <a:srgbClr val="000000"/>
                </a:solidFill>
                <a:effectLst/>
                <a:latin typeface="Nunito 1 Bold" panose="020B0604020202020204" charset="0"/>
              </a:rPr>
              <a:t>Density = 1.2g/cc</a:t>
            </a:r>
          </a:p>
        </p:txBody>
      </p:sp>
      <p:sp>
        <p:nvSpPr>
          <p:cNvPr id="19" name="TextBox 12">
            <a:extLst>
              <a:ext uri="{FF2B5EF4-FFF2-40B4-BE49-F238E27FC236}">
                <a16:creationId xmlns:a16="http://schemas.microsoft.com/office/drawing/2014/main" id="{596B797D-1215-DFE4-7F2E-138068CB5126}"/>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6C173FDF-4A68-4AF8-62F2-2D16F48DFD1A}"/>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nvGrpSpPr>
          <p:cNvPr id="23" name="Group 5">
            <a:extLst>
              <a:ext uri="{FF2B5EF4-FFF2-40B4-BE49-F238E27FC236}">
                <a16:creationId xmlns:a16="http://schemas.microsoft.com/office/drawing/2014/main" id="{4C34EA89-BD11-C6FD-2A22-34E3F5A5F2C6}"/>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13136652-8730-CF8C-02D3-56532D9050E4}"/>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CD61E421-E3ED-4C73-3484-BDF73DC2927E}"/>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5">
            <a:extLst>
              <a:ext uri="{FF2B5EF4-FFF2-40B4-BE49-F238E27FC236}">
                <a16:creationId xmlns:a16="http://schemas.microsoft.com/office/drawing/2014/main" id="{77C93BEF-D4C8-B1BD-48E3-818CD6E15187}"/>
              </a:ext>
            </a:extLst>
          </p:cNvPr>
          <p:cNvSpPr txBox="1"/>
          <p:nvPr/>
        </p:nvSpPr>
        <p:spPr>
          <a:xfrm>
            <a:off x="1676400" y="4635597"/>
            <a:ext cx="14935200" cy="2585323"/>
          </a:xfrm>
          <a:prstGeom prst="rect">
            <a:avLst/>
          </a:prstGeom>
        </p:spPr>
        <p:txBody>
          <a:bodyPr wrap="square" lIns="0" tIns="0" rIns="0" bIns="0" rtlCol="0" anchor="t">
            <a:spAutoFit/>
          </a:bodyPr>
          <a:lstStyle/>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1.66m/s</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1.77m/s</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1.88m/s</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1.99m/s</a:t>
            </a:r>
          </a:p>
        </p:txBody>
      </p:sp>
      <p:sp>
        <p:nvSpPr>
          <p:cNvPr id="17" name="Oval 16">
            <a:extLst>
              <a:ext uri="{FF2B5EF4-FFF2-40B4-BE49-F238E27FC236}">
                <a16:creationId xmlns:a16="http://schemas.microsoft.com/office/drawing/2014/main" id="{AEB42EFC-4918-8CB0-B682-9996FDBB99CB}"/>
              </a:ext>
            </a:extLst>
          </p:cNvPr>
          <p:cNvSpPr/>
          <p:nvPr/>
        </p:nvSpPr>
        <p:spPr>
          <a:xfrm>
            <a:off x="1524000" y="6768848"/>
            <a:ext cx="475936" cy="47593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1" name="TextBox 15">
            <a:extLst>
              <a:ext uri="{FF2B5EF4-FFF2-40B4-BE49-F238E27FC236}">
                <a16:creationId xmlns:a16="http://schemas.microsoft.com/office/drawing/2014/main" id="{BAAA2F25-F8DD-2420-9D99-C7D50BC790D3}"/>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https://www.fsl.orst.edu/geowater/FX3/help/8_Hydraulic_Reference/Froude_Number_and_Flow_States.htm</a:t>
            </a:r>
          </a:p>
        </p:txBody>
      </p:sp>
      <p:sp>
        <p:nvSpPr>
          <p:cNvPr id="18" name="AutoShape 2">
            <a:extLst>
              <a:ext uri="{FF2B5EF4-FFF2-40B4-BE49-F238E27FC236}">
                <a16:creationId xmlns:a16="http://schemas.microsoft.com/office/drawing/2014/main" id="{02EC8032-BC33-67D0-F07D-58F1BD25C2BC}"/>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4A181DDC-3301-4812-B288-0BBF1B774F48}"/>
                  </a:ext>
                </a:extLst>
              </p:cNvPr>
              <p:cNvSpPr txBox="1"/>
              <p:nvPr/>
            </p:nvSpPr>
            <p:spPr>
              <a:xfrm>
                <a:off x="5562723" y="2884287"/>
                <a:ext cx="9829677" cy="5794407"/>
              </a:xfrm>
              <a:prstGeom prst="rect">
                <a:avLst/>
              </a:prstGeom>
            </p:spPr>
            <p:txBody>
              <a:bodyPr wrap="square" lIns="0" tIns="0" rIns="0" bIns="0" rtlCol="0" anchor="t">
                <a:spAutoFit/>
              </a:bodyPr>
              <a:lstStyle/>
              <a:p>
                <a:pPr>
                  <a:spcAft>
                    <a:spcPts val="800"/>
                  </a:spcAft>
                </a:pPr>
                <a:r>
                  <a:rPr lang="en-PH" sz="2400" kern="100" dirty="0">
                    <a:effectLst/>
                    <a:latin typeface="Nunito 1" panose="020B0604020202020204" charset="0"/>
                    <a:ea typeface="Calibri" panose="020F0502020204030204" pitchFamily="34" charset="0"/>
                    <a:cs typeface="Times New Roman" panose="02020603050405020304" pitchFamily="18" charset="0"/>
                  </a:rPr>
                  <a:t>Solution:</a:t>
                </a:r>
              </a:p>
              <a:p>
                <a:pPr>
                  <a:spcAft>
                    <a:spcPts val="800"/>
                  </a:spcAft>
                </a:pPr>
                <a:r>
                  <a:rPr lang="en-PH" sz="2400" kern="100" dirty="0">
                    <a:effectLst/>
                    <a:latin typeface="Nunito 1" panose="020B0604020202020204" charset="0"/>
                    <a:ea typeface="Calibri" panose="020F0502020204030204" pitchFamily="34" charset="0"/>
                    <a:cs typeface="Times New Roman" panose="02020603050405020304" pitchFamily="18" charset="0"/>
                  </a:rPr>
                  <a:t> </a:t>
                </a:r>
              </a:p>
              <a:p>
                <a:pPr>
                  <a:spcAft>
                    <a:spcPts val="800"/>
                  </a:spcAft>
                </a:pPr>
                <a14:m>
                  <m:oMathPara xmlns:m="http://schemas.openxmlformats.org/officeDocument/2006/math">
                    <m:oMathParaPr>
                      <m:jc m:val="centerGroup"/>
                    </m:oMathParaPr>
                    <m:oMath xmlns:m="http://schemas.openxmlformats.org/officeDocument/2006/math">
                      <m:f>
                        <m:fPr>
                          <m:ctrlPr>
                            <a:rPr lang="en-PH" sz="2400" i="1" kern="100">
                              <a:effectLst/>
                              <a:latin typeface="Cambria Math" panose="02040503050406030204" pitchFamily="18" charset="0"/>
                              <a:ea typeface="Calibri" panose="020F0502020204030204" pitchFamily="34" charset="0"/>
                              <a:cs typeface="Courier New" panose="02070309020205020404" pitchFamily="49" charset="0"/>
                            </a:rPr>
                          </m:ctrlPr>
                        </m:fPr>
                        <m:num>
                          <m:r>
                            <a:rPr lang="en-PH" sz="2400" i="1" kern="100">
                              <a:effectLst/>
                              <a:latin typeface="Cambria Math" panose="02040503050406030204" pitchFamily="18" charset="0"/>
                              <a:ea typeface="Calibri" panose="020F0502020204030204" pitchFamily="34" charset="0"/>
                              <a:cs typeface="Courier New" panose="02070309020205020404" pitchFamily="49" charset="0"/>
                            </a:rPr>
                            <m:t>1</m:t>
                          </m:r>
                        </m:num>
                        <m:den>
                          <m:r>
                            <a:rPr lang="en-PH" sz="2400" i="1" kern="100">
                              <a:effectLst/>
                              <a:latin typeface="Cambria Math" panose="02040503050406030204" pitchFamily="18" charset="0"/>
                              <a:ea typeface="Calibri" panose="020F0502020204030204" pitchFamily="34" charset="0"/>
                              <a:cs typeface="Courier New" panose="02070309020205020404" pitchFamily="49" charset="0"/>
                            </a:rPr>
                            <m:t>2</m:t>
                          </m:r>
                        </m:den>
                      </m:f>
                      <m:r>
                        <a:rPr lang="en-PH" sz="2400" i="1" kern="100">
                          <a:effectLst/>
                          <a:latin typeface="Cambria Math" panose="02040503050406030204" pitchFamily="18" charset="0"/>
                          <a:ea typeface="Calibri" panose="020F0502020204030204" pitchFamily="34" charset="0"/>
                          <a:cs typeface="Courier New" panose="02070309020205020404" pitchFamily="49" charset="0"/>
                        </a:rPr>
                        <m:t>𝜌</m:t>
                      </m:r>
                      <m:sSubSup>
                        <m:sSubSupPr>
                          <m:ctrlPr>
                            <a:rPr lang="en-PH" sz="2400" i="1" kern="100">
                              <a:effectLst/>
                              <a:latin typeface="Cambria Math" panose="02040503050406030204" pitchFamily="18" charset="0"/>
                              <a:ea typeface="Calibri" panose="020F0502020204030204" pitchFamily="34" charset="0"/>
                              <a:cs typeface="Courier New" panose="02070309020205020404" pitchFamily="49" charset="0"/>
                            </a:rPr>
                          </m:ctrlPr>
                        </m:sSubSupPr>
                        <m:e>
                          <m:r>
                            <a:rPr lang="en-PH" sz="2400" i="1" kern="100">
                              <a:effectLst/>
                              <a:latin typeface="Cambria Math" panose="02040503050406030204" pitchFamily="18" charset="0"/>
                              <a:ea typeface="Calibri" panose="020F0502020204030204" pitchFamily="34" charset="0"/>
                              <a:cs typeface="Courier New" panose="02070309020205020404" pitchFamily="49" charset="0"/>
                            </a:rPr>
                            <m:t>𝜈</m:t>
                          </m:r>
                        </m:e>
                        <m:sub>
                          <m:r>
                            <a:rPr lang="en-PH" sz="2400" i="1" kern="100">
                              <a:effectLst/>
                              <a:latin typeface="Cambria Math" panose="02040503050406030204" pitchFamily="18" charset="0"/>
                              <a:ea typeface="Calibri" panose="020F0502020204030204" pitchFamily="34" charset="0"/>
                              <a:cs typeface="Courier New" panose="02070309020205020404" pitchFamily="49" charset="0"/>
                            </a:rPr>
                            <m:t>1</m:t>
                          </m:r>
                        </m:sub>
                        <m:sup>
                          <m:r>
                            <a:rPr lang="en-PH" sz="2400" i="1" kern="100">
                              <a:effectLst/>
                              <a:latin typeface="Cambria Math" panose="02040503050406030204" pitchFamily="18" charset="0"/>
                              <a:ea typeface="Calibri" panose="020F0502020204030204" pitchFamily="34" charset="0"/>
                              <a:cs typeface="Courier New" panose="02070309020205020404" pitchFamily="49" charset="0"/>
                            </a:rPr>
                            <m:t>2</m:t>
                          </m:r>
                        </m:sup>
                      </m:sSubSup>
                      <m:r>
                        <a:rPr lang="en-PH" sz="2400" i="1" kern="100">
                          <a:effectLst/>
                          <a:latin typeface="Cambria Math" panose="02040503050406030204" pitchFamily="18" charset="0"/>
                          <a:ea typeface="Calibri" panose="020F0502020204030204" pitchFamily="34" charset="0"/>
                          <a:cs typeface="Courier New" panose="02070309020205020404" pitchFamily="49" charset="0"/>
                        </a:rPr>
                        <m:t>+</m:t>
                      </m:r>
                      <m:r>
                        <a:rPr lang="en-PH" sz="2400" i="1" kern="100">
                          <a:effectLst/>
                          <a:latin typeface="Cambria Math" panose="02040503050406030204" pitchFamily="18" charset="0"/>
                          <a:ea typeface="Calibri" panose="020F0502020204030204" pitchFamily="34" charset="0"/>
                          <a:cs typeface="Courier New" panose="02070309020205020404" pitchFamily="49" charset="0"/>
                        </a:rPr>
                        <m:t>𝜌</m:t>
                      </m:r>
                      <m:r>
                        <a:rPr lang="en-PH" sz="2400" i="1" kern="100">
                          <a:effectLst/>
                          <a:latin typeface="Cambria Math" panose="02040503050406030204" pitchFamily="18" charset="0"/>
                          <a:ea typeface="Calibri" panose="020F0502020204030204" pitchFamily="34" charset="0"/>
                          <a:cs typeface="Courier New" panose="02070309020205020404" pitchFamily="49" charset="0"/>
                        </a:rPr>
                        <m:t>𝑔</m:t>
                      </m:r>
                      <m:sSub>
                        <m:sSubPr>
                          <m:ctrlPr>
                            <a:rPr lang="en-PH" sz="2400" i="1" kern="100">
                              <a:effectLst/>
                              <a:latin typeface="Cambria Math" panose="02040503050406030204" pitchFamily="18" charset="0"/>
                              <a:ea typeface="Calibri" panose="020F0502020204030204" pitchFamily="34" charset="0"/>
                              <a:cs typeface="Courier New" panose="02070309020205020404" pitchFamily="49" charset="0"/>
                            </a:rPr>
                          </m:ctrlPr>
                        </m:sSubPr>
                        <m:e>
                          <m:r>
                            <a:rPr lang="en-PH" sz="2400" i="1" kern="100">
                              <a:effectLst/>
                              <a:latin typeface="Cambria Math" panose="02040503050406030204" pitchFamily="18" charset="0"/>
                              <a:ea typeface="Calibri" panose="020F0502020204030204" pitchFamily="34" charset="0"/>
                              <a:cs typeface="Courier New" panose="02070309020205020404" pitchFamily="49" charset="0"/>
                            </a:rPr>
                            <m:t>h</m:t>
                          </m:r>
                        </m:e>
                        <m:sub>
                          <m:r>
                            <a:rPr lang="en-PH" sz="2400" i="1" kern="100">
                              <a:effectLst/>
                              <a:latin typeface="Cambria Math" panose="02040503050406030204" pitchFamily="18" charset="0"/>
                              <a:ea typeface="Calibri" panose="020F0502020204030204" pitchFamily="34" charset="0"/>
                              <a:cs typeface="Courier New" panose="02070309020205020404" pitchFamily="49" charset="0"/>
                            </a:rPr>
                            <m:t>1</m:t>
                          </m:r>
                        </m:sub>
                      </m:sSub>
                      <m:sSub>
                        <m:sSubPr>
                          <m:ctrlPr>
                            <a:rPr lang="en-PH" sz="2400" i="1" kern="100">
                              <a:effectLst/>
                              <a:latin typeface="Cambria Math" panose="02040503050406030204" pitchFamily="18" charset="0"/>
                              <a:ea typeface="Calibri" panose="020F0502020204030204" pitchFamily="34" charset="0"/>
                              <a:cs typeface="Courier New" panose="02070309020205020404" pitchFamily="49" charset="0"/>
                            </a:rPr>
                          </m:ctrlPr>
                        </m:sSubPr>
                        <m:e>
                          <m:r>
                            <a:rPr lang="en-PH" sz="2400" i="1" kern="100">
                              <a:effectLst/>
                              <a:latin typeface="Cambria Math" panose="02040503050406030204" pitchFamily="18" charset="0"/>
                              <a:ea typeface="Calibri" panose="020F0502020204030204" pitchFamily="34" charset="0"/>
                              <a:cs typeface="Courier New" panose="02070309020205020404" pitchFamily="49" charset="0"/>
                            </a:rPr>
                            <m:t>+</m:t>
                          </m:r>
                          <m:r>
                            <a:rPr lang="en-PH" sz="2400" i="1" kern="100">
                              <a:effectLst/>
                              <a:latin typeface="Cambria Math" panose="02040503050406030204" pitchFamily="18" charset="0"/>
                              <a:ea typeface="Calibri" panose="020F0502020204030204" pitchFamily="34" charset="0"/>
                              <a:cs typeface="Courier New" panose="02070309020205020404" pitchFamily="49" charset="0"/>
                            </a:rPr>
                            <m:t>𝑃</m:t>
                          </m:r>
                        </m:e>
                        <m:sub>
                          <m:r>
                            <a:rPr lang="en-PH" sz="2400" i="1" kern="100">
                              <a:effectLst/>
                              <a:latin typeface="Cambria Math" panose="02040503050406030204" pitchFamily="18" charset="0"/>
                              <a:ea typeface="Calibri" panose="020F0502020204030204" pitchFamily="34" charset="0"/>
                              <a:cs typeface="Courier New" panose="02070309020205020404" pitchFamily="49" charset="0"/>
                            </a:rPr>
                            <m:t>1</m:t>
                          </m:r>
                        </m:sub>
                      </m:sSub>
                      <m:r>
                        <a:rPr lang="en-PH" sz="2400" i="1" kern="100">
                          <a:effectLst/>
                          <a:latin typeface="Cambria Math" panose="02040503050406030204" pitchFamily="18" charset="0"/>
                          <a:ea typeface="Calibri" panose="020F0502020204030204" pitchFamily="34" charset="0"/>
                          <a:cs typeface="Courier New" panose="02070309020205020404" pitchFamily="49" charset="0"/>
                        </a:rPr>
                        <m:t>=</m:t>
                      </m:r>
                      <m:f>
                        <m:fPr>
                          <m:ctrlPr>
                            <a:rPr lang="en-PH" sz="2400" i="1" kern="100">
                              <a:effectLst/>
                              <a:latin typeface="Cambria Math" panose="02040503050406030204" pitchFamily="18" charset="0"/>
                              <a:ea typeface="Calibri" panose="020F0502020204030204" pitchFamily="34" charset="0"/>
                              <a:cs typeface="Courier New" panose="02070309020205020404" pitchFamily="49" charset="0"/>
                            </a:rPr>
                          </m:ctrlPr>
                        </m:fPr>
                        <m:num>
                          <m:r>
                            <a:rPr lang="en-PH" sz="2400" i="1" kern="100">
                              <a:effectLst/>
                              <a:latin typeface="Cambria Math" panose="02040503050406030204" pitchFamily="18" charset="0"/>
                              <a:ea typeface="Calibri" panose="020F0502020204030204" pitchFamily="34" charset="0"/>
                              <a:cs typeface="Courier New" panose="02070309020205020404" pitchFamily="49" charset="0"/>
                            </a:rPr>
                            <m:t>1</m:t>
                          </m:r>
                        </m:num>
                        <m:den>
                          <m:r>
                            <a:rPr lang="en-PH" sz="2400" i="1" kern="100">
                              <a:effectLst/>
                              <a:latin typeface="Cambria Math" panose="02040503050406030204" pitchFamily="18" charset="0"/>
                              <a:ea typeface="Calibri" panose="020F0502020204030204" pitchFamily="34" charset="0"/>
                              <a:cs typeface="Courier New" panose="02070309020205020404" pitchFamily="49" charset="0"/>
                            </a:rPr>
                            <m:t>2</m:t>
                          </m:r>
                        </m:den>
                      </m:f>
                      <m:r>
                        <a:rPr lang="en-PH" sz="2400" i="1" kern="100">
                          <a:effectLst/>
                          <a:latin typeface="Cambria Math" panose="02040503050406030204" pitchFamily="18" charset="0"/>
                          <a:ea typeface="Calibri" panose="020F0502020204030204" pitchFamily="34" charset="0"/>
                          <a:cs typeface="Courier New" panose="02070309020205020404" pitchFamily="49" charset="0"/>
                        </a:rPr>
                        <m:t>𝜌</m:t>
                      </m:r>
                      <m:sSubSup>
                        <m:sSubSupPr>
                          <m:ctrlPr>
                            <a:rPr lang="en-PH" sz="2400" i="1" kern="100">
                              <a:effectLst/>
                              <a:latin typeface="Cambria Math" panose="02040503050406030204" pitchFamily="18" charset="0"/>
                              <a:ea typeface="Calibri" panose="020F0502020204030204" pitchFamily="34" charset="0"/>
                              <a:cs typeface="Courier New" panose="02070309020205020404" pitchFamily="49" charset="0"/>
                            </a:rPr>
                          </m:ctrlPr>
                        </m:sSubSupPr>
                        <m:e>
                          <m:r>
                            <a:rPr lang="en-PH" sz="2400" i="1" kern="100">
                              <a:effectLst/>
                              <a:latin typeface="Cambria Math" panose="02040503050406030204" pitchFamily="18" charset="0"/>
                              <a:ea typeface="Calibri" panose="020F0502020204030204" pitchFamily="34" charset="0"/>
                              <a:cs typeface="Courier New" panose="02070309020205020404" pitchFamily="49" charset="0"/>
                            </a:rPr>
                            <m:t>𝜈</m:t>
                          </m:r>
                        </m:e>
                        <m:sub>
                          <m:r>
                            <a:rPr lang="en-PH" sz="2400" i="1" kern="100">
                              <a:effectLst/>
                              <a:latin typeface="Cambria Math" panose="02040503050406030204" pitchFamily="18" charset="0"/>
                              <a:ea typeface="Calibri" panose="020F0502020204030204" pitchFamily="34" charset="0"/>
                              <a:cs typeface="Courier New" panose="02070309020205020404" pitchFamily="49" charset="0"/>
                            </a:rPr>
                            <m:t>2</m:t>
                          </m:r>
                        </m:sub>
                        <m:sup>
                          <m:r>
                            <a:rPr lang="en-PH" sz="2400" i="1" kern="100">
                              <a:effectLst/>
                              <a:latin typeface="Cambria Math" panose="02040503050406030204" pitchFamily="18" charset="0"/>
                              <a:ea typeface="Calibri" panose="020F0502020204030204" pitchFamily="34" charset="0"/>
                              <a:cs typeface="Courier New" panose="02070309020205020404" pitchFamily="49" charset="0"/>
                            </a:rPr>
                            <m:t>2</m:t>
                          </m:r>
                        </m:sup>
                      </m:sSubSup>
                      <m:r>
                        <a:rPr lang="en-PH" sz="2400" i="1" kern="100">
                          <a:effectLst/>
                          <a:latin typeface="Cambria Math" panose="02040503050406030204" pitchFamily="18" charset="0"/>
                          <a:ea typeface="Calibri" panose="020F0502020204030204" pitchFamily="34" charset="0"/>
                          <a:cs typeface="Courier New" panose="02070309020205020404" pitchFamily="49" charset="0"/>
                        </a:rPr>
                        <m:t>+</m:t>
                      </m:r>
                      <m:r>
                        <a:rPr lang="en-PH" sz="2400" i="1" kern="100">
                          <a:effectLst/>
                          <a:latin typeface="Cambria Math" panose="02040503050406030204" pitchFamily="18" charset="0"/>
                          <a:ea typeface="Calibri" panose="020F0502020204030204" pitchFamily="34" charset="0"/>
                          <a:cs typeface="Courier New" panose="02070309020205020404" pitchFamily="49" charset="0"/>
                        </a:rPr>
                        <m:t>𝜌</m:t>
                      </m:r>
                      <m:r>
                        <a:rPr lang="en-PH" sz="2400" i="1" kern="100">
                          <a:effectLst/>
                          <a:latin typeface="Cambria Math" panose="02040503050406030204" pitchFamily="18" charset="0"/>
                          <a:ea typeface="Calibri" panose="020F0502020204030204" pitchFamily="34" charset="0"/>
                          <a:cs typeface="Courier New" panose="02070309020205020404" pitchFamily="49" charset="0"/>
                        </a:rPr>
                        <m:t>𝑔</m:t>
                      </m:r>
                      <m:sSub>
                        <m:sSubPr>
                          <m:ctrlPr>
                            <a:rPr lang="en-PH" sz="2400" i="1" kern="100">
                              <a:effectLst/>
                              <a:latin typeface="Cambria Math" panose="02040503050406030204" pitchFamily="18" charset="0"/>
                              <a:ea typeface="Calibri" panose="020F0502020204030204" pitchFamily="34" charset="0"/>
                              <a:cs typeface="Courier New" panose="02070309020205020404" pitchFamily="49" charset="0"/>
                            </a:rPr>
                          </m:ctrlPr>
                        </m:sSubPr>
                        <m:e>
                          <m:r>
                            <a:rPr lang="en-PH" sz="2400" i="1" kern="100">
                              <a:effectLst/>
                              <a:latin typeface="Cambria Math" panose="02040503050406030204" pitchFamily="18" charset="0"/>
                              <a:ea typeface="Calibri" panose="020F0502020204030204" pitchFamily="34" charset="0"/>
                              <a:cs typeface="Courier New" panose="02070309020205020404" pitchFamily="49" charset="0"/>
                            </a:rPr>
                            <m:t>h</m:t>
                          </m:r>
                        </m:e>
                        <m:sub>
                          <m:r>
                            <a:rPr lang="en-PH" sz="2400" i="1" kern="100">
                              <a:effectLst/>
                              <a:latin typeface="Cambria Math" panose="02040503050406030204" pitchFamily="18" charset="0"/>
                              <a:ea typeface="Calibri" panose="020F0502020204030204" pitchFamily="34" charset="0"/>
                              <a:cs typeface="Courier New" panose="02070309020205020404" pitchFamily="49" charset="0"/>
                            </a:rPr>
                            <m:t>1</m:t>
                          </m:r>
                        </m:sub>
                      </m:sSub>
                      <m:r>
                        <a:rPr lang="en-PH" sz="2400" i="1" kern="100">
                          <a:effectLst/>
                          <a:latin typeface="Cambria Math" panose="02040503050406030204" pitchFamily="18" charset="0"/>
                          <a:ea typeface="Calibri" panose="020F0502020204030204" pitchFamily="34" charset="0"/>
                          <a:cs typeface="Courier New" panose="02070309020205020404" pitchFamily="49" charset="0"/>
                        </a:rPr>
                        <m:t>+</m:t>
                      </m:r>
                      <m:sSub>
                        <m:sSubPr>
                          <m:ctrlPr>
                            <a:rPr lang="en-PH" sz="2400" i="1" kern="100">
                              <a:effectLst/>
                              <a:latin typeface="Cambria Math" panose="02040503050406030204" pitchFamily="18" charset="0"/>
                              <a:ea typeface="Calibri" panose="020F0502020204030204" pitchFamily="34" charset="0"/>
                              <a:cs typeface="Courier New" panose="02070309020205020404" pitchFamily="49" charset="0"/>
                            </a:rPr>
                          </m:ctrlPr>
                        </m:sSubPr>
                        <m:e>
                          <m:r>
                            <a:rPr lang="en-PH" sz="2400" i="1" kern="100">
                              <a:effectLst/>
                              <a:latin typeface="Cambria Math" panose="02040503050406030204" pitchFamily="18" charset="0"/>
                              <a:ea typeface="Calibri" panose="020F0502020204030204" pitchFamily="34" charset="0"/>
                              <a:cs typeface="Courier New" panose="02070309020205020404" pitchFamily="49" charset="0"/>
                            </a:rPr>
                            <m:t>𝑃</m:t>
                          </m:r>
                        </m:e>
                        <m:sub>
                          <m:r>
                            <a:rPr lang="en-PH" sz="2400" i="1" kern="100">
                              <a:effectLst/>
                              <a:latin typeface="Cambria Math" panose="02040503050406030204" pitchFamily="18" charset="0"/>
                              <a:ea typeface="Calibri" panose="020F0502020204030204" pitchFamily="34" charset="0"/>
                              <a:cs typeface="Courier New" panose="02070309020205020404" pitchFamily="49" charset="0"/>
                            </a:rPr>
                            <m:t>2</m:t>
                          </m:r>
                        </m:sub>
                      </m:sSub>
                    </m:oMath>
                  </m:oMathPara>
                </a14:m>
                <a:endParaRPr lang="en-PH" sz="2400" kern="100" dirty="0">
                  <a:effectLst/>
                  <a:latin typeface="Nunito 1" panose="020B0604020202020204" charset="0"/>
                  <a:ea typeface="Calibri" panose="020F0502020204030204" pitchFamily="34" charset="0"/>
                  <a:cs typeface="Times New Roman" panose="02020603050405020304" pitchFamily="18" charset="0"/>
                </a:endParaRPr>
              </a:p>
              <a:p>
                <a:pPr>
                  <a:spcAft>
                    <a:spcPts val="800"/>
                  </a:spcAft>
                </a:pPr>
                <a14:m>
                  <m:oMathPara xmlns:m="http://schemas.openxmlformats.org/officeDocument/2006/math">
                    <m:oMathParaPr>
                      <m:jc m:val="centerGroup"/>
                    </m:oMathParaPr>
                    <m:oMath xmlns:m="http://schemas.openxmlformats.org/officeDocument/2006/math">
                      <m:f>
                        <m:fPr>
                          <m:ctrlPr>
                            <a:rPr lang="en-PH" sz="2400" i="1" kern="100">
                              <a:effectLst/>
                              <a:latin typeface="Cambria Math" panose="02040503050406030204" pitchFamily="18" charset="0"/>
                              <a:ea typeface="Calibri" panose="020F0502020204030204" pitchFamily="34" charset="0"/>
                              <a:cs typeface="Courier New" panose="02070309020205020404" pitchFamily="49" charset="0"/>
                            </a:rPr>
                          </m:ctrlPr>
                        </m:fPr>
                        <m:num>
                          <m:r>
                            <a:rPr lang="en-PH" sz="2400" i="1" kern="100">
                              <a:effectLst/>
                              <a:latin typeface="Cambria Math" panose="02040503050406030204" pitchFamily="18" charset="0"/>
                              <a:ea typeface="Calibri" panose="020F0502020204030204" pitchFamily="34" charset="0"/>
                              <a:cs typeface="Courier New" panose="02070309020205020404" pitchFamily="49" charset="0"/>
                            </a:rPr>
                            <m:t>1</m:t>
                          </m:r>
                        </m:num>
                        <m:den>
                          <m:r>
                            <a:rPr lang="en-PH" sz="2400" i="1" kern="100">
                              <a:effectLst/>
                              <a:latin typeface="Cambria Math" panose="02040503050406030204" pitchFamily="18" charset="0"/>
                              <a:ea typeface="Calibri" panose="020F0502020204030204" pitchFamily="34" charset="0"/>
                              <a:cs typeface="Courier New" panose="02070309020205020404" pitchFamily="49" charset="0"/>
                            </a:rPr>
                            <m:t>2</m:t>
                          </m:r>
                        </m:den>
                      </m:f>
                      <m:r>
                        <a:rPr lang="en-PH" sz="2400" i="1" kern="100">
                          <a:effectLst/>
                          <a:latin typeface="Cambria Math" panose="02040503050406030204" pitchFamily="18" charset="0"/>
                          <a:ea typeface="Calibri" panose="020F0502020204030204" pitchFamily="34" charset="0"/>
                          <a:cs typeface="Courier New" panose="02070309020205020404" pitchFamily="49" charset="0"/>
                        </a:rPr>
                        <m:t>𝜌</m:t>
                      </m:r>
                      <m:sSubSup>
                        <m:sSubSupPr>
                          <m:ctrlPr>
                            <a:rPr lang="en-PH" sz="2400" i="1" kern="100">
                              <a:effectLst/>
                              <a:latin typeface="Cambria Math" panose="02040503050406030204" pitchFamily="18" charset="0"/>
                              <a:ea typeface="Calibri" panose="020F0502020204030204" pitchFamily="34" charset="0"/>
                              <a:cs typeface="Courier New" panose="02070309020205020404" pitchFamily="49" charset="0"/>
                            </a:rPr>
                          </m:ctrlPr>
                        </m:sSubSupPr>
                        <m:e>
                          <m:r>
                            <a:rPr lang="en-PH" sz="2400" i="1" kern="100">
                              <a:effectLst/>
                              <a:latin typeface="Cambria Math" panose="02040503050406030204" pitchFamily="18" charset="0"/>
                              <a:ea typeface="Calibri" panose="020F0502020204030204" pitchFamily="34" charset="0"/>
                              <a:cs typeface="Courier New" panose="02070309020205020404" pitchFamily="49" charset="0"/>
                            </a:rPr>
                            <m:t>𝜈</m:t>
                          </m:r>
                        </m:e>
                        <m:sub>
                          <m:r>
                            <a:rPr lang="en-PH" sz="2400" i="1" kern="100">
                              <a:effectLst/>
                              <a:latin typeface="Cambria Math" panose="02040503050406030204" pitchFamily="18" charset="0"/>
                              <a:ea typeface="Calibri" panose="020F0502020204030204" pitchFamily="34" charset="0"/>
                              <a:cs typeface="Courier New" panose="02070309020205020404" pitchFamily="49" charset="0"/>
                            </a:rPr>
                            <m:t>1</m:t>
                          </m:r>
                        </m:sub>
                        <m:sup>
                          <m:r>
                            <a:rPr lang="en-PH" sz="2400" i="1" kern="100">
                              <a:effectLst/>
                              <a:latin typeface="Cambria Math" panose="02040503050406030204" pitchFamily="18" charset="0"/>
                              <a:ea typeface="Calibri" panose="020F0502020204030204" pitchFamily="34" charset="0"/>
                              <a:cs typeface="Courier New" panose="02070309020205020404" pitchFamily="49" charset="0"/>
                            </a:rPr>
                            <m:t>2</m:t>
                          </m:r>
                        </m:sup>
                      </m:sSubSup>
                      <m:r>
                        <a:rPr lang="en-PH" sz="2400" i="1" kern="100">
                          <a:effectLst/>
                          <a:latin typeface="Cambria Math" panose="02040503050406030204" pitchFamily="18" charset="0"/>
                          <a:ea typeface="Calibri" panose="020F0502020204030204" pitchFamily="34" charset="0"/>
                          <a:cs typeface="Courier New" panose="02070309020205020404" pitchFamily="49" charset="0"/>
                        </a:rPr>
                        <m:t>+</m:t>
                      </m:r>
                      <m:sSub>
                        <m:sSubPr>
                          <m:ctrlPr>
                            <a:rPr lang="en-PH" sz="2400" i="1" kern="100">
                              <a:effectLst/>
                              <a:latin typeface="Cambria Math" panose="02040503050406030204" pitchFamily="18" charset="0"/>
                              <a:ea typeface="Calibri" panose="020F0502020204030204" pitchFamily="34" charset="0"/>
                              <a:cs typeface="Courier New" panose="02070309020205020404" pitchFamily="49" charset="0"/>
                            </a:rPr>
                          </m:ctrlPr>
                        </m:sSubPr>
                        <m:e>
                          <m:r>
                            <a:rPr lang="en-PH" sz="2400" i="1" kern="100">
                              <a:effectLst/>
                              <a:latin typeface="Cambria Math" panose="02040503050406030204" pitchFamily="18" charset="0"/>
                              <a:ea typeface="Calibri" panose="020F0502020204030204" pitchFamily="34" charset="0"/>
                              <a:cs typeface="Courier New" panose="02070309020205020404" pitchFamily="49" charset="0"/>
                            </a:rPr>
                            <m:t>𝑃</m:t>
                          </m:r>
                        </m:e>
                        <m:sub>
                          <m:r>
                            <a:rPr lang="en-PH" sz="2400" i="1" kern="100">
                              <a:effectLst/>
                              <a:latin typeface="Cambria Math" panose="02040503050406030204" pitchFamily="18" charset="0"/>
                              <a:ea typeface="Calibri" panose="020F0502020204030204" pitchFamily="34" charset="0"/>
                              <a:cs typeface="Courier New" panose="02070309020205020404" pitchFamily="49" charset="0"/>
                            </a:rPr>
                            <m:t>1</m:t>
                          </m:r>
                        </m:sub>
                      </m:sSub>
                      <m:r>
                        <a:rPr lang="en-PH" sz="2400" i="1" kern="100">
                          <a:effectLst/>
                          <a:latin typeface="Cambria Math" panose="02040503050406030204" pitchFamily="18" charset="0"/>
                          <a:ea typeface="Calibri" panose="020F0502020204030204" pitchFamily="34" charset="0"/>
                          <a:cs typeface="Courier New" panose="02070309020205020404" pitchFamily="49" charset="0"/>
                        </a:rPr>
                        <m:t>=</m:t>
                      </m:r>
                      <m:f>
                        <m:fPr>
                          <m:ctrlPr>
                            <a:rPr lang="en-PH" sz="2400" i="1" kern="100">
                              <a:effectLst/>
                              <a:latin typeface="Cambria Math" panose="02040503050406030204" pitchFamily="18" charset="0"/>
                              <a:ea typeface="Calibri" panose="020F0502020204030204" pitchFamily="34" charset="0"/>
                              <a:cs typeface="Courier New" panose="02070309020205020404" pitchFamily="49" charset="0"/>
                            </a:rPr>
                          </m:ctrlPr>
                        </m:fPr>
                        <m:num>
                          <m:r>
                            <a:rPr lang="en-PH" sz="2400" i="1" kern="100">
                              <a:effectLst/>
                              <a:latin typeface="Cambria Math" panose="02040503050406030204" pitchFamily="18" charset="0"/>
                              <a:ea typeface="Calibri" panose="020F0502020204030204" pitchFamily="34" charset="0"/>
                              <a:cs typeface="Courier New" panose="02070309020205020404" pitchFamily="49" charset="0"/>
                            </a:rPr>
                            <m:t>1</m:t>
                          </m:r>
                        </m:num>
                        <m:den>
                          <m:r>
                            <a:rPr lang="en-PH" sz="2400" i="1" kern="100">
                              <a:effectLst/>
                              <a:latin typeface="Cambria Math" panose="02040503050406030204" pitchFamily="18" charset="0"/>
                              <a:ea typeface="Calibri" panose="020F0502020204030204" pitchFamily="34" charset="0"/>
                              <a:cs typeface="Courier New" panose="02070309020205020404" pitchFamily="49" charset="0"/>
                            </a:rPr>
                            <m:t>2</m:t>
                          </m:r>
                        </m:den>
                      </m:f>
                      <m:r>
                        <a:rPr lang="en-PH" sz="2400" i="1" kern="100">
                          <a:effectLst/>
                          <a:latin typeface="Cambria Math" panose="02040503050406030204" pitchFamily="18" charset="0"/>
                          <a:ea typeface="Calibri" panose="020F0502020204030204" pitchFamily="34" charset="0"/>
                          <a:cs typeface="Courier New" panose="02070309020205020404" pitchFamily="49" charset="0"/>
                        </a:rPr>
                        <m:t>𝜌</m:t>
                      </m:r>
                      <m:sSubSup>
                        <m:sSubSupPr>
                          <m:ctrlPr>
                            <a:rPr lang="en-PH" sz="2400" i="1" kern="100">
                              <a:effectLst/>
                              <a:latin typeface="Cambria Math" panose="02040503050406030204" pitchFamily="18" charset="0"/>
                              <a:ea typeface="Calibri" panose="020F0502020204030204" pitchFamily="34" charset="0"/>
                              <a:cs typeface="Courier New" panose="02070309020205020404" pitchFamily="49" charset="0"/>
                            </a:rPr>
                          </m:ctrlPr>
                        </m:sSubSupPr>
                        <m:e>
                          <m:r>
                            <a:rPr lang="en-PH" sz="2400" i="1" kern="100">
                              <a:effectLst/>
                              <a:latin typeface="Cambria Math" panose="02040503050406030204" pitchFamily="18" charset="0"/>
                              <a:ea typeface="Calibri" panose="020F0502020204030204" pitchFamily="34" charset="0"/>
                              <a:cs typeface="Courier New" panose="02070309020205020404" pitchFamily="49" charset="0"/>
                            </a:rPr>
                            <m:t>𝜈</m:t>
                          </m:r>
                        </m:e>
                        <m:sub>
                          <m:r>
                            <a:rPr lang="en-PH" sz="2400" i="1" kern="100">
                              <a:effectLst/>
                              <a:latin typeface="Cambria Math" panose="02040503050406030204" pitchFamily="18" charset="0"/>
                              <a:ea typeface="Calibri" panose="020F0502020204030204" pitchFamily="34" charset="0"/>
                              <a:cs typeface="Courier New" panose="02070309020205020404" pitchFamily="49" charset="0"/>
                            </a:rPr>
                            <m:t>2</m:t>
                          </m:r>
                        </m:sub>
                        <m:sup>
                          <m:r>
                            <a:rPr lang="en-PH" sz="2400" i="1" kern="100">
                              <a:effectLst/>
                              <a:latin typeface="Cambria Math" panose="02040503050406030204" pitchFamily="18" charset="0"/>
                              <a:ea typeface="Calibri" panose="020F0502020204030204" pitchFamily="34" charset="0"/>
                              <a:cs typeface="Courier New" panose="02070309020205020404" pitchFamily="49" charset="0"/>
                            </a:rPr>
                            <m:t>2</m:t>
                          </m:r>
                        </m:sup>
                      </m:sSubSup>
                      <m:r>
                        <a:rPr lang="en-PH" sz="2400" i="1" kern="100">
                          <a:effectLst/>
                          <a:latin typeface="Cambria Math" panose="02040503050406030204" pitchFamily="18" charset="0"/>
                          <a:ea typeface="Calibri" panose="020F0502020204030204" pitchFamily="34" charset="0"/>
                          <a:cs typeface="Courier New" panose="02070309020205020404" pitchFamily="49" charset="0"/>
                        </a:rPr>
                        <m:t>+</m:t>
                      </m:r>
                      <m:sSub>
                        <m:sSubPr>
                          <m:ctrlPr>
                            <a:rPr lang="en-PH" sz="2400" i="1" kern="100">
                              <a:effectLst/>
                              <a:latin typeface="Cambria Math" panose="02040503050406030204" pitchFamily="18" charset="0"/>
                              <a:ea typeface="Calibri" panose="020F0502020204030204" pitchFamily="34" charset="0"/>
                              <a:cs typeface="Courier New" panose="02070309020205020404" pitchFamily="49" charset="0"/>
                            </a:rPr>
                          </m:ctrlPr>
                        </m:sSubPr>
                        <m:e>
                          <m:r>
                            <a:rPr lang="en-PH" sz="2400" i="1" kern="100">
                              <a:effectLst/>
                              <a:latin typeface="Cambria Math" panose="02040503050406030204" pitchFamily="18" charset="0"/>
                              <a:ea typeface="Calibri" panose="020F0502020204030204" pitchFamily="34" charset="0"/>
                              <a:cs typeface="Courier New" panose="02070309020205020404" pitchFamily="49" charset="0"/>
                            </a:rPr>
                            <m:t>𝑃</m:t>
                          </m:r>
                        </m:e>
                        <m:sub>
                          <m:r>
                            <a:rPr lang="en-PH" sz="2400" i="1" kern="100">
                              <a:effectLst/>
                              <a:latin typeface="Cambria Math" panose="02040503050406030204" pitchFamily="18" charset="0"/>
                              <a:ea typeface="Calibri" panose="020F0502020204030204" pitchFamily="34" charset="0"/>
                              <a:cs typeface="Courier New" panose="02070309020205020404" pitchFamily="49" charset="0"/>
                            </a:rPr>
                            <m:t>2</m:t>
                          </m:r>
                        </m:sub>
                      </m:sSub>
                    </m:oMath>
                  </m:oMathPara>
                </a14:m>
                <a:endParaRPr lang="en-PH" sz="2400" kern="100" dirty="0">
                  <a:effectLst/>
                  <a:latin typeface="Nunito 1" panose="020B0604020202020204" charset="0"/>
                  <a:ea typeface="Calibri" panose="020F0502020204030204" pitchFamily="34" charset="0"/>
                  <a:cs typeface="Times New Roman" panose="02020603050405020304" pitchFamily="18" charset="0"/>
                </a:endParaRPr>
              </a:p>
              <a:p>
                <a:pPr>
                  <a:spcAft>
                    <a:spcPts val="800"/>
                  </a:spcAft>
                </a:pPr>
                <a:r>
                  <a:rPr lang="en-PH" sz="2400" kern="100" dirty="0">
                    <a:effectLst/>
                    <a:latin typeface="Nunito 1" panose="020B0604020202020204" charset="0"/>
                    <a:ea typeface="Times New Roman" panose="02020603050405020304" pitchFamily="18" charset="0"/>
                    <a:cs typeface="Times New Roman" panose="02020603050405020304" pitchFamily="18" charset="0"/>
                  </a:rPr>
                  <a:t> </a:t>
                </a:r>
                <a:endParaRPr lang="en-PH" sz="2400" kern="100" dirty="0">
                  <a:effectLst/>
                  <a:latin typeface="Nunito 1" panose="020B0604020202020204" charset="0"/>
                  <a:ea typeface="Calibri" panose="020F0502020204030204" pitchFamily="34" charset="0"/>
                  <a:cs typeface="Times New Roman" panose="02020603050405020304" pitchFamily="18" charset="0"/>
                </a:endParaRPr>
              </a:p>
              <a:p>
                <a:pPr>
                  <a:spcAft>
                    <a:spcPts val="800"/>
                  </a:spcAft>
                </a:pPr>
                <a14:m>
                  <m:oMathPara xmlns:m="http://schemas.openxmlformats.org/officeDocument/2006/math">
                    <m:oMathParaPr>
                      <m:jc m:val="centerGroup"/>
                    </m:oMathParaPr>
                    <m:oMath xmlns:m="http://schemas.openxmlformats.org/officeDocument/2006/math">
                      <m:f>
                        <m:fPr>
                          <m:ctrlPr>
                            <a:rPr lang="en-PH" sz="2400" i="1" kern="100">
                              <a:effectLst/>
                              <a:latin typeface="Cambria Math" panose="02040503050406030204" pitchFamily="18" charset="0"/>
                              <a:ea typeface="Calibri" panose="020F0502020204030204" pitchFamily="34" charset="0"/>
                              <a:cs typeface="Courier New" panose="02070309020205020404" pitchFamily="49" charset="0"/>
                            </a:rPr>
                          </m:ctrlPr>
                        </m:fPr>
                        <m:num>
                          <m:r>
                            <a:rPr lang="en-PH" sz="2400" i="1" kern="100">
                              <a:effectLst/>
                              <a:latin typeface="Cambria Math" panose="02040503050406030204" pitchFamily="18" charset="0"/>
                              <a:ea typeface="Calibri" panose="020F0502020204030204" pitchFamily="34" charset="0"/>
                              <a:cs typeface="Courier New" panose="02070309020205020404" pitchFamily="49" charset="0"/>
                            </a:rPr>
                            <m:t>1</m:t>
                          </m:r>
                        </m:num>
                        <m:den>
                          <m:r>
                            <a:rPr lang="en-PH" sz="2400" i="1" kern="100">
                              <a:effectLst/>
                              <a:latin typeface="Cambria Math" panose="02040503050406030204" pitchFamily="18" charset="0"/>
                              <a:ea typeface="Calibri" panose="020F0502020204030204" pitchFamily="34" charset="0"/>
                              <a:cs typeface="Courier New" panose="02070309020205020404" pitchFamily="49" charset="0"/>
                            </a:rPr>
                            <m:t>2</m:t>
                          </m:r>
                        </m:den>
                      </m:f>
                      <m:r>
                        <a:rPr lang="en-PH" sz="2400" i="1" kern="100">
                          <a:effectLst/>
                          <a:latin typeface="Cambria Math" panose="02040503050406030204" pitchFamily="18" charset="0"/>
                          <a:ea typeface="Calibri" panose="020F0502020204030204" pitchFamily="34" charset="0"/>
                          <a:cs typeface="Courier New" panose="02070309020205020404" pitchFamily="49" charset="0"/>
                        </a:rPr>
                        <m:t>(1200</m:t>
                      </m:r>
                      <m:r>
                        <a:rPr lang="en-PH" sz="2400" b="0" i="1" kern="100" smtClean="0">
                          <a:effectLst/>
                          <a:latin typeface="Cambria Math" panose="02040503050406030204" pitchFamily="18" charset="0"/>
                          <a:ea typeface="Calibri" panose="020F0502020204030204" pitchFamily="34" charset="0"/>
                          <a:cs typeface="Courier New" panose="02070309020205020404" pitchFamily="49" charset="0"/>
                        </a:rPr>
                        <m:t>𝑘𝑔</m:t>
                      </m:r>
                      <m:r>
                        <a:rPr lang="en-PH" sz="2400" b="0" i="1" kern="100" smtClean="0">
                          <a:effectLst/>
                          <a:latin typeface="Cambria Math" panose="02040503050406030204" pitchFamily="18" charset="0"/>
                          <a:ea typeface="Calibri" panose="020F0502020204030204" pitchFamily="34" charset="0"/>
                          <a:cs typeface="Courier New" panose="02070309020205020404" pitchFamily="49" charset="0"/>
                        </a:rPr>
                        <m:t>/</m:t>
                      </m:r>
                      <m:r>
                        <a:rPr lang="en-PH" sz="2400" b="0" i="1" kern="100" smtClean="0">
                          <a:effectLst/>
                          <a:latin typeface="Cambria Math" panose="02040503050406030204" pitchFamily="18" charset="0"/>
                          <a:ea typeface="Calibri" panose="020F0502020204030204" pitchFamily="34" charset="0"/>
                          <a:cs typeface="Courier New" panose="02070309020205020404" pitchFamily="49" charset="0"/>
                        </a:rPr>
                        <m:t>𝑚</m:t>
                      </m:r>
                      <m:r>
                        <a:rPr lang="en-PH" sz="2400" b="0" i="1" kern="100" smtClean="0">
                          <a:effectLst/>
                          <a:latin typeface="Cambria Math" panose="02040503050406030204" pitchFamily="18" charset="0"/>
                          <a:ea typeface="Calibri" panose="020F0502020204030204" pitchFamily="34" charset="0"/>
                          <a:cs typeface="Courier New" panose="02070309020205020404" pitchFamily="49" charset="0"/>
                        </a:rPr>
                        <m:t>3)</m:t>
                      </m:r>
                      <m:sSup>
                        <m:sSupPr>
                          <m:ctrlPr>
                            <a:rPr lang="en-PH" sz="2400" i="1" kern="100">
                              <a:effectLst/>
                              <a:latin typeface="Cambria Math" panose="02040503050406030204" pitchFamily="18" charset="0"/>
                              <a:ea typeface="Calibri" panose="020F0502020204030204" pitchFamily="34" charset="0"/>
                              <a:cs typeface="Courier New" panose="02070309020205020404" pitchFamily="49" charset="0"/>
                            </a:rPr>
                          </m:ctrlPr>
                        </m:sSupPr>
                        <m:e>
                          <m:d>
                            <m:dPr>
                              <m:ctrlPr>
                                <a:rPr lang="en-PH" sz="2400" i="1" kern="100">
                                  <a:effectLst/>
                                  <a:latin typeface="Cambria Math" panose="02040503050406030204" pitchFamily="18" charset="0"/>
                                  <a:ea typeface="Calibri" panose="020F0502020204030204" pitchFamily="34" charset="0"/>
                                  <a:cs typeface="Courier New" panose="02070309020205020404" pitchFamily="49" charset="0"/>
                                </a:rPr>
                              </m:ctrlPr>
                            </m:dPr>
                            <m:e>
                              <m:f>
                                <m:fPr>
                                  <m:ctrlPr>
                                    <a:rPr lang="en-PH" sz="2400" b="0" i="1" kern="100" smtClean="0">
                                      <a:effectLst/>
                                      <a:latin typeface="Cambria Math" panose="02040503050406030204" pitchFamily="18" charset="0"/>
                                      <a:ea typeface="Calibri" panose="020F0502020204030204" pitchFamily="34" charset="0"/>
                                      <a:cs typeface="Courier New" panose="02070309020205020404" pitchFamily="49" charset="0"/>
                                    </a:rPr>
                                  </m:ctrlPr>
                                </m:fPr>
                                <m:num>
                                  <m:r>
                                    <a:rPr lang="en-PH" sz="2400" b="0" i="1" kern="100" smtClean="0">
                                      <a:effectLst/>
                                      <a:latin typeface="Cambria Math" panose="02040503050406030204" pitchFamily="18" charset="0"/>
                                      <a:ea typeface="Calibri" panose="020F0502020204030204" pitchFamily="34" charset="0"/>
                                      <a:cs typeface="Courier New" panose="02070309020205020404" pitchFamily="49" charset="0"/>
                                    </a:rPr>
                                    <m:t>0.8</m:t>
                                  </m:r>
                                  <m:r>
                                    <a:rPr lang="en-PH" sz="2400" b="0" i="1" kern="100" smtClean="0">
                                      <a:effectLst/>
                                      <a:latin typeface="Cambria Math" panose="02040503050406030204" pitchFamily="18" charset="0"/>
                                      <a:ea typeface="Calibri" panose="020F0502020204030204" pitchFamily="34" charset="0"/>
                                      <a:cs typeface="Courier New" panose="02070309020205020404" pitchFamily="49" charset="0"/>
                                    </a:rPr>
                                    <m:t>𝑚</m:t>
                                  </m:r>
                                </m:num>
                                <m:den>
                                  <m:r>
                                    <a:rPr lang="en-PH" sz="2400" b="0" i="1" kern="100" smtClean="0">
                                      <a:effectLst/>
                                      <a:latin typeface="Cambria Math" panose="02040503050406030204" pitchFamily="18" charset="0"/>
                                      <a:ea typeface="Calibri" panose="020F0502020204030204" pitchFamily="34" charset="0"/>
                                      <a:cs typeface="Courier New" panose="02070309020205020404" pitchFamily="49" charset="0"/>
                                    </a:rPr>
                                    <m:t>𝑠</m:t>
                                  </m:r>
                                </m:den>
                              </m:f>
                            </m:e>
                          </m:d>
                        </m:e>
                        <m:sup>
                          <m:r>
                            <a:rPr lang="en-PH" sz="2400" i="1" kern="100">
                              <a:effectLst/>
                              <a:latin typeface="Cambria Math" panose="02040503050406030204" pitchFamily="18" charset="0"/>
                              <a:ea typeface="Calibri" panose="020F0502020204030204" pitchFamily="34" charset="0"/>
                              <a:cs typeface="Courier New" panose="02070309020205020404" pitchFamily="49" charset="0"/>
                            </a:rPr>
                            <m:t>2</m:t>
                          </m:r>
                        </m:sup>
                      </m:sSup>
                      <m:r>
                        <a:rPr lang="en-PH" sz="2400" i="1" kern="100">
                          <a:effectLst/>
                          <a:latin typeface="Cambria Math" panose="02040503050406030204" pitchFamily="18" charset="0"/>
                          <a:ea typeface="Calibri" panose="020F0502020204030204" pitchFamily="34" charset="0"/>
                          <a:cs typeface="Courier New" panose="02070309020205020404" pitchFamily="49" charset="0"/>
                        </a:rPr>
                        <m:t>+(</m:t>
                      </m:r>
                      <m:r>
                        <a:rPr lang="en-PH" sz="2400" b="0" i="1" kern="100" smtClean="0">
                          <a:effectLst/>
                          <a:latin typeface="Cambria Math" panose="02040503050406030204" pitchFamily="18" charset="0"/>
                          <a:ea typeface="Calibri" panose="020F0502020204030204" pitchFamily="34" charset="0"/>
                          <a:cs typeface="Courier New" panose="02070309020205020404" pitchFamily="49" charset="0"/>
                        </a:rPr>
                        <m:t>15000</m:t>
                      </m:r>
                      <m:r>
                        <a:rPr lang="en-PH" sz="2400" i="1" kern="100">
                          <a:effectLst/>
                          <a:latin typeface="Cambria Math" panose="02040503050406030204" pitchFamily="18" charset="0"/>
                          <a:ea typeface="Calibri" panose="020F0502020204030204" pitchFamily="34" charset="0"/>
                          <a:cs typeface="Courier New" panose="02070309020205020404" pitchFamily="49" charset="0"/>
                        </a:rPr>
                        <m:t>𝑃𝑎</m:t>
                      </m:r>
                      <m:r>
                        <a:rPr lang="en-PH" sz="2400" i="1" kern="100">
                          <a:effectLst/>
                          <a:latin typeface="Cambria Math" panose="02040503050406030204" pitchFamily="18" charset="0"/>
                          <a:ea typeface="Calibri" panose="020F0502020204030204" pitchFamily="34" charset="0"/>
                          <a:cs typeface="Courier New" panose="02070309020205020404" pitchFamily="49" charset="0"/>
                        </a:rPr>
                        <m:t>)=</m:t>
                      </m:r>
                      <m:f>
                        <m:fPr>
                          <m:ctrlPr>
                            <a:rPr lang="en-PH" sz="2400" i="1" kern="100">
                              <a:effectLst/>
                              <a:latin typeface="Cambria Math" panose="02040503050406030204" pitchFamily="18" charset="0"/>
                              <a:ea typeface="Calibri" panose="020F0502020204030204" pitchFamily="34" charset="0"/>
                              <a:cs typeface="Courier New" panose="02070309020205020404" pitchFamily="49" charset="0"/>
                            </a:rPr>
                          </m:ctrlPr>
                        </m:fPr>
                        <m:num>
                          <m:r>
                            <a:rPr lang="en-PH" sz="2400" i="1" kern="100">
                              <a:effectLst/>
                              <a:latin typeface="Cambria Math" panose="02040503050406030204" pitchFamily="18" charset="0"/>
                              <a:ea typeface="Calibri" panose="020F0502020204030204" pitchFamily="34" charset="0"/>
                              <a:cs typeface="Courier New" panose="02070309020205020404" pitchFamily="49" charset="0"/>
                            </a:rPr>
                            <m:t>1</m:t>
                          </m:r>
                        </m:num>
                        <m:den>
                          <m:r>
                            <a:rPr lang="en-PH" sz="2400" i="1" kern="100">
                              <a:effectLst/>
                              <a:latin typeface="Cambria Math" panose="02040503050406030204" pitchFamily="18" charset="0"/>
                              <a:ea typeface="Calibri" panose="020F0502020204030204" pitchFamily="34" charset="0"/>
                              <a:cs typeface="Courier New" panose="02070309020205020404" pitchFamily="49" charset="0"/>
                            </a:rPr>
                            <m:t>2</m:t>
                          </m:r>
                        </m:den>
                      </m:f>
                      <m:r>
                        <a:rPr lang="en-PH" sz="2400" i="1" kern="100">
                          <a:effectLst/>
                          <a:latin typeface="Cambria Math" panose="02040503050406030204" pitchFamily="18" charset="0"/>
                          <a:ea typeface="Calibri" panose="020F0502020204030204" pitchFamily="34" charset="0"/>
                          <a:cs typeface="Courier New" panose="02070309020205020404" pitchFamily="49" charset="0"/>
                        </a:rPr>
                        <m:t>(1200</m:t>
                      </m:r>
                      <m:r>
                        <a:rPr lang="en-PH" sz="2400" b="0" i="1" kern="100" smtClean="0">
                          <a:effectLst/>
                          <a:latin typeface="Cambria Math" panose="02040503050406030204" pitchFamily="18" charset="0"/>
                          <a:ea typeface="Calibri" panose="020F0502020204030204" pitchFamily="34" charset="0"/>
                          <a:cs typeface="Courier New" panose="02070309020205020404" pitchFamily="49" charset="0"/>
                        </a:rPr>
                        <m:t>𝑘𝑔</m:t>
                      </m:r>
                      <m:r>
                        <a:rPr lang="en-PH" sz="2400" b="0" i="1" kern="100" smtClean="0">
                          <a:effectLst/>
                          <a:latin typeface="Cambria Math" panose="02040503050406030204" pitchFamily="18" charset="0"/>
                          <a:ea typeface="Calibri" panose="020F0502020204030204" pitchFamily="34" charset="0"/>
                          <a:cs typeface="Courier New" panose="02070309020205020404" pitchFamily="49" charset="0"/>
                        </a:rPr>
                        <m:t>/</m:t>
                      </m:r>
                      <m:r>
                        <a:rPr lang="en-PH" sz="2400" b="0" i="1" kern="100" smtClean="0">
                          <a:effectLst/>
                          <a:latin typeface="Cambria Math" panose="02040503050406030204" pitchFamily="18" charset="0"/>
                          <a:ea typeface="Calibri" panose="020F0502020204030204" pitchFamily="34" charset="0"/>
                          <a:cs typeface="Courier New" panose="02070309020205020404" pitchFamily="49" charset="0"/>
                        </a:rPr>
                        <m:t>𝑚</m:t>
                      </m:r>
                      <m:r>
                        <a:rPr lang="en-PH" sz="2400" b="0" i="1" kern="100" smtClean="0">
                          <a:effectLst/>
                          <a:latin typeface="Cambria Math" panose="02040503050406030204" pitchFamily="18" charset="0"/>
                          <a:ea typeface="Calibri" panose="020F0502020204030204" pitchFamily="34" charset="0"/>
                          <a:cs typeface="Courier New" panose="02070309020205020404" pitchFamily="49" charset="0"/>
                        </a:rPr>
                        <m:t>3)</m:t>
                      </m:r>
                      <m:sSubSup>
                        <m:sSubSupPr>
                          <m:ctrlPr>
                            <a:rPr lang="en-PH" sz="2400" i="1" kern="100">
                              <a:effectLst/>
                              <a:latin typeface="Cambria Math" panose="02040503050406030204" pitchFamily="18" charset="0"/>
                              <a:ea typeface="Calibri" panose="020F0502020204030204" pitchFamily="34" charset="0"/>
                              <a:cs typeface="Courier New" panose="02070309020205020404" pitchFamily="49" charset="0"/>
                            </a:rPr>
                          </m:ctrlPr>
                        </m:sSubSupPr>
                        <m:e>
                          <m:r>
                            <a:rPr lang="en-PH" sz="2400" i="1" kern="100">
                              <a:effectLst/>
                              <a:latin typeface="Cambria Math" panose="02040503050406030204" pitchFamily="18" charset="0"/>
                              <a:ea typeface="Calibri" panose="020F0502020204030204" pitchFamily="34" charset="0"/>
                              <a:cs typeface="Courier New" panose="02070309020205020404" pitchFamily="49" charset="0"/>
                            </a:rPr>
                            <m:t>𝜈</m:t>
                          </m:r>
                        </m:e>
                        <m:sub>
                          <m:r>
                            <a:rPr lang="en-PH" sz="2400" i="1" kern="100">
                              <a:effectLst/>
                              <a:latin typeface="Cambria Math" panose="02040503050406030204" pitchFamily="18" charset="0"/>
                              <a:ea typeface="Calibri" panose="020F0502020204030204" pitchFamily="34" charset="0"/>
                              <a:cs typeface="Courier New" panose="02070309020205020404" pitchFamily="49" charset="0"/>
                            </a:rPr>
                            <m:t>2</m:t>
                          </m:r>
                        </m:sub>
                        <m:sup>
                          <m:r>
                            <a:rPr lang="en-PH" sz="2400" i="1" kern="100">
                              <a:effectLst/>
                              <a:latin typeface="Cambria Math" panose="02040503050406030204" pitchFamily="18" charset="0"/>
                              <a:ea typeface="Calibri" panose="020F0502020204030204" pitchFamily="34" charset="0"/>
                              <a:cs typeface="Courier New" panose="02070309020205020404" pitchFamily="49" charset="0"/>
                            </a:rPr>
                            <m:t>2</m:t>
                          </m:r>
                        </m:sup>
                      </m:sSubSup>
                      <m:r>
                        <a:rPr lang="en-PH" sz="2400" i="1" kern="100">
                          <a:effectLst/>
                          <a:latin typeface="Cambria Math" panose="02040503050406030204" pitchFamily="18" charset="0"/>
                          <a:ea typeface="Calibri" panose="020F0502020204030204" pitchFamily="34" charset="0"/>
                          <a:cs typeface="Courier New" panose="02070309020205020404" pitchFamily="49" charset="0"/>
                        </a:rPr>
                        <m:t>+(</m:t>
                      </m:r>
                      <m:r>
                        <a:rPr lang="en-PH" sz="2400" b="0" i="1" kern="100" smtClean="0">
                          <a:effectLst/>
                          <a:latin typeface="Cambria Math" panose="02040503050406030204" pitchFamily="18" charset="0"/>
                          <a:ea typeface="Calibri" panose="020F0502020204030204" pitchFamily="34" charset="0"/>
                          <a:cs typeface="Courier New" panose="02070309020205020404" pitchFamily="49" charset="0"/>
                        </a:rPr>
                        <m:t>13</m:t>
                      </m:r>
                      <m:r>
                        <a:rPr lang="en-PH" sz="2400" i="1" kern="100">
                          <a:effectLst/>
                          <a:latin typeface="Cambria Math" panose="02040503050406030204" pitchFamily="18" charset="0"/>
                          <a:ea typeface="Calibri" panose="020F0502020204030204" pitchFamily="34" charset="0"/>
                          <a:cs typeface="Courier New" panose="02070309020205020404" pitchFamily="49" charset="0"/>
                        </a:rPr>
                        <m:t>000</m:t>
                      </m:r>
                      <m:r>
                        <a:rPr lang="en-PH" sz="2400" i="1" kern="100">
                          <a:effectLst/>
                          <a:latin typeface="Cambria Math" panose="02040503050406030204" pitchFamily="18" charset="0"/>
                          <a:ea typeface="Calibri" panose="020F0502020204030204" pitchFamily="34" charset="0"/>
                          <a:cs typeface="Courier New" panose="02070309020205020404" pitchFamily="49" charset="0"/>
                        </a:rPr>
                        <m:t>𝑃𝑎</m:t>
                      </m:r>
                      <m:r>
                        <a:rPr lang="en-PH" sz="2400" i="1" kern="100">
                          <a:effectLst/>
                          <a:latin typeface="Cambria Math" panose="02040503050406030204" pitchFamily="18" charset="0"/>
                          <a:ea typeface="Calibri" panose="020F0502020204030204" pitchFamily="34" charset="0"/>
                          <a:cs typeface="Courier New" panose="02070309020205020404" pitchFamily="49" charset="0"/>
                        </a:rPr>
                        <m:t>)</m:t>
                      </m:r>
                    </m:oMath>
                  </m:oMathPara>
                </a14:m>
                <a:endParaRPr lang="en-PH" sz="2400" kern="100" dirty="0">
                  <a:effectLst/>
                  <a:latin typeface="Nunito 1" panose="020B0604020202020204" charset="0"/>
                  <a:ea typeface="Calibri" panose="020F0502020204030204" pitchFamily="34" charset="0"/>
                  <a:cs typeface="Times New Roman" panose="02020603050405020304" pitchFamily="18" charset="0"/>
                </a:endParaRPr>
              </a:p>
              <a:p>
                <a:pPr>
                  <a:spcAft>
                    <a:spcPts val="800"/>
                  </a:spcAft>
                </a:pPr>
                <a:r>
                  <a:rPr lang="en-PH" sz="2400" kern="100" dirty="0">
                    <a:effectLst/>
                    <a:latin typeface="Nunito 1" panose="020B0604020202020204" charset="0"/>
                    <a:ea typeface="Times New Roman" panose="02020603050405020304" pitchFamily="18" charset="0"/>
                    <a:cs typeface="Times New Roman" panose="02020603050405020304" pitchFamily="18" charset="0"/>
                  </a:rPr>
                  <a:t> </a:t>
                </a:r>
                <a:endParaRPr lang="en-PH" sz="2400" kern="100" dirty="0">
                  <a:effectLst/>
                  <a:latin typeface="Nunito 1" panose="020B0604020202020204" charset="0"/>
                  <a:ea typeface="Calibri" panose="020F0502020204030204" pitchFamily="34" charset="0"/>
                  <a:cs typeface="Times New Roman" panose="02020603050405020304" pitchFamily="18" charset="0"/>
                </a:endParaRPr>
              </a:p>
              <a:p>
                <a:pPr>
                  <a:spcAft>
                    <a:spcPts val="800"/>
                  </a:spcAft>
                </a:pPr>
                <a:r>
                  <a:rPr lang="en-PH" sz="2400" kern="100" dirty="0">
                    <a:effectLst/>
                    <a:latin typeface="Nunito 1" panose="020B0604020202020204" charset="0"/>
                    <a:ea typeface="Times New Roman" panose="02020603050405020304" pitchFamily="18" charset="0"/>
                    <a:cs typeface="Times New Roman" panose="02020603050405020304" pitchFamily="18" charset="0"/>
                  </a:rPr>
                  <a:t>Using shift solve:</a:t>
                </a:r>
                <a:endParaRPr lang="en-PH" sz="2400" kern="100" dirty="0">
                  <a:effectLst/>
                  <a:latin typeface="Nunito 1" panose="020B0604020202020204" charset="0"/>
                  <a:ea typeface="Calibri" panose="020F0502020204030204" pitchFamily="34" charset="0"/>
                  <a:cs typeface="Times New Roman" panose="02020603050405020304" pitchFamily="18" charset="0"/>
                </a:endParaRPr>
              </a:p>
              <a:p>
                <a:pPr>
                  <a:spcAft>
                    <a:spcPts val="800"/>
                  </a:spcAft>
                </a:pPr>
                <a:r>
                  <a:rPr lang="en-PH" sz="2400" kern="100" dirty="0">
                    <a:effectLst/>
                    <a:latin typeface="Nunito 1" panose="020B0604020202020204" charset="0"/>
                    <a:ea typeface="Times New Roman" panose="02020603050405020304" pitchFamily="18" charset="0"/>
                    <a:cs typeface="Times New Roman" panose="02020603050405020304" pitchFamily="18" charset="0"/>
                  </a:rPr>
                  <a:t> </a:t>
                </a:r>
                <a:endParaRPr lang="en-PH" sz="2400" kern="100" dirty="0">
                  <a:effectLst/>
                  <a:latin typeface="Nunito 1" panose="020B0604020202020204" charset="0"/>
                  <a:ea typeface="Calibri" panose="020F0502020204030204" pitchFamily="34" charset="0"/>
                  <a:cs typeface="Times New Roman" panose="02020603050405020304" pitchFamily="18" charset="0"/>
                </a:endParaRPr>
              </a:p>
              <a:p>
                <a:r>
                  <a:rPr lang="en-PH" sz="2400" dirty="0">
                    <a:latin typeface="Nunito 1" panose="020B0604020202020204" charset="0"/>
                    <a:ea typeface="Times New Roman" panose="02020603050405020304" pitchFamily="18" charset="0"/>
                  </a:rPr>
                  <a:t>v</a:t>
                </a:r>
                <a:r>
                  <a:rPr lang="en-PH" sz="2400" baseline="-25000" dirty="0">
                    <a:effectLst/>
                    <a:latin typeface="Nunito 1" panose="020B0604020202020204" charset="0"/>
                    <a:ea typeface="Times New Roman" panose="02020603050405020304" pitchFamily="18" charset="0"/>
                  </a:rPr>
                  <a:t>2</a:t>
                </a:r>
                <a:r>
                  <a:rPr lang="en-PH" sz="2400" dirty="0">
                    <a:effectLst/>
                    <a:latin typeface="Nunito 1" panose="020B0604020202020204" charset="0"/>
                    <a:ea typeface="Times New Roman" panose="02020603050405020304" pitchFamily="18" charset="0"/>
                  </a:rPr>
                  <a:t> = 1.99m/s</a:t>
                </a:r>
                <a:endParaRPr lang="en-US" sz="2400" dirty="0">
                  <a:solidFill>
                    <a:srgbClr val="000000"/>
                  </a:solidFill>
                  <a:latin typeface="Nunito 1" panose="020B0604020202020204" charset="0"/>
                  <a:ea typeface="Nunito 1 Bold"/>
                  <a:cs typeface="Nunito 1 Bold"/>
                  <a:sym typeface="Nunito 1 Bold"/>
                </a:endParaRPr>
              </a:p>
            </p:txBody>
          </p:sp>
        </mc:Choice>
        <mc:Fallback xmlns="">
          <p:sp>
            <p:nvSpPr>
              <p:cNvPr id="22" name="TextBox 21">
                <a:extLst>
                  <a:ext uri="{FF2B5EF4-FFF2-40B4-BE49-F238E27FC236}">
                    <a16:creationId xmlns:a16="http://schemas.microsoft.com/office/drawing/2014/main" id="{4A181DDC-3301-4812-B288-0BBF1B774F48}"/>
                  </a:ext>
                </a:extLst>
              </p:cNvPr>
              <p:cNvSpPr txBox="1">
                <a:spLocks noRot="1" noChangeAspect="1" noMove="1" noResize="1" noEditPoints="1" noAdjustHandles="1" noChangeArrowheads="1" noChangeShapeType="1" noTextEdit="1"/>
              </p:cNvSpPr>
              <p:nvPr/>
            </p:nvSpPr>
            <p:spPr>
              <a:xfrm>
                <a:off x="5562723" y="2884287"/>
                <a:ext cx="9829677" cy="5794407"/>
              </a:xfrm>
              <a:prstGeom prst="rect">
                <a:avLst/>
              </a:prstGeom>
              <a:blipFill>
                <a:blip r:embed="rId3"/>
                <a:stretch>
                  <a:fillRect l="-1923" t="-1577" b="-2313"/>
                </a:stretch>
              </a:blipFill>
            </p:spPr>
            <p:txBody>
              <a:bodyPr/>
              <a:lstStyle/>
              <a:p>
                <a:r>
                  <a:rPr lang="en-PH">
                    <a:noFill/>
                  </a:rPr>
                  <a:t> </a:t>
                </a:r>
              </a:p>
            </p:txBody>
          </p:sp>
        </mc:Fallback>
      </mc:AlternateContent>
      <p:grpSp>
        <p:nvGrpSpPr>
          <p:cNvPr id="26" name="Group 25">
            <a:extLst>
              <a:ext uri="{FF2B5EF4-FFF2-40B4-BE49-F238E27FC236}">
                <a16:creationId xmlns:a16="http://schemas.microsoft.com/office/drawing/2014/main" id="{C7F624D7-B107-7E52-16D1-F10E8E436842}"/>
              </a:ext>
            </a:extLst>
          </p:cNvPr>
          <p:cNvGrpSpPr/>
          <p:nvPr/>
        </p:nvGrpSpPr>
        <p:grpSpPr>
          <a:xfrm>
            <a:off x="0" y="9599693"/>
            <a:ext cx="18287999" cy="687306"/>
            <a:chOff x="0" y="9599693"/>
            <a:chExt cx="18287999" cy="687306"/>
          </a:xfrm>
        </p:grpSpPr>
        <p:grpSp>
          <p:nvGrpSpPr>
            <p:cNvPr id="27" name="Group 11">
              <a:extLst>
                <a:ext uri="{FF2B5EF4-FFF2-40B4-BE49-F238E27FC236}">
                  <a16:creationId xmlns:a16="http://schemas.microsoft.com/office/drawing/2014/main" id="{1D12BC1E-0251-5D05-AEF3-BDD4E553E962}"/>
                </a:ext>
              </a:extLst>
            </p:cNvPr>
            <p:cNvGrpSpPr/>
            <p:nvPr/>
          </p:nvGrpSpPr>
          <p:grpSpPr>
            <a:xfrm>
              <a:off x="0" y="9599694"/>
              <a:ext cx="18287999" cy="687305"/>
              <a:chOff x="0" y="0"/>
              <a:chExt cx="5260714" cy="490218"/>
            </a:xfrm>
          </p:grpSpPr>
          <p:sp>
            <p:nvSpPr>
              <p:cNvPr id="30" name="Freeform 12">
                <a:extLst>
                  <a:ext uri="{FF2B5EF4-FFF2-40B4-BE49-F238E27FC236}">
                    <a16:creationId xmlns:a16="http://schemas.microsoft.com/office/drawing/2014/main" id="{56A61416-0C9D-1296-586D-FA930925EB44}"/>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31" name="TextBox 13">
                <a:extLst>
                  <a:ext uri="{FF2B5EF4-FFF2-40B4-BE49-F238E27FC236}">
                    <a16:creationId xmlns:a16="http://schemas.microsoft.com/office/drawing/2014/main" id="{CD248884-AE7F-1F56-181D-BD008145DECB}"/>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8" name="TextBox 12">
              <a:extLst>
                <a:ext uri="{FF2B5EF4-FFF2-40B4-BE49-F238E27FC236}">
                  <a16:creationId xmlns:a16="http://schemas.microsoft.com/office/drawing/2014/main" id="{E5ACC0A9-E092-92BE-0F41-1E3F30F23D2F}"/>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9" name="TextBox 13">
              <a:extLst>
                <a:ext uri="{FF2B5EF4-FFF2-40B4-BE49-F238E27FC236}">
                  <a16:creationId xmlns:a16="http://schemas.microsoft.com/office/drawing/2014/main" id="{589F2337-83CD-F3F0-5E46-BEBC1003B6F6}"/>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sp>
        <p:nvSpPr>
          <p:cNvPr id="32" name="Rectangle 31">
            <a:extLst>
              <a:ext uri="{FF2B5EF4-FFF2-40B4-BE49-F238E27FC236}">
                <a16:creationId xmlns:a16="http://schemas.microsoft.com/office/drawing/2014/main" id="{B28C879A-14DC-A363-8BD3-9AAFEAD138AF}"/>
              </a:ext>
            </a:extLst>
          </p:cNvPr>
          <p:cNvSpPr/>
          <p:nvPr/>
        </p:nvSpPr>
        <p:spPr>
          <a:xfrm>
            <a:off x="5562723" y="4635597"/>
            <a:ext cx="10134477" cy="3996676"/>
          </a:xfrm>
          <a:prstGeom prst="rect">
            <a:avLst/>
          </a:prstGeom>
          <a:solidFill>
            <a:srgbClr val="F1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2794864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0" nodeType="clickEffect">
                                  <p:stCondLst>
                                    <p:cond delay="0"/>
                                  </p:stCondLst>
                                  <p:childTnLst>
                                    <p:set>
                                      <p:cBhvr>
                                        <p:cTn id="16" dur="1" fill="hold">
                                          <p:stCondLst>
                                            <p:cond delay="0"/>
                                          </p:stCondLst>
                                        </p:cTn>
                                        <p:tgtEl>
                                          <p:spTgt spid="3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2" grpId="0"/>
      <p:bldP spid="3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EFA6B-CC22-B485-8868-6D8AFA8B7D7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E185B9B-EA5E-1E91-8C26-84DF6E8C46B9}"/>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9AC64A6E-CC1E-3FE7-74B3-7455CBA4A726}"/>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D76169EA-61BB-CD98-46F9-D337AA2C46F6}"/>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824076EF-9DA8-B19F-0805-14B67235FDF1}"/>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A0A5D2E4-77B4-A0C7-8BF5-B2FDA941C5A3}"/>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84F1FD6A-491C-6325-E0CD-CDDDACAAC6AA}"/>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B2BB7EF2-0507-B8D0-09B5-0AA16C924CD4}"/>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8D096146-38B9-048F-6EFF-8B0199B93740}"/>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DFFEBE2A-098B-5041-8074-73FE12156CE1}"/>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1E06D0C2-6BFE-D944-F554-0773E37EC233}"/>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CC503FC6-4674-3012-45A9-408643E54CFD}"/>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C84CA7BF-28CC-D5A0-28A6-240259FC853C}"/>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CB7F2CA2-098C-EBBE-5B33-9272898855D8}"/>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 12</a:t>
            </a:r>
          </a:p>
        </p:txBody>
      </p:sp>
      <p:sp>
        <p:nvSpPr>
          <p:cNvPr id="15" name="TextBox 15">
            <a:extLst>
              <a:ext uri="{FF2B5EF4-FFF2-40B4-BE49-F238E27FC236}">
                <a16:creationId xmlns:a16="http://schemas.microsoft.com/office/drawing/2014/main" id="{FE034D46-91FC-65EF-02EA-E59DF180E5EC}"/>
              </a:ext>
            </a:extLst>
          </p:cNvPr>
          <p:cNvSpPr txBox="1"/>
          <p:nvPr/>
        </p:nvSpPr>
        <p:spPr>
          <a:xfrm>
            <a:off x="2246041" y="2025065"/>
            <a:ext cx="13795916" cy="1107996"/>
          </a:xfrm>
          <a:prstGeom prst="rect">
            <a:avLst/>
          </a:prstGeom>
        </p:spPr>
        <p:txBody>
          <a:bodyPr wrap="square" lIns="0" tIns="0" rIns="0" bIns="0" rtlCol="0" anchor="t">
            <a:spAutoFit/>
          </a:bodyPr>
          <a:lstStyle/>
          <a:p>
            <a:pPr algn="ctr"/>
            <a:r>
              <a:rPr lang="en-US" sz="2400" b="0" i="0" dirty="0">
                <a:solidFill>
                  <a:srgbClr val="000000"/>
                </a:solidFill>
                <a:effectLst/>
                <a:latin typeface="Nunito 1 Bold" panose="020B0604020202020204" charset="0"/>
              </a:rPr>
              <a:t>What must be the drop of height of a pipe in order to achieve a pressure of 2.5atm if the initial pressure is set at atmospheric value? Assume that the fluid velocity is constant with a density of 1100kg/m3.</a:t>
            </a:r>
          </a:p>
        </p:txBody>
      </p:sp>
      <p:sp>
        <p:nvSpPr>
          <p:cNvPr id="19" name="TextBox 12">
            <a:extLst>
              <a:ext uri="{FF2B5EF4-FFF2-40B4-BE49-F238E27FC236}">
                <a16:creationId xmlns:a16="http://schemas.microsoft.com/office/drawing/2014/main" id="{026812F5-D377-5D48-845A-71DA3CC079C0}"/>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475CC81A-076F-BE4C-C886-73D42F8DE4E7}"/>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nvGrpSpPr>
          <p:cNvPr id="23" name="Group 5">
            <a:extLst>
              <a:ext uri="{FF2B5EF4-FFF2-40B4-BE49-F238E27FC236}">
                <a16:creationId xmlns:a16="http://schemas.microsoft.com/office/drawing/2014/main" id="{DBEC19FA-6F98-2F48-5CB0-DC1E6B774B9E}"/>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EA8F52F6-E5C5-7169-312C-9F9BC2374B21}"/>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9D1A9819-10E9-44FF-1F74-75784EC51743}"/>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5">
            <a:extLst>
              <a:ext uri="{FF2B5EF4-FFF2-40B4-BE49-F238E27FC236}">
                <a16:creationId xmlns:a16="http://schemas.microsoft.com/office/drawing/2014/main" id="{9A3BF65F-31D3-2828-DE1F-0C9A2E2681FD}"/>
              </a:ext>
            </a:extLst>
          </p:cNvPr>
          <p:cNvSpPr txBox="1"/>
          <p:nvPr/>
        </p:nvSpPr>
        <p:spPr>
          <a:xfrm>
            <a:off x="1676400" y="4635597"/>
            <a:ext cx="14935200" cy="2585323"/>
          </a:xfrm>
          <a:prstGeom prst="rect">
            <a:avLst/>
          </a:prstGeom>
        </p:spPr>
        <p:txBody>
          <a:bodyPr wrap="square" lIns="0" tIns="0" rIns="0" bIns="0" rtlCol="0" anchor="t">
            <a:spAutoFit/>
          </a:bodyPr>
          <a:lstStyle/>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-14.09m</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-18.2m</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-16.57m</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-14.33m</a:t>
            </a:r>
          </a:p>
        </p:txBody>
      </p:sp>
      <p:sp>
        <p:nvSpPr>
          <p:cNvPr id="17" name="Oval 16">
            <a:extLst>
              <a:ext uri="{FF2B5EF4-FFF2-40B4-BE49-F238E27FC236}">
                <a16:creationId xmlns:a16="http://schemas.microsoft.com/office/drawing/2014/main" id="{F062DA7A-1F31-DC05-5B06-561FB1408C24}"/>
              </a:ext>
            </a:extLst>
          </p:cNvPr>
          <p:cNvSpPr/>
          <p:nvPr/>
        </p:nvSpPr>
        <p:spPr>
          <a:xfrm>
            <a:off x="1524000" y="4583278"/>
            <a:ext cx="475936" cy="47593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1" name="TextBox 15">
            <a:extLst>
              <a:ext uri="{FF2B5EF4-FFF2-40B4-BE49-F238E27FC236}">
                <a16:creationId xmlns:a16="http://schemas.microsoft.com/office/drawing/2014/main" id="{AA6471D3-1A30-C139-FA6A-847204803A78}"/>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https://www.fsl.orst.edu/geowater/FX3/help/8_Hydraulic_Reference/Froude_Number_and_Flow_States.htm</a:t>
            </a:r>
          </a:p>
        </p:txBody>
      </p:sp>
      <p:sp>
        <p:nvSpPr>
          <p:cNvPr id="18" name="AutoShape 2">
            <a:extLst>
              <a:ext uri="{FF2B5EF4-FFF2-40B4-BE49-F238E27FC236}">
                <a16:creationId xmlns:a16="http://schemas.microsoft.com/office/drawing/2014/main" id="{110E0715-3D45-CC12-C248-22B311750D23}"/>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1BC7B831-A0DB-75B1-128D-FBFA93D9CC4D}"/>
                  </a:ext>
                </a:extLst>
              </p:cNvPr>
              <p:cNvSpPr txBox="1"/>
              <p:nvPr/>
            </p:nvSpPr>
            <p:spPr>
              <a:xfrm>
                <a:off x="5562723" y="3535551"/>
                <a:ext cx="9829677" cy="4785413"/>
              </a:xfrm>
              <a:prstGeom prst="rect">
                <a:avLst/>
              </a:prstGeom>
            </p:spPr>
            <p:txBody>
              <a:bodyPr wrap="square" lIns="0" tIns="0" rIns="0" bIns="0" rtlCol="0" anchor="t">
                <a:spAutoFit/>
              </a:bodyPr>
              <a:lstStyle/>
              <a:p>
                <a:pPr>
                  <a:spcAft>
                    <a:spcPts val="800"/>
                  </a:spcAft>
                </a:pPr>
                <a:r>
                  <a:rPr lang="en-PH" sz="2400" kern="100" dirty="0">
                    <a:effectLst/>
                    <a:latin typeface="Nunito 1" panose="020B0604020202020204" charset="0"/>
                    <a:ea typeface="Calibri" panose="020F0502020204030204" pitchFamily="34" charset="0"/>
                    <a:cs typeface="Times New Roman" panose="02020603050405020304" pitchFamily="18" charset="0"/>
                  </a:rPr>
                  <a:t>Solution:</a:t>
                </a:r>
              </a:p>
              <a:p>
                <a:pPr>
                  <a:spcAft>
                    <a:spcPts val="800"/>
                  </a:spcAft>
                </a:pPr>
                <a:r>
                  <a:rPr lang="en-PH" sz="2400" kern="100" dirty="0">
                    <a:effectLst/>
                    <a:latin typeface="Nunito 1" panose="020B0604020202020204" charset="0"/>
                    <a:ea typeface="Calibri" panose="020F0502020204030204" pitchFamily="34" charset="0"/>
                    <a:cs typeface="Times New Roman" panose="02020603050405020304" pitchFamily="18" charset="0"/>
                  </a:rPr>
                  <a:t> </a:t>
                </a:r>
              </a:p>
              <a:p>
                <a:pPr>
                  <a:spcAft>
                    <a:spcPts val="800"/>
                  </a:spcAft>
                </a:pPr>
                <a14:m>
                  <m:oMathPara xmlns:m="http://schemas.openxmlformats.org/officeDocument/2006/math">
                    <m:oMathParaPr>
                      <m:jc m:val="centerGroup"/>
                    </m:oMathParaPr>
                    <m:oMath xmlns:m="http://schemas.openxmlformats.org/officeDocument/2006/math">
                      <m:f>
                        <m:fPr>
                          <m:ctrlPr>
                            <a:rPr lang="en-PH" sz="2400" i="1" kern="100">
                              <a:effectLst/>
                              <a:latin typeface="Cambria Math" panose="02040503050406030204" pitchFamily="18" charset="0"/>
                              <a:ea typeface="Calibri" panose="020F0502020204030204" pitchFamily="34" charset="0"/>
                              <a:cs typeface="Courier New" panose="02070309020205020404" pitchFamily="49" charset="0"/>
                            </a:rPr>
                          </m:ctrlPr>
                        </m:fPr>
                        <m:num>
                          <m:r>
                            <a:rPr lang="en-PH" sz="2400" i="1" kern="100">
                              <a:effectLst/>
                              <a:latin typeface="Cambria Math" panose="02040503050406030204" pitchFamily="18" charset="0"/>
                              <a:ea typeface="Calibri" panose="020F0502020204030204" pitchFamily="34" charset="0"/>
                              <a:cs typeface="Courier New" panose="02070309020205020404" pitchFamily="49" charset="0"/>
                            </a:rPr>
                            <m:t>1</m:t>
                          </m:r>
                        </m:num>
                        <m:den>
                          <m:r>
                            <a:rPr lang="en-PH" sz="2400" i="1" kern="100">
                              <a:effectLst/>
                              <a:latin typeface="Cambria Math" panose="02040503050406030204" pitchFamily="18" charset="0"/>
                              <a:ea typeface="Calibri" panose="020F0502020204030204" pitchFamily="34" charset="0"/>
                              <a:cs typeface="Courier New" panose="02070309020205020404" pitchFamily="49" charset="0"/>
                            </a:rPr>
                            <m:t>2</m:t>
                          </m:r>
                        </m:den>
                      </m:f>
                      <m:r>
                        <a:rPr lang="en-PH" sz="2400" i="1" kern="100">
                          <a:effectLst/>
                          <a:latin typeface="Cambria Math" panose="02040503050406030204" pitchFamily="18" charset="0"/>
                          <a:ea typeface="Calibri" panose="020F0502020204030204" pitchFamily="34" charset="0"/>
                          <a:cs typeface="Courier New" panose="02070309020205020404" pitchFamily="49" charset="0"/>
                        </a:rPr>
                        <m:t>𝜌</m:t>
                      </m:r>
                      <m:sSubSup>
                        <m:sSubSupPr>
                          <m:ctrlPr>
                            <a:rPr lang="en-PH" sz="2400" i="1" kern="100">
                              <a:effectLst/>
                              <a:latin typeface="Cambria Math" panose="02040503050406030204" pitchFamily="18" charset="0"/>
                              <a:ea typeface="Calibri" panose="020F0502020204030204" pitchFamily="34" charset="0"/>
                              <a:cs typeface="Courier New" panose="02070309020205020404" pitchFamily="49" charset="0"/>
                            </a:rPr>
                          </m:ctrlPr>
                        </m:sSubSupPr>
                        <m:e>
                          <m:r>
                            <a:rPr lang="en-PH" sz="2400" i="1" kern="100">
                              <a:effectLst/>
                              <a:latin typeface="Cambria Math" panose="02040503050406030204" pitchFamily="18" charset="0"/>
                              <a:ea typeface="Calibri" panose="020F0502020204030204" pitchFamily="34" charset="0"/>
                              <a:cs typeface="Courier New" panose="02070309020205020404" pitchFamily="49" charset="0"/>
                            </a:rPr>
                            <m:t>𝜈</m:t>
                          </m:r>
                        </m:e>
                        <m:sub>
                          <m:r>
                            <a:rPr lang="en-PH" sz="2400" i="1" kern="100">
                              <a:effectLst/>
                              <a:latin typeface="Cambria Math" panose="02040503050406030204" pitchFamily="18" charset="0"/>
                              <a:ea typeface="Calibri" panose="020F0502020204030204" pitchFamily="34" charset="0"/>
                              <a:cs typeface="Courier New" panose="02070309020205020404" pitchFamily="49" charset="0"/>
                            </a:rPr>
                            <m:t>1</m:t>
                          </m:r>
                        </m:sub>
                        <m:sup>
                          <m:r>
                            <a:rPr lang="en-PH" sz="2400" i="1" kern="100">
                              <a:effectLst/>
                              <a:latin typeface="Cambria Math" panose="02040503050406030204" pitchFamily="18" charset="0"/>
                              <a:ea typeface="Calibri" panose="020F0502020204030204" pitchFamily="34" charset="0"/>
                              <a:cs typeface="Courier New" panose="02070309020205020404" pitchFamily="49" charset="0"/>
                            </a:rPr>
                            <m:t>2</m:t>
                          </m:r>
                        </m:sup>
                      </m:sSubSup>
                      <m:r>
                        <a:rPr lang="en-PH" sz="2400" i="1" kern="100">
                          <a:effectLst/>
                          <a:latin typeface="Cambria Math" panose="02040503050406030204" pitchFamily="18" charset="0"/>
                          <a:ea typeface="Calibri" panose="020F0502020204030204" pitchFamily="34" charset="0"/>
                          <a:cs typeface="Courier New" panose="02070309020205020404" pitchFamily="49" charset="0"/>
                        </a:rPr>
                        <m:t>+</m:t>
                      </m:r>
                      <m:r>
                        <a:rPr lang="en-PH" sz="2400" i="1" kern="100">
                          <a:effectLst/>
                          <a:latin typeface="Cambria Math" panose="02040503050406030204" pitchFamily="18" charset="0"/>
                          <a:ea typeface="Calibri" panose="020F0502020204030204" pitchFamily="34" charset="0"/>
                          <a:cs typeface="Courier New" panose="02070309020205020404" pitchFamily="49" charset="0"/>
                        </a:rPr>
                        <m:t>𝜌</m:t>
                      </m:r>
                      <m:r>
                        <a:rPr lang="en-PH" sz="2400" i="1" kern="100">
                          <a:effectLst/>
                          <a:latin typeface="Cambria Math" panose="02040503050406030204" pitchFamily="18" charset="0"/>
                          <a:ea typeface="Calibri" panose="020F0502020204030204" pitchFamily="34" charset="0"/>
                          <a:cs typeface="Courier New" panose="02070309020205020404" pitchFamily="49" charset="0"/>
                        </a:rPr>
                        <m:t>𝑔</m:t>
                      </m:r>
                      <m:sSub>
                        <m:sSubPr>
                          <m:ctrlPr>
                            <a:rPr lang="en-PH" sz="2400" i="1" kern="100">
                              <a:effectLst/>
                              <a:latin typeface="Cambria Math" panose="02040503050406030204" pitchFamily="18" charset="0"/>
                              <a:ea typeface="Calibri" panose="020F0502020204030204" pitchFamily="34" charset="0"/>
                              <a:cs typeface="Courier New" panose="02070309020205020404" pitchFamily="49" charset="0"/>
                            </a:rPr>
                          </m:ctrlPr>
                        </m:sSubPr>
                        <m:e>
                          <m:r>
                            <a:rPr lang="en-PH" sz="2400" i="1" kern="100">
                              <a:effectLst/>
                              <a:latin typeface="Cambria Math" panose="02040503050406030204" pitchFamily="18" charset="0"/>
                              <a:ea typeface="Calibri" panose="020F0502020204030204" pitchFamily="34" charset="0"/>
                              <a:cs typeface="Courier New" panose="02070309020205020404" pitchFamily="49" charset="0"/>
                            </a:rPr>
                            <m:t>h</m:t>
                          </m:r>
                        </m:e>
                        <m:sub>
                          <m:r>
                            <a:rPr lang="en-PH" sz="2400" i="1" kern="100">
                              <a:effectLst/>
                              <a:latin typeface="Cambria Math" panose="02040503050406030204" pitchFamily="18" charset="0"/>
                              <a:ea typeface="Calibri" panose="020F0502020204030204" pitchFamily="34" charset="0"/>
                              <a:cs typeface="Courier New" panose="02070309020205020404" pitchFamily="49" charset="0"/>
                            </a:rPr>
                            <m:t>1</m:t>
                          </m:r>
                        </m:sub>
                      </m:sSub>
                      <m:sSub>
                        <m:sSubPr>
                          <m:ctrlPr>
                            <a:rPr lang="en-PH" sz="2400" i="1" kern="100">
                              <a:effectLst/>
                              <a:latin typeface="Cambria Math" panose="02040503050406030204" pitchFamily="18" charset="0"/>
                              <a:ea typeface="Calibri" panose="020F0502020204030204" pitchFamily="34" charset="0"/>
                              <a:cs typeface="Courier New" panose="02070309020205020404" pitchFamily="49" charset="0"/>
                            </a:rPr>
                          </m:ctrlPr>
                        </m:sSubPr>
                        <m:e>
                          <m:r>
                            <a:rPr lang="en-PH" sz="2400" i="1" kern="100">
                              <a:effectLst/>
                              <a:latin typeface="Cambria Math" panose="02040503050406030204" pitchFamily="18" charset="0"/>
                              <a:ea typeface="Calibri" panose="020F0502020204030204" pitchFamily="34" charset="0"/>
                              <a:cs typeface="Courier New" panose="02070309020205020404" pitchFamily="49" charset="0"/>
                            </a:rPr>
                            <m:t>+</m:t>
                          </m:r>
                          <m:r>
                            <a:rPr lang="en-PH" sz="2400" i="1" kern="100">
                              <a:effectLst/>
                              <a:latin typeface="Cambria Math" panose="02040503050406030204" pitchFamily="18" charset="0"/>
                              <a:ea typeface="Calibri" panose="020F0502020204030204" pitchFamily="34" charset="0"/>
                              <a:cs typeface="Courier New" panose="02070309020205020404" pitchFamily="49" charset="0"/>
                            </a:rPr>
                            <m:t>𝑃</m:t>
                          </m:r>
                        </m:e>
                        <m:sub>
                          <m:r>
                            <a:rPr lang="en-PH" sz="2400" i="1" kern="100">
                              <a:effectLst/>
                              <a:latin typeface="Cambria Math" panose="02040503050406030204" pitchFamily="18" charset="0"/>
                              <a:ea typeface="Calibri" panose="020F0502020204030204" pitchFamily="34" charset="0"/>
                              <a:cs typeface="Courier New" panose="02070309020205020404" pitchFamily="49" charset="0"/>
                            </a:rPr>
                            <m:t>1</m:t>
                          </m:r>
                        </m:sub>
                      </m:sSub>
                      <m:r>
                        <a:rPr lang="en-PH" sz="2400" i="1" kern="100">
                          <a:effectLst/>
                          <a:latin typeface="Cambria Math" panose="02040503050406030204" pitchFamily="18" charset="0"/>
                          <a:ea typeface="Calibri" panose="020F0502020204030204" pitchFamily="34" charset="0"/>
                          <a:cs typeface="Courier New" panose="02070309020205020404" pitchFamily="49" charset="0"/>
                        </a:rPr>
                        <m:t>=</m:t>
                      </m:r>
                      <m:f>
                        <m:fPr>
                          <m:ctrlPr>
                            <a:rPr lang="en-PH" sz="2400" i="1" kern="100">
                              <a:effectLst/>
                              <a:latin typeface="Cambria Math" panose="02040503050406030204" pitchFamily="18" charset="0"/>
                              <a:ea typeface="Calibri" panose="020F0502020204030204" pitchFamily="34" charset="0"/>
                              <a:cs typeface="Courier New" panose="02070309020205020404" pitchFamily="49" charset="0"/>
                            </a:rPr>
                          </m:ctrlPr>
                        </m:fPr>
                        <m:num>
                          <m:r>
                            <a:rPr lang="en-PH" sz="2400" i="1" kern="100">
                              <a:effectLst/>
                              <a:latin typeface="Cambria Math" panose="02040503050406030204" pitchFamily="18" charset="0"/>
                              <a:ea typeface="Calibri" panose="020F0502020204030204" pitchFamily="34" charset="0"/>
                              <a:cs typeface="Courier New" panose="02070309020205020404" pitchFamily="49" charset="0"/>
                            </a:rPr>
                            <m:t>1</m:t>
                          </m:r>
                        </m:num>
                        <m:den>
                          <m:r>
                            <a:rPr lang="en-PH" sz="2400" i="1" kern="100">
                              <a:effectLst/>
                              <a:latin typeface="Cambria Math" panose="02040503050406030204" pitchFamily="18" charset="0"/>
                              <a:ea typeface="Calibri" panose="020F0502020204030204" pitchFamily="34" charset="0"/>
                              <a:cs typeface="Courier New" panose="02070309020205020404" pitchFamily="49" charset="0"/>
                            </a:rPr>
                            <m:t>2</m:t>
                          </m:r>
                        </m:den>
                      </m:f>
                      <m:r>
                        <a:rPr lang="en-PH" sz="2400" i="1" kern="100">
                          <a:effectLst/>
                          <a:latin typeface="Cambria Math" panose="02040503050406030204" pitchFamily="18" charset="0"/>
                          <a:ea typeface="Calibri" panose="020F0502020204030204" pitchFamily="34" charset="0"/>
                          <a:cs typeface="Courier New" panose="02070309020205020404" pitchFamily="49" charset="0"/>
                        </a:rPr>
                        <m:t>𝜌</m:t>
                      </m:r>
                      <m:sSubSup>
                        <m:sSubSupPr>
                          <m:ctrlPr>
                            <a:rPr lang="en-PH" sz="2400" i="1" kern="100">
                              <a:effectLst/>
                              <a:latin typeface="Cambria Math" panose="02040503050406030204" pitchFamily="18" charset="0"/>
                              <a:ea typeface="Calibri" panose="020F0502020204030204" pitchFamily="34" charset="0"/>
                              <a:cs typeface="Courier New" panose="02070309020205020404" pitchFamily="49" charset="0"/>
                            </a:rPr>
                          </m:ctrlPr>
                        </m:sSubSupPr>
                        <m:e>
                          <m:r>
                            <a:rPr lang="en-PH" sz="2400" i="1" kern="100">
                              <a:effectLst/>
                              <a:latin typeface="Cambria Math" panose="02040503050406030204" pitchFamily="18" charset="0"/>
                              <a:ea typeface="Calibri" panose="020F0502020204030204" pitchFamily="34" charset="0"/>
                              <a:cs typeface="Courier New" panose="02070309020205020404" pitchFamily="49" charset="0"/>
                            </a:rPr>
                            <m:t>𝜈</m:t>
                          </m:r>
                        </m:e>
                        <m:sub>
                          <m:r>
                            <a:rPr lang="en-PH" sz="2400" i="1" kern="100">
                              <a:effectLst/>
                              <a:latin typeface="Cambria Math" panose="02040503050406030204" pitchFamily="18" charset="0"/>
                              <a:ea typeface="Calibri" panose="020F0502020204030204" pitchFamily="34" charset="0"/>
                              <a:cs typeface="Courier New" panose="02070309020205020404" pitchFamily="49" charset="0"/>
                            </a:rPr>
                            <m:t>2</m:t>
                          </m:r>
                        </m:sub>
                        <m:sup>
                          <m:r>
                            <a:rPr lang="en-PH" sz="2400" i="1" kern="100">
                              <a:effectLst/>
                              <a:latin typeface="Cambria Math" panose="02040503050406030204" pitchFamily="18" charset="0"/>
                              <a:ea typeface="Calibri" panose="020F0502020204030204" pitchFamily="34" charset="0"/>
                              <a:cs typeface="Courier New" panose="02070309020205020404" pitchFamily="49" charset="0"/>
                            </a:rPr>
                            <m:t>2</m:t>
                          </m:r>
                        </m:sup>
                      </m:sSubSup>
                      <m:r>
                        <a:rPr lang="en-PH" sz="2400" i="1" kern="100">
                          <a:effectLst/>
                          <a:latin typeface="Cambria Math" panose="02040503050406030204" pitchFamily="18" charset="0"/>
                          <a:ea typeface="Calibri" panose="020F0502020204030204" pitchFamily="34" charset="0"/>
                          <a:cs typeface="Courier New" panose="02070309020205020404" pitchFamily="49" charset="0"/>
                        </a:rPr>
                        <m:t>+</m:t>
                      </m:r>
                      <m:r>
                        <a:rPr lang="en-PH" sz="2400" i="1" kern="100">
                          <a:effectLst/>
                          <a:latin typeface="Cambria Math" panose="02040503050406030204" pitchFamily="18" charset="0"/>
                          <a:ea typeface="Calibri" panose="020F0502020204030204" pitchFamily="34" charset="0"/>
                          <a:cs typeface="Courier New" panose="02070309020205020404" pitchFamily="49" charset="0"/>
                        </a:rPr>
                        <m:t>𝜌</m:t>
                      </m:r>
                      <m:r>
                        <a:rPr lang="en-PH" sz="2400" i="1" kern="100">
                          <a:effectLst/>
                          <a:latin typeface="Cambria Math" panose="02040503050406030204" pitchFamily="18" charset="0"/>
                          <a:ea typeface="Calibri" panose="020F0502020204030204" pitchFamily="34" charset="0"/>
                          <a:cs typeface="Courier New" panose="02070309020205020404" pitchFamily="49" charset="0"/>
                        </a:rPr>
                        <m:t>𝑔</m:t>
                      </m:r>
                      <m:sSub>
                        <m:sSubPr>
                          <m:ctrlPr>
                            <a:rPr lang="en-PH" sz="2400" i="1" kern="100">
                              <a:effectLst/>
                              <a:latin typeface="Cambria Math" panose="02040503050406030204" pitchFamily="18" charset="0"/>
                              <a:ea typeface="Calibri" panose="020F0502020204030204" pitchFamily="34" charset="0"/>
                              <a:cs typeface="Courier New" panose="02070309020205020404" pitchFamily="49" charset="0"/>
                            </a:rPr>
                          </m:ctrlPr>
                        </m:sSubPr>
                        <m:e>
                          <m:r>
                            <a:rPr lang="en-PH" sz="2400" i="1" kern="100">
                              <a:effectLst/>
                              <a:latin typeface="Cambria Math" panose="02040503050406030204" pitchFamily="18" charset="0"/>
                              <a:ea typeface="Calibri" panose="020F0502020204030204" pitchFamily="34" charset="0"/>
                              <a:cs typeface="Courier New" panose="02070309020205020404" pitchFamily="49" charset="0"/>
                            </a:rPr>
                            <m:t>h</m:t>
                          </m:r>
                        </m:e>
                        <m:sub>
                          <m:r>
                            <a:rPr lang="en-PH" sz="2400" i="1" kern="100">
                              <a:effectLst/>
                              <a:latin typeface="Cambria Math" panose="02040503050406030204" pitchFamily="18" charset="0"/>
                              <a:ea typeface="Calibri" panose="020F0502020204030204" pitchFamily="34" charset="0"/>
                              <a:cs typeface="Courier New" panose="02070309020205020404" pitchFamily="49" charset="0"/>
                            </a:rPr>
                            <m:t>1</m:t>
                          </m:r>
                        </m:sub>
                      </m:sSub>
                      <m:r>
                        <a:rPr lang="en-PH" sz="2400" i="1" kern="100">
                          <a:effectLst/>
                          <a:latin typeface="Cambria Math" panose="02040503050406030204" pitchFamily="18" charset="0"/>
                          <a:ea typeface="Calibri" panose="020F0502020204030204" pitchFamily="34" charset="0"/>
                          <a:cs typeface="Courier New" panose="02070309020205020404" pitchFamily="49" charset="0"/>
                        </a:rPr>
                        <m:t>+</m:t>
                      </m:r>
                      <m:sSub>
                        <m:sSubPr>
                          <m:ctrlPr>
                            <a:rPr lang="en-PH" sz="2400" i="1" kern="100">
                              <a:effectLst/>
                              <a:latin typeface="Cambria Math" panose="02040503050406030204" pitchFamily="18" charset="0"/>
                              <a:ea typeface="Calibri" panose="020F0502020204030204" pitchFamily="34" charset="0"/>
                              <a:cs typeface="Courier New" panose="02070309020205020404" pitchFamily="49" charset="0"/>
                            </a:rPr>
                          </m:ctrlPr>
                        </m:sSubPr>
                        <m:e>
                          <m:r>
                            <a:rPr lang="en-PH" sz="2400" i="1" kern="100">
                              <a:effectLst/>
                              <a:latin typeface="Cambria Math" panose="02040503050406030204" pitchFamily="18" charset="0"/>
                              <a:ea typeface="Calibri" panose="020F0502020204030204" pitchFamily="34" charset="0"/>
                              <a:cs typeface="Courier New" panose="02070309020205020404" pitchFamily="49" charset="0"/>
                            </a:rPr>
                            <m:t>𝑃</m:t>
                          </m:r>
                        </m:e>
                        <m:sub>
                          <m:r>
                            <a:rPr lang="en-PH" sz="2400" i="1" kern="100">
                              <a:effectLst/>
                              <a:latin typeface="Cambria Math" panose="02040503050406030204" pitchFamily="18" charset="0"/>
                              <a:ea typeface="Calibri" panose="020F0502020204030204" pitchFamily="34" charset="0"/>
                              <a:cs typeface="Courier New" panose="02070309020205020404" pitchFamily="49" charset="0"/>
                            </a:rPr>
                            <m:t>2</m:t>
                          </m:r>
                        </m:sub>
                      </m:sSub>
                    </m:oMath>
                  </m:oMathPara>
                </a14:m>
                <a:endParaRPr lang="en-PH" sz="2400" kern="100" dirty="0">
                  <a:effectLst/>
                  <a:latin typeface="Nunito 1" panose="020B0604020202020204" charset="0"/>
                  <a:ea typeface="Calibri" panose="020F0502020204030204" pitchFamily="34" charset="0"/>
                  <a:cs typeface="Times New Roman" panose="02020603050405020304" pitchFamily="18" charset="0"/>
                </a:endParaRPr>
              </a:p>
              <a:p>
                <a:pPr>
                  <a:spcAft>
                    <a:spcPts val="800"/>
                  </a:spcAft>
                </a:pPr>
                <a:r>
                  <a:rPr lang="en-PH" sz="2400" kern="100" dirty="0">
                    <a:effectLst/>
                    <a:latin typeface="Nunito 1" panose="020B0604020202020204" charset="0"/>
                    <a:ea typeface="Calibri" panose="020F0502020204030204" pitchFamily="34" charset="0"/>
                    <a:cs typeface="Courier New" panose="02070309020205020404" pitchFamily="49" charset="0"/>
                  </a:rPr>
                  <a:t>Since velocity is constant: 	</a:t>
                </a:r>
                <a14:m>
                  <m:oMath xmlns:m="http://schemas.openxmlformats.org/officeDocument/2006/math">
                    <m:r>
                      <a:rPr lang="en-PH" sz="2400" i="1" kern="100">
                        <a:latin typeface="Cambria Math" panose="02040503050406030204" pitchFamily="18" charset="0"/>
                        <a:ea typeface="Calibri" panose="020F0502020204030204" pitchFamily="34" charset="0"/>
                        <a:cs typeface="Courier New" panose="02070309020205020404" pitchFamily="49" charset="0"/>
                      </a:rPr>
                      <m:t>𝜌</m:t>
                    </m:r>
                    <m:r>
                      <a:rPr lang="en-PH" sz="2400" i="1" kern="100">
                        <a:latin typeface="Cambria Math" panose="02040503050406030204" pitchFamily="18" charset="0"/>
                        <a:ea typeface="Calibri" panose="020F0502020204030204" pitchFamily="34" charset="0"/>
                        <a:cs typeface="Courier New" panose="02070309020205020404" pitchFamily="49" charset="0"/>
                      </a:rPr>
                      <m:t>𝑔</m:t>
                    </m:r>
                    <m:sSub>
                      <m:sSubPr>
                        <m:ctrlPr>
                          <a:rPr lang="en-PH" sz="2400" i="1" kern="100">
                            <a:latin typeface="Cambria Math" panose="02040503050406030204" pitchFamily="18" charset="0"/>
                            <a:ea typeface="Calibri" panose="020F0502020204030204" pitchFamily="34" charset="0"/>
                            <a:cs typeface="Courier New" panose="02070309020205020404" pitchFamily="49" charset="0"/>
                          </a:rPr>
                        </m:ctrlPr>
                      </m:sSubPr>
                      <m:e>
                        <m:r>
                          <a:rPr lang="en-PH" sz="2400" i="1" kern="100">
                            <a:latin typeface="Cambria Math" panose="02040503050406030204" pitchFamily="18" charset="0"/>
                            <a:ea typeface="Calibri" panose="020F0502020204030204" pitchFamily="34" charset="0"/>
                            <a:cs typeface="Courier New" panose="02070309020205020404" pitchFamily="49" charset="0"/>
                          </a:rPr>
                          <m:t>h</m:t>
                        </m:r>
                      </m:e>
                      <m:sub>
                        <m:r>
                          <a:rPr lang="en-PH" sz="2400" i="1" kern="100">
                            <a:latin typeface="Cambria Math" panose="02040503050406030204" pitchFamily="18" charset="0"/>
                            <a:ea typeface="Calibri" panose="020F0502020204030204" pitchFamily="34" charset="0"/>
                            <a:cs typeface="Courier New" panose="02070309020205020404" pitchFamily="49" charset="0"/>
                          </a:rPr>
                          <m:t>1</m:t>
                        </m:r>
                      </m:sub>
                    </m:sSub>
                    <m:r>
                      <a:rPr lang="en-PH" sz="2400" i="1" kern="100">
                        <a:effectLst/>
                        <a:latin typeface="Cambria Math" panose="02040503050406030204" pitchFamily="18" charset="0"/>
                        <a:ea typeface="Calibri" panose="020F0502020204030204" pitchFamily="34" charset="0"/>
                        <a:cs typeface="Courier New" panose="02070309020205020404" pitchFamily="49" charset="0"/>
                      </a:rPr>
                      <m:t>+</m:t>
                    </m:r>
                    <m:sSub>
                      <m:sSubPr>
                        <m:ctrlPr>
                          <a:rPr lang="en-PH" sz="2400" i="1" kern="100">
                            <a:effectLst/>
                            <a:latin typeface="Cambria Math" panose="02040503050406030204" pitchFamily="18" charset="0"/>
                            <a:ea typeface="Calibri" panose="020F0502020204030204" pitchFamily="34" charset="0"/>
                            <a:cs typeface="Courier New" panose="02070309020205020404" pitchFamily="49" charset="0"/>
                          </a:rPr>
                        </m:ctrlPr>
                      </m:sSubPr>
                      <m:e>
                        <m:r>
                          <a:rPr lang="en-PH" sz="2400" i="1" kern="100">
                            <a:effectLst/>
                            <a:latin typeface="Cambria Math" panose="02040503050406030204" pitchFamily="18" charset="0"/>
                            <a:ea typeface="Calibri" panose="020F0502020204030204" pitchFamily="34" charset="0"/>
                            <a:cs typeface="Courier New" panose="02070309020205020404" pitchFamily="49" charset="0"/>
                          </a:rPr>
                          <m:t>𝑃</m:t>
                        </m:r>
                      </m:e>
                      <m:sub>
                        <m:r>
                          <a:rPr lang="en-PH" sz="2400" i="1" kern="100">
                            <a:effectLst/>
                            <a:latin typeface="Cambria Math" panose="02040503050406030204" pitchFamily="18" charset="0"/>
                            <a:ea typeface="Calibri" panose="020F0502020204030204" pitchFamily="34" charset="0"/>
                            <a:cs typeface="Courier New" panose="02070309020205020404" pitchFamily="49" charset="0"/>
                          </a:rPr>
                          <m:t>1</m:t>
                        </m:r>
                      </m:sub>
                    </m:sSub>
                    <m:r>
                      <a:rPr lang="en-PH" sz="2400" i="1" kern="100">
                        <a:effectLst/>
                        <a:latin typeface="Cambria Math" panose="02040503050406030204" pitchFamily="18" charset="0"/>
                        <a:ea typeface="Calibri" panose="020F0502020204030204" pitchFamily="34" charset="0"/>
                        <a:cs typeface="Courier New" panose="02070309020205020404" pitchFamily="49" charset="0"/>
                      </a:rPr>
                      <m:t>=</m:t>
                    </m:r>
                    <m:r>
                      <a:rPr lang="en-PH" sz="2400" i="1" kern="100">
                        <a:latin typeface="Cambria Math" panose="02040503050406030204" pitchFamily="18" charset="0"/>
                        <a:ea typeface="Calibri" panose="020F0502020204030204" pitchFamily="34" charset="0"/>
                        <a:cs typeface="Courier New" panose="02070309020205020404" pitchFamily="49" charset="0"/>
                      </a:rPr>
                      <m:t>𝜌</m:t>
                    </m:r>
                    <m:r>
                      <a:rPr lang="en-PH" sz="2400" i="1" kern="100">
                        <a:latin typeface="Cambria Math" panose="02040503050406030204" pitchFamily="18" charset="0"/>
                        <a:ea typeface="Calibri" panose="020F0502020204030204" pitchFamily="34" charset="0"/>
                        <a:cs typeface="Courier New" panose="02070309020205020404" pitchFamily="49" charset="0"/>
                      </a:rPr>
                      <m:t>𝑔</m:t>
                    </m:r>
                    <m:sSub>
                      <m:sSubPr>
                        <m:ctrlPr>
                          <a:rPr lang="en-PH" sz="2400" i="1" kern="100">
                            <a:latin typeface="Cambria Math" panose="02040503050406030204" pitchFamily="18" charset="0"/>
                            <a:ea typeface="Calibri" panose="020F0502020204030204" pitchFamily="34" charset="0"/>
                            <a:cs typeface="Courier New" panose="02070309020205020404" pitchFamily="49" charset="0"/>
                          </a:rPr>
                        </m:ctrlPr>
                      </m:sSubPr>
                      <m:e>
                        <m:r>
                          <a:rPr lang="en-PH" sz="2400" i="1" kern="100">
                            <a:latin typeface="Cambria Math" panose="02040503050406030204" pitchFamily="18" charset="0"/>
                            <a:ea typeface="Calibri" panose="020F0502020204030204" pitchFamily="34" charset="0"/>
                            <a:cs typeface="Courier New" panose="02070309020205020404" pitchFamily="49" charset="0"/>
                          </a:rPr>
                          <m:t>h</m:t>
                        </m:r>
                      </m:e>
                      <m:sub>
                        <m:r>
                          <a:rPr lang="en-PH" sz="2400" i="1" kern="100">
                            <a:latin typeface="Cambria Math" panose="02040503050406030204" pitchFamily="18" charset="0"/>
                            <a:ea typeface="Calibri" panose="020F0502020204030204" pitchFamily="34" charset="0"/>
                            <a:cs typeface="Courier New" panose="02070309020205020404" pitchFamily="49" charset="0"/>
                          </a:rPr>
                          <m:t>1</m:t>
                        </m:r>
                      </m:sub>
                    </m:sSub>
                    <m:r>
                      <a:rPr lang="en-PH" sz="2400" i="1" kern="100">
                        <a:effectLst/>
                        <a:latin typeface="Cambria Math" panose="02040503050406030204" pitchFamily="18" charset="0"/>
                        <a:ea typeface="Calibri" panose="020F0502020204030204" pitchFamily="34" charset="0"/>
                        <a:cs typeface="Courier New" panose="02070309020205020404" pitchFamily="49" charset="0"/>
                      </a:rPr>
                      <m:t>+</m:t>
                    </m:r>
                    <m:sSub>
                      <m:sSubPr>
                        <m:ctrlPr>
                          <a:rPr lang="en-PH" sz="2400" i="1" kern="100">
                            <a:effectLst/>
                            <a:latin typeface="Cambria Math" panose="02040503050406030204" pitchFamily="18" charset="0"/>
                            <a:ea typeface="Calibri" panose="020F0502020204030204" pitchFamily="34" charset="0"/>
                            <a:cs typeface="Courier New" panose="02070309020205020404" pitchFamily="49" charset="0"/>
                          </a:rPr>
                        </m:ctrlPr>
                      </m:sSubPr>
                      <m:e>
                        <m:r>
                          <a:rPr lang="en-PH" sz="2400" i="1" kern="100">
                            <a:effectLst/>
                            <a:latin typeface="Cambria Math" panose="02040503050406030204" pitchFamily="18" charset="0"/>
                            <a:ea typeface="Calibri" panose="020F0502020204030204" pitchFamily="34" charset="0"/>
                            <a:cs typeface="Courier New" panose="02070309020205020404" pitchFamily="49" charset="0"/>
                          </a:rPr>
                          <m:t>𝑃</m:t>
                        </m:r>
                      </m:e>
                      <m:sub>
                        <m:r>
                          <a:rPr lang="en-PH" sz="2400" i="1" kern="100">
                            <a:effectLst/>
                            <a:latin typeface="Cambria Math" panose="02040503050406030204" pitchFamily="18" charset="0"/>
                            <a:ea typeface="Calibri" panose="020F0502020204030204" pitchFamily="34" charset="0"/>
                            <a:cs typeface="Courier New" panose="02070309020205020404" pitchFamily="49" charset="0"/>
                          </a:rPr>
                          <m:t>2</m:t>
                        </m:r>
                      </m:sub>
                    </m:sSub>
                  </m:oMath>
                </a14:m>
                <a:endParaRPr lang="en-PH" sz="2400" kern="100" dirty="0">
                  <a:effectLst/>
                  <a:latin typeface="Nunito 1" panose="020B0604020202020204" charset="0"/>
                  <a:ea typeface="Calibri" panose="020F0502020204030204" pitchFamily="34" charset="0"/>
                  <a:cs typeface="Times New Roman" panose="02020603050405020304" pitchFamily="18" charset="0"/>
                </a:endParaRPr>
              </a:p>
              <a:p>
                <a:pPr>
                  <a:spcAft>
                    <a:spcPts val="800"/>
                  </a:spcAft>
                </a:pPr>
                <a:endParaRPr lang="en-PH" sz="2400" kern="100" dirty="0">
                  <a:latin typeface="Nunito 1" panose="020B0604020202020204" charset="0"/>
                  <a:ea typeface="Calibri" panose="020F0502020204030204" pitchFamily="34" charset="0"/>
                  <a:cs typeface="Times New Roman" panose="02020603050405020304" pitchFamily="18" charset="0"/>
                </a:endParaRPr>
              </a:p>
              <a:p>
                <a:pPr>
                  <a:spcAft>
                    <a:spcPts val="800"/>
                  </a:spcAft>
                </a:pPr>
                <a:r>
                  <a:rPr lang="en-PH" sz="2400" kern="100" dirty="0">
                    <a:effectLst/>
                    <a:latin typeface="Nunito 1" panose="020B0604020202020204" charset="0"/>
                    <a:ea typeface="Calibri" panose="020F0502020204030204" pitchFamily="34" charset="0"/>
                    <a:cs typeface="Times New Roman" panose="02020603050405020304" pitchFamily="18" charset="0"/>
                  </a:rPr>
                  <a:t>This can be re-written as: </a:t>
                </a:r>
                <a14:m>
                  <m:oMath xmlns:m="http://schemas.openxmlformats.org/officeDocument/2006/math">
                    <m:r>
                      <a:rPr lang="en-PH" sz="2400" i="1">
                        <a:latin typeface="Cambria Math" panose="02040503050406030204" pitchFamily="18" charset="0"/>
                      </a:rPr>
                      <m:t>∆</m:t>
                    </m:r>
                    <m:r>
                      <a:rPr lang="en-PH" sz="2400" i="1">
                        <a:latin typeface="Cambria Math" panose="02040503050406030204" pitchFamily="18" charset="0"/>
                      </a:rPr>
                      <m:t>h</m:t>
                    </m:r>
                    <m:r>
                      <a:rPr lang="en-PH" sz="2400" i="1">
                        <a:latin typeface="Cambria Math" panose="02040503050406030204" pitchFamily="18" charset="0"/>
                      </a:rPr>
                      <m:t>= </m:t>
                    </m:r>
                    <m:f>
                      <m:fPr>
                        <m:ctrlPr>
                          <a:rPr lang="en-PH" sz="2400" i="1">
                            <a:latin typeface="Cambria Math" panose="02040503050406030204" pitchFamily="18" charset="0"/>
                          </a:rPr>
                        </m:ctrlPr>
                      </m:fPr>
                      <m:num>
                        <m:sSub>
                          <m:sSubPr>
                            <m:ctrlPr>
                              <a:rPr lang="en-PH" sz="2400" i="1">
                                <a:latin typeface="Cambria Math" panose="02040503050406030204" pitchFamily="18" charset="0"/>
                              </a:rPr>
                            </m:ctrlPr>
                          </m:sSubPr>
                          <m:e>
                            <m:r>
                              <a:rPr lang="en-PH" sz="2400" i="1">
                                <a:latin typeface="Cambria Math" panose="02040503050406030204" pitchFamily="18" charset="0"/>
                              </a:rPr>
                              <m:t>𝑃</m:t>
                            </m:r>
                          </m:e>
                          <m:sub>
                            <m:r>
                              <a:rPr lang="en-PH" sz="2400" i="1">
                                <a:latin typeface="Cambria Math" panose="02040503050406030204" pitchFamily="18" charset="0"/>
                              </a:rPr>
                              <m:t>1</m:t>
                            </m:r>
                          </m:sub>
                        </m:sSub>
                        <m:r>
                          <a:rPr lang="en-PH" sz="2400" i="1">
                            <a:latin typeface="Cambria Math" panose="02040503050406030204" pitchFamily="18" charset="0"/>
                          </a:rPr>
                          <m:t>−</m:t>
                        </m:r>
                        <m:sSub>
                          <m:sSubPr>
                            <m:ctrlPr>
                              <a:rPr lang="en-PH" sz="2400" i="1">
                                <a:latin typeface="Cambria Math" panose="02040503050406030204" pitchFamily="18" charset="0"/>
                              </a:rPr>
                            </m:ctrlPr>
                          </m:sSubPr>
                          <m:e>
                            <m:r>
                              <a:rPr lang="en-PH" sz="2400" i="1">
                                <a:latin typeface="Cambria Math" panose="02040503050406030204" pitchFamily="18" charset="0"/>
                              </a:rPr>
                              <m:t>𝑃</m:t>
                            </m:r>
                          </m:e>
                          <m:sub>
                            <m:r>
                              <a:rPr lang="en-PH" sz="2400" i="1">
                                <a:latin typeface="Cambria Math" panose="02040503050406030204" pitchFamily="18" charset="0"/>
                              </a:rPr>
                              <m:t>2</m:t>
                            </m:r>
                          </m:sub>
                        </m:sSub>
                      </m:num>
                      <m:den>
                        <m:r>
                          <a:rPr lang="en-PH" sz="2400" i="1">
                            <a:latin typeface="Cambria Math" panose="02040503050406030204" pitchFamily="18" charset="0"/>
                          </a:rPr>
                          <m:t>𝜌</m:t>
                        </m:r>
                        <m:r>
                          <a:rPr lang="en-PH" sz="2400" i="1">
                            <a:latin typeface="Cambria Math" panose="02040503050406030204" pitchFamily="18" charset="0"/>
                          </a:rPr>
                          <m:t>𝑔</m:t>
                        </m:r>
                      </m:den>
                    </m:f>
                  </m:oMath>
                </a14:m>
                <a:endParaRPr lang="en-PH" sz="2400" dirty="0">
                  <a:latin typeface="Nunito 1" panose="020B0604020202020204" charset="0"/>
                </a:endParaRPr>
              </a:p>
              <a:p>
                <a:pPr>
                  <a:spcAft>
                    <a:spcPts val="800"/>
                  </a:spcAft>
                </a:pPr>
                <a:endParaRPr lang="en-PH" sz="2400" kern="100" dirty="0">
                  <a:effectLst/>
                  <a:latin typeface="Nunito 1" panose="020B0604020202020204" charset="0"/>
                  <a:ea typeface="Calibri" panose="020F0502020204030204" pitchFamily="34" charset="0"/>
                  <a:cs typeface="Times New Roman" panose="02020603050405020304" pitchFamily="18" charset="0"/>
                </a:endParaRPr>
              </a:p>
              <a:p>
                <a:r>
                  <a:rPr lang="en-PH" sz="2400" kern="100" dirty="0">
                    <a:effectLst/>
                    <a:latin typeface="Nunito 1" panose="020B0604020202020204" charset="0"/>
                    <a:ea typeface="Times New Roman" panose="02020603050405020304" pitchFamily="18" charset="0"/>
                    <a:cs typeface="Times New Roman" panose="02020603050405020304" pitchFamily="18" charset="0"/>
                  </a:rPr>
                  <a:t> </a:t>
                </a:r>
                <a14:m>
                  <m:oMath xmlns:m="http://schemas.openxmlformats.org/officeDocument/2006/math">
                    <m:r>
                      <a:rPr lang="en-PH" sz="2400" i="1">
                        <a:latin typeface="Cambria Math" panose="02040503050406030204" pitchFamily="18" charset="0"/>
                      </a:rPr>
                      <m:t>∆</m:t>
                    </m:r>
                    <m:r>
                      <a:rPr lang="en-PH" sz="2400" i="1">
                        <a:latin typeface="Cambria Math" panose="02040503050406030204" pitchFamily="18" charset="0"/>
                      </a:rPr>
                      <m:t>h</m:t>
                    </m:r>
                    <m:r>
                      <a:rPr lang="en-PH" sz="2400" i="1">
                        <a:latin typeface="Cambria Math" panose="02040503050406030204" pitchFamily="18" charset="0"/>
                      </a:rPr>
                      <m:t>= </m:t>
                    </m:r>
                    <m:f>
                      <m:fPr>
                        <m:ctrlPr>
                          <a:rPr lang="en-PH" sz="2400" i="1">
                            <a:latin typeface="Cambria Math" panose="02040503050406030204" pitchFamily="18" charset="0"/>
                          </a:rPr>
                        </m:ctrlPr>
                      </m:fPr>
                      <m:num>
                        <m:r>
                          <a:rPr lang="en-PH" sz="2400" i="1" smtClean="0">
                            <a:latin typeface="Cambria Math" panose="02040503050406030204" pitchFamily="18" charset="0"/>
                          </a:rPr>
                          <m:t>101300</m:t>
                        </m:r>
                        <m:r>
                          <a:rPr lang="en-PH" sz="2400" i="1" smtClean="0">
                            <a:latin typeface="Cambria Math" panose="02040503050406030204" pitchFamily="18" charset="0"/>
                          </a:rPr>
                          <m:t>𝑃𝑎</m:t>
                        </m:r>
                        <m:r>
                          <a:rPr lang="en-PH" sz="2400" i="1">
                            <a:latin typeface="Cambria Math" panose="02040503050406030204" pitchFamily="18" charset="0"/>
                          </a:rPr>
                          <m:t>−253312</m:t>
                        </m:r>
                        <m:r>
                          <a:rPr lang="en-PH" sz="2400" i="1">
                            <a:latin typeface="Cambria Math" panose="02040503050406030204" pitchFamily="18" charset="0"/>
                          </a:rPr>
                          <m:t>𝑃𝑎</m:t>
                        </m:r>
                      </m:num>
                      <m:den>
                        <m:r>
                          <a:rPr lang="en-PH" sz="2400" b="0" i="1" smtClean="0">
                            <a:latin typeface="Cambria Math" panose="02040503050406030204" pitchFamily="18" charset="0"/>
                          </a:rPr>
                          <m:t>(1100</m:t>
                        </m:r>
                        <m:r>
                          <a:rPr lang="en-PH" sz="2400" b="0" i="1" smtClean="0">
                            <a:latin typeface="Cambria Math" panose="02040503050406030204" pitchFamily="18" charset="0"/>
                          </a:rPr>
                          <m:t>𝑘𝑔</m:t>
                        </m:r>
                        <m:r>
                          <a:rPr lang="en-PH" sz="2400" b="0" i="1" smtClean="0">
                            <a:latin typeface="Cambria Math" panose="02040503050406030204" pitchFamily="18" charset="0"/>
                          </a:rPr>
                          <m:t>/</m:t>
                        </m:r>
                        <m:r>
                          <a:rPr lang="en-PH" sz="2400" b="0" i="1" smtClean="0">
                            <a:latin typeface="Cambria Math" panose="02040503050406030204" pitchFamily="18" charset="0"/>
                          </a:rPr>
                          <m:t>𝑚</m:t>
                        </m:r>
                        <m:r>
                          <a:rPr lang="en-PH" sz="2400" b="0" i="1" smtClean="0">
                            <a:latin typeface="Cambria Math" panose="02040503050406030204" pitchFamily="18" charset="0"/>
                          </a:rPr>
                          <m:t>3)(9.81</m:t>
                        </m:r>
                        <m:r>
                          <a:rPr lang="en-PH" sz="2400" b="0" i="1" smtClean="0">
                            <a:latin typeface="Cambria Math" panose="02040503050406030204" pitchFamily="18" charset="0"/>
                          </a:rPr>
                          <m:t>𝑚</m:t>
                        </m:r>
                        <m:r>
                          <a:rPr lang="en-PH" sz="2400" b="0" i="1" smtClean="0">
                            <a:latin typeface="Cambria Math" panose="02040503050406030204" pitchFamily="18" charset="0"/>
                          </a:rPr>
                          <m:t>/</m:t>
                        </m:r>
                        <m:r>
                          <a:rPr lang="en-PH" sz="2400" b="0" i="1" smtClean="0">
                            <a:latin typeface="Cambria Math" panose="02040503050406030204" pitchFamily="18" charset="0"/>
                          </a:rPr>
                          <m:t>𝑠</m:t>
                        </m:r>
                        <m:r>
                          <a:rPr lang="en-PH" sz="2400" b="0" i="1" smtClean="0">
                            <a:latin typeface="Cambria Math" panose="02040503050406030204" pitchFamily="18" charset="0"/>
                          </a:rPr>
                          <m:t>2)</m:t>
                        </m:r>
                      </m:den>
                    </m:f>
                  </m:oMath>
                </a14:m>
                <a:endParaRPr lang="en-PH" sz="2400" dirty="0">
                  <a:latin typeface="Nunito 1" panose="020B0604020202020204" charset="0"/>
                </a:endParaRPr>
              </a:p>
              <a:p>
                <a14:m>
                  <m:oMath xmlns:m="http://schemas.openxmlformats.org/officeDocument/2006/math">
                    <m:r>
                      <a:rPr lang="en-PH" sz="2400" i="1">
                        <a:latin typeface="Cambria Math" panose="02040503050406030204" pitchFamily="18" charset="0"/>
                      </a:rPr>
                      <m:t>∆</m:t>
                    </m:r>
                    <m:r>
                      <a:rPr lang="en-PH" sz="2400" i="1">
                        <a:latin typeface="Cambria Math" panose="02040503050406030204" pitchFamily="18" charset="0"/>
                      </a:rPr>
                      <m:t>h</m:t>
                    </m:r>
                    <m:r>
                      <a:rPr lang="en-PH" sz="2400" i="1">
                        <a:latin typeface="Cambria Math" panose="02040503050406030204" pitchFamily="18" charset="0"/>
                      </a:rPr>
                      <m:t>=</m:t>
                    </m:r>
                  </m:oMath>
                </a14:m>
                <a:r>
                  <a:rPr lang="en-PH" sz="2400" dirty="0">
                    <a:latin typeface="Nunito 1" panose="020B0604020202020204" charset="0"/>
                  </a:rPr>
                  <a:t> -14.09m</a:t>
                </a:r>
              </a:p>
            </p:txBody>
          </p:sp>
        </mc:Choice>
        <mc:Fallback xmlns="">
          <p:sp>
            <p:nvSpPr>
              <p:cNvPr id="22" name="TextBox 21">
                <a:extLst>
                  <a:ext uri="{FF2B5EF4-FFF2-40B4-BE49-F238E27FC236}">
                    <a16:creationId xmlns:a16="http://schemas.microsoft.com/office/drawing/2014/main" id="{1BC7B831-A0DB-75B1-128D-FBFA93D9CC4D}"/>
                  </a:ext>
                </a:extLst>
              </p:cNvPr>
              <p:cNvSpPr txBox="1">
                <a:spLocks noRot="1" noChangeAspect="1" noMove="1" noResize="1" noEditPoints="1" noAdjustHandles="1" noChangeArrowheads="1" noChangeShapeType="1" noTextEdit="1"/>
              </p:cNvSpPr>
              <p:nvPr/>
            </p:nvSpPr>
            <p:spPr>
              <a:xfrm>
                <a:off x="5562723" y="3535551"/>
                <a:ext cx="9829677" cy="4785413"/>
              </a:xfrm>
              <a:prstGeom prst="rect">
                <a:avLst/>
              </a:prstGeom>
              <a:blipFill>
                <a:blip r:embed="rId3"/>
                <a:stretch>
                  <a:fillRect l="-1923" t="-2038" b="-3185"/>
                </a:stretch>
              </a:blipFill>
            </p:spPr>
            <p:txBody>
              <a:bodyPr/>
              <a:lstStyle/>
              <a:p>
                <a:r>
                  <a:rPr lang="en-PH">
                    <a:noFill/>
                  </a:rPr>
                  <a:t> </a:t>
                </a:r>
              </a:p>
            </p:txBody>
          </p:sp>
        </mc:Fallback>
      </mc:AlternateContent>
      <p:grpSp>
        <p:nvGrpSpPr>
          <p:cNvPr id="26" name="Group 25">
            <a:extLst>
              <a:ext uri="{FF2B5EF4-FFF2-40B4-BE49-F238E27FC236}">
                <a16:creationId xmlns:a16="http://schemas.microsoft.com/office/drawing/2014/main" id="{27E8E979-3FCA-67FE-EB2A-EA310C5577D3}"/>
              </a:ext>
            </a:extLst>
          </p:cNvPr>
          <p:cNvGrpSpPr/>
          <p:nvPr/>
        </p:nvGrpSpPr>
        <p:grpSpPr>
          <a:xfrm>
            <a:off x="0" y="9599693"/>
            <a:ext cx="18287999" cy="687306"/>
            <a:chOff x="0" y="9599693"/>
            <a:chExt cx="18287999" cy="687306"/>
          </a:xfrm>
        </p:grpSpPr>
        <p:grpSp>
          <p:nvGrpSpPr>
            <p:cNvPr id="27" name="Group 11">
              <a:extLst>
                <a:ext uri="{FF2B5EF4-FFF2-40B4-BE49-F238E27FC236}">
                  <a16:creationId xmlns:a16="http://schemas.microsoft.com/office/drawing/2014/main" id="{BC925E6B-C09A-1B7C-7697-2BDD4C3CFFBA}"/>
                </a:ext>
              </a:extLst>
            </p:cNvPr>
            <p:cNvGrpSpPr/>
            <p:nvPr/>
          </p:nvGrpSpPr>
          <p:grpSpPr>
            <a:xfrm>
              <a:off x="0" y="9599694"/>
              <a:ext cx="18287999" cy="687305"/>
              <a:chOff x="0" y="0"/>
              <a:chExt cx="5260714" cy="490218"/>
            </a:xfrm>
          </p:grpSpPr>
          <p:sp>
            <p:nvSpPr>
              <p:cNvPr id="30" name="Freeform 12">
                <a:extLst>
                  <a:ext uri="{FF2B5EF4-FFF2-40B4-BE49-F238E27FC236}">
                    <a16:creationId xmlns:a16="http://schemas.microsoft.com/office/drawing/2014/main" id="{466DE3E7-ABE3-868E-55A1-36F5FFCC2632}"/>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31" name="TextBox 13">
                <a:extLst>
                  <a:ext uri="{FF2B5EF4-FFF2-40B4-BE49-F238E27FC236}">
                    <a16:creationId xmlns:a16="http://schemas.microsoft.com/office/drawing/2014/main" id="{62321059-1B39-2CAC-7FEA-7705FD258604}"/>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8" name="TextBox 12">
              <a:extLst>
                <a:ext uri="{FF2B5EF4-FFF2-40B4-BE49-F238E27FC236}">
                  <a16:creationId xmlns:a16="http://schemas.microsoft.com/office/drawing/2014/main" id="{810FF3BE-F404-D530-2276-94C352F584BC}"/>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9" name="TextBox 13">
              <a:extLst>
                <a:ext uri="{FF2B5EF4-FFF2-40B4-BE49-F238E27FC236}">
                  <a16:creationId xmlns:a16="http://schemas.microsoft.com/office/drawing/2014/main" id="{1981BC48-405E-4670-32CD-6BC944E07F5F}"/>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spTree>
    <p:extLst>
      <p:ext uri="{BB962C8B-B14F-4D97-AF65-F5344CB8AC3E}">
        <p14:creationId xmlns:p14="http://schemas.microsoft.com/office/powerpoint/2010/main" val="2821609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3BDD7-D65C-21C3-138E-118F3D81230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592048E-532D-3F44-0D42-EACCEA162077}"/>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43BE8A86-0191-5F47-832F-E1E46C6975C9}"/>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E396BAAD-08AF-43E1-9FCD-FE6C72500E28}"/>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3D8F2558-6ECE-F783-3AA4-A0197FB6C5C9}"/>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4F22BD91-243D-9A0D-BBFB-B0754A430E67}"/>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C57241CA-18C6-24A8-B713-9E28D74DFBDF}"/>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7087D501-CDD3-7803-F35B-E859B61C4892}"/>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0B927067-5DBC-481F-F3CF-67FD0693B5A7}"/>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A138348B-F1B5-7182-C5EE-EF8EF223836F}"/>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6DD4A968-E826-06B4-77F3-8E66A5FC2FC3}"/>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94F7266D-B32A-D7BB-02DC-E2C5C11E0975}"/>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A4272571-4C6F-DFAB-88D4-674CCE70542B}"/>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D398F91B-6A02-69B4-3203-8C99E9195F77}"/>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 13</a:t>
            </a:r>
          </a:p>
        </p:txBody>
      </p:sp>
      <p:sp>
        <p:nvSpPr>
          <p:cNvPr id="15" name="TextBox 15">
            <a:extLst>
              <a:ext uri="{FF2B5EF4-FFF2-40B4-BE49-F238E27FC236}">
                <a16:creationId xmlns:a16="http://schemas.microsoft.com/office/drawing/2014/main" id="{20358024-1305-0388-0473-F3E137796C38}"/>
              </a:ext>
            </a:extLst>
          </p:cNvPr>
          <p:cNvSpPr txBox="1"/>
          <p:nvPr/>
        </p:nvSpPr>
        <p:spPr>
          <a:xfrm>
            <a:off x="2246041" y="2019300"/>
            <a:ext cx="13795916" cy="1107996"/>
          </a:xfrm>
          <a:prstGeom prst="rect">
            <a:avLst/>
          </a:prstGeom>
        </p:spPr>
        <p:txBody>
          <a:bodyPr wrap="square" lIns="0" tIns="0" rIns="0" bIns="0" rtlCol="0" anchor="t">
            <a:spAutoFit/>
          </a:bodyPr>
          <a:lstStyle/>
          <a:p>
            <a:pPr algn="ctr"/>
            <a:r>
              <a:rPr lang="en-US" sz="2400" b="0" i="0" dirty="0">
                <a:solidFill>
                  <a:srgbClr val="000000"/>
                </a:solidFill>
                <a:effectLst/>
                <a:latin typeface="Nunito 1 Bold" panose="020B0604020202020204" charset="0"/>
              </a:rPr>
              <a:t>A horizontal fully flowing, 4-inch pipe is discharging water. The X-coordinate and Y-coordinate of the water trajectory as measured from the end of the pipe are 1.5 m and 0.8 m, respectively. Assuming that the coefficient of discharge is 1.0. What is the discharge of the pipe?</a:t>
            </a:r>
          </a:p>
        </p:txBody>
      </p:sp>
      <p:sp>
        <p:nvSpPr>
          <p:cNvPr id="19" name="TextBox 12">
            <a:extLst>
              <a:ext uri="{FF2B5EF4-FFF2-40B4-BE49-F238E27FC236}">
                <a16:creationId xmlns:a16="http://schemas.microsoft.com/office/drawing/2014/main" id="{BDF4E380-DE82-3EFE-3DC3-B06A3D31A56A}"/>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E676726D-C361-E0FF-3C1D-72DF3E44BE44}"/>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nvGrpSpPr>
          <p:cNvPr id="23" name="Group 5">
            <a:extLst>
              <a:ext uri="{FF2B5EF4-FFF2-40B4-BE49-F238E27FC236}">
                <a16:creationId xmlns:a16="http://schemas.microsoft.com/office/drawing/2014/main" id="{C0BF9E26-47EE-E852-9586-B7CF6E93D3CF}"/>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5F7C1508-5688-AFA0-17BE-EF35AED906EE}"/>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3228CBEA-45C2-4369-3058-85B28CF3C9EE}"/>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5">
            <a:extLst>
              <a:ext uri="{FF2B5EF4-FFF2-40B4-BE49-F238E27FC236}">
                <a16:creationId xmlns:a16="http://schemas.microsoft.com/office/drawing/2014/main" id="{922BE6B6-E7DE-F5DC-C468-C9CBCA743B90}"/>
              </a:ext>
            </a:extLst>
          </p:cNvPr>
          <p:cNvSpPr txBox="1"/>
          <p:nvPr/>
        </p:nvSpPr>
        <p:spPr>
          <a:xfrm>
            <a:off x="1676400" y="4635597"/>
            <a:ext cx="14935200" cy="2585323"/>
          </a:xfrm>
          <a:prstGeom prst="rect">
            <a:avLst/>
          </a:prstGeom>
        </p:spPr>
        <p:txBody>
          <a:bodyPr wrap="square" lIns="0" tIns="0" rIns="0" bIns="0" rtlCol="0" anchor="t">
            <a:spAutoFit/>
          </a:bodyPr>
          <a:lstStyle/>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8.34lps</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30.03lps</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132.23lps</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476.04lps</a:t>
            </a:r>
          </a:p>
        </p:txBody>
      </p:sp>
      <p:sp>
        <p:nvSpPr>
          <p:cNvPr id="21" name="TextBox 15">
            <a:extLst>
              <a:ext uri="{FF2B5EF4-FFF2-40B4-BE49-F238E27FC236}">
                <a16:creationId xmlns:a16="http://schemas.microsoft.com/office/drawing/2014/main" id="{7856D76C-5CE2-C52A-1CC5-AD47058DDEF0}"/>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https://www.fsl.orst.edu/geowater/FX3/help/8_Hydraulic_Reference/Froude_Number_and_Flow_States.htm</a:t>
            </a:r>
          </a:p>
        </p:txBody>
      </p:sp>
      <p:sp>
        <p:nvSpPr>
          <p:cNvPr id="18" name="AutoShape 2">
            <a:extLst>
              <a:ext uri="{FF2B5EF4-FFF2-40B4-BE49-F238E27FC236}">
                <a16:creationId xmlns:a16="http://schemas.microsoft.com/office/drawing/2014/main" id="{FA6008C6-9752-5A50-808B-DA226ADEC6EF}"/>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grpSp>
        <p:nvGrpSpPr>
          <p:cNvPr id="28" name="Group 27">
            <a:extLst>
              <a:ext uri="{FF2B5EF4-FFF2-40B4-BE49-F238E27FC236}">
                <a16:creationId xmlns:a16="http://schemas.microsoft.com/office/drawing/2014/main" id="{87FDF5AF-5489-3CFD-8051-77C237F386A2}"/>
              </a:ext>
            </a:extLst>
          </p:cNvPr>
          <p:cNvGrpSpPr/>
          <p:nvPr/>
        </p:nvGrpSpPr>
        <p:grpSpPr>
          <a:xfrm>
            <a:off x="8215702" y="3914188"/>
            <a:ext cx="4774834" cy="3631307"/>
            <a:chOff x="6318410" y="4363830"/>
            <a:chExt cx="4774834" cy="3631307"/>
          </a:xfrm>
        </p:grpSpPr>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F1C2D5E5-2B29-6594-B16C-60451DBB42E1}"/>
                    </a:ext>
                  </a:extLst>
                </p:cNvPr>
                <p:cNvSpPr txBox="1"/>
                <p:nvPr/>
              </p:nvSpPr>
              <p:spPr>
                <a:xfrm>
                  <a:off x="6646854" y="4363830"/>
                  <a:ext cx="4415442" cy="3410421"/>
                </a:xfrm>
                <a:prstGeom prst="rect">
                  <a:avLst/>
                </a:prstGeom>
              </p:spPr>
              <p:txBody>
                <a:bodyPr wrap="square" lIns="0" tIns="0" rIns="0" bIns="0" rtlCol="0" anchor="t">
                  <a:spAutoFit/>
                </a:bodyPr>
                <a:lstStyle/>
                <a:p>
                  <a:pPr>
                    <a:lnSpc>
                      <a:spcPct val="200000"/>
                    </a:lnSpc>
                    <a:spcAft>
                      <a:spcPts val="800"/>
                    </a:spcAft>
                  </a:pPr>
                  <a:r>
                    <a:rPr lang="en-PH" sz="2400" kern="100" dirty="0">
                      <a:effectLst/>
                      <a:latin typeface="Nunito 1" panose="020B0604020202020204" charset="0"/>
                      <a:ea typeface="Calibri" panose="020F0502020204030204" pitchFamily="34" charset="0"/>
                      <a:cs typeface="Times New Roman" panose="02020603050405020304" pitchFamily="18" charset="0"/>
                    </a:rPr>
                    <a:t>Formula for hydraulic jump: </a:t>
                  </a:r>
                </a:p>
                <a:p>
                  <a:pPr algn="ctr">
                    <a:spcAft>
                      <a:spcPts val="800"/>
                    </a:spcAft>
                  </a:pPr>
                  <a:r>
                    <a:rPr lang="en-PH" sz="2400" b="1" kern="100" dirty="0">
                      <a:effectLst/>
                      <a:latin typeface="Nunito 1" panose="020B0604020202020204" charset="0"/>
                      <a:ea typeface="Calibri" panose="020F0502020204030204" pitchFamily="34" charset="0"/>
                      <a:cs typeface="Times New Roman" panose="02020603050405020304" pitchFamily="18" charset="0"/>
                    </a:rPr>
                    <a:t>Q = 3.6 </a:t>
                  </a:r>
                  <a14:m>
                    <m:oMath xmlns:m="http://schemas.openxmlformats.org/officeDocument/2006/math">
                      <m:f>
                        <m:fPr>
                          <m:ctrlPr>
                            <a:rPr lang="en-PH" sz="2400" b="1" i="1" kern="100" smtClean="0">
                              <a:effectLst/>
                              <a:latin typeface="Cambria Math" panose="02040503050406030204" pitchFamily="18" charset="0"/>
                              <a:ea typeface="Calibri" panose="020F0502020204030204" pitchFamily="34" charset="0"/>
                              <a:cs typeface="Times New Roman" panose="02020603050405020304" pitchFamily="18" charset="0"/>
                            </a:rPr>
                          </m:ctrlPr>
                        </m:fPr>
                        <m:num>
                          <m:r>
                            <m:rPr>
                              <m:nor/>
                            </m:rPr>
                            <a:rPr lang="en-PH" sz="2400" b="1" i="0" kern="100" smtClean="0">
                              <a:effectLst/>
                              <a:latin typeface="Nunito 1" panose="020B0604020202020204" charset="0"/>
                              <a:ea typeface="Calibri" panose="020F0502020204030204" pitchFamily="34" charset="0"/>
                              <a:cs typeface="Times New Roman" panose="02020603050405020304" pitchFamily="18" charset="0"/>
                            </a:rPr>
                            <m:t>AX</m:t>
                          </m:r>
                        </m:num>
                        <m:den>
                          <m:rad>
                            <m:radPr>
                              <m:degHide m:val="on"/>
                              <m:ctrlPr>
                                <a:rPr lang="en-PH" sz="2400" b="1" i="1" kern="100" smtClean="0">
                                  <a:effectLst/>
                                  <a:latin typeface="Cambria Math" panose="02040503050406030204" pitchFamily="18" charset="0"/>
                                  <a:ea typeface="Calibri" panose="020F0502020204030204" pitchFamily="34" charset="0"/>
                                  <a:cs typeface="Times New Roman" panose="02020603050405020304" pitchFamily="18" charset="0"/>
                                </a:rPr>
                              </m:ctrlPr>
                            </m:radPr>
                            <m:deg/>
                            <m:e>
                              <m:r>
                                <m:rPr>
                                  <m:nor/>
                                </m:rPr>
                                <a:rPr lang="en-PH" sz="2400" b="1" i="0" kern="100" smtClean="0">
                                  <a:effectLst/>
                                  <a:latin typeface="Nunito 1" panose="020B0604020202020204" charset="0"/>
                                  <a:ea typeface="Calibri" panose="020F0502020204030204" pitchFamily="34" charset="0"/>
                                  <a:cs typeface="Times New Roman" panose="02020603050405020304" pitchFamily="18" charset="0"/>
                                </a:rPr>
                                <m:t>Y</m:t>
                              </m:r>
                            </m:e>
                          </m:rad>
                        </m:den>
                      </m:f>
                    </m:oMath>
                  </a14:m>
                  <a:endParaRPr lang="en-PH" sz="2400" b="1" dirty="0">
                    <a:latin typeface="Nunito 1" panose="020B0604020202020204" charset="0"/>
                  </a:endParaRPr>
                </a:p>
                <a:p>
                  <a:pPr>
                    <a:spcAft>
                      <a:spcPts val="800"/>
                    </a:spcAft>
                  </a:pPr>
                  <a:endParaRPr lang="en-PH" sz="2400" dirty="0">
                    <a:latin typeface="Nunito 1" panose="020B0604020202020204" charset="0"/>
                  </a:endParaRPr>
                </a:p>
                <a:p>
                  <a:pPr>
                    <a:spcAft>
                      <a:spcPts val="800"/>
                    </a:spcAft>
                  </a:pPr>
                  <a:r>
                    <a:rPr lang="en-PH" sz="2400" dirty="0">
                      <a:latin typeface="Nunito 1" panose="020B0604020202020204" charset="0"/>
                    </a:rPr>
                    <a:t>Where: Q = </a:t>
                  </a:r>
                  <a:r>
                    <a:rPr lang="en-PH" sz="2400" dirty="0" err="1">
                      <a:latin typeface="Nunito 1" panose="020B0604020202020204" charset="0"/>
                    </a:rPr>
                    <a:t>GPM</a:t>
                  </a:r>
                  <a:endParaRPr lang="en-PH" sz="2400" dirty="0">
                    <a:latin typeface="Nunito 1" panose="020B0604020202020204" charset="0"/>
                  </a:endParaRPr>
                </a:p>
                <a:p>
                  <a:pPr>
                    <a:spcAft>
                      <a:spcPts val="800"/>
                    </a:spcAft>
                    <a:tabLst>
                      <a:tab pos="1082675" algn="l"/>
                    </a:tabLst>
                  </a:pPr>
                  <a:r>
                    <a:rPr lang="en-PH" sz="2400" dirty="0">
                      <a:latin typeface="Nunito 1" panose="020B0604020202020204" charset="0"/>
                    </a:rPr>
                    <a:t>	A = in</a:t>
                  </a:r>
                  <a:r>
                    <a:rPr lang="en-PH" sz="2400" baseline="30000" dirty="0">
                      <a:latin typeface="Nunito 1" panose="020B0604020202020204" charset="0"/>
                    </a:rPr>
                    <a:t>2</a:t>
                  </a:r>
                </a:p>
                <a:p>
                  <a:pPr>
                    <a:spcAft>
                      <a:spcPts val="800"/>
                    </a:spcAft>
                    <a:tabLst>
                      <a:tab pos="1082675" algn="l"/>
                    </a:tabLst>
                  </a:pPr>
                  <a:r>
                    <a:rPr lang="en-PH" sz="2400" dirty="0">
                      <a:latin typeface="Nunito 1" panose="020B0604020202020204" charset="0"/>
                    </a:rPr>
                    <a:t>	X and Y = in</a:t>
                  </a:r>
                </a:p>
              </p:txBody>
            </p:sp>
          </mc:Choice>
          <mc:Fallback xmlns="">
            <p:sp>
              <p:nvSpPr>
                <p:cNvPr id="26" name="TextBox 25">
                  <a:extLst>
                    <a:ext uri="{FF2B5EF4-FFF2-40B4-BE49-F238E27FC236}">
                      <a16:creationId xmlns:a16="http://schemas.microsoft.com/office/drawing/2014/main" id="{F1C2D5E5-2B29-6594-B16C-60451DBB42E1}"/>
                    </a:ext>
                  </a:extLst>
                </p:cNvPr>
                <p:cNvSpPr txBox="1">
                  <a:spLocks noRot="1" noChangeAspect="1" noMove="1" noResize="1" noEditPoints="1" noAdjustHandles="1" noChangeArrowheads="1" noChangeShapeType="1" noTextEdit="1"/>
                </p:cNvSpPr>
                <p:nvPr/>
              </p:nvSpPr>
              <p:spPr>
                <a:xfrm>
                  <a:off x="6646854" y="4363830"/>
                  <a:ext cx="4415442" cy="3410421"/>
                </a:xfrm>
                <a:prstGeom prst="rect">
                  <a:avLst/>
                </a:prstGeom>
                <a:blipFill>
                  <a:blip r:embed="rId3"/>
                  <a:stretch>
                    <a:fillRect l="-4282" b="-4643"/>
                  </a:stretch>
                </a:blipFill>
              </p:spPr>
              <p:txBody>
                <a:bodyPr/>
                <a:lstStyle/>
                <a:p>
                  <a:r>
                    <a:rPr lang="en-PH">
                      <a:noFill/>
                    </a:rPr>
                    <a:t> </a:t>
                  </a:r>
                </a:p>
              </p:txBody>
            </p:sp>
          </mc:Fallback>
        </mc:AlternateContent>
        <p:sp>
          <p:nvSpPr>
            <p:cNvPr id="27" name="Rectangle: Rounded Corners 26">
              <a:extLst>
                <a:ext uri="{FF2B5EF4-FFF2-40B4-BE49-F238E27FC236}">
                  <a16:creationId xmlns:a16="http://schemas.microsoft.com/office/drawing/2014/main" id="{C624E5A5-7242-2237-552E-761397BC068F}"/>
                </a:ext>
              </a:extLst>
            </p:cNvPr>
            <p:cNvSpPr/>
            <p:nvPr/>
          </p:nvSpPr>
          <p:spPr>
            <a:xfrm>
              <a:off x="6318410" y="4387712"/>
              <a:ext cx="4774834" cy="3607425"/>
            </a:xfrm>
            <a:prstGeom prst="roundRect">
              <a:avLst>
                <a:gd name="adj" fmla="val 10923"/>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grpSp>
        <p:nvGrpSpPr>
          <p:cNvPr id="17" name="Group 16">
            <a:extLst>
              <a:ext uri="{FF2B5EF4-FFF2-40B4-BE49-F238E27FC236}">
                <a16:creationId xmlns:a16="http://schemas.microsoft.com/office/drawing/2014/main" id="{0D40B064-0066-3AE7-EC5C-DB97DAF91201}"/>
              </a:ext>
            </a:extLst>
          </p:cNvPr>
          <p:cNvGrpSpPr/>
          <p:nvPr/>
        </p:nvGrpSpPr>
        <p:grpSpPr>
          <a:xfrm>
            <a:off x="0" y="9599693"/>
            <a:ext cx="18287999" cy="687306"/>
            <a:chOff x="0" y="9599693"/>
            <a:chExt cx="18287999" cy="687306"/>
          </a:xfrm>
        </p:grpSpPr>
        <p:grpSp>
          <p:nvGrpSpPr>
            <p:cNvPr id="22" name="Group 11">
              <a:extLst>
                <a:ext uri="{FF2B5EF4-FFF2-40B4-BE49-F238E27FC236}">
                  <a16:creationId xmlns:a16="http://schemas.microsoft.com/office/drawing/2014/main" id="{8E0339C0-AE0C-809F-3A97-B9B69EDE57AA}"/>
                </a:ext>
              </a:extLst>
            </p:cNvPr>
            <p:cNvGrpSpPr/>
            <p:nvPr/>
          </p:nvGrpSpPr>
          <p:grpSpPr>
            <a:xfrm>
              <a:off x="0" y="9599694"/>
              <a:ext cx="18287999" cy="687305"/>
              <a:chOff x="0" y="0"/>
              <a:chExt cx="5260714" cy="490218"/>
            </a:xfrm>
          </p:grpSpPr>
          <p:sp>
            <p:nvSpPr>
              <p:cNvPr id="31" name="Freeform 12">
                <a:extLst>
                  <a:ext uri="{FF2B5EF4-FFF2-40B4-BE49-F238E27FC236}">
                    <a16:creationId xmlns:a16="http://schemas.microsoft.com/office/drawing/2014/main" id="{6032CE91-60EB-0B57-F605-6B8A1F0C27F1}"/>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32" name="TextBox 13">
                <a:extLst>
                  <a:ext uri="{FF2B5EF4-FFF2-40B4-BE49-F238E27FC236}">
                    <a16:creationId xmlns:a16="http://schemas.microsoft.com/office/drawing/2014/main" id="{147E089F-7A48-4EFC-F71F-49657E994D3A}"/>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9" name="TextBox 12">
              <a:extLst>
                <a:ext uri="{FF2B5EF4-FFF2-40B4-BE49-F238E27FC236}">
                  <a16:creationId xmlns:a16="http://schemas.microsoft.com/office/drawing/2014/main" id="{0DC441ED-2B74-AD78-88BE-748D801E4AD0}"/>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30" name="TextBox 13">
              <a:extLst>
                <a:ext uri="{FF2B5EF4-FFF2-40B4-BE49-F238E27FC236}">
                  <a16:creationId xmlns:a16="http://schemas.microsoft.com/office/drawing/2014/main" id="{80EA2830-237E-7FB9-BA88-7408E5101277}"/>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spTree>
    <p:extLst>
      <p:ext uri="{BB962C8B-B14F-4D97-AF65-F5344CB8AC3E}">
        <p14:creationId xmlns:p14="http://schemas.microsoft.com/office/powerpoint/2010/main" val="6923872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C21DD-7E8C-FF66-1A64-02B37AF176CB}"/>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FAEB64F2-C773-68A3-F082-90A50AE46B0F}"/>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7D772312-13EF-5F5B-B44A-9FE4D2061674}"/>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72E562B4-92C5-7202-C3EE-AE4F36498FE7}"/>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55710676-6DB9-A8EA-D47F-C1023931A971}"/>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6379165F-1479-B000-1A4A-585A624F5CF2}"/>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A8862542-48EB-374A-E02B-EBA66BD8470A}"/>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3F9D32BF-276C-8E50-4009-584AAB473F60}"/>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C74CC17A-07B4-749B-9237-2AB87B4DF5BA}"/>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BBF5545B-24EF-ADD9-3E68-1CE3AFB37BE1}"/>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CE8A1012-08BA-7629-10DD-DDEFAD19DF1E}"/>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 13</a:t>
            </a:r>
          </a:p>
        </p:txBody>
      </p:sp>
      <p:sp>
        <p:nvSpPr>
          <p:cNvPr id="15" name="TextBox 15">
            <a:extLst>
              <a:ext uri="{FF2B5EF4-FFF2-40B4-BE49-F238E27FC236}">
                <a16:creationId xmlns:a16="http://schemas.microsoft.com/office/drawing/2014/main" id="{2F303877-D78C-0020-F3EF-8DDB2C3F4CF3}"/>
              </a:ext>
            </a:extLst>
          </p:cNvPr>
          <p:cNvSpPr txBox="1"/>
          <p:nvPr/>
        </p:nvSpPr>
        <p:spPr>
          <a:xfrm>
            <a:off x="2246041" y="2025065"/>
            <a:ext cx="13795916" cy="1107996"/>
          </a:xfrm>
          <a:prstGeom prst="rect">
            <a:avLst/>
          </a:prstGeom>
        </p:spPr>
        <p:txBody>
          <a:bodyPr wrap="square" lIns="0" tIns="0" rIns="0" bIns="0" rtlCol="0" anchor="t">
            <a:spAutoFit/>
          </a:bodyPr>
          <a:lstStyle/>
          <a:p>
            <a:pPr algn="ctr"/>
            <a:r>
              <a:rPr lang="en-US" sz="2400" b="0" i="0" dirty="0">
                <a:solidFill>
                  <a:srgbClr val="000000"/>
                </a:solidFill>
                <a:effectLst/>
                <a:latin typeface="Nunito 1 Bold" panose="020B0604020202020204" charset="0"/>
              </a:rPr>
              <a:t>A horizontal fully flowing, 4-inch pipe is discharging water. The X-coordinate and Y-coordinate of the water trajectory as measured from the end of the pipe are 1.5 m and 0.8 m, respectively. Assuming that the coefficient of discharge is 1.0. What is the discharge of the pipe?</a:t>
            </a:r>
          </a:p>
        </p:txBody>
      </p:sp>
      <p:sp>
        <p:nvSpPr>
          <p:cNvPr id="19" name="TextBox 12">
            <a:extLst>
              <a:ext uri="{FF2B5EF4-FFF2-40B4-BE49-F238E27FC236}">
                <a16:creationId xmlns:a16="http://schemas.microsoft.com/office/drawing/2014/main" id="{6903D1DF-093F-9E5E-ADEC-8CFD8FBE3F0F}"/>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09B07C4D-9C9A-6127-2CF1-9E7AF516D293}"/>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nvGrpSpPr>
          <p:cNvPr id="23" name="Group 5">
            <a:extLst>
              <a:ext uri="{FF2B5EF4-FFF2-40B4-BE49-F238E27FC236}">
                <a16:creationId xmlns:a16="http://schemas.microsoft.com/office/drawing/2014/main" id="{17B9EA3F-14F2-079F-65B6-CAA60F63340F}"/>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0704AB4C-686B-5F09-D2F8-52A4BC5F2ED9}"/>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2DFA9693-D664-9192-2B7C-2D53FC12EE4A}"/>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5">
            <a:extLst>
              <a:ext uri="{FF2B5EF4-FFF2-40B4-BE49-F238E27FC236}">
                <a16:creationId xmlns:a16="http://schemas.microsoft.com/office/drawing/2014/main" id="{412DA49E-A6DE-1E42-DEC2-6B61ED9E853D}"/>
              </a:ext>
            </a:extLst>
          </p:cNvPr>
          <p:cNvSpPr txBox="1"/>
          <p:nvPr/>
        </p:nvSpPr>
        <p:spPr>
          <a:xfrm>
            <a:off x="1676400" y="4635597"/>
            <a:ext cx="14935200" cy="2585323"/>
          </a:xfrm>
          <a:prstGeom prst="rect">
            <a:avLst/>
          </a:prstGeom>
        </p:spPr>
        <p:txBody>
          <a:bodyPr wrap="square" lIns="0" tIns="0" rIns="0" bIns="0" rtlCol="0" anchor="t">
            <a:spAutoFit/>
          </a:bodyPr>
          <a:lstStyle/>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8.34lps</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30.03lps</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132.23lps</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476.04lps</a:t>
            </a:r>
          </a:p>
        </p:txBody>
      </p:sp>
      <p:sp>
        <p:nvSpPr>
          <p:cNvPr id="17" name="Oval 16">
            <a:extLst>
              <a:ext uri="{FF2B5EF4-FFF2-40B4-BE49-F238E27FC236}">
                <a16:creationId xmlns:a16="http://schemas.microsoft.com/office/drawing/2014/main" id="{49381576-19CE-ED15-BA1F-1922CC2AD4D7}"/>
              </a:ext>
            </a:extLst>
          </p:cNvPr>
          <p:cNvSpPr/>
          <p:nvPr/>
        </p:nvSpPr>
        <p:spPr>
          <a:xfrm>
            <a:off x="1520025" y="5290457"/>
            <a:ext cx="475936" cy="47593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1" name="TextBox 15">
            <a:extLst>
              <a:ext uri="{FF2B5EF4-FFF2-40B4-BE49-F238E27FC236}">
                <a16:creationId xmlns:a16="http://schemas.microsoft.com/office/drawing/2014/main" id="{CCAC3243-F194-41C4-368C-F42E29030D9E}"/>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https://www.fsl.orst.edu/geowater/FX3/help/8_Hydraulic_Reference/Froude_Number_and_Flow_States.htm</a:t>
            </a:r>
          </a:p>
        </p:txBody>
      </p:sp>
      <p:sp>
        <p:nvSpPr>
          <p:cNvPr id="18" name="AutoShape 2">
            <a:extLst>
              <a:ext uri="{FF2B5EF4-FFF2-40B4-BE49-F238E27FC236}">
                <a16:creationId xmlns:a16="http://schemas.microsoft.com/office/drawing/2014/main" id="{05F6ACDC-62F2-8030-3269-917A559E750C}"/>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5BC8111E-CFEB-E5CD-5131-D0A722AC7840}"/>
                  </a:ext>
                </a:extLst>
              </p:cNvPr>
              <p:cNvSpPr txBox="1"/>
              <p:nvPr/>
            </p:nvSpPr>
            <p:spPr>
              <a:xfrm>
                <a:off x="4188196" y="3652368"/>
                <a:ext cx="5517367" cy="5851538"/>
              </a:xfrm>
              <a:prstGeom prst="rect">
                <a:avLst/>
              </a:prstGeom>
            </p:spPr>
            <p:txBody>
              <a:bodyPr wrap="square" lIns="0" tIns="0" rIns="0" bIns="0" rtlCol="0" anchor="t">
                <a:spAutoFit/>
              </a:bodyPr>
              <a:lstStyle/>
              <a:p>
                <a:pPr>
                  <a:spcAft>
                    <a:spcPts val="800"/>
                  </a:spcAft>
                </a:pPr>
                <a:r>
                  <a:rPr lang="en-PH" sz="2000" kern="100" dirty="0">
                    <a:effectLst/>
                    <a:latin typeface="Nunito 1" panose="020B0604020202020204" charset="0"/>
                    <a:ea typeface="Calibri" panose="020F0502020204030204" pitchFamily="34" charset="0"/>
                    <a:cs typeface="Times New Roman" panose="02020603050405020304" pitchFamily="18" charset="0"/>
                  </a:rPr>
                  <a:t>Solution (</a:t>
                </a:r>
                <a:r>
                  <a:rPr lang="en-PH" sz="2000" kern="100" dirty="0" err="1">
                    <a:effectLst/>
                    <a:latin typeface="Nunito 1" panose="020B0604020202020204" charset="0"/>
                    <a:ea typeface="Calibri" panose="020F0502020204030204" pitchFamily="34" charset="0"/>
                    <a:cs typeface="Times New Roman" panose="02020603050405020304" pitchFamily="18" charset="0"/>
                  </a:rPr>
                  <a:t>Belonio</a:t>
                </a:r>
                <a:r>
                  <a:rPr lang="en-PH" sz="2000" kern="100" dirty="0">
                    <a:effectLst/>
                    <a:latin typeface="Nunito 1" panose="020B0604020202020204" charset="0"/>
                    <a:ea typeface="Calibri" panose="020F0502020204030204" pitchFamily="34" charset="0"/>
                    <a:cs typeface="Times New Roman" panose="02020603050405020304" pitchFamily="18" charset="0"/>
                  </a:rPr>
                  <a:t> formula):</a:t>
                </a:r>
              </a:p>
              <a:p>
                <a:pPr>
                  <a:spcAft>
                    <a:spcPts val="800"/>
                  </a:spcAft>
                </a:pPr>
                <a:endParaRPr lang="en-PH" sz="2000" kern="100" dirty="0">
                  <a:latin typeface="Nunito 1" panose="020B0604020202020204" charset="0"/>
                  <a:ea typeface="Calibri" panose="020F0502020204030204" pitchFamily="34" charset="0"/>
                  <a:cs typeface="Times New Roman" panose="02020603050405020304" pitchFamily="18" charset="0"/>
                </a:endParaRPr>
              </a:p>
              <a:p>
                <a:pPr>
                  <a:spcAft>
                    <a:spcPts val="800"/>
                  </a:spcAft>
                </a:pPr>
                <a:r>
                  <a:rPr lang="en-PH" sz="2000" kern="100" dirty="0">
                    <a:latin typeface="Nunito 1" panose="020B0604020202020204" charset="0"/>
                    <a:ea typeface="Calibri" panose="020F0502020204030204" pitchFamily="34" charset="0"/>
                    <a:cs typeface="Times New Roman" panose="02020603050405020304" pitchFamily="18" charset="0"/>
                  </a:rPr>
                  <a:t>Q = 3.6 </a:t>
                </a:r>
                <a14:m>
                  <m:oMath xmlns:m="http://schemas.openxmlformats.org/officeDocument/2006/math">
                    <m:f>
                      <m:fPr>
                        <m:ctrlPr>
                          <a:rPr lang="en-PH" sz="2000" i="1" kern="100">
                            <a:latin typeface="Cambria Math" panose="02040503050406030204" pitchFamily="18" charset="0"/>
                            <a:ea typeface="Calibri" panose="020F0502020204030204" pitchFamily="34" charset="0"/>
                            <a:cs typeface="Times New Roman" panose="02020603050405020304" pitchFamily="18" charset="0"/>
                          </a:rPr>
                        </m:ctrlPr>
                      </m:fPr>
                      <m:num>
                        <m:r>
                          <m:rPr>
                            <m:nor/>
                          </m:rPr>
                          <a:rPr lang="en-PH" sz="2000" kern="100">
                            <a:latin typeface="Nunito 1" panose="020B0604020202020204" charset="0"/>
                            <a:ea typeface="Calibri" panose="020F0502020204030204" pitchFamily="34" charset="0"/>
                            <a:cs typeface="Times New Roman" panose="02020603050405020304" pitchFamily="18" charset="0"/>
                          </a:rPr>
                          <m:t>AX</m:t>
                        </m:r>
                      </m:num>
                      <m:den>
                        <m:rad>
                          <m:radPr>
                            <m:degHide m:val="on"/>
                            <m:ctrlPr>
                              <a:rPr lang="en-PH" sz="2000" i="1" kern="100">
                                <a:latin typeface="Cambria Math" panose="02040503050406030204" pitchFamily="18" charset="0"/>
                                <a:ea typeface="Calibri" panose="020F0502020204030204" pitchFamily="34" charset="0"/>
                                <a:cs typeface="Times New Roman" panose="02020603050405020304" pitchFamily="18" charset="0"/>
                              </a:rPr>
                            </m:ctrlPr>
                          </m:radPr>
                          <m:deg/>
                          <m:e>
                            <m:r>
                              <m:rPr>
                                <m:nor/>
                              </m:rPr>
                              <a:rPr lang="en-PH" sz="2000" kern="100">
                                <a:latin typeface="Nunito 1" panose="020B0604020202020204" charset="0"/>
                                <a:ea typeface="Calibri" panose="020F0502020204030204" pitchFamily="34" charset="0"/>
                                <a:cs typeface="Times New Roman" panose="02020603050405020304" pitchFamily="18" charset="0"/>
                              </a:rPr>
                              <m:t>Y</m:t>
                            </m:r>
                          </m:e>
                        </m:rad>
                      </m:den>
                    </m:f>
                  </m:oMath>
                </a14:m>
                <a:r>
                  <a:rPr lang="en-PH" sz="2000" kern="100" dirty="0">
                    <a:effectLst/>
                    <a:latin typeface="Nunito 1" panose="020B0604020202020204" charset="0"/>
                    <a:ea typeface="Calibri" panose="020F0502020204030204" pitchFamily="34" charset="0"/>
                    <a:cs typeface="Times New Roman" panose="02020603050405020304" pitchFamily="18" charset="0"/>
                  </a:rPr>
                  <a:t>  where Q = </a:t>
                </a:r>
                <a:r>
                  <a:rPr lang="en-PH" sz="2000" kern="100" dirty="0" err="1">
                    <a:effectLst/>
                    <a:latin typeface="Nunito 1" panose="020B0604020202020204" charset="0"/>
                    <a:ea typeface="Calibri" panose="020F0502020204030204" pitchFamily="34" charset="0"/>
                    <a:cs typeface="Times New Roman" panose="02020603050405020304" pitchFamily="18" charset="0"/>
                  </a:rPr>
                  <a:t>gpm</a:t>
                </a:r>
                <a:r>
                  <a:rPr lang="en-PH" sz="2000" kern="100" dirty="0">
                    <a:effectLst/>
                    <a:latin typeface="Nunito 1" panose="020B0604020202020204" charset="0"/>
                    <a:ea typeface="Calibri" panose="020F0502020204030204" pitchFamily="34" charset="0"/>
                    <a:cs typeface="Times New Roman" panose="02020603050405020304" pitchFamily="18" charset="0"/>
                  </a:rPr>
                  <a:t>, rest is inches</a:t>
                </a:r>
                <a:endParaRPr lang="en-PH" sz="2000" kern="100" dirty="0">
                  <a:latin typeface="Nunito 1" panose="020B0604020202020204" charset="0"/>
                  <a:ea typeface="Calibri" panose="020F0502020204030204" pitchFamily="34" charset="0"/>
                  <a:cs typeface="Times New Roman" panose="02020603050405020304" pitchFamily="18" charset="0"/>
                </a:endParaRPr>
              </a:p>
              <a:p>
                <a:pPr>
                  <a:spcAft>
                    <a:spcPts val="800"/>
                  </a:spcAft>
                </a:pPr>
                <a:endParaRPr lang="en-PH" sz="2000" kern="100" dirty="0">
                  <a:latin typeface="Nunito 1" panose="020B0604020202020204" charset="0"/>
                  <a:ea typeface="Calibri" panose="020F0502020204030204" pitchFamily="34" charset="0"/>
                  <a:cs typeface="Times New Roman" panose="02020603050405020304" pitchFamily="18" charset="0"/>
                </a:endParaRPr>
              </a:p>
              <a:p>
                <a:pPr>
                  <a:spcAft>
                    <a:spcPts val="800"/>
                  </a:spcAft>
                </a:pPr>
                <a:r>
                  <a:rPr lang="en-PH" sz="2000" kern="100" dirty="0">
                    <a:latin typeface="Nunito 1" panose="020B0604020202020204" charset="0"/>
                    <a:ea typeface="Calibri" panose="020F0502020204030204" pitchFamily="34" charset="0"/>
                    <a:cs typeface="Times New Roman" panose="02020603050405020304" pitchFamily="18" charset="0"/>
                  </a:rPr>
                  <a:t>Q = 3.6 x </a:t>
                </a:r>
                <a14:m>
                  <m:oMath xmlns:m="http://schemas.openxmlformats.org/officeDocument/2006/math">
                    <m:f>
                      <m:fPr>
                        <m:ctrlPr>
                          <a:rPr lang="en-PH" sz="2000" i="1" kern="100">
                            <a:latin typeface="Cambria Math" panose="02040503050406030204" pitchFamily="18" charset="0"/>
                            <a:ea typeface="Calibri" panose="020F0502020204030204" pitchFamily="34" charset="0"/>
                            <a:cs typeface="Times New Roman" panose="02020603050405020304" pitchFamily="18" charset="0"/>
                          </a:rPr>
                        </m:ctrlPr>
                      </m:fPr>
                      <m:num>
                        <m:r>
                          <m:rPr>
                            <m:nor/>
                          </m:rPr>
                          <a:rPr lang="en-PH" sz="2000" kern="100" smtClean="0">
                            <a:latin typeface="Cambria Math" panose="02040503050406030204" pitchFamily="18" charset="0"/>
                            <a:ea typeface="Calibri" panose="020F0502020204030204" pitchFamily="34" charset="0"/>
                            <a:cs typeface="Times New Roman" panose="02020603050405020304" pitchFamily="18" charset="0"/>
                          </a:rPr>
                          <m:t>π</m:t>
                        </m:r>
                        <m:d>
                          <m:dPr>
                            <m:ctrlPr>
                              <a:rPr lang="en-PH" sz="2000" i="1" kern="100" smtClean="0">
                                <a:latin typeface="Cambria Math" panose="02040503050406030204" pitchFamily="18" charset="0"/>
                                <a:ea typeface="Calibri" panose="020F0502020204030204" pitchFamily="34" charset="0"/>
                                <a:cs typeface="Times New Roman" panose="02020603050405020304" pitchFamily="18" charset="0"/>
                              </a:rPr>
                            </m:ctrlPr>
                          </m:dPr>
                          <m:e>
                            <m:f>
                              <m:fPr>
                                <m:ctrlPr>
                                  <a:rPr lang="en-PH" sz="2000" i="1" kern="100" smtClean="0">
                                    <a:latin typeface="Cambria Math" panose="02040503050406030204" pitchFamily="18" charset="0"/>
                                    <a:ea typeface="Calibri" panose="020F0502020204030204" pitchFamily="34" charset="0"/>
                                    <a:cs typeface="Times New Roman" panose="02020603050405020304" pitchFamily="18" charset="0"/>
                                  </a:rPr>
                                </m:ctrlPr>
                              </m:fPr>
                              <m:num>
                                <m:sSup>
                                  <m:sSupPr>
                                    <m:ctrlPr>
                                      <a:rPr lang="en-PH" sz="2000" i="1" kern="100" smtClean="0">
                                        <a:latin typeface="Cambria Math" panose="02040503050406030204" pitchFamily="18" charset="0"/>
                                        <a:ea typeface="Calibri" panose="020F0502020204030204" pitchFamily="34" charset="0"/>
                                        <a:cs typeface="Times New Roman" panose="02020603050405020304" pitchFamily="18" charset="0"/>
                                      </a:rPr>
                                    </m:ctrlPr>
                                  </m:sSupPr>
                                  <m:e>
                                    <m:r>
                                      <a:rPr lang="en-PH" sz="2000" b="0" i="1" kern="100" smtClean="0">
                                        <a:latin typeface="Cambria Math" panose="02040503050406030204" pitchFamily="18" charset="0"/>
                                        <a:ea typeface="Calibri" panose="020F0502020204030204" pitchFamily="34" charset="0"/>
                                        <a:cs typeface="Times New Roman" panose="02020603050405020304" pitchFamily="18" charset="0"/>
                                      </a:rPr>
                                      <m:t>4</m:t>
                                    </m:r>
                                  </m:e>
                                  <m:sup>
                                    <m:r>
                                      <a:rPr lang="en-PH" sz="2000" b="0" i="1" kern="100" smtClean="0">
                                        <a:latin typeface="Cambria Math" panose="02040503050406030204" pitchFamily="18" charset="0"/>
                                        <a:ea typeface="Calibri" panose="020F0502020204030204" pitchFamily="34" charset="0"/>
                                        <a:cs typeface="Times New Roman" panose="02020603050405020304" pitchFamily="18" charset="0"/>
                                      </a:rPr>
                                      <m:t>2</m:t>
                                    </m:r>
                                  </m:sup>
                                </m:sSup>
                              </m:num>
                              <m:den>
                                <m:r>
                                  <a:rPr lang="en-PH" sz="2000" b="0" i="1" kern="100" smtClean="0">
                                    <a:latin typeface="Cambria Math" panose="02040503050406030204" pitchFamily="18" charset="0"/>
                                    <a:ea typeface="Calibri" panose="020F0502020204030204" pitchFamily="34" charset="0"/>
                                    <a:cs typeface="Times New Roman" panose="02020603050405020304" pitchFamily="18" charset="0"/>
                                  </a:rPr>
                                  <m:t>4</m:t>
                                </m:r>
                              </m:den>
                            </m:f>
                          </m:e>
                        </m:d>
                        <m:r>
                          <m:rPr>
                            <m:nor/>
                          </m:rPr>
                          <a:rPr lang="en-PH" sz="2000" b="0" i="0" kern="100" smtClean="0">
                            <a:latin typeface="Cambria Math" panose="02040503050406030204" pitchFamily="18" charset="0"/>
                            <a:ea typeface="Calibri" panose="020F0502020204030204" pitchFamily="34" charset="0"/>
                            <a:cs typeface="Times New Roman" panose="02020603050405020304" pitchFamily="18" charset="0"/>
                          </a:rPr>
                          <m:t>(</m:t>
                        </m:r>
                        <m:r>
                          <m:rPr>
                            <m:nor/>
                          </m:rPr>
                          <a:rPr lang="en-PH" sz="2000" b="0" i="0" kern="100" smtClean="0">
                            <a:latin typeface="Cambria Math" panose="02040503050406030204" pitchFamily="18" charset="0"/>
                            <a:ea typeface="Calibri" panose="020F0502020204030204" pitchFamily="34" charset="0"/>
                            <a:cs typeface="Times New Roman" panose="02020603050405020304" pitchFamily="18" charset="0"/>
                          </a:rPr>
                          <m:t>1.5</m:t>
                        </m:r>
                        <m:r>
                          <m:rPr>
                            <m:nor/>
                          </m:rPr>
                          <a:rPr lang="en-PH" sz="2000" b="0" i="0" kern="100" smtClean="0">
                            <a:latin typeface="Cambria Math" panose="02040503050406030204" pitchFamily="18" charset="0"/>
                            <a:ea typeface="Calibri" panose="020F0502020204030204" pitchFamily="34" charset="0"/>
                            <a:cs typeface="Times New Roman" panose="02020603050405020304" pitchFamily="18" charset="0"/>
                          </a:rPr>
                          <m:t>m</m:t>
                        </m:r>
                        <m:r>
                          <m:rPr>
                            <m:nor/>
                          </m:rPr>
                          <a:rPr lang="en-PH" sz="2000" b="0" i="0" kern="100" smtClean="0">
                            <a:latin typeface="Cambria Math" panose="02040503050406030204" pitchFamily="18" charset="0"/>
                            <a:ea typeface="Calibri" panose="020F0502020204030204" pitchFamily="34" charset="0"/>
                            <a:cs typeface="Times New Roman" panose="02020603050405020304" pitchFamily="18" charset="0"/>
                          </a:rPr>
                          <m:t> </m:t>
                        </m:r>
                        <m:r>
                          <m:rPr>
                            <m:nor/>
                          </m:rPr>
                          <a:rPr lang="en-PH" sz="2000" b="0" i="0" kern="100" smtClean="0">
                            <a:latin typeface="Cambria Math" panose="02040503050406030204" pitchFamily="18" charset="0"/>
                            <a:ea typeface="Calibri" panose="020F0502020204030204" pitchFamily="34" charset="0"/>
                            <a:cs typeface="Times New Roman" panose="02020603050405020304" pitchFamily="18" charset="0"/>
                          </a:rPr>
                          <m:t>x</m:t>
                        </m:r>
                        <m:r>
                          <m:rPr>
                            <m:nor/>
                          </m:rPr>
                          <a:rPr lang="en-PH" sz="2000" b="0" i="0" kern="100" smtClean="0">
                            <a:latin typeface="Cambria Math" panose="02040503050406030204" pitchFamily="18" charset="0"/>
                            <a:ea typeface="Calibri" panose="020F0502020204030204" pitchFamily="34" charset="0"/>
                            <a:cs typeface="Times New Roman" panose="02020603050405020304" pitchFamily="18" charset="0"/>
                          </a:rPr>
                          <m:t> </m:t>
                        </m:r>
                        <m:f>
                          <m:fPr>
                            <m:ctrlPr>
                              <a:rPr lang="en-PH" sz="2000" b="0" i="1" kern="100" smtClean="0">
                                <a:latin typeface="Cambria Math" panose="02040503050406030204" pitchFamily="18" charset="0"/>
                                <a:ea typeface="Calibri" panose="020F0502020204030204" pitchFamily="34" charset="0"/>
                                <a:cs typeface="Times New Roman" panose="02020603050405020304" pitchFamily="18" charset="0"/>
                              </a:rPr>
                            </m:ctrlPr>
                          </m:fPr>
                          <m:num>
                            <m:r>
                              <a:rPr lang="en-PH" sz="2000" b="0" i="1" kern="100" smtClean="0">
                                <a:latin typeface="Cambria Math" panose="02040503050406030204" pitchFamily="18" charset="0"/>
                                <a:ea typeface="Calibri" panose="020F0502020204030204" pitchFamily="34" charset="0"/>
                                <a:cs typeface="Times New Roman" panose="02020603050405020304" pitchFamily="18" charset="0"/>
                              </a:rPr>
                              <m:t>1</m:t>
                            </m:r>
                            <m:r>
                              <a:rPr lang="en-PH" sz="2000" b="0" i="1" kern="100" smtClean="0">
                                <a:latin typeface="Cambria Math" panose="02040503050406030204" pitchFamily="18" charset="0"/>
                                <a:ea typeface="Calibri" panose="020F0502020204030204" pitchFamily="34" charset="0"/>
                                <a:cs typeface="Times New Roman" panose="02020603050405020304" pitchFamily="18" charset="0"/>
                              </a:rPr>
                              <m:t>𝑖𝑛</m:t>
                            </m:r>
                          </m:num>
                          <m:den>
                            <m:r>
                              <a:rPr lang="en-PH" sz="2000" b="0" i="1" kern="100" smtClean="0">
                                <a:latin typeface="Cambria Math" panose="02040503050406030204" pitchFamily="18" charset="0"/>
                                <a:ea typeface="Calibri" panose="020F0502020204030204" pitchFamily="34" charset="0"/>
                                <a:cs typeface="Times New Roman" panose="02020603050405020304" pitchFamily="18" charset="0"/>
                              </a:rPr>
                              <m:t>0</m:t>
                            </m:r>
                            <m:r>
                              <a:rPr lang="en-PH" sz="2000" b="0" i="1" kern="100" smtClean="0">
                                <a:latin typeface="Cambria Math" panose="02040503050406030204" pitchFamily="18" charset="0"/>
                                <a:ea typeface="Calibri" panose="020F0502020204030204" pitchFamily="34" charset="0"/>
                                <a:cs typeface="Times New Roman" panose="02020603050405020304" pitchFamily="18" charset="0"/>
                              </a:rPr>
                              <m:t>.</m:t>
                            </m:r>
                            <m:r>
                              <a:rPr lang="en-PH" sz="2000" b="0" i="1" kern="100" smtClean="0">
                                <a:latin typeface="Cambria Math" panose="02040503050406030204" pitchFamily="18" charset="0"/>
                                <a:ea typeface="Calibri" panose="020F0502020204030204" pitchFamily="34" charset="0"/>
                                <a:cs typeface="Times New Roman" panose="02020603050405020304" pitchFamily="18" charset="0"/>
                              </a:rPr>
                              <m:t>0254</m:t>
                            </m:r>
                            <m:r>
                              <a:rPr lang="en-PH" sz="2000" b="0" i="1" kern="100" smtClean="0">
                                <a:latin typeface="Cambria Math" panose="02040503050406030204" pitchFamily="18" charset="0"/>
                                <a:ea typeface="Calibri" panose="020F0502020204030204" pitchFamily="34" charset="0"/>
                                <a:cs typeface="Times New Roman" panose="02020603050405020304" pitchFamily="18" charset="0"/>
                              </a:rPr>
                              <m:t>𝑚</m:t>
                            </m:r>
                          </m:den>
                        </m:f>
                        <m:r>
                          <m:rPr>
                            <m:nor/>
                          </m:rPr>
                          <a:rPr lang="en-PH" sz="2000" b="0" i="0" kern="100" smtClean="0">
                            <a:latin typeface="Cambria Math" panose="02040503050406030204" pitchFamily="18" charset="0"/>
                            <a:ea typeface="Calibri" panose="020F0502020204030204" pitchFamily="34" charset="0"/>
                            <a:cs typeface="Times New Roman" panose="02020603050405020304" pitchFamily="18" charset="0"/>
                          </a:rPr>
                          <m:t>)</m:t>
                        </m:r>
                      </m:num>
                      <m:den>
                        <m:rad>
                          <m:radPr>
                            <m:degHide m:val="on"/>
                            <m:ctrlPr>
                              <a:rPr lang="en-PH" sz="2000" i="1" kern="100">
                                <a:latin typeface="Cambria Math" panose="02040503050406030204" pitchFamily="18" charset="0"/>
                                <a:ea typeface="Calibri" panose="020F0502020204030204" pitchFamily="34" charset="0"/>
                                <a:cs typeface="Times New Roman" panose="02020603050405020304" pitchFamily="18" charset="0"/>
                              </a:rPr>
                            </m:ctrlPr>
                          </m:radPr>
                          <m:deg/>
                          <m:e>
                            <m:r>
                              <m:rPr>
                                <m:nor/>
                              </m:rPr>
                              <a:rPr lang="en-PH" sz="2000" kern="100">
                                <a:latin typeface="Cambria Math" panose="02040503050406030204" pitchFamily="18" charset="0"/>
                                <a:ea typeface="Calibri" panose="020F0502020204030204" pitchFamily="34" charset="0"/>
                                <a:cs typeface="Times New Roman" panose="02020603050405020304" pitchFamily="18" charset="0"/>
                              </a:rPr>
                              <m:t>(</m:t>
                            </m:r>
                            <m:r>
                              <m:rPr>
                                <m:nor/>
                              </m:rPr>
                              <a:rPr lang="en-PH" sz="2000" b="0" i="0" kern="100" smtClean="0">
                                <a:latin typeface="Cambria Math" panose="02040503050406030204" pitchFamily="18" charset="0"/>
                                <a:ea typeface="Calibri" panose="020F0502020204030204" pitchFamily="34" charset="0"/>
                                <a:cs typeface="Times New Roman" panose="02020603050405020304" pitchFamily="18" charset="0"/>
                              </a:rPr>
                              <m:t>0.8</m:t>
                            </m:r>
                            <m:r>
                              <m:rPr>
                                <m:nor/>
                              </m:rPr>
                              <a:rPr lang="en-PH" sz="2000" kern="100">
                                <a:latin typeface="Cambria Math" panose="02040503050406030204" pitchFamily="18" charset="0"/>
                                <a:ea typeface="Calibri" panose="020F0502020204030204" pitchFamily="34" charset="0"/>
                                <a:cs typeface="Times New Roman" panose="02020603050405020304" pitchFamily="18" charset="0"/>
                              </a:rPr>
                              <m:t>m</m:t>
                            </m:r>
                            <m:r>
                              <m:rPr>
                                <m:nor/>
                              </m:rPr>
                              <a:rPr lang="en-PH" sz="2000" kern="100">
                                <a:latin typeface="Cambria Math" panose="02040503050406030204" pitchFamily="18" charset="0"/>
                                <a:ea typeface="Calibri" panose="020F0502020204030204" pitchFamily="34" charset="0"/>
                                <a:cs typeface="Times New Roman" panose="02020603050405020304" pitchFamily="18" charset="0"/>
                              </a:rPr>
                              <m:t> </m:t>
                            </m:r>
                            <m:r>
                              <m:rPr>
                                <m:nor/>
                              </m:rPr>
                              <a:rPr lang="en-PH" sz="2000" kern="100">
                                <a:latin typeface="Cambria Math" panose="02040503050406030204" pitchFamily="18" charset="0"/>
                                <a:ea typeface="Calibri" panose="020F0502020204030204" pitchFamily="34" charset="0"/>
                                <a:cs typeface="Times New Roman" panose="02020603050405020304" pitchFamily="18" charset="0"/>
                              </a:rPr>
                              <m:t>x</m:t>
                            </m:r>
                            <m:r>
                              <m:rPr>
                                <m:nor/>
                              </m:rPr>
                              <a:rPr lang="en-PH" sz="2000" kern="100">
                                <a:latin typeface="Cambria Math" panose="02040503050406030204" pitchFamily="18" charset="0"/>
                                <a:ea typeface="Calibri" panose="020F0502020204030204" pitchFamily="34" charset="0"/>
                                <a:cs typeface="Times New Roman" panose="02020603050405020304" pitchFamily="18" charset="0"/>
                              </a:rPr>
                              <m:t> </m:t>
                            </m:r>
                            <m:f>
                              <m:fPr>
                                <m:ctrlPr>
                                  <a:rPr lang="en-PH" sz="2000" i="1" kern="100">
                                    <a:latin typeface="Cambria Math" panose="02040503050406030204" pitchFamily="18" charset="0"/>
                                    <a:ea typeface="Calibri" panose="020F0502020204030204" pitchFamily="34" charset="0"/>
                                    <a:cs typeface="Times New Roman" panose="02020603050405020304" pitchFamily="18" charset="0"/>
                                  </a:rPr>
                                </m:ctrlPr>
                              </m:fPr>
                              <m:num>
                                <m:r>
                                  <a:rPr lang="en-PH" sz="2000" i="1" kern="100">
                                    <a:latin typeface="Cambria Math" panose="02040503050406030204" pitchFamily="18" charset="0"/>
                                    <a:ea typeface="Calibri" panose="020F0502020204030204" pitchFamily="34" charset="0"/>
                                    <a:cs typeface="Times New Roman" panose="02020603050405020304" pitchFamily="18" charset="0"/>
                                  </a:rPr>
                                  <m:t>1</m:t>
                                </m:r>
                                <m:r>
                                  <a:rPr lang="en-PH" sz="2000" i="1" kern="100">
                                    <a:latin typeface="Cambria Math" panose="02040503050406030204" pitchFamily="18" charset="0"/>
                                    <a:ea typeface="Calibri" panose="020F0502020204030204" pitchFamily="34" charset="0"/>
                                    <a:cs typeface="Times New Roman" panose="02020603050405020304" pitchFamily="18" charset="0"/>
                                  </a:rPr>
                                  <m:t>𝑖𝑛</m:t>
                                </m:r>
                              </m:num>
                              <m:den>
                                <m:r>
                                  <a:rPr lang="en-PH" sz="2000" i="1" kern="100">
                                    <a:latin typeface="Cambria Math" panose="02040503050406030204" pitchFamily="18" charset="0"/>
                                    <a:ea typeface="Calibri" panose="020F0502020204030204" pitchFamily="34" charset="0"/>
                                    <a:cs typeface="Times New Roman" panose="02020603050405020304" pitchFamily="18" charset="0"/>
                                  </a:rPr>
                                  <m:t>0</m:t>
                                </m:r>
                                <m:r>
                                  <a:rPr lang="en-PH" sz="2000" i="1" kern="100">
                                    <a:latin typeface="Cambria Math" panose="02040503050406030204" pitchFamily="18" charset="0"/>
                                    <a:ea typeface="Calibri" panose="020F0502020204030204" pitchFamily="34" charset="0"/>
                                    <a:cs typeface="Times New Roman" panose="02020603050405020304" pitchFamily="18" charset="0"/>
                                  </a:rPr>
                                  <m:t>.</m:t>
                                </m:r>
                                <m:r>
                                  <a:rPr lang="en-PH" sz="2000" i="1" kern="100">
                                    <a:latin typeface="Cambria Math" panose="02040503050406030204" pitchFamily="18" charset="0"/>
                                    <a:ea typeface="Calibri" panose="020F0502020204030204" pitchFamily="34" charset="0"/>
                                    <a:cs typeface="Times New Roman" panose="02020603050405020304" pitchFamily="18" charset="0"/>
                                  </a:rPr>
                                  <m:t>0254</m:t>
                                </m:r>
                                <m:r>
                                  <a:rPr lang="en-PH" sz="2000" i="1" kern="100">
                                    <a:latin typeface="Cambria Math" panose="02040503050406030204" pitchFamily="18" charset="0"/>
                                    <a:ea typeface="Calibri" panose="020F0502020204030204" pitchFamily="34" charset="0"/>
                                    <a:cs typeface="Times New Roman" panose="02020603050405020304" pitchFamily="18" charset="0"/>
                                  </a:rPr>
                                  <m:t>𝑚</m:t>
                                </m:r>
                              </m:den>
                            </m:f>
                            <m:r>
                              <m:rPr>
                                <m:nor/>
                              </m:rPr>
                              <a:rPr lang="en-PH" sz="2000" kern="100">
                                <a:latin typeface="Cambria Math" panose="02040503050406030204" pitchFamily="18" charset="0"/>
                                <a:ea typeface="Calibri" panose="020F0502020204030204" pitchFamily="34" charset="0"/>
                                <a:cs typeface="Times New Roman" panose="02020603050405020304" pitchFamily="18" charset="0"/>
                              </a:rPr>
                              <m:t>)</m:t>
                            </m:r>
                          </m:e>
                        </m:rad>
                      </m:den>
                    </m:f>
                  </m:oMath>
                </a14:m>
                <a:endParaRPr lang="en-PH" sz="2000" kern="100" dirty="0">
                  <a:effectLst/>
                  <a:latin typeface="Nunito 1" panose="020B0604020202020204" charset="0"/>
                  <a:ea typeface="Calibri" panose="020F0502020204030204" pitchFamily="34" charset="0"/>
                  <a:cs typeface="Times New Roman" panose="02020603050405020304" pitchFamily="18" charset="0"/>
                </a:endParaRPr>
              </a:p>
              <a:p>
                <a:pPr>
                  <a:spcAft>
                    <a:spcPts val="800"/>
                  </a:spcAft>
                </a:pPr>
                <a:endParaRPr lang="en-PH" sz="2000" kern="100" dirty="0">
                  <a:latin typeface="Nunito 1" panose="020B0604020202020204" charset="0"/>
                  <a:ea typeface="Calibri" panose="020F0502020204030204" pitchFamily="34" charset="0"/>
                  <a:cs typeface="Times New Roman" panose="02020603050405020304" pitchFamily="18" charset="0"/>
                </a:endParaRPr>
              </a:p>
              <a:p>
                <a:pPr>
                  <a:spcAft>
                    <a:spcPts val="800"/>
                  </a:spcAft>
                </a:pPr>
                <a:r>
                  <a:rPr lang="en-PH" sz="2000" kern="100" dirty="0">
                    <a:effectLst/>
                    <a:latin typeface="Nunito 1" panose="020B0604020202020204" charset="0"/>
                    <a:ea typeface="Calibri" panose="020F0502020204030204" pitchFamily="34" charset="0"/>
                    <a:cs typeface="Times New Roman" panose="02020603050405020304" pitchFamily="18" charset="0"/>
                  </a:rPr>
                  <a:t>Q = 476.04gpm x </a:t>
                </a:r>
                <a14:m>
                  <m:oMath xmlns:m="http://schemas.openxmlformats.org/officeDocument/2006/math">
                    <m:f>
                      <m:fPr>
                        <m:ctrlPr>
                          <a:rPr lang="en-PH" sz="2000" i="1" kern="10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PH" sz="2000" b="0" i="1" kern="100" smtClean="0">
                            <a:effectLst/>
                            <a:latin typeface="Cambria Math" panose="02040503050406030204" pitchFamily="18" charset="0"/>
                            <a:ea typeface="Calibri" panose="020F0502020204030204" pitchFamily="34" charset="0"/>
                            <a:cs typeface="Times New Roman" panose="02020603050405020304" pitchFamily="18" charset="0"/>
                          </a:rPr>
                          <m:t>0</m:t>
                        </m:r>
                        <m:r>
                          <a:rPr lang="en-PH" sz="2000" b="0" i="1" kern="100" smtClean="0">
                            <a:effectLst/>
                            <a:latin typeface="Cambria Math" panose="02040503050406030204" pitchFamily="18" charset="0"/>
                            <a:ea typeface="Calibri" panose="020F0502020204030204" pitchFamily="34" charset="0"/>
                            <a:cs typeface="Times New Roman" panose="02020603050405020304" pitchFamily="18" charset="0"/>
                          </a:rPr>
                          <m:t>.</m:t>
                        </m:r>
                        <m:r>
                          <a:rPr lang="en-PH" sz="2000" b="0" i="1" kern="100" smtClean="0">
                            <a:effectLst/>
                            <a:latin typeface="Cambria Math" panose="02040503050406030204" pitchFamily="18" charset="0"/>
                            <a:ea typeface="Calibri" panose="020F0502020204030204" pitchFamily="34" charset="0"/>
                            <a:cs typeface="Times New Roman" panose="02020603050405020304" pitchFamily="18" charset="0"/>
                          </a:rPr>
                          <m:t>06309</m:t>
                        </m:r>
                        <m:r>
                          <a:rPr lang="en-PH" sz="2000" b="0" i="1" kern="100" smtClean="0">
                            <a:effectLst/>
                            <a:latin typeface="Cambria Math" panose="02040503050406030204" pitchFamily="18" charset="0"/>
                            <a:ea typeface="Calibri" panose="020F0502020204030204" pitchFamily="34" charset="0"/>
                            <a:cs typeface="Times New Roman" panose="02020603050405020304" pitchFamily="18" charset="0"/>
                          </a:rPr>
                          <m:t>𝑙𝑝𝑠</m:t>
                        </m:r>
                      </m:num>
                      <m:den>
                        <m:r>
                          <a:rPr lang="en-PH" sz="2000" b="0" i="1" kern="100" smtClean="0">
                            <a:effectLst/>
                            <a:latin typeface="Cambria Math" panose="02040503050406030204" pitchFamily="18" charset="0"/>
                            <a:ea typeface="Calibri" panose="020F0502020204030204" pitchFamily="34" charset="0"/>
                            <a:cs typeface="Times New Roman" panose="02020603050405020304" pitchFamily="18" charset="0"/>
                          </a:rPr>
                          <m:t>1</m:t>
                        </m:r>
                        <m:r>
                          <a:rPr lang="en-PH" sz="2000" b="0" i="1" kern="100" smtClean="0">
                            <a:effectLst/>
                            <a:latin typeface="Cambria Math" panose="02040503050406030204" pitchFamily="18" charset="0"/>
                            <a:ea typeface="Calibri" panose="020F0502020204030204" pitchFamily="34" charset="0"/>
                            <a:cs typeface="Times New Roman" panose="02020603050405020304" pitchFamily="18" charset="0"/>
                          </a:rPr>
                          <m:t>𝑔𝑝𝑚</m:t>
                        </m:r>
                      </m:den>
                    </m:f>
                  </m:oMath>
                </a14:m>
                <a:endParaRPr lang="en-PH" sz="2000" kern="100" dirty="0">
                  <a:effectLst/>
                  <a:latin typeface="Nunito 1" panose="020B0604020202020204" charset="0"/>
                  <a:ea typeface="Calibri" panose="020F0502020204030204" pitchFamily="34" charset="0"/>
                  <a:cs typeface="Times New Roman" panose="02020603050405020304" pitchFamily="18" charset="0"/>
                </a:endParaRPr>
              </a:p>
              <a:p>
                <a:pPr>
                  <a:spcAft>
                    <a:spcPts val="800"/>
                  </a:spcAft>
                </a:pPr>
                <a:endParaRPr lang="en-PH" sz="2000" kern="100" dirty="0">
                  <a:latin typeface="Nunito 1" panose="020B0604020202020204" charset="0"/>
                  <a:ea typeface="Calibri" panose="020F0502020204030204" pitchFamily="34" charset="0"/>
                  <a:cs typeface="Times New Roman" panose="02020603050405020304" pitchFamily="18" charset="0"/>
                </a:endParaRPr>
              </a:p>
              <a:p>
                <a:pPr>
                  <a:spcAft>
                    <a:spcPts val="800"/>
                  </a:spcAft>
                </a:pPr>
                <a:r>
                  <a:rPr lang="en-PH" sz="2000" kern="100" dirty="0">
                    <a:effectLst/>
                    <a:latin typeface="Nunito 1" panose="020B0604020202020204" charset="0"/>
                    <a:ea typeface="Calibri" panose="020F0502020204030204" pitchFamily="34" charset="0"/>
                    <a:cs typeface="Times New Roman" panose="02020603050405020304" pitchFamily="18" charset="0"/>
                  </a:rPr>
                  <a:t>Q = 30.03lps</a:t>
                </a:r>
              </a:p>
              <a:p>
                <a:pPr>
                  <a:spcAft>
                    <a:spcPts val="800"/>
                  </a:spcAft>
                </a:pPr>
                <a:r>
                  <a:rPr lang="en-PH" sz="2000" kern="100" dirty="0">
                    <a:effectLst/>
                    <a:latin typeface="Nunito 1" panose="020B0604020202020204" charset="0"/>
                    <a:ea typeface="Calibri" panose="020F0502020204030204" pitchFamily="34" charset="0"/>
                    <a:cs typeface="Times New Roman" panose="02020603050405020304" pitchFamily="18" charset="0"/>
                  </a:rPr>
                  <a:t> </a:t>
                </a:r>
              </a:p>
              <a:p>
                <a:pPr>
                  <a:spcAft>
                    <a:spcPts val="800"/>
                  </a:spcAft>
                </a:pPr>
                <a:endParaRPr lang="en-PH" sz="2000" kern="100" dirty="0">
                  <a:latin typeface="Nunito 1" panose="020B0604020202020204" charset="0"/>
                  <a:ea typeface="Calibri" panose="020F0502020204030204" pitchFamily="34" charset="0"/>
                  <a:cs typeface="Times New Roman" panose="02020603050405020304" pitchFamily="18" charset="0"/>
                </a:endParaRPr>
              </a:p>
              <a:p>
                <a:pPr>
                  <a:spcAft>
                    <a:spcPts val="800"/>
                  </a:spcAft>
                </a:pPr>
                <a:endParaRPr lang="en-PH" sz="2000" kern="100" dirty="0">
                  <a:effectLst/>
                  <a:latin typeface="Nunito 1" panose="020B0604020202020204" charset="0"/>
                  <a:ea typeface="Calibri" panose="020F0502020204030204" pitchFamily="34" charset="0"/>
                  <a:cs typeface="Times New Roman" panose="02020603050405020304" pitchFamily="18" charset="0"/>
                </a:endParaRPr>
              </a:p>
            </p:txBody>
          </p:sp>
        </mc:Choice>
        <mc:Fallback xmlns="">
          <p:sp>
            <p:nvSpPr>
              <p:cNvPr id="22" name="TextBox 21">
                <a:extLst>
                  <a:ext uri="{FF2B5EF4-FFF2-40B4-BE49-F238E27FC236}">
                    <a16:creationId xmlns:a16="http://schemas.microsoft.com/office/drawing/2014/main" id="{5BC8111E-CFEB-E5CD-5131-D0A722AC7840}"/>
                  </a:ext>
                </a:extLst>
              </p:cNvPr>
              <p:cNvSpPr txBox="1">
                <a:spLocks noRot="1" noChangeAspect="1" noMove="1" noResize="1" noEditPoints="1" noAdjustHandles="1" noChangeArrowheads="1" noChangeShapeType="1" noTextEdit="1"/>
              </p:cNvSpPr>
              <p:nvPr/>
            </p:nvSpPr>
            <p:spPr>
              <a:xfrm>
                <a:off x="4188196" y="3652368"/>
                <a:ext cx="5517367" cy="5851538"/>
              </a:xfrm>
              <a:prstGeom prst="rect">
                <a:avLst/>
              </a:prstGeom>
              <a:blipFill>
                <a:blip r:embed="rId3"/>
                <a:stretch>
                  <a:fillRect l="-2762" t="-1354"/>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D28742F-2A71-8025-FFF3-341018856631}"/>
                  </a:ext>
                </a:extLst>
              </p:cNvPr>
              <p:cNvSpPr txBox="1"/>
              <p:nvPr/>
            </p:nvSpPr>
            <p:spPr>
              <a:xfrm>
                <a:off x="9460156" y="3566301"/>
                <a:ext cx="7396851" cy="3629070"/>
              </a:xfrm>
              <a:prstGeom prst="rect">
                <a:avLst/>
              </a:prstGeom>
            </p:spPr>
            <p:txBody>
              <a:bodyPr wrap="square" lIns="0" tIns="0" rIns="0" bIns="0" rtlCol="0" anchor="t">
                <a:spAutoFit/>
              </a:bodyPr>
              <a:lstStyle/>
              <a:p>
                <a:pPr>
                  <a:spcAft>
                    <a:spcPts val="800"/>
                  </a:spcAft>
                </a:pPr>
                <a:r>
                  <a:rPr lang="en-PH" sz="2000" kern="100" dirty="0">
                    <a:latin typeface="Nunito 1" panose="020B0604020202020204" charset="0"/>
                    <a:ea typeface="Calibri" panose="020F0502020204030204" pitchFamily="34" charset="0"/>
                    <a:cs typeface="Times New Roman" panose="02020603050405020304" pitchFamily="18" charset="0"/>
                  </a:rPr>
                  <a:t>Alternative s</a:t>
                </a:r>
                <a:r>
                  <a:rPr lang="en-PH" sz="2000" kern="100" dirty="0">
                    <a:effectLst/>
                    <a:latin typeface="Nunito 1" panose="020B0604020202020204" charset="0"/>
                    <a:ea typeface="Calibri" panose="020F0502020204030204" pitchFamily="34" charset="0"/>
                    <a:cs typeface="Times New Roman" panose="02020603050405020304" pitchFamily="18" charset="0"/>
                  </a:rPr>
                  <a:t>olution:</a:t>
                </a:r>
              </a:p>
              <a:p>
                <a:pPr>
                  <a:spcAft>
                    <a:spcPts val="800"/>
                  </a:spcAft>
                </a:pPr>
                <a:endParaRPr lang="en-PH" sz="2000" kern="100" dirty="0">
                  <a:latin typeface="Nunito 1" panose="020B0604020202020204" charset="0"/>
                  <a:ea typeface="Calibri" panose="020F0502020204030204" pitchFamily="34" charset="0"/>
                  <a:cs typeface="Times New Roman" panose="02020603050405020304" pitchFamily="18" charset="0"/>
                </a:endParaRPr>
              </a:p>
              <a:p>
                <a:pPr>
                  <a:spcAft>
                    <a:spcPts val="800"/>
                  </a:spcAft>
                </a:pPr>
                <a:r>
                  <a:rPr lang="en-PH" sz="2000" kern="100" dirty="0">
                    <a:latin typeface="Nunito 1" panose="020B0604020202020204" charset="0"/>
                    <a:ea typeface="Calibri" panose="020F0502020204030204" pitchFamily="34" charset="0"/>
                    <a:cs typeface="Times New Roman" panose="02020603050405020304" pitchFamily="18" charset="0"/>
                  </a:rPr>
                  <a:t>Q = </a:t>
                </a:r>
                <a:r>
                  <a:rPr lang="en-PH" sz="2000" kern="100" dirty="0" err="1">
                    <a:latin typeface="Nunito 1" panose="020B0604020202020204" charset="0"/>
                    <a:ea typeface="Calibri" panose="020F0502020204030204" pitchFamily="34" charset="0"/>
                    <a:cs typeface="Times New Roman" panose="02020603050405020304" pitchFamily="18" charset="0"/>
                  </a:rPr>
                  <a:t>CdA</a:t>
                </a:r>
                <a14:m>
                  <m:oMath xmlns:m="http://schemas.openxmlformats.org/officeDocument/2006/math">
                    <m:rad>
                      <m:radPr>
                        <m:degHide m:val="on"/>
                        <m:ctrlPr>
                          <a:rPr lang="en-PH" sz="2000" i="1" kern="100" smtClean="0">
                            <a:latin typeface="Cambria Math" panose="02040503050406030204" pitchFamily="18" charset="0"/>
                            <a:ea typeface="Calibri" panose="020F0502020204030204" pitchFamily="34" charset="0"/>
                            <a:cs typeface="Times New Roman" panose="02020603050405020304" pitchFamily="18" charset="0"/>
                          </a:rPr>
                        </m:ctrlPr>
                      </m:radPr>
                      <m:deg/>
                      <m:e>
                        <m:r>
                          <a:rPr lang="en-PH" sz="2000" b="0" i="1" kern="100" smtClean="0">
                            <a:latin typeface="Cambria Math" panose="02040503050406030204" pitchFamily="18" charset="0"/>
                            <a:ea typeface="Calibri" panose="020F0502020204030204" pitchFamily="34" charset="0"/>
                            <a:cs typeface="Times New Roman" panose="02020603050405020304" pitchFamily="18" charset="0"/>
                          </a:rPr>
                          <m:t>2</m:t>
                        </m:r>
                        <m:r>
                          <a:rPr lang="en-PH" sz="2000" b="0" i="1" kern="100" smtClean="0">
                            <a:latin typeface="Cambria Math" panose="02040503050406030204" pitchFamily="18" charset="0"/>
                            <a:ea typeface="Calibri" panose="020F0502020204030204" pitchFamily="34" charset="0"/>
                            <a:cs typeface="Times New Roman" panose="02020603050405020304" pitchFamily="18" charset="0"/>
                          </a:rPr>
                          <m:t>𝑔</m:t>
                        </m:r>
                        <m:r>
                          <a:rPr lang="en-PH" sz="2000" b="0" i="1" kern="100" smtClean="0">
                            <a:latin typeface="Cambria Math" panose="02040503050406030204" pitchFamily="18" charset="0"/>
                            <a:ea typeface="Calibri" panose="020F0502020204030204" pitchFamily="34" charset="0"/>
                            <a:cs typeface="Times New Roman" panose="02020603050405020304" pitchFamily="18" charset="0"/>
                          </a:rPr>
                          <m:t>h</m:t>
                        </m:r>
                      </m:e>
                    </m:rad>
                  </m:oMath>
                </a14:m>
                <a:r>
                  <a:rPr lang="en-PH" sz="2000" kern="100" dirty="0">
                    <a:effectLst/>
                    <a:latin typeface="Nunito 1" panose="020B0604020202020204" charset="0"/>
                    <a:ea typeface="Calibri" panose="020F0502020204030204" pitchFamily="34" charset="0"/>
                    <a:cs typeface="Times New Roman" panose="02020603050405020304" pitchFamily="18" charset="0"/>
                  </a:rPr>
                  <a:t>	where h = x – y		Q = m3/s, rest is meters</a:t>
                </a:r>
              </a:p>
              <a:p>
                <a:pPr>
                  <a:spcAft>
                    <a:spcPts val="800"/>
                  </a:spcAft>
                </a:pPr>
                <a:endParaRPr lang="en-PH" sz="2000" kern="100" dirty="0">
                  <a:latin typeface="Nunito 1" panose="020B0604020202020204" charset="0"/>
                  <a:ea typeface="Calibri" panose="020F0502020204030204" pitchFamily="34" charset="0"/>
                  <a:cs typeface="Times New Roman" panose="02020603050405020304" pitchFamily="18" charset="0"/>
                </a:endParaRPr>
              </a:p>
              <a:p>
                <a:pPr>
                  <a:spcAft>
                    <a:spcPts val="800"/>
                  </a:spcAft>
                </a:pPr>
                <a:r>
                  <a:rPr lang="en-PH" sz="2000" kern="100" dirty="0">
                    <a:latin typeface="Nunito 1" panose="020B0604020202020204" charset="0"/>
                    <a:ea typeface="Calibri" panose="020F0502020204030204" pitchFamily="34" charset="0"/>
                    <a:cs typeface="Times New Roman" panose="02020603050405020304" pitchFamily="18" charset="0"/>
                  </a:rPr>
                  <a:t>Q = (1.0) </a:t>
                </a:r>
                <a14:m>
                  <m:oMath xmlns:m="http://schemas.openxmlformats.org/officeDocument/2006/math">
                    <m:d>
                      <m:dPr>
                        <m:ctrlPr>
                          <a:rPr lang="en-PH" sz="2000" i="1" kern="100" smtClean="0">
                            <a:latin typeface="Cambria Math" panose="02040503050406030204" pitchFamily="18" charset="0"/>
                            <a:ea typeface="Calibri" panose="020F0502020204030204" pitchFamily="34" charset="0"/>
                            <a:cs typeface="Times New Roman" panose="02020603050405020304" pitchFamily="18" charset="0"/>
                          </a:rPr>
                        </m:ctrlPr>
                      </m:dPr>
                      <m:e>
                        <m:r>
                          <m:rPr>
                            <m:nor/>
                          </m:rPr>
                          <a:rPr lang="en-PH" sz="2000" kern="100">
                            <a:latin typeface="Cambria Math" panose="02040503050406030204" pitchFamily="18" charset="0"/>
                            <a:ea typeface="Calibri" panose="020F0502020204030204" pitchFamily="34" charset="0"/>
                            <a:cs typeface="Times New Roman" panose="02020603050405020304" pitchFamily="18" charset="0"/>
                          </a:rPr>
                          <m:t>π</m:t>
                        </m:r>
                        <m:d>
                          <m:dPr>
                            <m:ctrlPr>
                              <a:rPr lang="en-PH" sz="2000" i="1" kern="100">
                                <a:latin typeface="Cambria Math" panose="02040503050406030204" pitchFamily="18" charset="0"/>
                                <a:ea typeface="Calibri" panose="020F0502020204030204" pitchFamily="34" charset="0"/>
                                <a:cs typeface="Times New Roman" panose="02020603050405020304" pitchFamily="18" charset="0"/>
                              </a:rPr>
                            </m:ctrlPr>
                          </m:dPr>
                          <m:e>
                            <m:f>
                              <m:fPr>
                                <m:ctrlPr>
                                  <a:rPr lang="en-PH" sz="2000" i="1" kern="100">
                                    <a:latin typeface="Cambria Math" panose="02040503050406030204" pitchFamily="18" charset="0"/>
                                    <a:ea typeface="Calibri" panose="020F0502020204030204" pitchFamily="34" charset="0"/>
                                    <a:cs typeface="Times New Roman" panose="02020603050405020304" pitchFamily="18" charset="0"/>
                                  </a:rPr>
                                </m:ctrlPr>
                              </m:fPr>
                              <m:num>
                                <m:sSup>
                                  <m:sSupPr>
                                    <m:ctrlPr>
                                      <a:rPr lang="en-PH" sz="2000" i="1" kern="100">
                                        <a:latin typeface="Cambria Math" panose="02040503050406030204" pitchFamily="18" charset="0"/>
                                        <a:ea typeface="Calibri" panose="020F0502020204030204" pitchFamily="34" charset="0"/>
                                        <a:cs typeface="Times New Roman" panose="02020603050405020304" pitchFamily="18" charset="0"/>
                                      </a:rPr>
                                    </m:ctrlPr>
                                  </m:sSupPr>
                                  <m:e>
                                    <m:r>
                                      <a:rPr lang="en-PH" sz="2000" b="0" i="1" kern="100" smtClean="0">
                                        <a:latin typeface="Cambria Math" panose="02040503050406030204" pitchFamily="18" charset="0"/>
                                        <a:ea typeface="Calibri" panose="020F0502020204030204" pitchFamily="34" charset="0"/>
                                        <a:cs typeface="Times New Roman" panose="02020603050405020304" pitchFamily="18" charset="0"/>
                                      </a:rPr>
                                      <m:t>(</m:t>
                                    </m:r>
                                    <m:r>
                                      <a:rPr lang="en-PH" sz="2000" i="1" kern="100">
                                        <a:latin typeface="Cambria Math" panose="02040503050406030204" pitchFamily="18" charset="0"/>
                                        <a:ea typeface="Calibri" panose="020F0502020204030204" pitchFamily="34" charset="0"/>
                                        <a:cs typeface="Times New Roman" panose="02020603050405020304" pitchFamily="18" charset="0"/>
                                      </a:rPr>
                                      <m:t>4</m:t>
                                    </m:r>
                                    <m:r>
                                      <a:rPr lang="en-PH" sz="2000" b="0" i="1" kern="100" smtClean="0">
                                        <a:latin typeface="Cambria Math" panose="02040503050406030204" pitchFamily="18" charset="0"/>
                                        <a:ea typeface="Calibri" panose="020F0502020204030204" pitchFamily="34" charset="0"/>
                                        <a:cs typeface="Times New Roman" panose="02020603050405020304" pitchFamily="18" charset="0"/>
                                      </a:rPr>
                                      <m:t> </m:t>
                                    </m:r>
                                    <m:r>
                                      <a:rPr lang="en-PH" sz="2000" b="0" i="1" kern="100" smtClean="0">
                                        <a:latin typeface="Cambria Math" panose="02040503050406030204" pitchFamily="18" charset="0"/>
                                        <a:ea typeface="Calibri" panose="020F0502020204030204" pitchFamily="34" charset="0"/>
                                        <a:cs typeface="Times New Roman" panose="02020603050405020304" pitchFamily="18" charset="0"/>
                                      </a:rPr>
                                      <m:t>𝑥</m:t>
                                    </m:r>
                                    <m:r>
                                      <a:rPr lang="en-PH" sz="2000" b="0" i="1" kern="100" smtClean="0">
                                        <a:latin typeface="Cambria Math" panose="02040503050406030204" pitchFamily="18" charset="0"/>
                                        <a:ea typeface="Calibri" panose="020F0502020204030204" pitchFamily="34" charset="0"/>
                                        <a:cs typeface="Times New Roman" panose="02020603050405020304" pitchFamily="18" charset="0"/>
                                      </a:rPr>
                                      <m:t> </m:t>
                                    </m:r>
                                    <m:r>
                                      <a:rPr lang="en-PH" sz="2000" b="0" i="1" kern="100" smtClean="0">
                                        <a:latin typeface="Cambria Math" panose="02040503050406030204" pitchFamily="18" charset="0"/>
                                        <a:ea typeface="Calibri" panose="020F0502020204030204" pitchFamily="34" charset="0"/>
                                        <a:cs typeface="Times New Roman" panose="02020603050405020304" pitchFamily="18" charset="0"/>
                                      </a:rPr>
                                      <m:t>0</m:t>
                                    </m:r>
                                    <m:r>
                                      <a:rPr lang="en-PH" sz="2000" b="0" i="1" kern="100" smtClean="0">
                                        <a:latin typeface="Cambria Math" panose="02040503050406030204" pitchFamily="18" charset="0"/>
                                        <a:ea typeface="Calibri" panose="020F0502020204030204" pitchFamily="34" charset="0"/>
                                        <a:cs typeface="Times New Roman" panose="02020603050405020304" pitchFamily="18" charset="0"/>
                                      </a:rPr>
                                      <m:t>.</m:t>
                                    </m:r>
                                    <m:r>
                                      <a:rPr lang="en-PH" sz="2000" b="0" i="1" kern="100" smtClean="0">
                                        <a:latin typeface="Cambria Math" panose="02040503050406030204" pitchFamily="18" charset="0"/>
                                        <a:ea typeface="Calibri" panose="020F0502020204030204" pitchFamily="34" charset="0"/>
                                        <a:cs typeface="Times New Roman" panose="02020603050405020304" pitchFamily="18" charset="0"/>
                                      </a:rPr>
                                      <m:t>0254</m:t>
                                    </m:r>
                                    <m:r>
                                      <a:rPr lang="en-PH" sz="2000" b="0" i="1" kern="100" smtClean="0">
                                        <a:latin typeface="Cambria Math" panose="02040503050406030204" pitchFamily="18" charset="0"/>
                                        <a:ea typeface="Calibri" panose="020F0502020204030204" pitchFamily="34" charset="0"/>
                                        <a:cs typeface="Times New Roman" panose="02020603050405020304" pitchFamily="18" charset="0"/>
                                      </a:rPr>
                                      <m:t>)</m:t>
                                    </m:r>
                                  </m:e>
                                  <m:sup>
                                    <m:r>
                                      <a:rPr lang="en-PH" sz="2000" i="1" kern="100">
                                        <a:latin typeface="Cambria Math" panose="02040503050406030204" pitchFamily="18" charset="0"/>
                                        <a:ea typeface="Calibri" panose="020F0502020204030204" pitchFamily="34" charset="0"/>
                                        <a:cs typeface="Times New Roman" panose="02020603050405020304" pitchFamily="18" charset="0"/>
                                      </a:rPr>
                                      <m:t>2</m:t>
                                    </m:r>
                                  </m:sup>
                                </m:sSup>
                              </m:num>
                              <m:den>
                                <m:r>
                                  <a:rPr lang="en-PH" sz="2000" i="1" kern="100">
                                    <a:latin typeface="Cambria Math" panose="02040503050406030204" pitchFamily="18" charset="0"/>
                                    <a:ea typeface="Calibri" panose="020F0502020204030204" pitchFamily="34" charset="0"/>
                                    <a:cs typeface="Times New Roman" panose="02020603050405020304" pitchFamily="18" charset="0"/>
                                  </a:rPr>
                                  <m:t>4</m:t>
                                </m:r>
                              </m:den>
                            </m:f>
                          </m:e>
                        </m:d>
                      </m:e>
                    </m:d>
                  </m:oMath>
                </a14:m>
                <a:r>
                  <a:rPr lang="en-PH" sz="2000" kern="100" dirty="0">
                    <a:latin typeface="Nunito 1" panose="020B0604020202020204" charset="0"/>
                    <a:ea typeface="Calibri" panose="020F0502020204030204" pitchFamily="34" charset="0"/>
                    <a:cs typeface="Times New Roman" panose="02020603050405020304" pitchFamily="18" charset="0"/>
                  </a:rPr>
                  <a:t> </a:t>
                </a:r>
                <a14:m>
                  <m:oMath xmlns:m="http://schemas.openxmlformats.org/officeDocument/2006/math">
                    <m:rad>
                      <m:radPr>
                        <m:degHide m:val="on"/>
                        <m:ctrlPr>
                          <a:rPr lang="en-PH" sz="2000" i="1" kern="100">
                            <a:latin typeface="Cambria Math" panose="02040503050406030204" pitchFamily="18" charset="0"/>
                            <a:ea typeface="Calibri" panose="020F0502020204030204" pitchFamily="34" charset="0"/>
                            <a:cs typeface="Times New Roman" panose="02020603050405020304" pitchFamily="18" charset="0"/>
                          </a:rPr>
                        </m:ctrlPr>
                      </m:radPr>
                      <m:deg/>
                      <m:e>
                        <m:r>
                          <a:rPr lang="en-PH" sz="2000" i="1" kern="100">
                            <a:latin typeface="Cambria Math" panose="02040503050406030204" pitchFamily="18" charset="0"/>
                            <a:ea typeface="Calibri" panose="020F0502020204030204" pitchFamily="34" charset="0"/>
                            <a:cs typeface="Times New Roman" panose="02020603050405020304" pitchFamily="18" charset="0"/>
                          </a:rPr>
                          <m:t>2</m:t>
                        </m:r>
                        <m:d>
                          <m:dPr>
                            <m:ctrlPr>
                              <a:rPr lang="en-PH" sz="2000" i="1" kern="100" smtClean="0">
                                <a:latin typeface="Cambria Math" panose="02040503050406030204" pitchFamily="18" charset="0"/>
                                <a:ea typeface="Calibri" panose="020F0502020204030204" pitchFamily="34" charset="0"/>
                                <a:cs typeface="Times New Roman" panose="02020603050405020304" pitchFamily="18" charset="0"/>
                              </a:rPr>
                            </m:ctrlPr>
                          </m:dPr>
                          <m:e>
                            <m:f>
                              <m:fPr>
                                <m:ctrlPr>
                                  <a:rPr lang="en-PH" sz="2000" i="1" kern="100">
                                    <a:latin typeface="Cambria Math" panose="02040503050406030204" pitchFamily="18" charset="0"/>
                                    <a:ea typeface="Calibri" panose="020F0502020204030204" pitchFamily="34" charset="0"/>
                                    <a:cs typeface="Times New Roman" panose="02020603050405020304" pitchFamily="18" charset="0"/>
                                  </a:rPr>
                                </m:ctrlPr>
                              </m:fPr>
                              <m:num>
                                <m:r>
                                  <a:rPr lang="en-PH" sz="2000" i="1" kern="100">
                                    <a:latin typeface="Cambria Math" panose="02040503050406030204" pitchFamily="18" charset="0"/>
                                    <a:ea typeface="Calibri" panose="020F0502020204030204" pitchFamily="34" charset="0"/>
                                    <a:cs typeface="Times New Roman" panose="02020603050405020304" pitchFamily="18" charset="0"/>
                                  </a:rPr>
                                  <m:t>9</m:t>
                                </m:r>
                                <m:r>
                                  <a:rPr lang="en-PH" sz="2000" i="1" kern="100">
                                    <a:latin typeface="Cambria Math" panose="02040503050406030204" pitchFamily="18" charset="0"/>
                                    <a:ea typeface="Calibri" panose="020F0502020204030204" pitchFamily="34" charset="0"/>
                                    <a:cs typeface="Times New Roman" panose="02020603050405020304" pitchFamily="18" charset="0"/>
                                  </a:rPr>
                                  <m:t>.</m:t>
                                </m:r>
                                <m:r>
                                  <a:rPr lang="en-PH" sz="2000" i="1" kern="100">
                                    <a:latin typeface="Cambria Math" panose="02040503050406030204" pitchFamily="18" charset="0"/>
                                    <a:ea typeface="Calibri" panose="020F0502020204030204" pitchFamily="34" charset="0"/>
                                    <a:cs typeface="Times New Roman" panose="02020603050405020304" pitchFamily="18" charset="0"/>
                                  </a:rPr>
                                  <m:t>81</m:t>
                                </m:r>
                                <m:r>
                                  <a:rPr lang="en-PH" sz="2000" i="1" kern="100">
                                    <a:latin typeface="Cambria Math" panose="02040503050406030204" pitchFamily="18" charset="0"/>
                                    <a:ea typeface="Calibri" panose="020F0502020204030204" pitchFamily="34" charset="0"/>
                                    <a:cs typeface="Times New Roman" panose="02020603050405020304" pitchFamily="18" charset="0"/>
                                  </a:rPr>
                                  <m:t>𝑚</m:t>
                                </m:r>
                              </m:num>
                              <m:den>
                                <m:r>
                                  <a:rPr lang="en-PH" sz="2000" i="1" kern="100">
                                    <a:latin typeface="Cambria Math" panose="02040503050406030204" pitchFamily="18" charset="0"/>
                                    <a:ea typeface="Calibri" panose="020F0502020204030204" pitchFamily="34" charset="0"/>
                                    <a:cs typeface="Times New Roman" panose="02020603050405020304" pitchFamily="18" charset="0"/>
                                  </a:rPr>
                                  <m:t>𝑠</m:t>
                                </m:r>
                                <m:r>
                                  <a:rPr lang="en-PH" sz="2000" i="1" kern="100">
                                    <a:latin typeface="Cambria Math" panose="02040503050406030204" pitchFamily="18" charset="0"/>
                                    <a:ea typeface="Calibri" panose="020F0502020204030204" pitchFamily="34" charset="0"/>
                                    <a:cs typeface="Times New Roman" panose="02020603050405020304" pitchFamily="18" charset="0"/>
                                  </a:rPr>
                                  <m:t>2</m:t>
                                </m:r>
                              </m:den>
                            </m:f>
                          </m:e>
                        </m:d>
                        <m:r>
                          <a:rPr lang="en-PH" sz="2000" b="0" i="1" kern="100" smtClean="0">
                            <a:latin typeface="Cambria Math" panose="02040503050406030204" pitchFamily="18" charset="0"/>
                            <a:ea typeface="Calibri" panose="020F0502020204030204" pitchFamily="34" charset="0"/>
                            <a:cs typeface="Times New Roman" panose="02020603050405020304" pitchFamily="18" charset="0"/>
                          </a:rPr>
                          <m:t>(</m:t>
                        </m:r>
                        <m:r>
                          <a:rPr lang="en-PH" sz="2000" b="0" i="1" kern="100" smtClean="0">
                            <a:latin typeface="Cambria Math" panose="02040503050406030204" pitchFamily="18" charset="0"/>
                            <a:ea typeface="Calibri" panose="020F0502020204030204" pitchFamily="34" charset="0"/>
                            <a:cs typeface="Times New Roman" panose="02020603050405020304" pitchFamily="18" charset="0"/>
                          </a:rPr>
                          <m:t>1</m:t>
                        </m:r>
                        <m:r>
                          <a:rPr lang="en-PH" sz="2000" b="0" i="1" kern="100" smtClean="0">
                            <a:latin typeface="Cambria Math" panose="02040503050406030204" pitchFamily="18" charset="0"/>
                            <a:ea typeface="Calibri" panose="020F0502020204030204" pitchFamily="34" charset="0"/>
                            <a:cs typeface="Times New Roman" panose="02020603050405020304" pitchFamily="18" charset="0"/>
                          </a:rPr>
                          <m:t>.</m:t>
                        </m:r>
                        <m:r>
                          <a:rPr lang="en-PH" sz="2000" b="0" i="1" kern="100" smtClean="0">
                            <a:latin typeface="Cambria Math" panose="02040503050406030204" pitchFamily="18" charset="0"/>
                            <a:ea typeface="Calibri" panose="020F0502020204030204" pitchFamily="34" charset="0"/>
                            <a:cs typeface="Times New Roman" panose="02020603050405020304" pitchFamily="18" charset="0"/>
                          </a:rPr>
                          <m:t>5</m:t>
                        </m:r>
                        <m:r>
                          <a:rPr lang="en-PH" sz="2000" b="0" i="1" kern="100" smtClean="0">
                            <a:latin typeface="Cambria Math" panose="02040503050406030204" pitchFamily="18" charset="0"/>
                            <a:ea typeface="Calibri" panose="020F0502020204030204" pitchFamily="34" charset="0"/>
                            <a:cs typeface="Times New Roman" panose="02020603050405020304" pitchFamily="18" charset="0"/>
                          </a:rPr>
                          <m:t> −</m:t>
                        </m:r>
                        <m:r>
                          <a:rPr lang="en-PH" sz="2000" b="0" i="1" kern="100" smtClean="0">
                            <a:latin typeface="Cambria Math" panose="02040503050406030204" pitchFamily="18" charset="0"/>
                            <a:ea typeface="Calibri" panose="020F0502020204030204" pitchFamily="34" charset="0"/>
                            <a:cs typeface="Times New Roman" panose="02020603050405020304" pitchFamily="18" charset="0"/>
                          </a:rPr>
                          <m:t>0</m:t>
                        </m:r>
                        <m:r>
                          <a:rPr lang="en-PH" sz="2000" b="0" i="1" kern="100" smtClean="0">
                            <a:latin typeface="Cambria Math" panose="02040503050406030204" pitchFamily="18" charset="0"/>
                            <a:ea typeface="Calibri" panose="020F0502020204030204" pitchFamily="34" charset="0"/>
                            <a:cs typeface="Times New Roman" panose="02020603050405020304" pitchFamily="18" charset="0"/>
                          </a:rPr>
                          <m:t>.</m:t>
                        </m:r>
                        <m:r>
                          <a:rPr lang="en-PH" sz="2000" b="0" i="1" kern="100" smtClean="0">
                            <a:latin typeface="Cambria Math" panose="02040503050406030204" pitchFamily="18" charset="0"/>
                            <a:ea typeface="Calibri" panose="020F0502020204030204" pitchFamily="34" charset="0"/>
                            <a:cs typeface="Times New Roman" panose="02020603050405020304" pitchFamily="18" charset="0"/>
                          </a:rPr>
                          <m:t>8</m:t>
                        </m:r>
                        <m:r>
                          <a:rPr lang="en-PH" sz="2000" b="0" i="1" kern="100" smtClean="0">
                            <a:latin typeface="Cambria Math" panose="02040503050406030204" pitchFamily="18" charset="0"/>
                            <a:ea typeface="Calibri" panose="020F0502020204030204" pitchFamily="34" charset="0"/>
                            <a:cs typeface="Times New Roman" panose="02020603050405020304" pitchFamily="18" charset="0"/>
                          </a:rPr>
                          <m:t>)</m:t>
                        </m:r>
                      </m:e>
                    </m:rad>
                  </m:oMath>
                </a14:m>
                <a:endParaRPr lang="en-PH" sz="2000" kern="100" dirty="0">
                  <a:effectLst/>
                  <a:latin typeface="Nunito 1" panose="020B0604020202020204" charset="0"/>
                  <a:ea typeface="Calibri" panose="020F0502020204030204" pitchFamily="34" charset="0"/>
                  <a:cs typeface="Times New Roman" panose="02020603050405020304" pitchFamily="18" charset="0"/>
                </a:endParaRPr>
              </a:p>
              <a:p>
                <a:pPr>
                  <a:spcAft>
                    <a:spcPts val="800"/>
                  </a:spcAft>
                </a:pPr>
                <a:endParaRPr lang="en-PH" sz="2000" kern="100" dirty="0">
                  <a:latin typeface="Nunito 1" panose="020B0604020202020204" charset="0"/>
                  <a:ea typeface="Calibri" panose="020F0502020204030204" pitchFamily="34" charset="0"/>
                  <a:cs typeface="Times New Roman" panose="02020603050405020304" pitchFamily="18" charset="0"/>
                </a:endParaRPr>
              </a:p>
              <a:p>
                <a:pPr>
                  <a:spcAft>
                    <a:spcPts val="800"/>
                  </a:spcAft>
                </a:pPr>
                <a:r>
                  <a:rPr lang="en-PH" sz="2000" kern="100" dirty="0">
                    <a:latin typeface="Nunito 1" panose="020B0604020202020204" charset="0"/>
                    <a:ea typeface="Calibri" panose="020F0502020204030204" pitchFamily="34" charset="0"/>
                    <a:cs typeface="Times New Roman" panose="02020603050405020304" pitchFamily="18" charset="0"/>
                  </a:rPr>
                  <a:t>Q = 0.03004m3/s or 30.04lps</a:t>
                </a:r>
              </a:p>
              <a:p>
                <a:pPr>
                  <a:spcAft>
                    <a:spcPts val="800"/>
                  </a:spcAft>
                </a:pPr>
                <a:endParaRPr lang="en-PH" sz="2000" kern="100" dirty="0">
                  <a:effectLst/>
                  <a:latin typeface="Nunito 1" panose="020B0604020202020204" charset="0"/>
                  <a:ea typeface="Calibri" panose="020F0502020204030204" pitchFamily="34" charset="0"/>
                  <a:cs typeface="Times New Roman" panose="02020603050405020304" pitchFamily="18" charset="0"/>
                </a:endParaRPr>
              </a:p>
            </p:txBody>
          </p:sp>
        </mc:Choice>
        <mc:Fallback xmlns="">
          <p:sp>
            <p:nvSpPr>
              <p:cNvPr id="2" name="TextBox 1">
                <a:extLst>
                  <a:ext uri="{FF2B5EF4-FFF2-40B4-BE49-F238E27FC236}">
                    <a16:creationId xmlns:a16="http://schemas.microsoft.com/office/drawing/2014/main" id="{2D28742F-2A71-8025-FFF3-341018856631}"/>
                  </a:ext>
                </a:extLst>
              </p:cNvPr>
              <p:cNvSpPr txBox="1">
                <a:spLocks noRot="1" noChangeAspect="1" noMove="1" noResize="1" noEditPoints="1" noAdjustHandles="1" noChangeArrowheads="1" noChangeShapeType="1" noTextEdit="1"/>
              </p:cNvSpPr>
              <p:nvPr/>
            </p:nvSpPr>
            <p:spPr>
              <a:xfrm>
                <a:off x="9460156" y="3566301"/>
                <a:ext cx="7396851" cy="3629070"/>
              </a:xfrm>
              <a:prstGeom prst="rect">
                <a:avLst/>
              </a:prstGeom>
              <a:blipFill>
                <a:blip r:embed="rId4"/>
                <a:stretch>
                  <a:fillRect l="-2143" t="-2185" r="-247"/>
                </a:stretch>
              </a:blipFill>
            </p:spPr>
            <p:txBody>
              <a:bodyPr/>
              <a:lstStyle/>
              <a:p>
                <a:r>
                  <a:rPr lang="en-PH">
                    <a:noFill/>
                  </a:rPr>
                  <a:t> </a:t>
                </a:r>
              </a:p>
            </p:txBody>
          </p:sp>
        </mc:Fallback>
      </mc:AlternateContent>
      <p:grpSp>
        <p:nvGrpSpPr>
          <p:cNvPr id="3" name="Group 2">
            <a:extLst>
              <a:ext uri="{FF2B5EF4-FFF2-40B4-BE49-F238E27FC236}">
                <a16:creationId xmlns:a16="http://schemas.microsoft.com/office/drawing/2014/main" id="{24D9C408-6C15-B475-F337-32F38D36D4BF}"/>
              </a:ext>
            </a:extLst>
          </p:cNvPr>
          <p:cNvGrpSpPr/>
          <p:nvPr/>
        </p:nvGrpSpPr>
        <p:grpSpPr>
          <a:xfrm>
            <a:off x="0" y="9599693"/>
            <a:ext cx="18287999" cy="687306"/>
            <a:chOff x="0" y="9599693"/>
            <a:chExt cx="18287999" cy="687306"/>
          </a:xfrm>
        </p:grpSpPr>
        <p:grpSp>
          <p:nvGrpSpPr>
            <p:cNvPr id="4" name="Group 11">
              <a:extLst>
                <a:ext uri="{FF2B5EF4-FFF2-40B4-BE49-F238E27FC236}">
                  <a16:creationId xmlns:a16="http://schemas.microsoft.com/office/drawing/2014/main" id="{31C9862E-4887-43DC-0441-1CD9FE743644}"/>
                </a:ext>
              </a:extLst>
            </p:cNvPr>
            <p:cNvGrpSpPr/>
            <p:nvPr/>
          </p:nvGrpSpPr>
          <p:grpSpPr>
            <a:xfrm>
              <a:off x="0" y="9599694"/>
              <a:ext cx="18287999" cy="687305"/>
              <a:chOff x="0" y="0"/>
              <a:chExt cx="5260714" cy="490218"/>
            </a:xfrm>
          </p:grpSpPr>
          <p:sp>
            <p:nvSpPr>
              <p:cNvPr id="28" name="Freeform 12">
                <a:extLst>
                  <a:ext uri="{FF2B5EF4-FFF2-40B4-BE49-F238E27FC236}">
                    <a16:creationId xmlns:a16="http://schemas.microsoft.com/office/drawing/2014/main" id="{8E5B69FB-0050-CC18-8FF0-CD37F692D4BA}"/>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9" name="TextBox 13">
                <a:extLst>
                  <a:ext uri="{FF2B5EF4-FFF2-40B4-BE49-F238E27FC236}">
                    <a16:creationId xmlns:a16="http://schemas.microsoft.com/office/drawing/2014/main" id="{529AB1C2-7A7D-A445-FB87-D8E0E02B7E47}"/>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2">
              <a:extLst>
                <a:ext uri="{FF2B5EF4-FFF2-40B4-BE49-F238E27FC236}">
                  <a16:creationId xmlns:a16="http://schemas.microsoft.com/office/drawing/2014/main" id="{2E130089-9E55-AC53-6773-0820B16CE747}"/>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7" name="TextBox 13">
              <a:extLst>
                <a:ext uri="{FF2B5EF4-FFF2-40B4-BE49-F238E27FC236}">
                  <a16:creationId xmlns:a16="http://schemas.microsoft.com/office/drawing/2014/main" id="{51E9CBCE-9B31-33B3-9EB1-5632693638A6}"/>
                </a:ext>
              </a:extLst>
            </p:cNvPr>
            <p:cNvSpPr txBox="1"/>
            <p:nvPr/>
          </p:nvSpPr>
          <p:spPr>
            <a:xfrm>
              <a:off x="10896600" y="9599693"/>
              <a:ext cx="6362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Fluid Mechanics</a:t>
              </a:r>
            </a:p>
          </p:txBody>
        </p:sp>
      </p:grpSp>
    </p:spTree>
    <p:extLst>
      <p:ext uri="{BB962C8B-B14F-4D97-AF65-F5344CB8AC3E}">
        <p14:creationId xmlns:p14="http://schemas.microsoft.com/office/powerpoint/2010/main" val="3912981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2" grpId="0"/>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 y="0"/>
            <a:ext cx="18288000" cy="10287000"/>
            <a:chOff x="0" y="0"/>
            <a:chExt cx="27343100" cy="13716000"/>
          </a:xfrm>
        </p:grpSpPr>
        <p:sp>
          <p:nvSpPr>
            <p:cNvPr id="3" name="Freeform 3"/>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sp>
        <p:nvSpPr>
          <p:cNvPr id="8" name="Freeform 8"/>
          <p:cNvSpPr/>
          <p:nvPr/>
        </p:nvSpPr>
        <p:spPr>
          <a:xfrm>
            <a:off x="12076251" y="1662606"/>
            <a:ext cx="2942276" cy="2942276"/>
          </a:xfrm>
          <a:custGeom>
            <a:avLst/>
            <a:gdLst/>
            <a:ahLst/>
            <a:cxnLst/>
            <a:rect l="l" t="t" r="r" b="b"/>
            <a:pathLst>
              <a:path w="2942276" h="2942276">
                <a:moveTo>
                  <a:pt x="0" y="0"/>
                </a:moveTo>
                <a:lnTo>
                  <a:pt x="2942276" y="0"/>
                </a:lnTo>
                <a:lnTo>
                  <a:pt x="2942276" y="2942276"/>
                </a:lnTo>
                <a:lnTo>
                  <a:pt x="0" y="29422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flipH="1">
            <a:off x="2120044" y="6010601"/>
            <a:ext cx="3395204" cy="1049427"/>
          </a:xfrm>
          <a:custGeom>
            <a:avLst/>
            <a:gdLst/>
            <a:ahLst/>
            <a:cxnLst/>
            <a:rect l="l" t="t" r="r" b="b"/>
            <a:pathLst>
              <a:path w="3395204" h="1049427">
                <a:moveTo>
                  <a:pt x="3395205" y="0"/>
                </a:moveTo>
                <a:lnTo>
                  <a:pt x="0" y="0"/>
                </a:lnTo>
                <a:lnTo>
                  <a:pt x="0" y="1049427"/>
                </a:lnTo>
                <a:lnTo>
                  <a:pt x="3395205" y="1049427"/>
                </a:lnTo>
                <a:lnTo>
                  <a:pt x="3395205"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TextBox 10"/>
          <p:cNvSpPr txBox="1"/>
          <p:nvPr/>
        </p:nvSpPr>
        <p:spPr>
          <a:xfrm>
            <a:off x="3269473" y="3960262"/>
            <a:ext cx="11749054" cy="1793183"/>
          </a:xfrm>
          <a:prstGeom prst="rect">
            <a:avLst/>
          </a:prstGeom>
        </p:spPr>
        <p:txBody>
          <a:bodyPr lIns="0" tIns="0" rIns="0" bIns="0" rtlCol="0" anchor="t">
            <a:spAutoFit/>
          </a:bodyPr>
          <a:lstStyle/>
          <a:p>
            <a:pPr algn="ctr">
              <a:lnSpc>
                <a:spcPts val="14620"/>
              </a:lnSpc>
            </a:pPr>
            <a:r>
              <a:rPr lang="en-US" sz="10443" dirty="0">
                <a:solidFill>
                  <a:srgbClr val="000000"/>
                </a:solidFill>
                <a:latin typeface="Fredoka"/>
                <a:ea typeface="Fredoka"/>
                <a:cs typeface="Fredoka"/>
                <a:sym typeface="Fredoka"/>
              </a:rPr>
              <a:t>THANK YOU</a:t>
            </a:r>
          </a:p>
        </p:txBody>
      </p:sp>
      <p:grpSp>
        <p:nvGrpSpPr>
          <p:cNvPr id="14" name="Group 5">
            <a:extLst>
              <a:ext uri="{FF2B5EF4-FFF2-40B4-BE49-F238E27FC236}">
                <a16:creationId xmlns:a16="http://schemas.microsoft.com/office/drawing/2014/main" id="{997EE1D9-F945-1E98-51E8-4649CFE2F648}"/>
              </a:ext>
            </a:extLst>
          </p:cNvPr>
          <p:cNvGrpSpPr/>
          <p:nvPr/>
        </p:nvGrpSpPr>
        <p:grpSpPr>
          <a:xfrm>
            <a:off x="0" y="8353252"/>
            <a:ext cx="18288000" cy="1420979"/>
            <a:chOff x="0" y="0"/>
            <a:chExt cx="5260714" cy="374250"/>
          </a:xfrm>
        </p:grpSpPr>
        <p:sp>
          <p:nvSpPr>
            <p:cNvPr id="15" name="Freeform 6">
              <a:extLst>
                <a:ext uri="{FF2B5EF4-FFF2-40B4-BE49-F238E27FC236}">
                  <a16:creationId xmlns:a16="http://schemas.microsoft.com/office/drawing/2014/main" id="{F64EC73E-B5C2-A4A2-DE7F-F8267FECCE9E}"/>
                </a:ext>
              </a:extLst>
            </p:cNvPr>
            <p:cNvSpPr/>
            <p:nvPr/>
          </p:nvSpPr>
          <p:spPr>
            <a:xfrm>
              <a:off x="0" y="0"/>
              <a:ext cx="5260714" cy="374250"/>
            </a:xfrm>
            <a:custGeom>
              <a:avLst/>
              <a:gdLst/>
              <a:ahLst/>
              <a:cxnLst/>
              <a:rect l="l" t="t" r="r" b="b"/>
              <a:pathLst>
                <a:path w="5260714" h="374250">
                  <a:moveTo>
                    <a:pt x="0" y="0"/>
                  </a:moveTo>
                  <a:lnTo>
                    <a:pt x="5260714" y="0"/>
                  </a:lnTo>
                  <a:lnTo>
                    <a:pt x="5260714" y="374250"/>
                  </a:lnTo>
                  <a:lnTo>
                    <a:pt x="0" y="374250"/>
                  </a:lnTo>
                  <a:close/>
                </a:path>
              </a:pathLst>
            </a:custGeom>
            <a:solidFill>
              <a:srgbClr val="F1F2F2"/>
            </a:solidFill>
          </p:spPr>
        </p:sp>
        <p:sp>
          <p:nvSpPr>
            <p:cNvPr id="16" name="TextBox 7">
              <a:extLst>
                <a:ext uri="{FF2B5EF4-FFF2-40B4-BE49-F238E27FC236}">
                  <a16:creationId xmlns:a16="http://schemas.microsoft.com/office/drawing/2014/main" id="{6F825F64-2141-C165-F5DF-496290D8BF74}"/>
                </a:ext>
              </a:extLst>
            </p:cNvPr>
            <p:cNvSpPr txBox="1"/>
            <p:nvPr/>
          </p:nvSpPr>
          <p:spPr>
            <a:xfrm>
              <a:off x="0" y="-38100"/>
              <a:ext cx="5260714" cy="412350"/>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2">
            <a:extLst>
              <a:ext uri="{FF2B5EF4-FFF2-40B4-BE49-F238E27FC236}">
                <a16:creationId xmlns:a16="http://schemas.microsoft.com/office/drawing/2014/main" id="{A3D2CCD0-A1A3-BAB4-2B30-07CAC39D47D8}"/>
              </a:ext>
            </a:extLst>
          </p:cNvPr>
          <p:cNvSpPr txBox="1"/>
          <p:nvPr/>
        </p:nvSpPr>
        <p:spPr>
          <a:xfrm>
            <a:off x="1028700" y="8743950"/>
            <a:ext cx="5577893" cy="514350"/>
          </a:xfrm>
          <a:prstGeom prst="rect">
            <a:avLst/>
          </a:prstGeom>
        </p:spPr>
        <p:txBody>
          <a:bodyPr lIns="0" tIns="0" rIns="0" bIns="0" rtlCol="0" anchor="t">
            <a:spAutoFit/>
          </a:bodyPr>
          <a:lstStyle/>
          <a:p>
            <a:pPr algn="l">
              <a:lnSpc>
                <a:spcPts val="4200"/>
              </a:lnSpc>
            </a:pPr>
            <a:r>
              <a:rPr lang="en-US" sz="3000" dirty="0">
                <a:solidFill>
                  <a:srgbClr val="000000"/>
                </a:solidFill>
                <a:latin typeface="Nunito 1"/>
                <a:ea typeface="Nunito 1"/>
                <a:cs typeface="Nunito 1"/>
                <a:sym typeface="Nunito 1"/>
              </a:rPr>
              <a:t>ABELE | 2025</a:t>
            </a:r>
          </a:p>
        </p:txBody>
      </p:sp>
      <p:sp>
        <p:nvSpPr>
          <p:cNvPr id="18" name="TextBox 13">
            <a:extLst>
              <a:ext uri="{FF2B5EF4-FFF2-40B4-BE49-F238E27FC236}">
                <a16:creationId xmlns:a16="http://schemas.microsoft.com/office/drawing/2014/main" id="{2702E126-B5B5-4F09-A901-BC28BFBCF505}"/>
              </a:ext>
            </a:extLst>
          </p:cNvPr>
          <p:cNvSpPr txBox="1"/>
          <p:nvPr/>
        </p:nvSpPr>
        <p:spPr>
          <a:xfrm>
            <a:off x="12777754" y="8743950"/>
            <a:ext cx="4481546" cy="514350"/>
          </a:xfrm>
          <a:prstGeom prst="rect">
            <a:avLst/>
          </a:prstGeom>
        </p:spPr>
        <p:txBody>
          <a:bodyPr lIns="0" tIns="0" rIns="0" bIns="0" rtlCol="0" anchor="t">
            <a:spAutoFit/>
          </a:bodyPr>
          <a:lstStyle/>
          <a:p>
            <a:pPr algn="r">
              <a:lnSpc>
                <a:spcPts val="4200"/>
              </a:lnSpc>
            </a:pPr>
            <a:r>
              <a:rPr lang="en-US" sz="3000" dirty="0" err="1">
                <a:solidFill>
                  <a:srgbClr val="000000"/>
                </a:solidFill>
                <a:latin typeface="Nunito 1"/>
                <a:ea typeface="Nunito 1"/>
                <a:cs typeface="Nunito 1"/>
                <a:sym typeface="Nunito 1"/>
              </a:rPr>
              <a:t>ATTRC</a:t>
            </a:r>
            <a:r>
              <a:rPr lang="en-US" sz="3000" dirty="0">
                <a:solidFill>
                  <a:srgbClr val="000000"/>
                </a:solidFill>
                <a:latin typeface="Nunito 1"/>
                <a:ea typeface="Nunito 1"/>
                <a:cs typeface="Nunito 1"/>
                <a:sym typeface="Nunito 1"/>
              </a:rPr>
              <a:t> - Iligan City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3103</TotalTime>
  <Words>3422</Words>
  <Application>Microsoft Office PowerPoint</Application>
  <PresentationFormat>Custom</PresentationFormat>
  <Paragraphs>515</Paragraphs>
  <Slides>33</Slides>
  <Notes>25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33</vt:i4>
      </vt:variant>
    </vt:vector>
  </HeadingPairs>
  <TitlesOfParts>
    <vt:vector size="43" baseType="lpstr">
      <vt:lpstr>Arial</vt:lpstr>
      <vt:lpstr>Fredoka</vt:lpstr>
      <vt:lpstr>Canva Sans</vt:lpstr>
      <vt:lpstr>Calibri</vt:lpstr>
      <vt:lpstr>Courier New</vt:lpstr>
      <vt:lpstr>Nunito 1</vt:lpstr>
      <vt:lpstr>Fredoka SemiBold</vt:lpstr>
      <vt:lpstr>Cambria Math</vt:lpstr>
      <vt:lpstr>Nunito 1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ATTRTC Review</dc:title>
  <dc:creator>Nicole Jane J. Lim</dc:creator>
  <cp:lastModifiedBy>Nicole Jane Lim</cp:lastModifiedBy>
  <cp:revision>83</cp:revision>
  <dcterms:created xsi:type="dcterms:W3CDTF">2006-08-16T00:00:00Z</dcterms:created>
  <dcterms:modified xsi:type="dcterms:W3CDTF">2025-08-05T04:29:51Z</dcterms:modified>
  <dc:identifier>DAGRv5agEMg</dc:identifier>
</cp:coreProperties>
</file>