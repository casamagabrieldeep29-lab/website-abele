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6"/>
  </p:notesMasterIdLst>
  <p:sldIdLst>
    <p:sldId id="256" r:id="rId2"/>
    <p:sldId id="257" r:id="rId3"/>
    <p:sldId id="350" r:id="rId4"/>
    <p:sldId id="351" r:id="rId5"/>
    <p:sldId id="356" r:id="rId6"/>
    <p:sldId id="393" r:id="rId7"/>
    <p:sldId id="385" r:id="rId8"/>
    <p:sldId id="380" r:id="rId9"/>
    <p:sldId id="375" r:id="rId10"/>
    <p:sldId id="391" r:id="rId11"/>
    <p:sldId id="387" r:id="rId12"/>
    <p:sldId id="388" r:id="rId13"/>
    <p:sldId id="389" r:id="rId14"/>
    <p:sldId id="392" r:id="rId15"/>
    <p:sldId id="394" r:id="rId16"/>
    <p:sldId id="434" r:id="rId17"/>
    <p:sldId id="395" r:id="rId18"/>
    <p:sldId id="353" r:id="rId19"/>
    <p:sldId id="381" r:id="rId20"/>
    <p:sldId id="382" r:id="rId21"/>
    <p:sldId id="383" r:id="rId22"/>
    <p:sldId id="384" r:id="rId23"/>
    <p:sldId id="413" r:id="rId24"/>
    <p:sldId id="397" r:id="rId25"/>
    <p:sldId id="352" r:id="rId26"/>
    <p:sldId id="398" r:id="rId27"/>
    <p:sldId id="399" r:id="rId28"/>
    <p:sldId id="400" r:id="rId29"/>
    <p:sldId id="401" r:id="rId30"/>
    <p:sldId id="376" r:id="rId31"/>
    <p:sldId id="369" r:id="rId32"/>
    <p:sldId id="377" r:id="rId33"/>
    <p:sldId id="431" r:id="rId34"/>
    <p:sldId id="379" r:id="rId35"/>
    <p:sldId id="432" r:id="rId36"/>
    <p:sldId id="371" r:id="rId37"/>
    <p:sldId id="426" r:id="rId38"/>
    <p:sldId id="403" r:id="rId39"/>
    <p:sldId id="404" r:id="rId40"/>
    <p:sldId id="430" r:id="rId41"/>
    <p:sldId id="402" r:id="rId42"/>
    <p:sldId id="368" r:id="rId43"/>
    <p:sldId id="420" r:id="rId44"/>
    <p:sldId id="421" r:id="rId45"/>
    <p:sldId id="417" r:id="rId46"/>
    <p:sldId id="405" r:id="rId47"/>
    <p:sldId id="408" r:id="rId48"/>
    <p:sldId id="386" r:id="rId49"/>
    <p:sldId id="422" r:id="rId50"/>
    <p:sldId id="373" r:id="rId51"/>
    <p:sldId id="378" r:id="rId52"/>
    <p:sldId id="374" r:id="rId53"/>
    <p:sldId id="407" r:id="rId54"/>
    <p:sldId id="406" r:id="rId55"/>
    <p:sldId id="409" r:id="rId56"/>
    <p:sldId id="410" r:id="rId57"/>
    <p:sldId id="424" r:id="rId58"/>
    <p:sldId id="367" r:id="rId59"/>
    <p:sldId id="414" r:id="rId60"/>
    <p:sldId id="415" r:id="rId61"/>
    <p:sldId id="416" r:id="rId62"/>
    <p:sldId id="418" r:id="rId63"/>
    <p:sldId id="419" r:id="rId64"/>
    <p:sldId id="271" r:id="rId65"/>
  </p:sldIdLst>
  <p:sldSz cx="18288000" cy="10287000"/>
  <p:notesSz cx="6858000" cy="9144000"/>
  <p:embeddedFontLst>
    <p:embeddedFont>
      <p:font typeface="Cambria Math" panose="02040503050406030204" pitchFamily="18" charset="0"/>
      <p:regular r:id="rId67"/>
    </p:embeddedFont>
    <p:embeddedFont>
      <p:font typeface="Canva Sans" panose="020B0604020202020204" charset="0"/>
      <p:regular r:id="rId68"/>
    </p:embeddedFont>
    <p:embeddedFont>
      <p:font typeface="Fredoka" pitchFamily="2" charset="-79"/>
      <p:regular r:id="rId69"/>
      <p:bold r:id="rId70"/>
    </p:embeddedFont>
    <p:embeddedFont>
      <p:font typeface="Nunito" pitchFamily="2" charset="0"/>
      <p:regular r:id="rId71"/>
      <p:bold r:id="rId72"/>
      <p:italic r:id="rId73"/>
      <p:boldItalic r:id="rId74"/>
    </p:embeddedFont>
    <p:embeddedFont>
      <p:font typeface="Nunito 1" panose="020B0604020202020204" charset="0"/>
      <p:regular r:id="rId75"/>
    </p:embeddedFont>
    <p:embeddedFont>
      <p:font typeface="Nunito 1 Bold" panose="020B0604020202020204" charset="0"/>
      <p:regular r:id="rId7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EE"/>
    <a:srgbClr val="F2F2F2"/>
    <a:srgbClr val="F1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68" autoAdjust="0"/>
    <p:restoredTop sz="88171" autoAdjust="0"/>
  </p:normalViewPr>
  <p:slideViewPr>
    <p:cSldViewPr>
      <p:cViewPr>
        <p:scale>
          <a:sx n="50" d="100"/>
          <a:sy n="50" d="100"/>
        </p:scale>
        <p:origin x="1301"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font" Target="fonts/font8.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0.fntdata"/><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2BD163-B8EE-451D-AFA3-A94063D858EC}" type="datetimeFigureOut">
              <a:rPr lang="en-PH" smtClean="0"/>
              <a:t>05/08/2025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4731FA-A794-438D-9C93-55A23472C33A}" type="slidenum">
              <a:rPr lang="en-PH" smtClean="0"/>
              <a:t>‹#›</a:t>
            </a:fld>
            <a:endParaRPr lang="en-PH"/>
          </a:p>
        </p:txBody>
      </p:sp>
    </p:spTree>
    <p:extLst>
      <p:ext uri="{BB962C8B-B14F-4D97-AF65-F5344CB8AC3E}">
        <p14:creationId xmlns:p14="http://schemas.microsoft.com/office/powerpoint/2010/main" val="2202196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5</a:t>
            </a:fld>
            <a:endParaRPr lang="en-PH"/>
          </a:p>
        </p:txBody>
      </p:sp>
    </p:spTree>
    <p:extLst>
      <p:ext uri="{BB962C8B-B14F-4D97-AF65-F5344CB8AC3E}">
        <p14:creationId xmlns:p14="http://schemas.microsoft.com/office/powerpoint/2010/main" val="1820704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6879C-AA5A-6AC3-4076-FFE24E301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D02DF-88A1-F2A1-58DB-AF9922BAB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814BE-E5BB-4350-298F-7A37BDC08208}"/>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150D9FA9-A01A-91EF-13C6-A11E459DD308}"/>
              </a:ext>
            </a:extLst>
          </p:cNvPr>
          <p:cNvSpPr>
            <a:spLocks noGrp="1"/>
          </p:cNvSpPr>
          <p:nvPr>
            <p:ph type="sldNum" sz="quarter" idx="5"/>
          </p:nvPr>
        </p:nvSpPr>
        <p:spPr/>
        <p:txBody>
          <a:bodyPr/>
          <a:lstStyle/>
          <a:p>
            <a:fld id="{E74731FA-A794-438D-9C93-55A23472C33A}" type="slidenum">
              <a:rPr lang="en-PH" smtClean="0"/>
              <a:t>6</a:t>
            </a:fld>
            <a:endParaRPr lang="en-PH"/>
          </a:p>
        </p:txBody>
      </p:sp>
    </p:spTree>
    <p:extLst>
      <p:ext uri="{BB962C8B-B14F-4D97-AF65-F5344CB8AC3E}">
        <p14:creationId xmlns:p14="http://schemas.microsoft.com/office/powerpoint/2010/main" val="1457284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150A6-274A-5597-81F1-5176A0A93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7935C-5200-5ECA-8FEC-3C2263994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56142-637B-287F-FE89-DF885F21584D}"/>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8840083D-F6B4-4A3C-3A21-87244C53ECA7}"/>
              </a:ext>
            </a:extLst>
          </p:cNvPr>
          <p:cNvSpPr>
            <a:spLocks noGrp="1"/>
          </p:cNvSpPr>
          <p:nvPr>
            <p:ph type="sldNum" sz="quarter" idx="5"/>
          </p:nvPr>
        </p:nvSpPr>
        <p:spPr/>
        <p:txBody>
          <a:bodyPr/>
          <a:lstStyle/>
          <a:p>
            <a:fld id="{E74731FA-A794-438D-9C93-55A23472C33A}" type="slidenum">
              <a:rPr lang="en-PH" smtClean="0"/>
              <a:t>7</a:t>
            </a:fld>
            <a:endParaRPr lang="en-PH"/>
          </a:p>
        </p:txBody>
      </p:sp>
    </p:spTree>
    <p:extLst>
      <p:ext uri="{BB962C8B-B14F-4D97-AF65-F5344CB8AC3E}">
        <p14:creationId xmlns:p14="http://schemas.microsoft.com/office/powerpoint/2010/main" val="1620522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A60FB-ED8A-6576-5F1B-D40A25CFF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12A93-56DF-7ECC-B699-85649A441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E44DF-CA89-9035-374B-AC7A1FF20A3E}"/>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61AFE547-F3F4-916E-4044-8DA77002B7FD}"/>
              </a:ext>
            </a:extLst>
          </p:cNvPr>
          <p:cNvSpPr>
            <a:spLocks noGrp="1"/>
          </p:cNvSpPr>
          <p:nvPr>
            <p:ph type="sldNum" sz="quarter" idx="5"/>
          </p:nvPr>
        </p:nvSpPr>
        <p:spPr/>
        <p:txBody>
          <a:bodyPr/>
          <a:lstStyle/>
          <a:p>
            <a:fld id="{E74731FA-A794-438D-9C93-55A23472C33A}" type="slidenum">
              <a:rPr lang="en-PH" smtClean="0"/>
              <a:t>8</a:t>
            </a:fld>
            <a:endParaRPr lang="en-PH"/>
          </a:p>
        </p:txBody>
      </p:sp>
    </p:spTree>
    <p:extLst>
      <p:ext uri="{BB962C8B-B14F-4D97-AF65-F5344CB8AC3E}">
        <p14:creationId xmlns:p14="http://schemas.microsoft.com/office/powerpoint/2010/main" val="61702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74D0-58F7-E8AE-A788-FE19B9BC7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C647A-C312-9178-5E33-A515C6916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8B131-79F6-9F05-C758-CA2D08223C4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36A69CCC-826B-9910-A7F1-F3E904DA3AAF}"/>
              </a:ext>
            </a:extLst>
          </p:cNvPr>
          <p:cNvSpPr>
            <a:spLocks noGrp="1"/>
          </p:cNvSpPr>
          <p:nvPr>
            <p:ph type="sldNum" sz="quarter" idx="5"/>
          </p:nvPr>
        </p:nvSpPr>
        <p:spPr/>
        <p:txBody>
          <a:bodyPr/>
          <a:lstStyle/>
          <a:p>
            <a:fld id="{E74731FA-A794-438D-9C93-55A23472C33A}" type="slidenum">
              <a:rPr lang="en-PH" smtClean="0"/>
              <a:t>9</a:t>
            </a:fld>
            <a:endParaRPr lang="en-PH"/>
          </a:p>
        </p:txBody>
      </p:sp>
    </p:spTree>
    <p:extLst>
      <p:ext uri="{BB962C8B-B14F-4D97-AF65-F5344CB8AC3E}">
        <p14:creationId xmlns:p14="http://schemas.microsoft.com/office/powerpoint/2010/main" val="1876806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FBB99-89FE-1CA9-A387-B1208258D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A2292-2F44-E50A-C729-4DE4D862A7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B8592-34E7-8AD0-6208-07CC1CDA413F}"/>
              </a:ext>
            </a:extLst>
          </p:cNvPr>
          <p:cNvSpPr>
            <a:spLocks noGrp="1"/>
          </p:cNvSpPr>
          <p:nvPr>
            <p:ph type="body" idx="1"/>
          </p:nvPr>
        </p:nvSpPr>
        <p:spPr/>
        <p:txBody>
          <a:bodyPr/>
          <a:lstStyle/>
          <a:p>
            <a:r>
              <a:rPr lang="en-PH" dirty="0"/>
              <a:t>IE = [(CU x 30 days) – ER]/water delivered</a:t>
            </a:r>
          </a:p>
        </p:txBody>
      </p:sp>
      <p:sp>
        <p:nvSpPr>
          <p:cNvPr id="4" name="Slide Number Placeholder 3">
            <a:extLst>
              <a:ext uri="{FF2B5EF4-FFF2-40B4-BE49-F238E27FC236}">
                <a16:creationId xmlns:a16="http://schemas.microsoft.com/office/drawing/2014/main" id="{30CCB752-A39D-0FFE-677E-7C50576704AB}"/>
              </a:ext>
            </a:extLst>
          </p:cNvPr>
          <p:cNvSpPr>
            <a:spLocks noGrp="1"/>
          </p:cNvSpPr>
          <p:nvPr>
            <p:ph type="sldNum" sz="quarter" idx="5"/>
          </p:nvPr>
        </p:nvSpPr>
        <p:spPr/>
        <p:txBody>
          <a:bodyPr/>
          <a:lstStyle/>
          <a:p>
            <a:fld id="{E74731FA-A794-438D-9C93-55A23472C33A}" type="slidenum">
              <a:rPr lang="en-PH" smtClean="0"/>
              <a:t>10</a:t>
            </a:fld>
            <a:endParaRPr lang="en-PH"/>
          </a:p>
        </p:txBody>
      </p:sp>
    </p:spTree>
    <p:extLst>
      <p:ext uri="{BB962C8B-B14F-4D97-AF65-F5344CB8AC3E}">
        <p14:creationId xmlns:p14="http://schemas.microsoft.com/office/powerpoint/2010/main" val="2860041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07013-721F-BFB1-A3ED-974E28F0B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E006F-4925-6B31-1CC4-B907182E1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D68FC-8C78-2DD1-6FCA-D799CE49536C}"/>
              </a:ext>
            </a:extLst>
          </p:cNvPr>
          <p:cNvSpPr>
            <a:spLocks noGrp="1"/>
          </p:cNvSpPr>
          <p:nvPr>
            <p:ph type="body" idx="1"/>
          </p:nvPr>
        </p:nvSpPr>
        <p:spPr/>
        <p:txBody>
          <a:bodyPr/>
          <a:lstStyle/>
          <a:p>
            <a:r>
              <a:rPr lang="en-PH" dirty="0"/>
              <a:t>Q = [(ET + P) x 5 days x 8 x 10000]/24h x 0.75</a:t>
            </a:r>
          </a:p>
        </p:txBody>
      </p:sp>
      <p:sp>
        <p:nvSpPr>
          <p:cNvPr id="4" name="Slide Number Placeholder 3">
            <a:extLst>
              <a:ext uri="{FF2B5EF4-FFF2-40B4-BE49-F238E27FC236}">
                <a16:creationId xmlns:a16="http://schemas.microsoft.com/office/drawing/2014/main" id="{57CBC62D-585B-2569-BD1C-69E400CDE315}"/>
              </a:ext>
            </a:extLst>
          </p:cNvPr>
          <p:cNvSpPr>
            <a:spLocks noGrp="1"/>
          </p:cNvSpPr>
          <p:nvPr>
            <p:ph type="sldNum" sz="quarter" idx="5"/>
          </p:nvPr>
        </p:nvSpPr>
        <p:spPr/>
        <p:txBody>
          <a:bodyPr/>
          <a:lstStyle/>
          <a:p>
            <a:fld id="{E74731FA-A794-438D-9C93-55A23472C33A}" type="slidenum">
              <a:rPr lang="en-PH" smtClean="0"/>
              <a:t>11</a:t>
            </a:fld>
            <a:endParaRPr lang="en-PH"/>
          </a:p>
        </p:txBody>
      </p:sp>
    </p:spTree>
    <p:extLst>
      <p:ext uri="{BB962C8B-B14F-4D97-AF65-F5344CB8AC3E}">
        <p14:creationId xmlns:p14="http://schemas.microsoft.com/office/powerpoint/2010/main" val="3089835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69DEF-97EC-94EF-0D37-2C5D56E84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7ED07-950E-EE8A-2F39-CDC1F043A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8D80A-25B0-7E1E-F4A8-F37352533B5F}"/>
              </a:ext>
            </a:extLst>
          </p:cNvPr>
          <p:cNvSpPr>
            <a:spLocks noGrp="1"/>
          </p:cNvSpPr>
          <p:nvPr>
            <p:ph type="body" idx="1"/>
          </p:nvPr>
        </p:nvSpPr>
        <p:spPr/>
        <p:txBody>
          <a:bodyPr/>
          <a:lstStyle/>
          <a:p>
            <a:r>
              <a:rPr lang="en-PH" dirty="0"/>
              <a:t>II = [(FC-PWP) x MAD]/CU</a:t>
            </a:r>
          </a:p>
        </p:txBody>
      </p:sp>
      <p:sp>
        <p:nvSpPr>
          <p:cNvPr id="4" name="Slide Number Placeholder 3">
            <a:extLst>
              <a:ext uri="{FF2B5EF4-FFF2-40B4-BE49-F238E27FC236}">
                <a16:creationId xmlns:a16="http://schemas.microsoft.com/office/drawing/2014/main" id="{7D8A632E-1F8B-9C8B-4899-D8EA5E726D91}"/>
              </a:ext>
            </a:extLst>
          </p:cNvPr>
          <p:cNvSpPr>
            <a:spLocks noGrp="1"/>
          </p:cNvSpPr>
          <p:nvPr>
            <p:ph type="sldNum" sz="quarter" idx="5"/>
          </p:nvPr>
        </p:nvSpPr>
        <p:spPr/>
        <p:txBody>
          <a:bodyPr/>
          <a:lstStyle/>
          <a:p>
            <a:fld id="{E74731FA-A794-438D-9C93-55A23472C33A}" type="slidenum">
              <a:rPr lang="en-PH" smtClean="0"/>
              <a:t>12</a:t>
            </a:fld>
            <a:endParaRPr lang="en-PH"/>
          </a:p>
        </p:txBody>
      </p:sp>
    </p:spTree>
    <p:extLst>
      <p:ext uri="{BB962C8B-B14F-4D97-AF65-F5344CB8AC3E}">
        <p14:creationId xmlns:p14="http://schemas.microsoft.com/office/powerpoint/2010/main" val="4124737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FB737-1999-8A9F-C52A-779B0BC87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964C0-4B14-8C69-2EE4-A4D03A691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FF050A-9558-7844-ABEB-8CEA5CD2C05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AEA6651-6F71-623C-06AB-88A90CE50D56}"/>
              </a:ext>
            </a:extLst>
          </p:cNvPr>
          <p:cNvSpPr>
            <a:spLocks noGrp="1"/>
          </p:cNvSpPr>
          <p:nvPr>
            <p:ph type="sldNum" sz="quarter" idx="5"/>
          </p:nvPr>
        </p:nvSpPr>
        <p:spPr/>
        <p:txBody>
          <a:bodyPr/>
          <a:lstStyle/>
          <a:p>
            <a:fld id="{E74731FA-A794-438D-9C93-55A23472C33A}" type="slidenum">
              <a:rPr lang="en-PH" smtClean="0"/>
              <a:t>13</a:t>
            </a:fld>
            <a:endParaRPr lang="en-PH"/>
          </a:p>
        </p:txBody>
      </p:sp>
    </p:spTree>
    <p:extLst>
      <p:ext uri="{BB962C8B-B14F-4D97-AF65-F5344CB8AC3E}">
        <p14:creationId xmlns:p14="http://schemas.microsoft.com/office/powerpoint/2010/main" val="3927169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928A4-9EEE-2BB0-D4D0-8CB01740A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4D7782-6082-1317-0EE7-C66EEF30C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76E1A-300A-B113-090A-E1638D9DAB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3FDCD3-71DE-804C-5500-4B5D63E54BFC}"/>
              </a:ext>
            </a:extLst>
          </p:cNvPr>
          <p:cNvSpPr>
            <a:spLocks noGrp="1"/>
          </p:cNvSpPr>
          <p:nvPr>
            <p:ph type="sldNum" sz="quarter" idx="5"/>
          </p:nvPr>
        </p:nvSpPr>
        <p:spPr/>
        <p:txBody>
          <a:bodyPr/>
          <a:lstStyle/>
          <a:p>
            <a:fld id="{E74731FA-A794-438D-9C93-55A23472C33A}" type="slidenum">
              <a:rPr lang="en-PH" smtClean="0"/>
              <a:t>14</a:t>
            </a:fld>
            <a:endParaRPr lang="en-PH"/>
          </a:p>
        </p:txBody>
      </p:sp>
    </p:spTree>
    <p:extLst>
      <p:ext uri="{BB962C8B-B14F-4D97-AF65-F5344CB8AC3E}">
        <p14:creationId xmlns:p14="http://schemas.microsoft.com/office/powerpoint/2010/main" val="3741411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351B4-F564-C5A3-470E-E5BBD8EF1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D86C2-27BB-5C8C-E111-E0803CF83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5BBC38-3768-BB32-229A-86E15CB744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A12C2-E603-F076-B267-591634C50C4B}"/>
              </a:ext>
            </a:extLst>
          </p:cNvPr>
          <p:cNvSpPr>
            <a:spLocks noGrp="1"/>
          </p:cNvSpPr>
          <p:nvPr>
            <p:ph type="sldNum" sz="quarter" idx="5"/>
          </p:nvPr>
        </p:nvSpPr>
        <p:spPr/>
        <p:txBody>
          <a:bodyPr/>
          <a:lstStyle/>
          <a:p>
            <a:fld id="{E74731FA-A794-438D-9C93-55A23472C33A}" type="slidenum">
              <a:rPr lang="en-PH" smtClean="0"/>
              <a:t>15</a:t>
            </a:fld>
            <a:endParaRPr lang="en-PH"/>
          </a:p>
        </p:txBody>
      </p:sp>
    </p:spTree>
    <p:extLst>
      <p:ext uri="{BB962C8B-B14F-4D97-AF65-F5344CB8AC3E}">
        <p14:creationId xmlns:p14="http://schemas.microsoft.com/office/powerpoint/2010/main" val="36100191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E4992-33C5-663C-B981-4B5EA2191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FB4AA-A2A6-4715-C621-81BE93843C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267C0-2623-81DA-55F1-DBA5985CE1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F6337B-94FB-731E-E867-70B48C10CBF3}"/>
              </a:ext>
            </a:extLst>
          </p:cNvPr>
          <p:cNvSpPr>
            <a:spLocks noGrp="1"/>
          </p:cNvSpPr>
          <p:nvPr>
            <p:ph type="sldNum" sz="quarter" idx="5"/>
          </p:nvPr>
        </p:nvSpPr>
        <p:spPr/>
        <p:txBody>
          <a:bodyPr/>
          <a:lstStyle/>
          <a:p>
            <a:fld id="{E74731FA-A794-438D-9C93-55A23472C33A}" type="slidenum">
              <a:rPr lang="en-PH" smtClean="0"/>
              <a:t>16</a:t>
            </a:fld>
            <a:endParaRPr lang="en-PH"/>
          </a:p>
        </p:txBody>
      </p:sp>
    </p:spTree>
    <p:extLst>
      <p:ext uri="{BB962C8B-B14F-4D97-AF65-F5344CB8AC3E}">
        <p14:creationId xmlns:p14="http://schemas.microsoft.com/office/powerpoint/2010/main" val="12598433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A5655-4733-93E8-2C70-F1AFE97BE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84AE99-CF95-4798-1A13-9D44EA21D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FA832D-0A79-2C01-5B4A-1A9E9DFB44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8AC3BA-14CB-E3C7-F50E-100888AFD08D}"/>
              </a:ext>
            </a:extLst>
          </p:cNvPr>
          <p:cNvSpPr>
            <a:spLocks noGrp="1"/>
          </p:cNvSpPr>
          <p:nvPr>
            <p:ph type="sldNum" sz="quarter" idx="5"/>
          </p:nvPr>
        </p:nvSpPr>
        <p:spPr/>
        <p:txBody>
          <a:bodyPr/>
          <a:lstStyle/>
          <a:p>
            <a:fld id="{E74731FA-A794-438D-9C93-55A23472C33A}" type="slidenum">
              <a:rPr lang="en-PH" smtClean="0"/>
              <a:t>17</a:t>
            </a:fld>
            <a:endParaRPr lang="en-PH"/>
          </a:p>
        </p:txBody>
      </p:sp>
    </p:spTree>
    <p:extLst>
      <p:ext uri="{BB962C8B-B14F-4D97-AF65-F5344CB8AC3E}">
        <p14:creationId xmlns:p14="http://schemas.microsoft.com/office/powerpoint/2010/main" val="33675359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2D6CE-295F-26A6-3C9F-F7C8AC84B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B333E-C5C6-88D7-54E2-112223B28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3C04A-84B0-3570-F5EE-65010A87EC52}"/>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684998AD-416E-9A36-D8BC-3EC78FBB8DAA}"/>
              </a:ext>
            </a:extLst>
          </p:cNvPr>
          <p:cNvSpPr>
            <a:spLocks noGrp="1"/>
          </p:cNvSpPr>
          <p:nvPr>
            <p:ph type="sldNum" sz="quarter" idx="5"/>
          </p:nvPr>
        </p:nvSpPr>
        <p:spPr/>
        <p:txBody>
          <a:bodyPr/>
          <a:lstStyle/>
          <a:p>
            <a:fld id="{E74731FA-A794-438D-9C93-55A23472C33A}" type="slidenum">
              <a:rPr lang="en-PH" smtClean="0"/>
              <a:t>19</a:t>
            </a:fld>
            <a:endParaRPr lang="en-PH"/>
          </a:p>
        </p:txBody>
      </p:sp>
    </p:spTree>
    <p:extLst>
      <p:ext uri="{BB962C8B-B14F-4D97-AF65-F5344CB8AC3E}">
        <p14:creationId xmlns:p14="http://schemas.microsoft.com/office/powerpoint/2010/main" val="108319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17E8-0DAA-AA56-B782-4706A5F0D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21E4DD-4E22-8E7E-7A04-8BBD20E027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CA4FA-0A2C-4D7E-3010-3AF115AF1DFA}"/>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845BC975-A829-8A30-BE69-26A383F6FDC9}"/>
              </a:ext>
            </a:extLst>
          </p:cNvPr>
          <p:cNvSpPr>
            <a:spLocks noGrp="1"/>
          </p:cNvSpPr>
          <p:nvPr>
            <p:ph type="sldNum" sz="quarter" idx="5"/>
          </p:nvPr>
        </p:nvSpPr>
        <p:spPr/>
        <p:txBody>
          <a:bodyPr/>
          <a:lstStyle/>
          <a:p>
            <a:fld id="{E74731FA-A794-438D-9C93-55A23472C33A}" type="slidenum">
              <a:rPr lang="en-PH" smtClean="0"/>
              <a:t>20</a:t>
            </a:fld>
            <a:endParaRPr lang="en-PH"/>
          </a:p>
        </p:txBody>
      </p:sp>
    </p:spTree>
    <p:extLst>
      <p:ext uri="{BB962C8B-B14F-4D97-AF65-F5344CB8AC3E}">
        <p14:creationId xmlns:p14="http://schemas.microsoft.com/office/powerpoint/2010/main" val="9432442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BBBB3-94D0-B225-7A02-F87F4439B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E2C96-5FF8-E9AC-5EDB-EBEF23A1F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96C74-B2E1-939D-6E16-04AE679729F9}"/>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B6E850C4-156B-F7BE-D950-E7162C23BAC6}"/>
              </a:ext>
            </a:extLst>
          </p:cNvPr>
          <p:cNvSpPr>
            <a:spLocks noGrp="1"/>
          </p:cNvSpPr>
          <p:nvPr>
            <p:ph type="sldNum" sz="quarter" idx="5"/>
          </p:nvPr>
        </p:nvSpPr>
        <p:spPr/>
        <p:txBody>
          <a:bodyPr/>
          <a:lstStyle/>
          <a:p>
            <a:fld id="{E74731FA-A794-438D-9C93-55A23472C33A}" type="slidenum">
              <a:rPr lang="en-PH" smtClean="0"/>
              <a:t>21</a:t>
            </a:fld>
            <a:endParaRPr lang="en-PH"/>
          </a:p>
        </p:txBody>
      </p:sp>
    </p:spTree>
    <p:extLst>
      <p:ext uri="{BB962C8B-B14F-4D97-AF65-F5344CB8AC3E}">
        <p14:creationId xmlns:p14="http://schemas.microsoft.com/office/powerpoint/2010/main" val="327202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3644C-FE1B-C7FB-FCED-B06657CEB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F30DE-C3D3-3085-DAC9-71427BC69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43589-D8F4-D54F-414B-346A02308BF0}"/>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72A04FF8-0821-BD37-50FF-7D84D6EC56E6}"/>
              </a:ext>
            </a:extLst>
          </p:cNvPr>
          <p:cNvSpPr>
            <a:spLocks noGrp="1"/>
          </p:cNvSpPr>
          <p:nvPr>
            <p:ph type="sldNum" sz="quarter" idx="5"/>
          </p:nvPr>
        </p:nvSpPr>
        <p:spPr/>
        <p:txBody>
          <a:bodyPr/>
          <a:lstStyle/>
          <a:p>
            <a:fld id="{E74731FA-A794-438D-9C93-55A23472C33A}" type="slidenum">
              <a:rPr lang="en-PH" smtClean="0"/>
              <a:t>22</a:t>
            </a:fld>
            <a:endParaRPr lang="en-PH"/>
          </a:p>
        </p:txBody>
      </p:sp>
    </p:spTree>
    <p:extLst>
      <p:ext uri="{BB962C8B-B14F-4D97-AF65-F5344CB8AC3E}">
        <p14:creationId xmlns:p14="http://schemas.microsoft.com/office/powerpoint/2010/main" val="12738824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23082-03C3-F01B-E58D-5B8C3775D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7678B-CB31-73AF-A988-F9D00052C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BE8AD-2D6F-2EC3-EC6A-F854E95E16D3}"/>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ED43F5D8-DE2C-98F6-675B-4DF6256DC24E}"/>
              </a:ext>
            </a:extLst>
          </p:cNvPr>
          <p:cNvSpPr>
            <a:spLocks noGrp="1"/>
          </p:cNvSpPr>
          <p:nvPr>
            <p:ph type="sldNum" sz="quarter" idx="5"/>
          </p:nvPr>
        </p:nvSpPr>
        <p:spPr/>
        <p:txBody>
          <a:bodyPr/>
          <a:lstStyle/>
          <a:p>
            <a:fld id="{E74731FA-A794-438D-9C93-55A23472C33A}" type="slidenum">
              <a:rPr lang="en-PH" smtClean="0"/>
              <a:t>23</a:t>
            </a:fld>
            <a:endParaRPr lang="en-PH"/>
          </a:p>
        </p:txBody>
      </p:sp>
    </p:spTree>
    <p:extLst>
      <p:ext uri="{BB962C8B-B14F-4D97-AF65-F5344CB8AC3E}">
        <p14:creationId xmlns:p14="http://schemas.microsoft.com/office/powerpoint/2010/main" val="1978853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8D269-33B0-DA6A-D4EC-6A76C3593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0521B-DBA5-3B78-350D-EA366BDF5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5FEB8-A785-B517-AC49-437B5167BC29}"/>
              </a:ext>
            </a:extLst>
          </p:cNvPr>
          <p:cNvSpPr>
            <a:spLocks noGrp="1"/>
          </p:cNvSpPr>
          <p:nvPr>
            <p:ph type="body" idx="1"/>
          </p:nvPr>
        </p:nvSpPr>
        <p:spPr/>
        <p:txBody>
          <a:bodyPr/>
          <a:lstStyle/>
          <a:p>
            <a:pPr algn="ctr"/>
            <a:endParaRPr lang="en-PH" dirty="0"/>
          </a:p>
        </p:txBody>
      </p:sp>
      <p:sp>
        <p:nvSpPr>
          <p:cNvPr id="4" name="Slide Number Placeholder 3">
            <a:extLst>
              <a:ext uri="{FF2B5EF4-FFF2-40B4-BE49-F238E27FC236}">
                <a16:creationId xmlns:a16="http://schemas.microsoft.com/office/drawing/2014/main" id="{B1288944-7AA9-0DA4-11D1-3ED34CF8FEF1}"/>
              </a:ext>
            </a:extLst>
          </p:cNvPr>
          <p:cNvSpPr>
            <a:spLocks noGrp="1"/>
          </p:cNvSpPr>
          <p:nvPr>
            <p:ph type="sldNum" sz="quarter" idx="5"/>
          </p:nvPr>
        </p:nvSpPr>
        <p:spPr/>
        <p:txBody>
          <a:bodyPr/>
          <a:lstStyle/>
          <a:p>
            <a:fld id="{E74731FA-A794-438D-9C93-55A23472C33A}" type="slidenum">
              <a:rPr lang="en-PH" smtClean="0"/>
              <a:t>24</a:t>
            </a:fld>
            <a:endParaRPr lang="en-PH"/>
          </a:p>
        </p:txBody>
      </p:sp>
    </p:spTree>
    <p:extLst>
      <p:ext uri="{BB962C8B-B14F-4D97-AF65-F5344CB8AC3E}">
        <p14:creationId xmlns:p14="http://schemas.microsoft.com/office/powerpoint/2010/main" val="1796479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CDB2F-A870-0AD3-9178-EE2B8B71A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5307F-62CE-E037-8613-3D9244D5AA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9531B-0FC6-CF29-0F96-8D8172FD4A1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00F46B7-053A-F70D-685E-B68A4BF0499A}"/>
              </a:ext>
            </a:extLst>
          </p:cNvPr>
          <p:cNvSpPr>
            <a:spLocks noGrp="1"/>
          </p:cNvSpPr>
          <p:nvPr>
            <p:ph type="sldNum" sz="quarter" idx="5"/>
          </p:nvPr>
        </p:nvSpPr>
        <p:spPr/>
        <p:txBody>
          <a:bodyPr/>
          <a:lstStyle/>
          <a:p>
            <a:fld id="{E74731FA-A794-438D-9C93-55A23472C33A}" type="slidenum">
              <a:rPr lang="en-PH" smtClean="0"/>
              <a:t>26</a:t>
            </a:fld>
            <a:endParaRPr lang="en-PH"/>
          </a:p>
        </p:txBody>
      </p:sp>
    </p:spTree>
    <p:extLst>
      <p:ext uri="{BB962C8B-B14F-4D97-AF65-F5344CB8AC3E}">
        <p14:creationId xmlns:p14="http://schemas.microsoft.com/office/powerpoint/2010/main" val="1386989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E9260-8742-D715-13B8-45E7DAAA0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BB8AB-C1B4-327C-A94E-79DCF93224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23C12C-A853-AE1E-A96C-CA84A0A39D8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B8E732A-805E-E1CA-9CB3-7C377B3DE447}"/>
              </a:ext>
            </a:extLst>
          </p:cNvPr>
          <p:cNvSpPr>
            <a:spLocks noGrp="1"/>
          </p:cNvSpPr>
          <p:nvPr>
            <p:ph type="sldNum" sz="quarter" idx="5"/>
          </p:nvPr>
        </p:nvSpPr>
        <p:spPr/>
        <p:txBody>
          <a:bodyPr/>
          <a:lstStyle/>
          <a:p>
            <a:fld id="{E74731FA-A794-438D-9C93-55A23472C33A}" type="slidenum">
              <a:rPr lang="en-PH" smtClean="0"/>
              <a:t>27</a:t>
            </a:fld>
            <a:endParaRPr lang="en-PH"/>
          </a:p>
        </p:txBody>
      </p:sp>
    </p:spTree>
    <p:extLst>
      <p:ext uri="{BB962C8B-B14F-4D97-AF65-F5344CB8AC3E}">
        <p14:creationId xmlns:p14="http://schemas.microsoft.com/office/powerpoint/2010/main" val="103447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69CAF-01C9-A0F2-F500-041A0D012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2B277-FB20-273F-49B7-32D481888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46CC4-2094-C2A2-F0FE-F76C953DEC1B}"/>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83BE985-BA52-D7DA-D5B3-E1BA64D6BE36}"/>
              </a:ext>
            </a:extLst>
          </p:cNvPr>
          <p:cNvSpPr>
            <a:spLocks noGrp="1"/>
          </p:cNvSpPr>
          <p:nvPr>
            <p:ph type="sldNum" sz="quarter" idx="5"/>
          </p:nvPr>
        </p:nvSpPr>
        <p:spPr/>
        <p:txBody>
          <a:bodyPr/>
          <a:lstStyle/>
          <a:p>
            <a:fld id="{E74731FA-A794-438D-9C93-55A23472C33A}" type="slidenum">
              <a:rPr lang="en-PH" smtClean="0"/>
              <a:t>28</a:t>
            </a:fld>
            <a:endParaRPr lang="en-PH"/>
          </a:p>
        </p:txBody>
      </p:sp>
    </p:spTree>
    <p:extLst>
      <p:ext uri="{BB962C8B-B14F-4D97-AF65-F5344CB8AC3E}">
        <p14:creationId xmlns:p14="http://schemas.microsoft.com/office/powerpoint/2010/main" val="1743230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51A8-58B1-01C4-E273-FDECF5D16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9A99C-4709-76D0-1F13-1205CEC4D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89847C-72C0-4ECB-4901-5BFE5ED705C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A43E123-ED54-920C-8FB6-EC3DC6663F73}"/>
              </a:ext>
            </a:extLst>
          </p:cNvPr>
          <p:cNvSpPr>
            <a:spLocks noGrp="1"/>
          </p:cNvSpPr>
          <p:nvPr>
            <p:ph type="sldNum" sz="quarter" idx="5"/>
          </p:nvPr>
        </p:nvSpPr>
        <p:spPr/>
        <p:txBody>
          <a:bodyPr/>
          <a:lstStyle/>
          <a:p>
            <a:fld id="{E74731FA-A794-438D-9C93-55A23472C33A}" type="slidenum">
              <a:rPr lang="en-PH" smtClean="0"/>
              <a:t>29</a:t>
            </a:fld>
            <a:endParaRPr lang="en-PH"/>
          </a:p>
        </p:txBody>
      </p:sp>
    </p:spTree>
    <p:extLst>
      <p:ext uri="{BB962C8B-B14F-4D97-AF65-F5344CB8AC3E}">
        <p14:creationId xmlns:p14="http://schemas.microsoft.com/office/powerpoint/2010/main" val="3937888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65CCD-BE34-3C53-586B-2B5C471DF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B2AA6B-F477-8DC3-43AD-A4C8A2AAF6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A878FA-5762-F54D-A9F6-7650F0E73EA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C419804-BE72-5F9B-CAA1-7E38BE8BF578}"/>
              </a:ext>
            </a:extLst>
          </p:cNvPr>
          <p:cNvSpPr>
            <a:spLocks noGrp="1"/>
          </p:cNvSpPr>
          <p:nvPr>
            <p:ph type="sldNum" sz="quarter" idx="5"/>
          </p:nvPr>
        </p:nvSpPr>
        <p:spPr/>
        <p:txBody>
          <a:bodyPr/>
          <a:lstStyle/>
          <a:p>
            <a:fld id="{E74731FA-A794-438D-9C93-55A23472C33A}" type="slidenum">
              <a:rPr lang="en-PH" smtClean="0"/>
              <a:t>30</a:t>
            </a:fld>
            <a:endParaRPr lang="en-PH"/>
          </a:p>
        </p:txBody>
      </p:sp>
    </p:spTree>
    <p:extLst>
      <p:ext uri="{BB962C8B-B14F-4D97-AF65-F5344CB8AC3E}">
        <p14:creationId xmlns:p14="http://schemas.microsoft.com/office/powerpoint/2010/main" val="4240511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E75E4-4646-457B-BB56-A5D5360A8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15F99-1276-D996-F547-12E0803FE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4F718-402E-C44C-5147-0ED5BFE2771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1C96B20-0BAA-7B67-1F44-733DF760FBAC}"/>
              </a:ext>
            </a:extLst>
          </p:cNvPr>
          <p:cNvSpPr>
            <a:spLocks noGrp="1"/>
          </p:cNvSpPr>
          <p:nvPr>
            <p:ph type="sldNum" sz="quarter" idx="5"/>
          </p:nvPr>
        </p:nvSpPr>
        <p:spPr/>
        <p:txBody>
          <a:bodyPr/>
          <a:lstStyle/>
          <a:p>
            <a:fld id="{E74731FA-A794-438D-9C93-55A23472C33A}" type="slidenum">
              <a:rPr lang="en-PH" smtClean="0"/>
              <a:t>32</a:t>
            </a:fld>
            <a:endParaRPr lang="en-PH"/>
          </a:p>
        </p:txBody>
      </p:sp>
    </p:spTree>
    <p:extLst>
      <p:ext uri="{BB962C8B-B14F-4D97-AF65-F5344CB8AC3E}">
        <p14:creationId xmlns:p14="http://schemas.microsoft.com/office/powerpoint/2010/main" val="23599074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65BEC-27B9-4143-EEFE-179572499D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4DD09-FA7D-BA30-3561-531BED854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E0F379-76FF-E442-6DA6-F1692AF29DB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3F3465A-EF9E-7F0B-5C70-8921766E7A28}"/>
              </a:ext>
            </a:extLst>
          </p:cNvPr>
          <p:cNvSpPr>
            <a:spLocks noGrp="1"/>
          </p:cNvSpPr>
          <p:nvPr>
            <p:ph type="sldNum" sz="quarter" idx="5"/>
          </p:nvPr>
        </p:nvSpPr>
        <p:spPr/>
        <p:txBody>
          <a:bodyPr/>
          <a:lstStyle/>
          <a:p>
            <a:fld id="{E74731FA-A794-438D-9C93-55A23472C33A}" type="slidenum">
              <a:rPr lang="en-PH" smtClean="0"/>
              <a:t>33</a:t>
            </a:fld>
            <a:endParaRPr lang="en-PH"/>
          </a:p>
        </p:txBody>
      </p:sp>
    </p:spTree>
    <p:extLst>
      <p:ext uri="{BB962C8B-B14F-4D97-AF65-F5344CB8AC3E}">
        <p14:creationId xmlns:p14="http://schemas.microsoft.com/office/powerpoint/2010/main" val="32297624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FF16E-095A-BC99-F1E9-FA09C036E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BA011-DB83-6D7F-7EA6-7A55437B2C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7DAA0-DE44-AF9A-7772-546F19A632C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BB6614D-F4A7-38DE-26AE-26C376549AF2}"/>
              </a:ext>
            </a:extLst>
          </p:cNvPr>
          <p:cNvSpPr>
            <a:spLocks noGrp="1"/>
          </p:cNvSpPr>
          <p:nvPr>
            <p:ph type="sldNum" sz="quarter" idx="5"/>
          </p:nvPr>
        </p:nvSpPr>
        <p:spPr/>
        <p:txBody>
          <a:bodyPr/>
          <a:lstStyle/>
          <a:p>
            <a:fld id="{E74731FA-A794-438D-9C93-55A23472C33A}" type="slidenum">
              <a:rPr lang="en-PH" smtClean="0"/>
              <a:t>34</a:t>
            </a:fld>
            <a:endParaRPr lang="en-PH"/>
          </a:p>
        </p:txBody>
      </p:sp>
    </p:spTree>
    <p:extLst>
      <p:ext uri="{BB962C8B-B14F-4D97-AF65-F5344CB8AC3E}">
        <p14:creationId xmlns:p14="http://schemas.microsoft.com/office/powerpoint/2010/main" val="22928086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2AE63-52EF-11AA-03F6-29D993B4A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1839B-842D-0051-FDC1-EA7F3D85B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8841C-94B3-FC2F-6302-A31DE2C5CC4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C164936-5434-E0BC-6239-B7EF73B9775D}"/>
              </a:ext>
            </a:extLst>
          </p:cNvPr>
          <p:cNvSpPr>
            <a:spLocks noGrp="1"/>
          </p:cNvSpPr>
          <p:nvPr>
            <p:ph type="sldNum" sz="quarter" idx="5"/>
          </p:nvPr>
        </p:nvSpPr>
        <p:spPr/>
        <p:txBody>
          <a:bodyPr/>
          <a:lstStyle/>
          <a:p>
            <a:fld id="{E74731FA-A794-438D-9C93-55A23472C33A}" type="slidenum">
              <a:rPr lang="en-PH" smtClean="0"/>
              <a:t>35</a:t>
            </a:fld>
            <a:endParaRPr lang="en-PH"/>
          </a:p>
        </p:txBody>
      </p:sp>
    </p:spTree>
    <p:extLst>
      <p:ext uri="{BB962C8B-B14F-4D97-AF65-F5344CB8AC3E}">
        <p14:creationId xmlns:p14="http://schemas.microsoft.com/office/powerpoint/2010/main" val="28725479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416EB-B7F2-6F6E-D353-CF6EEAA7D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683B8-68F1-1683-FAD5-8FC590ED1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54D91-E5AB-B5D2-FCE8-35FA6CA2E75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36F3230-8A19-2B55-5F18-0CA693F58CCA}"/>
              </a:ext>
            </a:extLst>
          </p:cNvPr>
          <p:cNvSpPr>
            <a:spLocks noGrp="1"/>
          </p:cNvSpPr>
          <p:nvPr>
            <p:ph type="sldNum" sz="quarter" idx="5"/>
          </p:nvPr>
        </p:nvSpPr>
        <p:spPr/>
        <p:txBody>
          <a:bodyPr/>
          <a:lstStyle/>
          <a:p>
            <a:fld id="{E74731FA-A794-438D-9C93-55A23472C33A}" type="slidenum">
              <a:rPr lang="en-PH" smtClean="0"/>
              <a:t>38</a:t>
            </a:fld>
            <a:endParaRPr lang="en-PH"/>
          </a:p>
        </p:txBody>
      </p:sp>
    </p:spTree>
    <p:extLst>
      <p:ext uri="{BB962C8B-B14F-4D97-AF65-F5344CB8AC3E}">
        <p14:creationId xmlns:p14="http://schemas.microsoft.com/office/powerpoint/2010/main" val="2133887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5A692-F813-C29D-3F8D-151EC1847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29C2D-3B4D-B81E-476F-22A8B2032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6F299-A499-FA7D-9CBF-B0F9E42F4FA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66E6414-6CE3-95A9-A17C-D86EDE2EB94F}"/>
              </a:ext>
            </a:extLst>
          </p:cNvPr>
          <p:cNvSpPr>
            <a:spLocks noGrp="1"/>
          </p:cNvSpPr>
          <p:nvPr>
            <p:ph type="sldNum" sz="quarter" idx="5"/>
          </p:nvPr>
        </p:nvSpPr>
        <p:spPr/>
        <p:txBody>
          <a:bodyPr/>
          <a:lstStyle/>
          <a:p>
            <a:fld id="{E74731FA-A794-438D-9C93-55A23472C33A}" type="slidenum">
              <a:rPr lang="en-PH" smtClean="0"/>
              <a:t>39</a:t>
            </a:fld>
            <a:endParaRPr lang="en-PH"/>
          </a:p>
        </p:txBody>
      </p:sp>
    </p:spTree>
    <p:extLst>
      <p:ext uri="{BB962C8B-B14F-4D97-AF65-F5344CB8AC3E}">
        <p14:creationId xmlns:p14="http://schemas.microsoft.com/office/powerpoint/2010/main" val="33376675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92832-9E27-2131-BB5D-A2B2B2A7E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415B4-297B-4874-A5E4-FBBFC4A72A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DD178-AC9C-715D-666C-F52678D797FE}"/>
              </a:ext>
            </a:extLst>
          </p:cNvPr>
          <p:cNvSpPr>
            <a:spLocks noGrp="1"/>
          </p:cNvSpPr>
          <p:nvPr>
            <p:ph type="body" idx="1"/>
          </p:nvPr>
        </p:nvSpPr>
        <p:spPr/>
        <p:txBody>
          <a:bodyPr/>
          <a:lstStyle/>
          <a:p>
            <a:r>
              <a:rPr lang="en-US" dirty="0"/>
              <a:t>A weir is a barrier across the width of a river that alters the flow characteristics of water and usually results in a change in the height of the river level. They are also used to control the flow of water for outlets of lakes, ponds, and reservoirs.</a:t>
            </a:r>
          </a:p>
          <a:p>
            <a:r>
              <a:rPr lang="en-US" dirty="0"/>
              <a:t>A weir is a notch of regular form through which the water/irrigation stream is made to flow. The notch may be rectangular, trapezoidal, or triangular.</a:t>
            </a:r>
          </a:p>
          <a:p>
            <a:endParaRPr lang="en-US" dirty="0"/>
          </a:p>
          <a:p>
            <a:r>
              <a:rPr lang="en-US" dirty="0"/>
              <a:t>In the context of weirs, </a:t>
            </a:r>
            <a:r>
              <a:rPr lang="en-US" b="1" dirty="0"/>
              <a:t>contractions</a:t>
            </a:r>
            <a:r>
              <a:rPr lang="en-US" dirty="0"/>
              <a:t> refer to restrictions in the flow width, either due to the geometry of the weir opening or the channel. </a:t>
            </a:r>
            <a:r>
              <a:rPr lang="en-US" b="1" dirty="0"/>
              <a:t>End contraction</a:t>
            </a:r>
            <a:r>
              <a:rPr lang="en-US" dirty="0"/>
              <a:t> occurs when the weir does not span the full width of the channel, resulting in a smaller effective flow width. Contractions impact the flow rate by changing how water accelerates as it approaches the weir, which is crucial for accurate discharge calculations.</a:t>
            </a:r>
            <a:endParaRPr lang="en-PH" dirty="0"/>
          </a:p>
        </p:txBody>
      </p:sp>
      <p:sp>
        <p:nvSpPr>
          <p:cNvPr id="4" name="Slide Number Placeholder 3">
            <a:extLst>
              <a:ext uri="{FF2B5EF4-FFF2-40B4-BE49-F238E27FC236}">
                <a16:creationId xmlns:a16="http://schemas.microsoft.com/office/drawing/2014/main" id="{97185726-0C97-F089-1F02-B301EF10AA52}"/>
              </a:ext>
            </a:extLst>
          </p:cNvPr>
          <p:cNvSpPr>
            <a:spLocks noGrp="1"/>
          </p:cNvSpPr>
          <p:nvPr>
            <p:ph type="sldNum" sz="quarter" idx="5"/>
          </p:nvPr>
        </p:nvSpPr>
        <p:spPr/>
        <p:txBody>
          <a:bodyPr/>
          <a:lstStyle/>
          <a:p>
            <a:fld id="{E74731FA-A794-438D-9C93-55A23472C33A}" type="slidenum">
              <a:rPr lang="en-PH" smtClean="0"/>
              <a:t>40</a:t>
            </a:fld>
            <a:endParaRPr lang="en-PH"/>
          </a:p>
        </p:txBody>
      </p:sp>
    </p:spTree>
    <p:extLst>
      <p:ext uri="{BB962C8B-B14F-4D97-AF65-F5344CB8AC3E}">
        <p14:creationId xmlns:p14="http://schemas.microsoft.com/office/powerpoint/2010/main" val="8033265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02E9-F828-9CA9-49D0-93A358A667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309B3-DFD6-A855-6063-EE887F7BC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08955A-A777-9589-2746-F56D6E6B423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00DF878-DF59-5FA2-C7C8-2BB685A6021B}"/>
              </a:ext>
            </a:extLst>
          </p:cNvPr>
          <p:cNvSpPr>
            <a:spLocks noGrp="1"/>
          </p:cNvSpPr>
          <p:nvPr>
            <p:ph type="sldNum" sz="quarter" idx="5"/>
          </p:nvPr>
        </p:nvSpPr>
        <p:spPr/>
        <p:txBody>
          <a:bodyPr/>
          <a:lstStyle/>
          <a:p>
            <a:fld id="{E74731FA-A794-438D-9C93-55A23472C33A}" type="slidenum">
              <a:rPr lang="en-PH" smtClean="0"/>
              <a:t>41</a:t>
            </a:fld>
            <a:endParaRPr lang="en-PH"/>
          </a:p>
        </p:txBody>
      </p:sp>
    </p:spTree>
    <p:extLst>
      <p:ext uri="{BB962C8B-B14F-4D97-AF65-F5344CB8AC3E}">
        <p14:creationId xmlns:p14="http://schemas.microsoft.com/office/powerpoint/2010/main" val="2145924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V = </a:t>
            </a:r>
            <a:r>
              <a:rPr lang="en-PH" dirty="0" err="1"/>
              <a:t>sqr</a:t>
            </a:r>
            <a:r>
              <a:rPr lang="en-PH" dirty="0"/>
              <a:t> 2gh</a:t>
            </a:r>
          </a:p>
        </p:txBody>
      </p:sp>
      <p:sp>
        <p:nvSpPr>
          <p:cNvPr id="4" name="Slide Number Placeholder 3"/>
          <p:cNvSpPr>
            <a:spLocks noGrp="1"/>
          </p:cNvSpPr>
          <p:nvPr>
            <p:ph type="sldNum" sz="quarter" idx="5"/>
          </p:nvPr>
        </p:nvSpPr>
        <p:spPr/>
        <p:txBody>
          <a:bodyPr/>
          <a:lstStyle/>
          <a:p>
            <a:fld id="{E74731FA-A794-438D-9C93-55A23472C33A}" type="slidenum">
              <a:rPr lang="en-PH" smtClean="0"/>
              <a:t>42</a:t>
            </a:fld>
            <a:endParaRPr lang="en-PH"/>
          </a:p>
        </p:txBody>
      </p:sp>
    </p:spTree>
    <p:extLst>
      <p:ext uri="{BB962C8B-B14F-4D97-AF65-F5344CB8AC3E}">
        <p14:creationId xmlns:p14="http://schemas.microsoft.com/office/powerpoint/2010/main" val="3633086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00"/>
                </a:solidFill>
                <a:latin typeface="Nunito 1" panose="020B0604020202020204" charset="0"/>
                <a:ea typeface="Nunito 1 Bold"/>
                <a:cs typeface="Nunito 1 Bold"/>
                <a:sym typeface="Nunito 1 Bold"/>
              </a:rPr>
              <a:t>Q = 0.0184LH</a:t>
            </a:r>
            <a:r>
              <a:rPr lang="en-US" sz="1200" baseline="30000" dirty="0">
                <a:solidFill>
                  <a:srgbClr val="000000"/>
                </a:solidFill>
                <a:latin typeface="Nunito 1" panose="020B0604020202020204" charset="0"/>
                <a:ea typeface="Nunito 1 Bold"/>
                <a:cs typeface="Nunito 1 Bold"/>
                <a:sym typeface="Nunito 1 Bold"/>
              </a:rPr>
              <a:t>3/2</a:t>
            </a:r>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43</a:t>
            </a:fld>
            <a:endParaRPr lang="en-PH"/>
          </a:p>
        </p:txBody>
      </p:sp>
    </p:spTree>
    <p:extLst>
      <p:ext uri="{BB962C8B-B14F-4D97-AF65-F5344CB8AC3E}">
        <p14:creationId xmlns:p14="http://schemas.microsoft.com/office/powerpoint/2010/main" val="17847785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00"/>
                </a:solidFill>
                <a:latin typeface="Nunito 1" panose="020B0604020202020204" charset="0"/>
                <a:ea typeface="Nunito 1 Bold"/>
                <a:cs typeface="Nunito 1 Bold"/>
                <a:sym typeface="Nunito 1 Bold"/>
              </a:rPr>
              <a:t>Q = 0.0138H</a:t>
            </a:r>
            <a:r>
              <a:rPr lang="en-US" sz="1200" baseline="30000" dirty="0">
                <a:solidFill>
                  <a:srgbClr val="000000"/>
                </a:solidFill>
                <a:latin typeface="Nunito 1" panose="020B0604020202020204" charset="0"/>
                <a:ea typeface="Nunito 1 Bold"/>
                <a:cs typeface="Nunito 1 Bold"/>
                <a:sym typeface="Nunito 1 Bold"/>
              </a:rPr>
              <a:t>5/2</a:t>
            </a:r>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44</a:t>
            </a:fld>
            <a:endParaRPr lang="en-PH"/>
          </a:p>
        </p:txBody>
      </p:sp>
    </p:spTree>
    <p:extLst>
      <p:ext uri="{BB962C8B-B14F-4D97-AF65-F5344CB8AC3E}">
        <p14:creationId xmlns:p14="http://schemas.microsoft.com/office/powerpoint/2010/main" val="33414924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3A2CB-5E10-3D49-7A1C-7327CE0CB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45A0E-2752-4C35-8EB1-0BE572219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921DA-40B4-5A12-4BF0-79108A3B3D2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67AC9DC-7F87-645F-81D2-5611958455B6}"/>
              </a:ext>
            </a:extLst>
          </p:cNvPr>
          <p:cNvSpPr>
            <a:spLocks noGrp="1"/>
          </p:cNvSpPr>
          <p:nvPr>
            <p:ph type="sldNum" sz="quarter" idx="5"/>
          </p:nvPr>
        </p:nvSpPr>
        <p:spPr/>
        <p:txBody>
          <a:bodyPr/>
          <a:lstStyle/>
          <a:p>
            <a:fld id="{E74731FA-A794-438D-9C93-55A23472C33A}" type="slidenum">
              <a:rPr lang="en-PH" smtClean="0"/>
              <a:t>46</a:t>
            </a:fld>
            <a:endParaRPr lang="en-PH"/>
          </a:p>
        </p:txBody>
      </p:sp>
    </p:spTree>
    <p:extLst>
      <p:ext uri="{BB962C8B-B14F-4D97-AF65-F5344CB8AC3E}">
        <p14:creationId xmlns:p14="http://schemas.microsoft.com/office/powerpoint/2010/main" val="23112798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n-PH" dirty="0"/>
          </a:p>
        </p:txBody>
      </p:sp>
      <p:sp>
        <p:nvSpPr>
          <p:cNvPr id="4" name="Slide Number Placeholder 3"/>
          <p:cNvSpPr>
            <a:spLocks noGrp="1"/>
          </p:cNvSpPr>
          <p:nvPr>
            <p:ph type="sldNum" sz="quarter" idx="5"/>
          </p:nvPr>
        </p:nvSpPr>
        <p:spPr/>
        <p:txBody>
          <a:bodyPr/>
          <a:lstStyle/>
          <a:p>
            <a:fld id="{E74731FA-A794-438D-9C93-55A23472C33A}" type="slidenum">
              <a:rPr lang="en-PH" smtClean="0"/>
              <a:t>47</a:t>
            </a:fld>
            <a:endParaRPr lang="en-PH"/>
          </a:p>
        </p:txBody>
      </p:sp>
    </p:spTree>
    <p:extLst>
      <p:ext uri="{BB962C8B-B14F-4D97-AF65-F5344CB8AC3E}">
        <p14:creationId xmlns:p14="http://schemas.microsoft.com/office/powerpoint/2010/main" val="18207046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6465C-977B-0B5B-14A5-127A48896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2F4D4-A212-0B8C-3FAD-781CCDC5F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491E1-BCB4-6B7D-F5EB-84453C4CC61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8402890B-6750-50B9-B016-F8DEF22BEB8C}"/>
              </a:ext>
            </a:extLst>
          </p:cNvPr>
          <p:cNvSpPr>
            <a:spLocks noGrp="1"/>
          </p:cNvSpPr>
          <p:nvPr>
            <p:ph type="sldNum" sz="quarter" idx="5"/>
          </p:nvPr>
        </p:nvSpPr>
        <p:spPr/>
        <p:txBody>
          <a:bodyPr/>
          <a:lstStyle/>
          <a:p>
            <a:fld id="{E74731FA-A794-438D-9C93-55A23472C33A}" type="slidenum">
              <a:rPr lang="en-PH" smtClean="0"/>
              <a:t>48</a:t>
            </a:fld>
            <a:endParaRPr lang="en-PH"/>
          </a:p>
        </p:txBody>
      </p:sp>
    </p:spTree>
    <p:extLst>
      <p:ext uri="{BB962C8B-B14F-4D97-AF65-F5344CB8AC3E}">
        <p14:creationId xmlns:p14="http://schemas.microsoft.com/office/powerpoint/2010/main" val="33852897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3DDDF-AB33-BDD9-EE12-F669BF696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0BB3C2-C85A-D5E4-673E-EBF0370FC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81E032-1A9E-3239-4BFD-AEBC71BFD152}"/>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6409E07-AF99-DD88-3D40-205EDBA85327}"/>
              </a:ext>
            </a:extLst>
          </p:cNvPr>
          <p:cNvSpPr>
            <a:spLocks noGrp="1"/>
          </p:cNvSpPr>
          <p:nvPr>
            <p:ph type="sldNum" sz="quarter" idx="5"/>
          </p:nvPr>
        </p:nvSpPr>
        <p:spPr/>
        <p:txBody>
          <a:bodyPr/>
          <a:lstStyle/>
          <a:p>
            <a:fld id="{E74731FA-A794-438D-9C93-55A23472C33A}" type="slidenum">
              <a:rPr lang="en-PH" smtClean="0"/>
              <a:t>49</a:t>
            </a:fld>
            <a:endParaRPr lang="en-PH"/>
          </a:p>
        </p:txBody>
      </p:sp>
    </p:spTree>
    <p:extLst>
      <p:ext uri="{BB962C8B-B14F-4D97-AF65-F5344CB8AC3E}">
        <p14:creationId xmlns:p14="http://schemas.microsoft.com/office/powerpoint/2010/main" val="16357994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B9728-627C-47B6-2831-74947BCCC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CA406-FE3B-2CF0-B8E3-163089A17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A8509-724D-1B36-A011-41AC069DF42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C8118EA-44D0-A40E-CD2C-0F0308476271}"/>
              </a:ext>
            </a:extLst>
          </p:cNvPr>
          <p:cNvSpPr>
            <a:spLocks noGrp="1"/>
          </p:cNvSpPr>
          <p:nvPr>
            <p:ph type="sldNum" sz="quarter" idx="5"/>
          </p:nvPr>
        </p:nvSpPr>
        <p:spPr/>
        <p:txBody>
          <a:bodyPr/>
          <a:lstStyle/>
          <a:p>
            <a:fld id="{E74731FA-A794-438D-9C93-55A23472C33A}" type="slidenum">
              <a:rPr lang="en-PH" smtClean="0"/>
              <a:t>50</a:t>
            </a:fld>
            <a:endParaRPr lang="en-PH"/>
          </a:p>
        </p:txBody>
      </p:sp>
    </p:spTree>
    <p:extLst>
      <p:ext uri="{BB962C8B-B14F-4D97-AF65-F5344CB8AC3E}">
        <p14:creationId xmlns:p14="http://schemas.microsoft.com/office/powerpoint/2010/main" val="24850340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058F-AECD-F885-F9FA-CC38209C7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CB769-A276-97ED-2586-37AE22334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A0E6B-527D-C995-9A26-20641053D5D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92587E9-8BFE-B60F-81CD-405653FCD63E}"/>
              </a:ext>
            </a:extLst>
          </p:cNvPr>
          <p:cNvSpPr>
            <a:spLocks noGrp="1"/>
          </p:cNvSpPr>
          <p:nvPr>
            <p:ph type="sldNum" sz="quarter" idx="5"/>
          </p:nvPr>
        </p:nvSpPr>
        <p:spPr/>
        <p:txBody>
          <a:bodyPr/>
          <a:lstStyle/>
          <a:p>
            <a:fld id="{E74731FA-A794-438D-9C93-55A23472C33A}" type="slidenum">
              <a:rPr lang="en-PH" smtClean="0"/>
              <a:t>51</a:t>
            </a:fld>
            <a:endParaRPr lang="en-PH"/>
          </a:p>
        </p:txBody>
      </p:sp>
    </p:spTree>
    <p:extLst>
      <p:ext uri="{BB962C8B-B14F-4D97-AF65-F5344CB8AC3E}">
        <p14:creationId xmlns:p14="http://schemas.microsoft.com/office/powerpoint/2010/main" val="39183988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6B5B3-9CED-02FA-4B58-15E57A138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D62A7-434A-070D-AFC7-EC6B9047F7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3A6AE-B54C-6371-3F5B-C53EB0CF8E6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C8C4A36-A0F9-90C0-DAAD-9C1DEF4D828B}"/>
              </a:ext>
            </a:extLst>
          </p:cNvPr>
          <p:cNvSpPr>
            <a:spLocks noGrp="1"/>
          </p:cNvSpPr>
          <p:nvPr>
            <p:ph type="sldNum" sz="quarter" idx="5"/>
          </p:nvPr>
        </p:nvSpPr>
        <p:spPr/>
        <p:txBody>
          <a:bodyPr/>
          <a:lstStyle/>
          <a:p>
            <a:fld id="{E74731FA-A794-438D-9C93-55A23472C33A}" type="slidenum">
              <a:rPr lang="en-PH" smtClean="0"/>
              <a:t>52</a:t>
            </a:fld>
            <a:endParaRPr lang="en-PH"/>
          </a:p>
        </p:txBody>
      </p:sp>
    </p:spTree>
    <p:extLst>
      <p:ext uri="{BB962C8B-B14F-4D97-AF65-F5344CB8AC3E}">
        <p14:creationId xmlns:p14="http://schemas.microsoft.com/office/powerpoint/2010/main" val="41602178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47E4F-48C6-AB13-F3C2-1DCB16DB1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9007B-F67C-7152-B9FB-F5E4D2F3B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0A3ED-0702-E30E-7F1E-B5D169116D4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DE6D984-91CD-B864-9C52-978E93109845}"/>
              </a:ext>
            </a:extLst>
          </p:cNvPr>
          <p:cNvSpPr>
            <a:spLocks noGrp="1"/>
          </p:cNvSpPr>
          <p:nvPr>
            <p:ph type="sldNum" sz="quarter" idx="5"/>
          </p:nvPr>
        </p:nvSpPr>
        <p:spPr/>
        <p:txBody>
          <a:bodyPr/>
          <a:lstStyle/>
          <a:p>
            <a:fld id="{E74731FA-A794-438D-9C93-55A23472C33A}" type="slidenum">
              <a:rPr lang="en-PH" smtClean="0"/>
              <a:t>53</a:t>
            </a:fld>
            <a:endParaRPr lang="en-PH"/>
          </a:p>
        </p:txBody>
      </p:sp>
    </p:spTree>
    <p:extLst>
      <p:ext uri="{BB962C8B-B14F-4D97-AF65-F5344CB8AC3E}">
        <p14:creationId xmlns:p14="http://schemas.microsoft.com/office/powerpoint/2010/main" val="30765303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C9C1D-4BAF-19D2-68EE-9A13FC9DD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847B0-C93C-607A-BA4E-EA11CFE41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12687-9321-29B8-FCB2-6C1CD11294FE}"/>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BC935B2-836F-65E7-60CD-2E2B92AA0D85}"/>
              </a:ext>
            </a:extLst>
          </p:cNvPr>
          <p:cNvSpPr>
            <a:spLocks noGrp="1"/>
          </p:cNvSpPr>
          <p:nvPr>
            <p:ph type="sldNum" sz="quarter" idx="5"/>
          </p:nvPr>
        </p:nvSpPr>
        <p:spPr/>
        <p:txBody>
          <a:bodyPr/>
          <a:lstStyle/>
          <a:p>
            <a:fld id="{E74731FA-A794-438D-9C93-55A23472C33A}" type="slidenum">
              <a:rPr lang="en-PH" smtClean="0"/>
              <a:t>54</a:t>
            </a:fld>
            <a:endParaRPr lang="en-PH"/>
          </a:p>
        </p:txBody>
      </p:sp>
    </p:spTree>
    <p:extLst>
      <p:ext uri="{BB962C8B-B14F-4D97-AF65-F5344CB8AC3E}">
        <p14:creationId xmlns:p14="http://schemas.microsoft.com/office/powerpoint/2010/main" val="31537646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EAD2E-F7C7-32B9-A5A5-928D4A16B3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E8FFD-5ACE-9C2D-A54C-B25F5D791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09BC3-FEA9-DD6B-208C-40EC57BD5F9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D5E38AD-CCA9-19A0-341E-8439FFA54D96}"/>
              </a:ext>
            </a:extLst>
          </p:cNvPr>
          <p:cNvSpPr>
            <a:spLocks noGrp="1"/>
          </p:cNvSpPr>
          <p:nvPr>
            <p:ph type="sldNum" sz="quarter" idx="5"/>
          </p:nvPr>
        </p:nvSpPr>
        <p:spPr/>
        <p:txBody>
          <a:bodyPr/>
          <a:lstStyle/>
          <a:p>
            <a:fld id="{E74731FA-A794-438D-9C93-55A23472C33A}" type="slidenum">
              <a:rPr lang="en-PH" smtClean="0"/>
              <a:t>55</a:t>
            </a:fld>
            <a:endParaRPr lang="en-PH"/>
          </a:p>
        </p:txBody>
      </p:sp>
    </p:spTree>
    <p:extLst>
      <p:ext uri="{BB962C8B-B14F-4D97-AF65-F5344CB8AC3E}">
        <p14:creationId xmlns:p14="http://schemas.microsoft.com/office/powerpoint/2010/main" val="36307957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0524A-6F0F-6AC2-17DE-A37DC9920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7645C-D8A9-58F8-67A5-637EF92DC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77F33-D9CF-3D95-8070-A813A7AC9688}"/>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A54FF44E-7194-3063-05EE-B0AF976EC43D}"/>
              </a:ext>
            </a:extLst>
          </p:cNvPr>
          <p:cNvSpPr>
            <a:spLocks noGrp="1"/>
          </p:cNvSpPr>
          <p:nvPr>
            <p:ph type="sldNum" sz="quarter" idx="5"/>
          </p:nvPr>
        </p:nvSpPr>
        <p:spPr/>
        <p:txBody>
          <a:bodyPr/>
          <a:lstStyle/>
          <a:p>
            <a:fld id="{E74731FA-A794-438D-9C93-55A23472C33A}" type="slidenum">
              <a:rPr lang="en-PH" smtClean="0"/>
              <a:t>56</a:t>
            </a:fld>
            <a:endParaRPr lang="en-PH"/>
          </a:p>
        </p:txBody>
      </p:sp>
    </p:spTree>
    <p:extLst>
      <p:ext uri="{BB962C8B-B14F-4D97-AF65-F5344CB8AC3E}">
        <p14:creationId xmlns:p14="http://schemas.microsoft.com/office/powerpoint/2010/main" val="24462372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49955-A32F-7657-C608-33463403F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7B462-8D3E-FFFB-F37F-F5D71CFE9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43A93-FCB6-FA05-72E8-B30A723081AB}"/>
              </a:ext>
            </a:extLst>
          </p:cNvPr>
          <p:cNvSpPr>
            <a:spLocks noGrp="1"/>
          </p:cNvSpPr>
          <p:nvPr>
            <p:ph type="body" idx="1"/>
          </p:nvPr>
        </p:nvSpPr>
        <p:spPr/>
        <p:txBody>
          <a:bodyPr/>
          <a:lstStyle/>
          <a:p>
            <a:endParaRPr lang="en-US" b="0" i="0" dirty="0">
              <a:solidFill>
                <a:srgbClr val="374151"/>
              </a:solidFill>
              <a:effectLst/>
              <a:latin typeface="__Inter_d65c78"/>
            </a:endParaRPr>
          </a:p>
        </p:txBody>
      </p:sp>
      <p:sp>
        <p:nvSpPr>
          <p:cNvPr id="4" name="Slide Number Placeholder 3">
            <a:extLst>
              <a:ext uri="{FF2B5EF4-FFF2-40B4-BE49-F238E27FC236}">
                <a16:creationId xmlns:a16="http://schemas.microsoft.com/office/drawing/2014/main" id="{91B5244B-7FEC-9775-A5B4-8DA3702F2788}"/>
              </a:ext>
            </a:extLst>
          </p:cNvPr>
          <p:cNvSpPr>
            <a:spLocks noGrp="1"/>
          </p:cNvSpPr>
          <p:nvPr>
            <p:ph type="sldNum" sz="quarter" idx="5"/>
          </p:nvPr>
        </p:nvSpPr>
        <p:spPr/>
        <p:txBody>
          <a:bodyPr/>
          <a:lstStyle/>
          <a:p>
            <a:fld id="{E74731FA-A794-438D-9C93-55A23472C33A}" type="slidenum">
              <a:rPr lang="en-PH" smtClean="0"/>
              <a:t>57</a:t>
            </a:fld>
            <a:endParaRPr lang="en-PH"/>
          </a:p>
        </p:txBody>
      </p:sp>
    </p:spTree>
    <p:extLst>
      <p:ext uri="{BB962C8B-B14F-4D97-AF65-F5344CB8AC3E}">
        <p14:creationId xmlns:p14="http://schemas.microsoft.com/office/powerpoint/2010/main" val="2948202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3.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350.png"/><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0.jpeg"/></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18288000" cy="10287000"/>
            <a:chOff x="0" y="0"/>
            <a:chExt cx="27343100"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5" name="Group 5"/>
          <p:cNvGrpSpPr/>
          <p:nvPr/>
        </p:nvGrpSpPr>
        <p:grpSpPr>
          <a:xfrm>
            <a:off x="0" y="8353252"/>
            <a:ext cx="18288000" cy="1420979"/>
            <a:chOff x="0" y="0"/>
            <a:chExt cx="5260714" cy="374250"/>
          </a:xfrm>
        </p:grpSpPr>
        <p:sp>
          <p:nvSpPr>
            <p:cNvPr id="6" name="Freeform 6"/>
            <p:cNvSpPr/>
            <p:nvPr/>
          </p:nvSpPr>
          <p:spPr>
            <a:xfrm>
              <a:off x="0" y="0"/>
              <a:ext cx="5260714" cy="374250"/>
            </a:xfrm>
            <a:custGeom>
              <a:avLst/>
              <a:gdLst/>
              <a:ahLst/>
              <a:cxnLst/>
              <a:rect l="l" t="t" r="r" b="b"/>
              <a:pathLst>
                <a:path w="5260714" h="374250">
                  <a:moveTo>
                    <a:pt x="0" y="0"/>
                  </a:moveTo>
                  <a:lnTo>
                    <a:pt x="5260714" y="0"/>
                  </a:lnTo>
                  <a:lnTo>
                    <a:pt x="5260714" y="374250"/>
                  </a:lnTo>
                  <a:lnTo>
                    <a:pt x="0" y="374250"/>
                  </a:lnTo>
                  <a:close/>
                </a:path>
              </a:pathLst>
            </a:custGeom>
            <a:solidFill>
              <a:srgbClr val="F1F2F2"/>
            </a:solidFill>
          </p:spPr>
        </p:sp>
        <p:sp>
          <p:nvSpPr>
            <p:cNvPr id="7" name="TextBox 7"/>
            <p:cNvSpPr txBox="1"/>
            <p:nvPr/>
          </p:nvSpPr>
          <p:spPr>
            <a:xfrm>
              <a:off x="0" y="-38100"/>
              <a:ext cx="5260714" cy="41235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2399945" y="6931538"/>
            <a:ext cx="3395204" cy="1049427"/>
          </a:xfrm>
          <a:custGeom>
            <a:avLst/>
            <a:gdLst/>
            <a:ahLst/>
            <a:cxnLst/>
            <a:rect l="l" t="t" r="r" b="b"/>
            <a:pathLst>
              <a:path w="3395204" h="1049427">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1668631" y="1573137"/>
            <a:ext cx="14950738" cy="4549859"/>
          </a:xfrm>
          <a:prstGeom prst="rect">
            <a:avLst/>
          </a:prstGeom>
        </p:spPr>
        <p:txBody>
          <a:bodyPr lIns="0" tIns="0" rIns="0" bIns="0" rtlCol="0" anchor="t">
            <a:spAutoFit/>
          </a:bodyPr>
          <a:lstStyle/>
          <a:p>
            <a:pPr algn="ctr">
              <a:lnSpc>
                <a:spcPts val="14620"/>
              </a:lnSpc>
            </a:pPr>
            <a:r>
              <a:rPr lang="en-US" sz="10443">
                <a:solidFill>
                  <a:srgbClr val="000000"/>
                </a:solidFill>
                <a:latin typeface="Fredoka"/>
                <a:ea typeface="Fredoka"/>
                <a:cs typeface="Fredoka"/>
                <a:sym typeface="Fredoka"/>
              </a:rPr>
              <a:t>AREA II:</a:t>
            </a:r>
          </a:p>
          <a:p>
            <a:pPr algn="ctr">
              <a:lnSpc>
                <a:spcPts val="10259"/>
              </a:lnSpc>
            </a:pPr>
            <a:r>
              <a:rPr lang="en-US" sz="8999">
                <a:solidFill>
                  <a:srgbClr val="000000"/>
                </a:solidFill>
                <a:latin typeface="Fredoka"/>
                <a:ea typeface="Fredoka"/>
                <a:cs typeface="Fredoka"/>
                <a:sym typeface="Fredoka"/>
              </a:rPr>
              <a:t>LAND AND WATER RESOURCES ENGINEERING</a:t>
            </a:r>
          </a:p>
        </p:txBody>
      </p:sp>
      <p:sp>
        <p:nvSpPr>
          <p:cNvPr id="11" name="TextBox 11"/>
          <p:cNvSpPr txBox="1"/>
          <p:nvPr/>
        </p:nvSpPr>
        <p:spPr>
          <a:xfrm>
            <a:off x="4190453" y="6893438"/>
            <a:ext cx="9907094" cy="361637"/>
          </a:xfrm>
          <a:prstGeom prst="rect">
            <a:avLst/>
          </a:prstGeom>
        </p:spPr>
        <p:txBody>
          <a:bodyPr lIns="0" tIns="0" rIns="0" bIns="0" rtlCol="0" anchor="t">
            <a:spAutoFit/>
          </a:bodyPr>
          <a:lstStyle/>
          <a:p>
            <a:pPr algn="ctr">
              <a:lnSpc>
                <a:spcPts val="2800"/>
              </a:lnSpc>
            </a:pPr>
            <a:r>
              <a:rPr lang="en-US" sz="2400" b="1" dirty="0">
                <a:solidFill>
                  <a:srgbClr val="000000"/>
                </a:solidFill>
                <a:latin typeface="Nunito 1 Bold"/>
                <a:ea typeface="Nunito 1 Bold"/>
                <a:cs typeface="Nunito 1 Bold"/>
                <a:sym typeface="Nunito 1 Bold"/>
              </a:rPr>
              <a:t>Prepared by: Engr. Nicole Jane J. Lim</a:t>
            </a:r>
          </a:p>
        </p:txBody>
      </p:sp>
      <p:sp>
        <p:nvSpPr>
          <p:cNvPr id="12" name="TextBox 12"/>
          <p:cNvSpPr txBox="1"/>
          <p:nvPr/>
        </p:nvSpPr>
        <p:spPr>
          <a:xfrm>
            <a:off x="1028700" y="8743950"/>
            <a:ext cx="5577893" cy="514350"/>
          </a:xfrm>
          <a:prstGeom prst="rect">
            <a:avLst/>
          </a:prstGeom>
        </p:spPr>
        <p:txBody>
          <a:bodyPr lIns="0" tIns="0" rIns="0" bIns="0" rtlCol="0" anchor="t">
            <a:spAutoFit/>
          </a:bodyPr>
          <a:lstStyle/>
          <a:p>
            <a:pPr algn="l">
              <a:lnSpc>
                <a:spcPts val="4200"/>
              </a:lnSpc>
            </a:pPr>
            <a:r>
              <a:rPr lang="en-US" sz="3000" dirty="0">
                <a:solidFill>
                  <a:srgbClr val="000000"/>
                </a:solidFill>
                <a:latin typeface="Nunito 1"/>
                <a:ea typeface="Nunito 1"/>
                <a:cs typeface="Nunito 1"/>
                <a:sym typeface="Nunito 1"/>
              </a:rPr>
              <a:t>ABELE | 2025</a:t>
            </a:r>
          </a:p>
        </p:txBody>
      </p:sp>
      <p:sp>
        <p:nvSpPr>
          <p:cNvPr id="13" name="TextBox 13"/>
          <p:cNvSpPr txBox="1"/>
          <p:nvPr/>
        </p:nvSpPr>
        <p:spPr>
          <a:xfrm>
            <a:off x="12777754" y="8743950"/>
            <a:ext cx="4481546" cy="514350"/>
          </a:xfrm>
          <a:prstGeom prst="rect">
            <a:avLst/>
          </a:prstGeom>
        </p:spPr>
        <p:txBody>
          <a:bodyPr lIns="0" tIns="0" rIns="0" bIns="0" rtlCol="0" anchor="t">
            <a:spAutoFit/>
          </a:bodyPr>
          <a:lstStyle/>
          <a:p>
            <a:pPr algn="r">
              <a:lnSpc>
                <a:spcPts val="4200"/>
              </a:lnSpc>
            </a:pPr>
            <a:r>
              <a:rPr lang="en-US" sz="3000" dirty="0" err="1">
                <a:solidFill>
                  <a:srgbClr val="000000"/>
                </a:solidFill>
                <a:latin typeface="Nunito 1"/>
                <a:ea typeface="Nunito 1"/>
                <a:cs typeface="Nunito 1"/>
                <a:sym typeface="Nunito 1"/>
              </a:rPr>
              <a:t>ATTRC</a:t>
            </a:r>
            <a:r>
              <a:rPr lang="en-US" sz="3000" dirty="0">
                <a:solidFill>
                  <a:srgbClr val="000000"/>
                </a:solidFill>
                <a:latin typeface="Nunito 1"/>
                <a:ea typeface="Nunito 1"/>
                <a:cs typeface="Nunito 1"/>
                <a:sym typeface="Nunito 1"/>
              </a:rPr>
              <a:t> - Iligan City</a:t>
            </a:r>
          </a:p>
        </p:txBody>
      </p:sp>
      <p:sp>
        <p:nvSpPr>
          <p:cNvPr id="14" name="Freeform 14"/>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t="-44892" r="-174700"/>
            </a:stretch>
          </a:blipFill>
        </p:spPr>
      </p:sp>
      <p:pic>
        <p:nvPicPr>
          <p:cNvPr id="15" name="Picture 2" descr="No photo description available.">
            <a:extLst>
              <a:ext uri="{FF2B5EF4-FFF2-40B4-BE49-F238E27FC236}">
                <a16:creationId xmlns:a16="http://schemas.microsoft.com/office/drawing/2014/main" id="{B4B6732B-8B1E-FA9F-329D-A933B90711C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94088" y="952729"/>
            <a:ext cx="2155854" cy="2155854"/>
          </a:xfrm>
          <a:prstGeom prst="ellipse">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Round Geometric Memphis Design"/>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sp>
        <p:nvSpPr>
          <p:cNvPr id="4" name="TextBox 4"/>
          <p:cNvSpPr txBox="1"/>
          <p:nvPr/>
        </p:nvSpPr>
        <p:spPr>
          <a:xfrm>
            <a:off x="2673585" y="1495435"/>
            <a:ext cx="12940831" cy="2447925"/>
          </a:xfrm>
          <a:prstGeom prst="rect">
            <a:avLst/>
          </a:prstGeom>
        </p:spPr>
        <p:txBody>
          <a:bodyPr lIns="0" tIns="0" rIns="0" bIns="0" rtlCol="0" anchor="t">
            <a:spAutoFit/>
          </a:bodyPr>
          <a:lstStyle/>
          <a:p>
            <a:pPr marL="0" lvl="0" indent="0" algn="ctr">
              <a:lnSpc>
                <a:spcPts val="9600"/>
              </a:lnSpc>
              <a:spcBef>
                <a:spcPct val="0"/>
              </a:spcBef>
            </a:pPr>
            <a:r>
              <a:rPr lang="en-US" sz="8000" dirty="0">
                <a:solidFill>
                  <a:srgbClr val="000000"/>
                </a:solidFill>
                <a:latin typeface="Fredoka"/>
                <a:ea typeface="Fredoka"/>
                <a:cs typeface="Fredoka"/>
                <a:sym typeface="Fredoka"/>
              </a:rPr>
              <a:t>IRRIGATION AND DRAINAGE ENGINEERING</a:t>
            </a:r>
          </a:p>
        </p:txBody>
      </p:sp>
      <p:grpSp>
        <p:nvGrpSpPr>
          <p:cNvPr id="52" name="Group 51">
            <a:extLst>
              <a:ext uri="{FF2B5EF4-FFF2-40B4-BE49-F238E27FC236}">
                <a16:creationId xmlns:a16="http://schemas.microsoft.com/office/drawing/2014/main" id="{5D52C3D3-2A8D-FE8D-613B-C77B75FC372A}"/>
              </a:ext>
            </a:extLst>
          </p:cNvPr>
          <p:cNvGrpSpPr/>
          <p:nvPr/>
        </p:nvGrpSpPr>
        <p:grpSpPr>
          <a:xfrm>
            <a:off x="2673585" y="4405473"/>
            <a:ext cx="6019800" cy="880074"/>
            <a:chOff x="1295400" y="5558827"/>
            <a:chExt cx="6019800" cy="880074"/>
          </a:xfrm>
        </p:grpSpPr>
        <p:grpSp>
          <p:nvGrpSpPr>
            <p:cNvPr id="15" name="Group 10">
              <a:extLst>
                <a:ext uri="{FF2B5EF4-FFF2-40B4-BE49-F238E27FC236}">
                  <a16:creationId xmlns:a16="http://schemas.microsoft.com/office/drawing/2014/main" id="{CA6D57E5-28FF-B36D-BD04-43444F9BFADB}"/>
                </a:ext>
              </a:extLst>
            </p:cNvPr>
            <p:cNvGrpSpPr/>
            <p:nvPr/>
          </p:nvGrpSpPr>
          <p:grpSpPr>
            <a:xfrm>
              <a:off x="1295400" y="5558827"/>
              <a:ext cx="6019800" cy="880074"/>
              <a:chOff x="0" y="0"/>
              <a:chExt cx="3247348" cy="455698"/>
            </a:xfrm>
          </p:grpSpPr>
          <p:sp>
            <p:nvSpPr>
              <p:cNvPr id="16" name="Freeform 11">
                <a:extLst>
                  <a:ext uri="{FF2B5EF4-FFF2-40B4-BE49-F238E27FC236}">
                    <a16:creationId xmlns:a16="http://schemas.microsoft.com/office/drawing/2014/main" id="{81FFA35C-E2E3-8FBB-3915-83ED68FC3DDE}"/>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17" name="TextBox 12">
                <a:extLst>
                  <a:ext uri="{FF2B5EF4-FFF2-40B4-BE49-F238E27FC236}">
                    <a16:creationId xmlns:a16="http://schemas.microsoft.com/office/drawing/2014/main" id="{9E1B37F0-4F53-E73A-AF04-8BEC670E9344}"/>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2015271" y="5659411"/>
              <a:ext cx="4580058" cy="541751"/>
            </a:xfrm>
            <a:prstGeom prst="rect">
              <a:avLst/>
            </a:prstGeom>
          </p:spPr>
          <p:txBody>
            <a:bodyPr lIns="0" tIns="0" rIns="0" bIns="0" rtlCol="0" anchor="t">
              <a:spAutoFit/>
            </a:bodyPr>
            <a:lstStyle/>
            <a:p>
              <a:pPr algn="ctr">
                <a:lnSpc>
                  <a:spcPts val="4620"/>
                </a:lnSpc>
              </a:pPr>
              <a:r>
                <a:rPr lang="en-US" sz="2600" b="1" dirty="0">
                  <a:solidFill>
                    <a:srgbClr val="000000"/>
                  </a:solidFill>
                  <a:latin typeface="Canva Sans"/>
                  <a:ea typeface="Canva Sans"/>
                  <a:cs typeface="Canva Sans"/>
                  <a:sym typeface="Canva Sans"/>
                </a:rPr>
                <a:t>Surveying</a:t>
              </a:r>
            </a:p>
          </p:txBody>
        </p:sp>
      </p:grpSp>
      <p:grpSp>
        <p:nvGrpSpPr>
          <p:cNvPr id="21" name="Group 20">
            <a:extLst>
              <a:ext uri="{FF2B5EF4-FFF2-40B4-BE49-F238E27FC236}">
                <a16:creationId xmlns:a16="http://schemas.microsoft.com/office/drawing/2014/main" id="{02992D13-A5B8-36E8-5F45-32FEEB737F70}"/>
              </a:ext>
            </a:extLst>
          </p:cNvPr>
          <p:cNvGrpSpPr/>
          <p:nvPr/>
        </p:nvGrpSpPr>
        <p:grpSpPr>
          <a:xfrm>
            <a:off x="2673585" y="5624673"/>
            <a:ext cx="6019800" cy="880074"/>
            <a:chOff x="1295400" y="6709252"/>
            <a:chExt cx="6019800" cy="880074"/>
          </a:xfrm>
        </p:grpSpPr>
        <p:grpSp>
          <p:nvGrpSpPr>
            <p:cNvPr id="18" name="Group 10">
              <a:extLst>
                <a:ext uri="{FF2B5EF4-FFF2-40B4-BE49-F238E27FC236}">
                  <a16:creationId xmlns:a16="http://schemas.microsoft.com/office/drawing/2014/main" id="{7394E585-E2CF-6055-BCB9-FAAF8A04B346}"/>
                </a:ext>
              </a:extLst>
            </p:cNvPr>
            <p:cNvGrpSpPr/>
            <p:nvPr/>
          </p:nvGrpSpPr>
          <p:grpSpPr>
            <a:xfrm>
              <a:off x="1295400" y="6709252"/>
              <a:ext cx="6019800" cy="880074"/>
              <a:chOff x="0" y="0"/>
              <a:chExt cx="3247348" cy="455698"/>
            </a:xfrm>
          </p:grpSpPr>
          <p:sp>
            <p:nvSpPr>
              <p:cNvPr id="19" name="Freeform 11">
                <a:extLst>
                  <a:ext uri="{FF2B5EF4-FFF2-40B4-BE49-F238E27FC236}">
                    <a16:creationId xmlns:a16="http://schemas.microsoft.com/office/drawing/2014/main" id="{F7CE2F9B-1182-B17B-D325-4BBB24C8DF2F}"/>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20" name="TextBox 12">
                <a:extLst>
                  <a:ext uri="{FF2B5EF4-FFF2-40B4-BE49-F238E27FC236}">
                    <a16:creationId xmlns:a16="http://schemas.microsoft.com/office/drawing/2014/main" id="{9D747EB2-554C-6B6D-31DD-47590C127339}"/>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Fluid Mechanics</a:t>
              </a:r>
            </a:p>
          </p:txBody>
        </p:sp>
      </p:grpSp>
      <p:grpSp>
        <p:nvGrpSpPr>
          <p:cNvPr id="22" name="Group 21">
            <a:extLst>
              <a:ext uri="{FF2B5EF4-FFF2-40B4-BE49-F238E27FC236}">
                <a16:creationId xmlns:a16="http://schemas.microsoft.com/office/drawing/2014/main" id="{F867F948-1C06-4BA7-CB05-BCF5EAB65403}"/>
              </a:ext>
            </a:extLst>
          </p:cNvPr>
          <p:cNvGrpSpPr/>
          <p:nvPr/>
        </p:nvGrpSpPr>
        <p:grpSpPr>
          <a:xfrm>
            <a:off x="2673585" y="6770292"/>
            <a:ext cx="6019800" cy="880074"/>
            <a:chOff x="1295400" y="6709252"/>
            <a:chExt cx="6019800" cy="880074"/>
          </a:xfrm>
        </p:grpSpPr>
        <p:grpSp>
          <p:nvGrpSpPr>
            <p:cNvPr id="23" name="Group 10">
              <a:extLst>
                <a:ext uri="{FF2B5EF4-FFF2-40B4-BE49-F238E27FC236}">
                  <a16:creationId xmlns:a16="http://schemas.microsoft.com/office/drawing/2014/main" id="{58CFF5F9-EAFF-D0A0-FA2E-CAD99F5E316C}"/>
                </a:ext>
              </a:extLst>
            </p:cNvPr>
            <p:cNvGrpSpPr/>
            <p:nvPr/>
          </p:nvGrpSpPr>
          <p:grpSpPr>
            <a:xfrm>
              <a:off x="1295400" y="6709252"/>
              <a:ext cx="6019800" cy="880074"/>
              <a:chOff x="0" y="0"/>
              <a:chExt cx="3247348" cy="455698"/>
            </a:xfrm>
          </p:grpSpPr>
          <p:sp>
            <p:nvSpPr>
              <p:cNvPr id="25" name="Freeform 11">
                <a:extLst>
                  <a:ext uri="{FF2B5EF4-FFF2-40B4-BE49-F238E27FC236}">
                    <a16:creationId xmlns:a16="http://schemas.microsoft.com/office/drawing/2014/main" id="{5CCDF30F-3D1E-C536-909B-2C3259F2CCC5}"/>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26" name="TextBox 12">
                <a:extLst>
                  <a:ext uri="{FF2B5EF4-FFF2-40B4-BE49-F238E27FC236}">
                    <a16:creationId xmlns:a16="http://schemas.microsoft.com/office/drawing/2014/main" id="{CDD9264F-5263-23B8-7D20-BEE5A40324BA}"/>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24" name="TextBox 6">
              <a:extLst>
                <a:ext uri="{FF2B5EF4-FFF2-40B4-BE49-F238E27FC236}">
                  <a16:creationId xmlns:a16="http://schemas.microsoft.com/office/drawing/2014/main" id="{DD7920BA-C74C-3878-1EAE-EDCC78D1BE86}"/>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Groundwater Hydrology</a:t>
              </a:r>
            </a:p>
          </p:txBody>
        </p:sp>
      </p:grpSp>
      <p:grpSp>
        <p:nvGrpSpPr>
          <p:cNvPr id="29" name="Group 28">
            <a:extLst>
              <a:ext uri="{FF2B5EF4-FFF2-40B4-BE49-F238E27FC236}">
                <a16:creationId xmlns:a16="http://schemas.microsoft.com/office/drawing/2014/main" id="{60222F70-0399-4A77-CBCA-A5DED8F50A33}"/>
              </a:ext>
            </a:extLst>
          </p:cNvPr>
          <p:cNvGrpSpPr/>
          <p:nvPr/>
        </p:nvGrpSpPr>
        <p:grpSpPr>
          <a:xfrm>
            <a:off x="9551873" y="4405473"/>
            <a:ext cx="6019800" cy="880074"/>
            <a:chOff x="1295400" y="6709252"/>
            <a:chExt cx="6019800" cy="880074"/>
          </a:xfrm>
        </p:grpSpPr>
        <p:grpSp>
          <p:nvGrpSpPr>
            <p:cNvPr id="30" name="Group 10">
              <a:extLst>
                <a:ext uri="{FF2B5EF4-FFF2-40B4-BE49-F238E27FC236}">
                  <a16:creationId xmlns:a16="http://schemas.microsoft.com/office/drawing/2014/main" id="{26FA2352-2FE0-0573-EB89-2DD8F13F83D8}"/>
                </a:ext>
              </a:extLst>
            </p:cNvPr>
            <p:cNvGrpSpPr/>
            <p:nvPr/>
          </p:nvGrpSpPr>
          <p:grpSpPr>
            <a:xfrm>
              <a:off x="1295400" y="6709252"/>
              <a:ext cx="6019800" cy="880074"/>
              <a:chOff x="0" y="0"/>
              <a:chExt cx="3247348" cy="455698"/>
            </a:xfrm>
          </p:grpSpPr>
          <p:sp>
            <p:nvSpPr>
              <p:cNvPr id="32" name="Freeform 11">
                <a:extLst>
                  <a:ext uri="{FF2B5EF4-FFF2-40B4-BE49-F238E27FC236}">
                    <a16:creationId xmlns:a16="http://schemas.microsoft.com/office/drawing/2014/main" id="{ABAEDEB5-D286-1E69-433D-2EA3A5AEF501}"/>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33" name="TextBox 12">
                <a:extLst>
                  <a:ext uri="{FF2B5EF4-FFF2-40B4-BE49-F238E27FC236}">
                    <a16:creationId xmlns:a16="http://schemas.microsoft.com/office/drawing/2014/main" id="{DCD6BD17-BD57-E202-9226-1A7DBDC59665}"/>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31" name="TextBox 6">
              <a:extLst>
                <a:ext uri="{FF2B5EF4-FFF2-40B4-BE49-F238E27FC236}">
                  <a16:creationId xmlns:a16="http://schemas.microsoft.com/office/drawing/2014/main" id="{BDD836E0-F179-D95C-4820-DBA6379C74AF}"/>
                </a:ext>
              </a:extLst>
            </p:cNvPr>
            <p:cNvSpPr txBox="1"/>
            <p:nvPr/>
          </p:nvSpPr>
          <p:spPr>
            <a:xfrm>
              <a:off x="1634797" y="6846154"/>
              <a:ext cx="5414229" cy="528478"/>
            </a:xfrm>
            <a:prstGeom prst="rect">
              <a:avLst/>
            </a:prstGeom>
          </p:spPr>
          <p:txBody>
            <a:bodyPr wrap="square"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8DB5B269-8652-4AEA-3EAD-E45CFA8BB4B9}"/>
              </a:ext>
            </a:extLst>
          </p:cNvPr>
          <p:cNvGrpSpPr/>
          <p:nvPr/>
        </p:nvGrpSpPr>
        <p:grpSpPr>
          <a:xfrm>
            <a:off x="9551873" y="5624673"/>
            <a:ext cx="6019800" cy="880074"/>
            <a:chOff x="1295400" y="5558827"/>
            <a:chExt cx="6019800" cy="880074"/>
          </a:xfrm>
        </p:grpSpPr>
        <p:grpSp>
          <p:nvGrpSpPr>
            <p:cNvPr id="54" name="Group 10">
              <a:extLst>
                <a:ext uri="{FF2B5EF4-FFF2-40B4-BE49-F238E27FC236}">
                  <a16:creationId xmlns:a16="http://schemas.microsoft.com/office/drawing/2014/main" id="{6758D15C-1D6B-9C94-4F08-692093EE31AA}"/>
                </a:ext>
              </a:extLst>
            </p:cNvPr>
            <p:cNvGrpSpPr/>
            <p:nvPr/>
          </p:nvGrpSpPr>
          <p:grpSpPr>
            <a:xfrm>
              <a:off x="1295400" y="5558827"/>
              <a:ext cx="6019800" cy="880074"/>
              <a:chOff x="0" y="0"/>
              <a:chExt cx="3247348" cy="455698"/>
            </a:xfrm>
          </p:grpSpPr>
          <p:sp>
            <p:nvSpPr>
              <p:cNvPr id="56" name="Freeform 11">
                <a:extLst>
                  <a:ext uri="{FF2B5EF4-FFF2-40B4-BE49-F238E27FC236}">
                    <a16:creationId xmlns:a16="http://schemas.microsoft.com/office/drawing/2014/main" id="{F32738D0-8D0B-3865-23D7-47E4C29F57AC}"/>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57" name="TextBox 12">
                <a:extLst>
                  <a:ext uri="{FF2B5EF4-FFF2-40B4-BE49-F238E27FC236}">
                    <a16:creationId xmlns:a16="http://schemas.microsoft.com/office/drawing/2014/main" id="{C4198CEB-3F10-9E30-BB38-18156B6E30EE}"/>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55" name="TextBox 5">
              <a:extLst>
                <a:ext uri="{FF2B5EF4-FFF2-40B4-BE49-F238E27FC236}">
                  <a16:creationId xmlns:a16="http://schemas.microsoft.com/office/drawing/2014/main" id="{6B3ECAF5-1F80-2D8A-1DF2-A31DAC552751}"/>
                </a:ext>
              </a:extLst>
            </p:cNvPr>
            <p:cNvSpPr txBox="1"/>
            <p:nvPr/>
          </p:nvSpPr>
          <p:spPr>
            <a:xfrm>
              <a:off x="2051882" y="5651100"/>
              <a:ext cx="4580058" cy="541751"/>
            </a:xfrm>
            <a:prstGeom prst="rect">
              <a:avLst/>
            </a:prstGeom>
          </p:spPr>
          <p:txBody>
            <a:bodyPr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A6B622DC-D04B-F027-1CBF-F8F117EC952A}"/>
              </a:ext>
            </a:extLst>
          </p:cNvPr>
          <p:cNvGrpSpPr/>
          <p:nvPr/>
        </p:nvGrpSpPr>
        <p:grpSpPr>
          <a:xfrm>
            <a:off x="9551873" y="6765162"/>
            <a:ext cx="6019800" cy="880074"/>
            <a:chOff x="1295400" y="6709252"/>
            <a:chExt cx="6019800" cy="880074"/>
          </a:xfrm>
        </p:grpSpPr>
        <p:grpSp>
          <p:nvGrpSpPr>
            <p:cNvPr id="59" name="Group 10">
              <a:extLst>
                <a:ext uri="{FF2B5EF4-FFF2-40B4-BE49-F238E27FC236}">
                  <a16:creationId xmlns:a16="http://schemas.microsoft.com/office/drawing/2014/main" id="{A685B682-44BB-CB0E-B1A9-6581D8062BC5}"/>
                </a:ext>
              </a:extLst>
            </p:cNvPr>
            <p:cNvGrpSpPr/>
            <p:nvPr/>
          </p:nvGrpSpPr>
          <p:grpSpPr>
            <a:xfrm>
              <a:off x="1295400" y="6709252"/>
              <a:ext cx="6019800" cy="880074"/>
              <a:chOff x="0" y="0"/>
              <a:chExt cx="3247348" cy="455698"/>
            </a:xfrm>
          </p:grpSpPr>
          <p:sp>
            <p:nvSpPr>
              <p:cNvPr id="61" name="Freeform 11">
                <a:extLst>
                  <a:ext uri="{FF2B5EF4-FFF2-40B4-BE49-F238E27FC236}">
                    <a16:creationId xmlns:a16="http://schemas.microsoft.com/office/drawing/2014/main" id="{65C6099B-B529-C1F2-533F-EC9B299FF46F}"/>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62" name="TextBox 12">
                <a:extLst>
                  <a:ext uri="{FF2B5EF4-FFF2-40B4-BE49-F238E27FC236}">
                    <a16:creationId xmlns:a16="http://schemas.microsoft.com/office/drawing/2014/main" id="{4FB9F9AE-D89F-4CE4-BFA2-924314D9BB2B}"/>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60" name="TextBox 6">
              <a:extLst>
                <a:ext uri="{FF2B5EF4-FFF2-40B4-BE49-F238E27FC236}">
                  <a16:creationId xmlns:a16="http://schemas.microsoft.com/office/drawing/2014/main" id="{929D3B86-3EDC-9AD0-1657-60245F74EDA2}"/>
                </a:ext>
              </a:extLst>
            </p:cNvPr>
            <p:cNvSpPr txBox="1"/>
            <p:nvPr/>
          </p:nvSpPr>
          <p:spPr>
            <a:xfrm>
              <a:off x="1634797" y="6846154"/>
              <a:ext cx="5414229" cy="528478"/>
            </a:xfrm>
            <a:prstGeom prst="rect">
              <a:avLst/>
            </a:prstGeom>
          </p:spPr>
          <p:txBody>
            <a:bodyPr wrap="square" lIns="0" tIns="0" rIns="0" bIns="0" rtlCol="0" anchor="t">
              <a:spAutoFit/>
            </a:bodyPr>
            <a:lstStyle/>
            <a:p>
              <a:pPr algn="ctr">
                <a:lnSpc>
                  <a:spcPts val="4620"/>
                </a:lnSpc>
              </a:pPr>
              <a:r>
                <a:rPr lang="en-US" sz="2600" b="1" dirty="0">
                  <a:solidFill>
                    <a:srgbClr val="000000"/>
                  </a:solidFill>
                  <a:latin typeface="Canva Sans"/>
                  <a:ea typeface="Canva Sans"/>
                  <a:cs typeface="Canva Sans"/>
                  <a:sym typeface="Canva Sans"/>
                </a:rPr>
                <a:t>Pressurized Irrigation Systems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50959-B5A9-4091-4918-C6E2E6923F31}"/>
            </a:ext>
          </a:extLst>
        </p:cNvPr>
        <p:cNvGrpSpPr/>
        <p:nvPr/>
      </p:nvGrpSpPr>
      <p:grpSpPr>
        <a:xfrm>
          <a:off x="0" y="0"/>
          <a:ext cx="0" cy="0"/>
          <a:chOff x="0" y="0"/>
          <a:chExt cx="0" cy="0"/>
        </a:xfrm>
      </p:grpSpPr>
      <p:sp>
        <p:nvSpPr>
          <p:cNvPr id="2" name="Freeform 2" descr="Round Geometric Memphis Design">
            <a:extLst>
              <a:ext uri="{FF2B5EF4-FFF2-40B4-BE49-F238E27FC236}">
                <a16:creationId xmlns:a16="http://schemas.microsoft.com/office/drawing/2014/main" id="{1B23E305-3BE4-34C4-987E-22EF516491C5}"/>
              </a:ext>
            </a:extLst>
          </p:cNvPr>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a:extLst>
              <a:ext uri="{FF2B5EF4-FFF2-40B4-BE49-F238E27FC236}">
                <a16:creationId xmlns:a16="http://schemas.microsoft.com/office/drawing/2014/main" id="{57D527A9-3E78-8074-451E-6E64741A0408}"/>
              </a:ext>
            </a:extLst>
          </p:cNvPr>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sp>
        <p:nvSpPr>
          <p:cNvPr id="4" name="TextBox 4">
            <a:extLst>
              <a:ext uri="{FF2B5EF4-FFF2-40B4-BE49-F238E27FC236}">
                <a16:creationId xmlns:a16="http://schemas.microsoft.com/office/drawing/2014/main" id="{01D3688E-7712-7941-C520-7184BBC476FA}"/>
              </a:ext>
            </a:extLst>
          </p:cNvPr>
          <p:cNvSpPr txBox="1"/>
          <p:nvPr/>
        </p:nvSpPr>
        <p:spPr>
          <a:xfrm>
            <a:off x="2673585" y="1495435"/>
            <a:ext cx="12940831" cy="2447925"/>
          </a:xfrm>
          <a:prstGeom prst="rect">
            <a:avLst/>
          </a:prstGeom>
        </p:spPr>
        <p:txBody>
          <a:bodyPr lIns="0" tIns="0" rIns="0" bIns="0" rtlCol="0" anchor="t">
            <a:spAutoFit/>
          </a:bodyPr>
          <a:lstStyle/>
          <a:p>
            <a:pPr marL="0" lvl="0" indent="0" algn="ctr">
              <a:lnSpc>
                <a:spcPts val="9600"/>
              </a:lnSpc>
              <a:spcBef>
                <a:spcPct val="0"/>
              </a:spcBef>
            </a:pPr>
            <a:r>
              <a:rPr lang="en-US" sz="8000" dirty="0">
                <a:solidFill>
                  <a:srgbClr val="000000"/>
                </a:solidFill>
                <a:latin typeface="Fredoka"/>
                <a:ea typeface="Fredoka"/>
                <a:cs typeface="Fredoka"/>
                <a:sym typeface="Fredoka"/>
              </a:rPr>
              <a:t>IRRIGATION AND DRAINAGE ENGINEERING</a:t>
            </a:r>
          </a:p>
        </p:txBody>
      </p:sp>
      <p:grpSp>
        <p:nvGrpSpPr>
          <p:cNvPr id="52" name="Group 51">
            <a:extLst>
              <a:ext uri="{FF2B5EF4-FFF2-40B4-BE49-F238E27FC236}">
                <a16:creationId xmlns:a16="http://schemas.microsoft.com/office/drawing/2014/main" id="{773B388D-2815-2148-02FC-AA25EBFFB212}"/>
              </a:ext>
            </a:extLst>
          </p:cNvPr>
          <p:cNvGrpSpPr/>
          <p:nvPr/>
        </p:nvGrpSpPr>
        <p:grpSpPr>
          <a:xfrm>
            <a:off x="2673585" y="4405473"/>
            <a:ext cx="6019800" cy="880074"/>
            <a:chOff x="1295400" y="5558827"/>
            <a:chExt cx="6019800" cy="880074"/>
          </a:xfrm>
          <a:solidFill>
            <a:schemeClr val="bg1">
              <a:lumMod val="95000"/>
            </a:schemeClr>
          </a:solidFill>
        </p:grpSpPr>
        <p:grpSp>
          <p:nvGrpSpPr>
            <p:cNvPr id="15" name="Group 10">
              <a:extLst>
                <a:ext uri="{FF2B5EF4-FFF2-40B4-BE49-F238E27FC236}">
                  <a16:creationId xmlns:a16="http://schemas.microsoft.com/office/drawing/2014/main" id="{88C09B32-7CDF-86C2-A17D-F649D29DA795}"/>
                </a:ext>
              </a:extLst>
            </p:cNvPr>
            <p:cNvGrpSpPr/>
            <p:nvPr/>
          </p:nvGrpSpPr>
          <p:grpSpPr>
            <a:xfrm>
              <a:off x="1295400" y="5558827"/>
              <a:ext cx="6019800" cy="880074"/>
              <a:chOff x="0" y="0"/>
              <a:chExt cx="3247348" cy="455698"/>
            </a:xfrm>
            <a:grpFill/>
          </p:grpSpPr>
          <p:sp>
            <p:nvSpPr>
              <p:cNvPr id="16" name="Freeform 11">
                <a:extLst>
                  <a:ext uri="{FF2B5EF4-FFF2-40B4-BE49-F238E27FC236}">
                    <a16:creationId xmlns:a16="http://schemas.microsoft.com/office/drawing/2014/main" id="{D9C674BA-C6B9-4427-4030-3179295803EE}"/>
                  </a:ext>
                </a:extLst>
              </p:cNvPr>
              <p:cNvSpPr/>
              <p:nvPr/>
            </p:nvSpPr>
            <p:spPr>
              <a:xfrm>
                <a:off x="0" y="0"/>
                <a:ext cx="3247348" cy="455698"/>
              </a:xfrm>
              <a:prstGeom prst="roundRect">
                <a:avLst/>
              </a:prstGeom>
              <a:grpFill/>
              <a:ln w="38100" cap="sq">
                <a:solidFill>
                  <a:srgbClr val="F1F2F2"/>
                </a:solidFill>
                <a:prstDash val="solid"/>
                <a:miter/>
              </a:ln>
            </p:spPr>
          </p:sp>
          <p:sp>
            <p:nvSpPr>
              <p:cNvPr id="17" name="TextBox 12">
                <a:extLst>
                  <a:ext uri="{FF2B5EF4-FFF2-40B4-BE49-F238E27FC236}">
                    <a16:creationId xmlns:a16="http://schemas.microsoft.com/office/drawing/2014/main" id="{5266CFFD-7E3C-D814-F336-60ED4B3D2A1A}"/>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5" name="TextBox 5">
              <a:extLst>
                <a:ext uri="{FF2B5EF4-FFF2-40B4-BE49-F238E27FC236}">
                  <a16:creationId xmlns:a16="http://schemas.microsoft.com/office/drawing/2014/main" id="{84AF6147-9DDB-F1C4-6090-0DC12C7D54D6}"/>
                </a:ext>
              </a:extLst>
            </p:cNvPr>
            <p:cNvSpPr txBox="1"/>
            <p:nvPr/>
          </p:nvSpPr>
          <p:spPr>
            <a:xfrm>
              <a:off x="2015271" y="5659411"/>
              <a:ext cx="4580058" cy="541751"/>
            </a:xfrm>
            <a:prstGeom prst="rect">
              <a:avLst/>
            </a:prstGeom>
            <a:grpFill/>
          </p:spPr>
          <p:txBody>
            <a:bodyPr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Surveying</a:t>
              </a:r>
            </a:p>
          </p:txBody>
        </p:sp>
      </p:grpSp>
      <p:grpSp>
        <p:nvGrpSpPr>
          <p:cNvPr id="21" name="Group 20">
            <a:extLst>
              <a:ext uri="{FF2B5EF4-FFF2-40B4-BE49-F238E27FC236}">
                <a16:creationId xmlns:a16="http://schemas.microsoft.com/office/drawing/2014/main" id="{E9B239FF-DED3-F837-7670-15EEC79E8C81}"/>
              </a:ext>
            </a:extLst>
          </p:cNvPr>
          <p:cNvGrpSpPr/>
          <p:nvPr/>
        </p:nvGrpSpPr>
        <p:grpSpPr>
          <a:xfrm>
            <a:off x="2673585" y="5624673"/>
            <a:ext cx="6019800" cy="880074"/>
            <a:chOff x="1295400" y="6709252"/>
            <a:chExt cx="6019800" cy="880074"/>
          </a:xfrm>
          <a:solidFill>
            <a:schemeClr val="bg1">
              <a:lumMod val="95000"/>
            </a:schemeClr>
          </a:solidFill>
        </p:grpSpPr>
        <p:grpSp>
          <p:nvGrpSpPr>
            <p:cNvPr id="18" name="Group 10">
              <a:extLst>
                <a:ext uri="{FF2B5EF4-FFF2-40B4-BE49-F238E27FC236}">
                  <a16:creationId xmlns:a16="http://schemas.microsoft.com/office/drawing/2014/main" id="{75412720-2FC9-35DA-B20B-D4FDFBA49A61}"/>
                </a:ext>
              </a:extLst>
            </p:cNvPr>
            <p:cNvGrpSpPr/>
            <p:nvPr/>
          </p:nvGrpSpPr>
          <p:grpSpPr>
            <a:xfrm>
              <a:off x="1295400" y="6709252"/>
              <a:ext cx="6019800" cy="880074"/>
              <a:chOff x="0" y="0"/>
              <a:chExt cx="3247348" cy="455698"/>
            </a:xfrm>
            <a:grpFill/>
          </p:grpSpPr>
          <p:sp>
            <p:nvSpPr>
              <p:cNvPr id="19" name="Freeform 11">
                <a:extLst>
                  <a:ext uri="{FF2B5EF4-FFF2-40B4-BE49-F238E27FC236}">
                    <a16:creationId xmlns:a16="http://schemas.microsoft.com/office/drawing/2014/main" id="{0A3C3435-8ACC-BED9-2D7C-A2D1238C171A}"/>
                  </a:ext>
                </a:extLst>
              </p:cNvPr>
              <p:cNvSpPr/>
              <p:nvPr/>
            </p:nvSpPr>
            <p:spPr>
              <a:xfrm>
                <a:off x="0" y="0"/>
                <a:ext cx="3247348" cy="455698"/>
              </a:xfrm>
              <a:prstGeom prst="roundRect">
                <a:avLst/>
              </a:prstGeom>
              <a:grpFill/>
              <a:ln w="38100" cap="sq">
                <a:solidFill>
                  <a:srgbClr val="F1F2F2"/>
                </a:solidFill>
                <a:prstDash val="solid"/>
                <a:miter/>
              </a:ln>
            </p:spPr>
          </p:sp>
          <p:sp>
            <p:nvSpPr>
              <p:cNvPr id="20" name="TextBox 12">
                <a:extLst>
                  <a:ext uri="{FF2B5EF4-FFF2-40B4-BE49-F238E27FC236}">
                    <a16:creationId xmlns:a16="http://schemas.microsoft.com/office/drawing/2014/main" id="{0F4F00F9-B8C6-82F6-865F-B648F2E589C9}"/>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 name="TextBox 6">
              <a:extLst>
                <a:ext uri="{FF2B5EF4-FFF2-40B4-BE49-F238E27FC236}">
                  <a16:creationId xmlns:a16="http://schemas.microsoft.com/office/drawing/2014/main" id="{FDE59E8A-A867-5FFE-47C4-5968C71498BC}"/>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Fluid Mechanics</a:t>
              </a:r>
            </a:p>
          </p:txBody>
        </p:sp>
      </p:grpSp>
      <p:grpSp>
        <p:nvGrpSpPr>
          <p:cNvPr id="22" name="Group 21">
            <a:extLst>
              <a:ext uri="{FF2B5EF4-FFF2-40B4-BE49-F238E27FC236}">
                <a16:creationId xmlns:a16="http://schemas.microsoft.com/office/drawing/2014/main" id="{4A95BBE8-09E4-E6A9-86AD-BC687BECE8E6}"/>
              </a:ext>
            </a:extLst>
          </p:cNvPr>
          <p:cNvGrpSpPr/>
          <p:nvPr/>
        </p:nvGrpSpPr>
        <p:grpSpPr>
          <a:xfrm>
            <a:off x="2673585" y="6770292"/>
            <a:ext cx="6019800" cy="880074"/>
            <a:chOff x="1295400" y="6709252"/>
            <a:chExt cx="6019800" cy="880074"/>
          </a:xfrm>
          <a:solidFill>
            <a:schemeClr val="bg1">
              <a:lumMod val="95000"/>
            </a:schemeClr>
          </a:solidFill>
        </p:grpSpPr>
        <p:grpSp>
          <p:nvGrpSpPr>
            <p:cNvPr id="23" name="Group 10">
              <a:extLst>
                <a:ext uri="{FF2B5EF4-FFF2-40B4-BE49-F238E27FC236}">
                  <a16:creationId xmlns:a16="http://schemas.microsoft.com/office/drawing/2014/main" id="{AB2D0E7D-B11F-BF4E-A978-0847BF5AFD91}"/>
                </a:ext>
              </a:extLst>
            </p:cNvPr>
            <p:cNvGrpSpPr/>
            <p:nvPr/>
          </p:nvGrpSpPr>
          <p:grpSpPr>
            <a:xfrm>
              <a:off x="1295400" y="6709252"/>
              <a:ext cx="6019800" cy="880074"/>
              <a:chOff x="0" y="0"/>
              <a:chExt cx="3247348" cy="455698"/>
            </a:xfrm>
            <a:grpFill/>
          </p:grpSpPr>
          <p:sp>
            <p:nvSpPr>
              <p:cNvPr id="25" name="Freeform 11">
                <a:extLst>
                  <a:ext uri="{FF2B5EF4-FFF2-40B4-BE49-F238E27FC236}">
                    <a16:creationId xmlns:a16="http://schemas.microsoft.com/office/drawing/2014/main" id="{CBA7E631-BA02-24FA-BAFE-4F45526A5C54}"/>
                  </a:ext>
                </a:extLst>
              </p:cNvPr>
              <p:cNvSpPr/>
              <p:nvPr/>
            </p:nvSpPr>
            <p:spPr>
              <a:xfrm>
                <a:off x="0" y="0"/>
                <a:ext cx="3247348" cy="455698"/>
              </a:xfrm>
              <a:prstGeom prst="roundRect">
                <a:avLst/>
              </a:prstGeom>
              <a:grpFill/>
              <a:ln w="38100" cap="sq">
                <a:solidFill>
                  <a:srgbClr val="F1F2F2"/>
                </a:solidFill>
                <a:prstDash val="solid"/>
                <a:miter/>
              </a:ln>
            </p:spPr>
          </p:sp>
          <p:sp>
            <p:nvSpPr>
              <p:cNvPr id="26" name="TextBox 12">
                <a:extLst>
                  <a:ext uri="{FF2B5EF4-FFF2-40B4-BE49-F238E27FC236}">
                    <a16:creationId xmlns:a16="http://schemas.microsoft.com/office/drawing/2014/main" id="{65963200-8AC6-69AF-2C5E-F7FDB504C7A1}"/>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24" name="TextBox 6">
              <a:extLst>
                <a:ext uri="{FF2B5EF4-FFF2-40B4-BE49-F238E27FC236}">
                  <a16:creationId xmlns:a16="http://schemas.microsoft.com/office/drawing/2014/main" id="{0030B5EB-D19E-58BD-1728-750779E67CD4}"/>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Groundwater Hydrology</a:t>
              </a:r>
            </a:p>
          </p:txBody>
        </p:sp>
      </p:grpSp>
      <p:grpSp>
        <p:nvGrpSpPr>
          <p:cNvPr id="29" name="Group 28">
            <a:extLst>
              <a:ext uri="{FF2B5EF4-FFF2-40B4-BE49-F238E27FC236}">
                <a16:creationId xmlns:a16="http://schemas.microsoft.com/office/drawing/2014/main" id="{E1E1EEA7-EB4A-ED29-985E-0FAD098A6132}"/>
              </a:ext>
            </a:extLst>
          </p:cNvPr>
          <p:cNvGrpSpPr/>
          <p:nvPr/>
        </p:nvGrpSpPr>
        <p:grpSpPr>
          <a:xfrm>
            <a:off x="9551873" y="4405473"/>
            <a:ext cx="6019800" cy="880074"/>
            <a:chOff x="1295400" y="6709252"/>
            <a:chExt cx="6019800" cy="880074"/>
          </a:xfrm>
          <a:solidFill>
            <a:schemeClr val="bg1">
              <a:lumMod val="95000"/>
            </a:schemeClr>
          </a:solidFill>
        </p:grpSpPr>
        <p:grpSp>
          <p:nvGrpSpPr>
            <p:cNvPr id="30" name="Group 10">
              <a:extLst>
                <a:ext uri="{FF2B5EF4-FFF2-40B4-BE49-F238E27FC236}">
                  <a16:creationId xmlns:a16="http://schemas.microsoft.com/office/drawing/2014/main" id="{7CA5E73B-1E52-1625-1E33-70243F710977}"/>
                </a:ext>
              </a:extLst>
            </p:cNvPr>
            <p:cNvGrpSpPr/>
            <p:nvPr/>
          </p:nvGrpSpPr>
          <p:grpSpPr>
            <a:xfrm>
              <a:off x="1295400" y="6709252"/>
              <a:ext cx="6019800" cy="880074"/>
              <a:chOff x="0" y="0"/>
              <a:chExt cx="3247348" cy="455698"/>
            </a:xfrm>
            <a:grpFill/>
          </p:grpSpPr>
          <p:sp>
            <p:nvSpPr>
              <p:cNvPr id="32" name="Freeform 11">
                <a:extLst>
                  <a:ext uri="{FF2B5EF4-FFF2-40B4-BE49-F238E27FC236}">
                    <a16:creationId xmlns:a16="http://schemas.microsoft.com/office/drawing/2014/main" id="{F51A3579-F3AF-D447-3E8B-F45873606692}"/>
                  </a:ext>
                </a:extLst>
              </p:cNvPr>
              <p:cNvSpPr/>
              <p:nvPr/>
            </p:nvSpPr>
            <p:spPr>
              <a:xfrm>
                <a:off x="0" y="0"/>
                <a:ext cx="3247348" cy="455698"/>
              </a:xfrm>
              <a:prstGeom prst="roundRect">
                <a:avLst/>
              </a:prstGeom>
              <a:grpFill/>
              <a:ln w="38100" cap="sq">
                <a:solidFill>
                  <a:srgbClr val="F1F2F2"/>
                </a:solidFill>
                <a:prstDash val="solid"/>
                <a:miter/>
              </a:ln>
            </p:spPr>
          </p:sp>
          <p:sp>
            <p:nvSpPr>
              <p:cNvPr id="33" name="TextBox 12">
                <a:extLst>
                  <a:ext uri="{FF2B5EF4-FFF2-40B4-BE49-F238E27FC236}">
                    <a16:creationId xmlns:a16="http://schemas.microsoft.com/office/drawing/2014/main" id="{A1F650FB-907D-44ED-C58E-8CEC66A17B7D}"/>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31" name="TextBox 6">
              <a:extLst>
                <a:ext uri="{FF2B5EF4-FFF2-40B4-BE49-F238E27FC236}">
                  <a16:creationId xmlns:a16="http://schemas.microsoft.com/office/drawing/2014/main" id="{12785D06-E736-A2B6-F5F2-24E0A709C7B1}"/>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Pumps</a:t>
              </a:r>
            </a:p>
          </p:txBody>
        </p:sp>
      </p:grpSp>
      <p:grpSp>
        <p:nvGrpSpPr>
          <p:cNvPr id="53" name="Group 52">
            <a:extLst>
              <a:ext uri="{FF2B5EF4-FFF2-40B4-BE49-F238E27FC236}">
                <a16:creationId xmlns:a16="http://schemas.microsoft.com/office/drawing/2014/main" id="{AE2CF880-B2F2-0167-15DC-55A41891C6A8}"/>
              </a:ext>
            </a:extLst>
          </p:cNvPr>
          <p:cNvGrpSpPr/>
          <p:nvPr/>
        </p:nvGrpSpPr>
        <p:grpSpPr>
          <a:xfrm>
            <a:off x="9551873" y="5624673"/>
            <a:ext cx="6019800" cy="880074"/>
            <a:chOff x="1295400" y="5558827"/>
            <a:chExt cx="6019800" cy="880074"/>
          </a:xfrm>
        </p:grpSpPr>
        <p:grpSp>
          <p:nvGrpSpPr>
            <p:cNvPr id="54" name="Group 10">
              <a:extLst>
                <a:ext uri="{FF2B5EF4-FFF2-40B4-BE49-F238E27FC236}">
                  <a16:creationId xmlns:a16="http://schemas.microsoft.com/office/drawing/2014/main" id="{405621CA-C591-ADAB-9FF9-BC2C29BAEAF0}"/>
                </a:ext>
              </a:extLst>
            </p:cNvPr>
            <p:cNvGrpSpPr/>
            <p:nvPr/>
          </p:nvGrpSpPr>
          <p:grpSpPr>
            <a:xfrm>
              <a:off x="1295400" y="5558827"/>
              <a:ext cx="6019800" cy="880074"/>
              <a:chOff x="0" y="0"/>
              <a:chExt cx="3247348" cy="455698"/>
            </a:xfrm>
          </p:grpSpPr>
          <p:sp>
            <p:nvSpPr>
              <p:cNvPr id="56" name="Freeform 11">
                <a:extLst>
                  <a:ext uri="{FF2B5EF4-FFF2-40B4-BE49-F238E27FC236}">
                    <a16:creationId xmlns:a16="http://schemas.microsoft.com/office/drawing/2014/main" id="{2067F83F-2E81-9E89-4ABF-02848580D899}"/>
                  </a:ext>
                </a:extLst>
              </p:cNvPr>
              <p:cNvSpPr/>
              <p:nvPr/>
            </p:nvSpPr>
            <p:spPr>
              <a:xfrm>
                <a:off x="0" y="0"/>
                <a:ext cx="3247348" cy="455698"/>
              </a:xfrm>
              <a:prstGeom prst="roundRect">
                <a:avLst/>
              </a:prstGeom>
              <a:solidFill>
                <a:srgbClr val="DDDEDE"/>
              </a:solidFill>
              <a:ln w="38100" cap="sq">
                <a:solidFill>
                  <a:srgbClr val="F1F2F2"/>
                </a:solidFill>
                <a:prstDash val="solid"/>
                <a:miter/>
              </a:ln>
            </p:spPr>
          </p:sp>
          <p:sp>
            <p:nvSpPr>
              <p:cNvPr id="57" name="TextBox 12">
                <a:extLst>
                  <a:ext uri="{FF2B5EF4-FFF2-40B4-BE49-F238E27FC236}">
                    <a16:creationId xmlns:a16="http://schemas.microsoft.com/office/drawing/2014/main" id="{98542913-839C-A35D-343B-5275CE114E56}"/>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a:p>
            </p:txBody>
          </p:sp>
        </p:grpSp>
        <p:sp>
          <p:nvSpPr>
            <p:cNvPr id="55" name="TextBox 5">
              <a:extLst>
                <a:ext uri="{FF2B5EF4-FFF2-40B4-BE49-F238E27FC236}">
                  <a16:creationId xmlns:a16="http://schemas.microsoft.com/office/drawing/2014/main" id="{6C497AA2-F9E5-670B-6215-B0123AE2A8ED}"/>
                </a:ext>
              </a:extLst>
            </p:cNvPr>
            <p:cNvSpPr txBox="1"/>
            <p:nvPr/>
          </p:nvSpPr>
          <p:spPr>
            <a:xfrm>
              <a:off x="2051882" y="5651100"/>
              <a:ext cx="4580058" cy="541751"/>
            </a:xfrm>
            <a:prstGeom prst="rect">
              <a:avLst/>
            </a:prstGeom>
          </p:spPr>
          <p:txBody>
            <a:bodyPr lIns="0" tIns="0" rIns="0" bIns="0" rtlCol="0" anchor="t">
              <a:spAutoFit/>
            </a:bodyPr>
            <a:lstStyle/>
            <a:p>
              <a:pPr marL="0" lvl="0" indent="0" algn="ctr">
                <a:lnSpc>
                  <a:spcPts val="4620"/>
                </a:lnSpc>
                <a:spcBef>
                  <a:spcPct val="0"/>
                </a:spcBef>
              </a:pPr>
              <a:r>
                <a:rPr lang="en-US" sz="2600" b="1" dirty="0">
                  <a:solidFill>
                    <a:srgbClr val="000000"/>
                  </a:solidFill>
                  <a:latin typeface="Canva Sans"/>
                  <a:ea typeface="Canva Sans"/>
                  <a:cs typeface="Canva Sans"/>
                  <a:sym typeface="Canva Sans"/>
                </a:rPr>
                <a:t>Open Channel</a:t>
              </a:r>
            </a:p>
          </p:txBody>
        </p:sp>
      </p:grpSp>
      <p:grpSp>
        <p:nvGrpSpPr>
          <p:cNvPr id="58" name="Group 57">
            <a:extLst>
              <a:ext uri="{FF2B5EF4-FFF2-40B4-BE49-F238E27FC236}">
                <a16:creationId xmlns:a16="http://schemas.microsoft.com/office/drawing/2014/main" id="{C5D20BDC-17D5-FFD2-3F2A-BF77EE84E6AF}"/>
              </a:ext>
            </a:extLst>
          </p:cNvPr>
          <p:cNvGrpSpPr/>
          <p:nvPr/>
        </p:nvGrpSpPr>
        <p:grpSpPr>
          <a:xfrm>
            <a:off x="9551873" y="6765162"/>
            <a:ext cx="6019800" cy="880074"/>
            <a:chOff x="1295400" y="6709252"/>
            <a:chExt cx="6019800" cy="880074"/>
          </a:xfrm>
          <a:solidFill>
            <a:schemeClr val="bg1">
              <a:lumMod val="95000"/>
            </a:schemeClr>
          </a:solidFill>
        </p:grpSpPr>
        <p:grpSp>
          <p:nvGrpSpPr>
            <p:cNvPr id="59" name="Group 10">
              <a:extLst>
                <a:ext uri="{FF2B5EF4-FFF2-40B4-BE49-F238E27FC236}">
                  <a16:creationId xmlns:a16="http://schemas.microsoft.com/office/drawing/2014/main" id="{690EB0D2-55FE-2EB8-9F1F-8ED2C90FFD6E}"/>
                </a:ext>
              </a:extLst>
            </p:cNvPr>
            <p:cNvGrpSpPr/>
            <p:nvPr/>
          </p:nvGrpSpPr>
          <p:grpSpPr>
            <a:xfrm>
              <a:off x="1295400" y="6709252"/>
              <a:ext cx="6019800" cy="880074"/>
              <a:chOff x="0" y="0"/>
              <a:chExt cx="3247348" cy="455698"/>
            </a:xfrm>
            <a:grpFill/>
          </p:grpSpPr>
          <p:sp>
            <p:nvSpPr>
              <p:cNvPr id="61" name="Freeform 11">
                <a:extLst>
                  <a:ext uri="{FF2B5EF4-FFF2-40B4-BE49-F238E27FC236}">
                    <a16:creationId xmlns:a16="http://schemas.microsoft.com/office/drawing/2014/main" id="{CEDC7B16-861E-A898-FB59-409A1D10D976}"/>
                  </a:ext>
                </a:extLst>
              </p:cNvPr>
              <p:cNvSpPr/>
              <p:nvPr/>
            </p:nvSpPr>
            <p:spPr>
              <a:xfrm>
                <a:off x="0" y="0"/>
                <a:ext cx="3247348" cy="455698"/>
              </a:xfrm>
              <a:prstGeom prst="roundRect">
                <a:avLst/>
              </a:prstGeom>
              <a:grpFill/>
              <a:ln w="38100" cap="sq">
                <a:solidFill>
                  <a:srgbClr val="F1F2F2"/>
                </a:solidFill>
                <a:prstDash val="solid"/>
                <a:miter/>
              </a:ln>
            </p:spPr>
          </p:sp>
          <p:sp>
            <p:nvSpPr>
              <p:cNvPr id="62" name="TextBox 12">
                <a:extLst>
                  <a:ext uri="{FF2B5EF4-FFF2-40B4-BE49-F238E27FC236}">
                    <a16:creationId xmlns:a16="http://schemas.microsoft.com/office/drawing/2014/main" id="{9FE50E98-74E9-494D-B856-F0CA7F6E1E0A}"/>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0" name="TextBox 6">
              <a:extLst>
                <a:ext uri="{FF2B5EF4-FFF2-40B4-BE49-F238E27FC236}">
                  <a16:creationId xmlns:a16="http://schemas.microsoft.com/office/drawing/2014/main" id="{A8B16332-88BC-CE3B-5691-5DA059E18AB6}"/>
                </a:ext>
              </a:extLst>
            </p:cNvPr>
            <p:cNvSpPr txBox="1"/>
            <p:nvPr/>
          </p:nvSpPr>
          <p:spPr>
            <a:xfrm>
              <a:off x="1634797" y="6846154"/>
              <a:ext cx="5414229" cy="528478"/>
            </a:xfrm>
            <a:prstGeom prst="rect">
              <a:avLst/>
            </a:prstGeom>
            <a:grpFill/>
          </p:spPr>
          <p:txBody>
            <a:bodyPr wrap="square"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Pressurized Irrigation Systems</a:t>
              </a:r>
            </a:p>
          </p:txBody>
        </p:sp>
      </p:grpSp>
    </p:spTree>
    <p:extLst>
      <p:ext uri="{BB962C8B-B14F-4D97-AF65-F5344CB8AC3E}">
        <p14:creationId xmlns:p14="http://schemas.microsoft.com/office/powerpoint/2010/main" val="527113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0570A-CBBE-E8D6-3BC3-D7CA90FDBE9F}"/>
            </a:ext>
          </a:extLst>
        </p:cNvPr>
        <p:cNvGrpSpPr/>
        <p:nvPr/>
      </p:nvGrpSpPr>
      <p:grpSpPr>
        <a:xfrm>
          <a:off x="0" y="0"/>
          <a:ext cx="0" cy="0"/>
          <a:chOff x="0" y="0"/>
          <a:chExt cx="0" cy="0"/>
        </a:xfrm>
      </p:grpSpPr>
      <p:sp>
        <p:nvSpPr>
          <p:cNvPr id="2" name="Freeform 2" descr="Round Geometric Memphis Design">
            <a:extLst>
              <a:ext uri="{FF2B5EF4-FFF2-40B4-BE49-F238E27FC236}">
                <a16:creationId xmlns:a16="http://schemas.microsoft.com/office/drawing/2014/main" id="{48D6ECA3-A805-F614-9F6B-10EE37DA6E17}"/>
              </a:ext>
            </a:extLst>
          </p:cNvPr>
          <p:cNvSpPr/>
          <p:nvPr/>
        </p:nvSpPr>
        <p:spPr>
          <a:xfrm>
            <a:off x="600877" y="559518"/>
            <a:ext cx="2942276" cy="2942276"/>
          </a:xfrm>
          <a:custGeom>
            <a:avLst/>
            <a:gdLst/>
            <a:ahLst/>
            <a:cxnLst/>
            <a:rect l="l" t="t" r="r" b="b"/>
            <a:pathLst>
              <a:path w="2942276" h="2942276">
                <a:moveTo>
                  <a:pt x="0" y="0"/>
                </a:moveTo>
                <a:lnTo>
                  <a:pt x="2942276" y="0"/>
                </a:lnTo>
                <a:lnTo>
                  <a:pt x="2942276" y="2942277"/>
                </a:lnTo>
                <a:lnTo>
                  <a:pt x="0" y="29422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descr="Round Geometric Memphis Design">
            <a:extLst>
              <a:ext uri="{FF2B5EF4-FFF2-40B4-BE49-F238E27FC236}">
                <a16:creationId xmlns:a16="http://schemas.microsoft.com/office/drawing/2014/main" id="{88627C5E-B334-0D66-7AD1-617D16DCF80F}"/>
              </a:ext>
            </a:extLst>
          </p:cNvPr>
          <p:cNvSpPr/>
          <p:nvPr/>
        </p:nvSpPr>
        <p:spPr>
          <a:xfrm>
            <a:off x="17216912" y="0"/>
            <a:ext cx="1071088" cy="203065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2">
              <a:extLst>
                <a:ext uri="{96DAC541-7B7A-43D3-8B79-37D633B846F1}">
                  <asvg:svgBlip xmlns:asvg="http://schemas.microsoft.com/office/drawing/2016/SVG/main" r:embed="rId3"/>
                </a:ext>
              </a:extLst>
            </a:blip>
            <a:stretch>
              <a:fillRect t="-44892" r="-174700"/>
            </a:stretch>
          </a:blipFill>
        </p:spPr>
      </p:sp>
      <p:grpSp>
        <p:nvGrpSpPr>
          <p:cNvPr id="52" name="Group 51">
            <a:extLst>
              <a:ext uri="{FF2B5EF4-FFF2-40B4-BE49-F238E27FC236}">
                <a16:creationId xmlns:a16="http://schemas.microsoft.com/office/drawing/2014/main" id="{56D4E094-107A-1D89-93B2-590F114F7962}"/>
              </a:ext>
            </a:extLst>
          </p:cNvPr>
          <p:cNvGrpSpPr/>
          <p:nvPr/>
        </p:nvGrpSpPr>
        <p:grpSpPr>
          <a:xfrm>
            <a:off x="-13639800" y="4405473"/>
            <a:ext cx="6019800" cy="880074"/>
            <a:chOff x="1295400" y="5558827"/>
            <a:chExt cx="6019800" cy="880074"/>
          </a:xfrm>
          <a:solidFill>
            <a:schemeClr val="bg1">
              <a:lumMod val="95000"/>
            </a:schemeClr>
          </a:solidFill>
        </p:grpSpPr>
        <p:grpSp>
          <p:nvGrpSpPr>
            <p:cNvPr id="15" name="Group 10">
              <a:extLst>
                <a:ext uri="{FF2B5EF4-FFF2-40B4-BE49-F238E27FC236}">
                  <a16:creationId xmlns:a16="http://schemas.microsoft.com/office/drawing/2014/main" id="{92413F4C-7A1A-0338-FFF3-C761D583CF6B}"/>
                </a:ext>
              </a:extLst>
            </p:cNvPr>
            <p:cNvGrpSpPr/>
            <p:nvPr/>
          </p:nvGrpSpPr>
          <p:grpSpPr>
            <a:xfrm>
              <a:off x="1295400" y="5558827"/>
              <a:ext cx="6019800" cy="880074"/>
              <a:chOff x="0" y="0"/>
              <a:chExt cx="3247348" cy="455698"/>
            </a:xfrm>
            <a:grpFill/>
          </p:grpSpPr>
          <p:sp>
            <p:nvSpPr>
              <p:cNvPr id="16" name="Freeform 11">
                <a:extLst>
                  <a:ext uri="{FF2B5EF4-FFF2-40B4-BE49-F238E27FC236}">
                    <a16:creationId xmlns:a16="http://schemas.microsoft.com/office/drawing/2014/main" id="{C47BF4DF-A219-9109-57C9-3904B50F6629}"/>
                  </a:ext>
                </a:extLst>
              </p:cNvPr>
              <p:cNvSpPr/>
              <p:nvPr/>
            </p:nvSpPr>
            <p:spPr>
              <a:xfrm>
                <a:off x="0" y="0"/>
                <a:ext cx="3247348" cy="455698"/>
              </a:xfrm>
              <a:prstGeom prst="roundRect">
                <a:avLst/>
              </a:prstGeom>
              <a:grpFill/>
              <a:ln w="38100" cap="sq">
                <a:solidFill>
                  <a:srgbClr val="F1F2F2"/>
                </a:solidFill>
                <a:prstDash val="solid"/>
                <a:miter/>
              </a:ln>
            </p:spPr>
          </p:sp>
          <p:sp>
            <p:nvSpPr>
              <p:cNvPr id="17" name="TextBox 12">
                <a:extLst>
                  <a:ext uri="{FF2B5EF4-FFF2-40B4-BE49-F238E27FC236}">
                    <a16:creationId xmlns:a16="http://schemas.microsoft.com/office/drawing/2014/main" id="{A9EAE6B9-4F13-0381-0111-67626D258C3F}"/>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5" name="TextBox 5">
              <a:extLst>
                <a:ext uri="{FF2B5EF4-FFF2-40B4-BE49-F238E27FC236}">
                  <a16:creationId xmlns:a16="http://schemas.microsoft.com/office/drawing/2014/main" id="{4A87B45B-7284-A57F-5931-44DB3010199A}"/>
                </a:ext>
              </a:extLst>
            </p:cNvPr>
            <p:cNvSpPr txBox="1"/>
            <p:nvPr/>
          </p:nvSpPr>
          <p:spPr>
            <a:xfrm>
              <a:off x="2015271" y="5659411"/>
              <a:ext cx="4580058" cy="541751"/>
            </a:xfrm>
            <a:prstGeom prst="rect">
              <a:avLst/>
            </a:prstGeom>
            <a:grpFill/>
          </p:spPr>
          <p:txBody>
            <a:bodyPr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Surveying</a:t>
              </a:r>
            </a:p>
          </p:txBody>
        </p:sp>
      </p:grpSp>
      <p:grpSp>
        <p:nvGrpSpPr>
          <p:cNvPr id="21" name="Group 20">
            <a:extLst>
              <a:ext uri="{FF2B5EF4-FFF2-40B4-BE49-F238E27FC236}">
                <a16:creationId xmlns:a16="http://schemas.microsoft.com/office/drawing/2014/main" id="{24CDF3F3-D5EB-A3A5-C2AA-547F738DC7E8}"/>
              </a:ext>
            </a:extLst>
          </p:cNvPr>
          <p:cNvGrpSpPr/>
          <p:nvPr/>
        </p:nvGrpSpPr>
        <p:grpSpPr>
          <a:xfrm>
            <a:off x="-13639800" y="5624673"/>
            <a:ext cx="6019800" cy="880074"/>
            <a:chOff x="1295400" y="6709252"/>
            <a:chExt cx="6019800" cy="880074"/>
          </a:xfrm>
          <a:solidFill>
            <a:schemeClr val="bg1">
              <a:lumMod val="95000"/>
            </a:schemeClr>
          </a:solidFill>
        </p:grpSpPr>
        <p:grpSp>
          <p:nvGrpSpPr>
            <p:cNvPr id="18" name="Group 10">
              <a:extLst>
                <a:ext uri="{FF2B5EF4-FFF2-40B4-BE49-F238E27FC236}">
                  <a16:creationId xmlns:a16="http://schemas.microsoft.com/office/drawing/2014/main" id="{484A674F-E3FF-2B91-07C7-14E63E70BA6E}"/>
                </a:ext>
              </a:extLst>
            </p:cNvPr>
            <p:cNvGrpSpPr/>
            <p:nvPr/>
          </p:nvGrpSpPr>
          <p:grpSpPr>
            <a:xfrm>
              <a:off x="1295400" y="6709252"/>
              <a:ext cx="6019800" cy="880074"/>
              <a:chOff x="0" y="0"/>
              <a:chExt cx="3247348" cy="455698"/>
            </a:xfrm>
            <a:grpFill/>
          </p:grpSpPr>
          <p:sp>
            <p:nvSpPr>
              <p:cNvPr id="19" name="Freeform 11">
                <a:extLst>
                  <a:ext uri="{FF2B5EF4-FFF2-40B4-BE49-F238E27FC236}">
                    <a16:creationId xmlns:a16="http://schemas.microsoft.com/office/drawing/2014/main" id="{C044E478-91C8-F901-2B6D-3ADD40FC7E94}"/>
                  </a:ext>
                </a:extLst>
              </p:cNvPr>
              <p:cNvSpPr/>
              <p:nvPr/>
            </p:nvSpPr>
            <p:spPr>
              <a:xfrm>
                <a:off x="0" y="0"/>
                <a:ext cx="3247348" cy="455698"/>
              </a:xfrm>
              <a:prstGeom prst="roundRect">
                <a:avLst/>
              </a:prstGeom>
              <a:grpFill/>
              <a:ln w="38100" cap="sq">
                <a:solidFill>
                  <a:srgbClr val="F1F2F2"/>
                </a:solidFill>
                <a:prstDash val="solid"/>
                <a:miter/>
              </a:ln>
            </p:spPr>
          </p:sp>
          <p:sp>
            <p:nvSpPr>
              <p:cNvPr id="20" name="TextBox 12">
                <a:extLst>
                  <a:ext uri="{FF2B5EF4-FFF2-40B4-BE49-F238E27FC236}">
                    <a16:creationId xmlns:a16="http://schemas.microsoft.com/office/drawing/2014/main" id="{6B6ACBE7-C2FA-78AA-656F-E2FEA2D11D39}"/>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 name="TextBox 6">
              <a:extLst>
                <a:ext uri="{FF2B5EF4-FFF2-40B4-BE49-F238E27FC236}">
                  <a16:creationId xmlns:a16="http://schemas.microsoft.com/office/drawing/2014/main" id="{16D17ED3-2126-43A4-60B0-2E3055A51674}"/>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Fluid Mechanics</a:t>
              </a:r>
            </a:p>
          </p:txBody>
        </p:sp>
      </p:grpSp>
      <p:grpSp>
        <p:nvGrpSpPr>
          <p:cNvPr id="22" name="Group 21">
            <a:extLst>
              <a:ext uri="{FF2B5EF4-FFF2-40B4-BE49-F238E27FC236}">
                <a16:creationId xmlns:a16="http://schemas.microsoft.com/office/drawing/2014/main" id="{8768DD48-763E-0E09-36EB-547B34E85631}"/>
              </a:ext>
            </a:extLst>
          </p:cNvPr>
          <p:cNvGrpSpPr/>
          <p:nvPr/>
        </p:nvGrpSpPr>
        <p:grpSpPr>
          <a:xfrm>
            <a:off x="-13639800" y="6770292"/>
            <a:ext cx="6019800" cy="880074"/>
            <a:chOff x="1295400" y="6709252"/>
            <a:chExt cx="6019800" cy="880074"/>
          </a:xfrm>
          <a:solidFill>
            <a:schemeClr val="bg1">
              <a:lumMod val="95000"/>
            </a:schemeClr>
          </a:solidFill>
        </p:grpSpPr>
        <p:grpSp>
          <p:nvGrpSpPr>
            <p:cNvPr id="23" name="Group 10">
              <a:extLst>
                <a:ext uri="{FF2B5EF4-FFF2-40B4-BE49-F238E27FC236}">
                  <a16:creationId xmlns:a16="http://schemas.microsoft.com/office/drawing/2014/main" id="{FD8E30E0-EC7E-C623-DD40-3F7C1F7E1C2F}"/>
                </a:ext>
              </a:extLst>
            </p:cNvPr>
            <p:cNvGrpSpPr/>
            <p:nvPr/>
          </p:nvGrpSpPr>
          <p:grpSpPr>
            <a:xfrm>
              <a:off x="1295400" y="6709252"/>
              <a:ext cx="6019800" cy="880074"/>
              <a:chOff x="0" y="0"/>
              <a:chExt cx="3247348" cy="455698"/>
            </a:xfrm>
            <a:grpFill/>
          </p:grpSpPr>
          <p:sp>
            <p:nvSpPr>
              <p:cNvPr id="25" name="Freeform 11">
                <a:extLst>
                  <a:ext uri="{FF2B5EF4-FFF2-40B4-BE49-F238E27FC236}">
                    <a16:creationId xmlns:a16="http://schemas.microsoft.com/office/drawing/2014/main" id="{AD71F490-BDD5-7476-81F8-64B0CAEEA1ED}"/>
                  </a:ext>
                </a:extLst>
              </p:cNvPr>
              <p:cNvSpPr/>
              <p:nvPr/>
            </p:nvSpPr>
            <p:spPr>
              <a:xfrm>
                <a:off x="0" y="0"/>
                <a:ext cx="3247348" cy="455698"/>
              </a:xfrm>
              <a:prstGeom prst="roundRect">
                <a:avLst/>
              </a:prstGeom>
              <a:grpFill/>
              <a:ln w="38100" cap="sq">
                <a:solidFill>
                  <a:srgbClr val="F1F2F2"/>
                </a:solidFill>
                <a:prstDash val="solid"/>
                <a:miter/>
              </a:ln>
            </p:spPr>
          </p:sp>
          <p:sp>
            <p:nvSpPr>
              <p:cNvPr id="26" name="TextBox 12">
                <a:extLst>
                  <a:ext uri="{FF2B5EF4-FFF2-40B4-BE49-F238E27FC236}">
                    <a16:creationId xmlns:a16="http://schemas.microsoft.com/office/drawing/2014/main" id="{A55EB8C0-DBBD-8C91-D7B4-2ECC3A1D1A9E}"/>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24" name="TextBox 6">
              <a:extLst>
                <a:ext uri="{FF2B5EF4-FFF2-40B4-BE49-F238E27FC236}">
                  <a16:creationId xmlns:a16="http://schemas.microsoft.com/office/drawing/2014/main" id="{0E14465C-7652-8FE6-5996-504842F9DA7B}"/>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Groundwater Hydrology</a:t>
              </a:r>
            </a:p>
          </p:txBody>
        </p:sp>
      </p:grpSp>
      <p:grpSp>
        <p:nvGrpSpPr>
          <p:cNvPr id="29" name="Group 28">
            <a:extLst>
              <a:ext uri="{FF2B5EF4-FFF2-40B4-BE49-F238E27FC236}">
                <a16:creationId xmlns:a16="http://schemas.microsoft.com/office/drawing/2014/main" id="{E19F3B09-2145-D3B9-50F5-6E4CB19C8FDC}"/>
              </a:ext>
            </a:extLst>
          </p:cNvPr>
          <p:cNvGrpSpPr/>
          <p:nvPr/>
        </p:nvGrpSpPr>
        <p:grpSpPr>
          <a:xfrm>
            <a:off x="-6761512" y="4405473"/>
            <a:ext cx="6019800" cy="880074"/>
            <a:chOff x="1295400" y="6709252"/>
            <a:chExt cx="6019800" cy="880074"/>
          </a:xfrm>
          <a:solidFill>
            <a:schemeClr val="bg1">
              <a:lumMod val="95000"/>
            </a:schemeClr>
          </a:solidFill>
        </p:grpSpPr>
        <p:grpSp>
          <p:nvGrpSpPr>
            <p:cNvPr id="30" name="Group 10">
              <a:extLst>
                <a:ext uri="{FF2B5EF4-FFF2-40B4-BE49-F238E27FC236}">
                  <a16:creationId xmlns:a16="http://schemas.microsoft.com/office/drawing/2014/main" id="{030C53F8-9019-589E-CDB5-C24B6CAA011E}"/>
                </a:ext>
              </a:extLst>
            </p:cNvPr>
            <p:cNvGrpSpPr/>
            <p:nvPr/>
          </p:nvGrpSpPr>
          <p:grpSpPr>
            <a:xfrm>
              <a:off x="1295400" y="6709252"/>
              <a:ext cx="6019800" cy="880074"/>
              <a:chOff x="0" y="0"/>
              <a:chExt cx="3247348" cy="455698"/>
            </a:xfrm>
            <a:grpFill/>
          </p:grpSpPr>
          <p:sp>
            <p:nvSpPr>
              <p:cNvPr id="32" name="Freeform 11">
                <a:extLst>
                  <a:ext uri="{FF2B5EF4-FFF2-40B4-BE49-F238E27FC236}">
                    <a16:creationId xmlns:a16="http://schemas.microsoft.com/office/drawing/2014/main" id="{B6605399-9F46-32AB-2F98-15C168FF7EB6}"/>
                  </a:ext>
                </a:extLst>
              </p:cNvPr>
              <p:cNvSpPr/>
              <p:nvPr/>
            </p:nvSpPr>
            <p:spPr>
              <a:xfrm>
                <a:off x="0" y="0"/>
                <a:ext cx="3247348" cy="455698"/>
              </a:xfrm>
              <a:prstGeom prst="roundRect">
                <a:avLst/>
              </a:prstGeom>
              <a:grpFill/>
              <a:ln w="38100" cap="sq">
                <a:solidFill>
                  <a:srgbClr val="F1F2F2"/>
                </a:solidFill>
                <a:prstDash val="solid"/>
                <a:miter/>
              </a:ln>
            </p:spPr>
          </p:sp>
          <p:sp>
            <p:nvSpPr>
              <p:cNvPr id="33" name="TextBox 12">
                <a:extLst>
                  <a:ext uri="{FF2B5EF4-FFF2-40B4-BE49-F238E27FC236}">
                    <a16:creationId xmlns:a16="http://schemas.microsoft.com/office/drawing/2014/main" id="{F9A22A14-3D46-76D6-C5CB-4CF22430A27B}"/>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31" name="TextBox 6">
              <a:extLst>
                <a:ext uri="{FF2B5EF4-FFF2-40B4-BE49-F238E27FC236}">
                  <a16:creationId xmlns:a16="http://schemas.microsoft.com/office/drawing/2014/main" id="{811B2D4B-3820-671E-F7F7-A819C54A14CF}"/>
                </a:ext>
              </a:extLst>
            </p:cNvPr>
            <p:cNvSpPr txBox="1"/>
            <p:nvPr/>
          </p:nvSpPr>
          <p:spPr>
            <a:xfrm>
              <a:off x="1634797" y="6846154"/>
              <a:ext cx="5414229" cy="528478"/>
            </a:xfrm>
            <a:prstGeom prst="rect">
              <a:avLst/>
            </a:prstGeom>
            <a:grpFill/>
          </p:spPr>
          <p:txBody>
            <a:bodyPr wrap="square" lIns="0" tIns="0" rIns="0" bIns="0" rtlCol="0" anchor="t">
              <a:spAutoFit/>
            </a:bodyPr>
            <a:lstStyle/>
            <a:p>
              <a:pPr marL="0" lvl="0" indent="0" algn="ctr">
                <a:lnSpc>
                  <a:spcPts val="4620"/>
                </a:lnSpc>
                <a:spcBef>
                  <a:spcPct val="0"/>
                </a:spcBef>
              </a:pPr>
              <a:r>
                <a:rPr lang="en-US" sz="2600" b="1" dirty="0">
                  <a:solidFill>
                    <a:schemeClr val="bg1">
                      <a:lumMod val="85000"/>
                    </a:schemeClr>
                  </a:solidFill>
                  <a:latin typeface="Canva Sans"/>
                  <a:ea typeface="Canva Sans"/>
                  <a:cs typeface="Canva Sans"/>
                  <a:sym typeface="Canva Sans"/>
                </a:rPr>
                <a:t>Pumps</a:t>
              </a:r>
            </a:p>
          </p:txBody>
        </p:sp>
      </p:grpSp>
      <p:grpSp>
        <p:nvGrpSpPr>
          <p:cNvPr id="58" name="Group 57">
            <a:extLst>
              <a:ext uri="{FF2B5EF4-FFF2-40B4-BE49-F238E27FC236}">
                <a16:creationId xmlns:a16="http://schemas.microsoft.com/office/drawing/2014/main" id="{BE3CB8D6-B580-F5F6-8800-EACDC567ECBC}"/>
              </a:ext>
            </a:extLst>
          </p:cNvPr>
          <p:cNvGrpSpPr/>
          <p:nvPr/>
        </p:nvGrpSpPr>
        <p:grpSpPr>
          <a:xfrm>
            <a:off x="-6761512" y="6765162"/>
            <a:ext cx="6019800" cy="880074"/>
            <a:chOff x="1295400" y="6709252"/>
            <a:chExt cx="6019800" cy="880074"/>
          </a:xfrm>
          <a:solidFill>
            <a:schemeClr val="bg1">
              <a:lumMod val="95000"/>
            </a:schemeClr>
          </a:solidFill>
        </p:grpSpPr>
        <p:grpSp>
          <p:nvGrpSpPr>
            <p:cNvPr id="59" name="Group 10">
              <a:extLst>
                <a:ext uri="{FF2B5EF4-FFF2-40B4-BE49-F238E27FC236}">
                  <a16:creationId xmlns:a16="http://schemas.microsoft.com/office/drawing/2014/main" id="{6C52993F-6EF8-4B4A-8CAB-0D251EE5533E}"/>
                </a:ext>
              </a:extLst>
            </p:cNvPr>
            <p:cNvGrpSpPr/>
            <p:nvPr/>
          </p:nvGrpSpPr>
          <p:grpSpPr>
            <a:xfrm>
              <a:off x="1295400" y="6709252"/>
              <a:ext cx="6019800" cy="880074"/>
              <a:chOff x="0" y="0"/>
              <a:chExt cx="3247348" cy="455698"/>
            </a:xfrm>
            <a:grpFill/>
          </p:grpSpPr>
          <p:sp>
            <p:nvSpPr>
              <p:cNvPr id="61" name="Freeform 11">
                <a:extLst>
                  <a:ext uri="{FF2B5EF4-FFF2-40B4-BE49-F238E27FC236}">
                    <a16:creationId xmlns:a16="http://schemas.microsoft.com/office/drawing/2014/main" id="{800E6F88-4CFD-3B47-8BE6-AA9E7D5F923A}"/>
                  </a:ext>
                </a:extLst>
              </p:cNvPr>
              <p:cNvSpPr/>
              <p:nvPr/>
            </p:nvSpPr>
            <p:spPr>
              <a:xfrm>
                <a:off x="0" y="0"/>
                <a:ext cx="3247348" cy="455698"/>
              </a:xfrm>
              <a:prstGeom prst="roundRect">
                <a:avLst/>
              </a:prstGeom>
              <a:grpFill/>
              <a:ln w="38100" cap="sq">
                <a:solidFill>
                  <a:srgbClr val="F1F2F2"/>
                </a:solidFill>
                <a:prstDash val="solid"/>
                <a:miter/>
              </a:ln>
            </p:spPr>
          </p:sp>
          <p:sp>
            <p:nvSpPr>
              <p:cNvPr id="62" name="TextBox 12">
                <a:extLst>
                  <a:ext uri="{FF2B5EF4-FFF2-40B4-BE49-F238E27FC236}">
                    <a16:creationId xmlns:a16="http://schemas.microsoft.com/office/drawing/2014/main" id="{FF7BC055-CCF8-2EC2-47E3-110AB648D27E}"/>
                  </a:ext>
                </a:extLst>
              </p:cNvPr>
              <p:cNvSpPr txBox="1"/>
              <p:nvPr/>
            </p:nvSpPr>
            <p:spPr>
              <a:xfrm>
                <a:off x="0" y="-38100"/>
                <a:ext cx="3247348" cy="493798"/>
              </a:xfrm>
              <a:prstGeom prst="roundRect">
                <a:avLst/>
              </a:prstGeom>
              <a:grpFill/>
            </p:spPr>
            <p:txBody>
              <a:bodyPr lIns="50800" tIns="50800" rIns="50800" bIns="50800" rtlCol="0" anchor="ctr"/>
              <a:lstStyle/>
              <a:p>
                <a:pPr algn="ctr">
                  <a:lnSpc>
                    <a:spcPts val="2659"/>
                  </a:lnSpc>
                  <a:spcBef>
                    <a:spcPct val="0"/>
                  </a:spcBef>
                </a:pPr>
                <a:endParaRPr>
                  <a:solidFill>
                    <a:schemeClr val="bg1">
                      <a:lumMod val="85000"/>
                    </a:schemeClr>
                  </a:solidFill>
                </a:endParaRPr>
              </a:p>
            </p:txBody>
          </p:sp>
        </p:grpSp>
        <p:sp>
          <p:nvSpPr>
            <p:cNvPr id="60" name="TextBox 6">
              <a:extLst>
                <a:ext uri="{FF2B5EF4-FFF2-40B4-BE49-F238E27FC236}">
                  <a16:creationId xmlns:a16="http://schemas.microsoft.com/office/drawing/2014/main" id="{F25094F1-CBFD-F305-349B-E7C28E47984F}"/>
                </a:ext>
              </a:extLst>
            </p:cNvPr>
            <p:cNvSpPr txBox="1"/>
            <p:nvPr/>
          </p:nvSpPr>
          <p:spPr>
            <a:xfrm>
              <a:off x="1634797" y="6846154"/>
              <a:ext cx="5414229" cy="528478"/>
            </a:xfrm>
            <a:prstGeom prst="rect">
              <a:avLst/>
            </a:prstGeom>
            <a:grpFill/>
          </p:spPr>
          <p:txBody>
            <a:bodyPr wrap="square" lIns="0" tIns="0" rIns="0" bIns="0" rtlCol="0" anchor="t">
              <a:spAutoFit/>
            </a:bodyPr>
            <a:lstStyle/>
            <a:p>
              <a:pPr algn="ctr">
                <a:lnSpc>
                  <a:spcPts val="4620"/>
                </a:lnSpc>
              </a:pPr>
              <a:r>
                <a:rPr lang="en-US" sz="2600" b="1" dirty="0">
                  <a:solidFill>
                    <a:schemeClr val="bg1">
                      <a:lumMod val="85000"/>
                    </a:schemeClr>
                  </a:solidFill>
                  <a:latin typeface="Canva Sans"/>
                  <a:ea typeface="Canva Sans"/>
                  <a:cs typeface="Canva Sans"/>
                  <a:sym typeface="Canva Sans"/>
                </a:rPr>
                <a:t>Pressurized Irrigation Systems</a:t>
              </a:r>
            </a:p>
          </p:txBody>
        </p:sp>
      </p:grpSp>
      <p:grpSp>
        <p:nvGrpSpPr>
          <p:cNvPr id="7" name="Group 6">
            <a:extLst>
              <a:ext uri="{FF2B5EF4-FFF2-40B4-BE49-F238E27FC236}">
                <a16:creationId xmlns:a16="http://schemas.microsoft.com/office/drawing/2014/main" id="{CDEA7029-FC79-3DBE-DF00-CAEAAE3111DE}"/>
              </a:ext>
            </a:extLst>
          </p:cNvPr>
          <p:cNvGrpSpPr/>
          <p:nvPr/>
        </p:nvGrpSpPr>
        <p:grpSpPr>
          <a:xfrm>
            <a:off x="1931100" y="4247905"/>
            <a:ext cx="14375701" cy="2042145"/>
            <a:chOff x="948669" y="5485246"/>
            <a:chExt cx="6713263" cy="953655"/>
          </a:xfrm>
        </p:grpSpPr>
        <p:grpSp>
          <p:nvGrpSpPr>
            <p:cNvPr id="8" name="Group 10">
              <a:extLst>
                <a:ext uri="{FF2B5EF4-FFF2-40B4-BE49-F238E27FC236}">
                  <a16:creationId xmlns:a16="http://schemas.microsoft.com/office/drawing/2014/main" id="{582B7632-60F3-F104-B43B-6643BF2EE706}"/>
                </a:ext>
              </a:extLst>
            </p:cNvPr>
            <p:cNvGrpSpPr/>
            <p:nvPr/>
          </p:nvGrpSpPr>
          <p:grpSpPr>
            <a:xfrm>
              <a:off x="948669" y="5485246"/>
              <a:ext cx="6713263" cy="953655"/>
              <a:chOff x="-187042" y="-38100"/>
              <a:chExt cx="3621433" cy="493798"/>
            </a:xfrm>
          </p:grpSpPr>
          <p:sp>
            <p:nvSpPr>
              <p:cNvPr id="10" name="Freeform 11">
                <a:extLst>
                  <a:ext uri="{FF2B5EF4-FFF2-40B4-BE49-F238E27FC236}">
                    <a16:creationId xmlns:a16="http://schemas.microsoft.com/office/drawing/2014/main" id="{B65B1EE8-8A69-3C48-CCC5-563FBB49EF6B}"/>
                  </a:ext>
                </a:extLst>
              </p:cNvPr>
              <p:cNvSpPr/>
              <p:nvPr/>
            </p:nvSpPr>
            <p:spPr>
              <a:xfrm>
                <a:off x="-187042" y="0"/>
                <a:ext cx="3621433" cy="455698"/>
              </a:xfrm>
              <a:prstGeom prst="roundRect">
                <a:avLst/>
              </a:prstGeom>
              <a:solidFill>
                <a:srgbClr val="DDDEDE"/>
              </a:solidFill>
              <a:ln w="38100" cap="sq">
                <a:solidFill>
                  <a:srgbClr val="F1F2F2"/>
                </a:solidFill>
                <a:prstDash val="solid"/>
                <a:miter/>
              </a:ln>
            </p:spPr>
          </p:sp>
          <p:sp>
            <p:nvSpPr>
              <p:cNvPr id="11" name="TextBox 12">
                <a:extLst>
                  <a:ext uri="{FF2B5EF4-FFF2-40B4-BE49-F238E27FC236}">
                    <a16:creationId xmlns:a16="http://schemas.microsoft.com/office/drawing/2014/main" id="{AFCFCF0A-6A35-0153-EBC3-6664966A35C3}"/>
                  </a:ext>
                </a:extLst>
              </p:cNvPr>
              <p:cNvSpPr txBox="1"/>
              <p:nvPr/>
            </p:nvSpPr>
            <p:spPr>
              <a:xfrm>
                <a:off x="0" y="-38100"/>
                <a:ext cx="3247348" cy="493798"/>
              </a:xfrm>
              <a:prstGeom prst="roundRect">
                <a:avLst/>
              </a:prstGeom>
            </p:spPr>
            <p:txBody>
              <a:bodyPr lIns="50800" tIns="50800" rIns="50800" bIns="50800" rtlCol="0" anchor="ctr"/>
              <a:lstStyle/>
              <a:p>
                <a:pPr algn="ctr">
                  <a:lnSpc>
                    <a:spcPts val="2659"/>
                  </a:lnSpc>
                  <a:spcBef>
                    <a:spcPct val="0"/>
                  </a:spcBef>
                </a:pPr>
                <a:endParaRPr lang="en-PH" sz="4800" dirty="0"/>
              </a:p>
            </p:txBody>
          </p:sp>
        </p:grpSp>
        <p:sp>
          <p:nvSpPr>
            <p:cNvPr id="9" name="TextBox 5">
              <a:extLst>
                <a:ext uri="{FF2B5EF4-FFF2-40B4-BE49-F238E27FC236}">
                  <a16:creationId xmlns:a16="http://schemas.microsoft.com/office/drawing/2014/main" id="{8DBEB2D1-4C7C-4D32-2A4F-413AFB7839EA}"/>
                </a:ext>
              </a:extLst>
            </p:cNvPr>
            <p:cNvSpPr txBox="1"/>
            <p:nvPr/>
          </p:nvSpPr>
          <p:spPr>
            <a:xfrm>
              <a:off x="1055421" y="5984481"/>
              <a:ext cx="6499758" cy="335963"/>
            </a:xfrm>
            <a:prstGeom prst="rect">
              <a:avLst/>
            </a:prstGeom>
          </p:spPr>
          <p:txBody>
            <a:bodyPr wrap="square" lIns="0" tIns="0" rIns="0" bIns="0" rtlCol="0" anchor="t">
              <a:spAutoFit/>
            </a:bodyPr>
            <a:lstStyle/>
            <a:p>
              <a:pPr algn="ctr">
                <a:lnSpc>
                  <a:spcPts val="4620"/>
                </a:lnSpc>
              </a:pPr>
              <a:r>
                <a:rPr lang="en-US" sz="7200" b="1" dirty="0">
                  <a:solidFill>
                    <a:srgbClr val="000000"/>
                  </a:solidFill>
                  <a:latin typeface="Nunito 1 Bold" panose="020B0604020202020204" charset="0"/>
                  <a:ea typeface="Canva Sans"/>
                  <a:cs typeface="Canva Sans"/>
                  <a:sym typeface="Canva Sans"/>
                </a:rPr>
                <a:t>OPEN CHANNEL</a:t>
              </a:r>
            </a:p>
          </p:txBody>
        </p:sp>
      </p:grpSp>
    </p:spTree>
    <p:extLst>
      <p:ext uri="{BB962C8B-B14F-4D97-AF65-F5344CB8AC3E}">
        <p14:creationId xmlns:p14="http://schemas.microsoft.com/office/powerpoint/2010/main" val="2489539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1351-EB3C-D9DF-7880-A62F2C05AE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EF3C319-33B1-1A29-E90D-31C567353D2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B6385C7-49B6-2AC8-5ED1-21B79F68040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BEB66E2D-111C-BC93-77F8-9FAFFC9B0E4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E855CD2-B91D-8CB8-5664-35BFF6CE6BE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0CA0BB2B-DD1F-F882-6495-616DD572DE8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9991BE92-89DC-1B08-9934-AF7C385C354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AF36A26-78BC-C112-55C2-1E410F08C4B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663A122-0266-A26F-E6DE-D7F1872B8BC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275F876-1BDC-AA02-E2D0-E73BA7A673E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0A14D32B-9F06-CFB1-C717-8A5560FD8AE6}"/>
              </a:ext>
            </a:extLst>
          </p:cNvPr>
          <p:cNvSpPr txBox="1"/>
          <p:nvPr/>
        </p:nvSpPr>
        <p:spPr>
          <a:xfrm>
            <a:off x="2246042" y="1836828"/>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IRRIGATION WATER REQUIREMENT AND RELATED FORMULAS</a:t>
            </a:r>
          </a:p>
        </p:txBody>
      </p:sp>
      <p:grpSp>
        <p:nvGrpSpPr>
          <p:cNvPr id="14" name="Group 13">
            <a:extLst>
              <a:ext uri="{FF2B5EF4-FFF2-40B4-BE49-F238E27FC236}">
                <a16:creationId xmlns:a16="http://schemas.microsoft.com/office/drawing/2014/main" id="{F448CC20-B135-E141-A01C-270DC24585B5}"/>
              </a:ext>
            </a:extLst>
          </p:cNvPr>
          <p:cNvGrpSpPr/>
          <p:nvPr/>
        </p:nvGrpSpPr>
        <p:grpSpPr>
          <a:xfrm>
            <a:off x="0" y="9599693"/>
            <a:ext cx="18287999" cy="687306"/>
            <a:chOff x="0" y="9599693"/>
            <a:chExt cx="18287999" cy="687306"/>
          </a:xfrm>
        </p:grpSpPr>
        <p:grpSp>
          <p:nvGrpSpPr>
            <p:cNvPr id="11" name="Group 11">
              <a:extLst>
                <a:ext uri="{FF2B5EF4-FFF2-40B4-BE49-F238E27FC236}">
                  <a16:creationId xmlns:a16="http://schemas.microsoft.com/office/drawing/2014/main" id="{DFA66F64-F723-E7A3-F84A-4DA4563CA3C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F5934BE-13DC-7770-754F-C9B2C1FCF36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BFF2F00-57A9-A3AB-8A40-6E9B5F4A0B6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E88FBBE7-225D-9586-9CB4-43E110E519D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0" name="TextBox 13">
              <a:extLst>
                <a:ext uri="{FF2B5EF4-FFF2-40B4-BE49-F238E27FC236}">
                  <a16:creationId xmlns:a16="http://schemas.microsoft.com/office/drawing/2014/main" id="{438938B4-F341-7F3B-390A-0C5A1CECBEE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grpSp>
        <p:nvGrpSpPr>
          <p:cNvPr id="23" name="Group 5">
            <a:extLst>
              <a:ext uri="{FF2B5EF4-FFF2-40B4-BE49-F238E27FC236}">
                <a16:creationId xmlns:a16="http://schemas.microsoft.com/office/drawing/2014/main" id="{B02468D0-7A30-6466-3E00-82B2A46CD542}"/>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E4C5B4E-1B00-3160-E4B1-1FD041F7393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A6B1C82-195F-FA91-4E43-0BD8E367651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850BE8C3-B514-F1EC-1DEB-91B4C741CC32}"/>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PAES 602:2016</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23D285E-C6B0-D0F3-F2F2-600368E17F4D}"/>
                  </a:ext>
                </a:extLst>
              </p:cNvPr>
              <p:cNvSpPr txBox="1"/>
              <p:nvPr/>
            </p:nvSpPr>
            <p:spPr>
              <a:xfrm>
                <a:off x="1676400" y="2449735"/>
                <a:ext cx="14935200" cy="3572709"/>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Land preparation water requirement (</a:t>
                </a:r>
                <a:r>
                  <a:rPr lang="en-US" sz="2400" b="1" dirty="0" err="1">
                    <a:solidFill>
                      <a:srgbClr val="000000"/>
                    </a:solidFill>
                    <a:latin typeface="Nunito 1" panose="020B0604020202020204" charset="0"/>
                    <a:ea typeface="Nunito 1 Bold"/>
                    <a:cs typeface="Nunito 1 Bold"/>
                    <a:sym typeface="Nunito 1 Bold"/>
                  </a:rPr>
                  <a:t>LPWR</a:t>
                </a:r>
                <a:r>
                  <a:rPr lang="en-US" sz="2400" b="1"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 amount of water required in lowland rice production which includes water losses through evaporation, seepage and percolation and land soaking</a:t>
                </a:r>
              </a:p>
              <a:p>
                <a:endParaRPr lang="en-US" sz="2400" dirty="0">
                  <a:solidFill>
                    <a:srgbClr val="000000"/>
                  </a:solidFill>
                  <a:latin typeface="Nunito 1" panose="020B0604020202020204" charset="0"/>
                  <a:ea typeface="Nunito 1 Bold"/>
                  <a:cs typeface="Nunito 1 Bold"/>
                  <a:sym typeface="Nunito 1 Bold"/>
                </a:endParaRPr>
              </a:p>
              <a:p>
                <a:pPr algn="ctr"/>
                <a:r>
                  <a:rPr lang="en-US" sz="2400" dirty="0" err="1">
                    <a:solidFill>
                      <a:srgbClr val="000000"/>
                    </a:solidFill>
                    <a:latin typeface="Nunito 1" panose="020B0604020202020204" charset="0"/>
                    <a:ea typeface="Nunito 1 Bold"/>
                    <a:cs typeface="Nunito 1 Bold"/>
                    <a:sym typeface="Nunito 1 Bold"/>
                  </a:rPr>
                  <a:t>LPWR</a:t>
                </a:r>
                <a:r>
                  <a:rPr lang="en-US" sz="2400" dirty="0">
                    <a:solidFill>
                      <a:srgbClr val="000000"/>
                    </a:solidFill>
                    <a:latin typeface="Nunito 1" panose="020B0604020202020204" charset="0"/>
                    <a:ea typeface="Nunito 1 Bold"/>
                    <a:cs typeface="Nunito 1 Bold"/>
                    <a:sym typeface="Nunito 1 Bold"/>
                  </a:rPr>
                  <a:t> = </a:t>
                </a:r>
                <a:r>
                  <a:rPr lang="en-US" sz="2400" dirty="0" err="1">
                    <a:solidFill>
                      <a:srgbClr val="000000"/>
                    </a:solidFill>
                    <a:latin typeface="Nunito 1" panose="020B0604020202020204" charset="0"/>
                    <a:ea typeface="Nunito 1 Bold"/>
                    <a:cs typeface="Nunito 1 Bold"/>
                    <a:sym typeface="Nunito 1 Bold"/>
                  </a:rPr>
                  <a:t>LSR</a:t>
                </a:r>
                <a:r>
                  <a:rPr lang="en-US" sz="2400" dirty="0">
                    <a:solidFill>
                      <a:srgbClr val="000000"/>
                    </a:solidFill>
                    <a:latin typeface="Nunito 1" panose="020B0604020202020204" charset="0"/>
                    <a:ea typeface="Nunito 1 Bold"/>
                    <a:cs typeface="Nunito 1 Bold"/>
                    <a:sym typeface="Nunito 1 Bold"/>
                  </a:rPr>
                  <a:t> + SW + </a:t>
                </a:r>
                <a:r>
                  <a:rPr lang="en-US" sz="2400" dirty="0" err="1">
                    <a:solidFill>
                      <a:srgbClr val="000000"/>
                    </a:solidFill>
                    <a:latin typeface="Nunito 1" panose="020B0604020202020204" charset="0"/>
                    <a:ea typeface="Nunito 1 Bold"/>
                    <a:cs typeface="Nunito 1 Bold"/>
                    <a:sym typeface="Nunito 1 Bold"/>
                  </a:rPr>
                  <a:t>ETo</a:t>
                </a: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Land soaking water requirement (</a:t>
                </a:r>
                <a:r>
                  <a:rPr lang="en-US" sz="2400" b="1" dirty="0" err="1">
                    <a:solidFill>
                      <a:srgbClr val="000000"/>
                    </a:solidFill>
                    <a:latin typeface="Nunito 1" panose="020B0604020202020204" charset="0"/>
                    <a:ea typeface="Nunito 1 Bold"/>
                    <a:cs typeface="Nunito 1 Bold"/>
                    <a:sym typeface="Nunito 1 Bold"/>
                  </a:rPr>
                  <a:t>LSR</a:t>
                </a:r>
                <a:r>
                  <a:rPr lang="en-US" sz="2400" b="1"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 amount of water required in lowland rice production which is a function of the initial soil moisture and the physical properties of the soil </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err="1">
                    <a:solidFill>
                      <a:srgbClr val="000000"/>
                    </a:solidFill>
                    <a:latin typeface="Nunito 1" panose="020B0604020202020204" charset="0"/>
                    <a:ea typeface="Nunito 1 Bold"/>
                    <a:cs typeface="Nunito 1 Bold"/>
                    <a:sym typeface="Nunito 1 Bold"/>
                  </a:rPr>
                  <a:t>LSR</a:t>
                </a:r>
                <a:r>
                  <a:rPr lang="en-US" sz="2400" dirty="0">
                    <a:solidFill>
                      <a:srgbClr val="000000"/>
                    </a:solidFill>
                    <a:latin typeface="Nunito 1" panose="020B0604020202020204" charset="0"/>
                    <a:ea typeface="Nunito 1 Bold"/>
                    <a:cs typeface="Nunito 1 Bold"/>
                    <a:sym typeface="Nunito 1 Bold"/>
                  </a:rPr>
                  <a:t>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US" sz="2400" b="0" i="0" smtClean="0">
                            <a:solidFill>
                              <a:srgbClr val="000000"/>
                            </a:solidFill>
                            <a:latin typeface="Nunito 1" panose="020B0604020202020204" charset="0"/>
                            <a:sym typeface="Nunito 1 Bold"/>
                          </a:rPr>
                          <m:t>[</m:t>
                        </m:r>
                        <m:r>
                          <m:rPr>
                            <m:nor/>
                          </m:rPr>
                          <a:rPr lang="en-US" sz="2400" b="0" i="0" smtClean="0">
                            <a:solidFill>
                              <a:srgbClr val="000000"/>
                            </a:solidFill>
                            <a:latin typeface="Nunito 1" panose="020B0604020202020204" charset="0"/>
                            <a:sym typeface="Nunito 1 Bold"/>
                          </a:rPr>
                          <m:t>n</m:t>
                        </m:r>
                        <m:r>
                          <m:rPr>
                            <m:nor/>
                          </m:rPr>
                          <a:rPr lang="en-US" sz="2400" b="0" i="0" smtClean="0">
                            <a:solidFill>
                              <a:srgbClr val="000000"/>
                            </a:solidFill>
                            <a:latin typeface="Nunito 1" panose="020B0604020202020204" charset="0"/>
                            <a:sym typeface="Nunito 1 Bold"/>
                          </a:rPr>
                          <m:t> −</m:t>
                        </m:r>
                        <m:d>
                          <m:dPr>
                            <m:ctrlPr>
                              <a:rPr lang="en-US" sz="2400" b="0" i="1" smtClean="0">
                                <a:solidFill>
                                  <a:srgbClr val="000000"/>
                                </a:solidFill>
                                <a:latin typeface="Cambria Math" panose="02040503050406030204" pitchFamily="18" charset="0"/>
                                <a:sym typeface="Nunito 1 Bold"/>
                              </a:rPr>
                            </m:ctrlPr>
                          </m:dPr>
                          <m:e>
                            <m:r>
                              <m:rPr>
                                <m:nor/>
                              </m:rPr>
                              <a:rPr lang="en-US" sz="2400" b="0" i="0" smtClean="0">
                                <a:solidFill>
                                  <a:srgbClr val="000000"/>
                                </a:solidFill>
                                <a:latin typeface="Nunito 1" panose="020B0604020202020204" charset="0"/>
                                <a:sym typeface="Nunito 1 Bold"/>
                              </a:rPr>
                              <m:t>RMC</m:t>
                            </m:r>
                            <m:r>
                              <m:rPr>
                                <m:nor/>
                              </m:rPr>
                              <a:rPr lang="en-US" sz="2400" b="0" i="0" smtClean="0">
                                <a:solidFill>
                                  <a:srgbClr val="000000"/>
                                </a:solidFill>
                                <a:latin typeface="Nunito 1" panose="020B0604020202020204" charset="0"/>
                                <a:sym typeface="Nunito 1 Bold"/>
                              </a:rPr>
                              <m:t> </m:t>
                            </m:r>
                            <m:r>
                              <m:rPr>
                                <m:nor/>
                              </m:rPr>
                              <a:rPr lang="en-US" sz="2400" b="0" i="0" smtClean="0">
                                <a:solidFill>
                                  <a:srgbClr val="000000"/>
                                </a:solidFill>
                                <a:latin typeface="Nunito 1" panose="020B0604020202020204" charset="0"/>
                                <a:sym typeface="Nunito 1 Bold"/>
                              </a:rPr>
                              <m:t>x</m:t>
                            </m:r>
                            <m:r>
                              <m:rPr>
                                <m:nor/>
                              </m:rPr>
                              <a:rPr lang="en-US" sz="2400" b="0" i="0" smtClean="0">
                                <a:solidFill>
                                  <a:srgbClr val="000000"/>
                                </a:solidFill>
                                <a:latin typeface="Nunito 1" panose="020B0604020202020204" charset="0"/>
                                <a:sym typeface="Nunito 1 Bold"/>
                              </a:rPr>
                              <m:t> </m:t>
                            </m:r>
                            <m:r>
                              <m:rPr>
                                <m:nor/>
                              </m:rPr>
                              <a:rPr lang="en-US" sz="2400" b="0" i="0" smtClean="0">
                                <a:solidFill>
                                  <a:srgbClr val="000000"/>
                                </a:solidFill>
                                <a:latin typeface="Nunito 1" panose="020B0604020202020204" charset="0"/>
                                <a:sym typeface="Nunito 1 Bold"/>
                              </a:rPr>
                              <m:t>As</m:t>
                            </m:r>
                          </m:e>
                        </m:d>
                        <m:r>
                          <m:rPr>
                            <m:nor/>
                          </m:rPr>
                          <a:rPr lang="en-US" sz="2400" b="0" i="0" smtClean="0">
                            <a:solidFill>
                              <a:srgbClr val="000000"/>
                            </a:solidFill>
                            <a:latin typeface="Nunito 1" panose="020B0604020202020204" charset="0"/>
                            <a:sym typeface="Nunito 1 Bold"/>
                          </a:rPr>
                          <m:t>]</m:t>
                        </m:r>
                        <m:r>
                          <m:rPr>
                            <m:nor/>
                          </m:rPr>
                          <a:rPr lang="en-US" sz="2400" i="0">
                            <a:solidFill>
                              <a:srgbClr val="000000"/>
                            </a:solidFill>
                            <a:latin typeface="Nunito 1" panose="020B0604020202020204" charset="0"/>
                            <a:sym typeface="Nunito 1 Bold"/>
                          </a:rPr>
                          <m:t>x</m:t>
                        </m:r>
                        <m:r>
                          <m:rPr>
                            <m:nor/>
                          </m:rPr>
                          <a:rPr lang="en-US" sz="2400" i="0">
                            <a:solidFill>
                              <a:srgbClr val="000000"/>
                            </a:solidFill>
                            <a:latin typeface="Nunito 1" panose="020B0604020202020204" charset="0"/>
                            <a:sym typeface="Nunito 1 Bold"/>
                          </a:rPr>
                          <m:t> </m:t>
                        </m:r>
                        <m:r>
                          <m:rPr>
                            <m:nor/>
                          </m:rPr>
                          <a:rPr lang="en-US" sz="2400" i="0">
                            <a:solidFill>
                              <a:srgbClr val="000000"/>
                            </a:solidFill>
                            <a:latin typeface="Nunito 1" panose="020B0604020202020204" charset="0"/>
                            <a:sym typeface="Nunito 1 Bold"/>
                          </a:rPr>
                          <m:t>Drz</m:t>
                        </m:r>
                      </m:num>
                      <m:den>
                        <m:r>
                          <m:rPr>
                            <m:nor/>
                          </m:rPr>
                          <a:rPr lang="en-US" sz="2400" b="0" i="0" smtClean="0">
                            <a:solidFill>
                              <a:srgbClr val="000000"/>
                            </a:solidFill>
                            <a:latin typeface="Nunito 1" panose="020B0604020202020204" charset="0"/>
                            <a:sym typeface="Nunito 1 Bold"/>
                          </a:rPr>
                          <m:t>100</m:t>
                        </m:r>
                      </m:den>
                    </m:f>
                  </m:oMath>
                </a14:m>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6" name="TextBox 15">
                <a:extLst>
                  <a:ext uri="{FF2B5EF4-FFF2-40B4-BE49-F238E27FC236}">
                    <a16:creationId xmlns:a16="http://schemas.microsoft.com/office/drawing/2014/main" id="{323D285E-C6B0-D0F3-F2F2-600368E17F4D}"/>
                  </a:ext>
                </a:extLst>
              </p:cNvPr>
              <p:cNvSpPr txBox="1">
                <a:spLocks noRot="1" noChangeAspect="1" noMove="1" noResize="1" noEditPoints="1" noAdjustHandles="1" noChangeArrowheads="1" noChangeShapeType="1" noTextEdit="1"/>
              </p:cNvSpPr>
              <p:nvPr/>
            </p:nvSpPr>
            <p:spPr>
              <a:xfrm>
                <a:off x="1676400" y="2449735"/>
                <a:ext cx="14935200" cy="3572709"/>
              </a:xfrm>
              <a:prstGeom prst="rect">
                <a:avLst/>
              </a:prstGeom>
              <a:blipFill>
                <a:blip r:embed="rId3"/>
                <a:stretch>
                  <a:fillRect l="-1143" t="-2730" r="-286" b="-2389"/>
                </a:stretch>
              </a:blipFill>
            </p:spPr>
            <p:txBody>
              <a:bodyPr/>
              <a:lstStyle/>
              <a:p>
                <a:r>
                  <a:rPr lang="en-PH">
                    <a:noFill/>
                  </a:rPr>
                  <a:t> </a:t>
                </a:r>
              </a:p>
            </p:txBody>
          </p:sp>
        </mc:Fallback>
      </mc:AlternateContent>
      <p:sp>
        <p:nvSpPr>
          <p:cNvPr id="22" name="AutoShape 4" descr="Jual Open Channel Flowmeter / Flowmeter Saluran Terbuka / Flowmeter Sungai  Depok | Zara Tech Achievement">
            <a:extLst>
              <a:ext uri="{FF2B5EF4-FFF2-40B4-BE49-F238E27FC236}">
                <a16:creationId xmlns:a16="http://schemas.microsoft.com/office/drawing/2014/main" id="{9A01D815-30FB-294F-B837-54D6DA026E1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pSp>
        <p:nvGrpSpPr>
          <p:cNvPr id="31" name="Group 30">
            <a:extLst>
              <a:ext uri="{FF2B5EF4-FFF2-40B4-BE49-F238E27FC236}">
                <a16:creationId xmlns:a16="http://schemas.microsoft.com/office/drawing/2014/main" id="{74EC2F4B-E341-6616-421F-A4EE9DE5A385}"/>
              </a:ext>
            </a:extLst>
          </p:cNvPr>
          <p:cNvGrpSpPr/>
          <p:nvPr/>
        </p:nvGrpSpPr>
        <p:grpSpPr>
          <a:xfrm>
            <a:off x="11283594" y="6047261"/>
            <a:ext cx="5801535" cy="2543675"/>
            <a:chOff x="2246042" y="6240973"/>
            <a:chExt cx="5801535" cy="2543675"/>
          </a:xfrm>
        </p:grpSpPr>
        <p:pic>
          <p:nvPicPr>
            <p:cNvPr id="28" name="Picture 27">
              <a:extLst>
                <a:ext uri="{FF2B5EF4-FFF2-40B4-BE49-F238E27FC236}">
                  <a16:creationId xmlns:a16="http://schemas.microsoft.com/office/drawing/2014/main" id="{5311D7DC-6827-9316-2F6D-84315D29DEE4}"/>
                </a:ext>
              </a:extLst>
            </p:cNvPr>
            <p:cNvPicPr>
              <a:picLocks noChangeAspect="1"/>
            </p:cNvPicPr>
            <p:nvPr/>
          </p:nvPicPr>
          <p:blipFill>
            <a:blip r:embed="rId4"/>
            <a:srcRect t="26260" r="1136"/>
            <a:stretch/>
          </p:blipFill>
          <p:spPr>
            <a:xfrm>
              <a:off x="2246042" y="7485072"/>
              <a:ext cx="5801535" cy="1299576"/>
            </a:xfrm>
            <a:prstGeom prst="rect">
              <a:avLst/>
            </a:prstGeom>
          </p:spPr>
        </p:pic>
        <p:pic>
          <p:nvPicPr>
            <p:cNvPr id="30" name="Picture 29">
              <a:extLst>
                <a:ext uri="{FF2B5EF4-FFF2-40B4-BE49-F238E27FC236}">
                  <a16:creationId xmlns:a16="http://schemas.microsoft.com/office/drawing/2014/main" id="{F318AF26-CE12-46E1-53BC-8F3D8C90F6A9}"/>
                </a:ext>
              </a:extLst>
            </p:cNvPr>
            <p:cNvPicPr>
              <a:picLocks noChangeAspect="1"/>
            </p:cNvPicPr>
            <p:nvPr/>
          </p:nvPicPr>
          <p:blipFill>
            <a:blip r:embed="rId5"/>
            <a:stretch>
              <a:fillRect/>
            </a:stretch>
          </p:blipFill>
          <p:spPr>
            <a:xfrm>
              <a:off x="2246042" y="6240973"/>
              <a:ext cx="5801535" cy="1267002"/>
            </a:xfrm>
            <a:prstGeom prst="rect">
              <a:avLst/>
            </a:prstGeom>
          </p:spPr>
        </p:pic>
      </p:grpSp>
    </p:spTree>
    <p:extLst>
      <p:ext uri="{BB962C8B-B14F-4D97-AF65-F5344CB8AC3E}">
        <p14:creationId xmlns:p14="http://schemas.microsoft.com/office/powerpoint/2010/main" val="2334342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AE06-70CB-F8E0-3AF4-D0DA94BCE1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5191B0-3044-F60B-1682-EA0893746108}"/>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A62BB21-D38C-36CE-B921-28DCCAE908A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9EDC0CFB-37A4-FEDF-4717-4FEFA802992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8A15462-5DAF-5070-D4F8-89212DB818D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0EED7CD5-EC66-7D98-9B00-636410B3995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4F990AD-93F9-C71A-27B9-4B11C9A4A31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807435C-CDB4-E2FD-DF0E-162C6BCFBB1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2877995-7474-B0ED-058E-354CCE146D0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32DCBF4-86D6-3497-1497-7F33717F381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6887F1F-6023-F385-3E20-B670FF26B9DC}"/>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470FF0D-50BD-6917-5EB5-056F1994944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1D5B222-D0D4-12E3-2673-FB98EB18494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DCB41FCF-96D6-BCBC-EE49-C7FC2830A51D}"/>
              </a:ext>
            </a:extLst>
          </p:cNvPr>
          <p:cNvSpPr txBox="1"/>
          <p:nvPr/>
        </p:nvSpPr>
        <p:spPr>
          <a:xfrm>
            <a:off x="2246042" y="1836828"/>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IRRIGATION WATER REQUIREMENT AND RELATED FORMULAS</a:t>
            </a:r>
          </a:p>
        </p:txBody>
      </p:sp>
      <p:sp>
        <p:nvSpPr>
          <p:cNvPr id="19" name="TextBox 12">
            <a:extLst>
              <a:ext uri="{FF2B5EF4-FFF2-40B4-BE49-F238E27FC236}">
                <a16:creationId xmlns:a16="http://schemas.microsoft.com/office/drawing/2014/main" id="{EA01AAEE-E840-5837-6EF0-EA55D466820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BF1D1AE1-005A-3E69-B4ED-3C5D11464D1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13E02199-6895-DB69-25C4-328612C77FC2}"/>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B0A9C340-67FF-B971-6456-9CA304227B7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EE32E680-B264-3DD0-8ACF-7F33B57A698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C1D26032-D923-750C-D013-1354D758CD35}"/>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PAES 602:2016</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F9EF4C21-1E39-4355-D140-E16F7075D95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AD38D55-0DA7-CC0C-CF92-88423531A370}"/>
                  </a:ext>
                </a:extLst>
              </p:cNvPr>
              <p:cNvSpPr txBox="1"/>
              <p:nvPr/>
            </p:nvSpPr>
            <p:spPr>
              <a:xfrm>
                <a:off x="1676399" y="2507107"/>
                <a:ext cx="14965679" cy="3800656"/>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Farm Irrigation Requirement </a:t>
                </a:r>
                <a:r>
                  <a:rPr lang="en-US" sz="2400" dirty="0">
                    <a:solidFill>
                      <a:srgbClr val="000000"/>
                    </a:solidFill>
                    <a:latin typeface="Nunito 1" panose="020B0604020202020204" charset="0"/>
                    <a:ea typeface="Nunito 1 Bold"/>
                    <a:cs typeface="Nunito 1 Bold"/>
                    <a:sym typeface="Nunito 1 Bold"/>
                  </a:rPr>
                  <a:t>– farm water requirement minus the application losses</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FIR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PH" sz="2400" b="0" i="0" smtClean="0">
                            <a:solidFill>
                              <a:srgbClr val="000000"/>
                            </a:solidFill>
                            <a:latin typeface="Nunito 1" panose="020B0604020202020204" charset="0"/>
                            <a:sym typeface="Nunito 1 Bold"/>
                          </a:rPr>
                          <m:t>CU</m:t>
                        </m:r>
                        <m:r>
                          <m:rPr>
                            <m:nor/>
                          </m:rPr>
                          <a:rPr lang="en-PH" sz="2400" b="0" i="0" smtClean="0">
                            <a:solidFill>
                              <a:srgbClr val="000000"/>
                            </a:solidFill>
                            <a:latin typeface="Nunito 1" panose="020B0604020202020204" charset="0"/>
                            <a:sym typeface="Nunito 1 Bold"/>
                          </a:rPr>
                          <m:t>−</m:t>
                        </m:r>
                        <m:r>
                          <m:rPr>
                            <m:nor/>
                          </m:rPr>
                          <a:rPr lang="en-PH" sz="2400" b="0" i="0" smtClean="0">
                            <a:solidFill>
                              <a:srgbClr val="000000"/>
                            </a:solidFill>
                            <a:latin typeface="Nunito 1" panose="020B0604020202020204" charset="0"/>
                            <a:sym typeface="Nunito 1 Bold"/>
                          </a:rPr>
                          <m:t>ER</m:t>
                        </m:r>
                      </m:num>
                      <m:den>
                        <m:r>
                          <m:rPr>
                            <m:nor/>
                          </m:rPr>
                          <a:rPr lang="en-PH" sz="2400" b="0" i="0" smtClean="0">
                            <a:solidFill>
                              <a:srgbClr val="000000"/>
                            </a:solidFill>
                            <a:latin typeface="Nunito 1" panose="020B0604020202020204" charset="0"/>
                            <a:sym typeface="Nunito 1 Bold"/>
                          </a:rPr>
                          <m:t>1−</m:t>
                        </m:r>
                        <m:r>
                          <m:rPr>
                            <m:nor/>
                          </m:rPr>
                          <a:rPr lang="en-PH" sz="2400" b="0" i="0" smtClean="0">
                            <a:solidFill>
                              <a:srgbClr val="000000"/>
                            </a:solidFill>
                            <a:latin typeface="Nunito 1" panose="020B0604020202020204" charset="0"/>
                            <a:sym typeface="Nunito 1 Bold"/>
                          </a:rPr>
                          <m:t>FL</m:t>
                        </m:r>
                      </m:den>
                    </m:f>
                  </m:oMath>
                </a14:m>
                <a:endParaRPr lang="en-US" sz="2400" dirty="0">
                  <a:solidFill>
                    <a:srgbClr val="000000"/>
                  </a:solidFill>
                  <a:latin typeface="Nunito 1" panose="020B0604020202020204" charset="0"/>
                  <a:ea typeface="Nunito 1 Bold"/>
                  <a:cs typeface="Nunito 1 Bold"/>
                  <a:sym typeface="Nunito 1 Bold"/>
                </a:endParaRPr>
              </a:p>
              <a:p>
                <a:pPr algn="ctr"/>
                <a:endParaRPr lang="en-US" sz="2400" b="1"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Diversion Requirement </a:t>
                </a:r>
                <a:r>
                  <a:rPr lang="en-US" sz="2400" dirty="0">
                    <a:solidFill>
                      <a:srgbClr val="000000"/>
                    </a:solidFill>
                    <a:latin typeface="Nunito 1" panose="020B0604020202020204" charset="0"/>
                    <a:ea typeface="Nunito 1 Bold"/>
                    <a:cs typeface="Nunito 1 Bold"/>
                    <a:sym typeface="Nunito 1 Bold"/>
                  </a:rPr>
                  <a:t>– farm water requirement plus conveyance </a:t>
                </a:r>
                <a:r>
                  <a:rPr lang="en-US" sz="2400" dirty="0" err="1">
                    <a:solidFill>
                      <a:srgbClr val="000000"/>
                    </a:solidFill>
                    <a:latin typeface="Nunito 1" panose="020B0604020202020204" charset="0"/>
                    <a:ea typeface="Nunito 1 Bold"/>
                    <a:cs typeface="Nunito 1 Bold"/>
                    <a:sym typeface="Nunito 1 Bold"/>
                  </a:rPr>
                  <a:t>losess</a:t>
                </a:r>
                <a:endParaRPr lang="en-US" sz="2400" dirty="0">
                  <a:solidFill>
                    <a:srgbClr val="000000"/>
                  </a:solidFill>
                  <a:latin typeface="Nunito 1" panose="020B0604020202020204" charset="0"/>
                  <a:ea typeface="Nunito 1 Bold"/>
                  <a:cs typeface="Nunito 1 Bold"/>
                  <a:sym typeface="Nunito 1 Bold"/>
                </a:endParaRPr>
              </a:p>
              <a:p>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DR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PH" sz="2400" b="0" i="0" smtClean="0">
                            <a:solidFill>
                              <a:srgbClr val="000000"/>
                            </a:solidFill>
                            <a:latin typeface="Nunito 1" panose="020B0604020202020204" charset="0"/>
                            <a:sym typeface="Nunito 1 Bold"/>
                          </a:rPr>
                          <m:t>FIR</m:t>
                        </m:r>
                        <m:r>
                          <m:rPr>
                            <m:nor/>
                          </m:rPr>
                          <a:rPr lang="en-PH" sz="2400" b="0" i="0" smtClean="0">
                            <a:solidFill>
                              <a:srgbClr val="000000"/>
                            </a:solidFill>
                            <a:latin typeface="Nunito 1" panose="020B0604020202020204" charset="0"/>
                            <a:sym typeface="Nunito 1 Bold"/>
                          </a:rPr>
                          <m:t> </m:t>
                        </m:r>
                        <m:r>
                          <m:rPr>
                            <m:nor/>
                          </m:rPr>
                          <a:rPr lang="en-PH" sz="2400" b="0" i="0" smtClean="0">
                            <a:solidFill>
                              <a:srgbClr val="000000"/>
                            </a:solidFill>
                            <a:latin typeface="Nunito 1" panose="020B0604020202020204" charset="0"/>
                            <a:sym typeface="Nunito 1 Bold"/>
                          </a:rPr>
                          <m:t>x</m:t>
                        </m:r>
                        <m:r>
                          <m:rPr>
                            <m:nor/>
                          </m:rPr>
                          <a:rPr lang="en-PH" sz="2400" b="0" i="0" smtClean="0">
                            <a:solidFill>
                              <a:srgbClr val="000000"/>
                            </a:solidFill>
                            <a:latin typeface="Nunito 1" panose="020B0604020202020204" charset="0"/>
                            <a:sym typeface="Nunito 1 Bold"/>
                          </a:rPr>
                          <m:t> </m:t>
                        </m:r>
                        <m:r>
                          <m:rPr>
                            <m:nor/>
                          </m:rPr>
                          <a:rPr lang="en-PH" sz="2400" b="0" i="0" smtClean="0">
                            <a:solidFill>
                              <a:srgbClr val="000000"/>
                            </a:solidFill>
                            <a:latin typeface="Nunito 1" panose="020B0604020202020204" charset="0"/>
                            <a:sym typeface="Nunito 1 Bold"/>
                          </a:rPr>
                          <m:t>A</m:t>
                        </m:r>
                      </m:num>
                      <m:den>
                        <m:r>
                          <m:rPr>
                            <m:nor/>
                          </m:rPr>
                          <a:rPr lang="en-PH" sz="2400" b="0" i="0" smtClean="0">
                            <a:solidFill>
                              <a:srgbClr val="000000"/>
                            </a:solidFill>
                            <a:latin typeface="Nunito 1" panose="020B0604020202020204" charset="0"/>
                            <a:sym typeface="Nunito 1 Bold"/>
                          </a:rPr>
                          <m:t>1−</m:t>
                        </m:r>
                        <m:r>
                          <m:rPr>
                            <m:nor/>
                          </m:rPr>
                          <a:rPr lang="en-PH" sz="2400" b="0" i="0" smtClean="0">
                            <a:solidFill>
                              <a:srgbClr val="000000"/>
                            </a:solidFill>
                            <a:latin typeface="Nunito 1" panose="020B0604020202020204" charset="0"/>
                            <a:sym typeface="Nunito 1 Bold"/>
                          </a:rPr>
                          <m:t>CL</m:t>
                        </m:r>
                      </m:den>
                    </m:f>
                  </m:oMath>
                </a14:m>
                <a:endParaRPr lang="en-US" sz="2400" dirty="0">
                  <a:solidFill>
                    <a:srgbClr val="000000"/>
                  </a:solidFill>
                  <a:latin typeface="Nunito 1" panose="020B0604020202020204" charset="0"/>
                  <a:ea typeface="Nunito 1 Bold"/>
                  <a:cs typeface="Nunito 1 Bold"/>
                  <a:sym typeface="Nunito 1 Bold"/>
                </a:endParaRPr>
              </a:p>
              <a:p>
                <a:pPr algn="ctr"/>
                <a:endParaRPr lang="en-US" sz="2400" dirty="0">
                  <a:solidFill>
                    <a:srgbClr val="000000"/>
                  </a:solidFill>
                  <a:latin typeface="Nunito 1" panose="020B0604020202020204" charset="0"/>
                  <a:ea typeface="Nunito 1 Bold"/>
                  <a:cs typeface="Nunito 1 Bold"/>
                  <a:sym typeface="Nunito 1 Bold"/>
                </a:endParaRPr>
              </a:p>
              <a:p>
                <a:pPr algn="ctr"/>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8" name="TextBox 17">
                <a:extLst>
                  <a:ext uri="{FF2B5EF4-FFF2-40B4-BE49-F238E27FC236}">
                    <a16:creationId xmlns:a16="http://schemas.microsoft.com/office/drawing/2014/main" id="{1AD38D55-0DA7-CC0C-CF92-88423531A370}"/>
                  </a:ext>
                </a:extLst>
              </p:cNvPr>
              <p:cNvSpPr txBox="1">
                <a:spLocks noRot="1" noChangeAspect="1" noMove="1" noResize="1" noEditPoints="1" noAdjustHandles="1" noChangeArrowheads="1" noChangeShapeType="1" noTextEdit="1"/>
              </p:cNvSpPr>
              <p:nvPr/>
            </p:nvSpPr>
            <p:spPr>
              <a:xfrm>
                <a:off x="1676399" y="2507107"/>
                <a:ext cx="14965679" cy="3800656"/>
              </a:xfrm>
              <a:prstGeom prst="rect">
                <a:avLst/>
              </a:prstGeom>
              <a:blipFill>
                <a:blip r:embed="rId3"/>
                <a:stretch>
                  <a:fillRect l="-1141" t="-2404"/>
                </a:stretch>
              </a:blipFill>
            </p:spPr>
            <p:txBody>
              <a:bodyPr/>
              <a:lstStyle/>
              <a:p>
                <a:r>
                  <a:rPr lang="en-PH">
                    <a:noFill/>
                  </a:rPr>
                  <a:t> </a:t>
                </a:r>
              </a:p>
            </p:txBody>
          </p:sp>
        </mc:Fallback>
      </mc:AlternateContent>
      <p:pic>
        <p:nvPicPr>
          <p:cNvPr id="17" name="Picture 16">
            <a:extLst>
              <a:ext uri="{FF2B5EF4-FFF2-40B4-BE49-F238E27FC236}">
                <a16:creationId xmlns:a16="http://schemas.microsoft.com/office/drawing/2014/main" id="{8E426819-F688-678B-5AD6-3ADCF2B336F6}"/>
              </a:ext>
            </a:extLst>
          </p:cNvPr>
          <p:cNvPicPr>
            <a:picLocks noChangeAspect="1"/>
          </p:cNvPicPr>
          <p:nvPr/>
        </p:nvPicPr>
        <p:blipFill>
          <a:blip r:embed="rId4"/>
          <a:stretch>
            <a:fillRect/>
          </a:stretch>
        </p:blipFill>
        <p:spPr>
          <a:xfrm>
            <a:off x="5905048" y="5880261"/>
            <a:ext cx="6477904" cy="2191056"/>
          </a:xfrm>
          <a:prstGeom prst="rect">
            <a:avLst/>
          </a:prstGeom>
        </p:spPr>
      </p:pic>
      <p:grpSp>
        <p:nvGrpSpPr>
          <p:cNvPr id="27" name="Group 26">
            <a:extLst>
              <a:ext uri="{FF2B5EF4-FFF2-40B4-BE49-F238E27FC236}">
                <a16:creationId xmlns:a16="http://schemas.microsoft.com/office/drawing/2014/main" id="{DF2A2E45-DFD5-8695-CC8B-F8E74FFCBC37}"/>
              </a:ext>
            </a:extLst>
          </p:cNvPr>
          <p:cNvGrpSpPr/>
          <p:nvPr/>
        </p:nvGrpSpPr>
        <p:grpSpPr>
          <a:xfrm>
            <a:off x="0" y="9599693"/>
            <a:ext cx="18287999" cy="687306"/>
            <a:chOff x="0" y="9599693"/>
            <a:chExt cx="18287999" cy="687306"/>
          </a:xfrm>
        </p:grpSpPr>
        <p:grpSp>
          <p:nvGrpSpPr>
            <p:cNvPr id="28" name="Group 11">
              <a:extLst>
                <a:ext uri="{FF2B5EF4-FFF2-40B4-BE49-F238E27FC236}">
                  <a16:creationId xmlns:a16="http://schemas.microsoft.com/office/drawing/2014/main" id="{805D0F8D-2C93-C0C3-3CEB-259F070BB3B7}"/>
                </a:ext>
              </a:extLst>
            </p:cNvPr>
            <p:cNvGrpSpPr/>
            <p:nvPr/>
          </p:nvGrpSpPr>
          <p:grpSpPr>
            <a:xfrm>
              <a:off x="0" y="9599694"/>
              <a:ext cx="18287999" cy="687305"/>
              <a:chOff x="0" y="0"/>
              <a:chExt cx="5260714" cy="490218"/>
            </a:xfrm>
          </p:grpSpPr>
          <p:sp>
            <p:nvSpPr>
              <p:cNvPr id="31" name="Freeform 12">
                <a:extLst>
                  <a:ext uri="{FF2B5EF4-FFF2-40B4-BE49-F238E27FC236}">
                    <a16:creationId xmlns:a16="http://schemas.microsoft.com/office/drawing/2014/main" id="{FBE8A46E-6CEA-9C11-2E72-04539742595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2" name="TextBox 13">
                <a:extLst>
                  <a:ext uri="{FF2B5EF4-FFF2-40B4-BE49-F238E27FC236}">
                    <a16:creationId xmlns:a16="http://schemas.microsoft.com/office/drawing/2014/main" id="{EFE06993-367A-7E70-7C9D-FFE543C204B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12">
              <a:extLst>
                <a:ext uri="{FF2B5EF4-FFF2-40B4-BE49-F238E27FC236}">
                  <a16:creationId xmlns:a16="http://schemas.microsoft.com/office/drawing/2014/main" id="{423D4490-C2B3-BB1C-E66C-90E0C8124FC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0" name="TextBox 13">
              <a:extLst>
                <a:ext uri="{FF2B5EF4-FFF2-40B4-BE49-F238E27FC236}">
                  <a16:creationId xmlns:a16="http://schemas.microsoft.com/office/drawing/2014/main" id="{EA1C86E6-7A02-4ED2-7C5A-A3E3FCD8E10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61892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CE792-90EA-4198-B86E-C75F797EA10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0669AE2-5036-3876-05AD-B39E897CB80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F5B35E67-80A5-ED4D-1EF0-98F9A8F2C68E}"/>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38202B8-B9F1-B3BB-C916-214DBA1CD23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D76B49DB-1412-9A6C-8F70-19031830A60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2DB8D4A-BFB6-78CB-EA64-14D954660E5B}"/>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ABD81A89-CEA0-A815-0567-72F46615F9F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3760E8F-A000-CE7D-11DD-C53E21B1CD0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DCBD5FE-8120-0A39-1D42-BEFF3258D11E}"/>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181D7D13-E554-F5F4-714F-E2246A13A17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A385BD9-B431-F7F3-28FC-FC901B5274E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27C29CE-C62F-529D-ED9F-EC28B21E2F2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7B3F015-FC8D-8497-02A4-DEDE832E45F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4E8BDEF4-6027-5BDD-713C-2DCEE5A300D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3ABEA99-4713-12CE-DDDA-A072B359EDC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A535CA74-FBDC-04BB-8FDC-5457A181189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0DC2B3E-41B0-FDBF-5FA1-9A05574F4FE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C42F90D-E0D4-53F4-91C8-B2A2D093E48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31A4541-34BF-9743-F294-25BB78160D8F}"/>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C84B60A-AE71-B657-6A2B-A96B0CC0C6BF}"/>
                  </a:ext>
                </a:extLst>
              </p:cNvPr>
              <p:cNvSpPr txBox="1"/>
              <p:nvPr/>
            </p:nvSpPr>
            <p:spPr>
              <a:xfrm>
                <a:off x="1676399" y="2662021"/>
                <a:ext cx="14935200" cy="6018442"/>
              </a:xfrm>
              <a:prstGeom prst="rect">
                <a:avLst/>
              </a:prstGeom>
            </p:spPr>
            <p:txBody>
              <a:bodyPr wrap="square" lIns="0" tIns="0" rIns="0" bIns="0" rtlCol="0" anchor="t">
                <a:spAutoFit/>
              </a:bodyPr>
              <a:lstStyle/>
              <a:p>
                <a:r>
                  <a:rPr lang="en-PH" sz="2400" b="1" dirty="0">
                    <a:solidFill>
                      <a:srgbClr val="000000"/>
                    </a:solidFill>
                    <a:latin typeface="Nunito 1" panose="020B0604020202020204" charset="0"/>
                    <a:ea typeface="Nunito 1 Bold"/>
                    <a:cs typeface="Nunito 1 Bold"/>
                    <a:sym typeface="Nunito 1 Bold"/>
                  </a:rPr>
                  <a:t>Depth of Irrigation</a:t>
                </a:r>
              </a:p>
              <a:p>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Based on field capacity and available moisture prior to irrigation</a:t>
                </a:r>
              </a:p>
              <a:p>
                <a:pPr algn="ctr"/>
                <a:endParaRPr lang="en-PH" sz="2400" dirty="0">
                  <a:solidFill>
                    <a:srgbClr val="000000"/>
                  </a:solidFill>
                  <a:latin typeface="Nunito 1" panose="020B0604020202020204" charset="0"/>
                  <a:ea typeface="Nunito 1 Bold"/>
                  <a:cs typeface="Nunito 1 Bold"/>
                  <a:sym typeface="Nunito 1 Bold"/>
                </a:endParaRPr>
              </a:p>
              <a:p>
                <a:pPr algn="ctr"/>
                <a:r>
                  <a:rPr lang="en-PH" sz="2400" dirty="0">
                    <a:solidFill>
                      <a:srgbClr val="000000"/>
                    </a:solidFill>
                    <a:latin typeface="Nunito 1" panose="020B0604020202020204" charset="0"/>
                    <a:ea typeface="Nunito 1 Bold"/>
                    <a:cs typeface="Nunito 1 Bold"/>
                    <a:sym typeface="Nunito 1 Bold"/>
                  </a:rPr>
                  <a:t>d = </a:t>
                </a:r>
                <a14:m>
                  <m:oMath xmlns:m="http://schemas.openxmlformats.org/officeDocument/2006/math">
                    <m:f>
                      <m:fPr>
                        <m:ctrlPr>
                          <a:rPr lang="en-PH" sz="2400" i="1" smtClean="0">
                            <a:solidFill>
                              <a:srgbClr val="000000"/>
                            </a:solidFill>
                            <a:latin typeface="Cambria Math" panose="02040503050406030204" pitchFamily="18" charset="0"/>
                            <a:sym typeface="Nunito 1 Bold"/>
                          </a:rPr>
                        </m:ctrlPr>
                      </m:fPr>
                      <m:num>
                        <m:d>
                          <m:dPr>
                            <m:ctrlPr>
                              <a:rPr lang="en-PH" sz="2400" b="0" i="1" smtClean="0">
                                <a:solidFill>
                                  <a:srgbClr val="000000"/>
                                </a:solidFill>
                                <a:latin typeface="Cambria Math" panose="02040503050406030204" pitchFamily="18" charset="0"/>
                                <a:sym typeface="Nunito 1 Bold"/>
                              </a:rPr>
                            </m:ctrlPr>
                          </m:dPr>
                          <m:e>
                            <m:r>
                              <m:rPr>
                                <m:nor/>
                              </m:rPr>
                              <a:rPr lang="en-PH" sz="2400" b="0" i="0" smtClean="0">
                                <a:solidFill>
                                  <a:srgbClr val="000000"/>
                                </a:solidFill>
                                <a:latin typeface="Nunito 1" panose="020B0604020202020204" charset="0"/>
                                <a:sym typeface="Nunito 1 Bold"/>
                              </a:rPr>
                              <m:t>FC</m:t>
                            </m:r>
                            <m:r>
                              <m:rPr>
                                <m:nor/>
                              </m:rPr>
                              <a:rPr lang="en-PH" sz="2400" b="0" i="0" smtClean="0">
                                <a:solidFill>
                                  <a:srgbClr val="000000"/>
                                </a:solidFill>
                                <a:latin typeface="Nunito 1" panose="020B0604020202020204" charset="0"/>
                                <a:sym typeface="Nunito 1 Bold"/>
                              </a:rPr>
                              <m:t> − </m:t>
                            </m:r>
                            <m:r>
                              <m:rPr>
                                <m:nor/>
                              </m:rPr>
                              <a:rPr lang="en-PH" sz="2400" b="0" i="0" smtClean="0">
                                <a:solidFill>
                                  <a:srgbClr val="000000"/>
                                </a:solidFill>
                                <a:latin typeface="Nunito 1" panose="020B0604020202020204" charset="0"/>
                                <a:sym typeface="Nunito 1 Bold"/>
                              </a:rPr>
                              <m:t>AM</m:t>
                            </m:r>
                          </m:e>
                        </m:d>
                        <m:r>
                          <m:rPr>
                            <m:nor/>
                          </m:rPr>
                          <a:rPr lang="en-PH" sz="2400" b="0" i="0" smtClean="0">
                            <a:solidFill>
                              <a:srgbClr val="000000"/>
                            </a:solidFill>
                            <a:latin typeface="Nunito 1" panose="020B0604020202020204" charset="0"/>
                            <a:sym typeface="Nunito 1 Bold"/>
                          </a:rPr>
                          <m:t>D</m:t>
                        </m:r>
                      </m:num>
                      <m:den>
                        <m:r>
                          <m:rPr>
                            <m:nor/>
                          </m:rPr>
                          <a:rPr lang="en-PH" sz="2400" b="0" i="0" smtClean="0">
                            <a:solidFill>
                              <a:srgbClr val="000000"/>
                            </a:solidFill>
                            <a:latin typeface="Nunito 1" panose="020B0604020202020204" charset="0"/>
                            <a:sym typeface="Nunito 1 Bold"/>
                          </a:rPr>
                          <m:t>Ea</m:t>
                        </m:r>
                      </m:den>
                    </m:f>
                  </m:oMath>
                </a14:m>
                <a:r>
                  <a:rPr lang="en-PH" sz="2400" dirty="0">
                    <a:solidFill>
                      <a:srgbClr val="000000"/>
                    </a:solidFill>
                    <a:latin typeface="Nunito 1" panose="020B0604020202020204" charset="0"/>
                    <a:ea typeface="Nunito 1 Bold"/>
                    <a:cs typeface="Nunito 1 Bold"/>
                    <a:sym typeface="Nunito 1 Bold"/>
                  </a:rPr>
                  <a:t>	</a:t>
                </a:r>
              </a:p>
              <a:p>
                <a:r>
                  <a:rPr lang="en-PH" sz="2400" b="1" dirty="0">
                    <a:solidFill>
                      <a:srgbClr val="000000"/>
                    </a:solidFill>
                    <a:latin typeface="Nunito 1" panose="020B0604020202020204" charset="0"/>
                    <a:ea typeface="Nunito 1 Bold"/>
                    <a:cs typeface="Nunito 1 Bold"/>
                    <a:sym typeface="Nunito 1 Bold"/>
                  </a:rPr>
                  <a:t>Irrigation Interval</a:t>
                </a:r>
              </a:p>
              <a:p>
                <a:pPr algn="ctr"/>
                <a:endParaRPr lang="en-PH" sz="2400" b="1" dirty="0">
                  <a:solidFill>
                    <a:srgbClr val="000000"/>
                  </a:solidFill>
                  <a:latin typeface="Nunito 1" panose="020B0604020202020204" charset="0"/>
                  <a:ea typeface="Nunito 1 Bold"/>
                  <a:cs typeface="Nunito 1 Bold"/>
                  <a:sym typeface="Nunito 1 Bold"/>
                </a:endParaRPr>
              </a:p>
              <a:p>
                <a:pPr algn="ctr"/>
                <a:r>
                  <a:rPr lang="en-PH" sz="2400" dirty="0">
                    <a:solidFill>
                      <a:srgbClr val="000000"/>
                    </a:solidFill>
                    <a:latin typeface="Nunito 1" panose="020B0604020202020204" charset="0"/>
                    <a:ea typeface="Nunito 1 Bold"/>
                    <a:cs typeface="Nunito 1 Bold"/>
                    <a:sym typeface="Nunito 1 Bold"/>
                  </a:rPr>
                  <a:t>II = </a:t>
                </a:r>
                <a14:m>
                  <m:oMath xmlns:m="http://schemas.openxmlformats.org/officeDocument/2006/math">
                    <m:f>
                      <m:fPr>
                        <m:ctrlPr>
                          <a:rPr lang="en-PH" sz="2400" i="1" smtClean="0">
                            <a:solidFill>
                              <a:srgbClr val="000000"/>
                            </a:solidFill>
                            <a:latin typeface="Cambria Math" panose="02040503050406030204" pitchFamily="18" charset="0"/>
                            <a:sym typeface="Nunito 1 Bold"/>
                          </a:rPr>
                        </m:ctrlPr>
                      </m:fPr>
                      <m:num>
                        <m:r>
                          <m:rPr>
                            <m:nor/>
                          </m:rPr>
                          <a:rPr lang="en-PH" sz="2400" b="0" i="0" smtClean="0">
                            <a:solidFill>
                              <a:srgbClr val="000000"/>
                            </a:solidFill>
                            <a:latin typeface="Nunito 1" panose="020B0604020202020204" charset="0"/>
                            <a:sym typeface="Nunito 1 Bold"/>
                          </a:rPr>
                          <m:t>p</m:t>
                        </m:r>
                        <m:r>
                          <m:rPr>
                            <m:nor/>
                          </m:rPr>
                          <a:rPr lang="en-PH" sz="2400" b="0" i="0" smtClean="0">
                            <a:solidFill>
                              <a:srgbClr val="000000"/>
                            </a:solidFill>
                            <a:latin typeface="Nunito 1" panose="020B0604020202020204" charset="0"/>
                            <a:sym typeface="Nunito 1 Bold"/>
                          </a:rPr>
                          <m:t> </m:t>
                        </m:r>
                        <m:r>
                          <m:rPr>
                            <m:nor/>
                          </m:rPr>
                          <a:rPr lang="en-PH" sz="2400" b="0" i="0" smtClean="0">
                            <a:solidFill>
                              <a:srgbClr val="000000"/>
                            </a:solidFill>
                            <a:latin typeface="Nunito 1" panose="020B0604020202020204" charset="0"/>
                            <a:sym typeface="Nunito 1 Bold"/>
                          </a:rPr>
                          <m:t>x</m:t>
                        </m:r>
                        <m:r>
                          <m:rPr>
                            <m:nor/>
                          </m:rPr>
                          <a:rPr lang="en-PH" sz="2400" b="0" i="0" smtClean="0">
                            <a:solidFill>
                              <a:srgbClr val="000000"/>
                            </a:solidFill>
                            <a:latin typeface="Nunito 1" panose="020B0604020202020204" charset="0"/>
                            <a:sym typeface="Nunito 1 Bold"/>
                          </a:rPr>
                          <m:t> </m:t>
                        </m:r>
                        <m:r>
                          <m:rPr>
                            <m:nor/>
                          </m:rPr>
                          <a:rPr lang="en-PH" sz="2400" b="0" i="0" smtClean="0">
                            <a:solidFill>
                              <a:srgbClr val="000000"/>
                            </a:solidFill>
                            <a:latin typeface="Nunito 1" panose="020B0604020202020204" charset="0"/>
                            <a:sym typeface="Nunito 1 Bold"/>
                          </a:rPr>
                          <m:t>AM</m:t>
                        </m:r>
                        <m:r>
                          <m:rPr>
                            <m:nor/>
                          </m:rPr>
                          <a:rPr lang="en-PH" sz="2400" b="0" i="0" smtClean="0">
                            <a:solidFill>
                              <a:srgbClr val="000000"/>
                            </a:solidFill>
                            <a:latin typeface="Nunito 1" panose="020B0604020202020204" charset="0"/>
                            <a:sym typeface="Nunito 1 Bold"/>
                          </a:rPr>
                          <m:t> </m:t>
                        </m:r>
                        <m:r>
                          <m:rPr>
                            <m:nor/>
                          </m:rPr>
                          <a:rPr lang="en-PH" sz="2400" b="0" i="0" smtClean="0">
                            <a:solidFill>
                              <a:srgbClr val="000000"/>
                            </a:solidFill>
                            <a:latin typeface="Nunito 1" panose="020B0604020202020204" charset="0"/>
                            <a:sym typeface="Nunito 1 Bold"/>
                          </a:rPr>
                          <m:t>x</m:t>
                        </m:r>
                        <m:r>
                          <m:rPr>
                            <m:nor/>
                          </m:rPr>
                          <a:rPr lang="en-PH" sz="2400" b="0" i="0" smtClean="0">
                            <a:solidFill>
                              <a:srgbClr val="000000"/>
                            </a:solidFill>
                            <a:latin typeface="Nunito 1" panose="020B0604020202020204" charset="0"/>
                            <a:sym typeface="Nunito 1 Bold"/>
                          </a:rPr>
                          <m:t> </m:t>
                        </m:r>
                        <m:r>
                          <m:rPr>
                            <m:nor/>
                          </m:rPr>
                          <a:rPr lang="en-PH" sz="2400" b="0" i="0" smtClean="0">
                            <a:solidFill>
                              <a:srgbClr val="000000"/>
                            </a:solidFill>
                            <a:latin typeface="Nunito 1" panose="020B0604020202020204" charset="0"/>
                            <a:sym typeface="Nunito 1 Bold"/>
                          </a:rPr>
                          <m:t>D</m:t>
                        </m:r>
                      </m:num>
                      <m:den>
                        <m:r>
                          <m:rPr>
                            <m:nor/>
                          </m:rPr>
                          <a:rPr lang="en-PH" sz="2400" b="0" i="0" smtClean="0">
                            <a:solidFill>
                              <a:srgbClr val="000000"/>
                            </a:solidFill>
                            <a:latin typeface="Nunito 1" panose="020B0604020202020204" charset="0"/>
                            <a:sym typeface="Nunito 1 Bold"/>
                          </a:rPr>
                          <m:t>(</m:t>
                        </m:r>
                        <m:r>
                          <m:rPr>
                            <m:nor/>
                          </m:rPr>
                          <a:rPr lang="en-PH" sz="2400" b="0" i="0" smtClean="0">
                            <a:solidFill>
                              <a:srgbClr val="000000"/>
                            </a:solidFill>
                            <a:latin typeface="Nunito 1" panose="020B0604020202020204" charset="0"/>
                            <a:sym typeface="Nunito 1 Bold"/>
                          </a:rPr>
                          <m:t>ET</m:t>
                        </m:r>
                        <m:r>
                          <m:rPr>
                            <m:nor/>
                          </m:rPr>
                          <a:rPr lang="en-PH" sz="2400" b="0" i="0" smtClean="0">
                            <a:solidFill>
                              <a:srgbClr val="000000"/>
                            </a:solidFill>
                            <a:latin typeface="Nunito 1" panose="020B0604020202020204" charset="0"/>
                            <a:sym typeface="Nunito 1 Bold"/>
                          </a:rPr>
                          <m:t> − </m:t>
                        </m:r>
                        <m:r>
                          <m:rPr>
                            <m:nor/>
                          </m:rPr>
                          <a:rPr lang="en-PH" sz="2400" b="0" i="0" smtClean="0">
                            <a:solidFill>
                              <a:srgbClr val="000000"/>
                            </a:solidFill>
                            <a:latin typeface="Nunito 1" panose="020B0604020202020204" charset="0"/>
                            <a:sym typeface="Nunito 1 Bold"/>
                          </a:rPr>
                          <m:t>ER</m:t>
                        </m:r>
                        <m:r>
                          <m:rPr>
                            <m:nor/>
                          </m:rPr>
                          <a:rPr lang="en-PH" sz="2400" b="0" i="0" smtClean="0">
                            <a:solidFill>
                              <a:srgbClr val="000000"/>
                            </a:solidFill>
                            <a:latin typeface="Nunito 1" panose="020B0604020202020204" charset="0"/>
                            <a:sym typeface="Nunito 1 Bold"/>
                          </a:rPr>
                          <m:t>)(</m:t>
                        </m:r>
                        <m:r>
                          <m:rPr>
                            <m:nor/>
                          </m:rPr>
                          <a:rPr lang="en-PH" sz="2400" b="0" i="0" smtClean="0">
                            <a:solidFill>
                              <a:srgbClr val="000000"/>
                            </a:solidFill>
                            <a:latin typeface="Nunito 1" panose="020B0604020202020204" charset="0"/>
                            <a:sym typeface="Nunito 1 Bold"/>
                          </a:rPr>
                          <m:t>Ea</m:t>
                        </m:r>
                        <m:r>
                          <m:rPr>
                            <m:nor/>
                          </m:rPr>
                          <a:rPr lang="en-PH" sz="2400" b="0" i="0" smtClean="0">
                            <a:solidFill>
                              <a:srgbClr val="000000"/>
                            </a:solidFill>
                            <a:latin typeface="Nunito 1" panose="020B0604020202020204" charset="0"/>
                            <a:sym typeface="Nunito 1 Bold"/>
                          </a:rPr>
                          <m:t>)</m:t>
                        </m:r>
                      </m:den>
                    </m:f>
                  </m:oMath>
                </a14:m>
                <a:r>
                  <a:rPr lang="en-PH" sz="2400" dirty="0">
                    <a:solidFill>
                      <a:srgbClr val="000000"/>
                    </a:solidFill>
                    <a:latin typeface="Nunito 1" panose="020B0604020202020204" charset="0"/>
                    <a:ea typeface="Nunito 1 Bold"/>
                    <a:cs typeface="Nunito 1 Bold"/>
                    <a:sym typeface="Nunito 1 Bold"/>
                  </a:rPr>
                  <a:t> </a:t>
                </a:r>
              </a:p>
              <a:p>
                <a:r>
                  <a:rPr lang="en-PH" sz="2000" dirty="0">
                    <a:solidFill>
                      <a:srgbClr val="000000"/>
                    </a:solidFill>
                    <a:latin typeface="Nunito 1" panose="020B0604020202020204" charset="0"/>
                    <a:ea typeface="Nunito 1 Bold"/>
                    <a:cs typeface="Nunito 1 Bold"/>
                    <a:sym typeface="Nunito 1 Bold"/>
                  </a:rPr>
                  <a:t>where:   FC = field capacity</a:t>
                </a:r>
              </a:p>
              <a:p>
                <a:r>
                  <a:rPr lang="en-PH" sz="2000" dirty="0">
                    <a:solidFill>
                      <a:srgbClr val="000000"/>
                    </a:solidFill>
                    <a:latin typeface="Nunito 1" panose="020B0604020202020204" charset="0"/>
                    <a:ea typeface="Nunito 1 Bold"/>
                    <a:cs typeface="Nunito 1 Bold"/>
                    <a:sym typeface="Nunito 1 Bold"/>
                  </a:rPr>
                  <a:t>	 AM = available moisture prior to irrigation</a:t>
                </a:r>
              </a:p>
              <a:p>
                <a:r>
                  <a:rPr lang="en-PH" sz="2000" dirty="0">
                    <a:solidFill>
                      <a:srgbClr val="000000"/>
                    </a:solidFill>
                    <a:latin typeface="Nunito 1" panose="020B0604020202020204" charset="0"/>
                    <a:ea typeface="Nunito 1 Bold"/>
                    <a:cs typeface="Nunito 1 Bold"/>
                    <a:sym typeface="Nunito 1 Bold"/>
                  </a:rPr>
                  <a:t>	 D = depth of rootzone</a:t>
                </a:r>
              </a:p>
              <a:p>
                <a:r>
                  <a:rPr lang="en-PH" sz="2000" dirty="0">
                    <a:solidFill>
                      <a:srgbClr val="000000"/>
                    </a:solidFill>
                    <a:latin typeface="Nunito 1" panose="020B0604020202020204" charset="0"/>
                    <a:ea typeface="Nunito 1 Bold"/>
                    <a:cs typeface="Nunito 1 Bold"/>
                    <a:sym typeface="Nunito 1 Bold"/>
                  </a:rPr>
                  <a:t>	 </a:t>
                </a:r>
                <a:r>
                  <a:rPr lang="en-PH" sz="2000" dirty="0" err="1">
                    <a:solidFill>
                      <a:srgbClr val="000000"/>
                    </a:solidFill>
                    <a:latin typeface="Nunito 1" panose="020B0604020202020204" charset="0"/>
                    <a:ea typeface="Nunito 1 Bold"/>
                    <a:cs typeface="Nunito 1 Bold"/>
                    <a:sym typeface="Nunito 1 Bold"/>
                  </a:rPr>
                  <a:t>Ea</a:t>
                </a:r>
                <a:r>
                  <a:rPr lang="en-PH" sz="2000" dirty="0">
                    <a:solidFill>
                      <a:srgbClr val="000000"/>
                    </a:solidFill>
                    <a:latin typeface="Nunito 1" panose="020B0604020202020204" charset="0"/>
                    <a:ea typeface="Nunito 1 Bold"/>
                    <a:cs typeface="Nunito 1 Bold"/>
                    <a:sym typeface="Nunito 1 Bold"/>
                  </a:rPr>
                  <a:t> = application efficiency</a:t>
                </a:r>
              </a:p>
              <a:p>
                <a:r>
                  <a:rPr lang="en-PH" sz="2000" dirty="0">
                    <a:solidFill>
                      <a:srgbClr val="000000"/>
                    </a:solidFill>
                    <a:latin typeface="Nunito 1" panose="020B0604020202020204" charset="0"/>
                    <a:ea typeface="Nunito 1 Bold"/>
                    <a:cs typeface="Nunito 1 Bold"/>
                    <a:sym typeface="Nunito 1 Bold"/>
                  </a:rPr>
                  <a:t>	 p = fraction of available soil water that permits unrestricted ET</a:t>
                </a:r>
              </a:p>
              <a:p>
                <a:r>
                  <a:rPr lang="en-PH" sz="2000" dirty="0">
                    <a:solidFill>
                      <a:srgbClr val="000000"/>
                    </a:solidFill>
                    <a:latin typeface="Nunito 1" panose="020B0604020202020204" charset="0"/>
                    <a:ea typeface="Nunito 1 Bold"/>
                    <a:cs typeface="Nunito 1 Bold"/>
                    <a:sym typeface="Nunito 1 Bold"/>
                  </a:rPr>
                  <a:t>	 ET = evapotranspiration</a:t>
                </a:r>
              </a:p>
              <a:p>
                <a:r>
                  <a:rPr lang="en-PH" sz="2000" dirty="0">
                    <a:solidFill>
                      <a:srgbClr val="000000"/>
                    </a:solidFill>
                    <a:latin typeface="Nunito 1" panose="020B0604020202020204" charset="0"/>
                    <a:ea typeface="Nunito 1 Bold"/>
                    <a:cs typeface="Nunito 1 Bold"/>
                    <a:sym typeface="Nunito 1 Bold"/>
                  </a:rPr>
                  <a:t>	 ER = effective rainfall</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p:txBody>
          </p:sp>
        </mc:Choice>
        <mc:Fallback xmlns="">
          <p:sp>
            <p:nvSpPr>
              <p:cNvPr id="16" name="TextBox 15">
                <a:extLst>
                  <a:ext uri="{FF2B5EF4-FFF2-40B4-BE49-F238E27FC236}">
                    <a16:creationId xmlns:a16="http://schemas.microsoft.com/office/drawing/2014/main" id="{EC84B60A-AE71-B657-6A2B-A96B0CC0C6BF}"/>
                  </a:ext>
                </a:extLst>
              </p:cNvPr>
              <p:cNvSpPr txBox="1">
                <a:spLocks noRot="1" noChangeAspect="1" noMove="1" noResize="1" noEditPoints="1" noAdjustHandles="1" noChangeArrowheads="1" noChangeShapeType="1" noTextEdit="1"/>
              </p:cNvSpPr>
              <p:nvPr/>
            </p:nvSpPr>
            <p:spPr>
              <a:xfrm>
                <a:off x="1676399" y="2662021"/>
                <a:ext cx="14935200" cy="6018442"/>
              </a:xfrm>
              <a:prstGeom prst="rect">
                <a:avLst/>
              </a:prstGeom>
              <a:blipFill>
                <a:blip r:embed="rId3"/>
                <a:stretch>
                  <a:fillRect l="-1224" t="-1621"/>
                </a:stretch>
              </a:blipFill>
            </p:spPr>
            <p:txBody>
              <a:bodyPr/>
              <a:lstStyle/>
              <a:p>
                <a:r>
                  <a:rPr lang="en-PH">
                    <a:noFill/>
                  </a:rPr>
                  <a:t> </a:t>
                </a:r>
              </a:p>
            </p:txBody>
          </p:sp>
        </mc:Fallback>
      </mc:AlternateContent>
      <p:sp>
        <p:nvSpPr>
          <p:cNvPr id="22" name="AutoShape 4" descr="Jual Open Channel Flowmeter / Flowmeter Saluran Terbuka / Flowmeter Sungai  Depok | Zara Tech Achievement">
            <a:extLst>
              <a:ext uri="{FF2B5EF4-FFF2-40B4-BE49-F238E27FC236}">
                <a16:creationId xmlns:a16="http://schemas.microsoft.com/office/drawing/2014/main" id="{F7F5F6F3-8EAC-A83B-C73F-44E851E145C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21" name="TextBox 15">
            <a:extLst>
              <a:ext uri="{FF2B5EF4-FFF2-40B4-BE49-F238E27FC236}">
                <a16:creationId xmlns:a16="http://schemas.microsoft.com/office/drawing/2014/main" id="{804BE413-C7F2-0295-01B8-65B6523A4F2F}"/>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IRRIGATION APPLICATION AND SCHEDULING</a:t>
            </a:r>
          </a:p>
        </p:txBody>
      </p:sp>
      <p:grpSp>
        <p:nvGrpSpPr>
          <p:cNvPr id="14" name="Group 13">
            <a:extLst>
              <a:ext uri="{FF2B5EF4-FFF2-40B4-BE49-F238E27FC236}">
                <a16:creationId xmlns:a16="http://schemas.microsoft.com/office/drawing/2014/main" id="{039F22DD-F6B1-9BC4-0B09-09847DAA9654}"/>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D52F87C5-5841-2523-3BB4-19463A3AF7B0}"/>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5CCA92C5-76CE-B6BC-2D6B-5EE303B4ADC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37230003-5A5B-E385-AD7F-9C301BD3BB3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1AC9D9CB-6CA0-A942-3306-2ED3A40B78D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4E7A8285-AE8A-D6D3-E69D-0F3E54D51CD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626582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08887-345B-DFFE-B688-5E72820851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D3B30D3-B57D-5A57-6E4A-D94BECD9534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2AD93B72-82DB-73A8-A8D2-5FCD3F8AADF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8CA9608-E540-EA8A-55C7-B6AF6D719E80}"/>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3C23BAB-64B0-17F9-F678-8AEED3A8DAA8}"/>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26C6F13-7C02-48B3-0EE2-33EF4116F26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953B90B-B0C1-39E7-5DA6-071E5E9A1E3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FF6A8AE-1243-C4C2-8211-AF3CE6FD9C0E}"/>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9E7C687-2116-9872-8E7F-BB177A0CADAC}"/>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FB45127-83E9-17B0-EBF4-6A79983CB0C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1E2DD0A-619A-E6E4-B9F1-F692A175ED7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0BA7385-8D4E-2557-4C57-3525C01CA6D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2C8B5BCA-A597-D9C8-9BB0-09C5C097BD9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0BE9A17E-3762-B83A-D65C-006C10219145}"/>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IRRIGATION EFFICIENCY</a:t>
            </a:r>
          </a:p>
        </p:txBody>
      </p:sp>
      <p:sp>
        <p:nvSpPr>
          <p:cNvPr id="19" name="TextBox 12">
            <a:extLst>
              <a:ext uri="{FF2B5EF4-FFF2-40B4-BE49-F238E27FC236}">
                <a16:creationId xmlns:a16="http://schemas.microsoft.com/office/drawing/2014/main" id="{55564DED-A2EE-252A-FA20-04A05BB2B0A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FDDFEB4-0B1E-4737-45E7-DE386F02890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73F38A95-574B-3E48-C86B-9A148E0AB37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674F76C-6542-33F1-DCCB-061CE6017A9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2ADDB7C-6A65-B9B9-E02E-65526EC06D9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4D266354-F569-0E13-F56E-71BF64C30FA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p:sp>
        <p:nvSpPr>
          <p:cNvPr id="16" name="TextBox 15">
            <a:extLst>
              <a:ext uri="{FF2B5EF4-FFF2-40B4-BE49-F238E27FC236}">
                <a16:creationId xmlns:a16="http://schemas.microsoft.com/office/drawing/2014/main" id="{76776564-B38B-5C30-C20B-971F73B2C28C}"/>
              </a:ext>
            </a:extLst>
          </p:cNvPr>
          <p:cNvSpPr txBox="1"/>
          <p:nvPr/>
        </p:nvSpPr>
        <p:spPr>
          <a:xfrm>
            <a:off x="1676400" y="2941299"/>
            <a:ext cx="14935200" cy="5170646"/>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PH" sz="2400" b="1" dirty="0">
                <a:solidFill>
                  <a:srgbClr val="000000"/>
                </a:solidFill>
                <a:latin typeface="Nunito 1" panose="020B0604020202020204" charset="0"/>
                <a:ea typeface="Nunito 1 Bold"/>
                <a:cs typeface="Nunito 1 Bold"/>
                <a:sym typeface="Nunito 1 Bold"/>
              </a:rPr>
              <a:t>Water conveyance efficiency </a:t>
            </a:r>
            <a:r>
              <a:rPr lang="en-PH" sz="2400" dirty="0">
                <a:solidFill>
                  <a:srgbClr val="000000"/>
                </a:solidFill>
                <a:latin typeface="Nunito 1" panose="020B0604020202020204" charset="0"/>
                <a:ea typeface="Nunito 1 Bold"/>
                <a:cs typeface="Nunito 1 Bold"/>
                <a:sym typeface="Nunito 1 Bold"/>
              </a:rPr>
              <a:t>– ratio of water </a:t>
            </a:r>
            <a:r>
              <a:rPr lang="en-PH" sz="2400" u="sng" dirty="0">
                <a:solidFill>
                  <a:srgbClr val="000000"/>
                </a:solidFill>
                <a:latin typeface="Nunito 1" panose="020B0604020202020204" charset="0"/>
                <a:ea typeface="Nunito 1 Bold"/>
                <a:cs typeface="Nunito 1 Bold"/>
                <a:sym typeface="Nunito 1 Bold"/>
              </a:rPr>
              <a:t>delivered</a:t>
            </a:r>
            <a:r>
              <a:rPr lang="en-PH" sz="2400" dirty="0">
                <a:solidFill>
                  <a:srgbClr val="000000"/>
                </a:solidFill>
                <a:latin typeface="Nunito 1" panose="020B0604020202020204" charset="0"/>
                <a:ea typeface="Nunito 1 Bold"/>
                <a:cs typeface="Nunito 1 Bold"/>
                <a:sym typeface="Nunito 1 Bold"/>
              </a:rPr>
              <a:t> to water </a:t>
            </a:r>
            <a:r>
              <a:rPr lang="en-PH" sz="2400" u="sng" dirty="0">
                <a:solidFill>
                  <a:srgbClr val="000000"/>
                </a:solidFill>
                <a:latin typeface="Nunito 1" panose="020B0604020202020204" charset="0"/>
                <a:ea typeface="Nunito 1 Bold"/>
                <a:cs typeface="Nunito 1 Bold"/>
                <a:sym typeface="Nunito 1 Bold"/>
              </a:rPr>
              <a:t>diverted</a:t>
            </a:r>
          </a:p>
          <a:p>
            <a:pPr marL="457200" indent="-4572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457200" indent="-457200">
              <a:buFont typeface="Arial" panose="020B0604020202020204" pitchFamily="34" charset="0"/>
              <a:buChar char="•"/>
            </a:pPr>
            <a:r>
              <a:rPr lang="en-PH" sz="2400" b="1" dirty="0">
                <a:solidFill>
                  <a:srgbClr val="000000"/>
                </a:solidFill>
                <a:latin typeface="Nunito 1" panose="020B0604020202020204" charset="0"/>
                <a:ea typeface="Nunito 1 Bold"/>
                <a:cs typeface="Nunito 1 Bold"/>
                <a:sym typeface="Nunito 1 Bold"/>
              </a:rPr>
              <a:t>Water application efficiency </a:t>
            </a:r>
            <a:r>
              <a:rPr lang="en-PH" sz="2400" dirty="0">
                <a:solidFill>
                  <a:srgbClr val="000000"/>
                </a:solidFill>
                <a:latin typeface="Nunito 1" panose="020B0604020202020204" charset="0"/>
                <a:ea typeface="Nunito 1 Bold"/>
                <a:cs typeface="Nunito 1 Bold"/>
                <a:sym typeface="Nunito 1 Bold"/>
              </a:rPr>
              <a:t>– ratio of water </a:t>
            </a:r>
            <a:r>
              <a:rPr lang="en-PH" sz="2400" u="sng" dirty="0">
                <a:solidFill>
                  <a:srgbClr val="000000"/>
                </a:solidFill>
                <a:latin typeface="Nunito 1" panose="020B0604020202020204" charset="0"/>
                <a:ea typeface="Nunito 1 Bold"/>
                <a:cs typeface="Nunito 1 Bold"/>
                <a:sym typeface="Nunito 1 Bold"/>
              </a:rPr>
              <a:t>stored in the root zone </a:t>
            </a:r>
            <a:r>
              <a:rPr lang="en-PH" sz="2400" dirty="0">
                <a:solidFill>
                  <a:srgbClr val="000000"/>
                </a:solidFill>
                <a:latin typeface="Nunito 1" panose="020B0604020202020204" charset="0"/>
                <a:ea typeface="Nunito 1 Bold"/>
                <a:cs typeface="Nunito 1 Bold"/>
                <a:sym typeface="Nunito 1 Bold"/>
              </a:rPr>
              <a:t>to water </a:t>
            </a:r>
            <a:r>
              <a:rPr lang="en-PH" sz="2400" u="sng" dirty="0">
                <a:solidFill>
                  <a:srgbClr val="000000"/>
                </a:solidFill>
                <a:latin typeface="Nunito 1" panose="020B0604020202020204" charset="0"/>
                <a:ea typeface="Nunito 1 Bold"/>
                <a:cs typeface="Nunito 1 Bold"/>
                <a:sym typeface="Nunito 1 Bold"/>
              </a:rPr>
              <a:t>delivered </a:t>
            </a:r>
            <a:r>
              <a:rPr lang="en-PH" sz="2400" dirty="0">
                <a:solidFill>
                  <a:srgbClr val="000000"/>
                </a:solidFill>
                <a:latin typeface="Nunito 1" panose="020B0604020202020204" charset="0"/>
                <a:ea typeface="Nunito 1 Bold"/>
                <a:cs typeface="Nunito 1 Bold"/>
                <a:sym typeface="Nunito 1 Bold"/>
              </a:rPr>
              <a:t>to the farm</a:t>
            </a:r>
          </a:p>
          <a:p>
            <a:pPr marL="457200" indent="-4572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457200" indent="-457200">
              <a:buFont typeface="Arial" panose="020B0604020202020204" pitchFamily="34" charset="0"/>
              <a:buChar char="•"/>
            </a:pPr>
            <a:r>
              <a:rPr lang="en-PH" sz="2400" b="1" dirty="0">
                <a:solidFill>
                  <a:srgbClr val="000000"/>
                </a:solidFill>
                <a:latin typeface="Nunito 1" panose="020B0604020202020204" charset="0"/>
                <a:ea typeface="Nunito 1 Bold"/>
                <a:cs typeface="Nunito 1 Bold"/>
                <a:sym typeface="Nunito 1 Bold"/>
              </a:rPr>
              <a:t>Water-use efficiency </a:t>
            </a:r>
            <a:r>
              <a:rPr lang="en-PH" sz="2400" dirty="0">
                <a:solidFill>
                  <a:srgbClr val="000000"/>
                </a:solidFill>
                <a:latin typeface="Nunito 1" panose="020B0604020202020204" charset="0"/>
                <a:ea typeface="Nunito 1 Bold"/>
                <a:cs typeface="Nunito 1 Bold"/>
                <a:sym typeface="Nunito 1 Bold"/>
              </a:rPr>
              <a:t>– ratio of water </a:t>
            </a:r>
            <a:r>
              <a:rPr lang="en-PH" sz="2400" u="sng" dirty="0">
                <a:solidFill>
                  <a:srgbClr val="000000"/>
                </a:solidFill>
                <a:latin typeface="Nunito 1" panose="020B0604020202020204" charset="0"/>
                <a:ea typeface="Nunito 1 Bold"/>
                <a:cs typeface="Nunito 1 Bold"/>
                <a:sym typeface="Nunito 1 Bold"/>
              </a:rPr>
              <a:t>beneficially used </a:t>
            </a:r>
            <a:r>
              <a:rPr lang="en-PH" sz="2400" dirty="0">
                <a:solidFill>
                  <a:srgbClr val="000000"/>
                </a:solidFill>
                <a:latin typeface="Nunito 1" panose="020B0604020202020204" charset="0"/>
                <a:ea typeface="Nunito 1 Bold"/>
                <a:cs typeface="Nunito 1 Bold"/>
                <a:sym typeface="Nunito 1 Bold"/>
              </a:rPr>
              <a:t>to water </a:t>
            </a:r>
            <a:r>
              <a:rPr lang="en-PH" sz="2400" u="sng" dirty="0">
                <a:solidFill>
                  <a:srgbClr val="000000"/>
                </a:solidFill>
                <a:latin typeface="Nunito 1" panose="020B0604020202020204" charset="0"/>
                <a:ea typeface="Nunito 1 Bold"/>
                <a:cs typeface="Nunito 1 Bold"/>
                <a:sym typeface="Nunito 1 Bold"/>
              </a:rPr>
              <a:t>delivered</a:t>
            </a:r>
          </a:p>
          <a:p>
            <a:pPr marL="457200" indent="-4572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457200" indent="-457200">
              <a:buFont typeface="Arial" panose="020B0604020202020204" pitchFamily="34" charset="0"/>
              <a:buChar char="•"/>
            </a:pPr>
            <a:r>
              <a:rPr lang="en-PH" sz="2400" b="1" dirty="0">
                <a:solidFill>
                  <a:srgbClr val="000000"/>
                </a:solidFill>
                <a:latin typeface="Nunito 1" panose="020B0604020202020204" charset="0"/>
                <a:ea typeface="Nunito 1 Bold"/>
                <a:cs typeface="Nunito 1 Bold"/>
                <a:sym typeface="Nunito 1 Bold"/>
              </a:rPr>
              <a:t>Water storage efficiency </a:t>
            </a:r>
            <a:r>
              <a:rPr lang="en-PH" sz="2400" dirty="0">
                <a:solidFill>
                  <a:srgbClr val="000000"/>
                </a:solidFill>
                <a:latin typeface="Nunito 1" panose="020B0604020202020204" charset="0"/>
                <a:ea typeface="Nunito 1 Bold"/>
                <a:cs typeface="Nunito 1 Bold"/>
                <a:sym typeface="Nunito 1 Bold"/>
              </a:rPr>
              <a:t>– ratio of water </a:t>
            </a:r>
            <a:r>
              <a:rPr lang="en-PH" sz="2400" u="sng" dirty="0">
                <a:solidFill>
                  <a:srgbClr val="000000"/>
                </a:solidFill>
                <a:latin typeface="Nunito 1" panose="020B0604020202020204" charset="0"/>
                <a:ea typeface="Nunito 1 Bold"/>
                <a:cs typeface="Nunito 1 Bold"/>
                <a:sym typeface="Nunito 1 Bold"/>
              </a:rPr>
              <a:t>stored in the root zone during irrigation </a:t>
            </a:r>
            <a:r>
              <a:rPr lang="en-PH" sz="2400" dirty="0">
                <a:solidFill>
                  <a:srgbClr val="000000"/>
                </a:solidFill>
                <a:latin typeface="Nunito 1" panose="020B0604020202020204" charset="0"/>
                <a:ea typeface="Nunito 1 Bold"/>
                <a:cs typeface="Nunito 1 Bold"/>
                <a:sym typeface="Nunito 1 Bold"/>
              </a:rPr>
              <a:t>to water </a:t>
            </a:r>
            <a:r>
              <a:rPr lang="en-PH" sz="2400" u="sng" dirty="0">
                <a:solidFill>
                  <a:srgbClr val="000000"/>
                </a:solidFill>
                <a:latin typeface="Nunito 1" panose="020B0604020202020204" charset="0"/>
                <a:ea typeface="Nunito 1 Bold"/>
                <a:cs typeface="Nunito 1 Bold"/>
                <a:sym typeface="Nunito 1 Bold"/>
              </a:rPr>
              <a:t>needed in the root zone prior to irrigation</a:t>
            </a:r>
          </a:p>
          <a:p>
            <a:pPr marL="457200" indent="-4572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457200" indent="-457200">
              <a:buFont typeface="Arial" panose="020B0604020202020204" pitchFamily="34" charset="0"/>
              <a:buChar char="•"/>
            </a:pPr>
            <a:r>
              <a:rPr lang="en-PH" sz="2400" b="1" dirty="0">
                <a:solidFill>
                  <a:srgbClr val="000000"/>
                </a:solidFill>
                <a:latin typeface="Nunito 1" panose="020B0604020202020204" charset="0"/>
                <a:ea typeface="Nunito 1 Bold"/>
                <a:cs typeface="Nunito 1 Bold"/>
                <a:sym typeface="Nunito 1 Bold"/>
              </a:rPr>
              <a:t>Consumptive use efficiency </a:t>
            </a:r>
            <a:r>
              <a:rPr lang="en-PH" sz="2400" dirty="0">
                <a:solidFill>
                  <a:srgbClr val="000000"/>
                </a:solidFill>
                <a:latin typeface="Nunito 1" panose="020B0604020202020204" charset="0"/>
                <a:ea typeface="Nunito 1 Bold"/>
                <a:cs typeface="Nunito 1 Bold"/>
                <a:sym typeface="Nunito 1 Bold"/>
              </a:rPr>
              <a:t>– ratio of </a:t>
            </a:r>
            <a:r>
              <a:rPr lang="en-PH" sz="2400" u="sng" dirty="0">
                <a:solidFill>
                  <a:srgbClr val="000000"/>
                </a:solidFill>
                <a:latin typeface="Nunito 1" panose="020B0604020202020204" charset="0"/>
                <a:ea typeface="Nunito 1 Bold"/>
                <a:cs typeface="Nunito 1 Bold"/>
                <a:sym typeface="Nunito 1 Bold"/>
              </a:rPr>
              <a:t>normal consumptive use </a:t>
            </a:r>
            <a:r>
              <a:rPr lang="en-PH" sz="2400" dirty="0">
                <a:solidFill>
                  <a:srgbClr val="000000"/>
                </a:solidFill>
                <a:latin typeface="Nunito 1" panose="020B0604020202020204" charset="0"/>
                <a:ea typeface="Nunito 1 Bold"/>
                <a:cs typeface="Nunito 1 Bold"/>
                <a:sym typeface="Nunito 1 Bold"/>
              </a:rPr>
              <a:t>to the </a:t>
            </a:r>
            <a:r>
              <a:rPr lang="en-PH" sz="2400" u="sng" dirty="0">
                <a:solidFill>
                  <a:srgbClr val="000000"/>
                </a:solidFill>
                <a:latin typeface="Nunito 1" panose="020B0604020202020204" charset="0"/>
                <a:ea typeface="Nunito 1 Bold"/>
                <a:cs typeface="Nunito 1 Bold"/>
                <a:sym typeface="Nunito 1 Bold"/>
              </a:rPr>
              <a:t>net amount of water depleted </a:t>
            </a:r>
            <a:r>
              <a:rPr lang="en-PH" sz="2400" dirty="0">
                <a:solidFill>
                  <a:srgbClr val="000000"/>
                </a:solidFill>
                <a:latin typeface="Nunito 1" panose="020B0604020202020204" charset="0"/>
                <a:ea typeface="Nunito 1 Bold"/>
                <a:cs typeface="Nunito 1 Bold"/>
                <a:sym typeface="Nunito 1 Bold"/>
              </a:rPr>
              <a:t>from root zone</a:t>
            </a:r>
          </a:p>
          <a:p>
            <a:pPr marL="457200" indent="-4572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457200" indent="-457200">
              <a:buFont typeface="Arial" panose="020B0604020202020204" pitchFamily="34" charset="0"/>
              <a:buChar char="•"/>
            </a:pPr>
            <a:r>
              <a:rPr lang="en-PH" sz="2400" b="1" dirty="0">
                <a:solidFill>
                  <a:srgbClr val="000000"/>
                </a:solidFill>
                <a:latin typeface="Nunito 1" panose="020B0604020202020204" charset="0"/>
                <a:ea typeface="Nunito 1 Bold"/>
                <a:cs typeface="Nunito 1 Bold"/>
                <a:sym typeface="Nunito 1 Bold"/>
              </a:rPr>
              <a:t>Water distribution efficiency </a:t>
            </a:r>
            <a:r>
              <a:rPr lang="en-PH" sz="2400" dirty="0">
                <a:solidFill>
                  <a:srgbClr val="000000"/>
                </a:solidFill>
                <a:latin typeface="Nunito 1" panose="020B0604020202020204" charset="0"/>
                <a:ea typeface="Nunito 1 Bold"/>
                <a:cs typeface="Nunito 1 Bold"/>
                <a:sym typeface="Nunito 1 Bold"/>
              </a:rPr>
              <a:t>– ratio of the </a:t>
            </a:r>
            <a:r>
              <a:rPr lang="en-PH" sz="2400" u="sng" dirty="0">
                <a:solidFill>
                  <a:srgbClr val="000000"/>
                </a:solidFill>
                <a:latin typeface="Nunito 1" panose="020B0604020202020204" charset="0"/>
                <a:ea typeface="Nunito 1 Bold"/>
                <a:cs typeface="Nunito 1 Bold"/>
                <a:sym typeface="Nunito 1 Bold"/>
              </a:rPr>
              <a:t>average numerical deviation in depth </a:t>
            </a:r>
            <a:r>
              <a:rPr lang="en-PH" sz="2400" dirty="0">
                <a:solidFill>
                  <a:srgbClr val="000000"/>
                </a:solidFill>
                <a:latin typeface="Nunito 1" panose="020B0604020202020204" charset="0"/>
                <a:ea typeface="Nunito 1 Bold"/>
                <a:cs typeface="Nunito 1 Bold"/>
                <a:sym typeface="Nunito 1 Bold"/>
              </a:rPr>
              <a:t>stored during irrigation to the </a:t>
            </a:r>
            <a:r>
              <a:rPr lang="en-PH" sz="2400" u="sng" dirty="0">
                <a:solidFill>
                  <a:srgbClr val="000000"/>
                </a:solidFill>
                <a:latin typeface="Nunito 1" panose="020B0604020202020204" charset="0"/>
                <a:ea typeface="Nunito 1 Bold"/>
                <a:cs typeface="Nunito 1 Bold"/>
                <a:sym typeface="Nunito 1 Bold"/>
              </a:rPr>
              <a:t>average depth </a:t>
            </a:r>
            <a:r>
              <a:rPr lang="en-PH" sz="2400" dirty="0">
                <a:solidFill>
                  <a:srgbClr val="000000"/>
                </a:solidFill>
                <a:latin typeface="Nunito 1" panose="020B0604020202020204" charset="0"/>
                <a:ea typeface="Nunito 1 Bold"/>
                <a:cs typeface="Nunito 1 Bold"/>
                <a:sym typeface="Nunito 1 Bold"/>
              </a:rPr>
              <a:t>of water stored during irrigation</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4CEC8174-5645-4E1A-2D65-7CA991C15E7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pSp>
        <p:nvGrpSpPr>
          <p:cNvPr id="14" name="Group 13">
            <a:extLst>
              <a:ext uri="{FF2B5EF4-FFF2-40B4-BE49-F238E27FC236}">
                <a16:creationId xmlns:a16="http://schemas.microsoft.com/office/drawing/2014/main" id="{201A7E2F-2390-FF3D-7783-257E899AA731}"/>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F1D2F9C0-F5E1-5153-05B0-2D40D2A3C59E}"/>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AF806907-03D6-5252-B6C4-437A1E058E8B}"/>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C743733C-8842-FFAA-9C8C-6B48C3D299F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CD480B86-2F87-BDCE-BAC3-9FAC46B2839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8F5D3838-304E-077C-10AC-E7BEADCAA7E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2319674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EF63A-5BB2-7F29-C576-FFA09842D7F9}"/>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D59290A4-F152-2384-50BF-E87DD58F53A5}"/>
              </a:ext>
            </a:extLst>
          </p:cNvPr>
          <p:cNvGrpSpPr/>
          <p:nvPr/>
        </p:nvGrpSpPr>
        <p:grpSpPr>
          <a:xfrm>
            <a:off x="0" y="0"/>
            <a:ext cx="18288000" cy="10287000"/>
            <a:chOff x="152400" y="0"/>
            <a:chExt cx="18135600" cy="10287000"/>
          </a:xfrm>
        </p:grpSpPr>
        <p:sp>
          <p:nvSpPr>
            <p:cNvPr id="22" name="Freeform 3">
              <a:extLst>
                <a:ext uri="{FF2B5EF4-FFF2-40B4-BE49-F238E27FC236}">
                  <a16:creationId xmlns:a16="http://schemas.microsoft.com/office/drawing/2014/main" id="{052CCA18-54A9-9309-7F21-0E9C6F745324}"/>
                </a:ext>
              </a:extLst>
            </p:cNvPr>
            <p:cNvSpPr/>
            <p:nvPr/>
          </p:nvSpPr>
          <p:spPr>
            <a:xfrm>
              <a:off x="152400" y="0"/>
              <a:ext cx="9097282" cy="10287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7" name="Freeform 4">
              <a:extLst>
                <a:ext uri="{FF2B5EF4-FFF2-40B4-BE49-F238E27FC236}">
                  <a16:creationId xmlns:a16="http://schemas.microsoft.com/office/drawing/2014/main" id="{AB79FF6E-D76D-A31B-3A1B-63C5085AAF80}"/>
                </a:ext>
              </a:extLst>
            </p:cNvPr>
            <p:cNvSpPr/>
            <p:nvPr/>
          </p:nvSpPr>
          <p:spPr>
            <a:xfrm>
              <a:off x="9190718" y="0"/>
              <a:ext cx="9097282" cy="10287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grpSp>
        <p:nvGrpSpPr>
          <p:cNvPr id="28" name="Group 5">
            <a:extLst>
              <a:ext uri="{FF2B5EF4-FFF2-40B4-BE49-F238E27FC236}">
                <a16:creationId xmlns:a16="http://schemas.microsoft.com/office/drawing/2014/main" id="{CD9662CE-A622-179D-5F59-1C6248EB9E93}"/>
              </a:ext>
            </a:extLst>
          </p:cNvPr>
          <p:cNvGrpSpPr/>
          <p:nvPr/>
        </p:nvGrpSpPr>
        <p:grpSpPr>
          <a:xfrm>
            <a:off x="1028700" y="2247900"/>
            <a:ext cx="16230600" cy="6526651"/>
            <a:chOff x="0" y="0"/>
            <a:chExt cx="4274726" cy="1718953"/>
          </a:xfrm>
        </p:grpSpPr>
        <p:sp>
          <p:nvSpPr>
            <p:cNvPr id="29" name="Freeform 6">
              <a:extLst>
                <a:ext uri="{FF2B5EF4-FFF2-40B4-BE49-F238E27FC236}">
                  <a16:creationId xmlns:a16="http://schemas.microsoft.com/office/drawing/2014/main" id="{1577F8F8-42D9-425F-2949-9CE59F5D49A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30" name="TextBox 7">
              <a:extLst>
                <a:ext uri="{FF2B5EF4-FFF2-40B4-BE49-F238E27FC236}">
                  <a16:creationId xmlns:a16="http://schemas.microsoft.com/office/drawing/2014/main" id="{20A11AEF-324C-E2FF-3D79-57FDEA17CD5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31" name="Group 8">
            <a:extLst>
              <a:ext uri="{FF2B5EF4-FFF2-40B4-BE49-F238E27FC236}">
                <a16:creationId xmlns:a16="http://schemas.microsoft.com/office/drawing/2014/main" id="{FABD0235-5D6B-E633-0E02-384362E2A5D2}"/>
              </a:ext>
            </a:extLst>
          </p:cNvPr>
          <p:cNvGrpSpPr/>
          <p:nvPr/>
        </p:nvGrpSpPr>
        <p:grpSpPr>
          <a:xfrm>
            <a:off x="5139012" y="1429262"/>
            <a:ext cx="8009976" cy="1730229"/>
            <a:chOff x="0" y="0"/>
            <a:chExt cx="2109623" cy="455698"/>
          </a:xfrm>
        </p:grpSpPr>
        <p:sp>
          <p:nvSpPr>
            <p:cNvPr id="32" name="Freeform 9">
              <a:extLst>
                <a:ext uri="{FF2B5EF4-FFF2-40B4-BE49-F238E27FC236}">
                  <a16:creationId xmlns:a16="http://schemas.microsoft.com/office/drawing/2014/main" id="{1585C9E0-625C-4EE1-7499-B437E98D341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33" name="TextBox 10">
              <a:extLst>
                <a:ext uri="{FF2B5EF4-FFF2-40B4-BE49-F238E27FC236}">
                  <a16:creationId xmlns:a16="http://schemas.microsoft.com/office/drawing/2014/main" id="{F0E33872-338C-0007-B129-0F86AE50EAF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sp>
        <p:nvSpPr>
          <p:cNvPr id="38" name="Freeform 15">
            <a:extLst>
              <a:ext uri="{FF2B5EF4-FFF2-40B4-BE49-F238E27FC236}">
                <a16:creationId xmlns:a16="http://schemas.microsoft.com/office/drawing/2014/main" id="{CD5F9F7C-8514-FEAD-A1CA-7CFCD7B91B9D}"/>
              </a:ext>
            </a:extLst>
          </p:cNvPr>
          <p:cNvSpPr/>
          <p:nvPr/>
        </p:nvSpPr>
        <p:spPr>
          <a:xfrm>
            <a:off x="15824275" y="7275150"/>
            <a:ext cx="1949375" cy="1949375"/>
          </a:xfrm>
          <a:custGeom>
            <a:avLst/>
            <a:gdLst/>
            <a:ahLst/>
            <a:cxnLst/>
            <a:rect l="l" t="t" r="r" b="b"/>
            <a:pathLst>
              <a:path w="1949375" h="1949375">
                <a:moveTo>
                  <a:pt x="0" y="0"/>
                </a:moveTo>
                <a:lnTo>
                  <a:pt x="1949375" y="0"/>
                </a:lnTo>
                <a:lnTo>
                  <a:pt x="1949375" y="1949375"/>
                </a:lnTo>
                <a:lnTo>
                  <a:pt x="0" y="19493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9" name="Freeform 16">
            <a:extLst>
              <a:ext uri="{FF2B5EF4-FFF2-40B4-BE49-F238E27FC236}">
                <a16:creationId xmlns:a16="http://schemas.microsoft.com/office/drawing/2014/main" id="{2B4563D5-B886-9000-72AE-63C6492BCF71}"/>
              </a:ext>
            </a:extLst>
          </p:cNvPr>
          <p:cNvSpPr/>
          <p:nvPr/>
        </p:nvSpPr>
        <p:spPr>
          <a:xfrm>
            <a:off x="-2" y="1770657"/>
            <a:ext cx="2726303" cy="1049427"/>
          </a:xfrm>
          <a:custGeom>
            <a:avLst/>
            <a:gdLst/>
            <a:ahLst/>
            <a:cxnLst/>
            <a:rect l="l" t="t" r="r" b="b"/>
            <a:pathLst>
              <a:path w="3395204" h="1049427">
                <a:moveTo>
                  <a:pt x="0" y="0"/>
                </a:moveTo>
                <a:lnTo>
                  <a:pt x="3395204" y="0"/>
                </a:lnTo>
                <a:lnTo>
                  <a:pt x="3395204" y="1049427"/>
                </a:lnTo>
                <a:lnTo>
                  <a:pt x="0" y="1049427"/>
                </a:lnTo>
                <a:lnTo>
                  <a:pt x="0" y="0"/>
                </a:lnTo>
                <a:close/>
              </a:path>
            </a:pathLst>
          </a:custGeom>
          <a:blipFill>
            <a:blip r:embed="rId7">
              <a:extLst>
                <a:ext uri="{96DAC541-7B7A-43D3-8B79-37D633B846F1}">
                  <asvg:svgBlip xmlns:asvg="http://schemas.microsoft.com/office/drawing/2016/SVG/main" r:embed="rId8"/>
                </a:ext>
              </a:extLst>
            </a:blip>
            <a:stretch>
              <a:fillRect l="-24535" r="1"/>
            </a:stretch>
          </a:blipFill>
        </p:spPr>
      </p:sp>
      <p:sp>
        <p:nvSpPr>
          <p:cNvPr id="40" name="TextBox 17">
            <a:extLst>
              <a:ext uri="{FF2B5EF4-FFF2-40B4-BE49-F238E27FC236}">
                <a16:creationId xmlns:a16="http://schemas.microsoft.com/office/drawing/2014/main" id="{25B26880-D174-84A7-CE58-4B90C087EBA5}"/>
              </a:ext>
            </a:extLst>
          </p:cNvPr>
          <p:cNvSpPr txBox="1"/>
          <p:nvPr/>
        </p:nvSpPr>
        <p:spPr>
          <a:xfrm>
            <a:off x="4543721" y="1646832"/>
            <a:ext cx="9200557" cy="1125781"/>
          </a:xfrm>
          <a:prstGeom prst="rect">
            <a:avLst/>
          </a:prstGeom>
        </p:spPr>
        <p:txBody>
          <a:bodyPr lIns="0" tIns="0" rIns="0" bIns="0" rtlCol="0" anchor="t">
            <a:spAutoFit/>
          </a:bodyPr>
          <a:lstStyle/>
          <a:p>
            <a:pPr algn="ctr">
              <a:lnSpc>
                <a:spcPts val="9250"/>
              </a:lnSpc>
            </a:pPr>
            <a:r>
              <a:rPr lang="en-US" sz="6607" dirty="0">
                <a:solidFill>
                  <a:srgbClr val="000000"/>
                </a:solidFill>
                <a:latin typeface="Fredoka"/>
                <a:ea typeface="Fredoka"/>
                <a:cs typeface="Fredoka"/>
                <a:sym typeface="Fredoka"/>
              </a:rPr>
              <a:t>TIP</a:t>
            </a:r>
          </a:p>
        </p:txBody>
      </p:sp>
      <p:grpSp>
        <p:nvGrpSpPr>
          <p:cNvPr id="47" name="Group 46">
            <a:extLst>
              <a:ext uri="{FF2B5EF4-FFF2-40B4-BE49-F238E27FC236}">
                <a16:creationId xmlns:a16="http://schemas.microsoft.com/office/drawing/2014/main" id="{F67FF0D2-4EC2-FD47-D60B-D8AFE8FDB6AA}"/>
              </a:ext>
            </a:extLst>
          </p:cNvPr>
          <p:cNvGrpSpPr/>
          <p:nvPr/>
        </p:nvGrpSpPr>
        <p:grpSpPr>
          <a:xfrm>
            <a:off x="2246042" y="3947712"/>
            <a:ext cx="13795916" cy="3246914"/>
            <a:chOff x="2246042" y="3205755"/>
            <a:chExt cx="13795916" cy="3246914"/>
          </a:xfrm>
        </p:grpSpPr>
        <p:sp>
          <p:nvSpPr>
            <p:cNvPr id="37" name="TextBox 14">
              <a:extLst>
                <a:ext uri="{FF2B5EF4-FFF2-40B4-BE49-F238E27FC236}">
                  <a16:creationId xmlns:a16="http://schemas.microsoft.com/office/drawing/2014/main" id="{22E8407F-60ED-63F6-F1AD-D51A575FA31D}"/>
                </a:ext>
              </a:extLst>
            </p:cNvPr>
            <p:cNvSpPr txBox="1"/>
            <p:nvPr/>
          </p:nvSpPr>
          <p:spPr>
            <a:xfrm>
              <a:off x="2246042" y="3205755"/>
              <a:ext cx="13795916" cy="3246914"/>
            </a:xfrm>
            <a:prstGeom prst="rect">
              <a:avLst/>
            </a:prstGeom>
          </p:spPr>
          <p:txBody>
            <a:bodyPr lIns="0" tIns="0" rIns="0" bIns="0" rtlCol="0" anchor="t">
              <a:spAutoFit/>
            </a:bodyPr>
            <a:lstStyle/>
            <a:p>
              <a:pPr algn="ctr"/>
              <a:r>
                <a:rPr lang="en-US" sz="8800" b="1" dirty="0">
                  <a:solidFill>
                    <a:srgbClr val="000000"/>
                  </a:solidFill>
                  <a:latin typeface="Nunito 1 Bold"/>
                  <a:ea typeface="Nunito 1 Bold"/>
                  <a:cs typeface="Nunito 1 Bold"/>
                  <a:sym typeface="Nunito 1 Bold"/>
                </a:rPr>
                <a:t>UNDERSTANDING</a:t>
              </a:r>
            </a:p>
            <a:p>
              <a:pPr algn="ctr"/>
              <a:r>
                <a:rPr lang="en-US" sz="3499" b="1" dirty="0">
                  <a:solidFill>
                    <a:srgbClr val="000000"/>
                  </a:solidFill>
                  <a:latin typeface="Nunito 1" panose="020B0604020202020204" charset="0"/>
                  <a:ea typeface="Nunito 1 Bold"/>
                  <a:cs typeface="Nunito 1 Bold"/>
                  <a:sym typeface="Nunito 1 Bold"/>
                </a:rPr>
                <a:t>RATHER THAN</a:t>
              </a:r>
            </a:p>
            <a:p>
              <a:pPr algn="ctr"/>
              <a:r>
                <a:rPr lang="en-US" sz="8800" b="1" dirty="0">
                  <a:solidFill>
                    <a:srgbClr val="000000"/>
                  </a:solidFill>
                  <a:latin typeface="Nunito 1 Bold"/>
                  <a:ea typeface="Nunito 1 Bold"/>
                  <a:cs typeface="Nunito 1 Bold"/>
                  <a:sym typeface="Nunito 1 Bold"/>
                </a:rPr>
                <a:t>MEMORIZING</a:t>
              </a:r>
            </a:p>
          </p:txBody>
        </p:sp>
        <p:cxnSp>
          <p:nvCxnSpPr>
            <p:cNvPr id="44" name="Straight Connector 43">
              <a:extLst>
                <a:ext uri="{FF2B5EF4-FFF2-40B4-BE49-F238E27FC236}">
                  <a16:creationId xmlns:a16="http://schemas.microsoft.com/office/drawing/2014/main" id="{EE66B256-5159-CB02-B9AF-2D061D2D6AA4}"/>
                </a:ext>
              </a:extLst>
            </p:cNvPr>
            <p:cNvCxnSpPr>
              <a:cxnSpLocks/>
            </p:cNvCxnSpPr>
            <p:nvPr/>
          </p:nvCxnSpPr>
          <p:spPr>
            <a:xfrm>
              <a:off x="4343400" y="4762500"/>
              <a:ext cx="29718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B30BD55-C104-261A-75A7-9FD72AB9D370}"/>
                </a:ext>
              </a:extLst>
            </p:cNvPr>
            <p:cNvCxnSpPr>
              <a:cxnSpLocks/>
            </p:cNvCxnSpPr>
            <p:nvPr/>
          </p:nvCxnSpPr>
          <p:spPr>
            <a:xfrm>
              <a:off x="11049000" y="4762500"/>
              <a:ext cx="29718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96895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D2ED-AA78-D300-A8A7-C3A1FC73858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BC43D2-D0DE-120F-AA11-9C9AA4DE658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6E3A6CE7-C721-77B1-79EE-6CCAD0CD9EC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499109E3-0639-0510-0DC6-DF40CF0D043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5E8DA30B-DD28-C042-CE4B-3D136A103C78}"/>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A224F96-0662-4682-97FD-D9D010A7F6B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ED976CF-5D1F-E190-CD4B-9BE3419E2A2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22EB915-DC12-D5CA-0BEA-3213FBAFD0BE}"/>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8C506D21-6066-8DA3-488F-F2C5C4E0C42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3C6FBAE-DC8F-DB3A-8328-9602713877F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3A12D70-1497-BEA4-5A2D-013F1A6F0FE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F7214FA-F959-457D-DE2F-55E1AC9168C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180E4CB7-84C4-CCBB-DE04-965BAB14FCF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ECBD50CE-9923-52CA-B2FF-07D7E5B31B2A}"/>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6F7A2450-396F-AF96-CA54-85FE26B27697}"/>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Twelve thousand two hundred fifty cubic meters of water was delivered to a 10-ha farm for the month of June in which consumptive use is estimated at 8mm/day. The effective rainfall for the period was 150mm. What is the irrigation efficiency?</a:t>
            </a:r>
          </a:p>
        </p:txBody>
      </p:sp>
      <p:sp>
        <p:nvSpPr>
          <p:cNvPr id="19" name="TextBox 12">
            <a:extLst>
              <a:ext uri="{FF2B5EF4-FFF2-40B4-BE49-F238E27FC236}">
                <a16:creationId xmlns:a16="http://schemas.microsoft.com/office/drawing/2014/main" id="{00C4B6D5-079B-9CD8-380C-D1123D34405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14A76C2-ECDD-2A9B-6ECF-9693F67A5F1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E261BAF9-5390-3278-1DEF-B98DB3BD86E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A67F4AF-AC13-95EB-C039-7B0316D276C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59D0E16-4CE0-7C37-7023-7559E741DC9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B47432E1-82C2-0626-845F-5A773C4F4A4A}"/>
              </a:ext>
            </a:extLst>
          </p:cNvPr>
          <p:cNvSpPr txBox="1"/>
          <p:nvPr/>
        </p:nvSpPr>
        <p:spPr>
          <a:xfrm>
            <a:off x="1676400" y="4373825"/>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73%</a:t>
            </a:r>
          </a:p>
        </p:txBody>
      </p:sp>
      <p:grpSp>
        <p:nvGrpSpPr>
          <p:cNvPr id="17" name="Group 16">
            <a:extLst>
              <a:ext uri="{FF2B5EF4-FFF2-40B4-BE49-F238E27FC236}">
                <a16:creationId xmlns:a16="http://schemas.microsoft.com/office/drawing/2014/main" id="{803F6639-864D-7C99-5365-13B71153E845}"/>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33B8331C-56A1-31D8-09C7-A269C7973648}"/>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FAE828FC-88A1-FA9C-429E-87E90BB5FCC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89E12D37-73BF-98F0-2FA6-B8DEF52B9B4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6C15AAD1-F548-5C27-34B7-895DA074FE3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DCFA72B1-0E52-C4CA-2DC8-CD7716EDD3E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043705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F80E-945B-6689-4190-3A8FB7CCC86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9EA060-7C7F-F5A7-6B9E-099BA9C7009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D98908BE-B163-3985-306B-9903B148AF5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1E39333B-BB87-EEB7-A9F5-027AB1979B38}"/>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41C2A61-8E66-59D5-05ED-F30BCCA9C791}"/>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57559DA3-F505-F160-1E56-A9ADC211D86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708365C-DE98-D025-B115-2E3C2AA565F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233C1BF-07E3-01AC-E6D7-B458D5DCCD63}"/>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B9CCAA10-7130-457D-744D-2A1138ED64D1}"/>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923F893-77F6-6694-1B04-F4F3187B0733}"/>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7D326BE-FF2B-5F76-6F6E-540F9373A80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6453D8F-A368-7835-A4D8-840487BC2E0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AF889D36-0FA2-A0DD-F9A7-F4C8BB8B792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5443E107-65E7-1601-08E5-10591B007882}"/>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6E311864-62E4-9601-4FA4-09ACE8CDBA8E}"/>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Evapotranspiration in an 8 ha farm is 7 mm/day and percolation losses is 2 mm/day. What is the design discharge of a canal to be able to deliver a 5-day requirement of the farm in 24 hours if irrigation efficiency is 75%?</a:t>
            </a:r>
          </a:p>
        </p:txBody>
      </p:sp>
      <p:sp>
        <p:nvSpPr>
          <p:cNvPr id="19" name="TextBox 12">
            <a:extLst>
              <a:ext uri="{FF2B5EF4-FFF2-40B4-BE49-F238E27FC236}">
                <a16:creationId xmlns:a16="http://schemas.microsoft.com/office/drawing/2014/main" id="{1317B965-6851-4C90-27AC-FB2E1987543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7D687A6-945A-A911-2D3E-9DB186473FF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00119EE4-6FC0-8301-5655-D43432870A16}"/>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ADDC01E6-1DCF-F2F8-BE8E-1062C989602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21658C0-A729-2A39-25AD-784E9645FEA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ABDC0FED-709B-E824-58C2-B1747048FCCB}"/>
              </a:ext>
            </a:extLst>
          </p:cNvPr>
          <p:cNvSpPr txBox="1"/>
          <p:nvPr/>
        </p:nvSpPr>
        <p:spPr>
          <a:xfrm>
            <a:off x="1676400" y="4373825"/>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200m</a:t>
            </a:r>
            <a:r>
              <a:rPr lang="en-US" sz="2400" baseline="30000" dirty="0">
                <a:solidFill>
                  <a:srgbClr val="000000"/>
                </a:solidFill>
                <a:latin typeface="Nunito 1" panose="020B0604020202020204" charset="0"/>
                <a:ea typeface="Nunito 1 Bold"/>
                <a:cs typeface="Nunito 1 Bold"/>
                <a:sym typeface="Nunito 1 Bold"/>
              </a:rPr>
              <a:t>3</a:t>
            </a:r>
            <a:r>
              <a:rPr lang="en-US" sz="2400" dirty="0">
                <a:solidFill>
                  <a:srgbClr val="000000"/>
                </a:solidFill>
                <a:latin typeface="Nunito 1" panose="020B0604020202020204" charset="0"/>
                <a:ea typeface="Nunito 1 Bold"/>
                <a:cs typeface="Nunito 1 Bold"/>
                <a:sym typeface="Nunito 1 Bold"/>
              </a:rPr>
              <a:t>/</a:t>
            </a:r>
            <a:r>
              <a:rPr lang="en-US" sz="2400" dirty="0" err="1">
                <a:solidFill>
                  <a:srgbClr val="000000"/>
                </a:solidFill>
                <a:latin typeface="Nunito 1" panose="020B0604020202020204" charset="0"/>
                <a:ea typeface="Nunito 1 Bold"/>
                <a:cs typeface="Nunito 1 Bold"/>
                <a:sym typeface="Nunito 1 Bold"/>
              </a:rPr>
              <a:t>hr</a:t>
            </a:r>
            <a:endParaRPr lang="en-US" sz="2400" dirty="0">
              <a:solidFill>
                <a:srgbClr val="000000"/>
              </a:solidFill>
              <a:latin typeface="Nunito 1" panose="020B0604020202020204" charset="0"/>
              <a:ea typeface="Nunito 1 Bold"/>
              <a:cs typeface="Nunito 1 Bold"/>
              <a:sym typeface="Nunito 1 Bold"/>
            </a:endParaRPr>
          </a:p>
        </p:txBody>
      </p:sp>
      <p:grpSp>
        <p:nvGrpSpPr>
          <p:cNvPr id="17" name="Group 16">
            <a:extLst>
              <a:ext uri="{FF2B5EF4-FFF2-40B4-BE49-F238E27FC236}">
                <a16:creationId xmlns:a16="http://schemas.microsoft.com/office/drawing/2014/main" id="{442502B0-5F1E-1ACD-308F-4BEE8F1DAC15}"/>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22AF399C-F15E-BFDA-BE8D-A768FC13D1A6}"/>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13689076-DC29-9CF3-F07E-4BF386D1F2E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A3E61AD8-D248-9491-3C97-573795465C0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E574F2A9-15D6-92E4-4FCE-B7DF8153CCF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F5C424ED-4575-F844-5049-86D184153E5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298128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7A6D4-BF74-B23D-F3D1-2253F450E36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116A94-C3C6-C54E-9A8F-3B7C02A5941C}"/>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236432D5-E4E4-659A-5460-CA5BEFC9E62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E1A3B4A-9B5E-E854-CE3E-571221A0A1FB}"/>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BC13F35C-CF41-6A94-DBB5-E8E58861526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0C1196EB-B8B2-A434-1B80-84FE845DAF7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34A565B3-2C51-98A0-A3D4-192CFC6C7F6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93B9D0C-8AD7-57C3-ADBE-FA4CCAF0A69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A99BF3C-BA2B-8F0E-E8E4-45BCAC84C33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EC2E32B-982A-A43E-486A-FCA20D0DE8D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F8DF4C6A-BC13-4273-7350-CB1AA1B70C3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5DE81D5E-7770-D3CD-C578-95FB44B8FA2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55A2F83-D10E-0925-E158-95E2E7ED6D7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55D61035-F629-D4CF-BD89-77952A6FC57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BF40BA69-0D28-BC0C-3457-46ECC8ABEA6F}"/>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Determine the irrigation interval for a farm with soil root zone having a field capacity of 200 mm and a wilting point of 105 mm. Assume that the consumptive use for August is 7.5 mm/day with no rainfall and the allowable moisture depletion is 75%.</a:t>
            </a:r>
          </a:p>
        </p:txBody>
      </p:sp>
      <p:sp>
        <p:nvSpPr>
          <p:cNvPr id="19" name="TextBox 12">
            <a:extLst>
              <a:ext uri="{FF2B5EF4-FFF2-40B4-BE49-F238E27FC236}">
                <a16:creationId xmlns:a16="http://schemas.microsoft.com/office/drawing/2014/main" id="{D3FED162-9BAC-FEA9-DCAA-CD60E461EAA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4487112-F88D-3F80-E5A1-DD645FFCA22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833BF509-7CB1-E6E8-A48A-C2ABDA3AC35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EFA92EF-7E28-64B1-F2AD-DE58AA7F192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F2976A2-7836-2C45-8973-E3257EF8790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C594BC40-6D7A-15B7-14BF-FC9B05BAA04D}"/>
              </a:ext>
            </a:extLst>
          </p:cNvPr>
          <p:cNvSpPr txBox="1"/>
          <p:nvPr/>
        </p:nvSpPr>
        <p:spPr>
          <a:xfrm>
            <a:off x="1676400" y="4373825"/>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9 days</a:t>
            </a:r>
          </a:p>
        </p:txBody>
      </p:sp>
      <p:pic>
        <p:nvPicPr>
          <p:cNvPr id="1026" name="Picture 2">
            <a:extLst>
              <a:ext uri="{FF2B5EF4-FFF2-40B4-BE49-F238E27FC236}">
                <a16:creationId xmlns:a16="http://schemas.microsoft.com/office/drawing/2014/main" id="{0015993A-4840-29D1-6977-46AED0DFF0B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464" b="7778"/>
          <a:stretch/>
        </p:blipFill>
        <p:spPr bwMode="auto">
          <a:xfrm>
            <a:off x="7596148" y="3863289"/>
            <a:ext cx="8481233" cy="4500898"/>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B4E59613-30ED-117F-11E5-EB678414FBC9}"/>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B7C39559-FCB6-7724-10E9-66FA9D66077E}"/>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18AFEAE7-1831-6482-D494-25B028D584B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C7B92283-4A2E-0746-4ABE-534273644C2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CF4466DB-D12F-2FFE-1E0E-B5D390D5FE2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187867CA-E385-14A6-32F7-ABA203CD5ED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96441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34ABD-9CD7-A802-9D2C-1E900291DC1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27CB569-A847-CBF9-C65F-A9B2CDC7168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C8176826-0360-F3A0-BB58-906AE124E1F4}"/>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BC34D66-AE30-3DAE-7773-207CDE7BB25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BE2965AC-628D-1A90-D066-B174F610523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10540BC-635F-C4F7-7E3D-C5F57CCC731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AF9D7A29-E33B-9463-E1C6-F9A3BA71AE1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F91EC5C-93CE-E8A0-87ED-AB7D4B4099B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4A57E3E8-CEE8-3881-FC83-81344ED7CD3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916DCA1-1877-0D7D-A732-4595E55489C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5F6F642-1348-89C3-E479-E90D9144788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EA82B6A-AB43-75EA-ECCC-E27FCD07201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27F7C00-D518-E712-A34F-53D85E5A90E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949D733C-0250-1A34-B78C-FECCE9902E3A}"/>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FA401995-274B-EE5E-E563-1295A4114311}"/>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is the design discharge of a canal to be able to deliver 7-day requirement of a 5-ha farm in 12 hours if the irrigation requirement is 8mm/day?</a:t>
            </a:r>
          </a:p>
        </p:txBody>
      </p:sp>
      <p:sp>
        <p:nvSpPr>
          <p:cNvPr id="19" name="TextBox 12">
            <a:extLst>
              <a:ext uri="{FF2B5EF4-FFF2-40B4-BE49-F238E27FC236}">
                <a16:creationId xmlns:a16="http://schemas.microsoft.com/office/drawing/2014/main" id="{2989EAEA-079E-043B-2110-76D82A39D46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F00274BF-2545-8CDA-3334-9ACC6307192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3AA1B55B-747D-99A1-9B8B-C9A065507D8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F39DD28-7FE7-C3A4-B572-8C3C9B36971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A13CD24F-299C-F038-71F4-6045B2A2F78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EB68B8F-69C3-A1B5-5435-D27E9751E886}"/>
                  </a:ext>
                </a:extLst>
              </p:cNvPr>
              <p:cNvSpPr txBox="1"/>
              <p:nvPr/>
            </p:nvSpPr>
            <p:spPr>
              <a:xfrm>
                <a:off x="1676400" y="4373825"/>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233.33m</a:t>
                </a:r>
                <a:r>
                  <a:rPr lang="en-US" sz="2400" baseline="30000" dirty="0">
                    <a:solidFill>
                      <a:srgbClr val="000000"/>
                    </a:solidFill>
                    <a:latin typeface="Nunito 1" panose="020B0604020202020204" charset="0"/>
                    <a:ea typeface="Nunito 1 Bold"/>
                    <a:cs typeface="Nunito 1 Bold"/>
                    <a:sym typeface="Nunito 1 Bold"/>
                  </a:rPr>
                  <a:t>3</a:t>
                </a:r>
                <a:r>
                  <a:rPr lang="en-US" sz="2400" dirty="0">
                    <a:solidFill>
                      <a:srgbClr val="000000"/>
                    </a:solidFill>
                    <a:latin typeface="Nunito 1" panose="020B0604020202020204" charset="0"/>
                    <a:ea typeface="Nunito 1 Bold"/>
                    <a:cs typeface="Nunito 1 Bold"/>
                    <a:sym typeface="Nunito 1 Bold"/>
                  </a:rPr>
                  <a:t>/</a:t>
                </a:r>
                <a:r>
                  <a:rPr lang="en-US" sz="2400" dirty="0" err="1">
                    <a:solidFill>
                      <a:srgbClr val="000000"/>
                    </a:solidFill>
                    <a:latin typeface="Nunito 1" panose="020B0604020202020204" charset="0"/>
                    <a:ea typeface="Nunito 1 Bold"/>
                    <a:cs typeface="Nunito 1 Bold"/>
                    <a:sym typeface="Nunito 1 Bold"/>
                  </a:rPr>
                  <a:t>hr</a:t>
                </a:r>
                <a:r>
                  <a:rPr lang="en-US" sz="2400" dirty="0">
                    <a:solidFill>
                      <a:srgbClr val="000000"/>
                    </a:solidFill>
                    <a:latin typeface="Nunito 1" panose="020B0604020202020204" charset="0"/>
                    <a:ea typeface="Nunito 1 Bold"/>
                    <a:cs typeface="Nunito 1 Bold"/>
                    <a:sym typeface="Nunito 1 Bold"/>
                  </a:rPr>
                  <a:t> or 0.065m</a:t>
                </a:r>
                <a:r>
                  <a:rPr lang="en-US" sz="2400" baseline="30000" dirty="0">
                    <a:solidFill>
                      <a:srgbClr val="000000"/>
                    </a:solidFill>
                    <a:latin typeface="Nunito 1" panose="020B0604020202020204" charset="0"/>
                    <a:ea typeface="Nunito 1 Bold"/>
                    <a:cs typeface="Nunito 1 Bold"/>
                    <a:sym typeface="Nunito 1 Bold"/>
                  </a:rPr>
                  <a:t>3</a:t>
                </a:r>
                <a:r>
                  <a:rPr lang="en-US" sz="2400" dirty="0">
                    <a:solidFill>
                      <a:srgbClr val="000000"/>
                    </a:solidFill>
                    <a:latin typeface="Nunito 1" panose="020B0604020202020204" charset="0"/>
                    <a:ea typeface="Nunito 1 Bold"/>
                    <a:cs typeface="Nunito 1 Bold"/>
                    <a:sym typeface="Nunito 1 Bold"/>
                  </a:rPr>
                  <a:t>/s</a:t>
                </a:r>
                <a14:m>
                  <m:oMath xmlns:m="http://schemas.openxmlformats.org/officeDocument/2006/math">
                    <m:r>
                      <a:rPr lang="en-US" sz="2400" b="0" i="1" smtClean="0">
                        <a:solidFill>
                          <a:srgbClr val="000000"/>
                        </a:solidFill>
                        <a:latin typeface="Cambria Math" panose="02040503050406030204" pitchFamily="18" charset="0"/>
                        <a:ea typeface="Nunito 1 Bold"/>
                        <a:cs typeface="Nunito 1 Bold"/>
                        <a:sym typeface="Nunito 1 Bold"/>
                      </a:rPr>
                      <m:t> </m:t>
                    </m:r>
                  </m:oMath>
                </a14:m>
                <a:r>
                  <a:rPr lang="en-US" sz="2400" dirty="0">
                    <a:solidFill>
                      <a:srgbClr val="000000"/>
                    </a:solidFill>
                    <a:latin typeface="Nunito 1" panose="020B0604020202020204" charset="0"/>
                    <a:ea typeface="Nunito 1 Bold"/>
                    <a:cs typeface="Nunito 1 Bold"/>
                    <a:sym typeface="Nunito 1 Bold"/>
                  </a:rPr>
                  <a:t> </a:t>
                </a:r>
              </a:p>
            </p:txBody>
          </p:sp>
        </mc:Choice>
        <mc:Fallback xmlns="">
          <p:sp>
            <p:nvSpPr>
              <p:cNvPr id="16" name="TextBox 15">
                <a:extLst>
                  <a:ext uri="{FF2B5EF4-FFF2-40B4-BE49-F238E27FC236}">
                    <a16:creationId xmlns:a16="http://schemas.microsoft.com/office/drawing/2014/main" id="{CEB68B8F-69C3-A1B5-5435-D27E9751E886}"/>
                  </a:ext>
                </a:extLst>
              </p:cNvPr>
              <p:cNvSpPr txBox="1">
                <a:spLocks noRot="1" noChangeAspect="1" noMove="1" noResize="1" noEditPoints="1" noAdjustHandles="1" noChangeArrowheads="1" noChangeShapeType="1" noTextEdit="1"/>
              </p:cNvSpPr>
              <p:nvPr/>
            </p:nvSpPr>
            <p:spPr>
              <a:xfrm>
                <a:off x="1676400" y="4373825"/>
                <a:ext cx="14935200" cy="369332"/>
              </a:xfrm>
              <a:prstGeom prst="rect">
                <a:avLst/>
              </a:prstGeom>
              <a:blipFill>
                <a:blip r:embed="rId3"/>
                <a:stretch>
                  <a:fillRect l="-1224" t="-22951" b="-50820"/>
                </a:stretch>
              </a:blipFill>
            </p:spPr>
            <p:txBody>
              <a:bodyPr/>
              <a:lstStyle/>
              <a:p>
                <a:r>
                  <a:rPr lang="en-PH">
                    <a:noFill/>
                  </a:rPr>
                  <a:t> </a:t>
                </a:r>
              </a:p>
            </p:txBody>
          </p:sp>
        </mc:Fallback>
      </mc:AlternateContent>
      <p:grpSp>
        <p:nvGrpSpPr>
          <p:cNvPr id="17" name="Group 16">
            <a:extLst>
              <a:ext uri="{FF2B5EF4-FFF2-40B4-BE49-F238E27FC236}">
                <a16:creationId xmlns:a16="http://schemas.microsoft.com/office/drawing/2014/main" id="{7BCB4FE0-8B4F-8440-B597-7FB3DC4AB521}"/>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F11F7CD1-5989-3F26-41D8-FF3BAB687CAE}"/>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21128647-D783-062C-7F18-BF7B3CE2307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3CDD7EB7-E100-495A-F69E-6A798EF4761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1E6AE966-E936-1090-4B25-F8BFE66218D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C6E451AF-CDD1-2001-F374-90374AC8F4C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50280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BA8A6-5685-B1F1-334D-B7560F564D6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60AFCC8-74EA-525D-894E-EA4E531D362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08D11B8D-3FCB-9EFD-30B0-A0F5AC23CF62}"/>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8CDCE84-BD3B-423F-6B27-1E874F3AB42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D08B2B7-5283-B4B0-A384-1902D415C1CC}"/>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B983003B-C351-AAE4-F4B4-759CAA7B4A3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7E025AC-8D00-26F1-3B39-DDC9A62797B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95E0308-1F9F-69B0-0BFF-6E18DF02BC7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BBD3EBC-0BCB-5418-53E1-6C66A2643EFE}"/>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74D7025-6E4D-A943-E864-F9D3C8609DD8}"/>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358502B-6440-CFF0-89E7-5A52CAE0F38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41103168-F410-AAB2-17BD-49DE9533FAD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2FE18CD2-97DC-1BC0-6A87-4F4277D9FDD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0DECB8BE-BEA3-9B79-001C-67E175D77EE2}"/>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719BFE83-8025-6DD3-1E2E-F54DDE289822}"/>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Compute the land soaking requirement for a soil (depth of root zone = 60 cm) with residual moisture content of 18% by weight, bulk density of 1,320 kg/m³ and porosity of 50%. Standing water for planting is 20 mm.</a:t>
            </a:r>
          </a:p>
        </p:txBody>
      </p:sp>
      <p:sp>
        <p:nvSpPr>
          <p:cNvPr id="19" name="TextBox 12">
            <a:extLst>
              <a:ext uri="{FF2B5EF4-FFF2-40B4-BE49-F238E27FC236}">
                <a16:creationId xmlns:a16="http://schemas.microsoft.com/office/drawing/2014/main" id="{FDCF8F9D-64FE-22F6-37C5-04B23B833E3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1BC4A2E6-6834-8050-1A63-31C816FBBC0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E498CC77-0E24-6C09-1278-CBE9099A3DC6}"/>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EDAC1830-6FFA-3787-9A18-BF417E4D204B}"/>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6DA94DF-048D-08A9-41B4-1673ED6AE12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3A2FB995-40D8-B034-A09E-BA57F00CB756}"/>
              </a:ext>
            </a:extLst>
          </p:cNvPr>
          <p:cNvSpPr txBox="1"/>
          <p:nvPr/>
        </p:nvSpPr>
        <p:spPr>
          <a:xfrm>
            <a:off x="1676400" y="4373825"/>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157.44mm</a:t>
            </a:r>
          </a:p>
        </p:txBody>
      </p:sp>
      <p:pic>
        <p:nvPicPr>
          <p:cNvPr id="18" name="Picture 17">
            <a:extLst>
              <a:ext uri="{FF2B5EF4-FFF2-40B4-BE49-F238E27FC236}">
                <a16:creationId xmlns:a16="http://schemas.microsoft.com/office/drawing/2014/main" id="{39E9A8C1-1A25-EE9F-9667-7DB9A923F1E5}"/>
              </a:ext>
            </a:extLst>
          </p:cNvPr>
          <p:cNvPicPr>
            <a:picLocks noChangeAspect="1"/>
          </p:cNvPicPr>
          <p:nvPr/>
        </p:nvPicPr>
        <p:blipFill>
          <a:blip r:embed="rId3"/>
          <a:stretch>
            <a:fillRect/>
          </a:stretch>
        </p:blipFill>
        <p:spPr>
          <a:xfrm>
            <a:off x="5543847" y="5250243"/>
            <a:ext cx="7200306" cy="1687202"/>
          </a:xfrm>
          <a:prstGeom prst="rect">
            <a:avLst/>
          </a:prstGeom>
        </p:spPr>
      </p:pic>
      <p:grpSp>
        <p:nvGrpSpPr>
          <p:cNvPr id="17" name="Group 16">
            <a:extLst>
              <a:ext uri="{FF2B5EF4-FFF2-40B4-BE49-F238E27FC236}">
                <a16:creationId xmlns:a16="http://schemas.microsoft.com/office/drawing/2014/main" id="{46C5B3EB-B47A-7C33-B365-D3349A82130F}"/>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CB11A001-01BC-2CA2-18CE-FE858E151C39}"/>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294972FF-23A8-BDED-6667-ACAF5B3AAFB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43721FB3-9FB4-B515-9FD5-3ECA97E0169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38E92711-C525-D2E2-4EBB-FA8C28CF27C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AD29BB1A-4622-5EC0-7B12-0542A67DB4C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420736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59F52-5BBD-DF1B-9F14-BE37C9F7E58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AD8BD52-656E-FDA9-552E-B4B5C65AB5F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46EC2EC-20A4-5D0D-5E3D-FBEA2C371D1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AC715BE-EC5B-DED7-D5EB-E26A41D6C6C0}"/>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80F83C3-2A70-746C-533C-EF0E0E64C35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9FEC78ED-0BDE-BBC7-FEC4-7DCB1D222B8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F0BC9B6-E0E5-A51C-AAD6-7CF3FFC67DE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9658EF76-9260-1DFF-550E-10B88880588C}"/>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849B462-4790-D3F3-D8C7-3C3C0C2F500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00761BB-B6EA-1968-2A7E-7EAB055DD409}"/>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E3315C7-7D0E-705F-6193-9381815F2A3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A1293D9-8645-F649-4FF7-3CFCF962837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E685348-3C3E-7973-FF8A-DCD4288A7C6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C9F50002-DF1F-B5DB-3886-F245BDDDFE63}"/>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8C68A987-B26F-1A05-2CF0-0D7226C93677}"/>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What is the root zone depth of a farm with land soaking requirement of 90 mm if the soil porosity is 45%, residual moisture content is 18% (by weight) and bulk density is 1,250 kg/m³?</a:t>
            </a:r>
          </a:p>
        </p:txBody>
      </p:sp>
      <p:sp>
        <p:nvSpPr>
          <p:cNvPr id="19" name="TextBox 12">
            <a:extLst>
              <a:ext uri="{FF2B5EF4-FFF2-40B4-BE49-F238E27FC236}">
                <a16:creationId xmlns:a16="http://schemas.microsoft.com/office/drawing/2014/main" id="{A02EDE8F-B97D-ECF7-E57C-B4026A2BE95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82ED30A-0492-5CD8-46FE-3E5C7C0D24F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7FC5CA85-0268-21F5-9AC2-37652F8EBDB5}"/>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B70896CB-DF04-5D23-3523-2043F797CDBB}"/>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A44BBCD2-015C-52E2-F45A-6C1D82A5FD9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02E0739D-D896-F37F-268C-1AB23947CF36}"/>
              </a:ext>
            </a:extLst>
          </p:cNvPr>
          <p:cNvSpPr txBox="1"/>
          <p:nvPr/>
        </p:nvSpPr>
        <p:spPr>
          <a:xfrm>
            <a:off x="1676400" y="4373825"/>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400mm</a:t>
            </a:r>
          </a:p>
        </p:txBody>
      </p:sp>
      <p:pic>
        <p:nvPicPr>
          <p:cNvPr id="18" name="Picture 17">
            <a:extLst>
              <a:ext uri="{FF2B5EF4-FFF2-40B4-BE49-F238E27FC236}">
                <a16:creationId xmlns:a16="http://schemas.microsoft.com/office/drawing/2014/main" id="{08E74F4A-EAF7-A346-350B-2570B57EDAA0}"/>
              </a:ext>
            </a:extLst>
          </p:cNvPr>
          <p:cNvPicPr>
            <a:picLocks noChangeAspect="1"/>
          </p:cNvPicPr>
          <p:nvPr/>
        </p:nvPicPr>
        <p:blipFill>
          <a:blip r:embed="rId3"/>
          <a:stretch>
            <a:fillRect/>
          </a:stretch>
        </p:blipFill>
        <p:spPr>
          <a:xfrm>
            <a:off x="5543847" y="5250243"/>
            <a:ext cx="7200306" cy="1687202"/>
          </a:xfrm>
          <a:prstGeom prst="rect">
            <a:avLst/>
          </a:prstGeom>
        </p:spPr>
      </p:pic>
      <p:grpSp>
        <p:nvGrpSpPr>
          <p:cNvPr id="17" name="Group 16">
            <a:extLst>
              <a:ext uri="{FF2B5EF4-FFF2-40B4-BE49-F238E27FC236}">
                <a16:creationId xmlns:a16="http://schemas.microsoft.com/office/drawing/2014/main" id="{E6195585-3A7E-EFFD-B844-72B5DAC8319E}"/>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A25FC3FE-702C-B8EB-C1C3-E9CC7296B57A}"/>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679552E4-5094-1275-FAD2-82E0DD6DB24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8A792536-35FD-60CE-FAD6-F0DFC533279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458EE159-D47F-7900-0A8C-ACFA4C337AA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B76D7B3A-9D32-2AC8-530C-DBB1FC9324F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8241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5BA5D-373B-EF0C-7DAB-68733173A7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21830C3-EEF5-5982-4450-A55AB5D9583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E651B7E-DD95-6659-D97A-3614E0895FB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7A3262E7-F6B8-DC3D-1A12-528E45B26A9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B4661DC-244F-DCF6-E033-11FB29CFA15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D099D0C-8CE9-98FC-88A8-B76E958B7FB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24083D6D-ECD6-4C75-25C1-26CC04BD212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D093A53-B4FE-D681-8D75-D57773ED3E9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155BF8E-C5FF-0046-961E-B7E6B0A2041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739B47B-5235-48A7-F5E7-6CD99BFAA11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FE56CE6-D7C3-0B19-E7B0-44C759A4DA0C}"/>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64FD5C7-A12C-E07F-8796-C814E9D192A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1807A4B0-0984-17E5-F624-ACE8823B6C6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58A1F5E2-D28D-8E79-4A56-B44B025DBF96}"/>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AA212076-848D-2B7A-38F5-14054F8C6EC1}"/>
              </a:ext>
            </a:extLst>
          </p:cNvPr>
          <p:cNvSpPr txBox="1"/>
          <p:nvPr/>
        </p:nvSpPr>
        <p:spPr>
          <a:xfrm>
            <a:off x="1523998" y="2025065"/>
            <a:ext cx="15240002" cy="1477328"/>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In a 5 ha area, it was determined that the soil volumetric field capacity and permanent wilting point are 25% and 15%, respectively. Crop consumptive use is 5 mm/day, application efficiency is 80% and irrigation application rate is 60 m³/hr. The allowable soil moisture depletion is 60%, apparent specific gravity is 1.2 and the depth of root zone is 0.8 m. Determine the following: a) </a:t>
            </a:r>
            <a:r>
              <a:rPr lang="en-US" sz="2400" b="1" dirty="0" err="1">
                <a:solidFill>
                  <a:srgbClr val="000000"/>
                </a:solidFill>
                <a:latin typeface="Nunito 1 Bold"/>
                <a:ea typeface="Nunito 1 Bold"/>
                <a:cs typeface="Nunito 1 Bold"/>
                <a:sym typeface="Nunito 1 Bold"/>
              </a:rPr>
              <a:t>d</a:t>
            </a:r>
            <a:r>
              <a:rPr lang="en-US" sz="2400" b="1" baseline="-25000" dirty="0" err="1">
                <a:solidFill>
                  <a:srgbClr val="000000"/>
                </a:solidFill>
                <a:latin typeface="Nunito 1 Bold"/>
                <a:ea typeface="Nunito 1 Bold"/>
                <a:cs typeface="Nunito 1 Bold"/>
                <a:sym typeface="Nunito 1 Bold"/>
              </a:rPr>
              <a:t>net</a:t>
            </a:r>
            <a:r>
              <a:rPr lang="en-US" sz="2400" b="1" dirty="0">
                <a:solidFill>
                  <a:srgbClr val="000000"/>
                </a:solidFill>
                <a:latin typeface="Nunito 1 Bold"/>
                <a:ea typeface="Nunito 1 Bold"/>
                <a:cs typeface="Nunito 1 Bold"/>
                <a:sym typeface="Nunito 1 Bold"/>
              </a:rPr>
              <a:t> b) </a:t>
            </a:r>
            <a:r>
              <a:rPr lang="en-US" sz="2400" b="1" dirty="0" err="1">
                <a:solidFill>
                  <a:srgbClr val="000000"/>
                </a:solidFill>
                <a:latin typeface="Nunito 1 Bold"/>
                <a:ea typeface="Nunito 1 Bold"/>
                <a:cs typeface="Nunito 1 Bold"/>
                <a:sym typeface="Nunito 1 Bold"/>
              </a:rPr>
              <a:t>d</a:t>
            </a:r>
            <a:r>
              <a:rPr lang="en-US" sz="2400" b="1" baseline="-25000" dirty="0" err="1">
                <a:solidFill>
                  <a:srgbClr val="000000"/>
                </a:solidFill>
                <a:latin typeface="Nunito 1 Bold"/>
                <a:ea typeface="Nunito 1 Bold"/>
                <a:cs typeface="Nunito 1 Bold"/>
                <a:sym typeface="Nunito 1 Bold"/>
              </a:rPr>
              <a:t>gross</a:t>
            </a:r>
            <a:endParaRPr lang="en-US" sz="2400" b="1" dirty="0">
              <a:solidFill>
                <a:srgbClr val="000000"/>
              </a:solidFill>
              <a:latin typeface="Nunito 1 Bold"/>
              <a:ea typeface="Nunito 1 Bold"/>
              <a:cs typeface="Nunito 1 Bold"/>
              <a:sym typeface="Nunito 1 Bold"/>
            </a:endParaRPr>
          </a:p>
        </p:txBody>
      </p:sp>
      <p:sp>
        <p:nvSpPr>
          <p:cNvPr id="19" name="TextBox 12">
            <a:extLst>
              <a:ext uri="{FF2B5EF4-FFF2-40B4-BE49-F238E27FC236}">
                <a16:creationId xmlns:a16="http://schemas.microsoft.com/office/drawing/2014/main" id="{AB329E83-1881-FE94-F382-5413325BDE8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2EC51111-D8EF-AFA5-0F78-D0FAB540107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28A55CD4-3316-4A63-2266-4B33C286375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E6E8B7F8-7E15-2B69-8342-98FD9A7B108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DF268FF-35AF-1EC3-7956-166FDD0CC4B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394EAC76-B5C7-569E-7C36-9E4A9E4B5BB7}"/>
              </a:ext>
            </a:extLst>
          </p:cNvPr>
          <p:cNvSpPr txBox="1"/>
          <p:nvPr/>
        </p:nvSpPr>
        <p:spPr>
          <a:xfrm>
            <a:off x="1676400" y="3803734"/>
            <a:ext cx="14935200" cy="738664"/>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a) 48mm</a:t>
            </a:r>
          </a:p>
          <a:p>
            <a:pPr algn="just"/>
            <a:r>
              <a:rPr lang="en-US" sz="2400" dirty="0">
                <a:solidFill>
                  <a:srgbClr val="000000"/>
                </a:solidFill>
                <a:latin typeface="Nunito 1" panose="020B0604020202020204" charset="0"/>
                <a:ea typeface="Nunito 1 Bold"/>
                <a:cs typeface="Nunito 1 Bold"/>
                <a:sym typeface="Nunito 1 Bold"/>
              </a:rPr>
              <a:t>	b) 60mm</a:t>
            </a:r>
          </a:p>
        </p:txBody>
      </p:sp>
      <p:pic>
        <p:nvPicPr>
          <p:cNvPr id="26" name="Picture 25">
            <a:extLst>
              <a:ext uri="{FF2B5EF4-FFF2-40B4-BE49-F238E27FC236}">
                <a16:creationId xmlns:a16="http://schemas.microsoft.com/office/drawing/2014/main" id="{E4782400-A50A-9106-3335-BE6627FA6A96}"/>
              </a:ext>
            </a:extLst>
          </p:cNvPr>
          <p:cNvPicPr>
            <a:picLocks noChangeAspect="1"/>
          </p:cNvPicPr>
          <p:nvPr/>
        </p:nvPicPr>
        <p:blipFill>
          <a:blip r:embed="rId3"/>
          <a:srcRect r="23920" b="66502"/>
          <a:stretch/>
        </p:blipFill>
        <p:spPr>
          <a:xfrm>
            <a:off x="5815993" y="3787690"/>
            <a:ext cx="6624569" cy="2792517"/>
          </a:xfrm>
          <a:prstGeom prst="rect">
            <a:avLst/>
          </a:prstGeom>
        </p:spPr>
      </p:pic>
      <p:pic>
        <p:nvPicPr>
          <p:cNvPr id="29" name="Picture 28">
            <a:extLst>
              <a:ext uri="{FF2B5EF4-FFF2-40B4-BE49-F238E27FC236}">
                <a16:creationId xmlns:a16="http://schemas.microsoft.com/office/drawing/2014/main" id="{AD230918-578E-8B73-183F-B0DCFB294551}"/>
              </a:ext>
            </a:extLst>
          </p:cNvPr>
          <p:cNvPicPr>
            <a:picLocks noChangeAspect="1"/>
          </p:cNvPicPr>
          <p:nvPr/>
        </p:nvPicPr>
        <p:blipFill>
          <a:blip r:embed="rId3"/>
          <a:srcRect t="66929" r="23920" b="256"/>
          <a:stretch/>
        </p:blipFill>
        <p:spPr>
          <a:xfrm>
            <a:off x="5795576" y="4833567"/>
            <a:ext cx="6624569" cy="2792517"/>
          </a:xfrm>
          <a:prstGeom prst="rect">
            <a:avLst/>
          </a:prstGeom>
        </p:spPr>
      </p:pic>
      <p:grpSp>
        <p:nvGrpSpPr>
          <p:cNvPr id="17" name="Group 16">
            <a:extLst>
              <a:ext uri="{FF2B5EF4-FFF2-40B4-BE49-F238E27FC236}">
                <a16:creationId xmlns:a16="http://schemas.microsoft.com/office/drawing/2014/main" id="{6417FCDB-A068-4BE3-3A35-711F6D446540}"/>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71042928-DB52-971C-75B0-EEDB0300BFFD}"/>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B0AAD7A6-4C69-5CF2-9D63-BD907DC616E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2F480C58-36CD-5965-A1F4-EC584622A01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7A73712C-7B5C-0803-0554-A65D41F648C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8BCB4746-92DA-4AEE-3FE9-CF4D5AE9E65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600304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5F70F-72F6-2733-768A-02B623572C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6A7BD5-CEB9-DAFB-55C7-5353FA0EA0E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C3DD2ED9-DB71-8737-F839-1B8A77CDD53E}"/>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7C0D89B-42CA-E018-F179-817634C4BD4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CF13097-9F81-3B7A-4796-A04C648B881C}"/>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5DFDCD0-618B-ED1B-6EDC-77AFB79A71F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EC3418F-D4A2-EF72-2280-DB5AB7C718C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FFABE1F-815D-9211-C71E-B209F10FF16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190FC28-D4E2-4ABF-1379-A627D8B0100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B8A3CB7-DC3C-C802-6DA0-5D36B9713A3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86EF68F5-FD48-17A9-A69D-1A958A172FE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68AD86F-03BD-84E8-5CD0-1E54F058747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E852659-83E8-61EC-FF85-10E65ABF8D2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73985DAA-896D-C4A5-0E20-913A50950819}"/>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FE7EC9FD-B5F9-4956-9C15-4552C1AA4995}"/>
              </a:ext>
            </a:extLst>
          </p:cNvPr>
          <p:cNvSpPr txBox="1"/>
          <p:nvPr/>
        </p:nvSpPr>
        <p:spPr>
          <a:xfrm>
            <a:off x="1523998" y="2025065"/>
            <a:ext cx="15240002" cy="1477328"/>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In a 5 ha area, it was determined that the soil volumetric field capacity and permanent wilting point are 25% and 15%, respectively. Crop consumptive use is 5 mm/day, application efficiency is 80% and irrigation application rate is 60 m³/hr. The allowable soil moisture depletion is 60%, apparent specific gravity is 1.2 and the depth of root zone is 0.8 m. Determine the following: c) irrigation interval d) irrigation period</a:t>
            </a:r>
          </a:p>
        </p:txBody>
      </p:sp>
      <p:sp>
        <p:nvSpPr>
          <p:cNvPr id="19" name="TextBox 12">
            <a:extLst>
              <a:ext uri="{FF2B5EF4-FFF2-40B4-BE49-F238E27FC236}">
                <a16:creationId xmlns:a16="http://schemas.microsoft.com/office/drawing/2014/main" id="{F7F11A2D-F52A-6A3E-288B-D957FBE9375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851ED65-7069-DC66-996F-7A775F78EF5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88AAB623-F0B3-E8EB-9C41-A7DFBFA5B655}"/>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5D89342-EB44-53A9-3694-3F6637A2CB7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6021312C-161E-12C6-D797-46EEA026A93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2187FFB2-2AAA-7C06-5698-009144C989B5}"/>
              </a:ext>
            </a:extLst>
          </p:cNvPr>
          <p:cNvSpPr txBox="1"/>
          <p:nvPr/>
        </p:nvSpPr>
        <p:spPr>
          <a:xfrm>
            <a:off x="1676400" y="3803734"/>
            <a:ext cx="14935200" cy="738664"/>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c) 9 days</a:t>
            </a:r>
          </a:p>
          <a:p>
            <a:pPr algn="just"/>
            <a:r>
              <a:rPr lang="en-US" sz="2400" dirty="0">
                <a:solidFill>
                  <a:srgbClr val="000000"/>
                </a:solidFill>
                <a:latin typeface="Nunito 1" panose="020B0604020202020204" charset="0"/>
                <a:ea typeface="Nunito 1 Bold"/>
                <a:cs typeface="Nunito 1 Bold"/>
                <a:sym typeface="Nunito 1 Bold"/>
              </a:rPr>
              <a:t>	d) 50 hours</a:t>
            </a:r>
          </a:p>
        </p:txBody>
      </p:sp>
      <p:pic>
        <p:nvPicPr>
          <p:cNvPr id="27" name="Picture 26">
            <a:extLst>
              <a:ext uri="{FF2B5EF4-FFF2-40B4-BE49-F238E27FC236}">
                <a16:creationId xmlns:a16="http://schemas.microsoft.com/office/drawing/2014/main" id="{3FA1045D-0A8F-A804-30E7-136F03AA64D5}"/>
              </a:ext>
            </a:extLst>
          </p:cNvPr>
          <p:cNvPicPr>
            <a:picLocks noChangeAspect="1"/>
          </p:cNvPicPr>
          <p:nvPr/>
        </p:nvPicPr>
        <p:blipFill>
          <a:blip r:embed="rId3"/>
          <a:srcRect t="32747" b="33755"/>
          <a:stretch/>
        </p:blipFill>
        <p:spPr>
          <a:xfrm>
            <a:off x="4175049" y="4758208"/>
            <a:ext cx="10382544" cy="3329773"/>
          </a:xfrm>
          <a:prstGeom prst="rect">
            <a:avLst/>
          </a:prstGeom>
        </p:spPr>
      </p:pic>
      <p:grpSp>
        <p:nvGrpSpPr>
          <p:cNvPr id="17" name="Group 16">
            <a:extLst>
              <a:ext uri="{FF2B5EF4-FFF2-40B4-BE49-F238E27FC236}">
                <a16:creationId xmlns:a16="http://schemas.microsoft.com/office/drawing/2014/main" id="{339A56EB-D4B8-7FC9-C531-28EEDA62DC0E}"/>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9C641CBA-F679-2782-3AF2-4A9917A172CA}"/>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7BF8F989-E773-87FA-C76B-F9C592FD471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3E462CEB-E6BF-21BC-120E-7F4BA865B64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9D55B951-2229-9A00-75CC-34E70897177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194BC8FE-F542-9B13-29B3-2B8E201D39D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4172239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9E6DB-F3F2-A94F-771E-5F6A28391F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427387-4E9B-50AF-1675-3B00D7A7E59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0DDCAE2-2CDA-B001-8994-708C13662AFB}"/>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AE805C3D-436B-3D39-AC76-DEF064F986E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384C8E1-3CF9-1CDC-2D97-CE439CD13842}"/>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E814EE7-943F-6D74-96CC-0E0D6D92E0F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52E5935-0FDD-FAEF-4511-1FC10B02778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A0640B5-6A9F-46BF-7AB9-F46AD548D0B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F8F7517D-430B-73C5-FE96-1753F4BAA27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4C03271-964F-FEE0-68BA-9947AA7C961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43AB3972-7989-4BAA-ABED-A3B5CAD78BA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1A2DF21-4C13-9CAB-FD99-BEA49D1D520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F42D6B8D-F0F0-29CB-E206-B9F25D383BE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E9D2AB8-2F32-CB33-98D9-60ECA5173C37}"/>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B85E4A46-3828-8774-BC16-F7EA755F1E28}"/>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Surface irrigation method where a much smaller area is enclosed by levees  </a:t>
            </a:r>
          </a:p>
        </p:txBody>
      </p:sp>
      <p:sp>
        <p:nvSpPr>
          <p:cNvPr id="19" name="TextBox 12">
            <a:extLst>
              <a:ext uri="{FF2B5EF4-FFF2-40B4-BE49-F238E27FC236}">
                <a16:creationId xmlns:a16="http://schemas.microsoft.com/office/drawing/2014/main" id="{1B821AFD-1C16-597F-028D-F25BB884BE1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D65F879-F8EE-BB8A-DE21-482D6DEE5CE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4ACEC251-E1C9-6C0B-92C5-87FD37B6CC8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818229E-C1B2-6E04-68DD-44C9D05F7C3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F010CEE-E5E5-05B8-9775-CD47EBCBF67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04BAA56B-4E17-75E2-8044-5E09CCFC2C9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BE16E002-B0B6-9508-014A-C15FD717D616}"/>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Border strip irrigation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Basin flooding</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Trickle irrigation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Furrow irrigation</a:t>
            </a:r>
          </a:p>
        </p:txBody>
      </p:sp>
      <p:sp>
        <p:nvSpPr>
          <p:cNvPr id="17" name="Oval 16">
            <a:extLst>
              <a:ext uri="{FF2B5EF4-FFF2-40B4-BE49-F238E27FC236}">
                <a16:creationId xmlns:a16="http://schemas.microsoft.com/office/drawing/2014/main" id="{F53D7ADE-7ED4-4806-5690-CBBB8ED59948}"/>
              </a:ext>
            </a:extLst>
          </p:cNvPr>
          <p:cNvSpPr/>
          <p:nvPr/>
        </p:nvSpPr>
        <p:spPr>
          <a:xfrm>
            <a:off x="1505640" y="361950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0A6FC49D-D81A-B914-6E15-3815E074E7F6}"/>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53FFF7FB-3F27-3830-7455-80BAFCCAE55A}"/>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19466E0C-E6CD-D5C0-3712-C117F97550D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645CED9B-6E0F-A94E-3A32-30175A9638D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A981BB38-D4C6-2753-6F1C-119E14D7A9C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FD181DB8-5797-F9E5-4049-2145EE2A490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4194542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4C958-0223-9AC4-312D-7F44C0E7893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CEFD435-77F2-A4A5-A28E-75783D1A13A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96C236D-DA54-5C65-9CEF-AC142B5219D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FD16126-B5B1-5138-8486-375820E1E3F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124DA7C-4690-876B-FC31-E9787C934B6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B23675A-7AF2-F6B6-4074-77DEC300F4F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EAC7A1FE-1275-C81C-60B5-52B081D0A20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B715C84-53CE-101C-2AE5-7BB5B955002B}"/>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639D76D-B1F2-02C9-513C-661C505ECA7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4075740-4AEF-3E74-05D6-8BEE68EBC62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6748F54-509F-0A79-54E0-71DBE686E14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5ADB3F6-AC16-57D0-EB60-BB0EB74F687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A076323C-F61C-850E-1A3E-F9419F5D5A8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3C772171-7230-D5DC-FE30-FC7A918D0673}"/>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IRRIGATION METHODS</a:t>
            </a:r>
          </a:p>
        </p:txBody>
      </p:sp>
      <p:sp>
        <p:nvSpPr>
          <p:cNvPr id="19" name="TextBox 12">
            <a:extLst>
              <a:ext uri="{FF2B5EF4-FFF2-40B4-BE49-F238E27FC236}">
                <a16:creationId xmlns:a16="http://schemas.microsoft.com/office/drawing/2014/main" id="{9328C3B9-57B8-36F6-3750-ACB112AAB6A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FCE1DB2-6FAD-D8DD-99FA-4799EA49D75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F2A23BF7-B445-BABD-82AE-72C1BD47CC4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7A27296-837D-58A7-A452-01A09B6B6BF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762C340-F273-112A-EB72-AEA50B12C40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64A6903D-CACA-1EB7-92CB-AF98C2526B18}"/>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p:sp>
        <p:nvSpPr>
          <p:cNvPr id="16" name="TextBox 15">
            <a:extLst>
              <a:ext uri="{FF2B5EF4-FFF2-40B4-BE49-F238E27FC236}">
                <a16:creationId xmlns:a16="http://schemas.microsoft.com/office/drawing/2014/main" id="{33A34D84-F533-1A34-79A4-A1DECBB36E6F}"/>
              </a:ext>
            </a:extLst>
          </p:cNvPr>
          <p:cNvSpPr txBox="1"/>
          <p:nvPr/>
        </p:nvSpPr>
        <p:spPr>
          <a:xfrm>
            <a:off x="1676400" y="2941299"/>
            <a:ext cx="14935200" cy="1846659"/>
          </a:xfrm>
          <a:prstGeom prst="rect">
            <a:avLst/>
          </a:prstGeom>
        </p:spPr>
        <p:txBody>
          <a:bodyPr wrap="square" lIns="0" tIns="0" rIns="0" bIns="0" rtlCol="0" anchor="t">
            <a:spAutoFit/>
          </a:bodyPr>
          <a:lstStyle/>
          <a:p>
            <a:pPr marL="457200" indent="-457200">
              <a:buAutoNum type="arabicPeriod"/>
            </a:pPr>
            <a:r>
              <a:rPr lang="en-PH" sz="2400" b="1" dirty="0">
                <a:solidFill>
                  <a:srgbClr val="000000"/>
                </a:solidFill>
                <a:latin typeface="Nunito 1" panose="020B0604020202020204" charset="0"/>
                <a:ea typeface="Nunito 1 Bold"/>
                <a:cs typeface="Nunito 1 Bold"/>
                <a:sym typeface="Nunito 1 Bold"/>
              </a:rPr>
              <a:t>Surface Irrigation Method</a:t>
            </a:r>
          </a:p>
          <a:p>
            <a:pPr marL="457200" indent="-457200">
              <a:buAutoNum type="arabicPeriod"/>
            </a:pPr>
            <a:endParaRPr lang="en-PH" sz="2400" b="1" dirty="0">
              <a:solidFill>
                <a:srgbClr val="000000"/>
              </a:solidFill>
              <a:latin typeface="Nunito 1" panose="020B0604020202020204" charset="0"/>
              <a:ea typeface="Nunito 1 Bold"/>
              <a:cs typeface="Nunito 1 Bold"/>
              <a:sym typeface="Nunito 1 Bold"/>
            </a:endParaRPr>
          </a:p>
          <a:p>
            <a:pPr marL="457200" indent="-457200">
              <a:buAutoNum type="arabicPeriod"/>
            </a:pPr>
            <a:r>
              <a:rPr lang="en-PH" sz="2400" b="1" dirty="0">
                <a:solidFill>
                  <a:srgbClr val="000000"/>
                </a:solidFill>
                <a:latin typeface="Nunito 1" panose="020B0604020202020204" charset="0"/>
                <a:ea typeface="Nunito 1 Bold"/>
                <a:cs typeface="Nunito 1 Bold"/>
                <a:sym typeface="Nunito 1 Bold"/>
              </a:rPr>
              <a:t>Sprinkler Irrigation Method</a:t>
            </a:r>
          </a:p>
          <a:p>
            <a:pPr marL="457200" indent="-457200">
              <a:buAutoNum type="arabicPeriod"/>
            </a:pPr>
            <a:endParaRPr lang="en-PH" sz="2400" b="1" dirty="0">
              <a:solidFill>
                <a:srgbClr val="000000"/>
              </a:solidFill>
              <a:latin typeface="Nunito 1" panose="020B0604020202020204" charset="0"/>
              <a:ea typeface="Nunito 1 Bold"/>
              <a:cs typeface="Nunito 1 Bold"/>
              <a:sym typeface="Nunito 1 Bold"/>
            </a:endParaRPr>
          </a:p>
          <a:p>
            <a:pPr marL="457200" indent="-457200">
              <a:buAutoNum type="arabicPeriod"/>
            </a:pPr>
            <a:r>
              <a:rPr lang="en-PH" sz="2400" b="1" dirty="0">
                <a:solidFill>
                  <a:srgbClr val="000000"/>
                </a:solidFill>
                <a:latin typeface="Nunito 1" panose="020B0604020202020204" charset="0"/>
                <a:ea typeface="Nunito 1 Bold"/>
                <a:cs typeface="Nunito 1 Bold"/>
                <a:sym typeface="Nunito 1 Bold"/>
              </a:rPr>
              <a:t>Sub irrigation ang Drip Irrigation Method</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AF109A89-A3D0-B6CF-5934-5220DB4E1BE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pSp>
        <p:nvGrpSpPr>
          <p:cNvPr id="14" name="Group 13">
            <a:extLst>
              <a:ext uri="{FF2B5EF4-FFF2-40B4-BE49-F238E27FC236}">
                <a16:creationId xmlns:a16="http://schemas.microsoft.com/office/drawing/2014/main" id="{B362DE01-BC9F-F2CE-849B-61AAC7334379}"/>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F221AB6B-6BDA-3C95-7F4D-E133789F69AF}"/>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EBBCD23D-995E-57B9-D616-8188D093EAF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991D200E-0B09-005A-6A9F-AEDF2A3EA78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70094D30-FCE4-4274-EB4F-A47CA3AE3A5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10DEEC21-4E6A-1029-F1F3-467112D1984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9175202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CD139-BEE9-3ABD-597A-0755B7FC5FF7}"/>
            </a:ext>
          </a:extLst>
        </p:cNvPr>
        <p:cNvGrpSpPr/>
        <p:nvPr/>
      </p:nvGrpSpPr>
      <p:grpSpPr>
        <a:xfrm>
          <a:off x="0" y="0"/>
          <a:ext cx="0" cy="0"/>
          <a:chOff x="0" y="0"/>
          <a:chExt cx="0" cy="0"/>
        </a:xfrm>
      </p:grpSpPr>
      <p:grpSp>
        <p:nvGrpSpPr>
          <p:cNvPr id="18" name="Group 5">
            <a:extLst>
              <a:ext uri="{FF2B5EF4-FFF2-40B4-BE49-F238E27FC236}">
                <a16:creationId xmlns:a16="http://schemas.microsoft.com/office/drawing/2014/main" id="{422EAE2F-A9A3-26D1-8D5E-BECC45D832B3}"/>
              </a:ext>
            </a:extLst>
          </p:cNvPr>
          <p:cNvGrpSpPr/>
          <p:nvPr/>
        </p:nvGrpSpPr>
        <p:grpSpPr>
          <a:xfrm>
            <a:off x="1028700" y="1233888"/>
            <a:ext cx="16230600" cy="7447557"/>
            <a:chOff x="0" y="0"/>
            <a:chExt cx="4274726" cy="1718953"/>
          </a:xfrm>
        </p:grpSpPr>
        <p:sp>
          <p:nvSpPr>
            <p:cNvPr id="21" name="Freeform 6">
              <a:extLst>
                <a:ext uri="{FF2B5EF4-FFF2-40B4-BE49-F238E27FC236}">
                  <a16:creationId xmlns:a16="http://schemas.microsoft.com/office/drawing/2014/main" id="{2075A569-7410-4E6F-D700-8B7DF77CEBB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7" name="TextBox 7">
              <a:extLst>
                <a:ext uri="{FF2B5EF4-FFF2-40B4-BE49-F238E27FC236}">
                  <a16:creationId xmlns:a16="http://schemas.microsoft.com/office/drawing/2014/main" id="{38A2BCED-0066-43E3-4F7E-D758301A32D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2" name="Group 2">
            <a:extLst>
              <a:ext uri="{FF2B5EF4-FFF2-40B4-BE49-F238E27FC236}">
                <a16:creationId xmlns:a16="http://schemas.microsoft.com/office/drawing/2014/main" id="{A7E51682-92EC-92A7-9831-2834AC474A5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C3CF5EDF-DA79-5507-0FFD-501C8519F8D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4162AA8-B319-D041-291A-39B138A68B8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8" name="Group 8">
            <a:extLst>
              <a:ext uri="{FF2B5EF4-FFF2-40B4-BE49-F238E27FC236}">
                <a16:creationId xmlns:a16="http://schemas.microsoft.com/office/drawing/2014/main" id="{74DC7595-8CBD-94F3-05A6-92B692D0799E}"/>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517CA68-6EF4-49E8-BD7E-DB470B4AC82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2DCF522-CC8B-341D-B3F2-19FDA34F2BF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5F92BF7-C795-8A24-E7B5-C1595475728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BE8CFEF5-DD0E-93A5-DD75-9A103464659B}"/>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6A5ECA5-5C9E-07CC-33FA-54502587DEF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A7EF5071-A0BF-CDBC-4973-5F9C0109CEE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D6B1CD35-27F1-1C6F-E897-506032D8964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91502E98-32D4-B5C7-F03A-BFC49F275D7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C1F631E9-2F2D-F52C-D51E-ABA9D61564D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90B9AD7-5BE0-5E9C-E2BD-8AE723B26E4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3FF9202F-F7AB-321F-E934-1A8F808796BD}"/>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https://www.fao.org/4/t0231e/t0231e04.htm</a:t>
            </a:r>
          </a:p>
        </p:txBody>
      </p:sp>
      <p:sp>
        <p:nvSpPr>
          <p:cNvPr id="16" name="TextBox 15">
            <a:extLst>
              <a:ext uri="{FF2B5EF4-FFF2-40B4-BE49-F238E27FC236}">
                <a16:creationId xmlns:a16="http://schemas.microsoft.com/office/drawing/2014/main" id="{2413BEAD-44C4-D738-A2D3-3FAB8A4310CF}"/>
              </a:ext>
            </a:extLst>
          </p:cNvPr>
          <p:cNvSpPr txBox="1"/>
          <p:nvPr/>
        </p:nvSpPr>
        <p:spPr>
          <a:xfrm>
            <a:off x="1676399" y="2195929"/>
            <a:ext cx="9753602" cy="6647974"/>
          </a:xfrm>
          <a:prstGeom prst="rect">
            <a:avLst/>
          </a:prstGeom>
        </p:spPr>
        <p:txBody>
          <a:bodyPr wrap="square" lIns="0" tIns="0" rIns="0" bIns="0" rtlCol="0" anchor="t">
            <a:spAutoFit/>
          </a:bodyPr>
          <a:lstStyle/>
          <a:p>
            <a:pPr marL="457200" indent="-457200">
              <a:buAutoNum type="arabicPeriod"/>
            </a:pPr>
            <a:r>
              <a:rPr lang="en-PH" sz="2400" b="1" dirty="0">
                <a:solidFill>
                  <a:srgbClr val="000000"/>
                </a:solidFill>
                <a:latin typeface="Nunito 1" panose="020B0604020202020204" charset="0"/>
                <a:ea typeface="Nunito 1 Bold"/>
                <a:cs typeface="Nunito 1 Bold"/>
                <a:sym typeface="Nunito 1 Bold"/>
              </a:rPr>
              <a:t>Surface Irrigation Methods</a:t>
            </a:r>
          </a:p>
          <a:p>
            <a:pPr marL="817563"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817563" indent="-342900">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Basin irrigation - </a:t>
            </a:r>
            <a:r>
              <a:rPr lang="en-US" sz="2400" b="0" i="0" dirty="0">
                <a:solidFill>
                  <a:srgbClr val="000000"/>
                </a:solidFill>
                <a:effectLst/>
                <a:latin typeface="Arial" panose="020B0604020202020204" pitchFamily="34" charset="0"/>
              </a:rPr>
              <a:t>most common form of surface irrigation, particularly in regions with layouts of small fields. If a field is level in all directions, is encompassed by a dyke to prevent runoff, and provides an undirected flow of water onto the field, it is herein called a basin.</a:t>
            </a:r>
          </a:p>
          <a:p>
            <a:pPr marL="817563"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817563" indent="-342900">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Border strip irrigation - water is applied to individual borders from small hand-dug checks from the field head ditch. When the water is shut off, it recedes from the upper end to the lower end.</a:t>
            </a:r>
          </a:p>
          <a:p>
            <a:pPr marL="817563"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817563" indent="-342900">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 Furrow irrigation - widely used for irrigation of row crops. Corrugations or small furrows are simply narrow ditch between rows of crops with about 0.2 to 0.5 of surface area wetted during irrigation. </a:t>
            </a:r>
            <a:r>
              <a:rPr lang="en-US" sz="2400" b="0" i="0" dirty="0">
                <a:solidFill>
                  <a:srgbClr val="000000"/>
                </a:solidFill>
                <a:effectLst/>
                <a:latin typeface="Arial" panose="020B0604020202020204" pitchFamily="34" charset="0"/>
              </a:rPr>
              <a:t>Water infiltrates through the wetted perimeter and spreads vertically and horizontally to refill the soil reservoir.</a:t>
            </a:r>
            <a:endParaRPr lang="en-US" sz="2400" dirty="0">
              <a:solidFill>
                <a:srgbClr val="000000"/>
              </a:solidFill>
              <a:latin typeface="Nunito 1" panose="020B0604020202020204" charset="0"/>
              <a:ea typeface="Nunito 1 Bold"/>
              <a:cs typeface="Nunito 1 Bold"/>
              <a:sym typeface="Nunito 1 Bold"/>
            </a:endParaRPr>
          </a:p>
          <a:p>
            <a:pPr marL="817563"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853FCD01-828B-C437-B40C-33E29884591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7" name="TextBox 15">
            <a:extLst>
              <a:ext uri="{FF2B5EF4-FFF2-40B4-BE49-F238E27FC236}">
                <a16:creationId xmlns:a16="http://schemas.microsoft.com/office/drawing/2014/main" id="{233FCC9E-A6D3-2291-7581-99A065A8EC6E}"/>
              </a:ext>
            </a:extLst>
          </p:cNvPr>
          <p:cNvSpPr txBox="1"/>
          <p:nvPr/>
        </p:nvSpPr>
        <p:spPr>
          <a:xfrm>
            <a:off x="2246041" y="1846549"/>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IRRIGATION METHODS</a:t>
            </a:r>
          </a:p>
        </p:txBody>
      </p:sp>
      <p:pic>
        <p:nvPicPr>
          <p:cNvPr id="5" name="Picture 4">
            <a:extLst>
              <a:ext uri="{FF2B5EF4-FFF2-40B4-BE49-F238E27FC236}">
                <a16:creationId xmlns:a16="http://schemas.microsoft.com/office/drawing/2014/main" id="{61400340-CC3A-C2CE-873F-3F37756E4C82}"/>
              </a:ext>
            </a:extLst>
          </p:cNvPr>
          <p:cNvPicPr>
            <a:picLocks noChangeAspect="1"/>
          </p:cNvPicPr>
          <p:nvPr/>
        </p:nvPicPr>
        <p:blipFill>
          <a:blip r:embed="rId3"/>
          <a:stretch>
            <a:fillRect/>
          </a:stretch>
        </p:blipFill>
        <p:spPr>
          <a:xfrm>
            <a:off x="11501253" y="3607355"/>
            <a:ext cx="5217907" cy="3240000"/>
          </a:xfrm>
          <a:prstGeom prst="rect">
            <a:avLst/>
          </a:prstGeom>
        </p:spPr>
      </p:pic>
      <p:grpSp>
        <p:nvGrpSpPr>
          <p:cNvPr id="6" name="Group 5">
            <a:extLst>
              <a:ext uri="{FF2B5EF4-FFF2-40B4-BE49-F238E27FC236}">
                <a16:creationId xmlns:a16="http://schemas.microsoft.com/office/drawing/2014/main" id="{E6E50816-FEA8-0DFC-2C49-D215126B6E09}"/>
              </a:ext>
            </a:extLst>
          </p:cNvPr>
          <p:cNvGrpSpPr/>
          <p:nvPr/>
        </p:nvGrpSpPr>
        <p:grpSpPr>
          <a:xfrm>
            <a:off x="0" y="9599693"/>
            <a:ext cx="18287999" cy="687306"/>
            <a:chOff x="0" y="9599693"/>
            <a:chExt cx="18287999" cy="687306"/>
          </a:xfrm>
        </p:grpSpPr>
        <p:grpSp>
          <p:nvGrpSpPr>
            <p:cNvPr id="7" name="Group 11">
              <a:extLst>
                <a:ext uri="{FF2B5EF4-FFF2-40B4-BE49-F238E27FC236}">
                  <a16:creationId xmlns:a16="http://schemas.microsoft.com/office/drawing/2014/main" id="{24621C20-B9BA-42A0-1133-83CFCC3897E4}"/>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D2F51677-F5E8-79A1-FFB9-5C0AAC2B1FD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464235CB-374C-DA68-10F0-BBB6A02D043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2">
              <a:extLst>
                <a:ext uri="{FF2B5EF4-FFF2-40B4-BE49-F238E27FC236}">
                  <a16:creationId xmlns:a16="http://schemas.microsoft.com/office/drawing/2014/main" id="{64BA433B-7110-08D5-3CA4-C5F96789116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5" name="TextBox 13">
              <a:extLst>
                <a:ext uri="{FF2B5EF4-FFF2-40B4-BE49-F238E27FC236}">
                  <a16:creationId xmlns:a16="http://schemas.microsoft.com/office/drawing/2014/main" id="{BDEA6DCF-8D74-A5E4-85CC-0638994280F7}"/>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146579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F4383-521C-5D1C-25A7-AB4B3A48F1F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E17F10-DD37-52A4-1192-B0C20F203CB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8AD997D-5DB5-E36B-192A-253522C0A23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6BAC0F68-4569-C157-8B00-9292E51F434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226EB8BF-234D-C095-60E9-77F3F21B7B9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286C359-CFAF-2582-F239-228F6D77698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AE7A9529-F917-E395-5293-88D18C789CA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9F57E54-A5D6-C4F7-6853-73C21F47D60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BCA4AD53-0ADD-0C57-7CF2-86912E258B68}"/>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EE85204-775F-8E8A-0C20-09E014B40BBD}"/>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3F15C4D-93A7-8702-2207-35292FC7A50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B97BB1E6-3FB2-B847-832E-D8BCBCE05D9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F8D1BA3-852B-7A47-F1BE-A18AC4F4F90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CC7E9DEB-12BF-3FAE-3A47-A0017248BE6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196F109D-DEBD-C3C9-7972-B96A24B456D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DCD66DFE-6319-307C-CB3E-C366778A67E5}"/>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FCEE36E-2304-5CA5-5A6E-4E27207E1AA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1295AB5F-1A01-F2BF-0EF3-C7409375C4C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7AF786C6-10A7-E617-518D-50F2AE8C3E56}"/>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a:t>
            </a:r>
            <a:r>
              <a:rPr lang="en-PH" sz="1200" dirty="0"/>
              <a:t>PAES 607:2016 </a:t>
            </a:r>
            <a:endParaRPr lang="en-US" sz="1200" i="1" dirty="0">
              <a:solidFill>
                <a:srgbClr val="000000"/>
              </a:solidFill>
              <a:latin typeface="Nunito 1" panose="020B0604020202020204" charset="0"/>
              <a:ea typeface="Nunito 1 Bold"/>
              <a:cs typeface="Nunito 1 Bold"/>
              <a:sym typeface="Nunito 1 Bold"/>
            </a:endParaRP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824F6B20-046A-C5E7-70BD-AA89F95F584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pSp>
        <p:nvGrpSpPr>
          <p:cNvPr id="32" name="Group 31">
            <a:extLst>
              <a:ext uri="{FF2B5EF4-FFF2-40B4-BE49-F238E27FC236}">
                <a16:creationId xmlns:a16="http://schemas.microsoft.com/office/drawing/2014/main" id="{FFBD0D86-68EC-366B-88B6-A12B362D9593}"/>
              </a:ext>
            </a:extLst>
          </p:cNvPr>
          <p:cNvGrpSpPr/>
          <p:nvPr/>
        </p:nvGrpSpPr>
        <p:grpSpPr>
          <a:xfrm>
            <a:off x="2128722" y="2907242"/>
            <a:ext cx="14030556" cy="4320000"/>
            <a:chOff x="1915534" y="2907242"/>
            <a:chExt cx="14030556" cy="4320000"/>
          </a:xfrm>
        </p:grpSpPr>
        <p:pic>
          <p:nvPicPr>
            <p:cNvPr id="17" name="Picture 16">
              <a:extLst>
                <a:ext uri="{FF2B5EF4-FFF2-40B4-BE49-F238E27FC236}">
                  <a16:creationId xmlns:a16="http://schemas.microsoft.com/office/drawing/2014/main" id="{3348733B-4B7B-E8EA-73E8-9FCA0534DAC9}"/>
                </a:ext>
              </a:extLst>
            </p:cNvPr>
            <p:cNvPicPr>
              <a:picLocks noChangeAspect="1"/>
            </p:cNvPicPr>
            <p:nvPr/>
          </p:nvPicPr>
          <p:blipFill>
            <a:blip r:embed="rId3"/>
            <a:stretch>
              <a:fillRect/>
            </a:stretch>
          </p:blipFill>
          <p:spPr>
            <a:xfrm>
              <a:off x="1915534" y="2907242"/>
              <a:ext cx="7776000" cy="4320000"/>
            </a:xfrm>
            <a:prstGeom prst="rect">
              <a:avLst/>
            </a:prstGeom>
          </p:spPr>
        </p:pic>
        <p:grpSp>
          <p:nvGrpSpPr>
            <p:cNvPr id="31" name="Group 30">
              <a:extLst>
                <a:ext uri="{FF2B5EF4-FFF2-40B4-BE49-F238E27FC236}">
                  <a16:creationId xmlns:a16="http://schemas.microsoft.com/office/drawing/2014/main" id="{2544AE6A-39BF-6D46-0A73-2F2FFE70FB3A}"/>
                </a:ext>
              </a:extLst>
            </p:cNvPr>
            <p:cNvGrpSpPr>
              <a:grpSpLocks noChangeAspect="1"/>
            </p:cNvGrpSpPr>
            <p:nvPr/>
          </p:nvGrpSpPr>
          <p:grpSpPr>
            <a:xfrm>
              <a:off x="9873248" y="2907242"/>
              <a:ext cx="6072842" cy="4320000"/>
              <a:chOff x="8488247" y="2003436"/>
              <a:chExt cx="8345065" cy="6213570"/>
            </a:xfrm>
          </p:grpSpPr>
          <p:pic>
            <p:nvPicPr>
              <p:cNvPr id="29" name="Picture 28">
                <a:extLst>
                  <a:ext uri="{FF2B5EF4-FFF2-40B4-BE49-F238E27FC236}">
                    <a16:creationId xmlns:a16="http://schemas.microsoft.com/office/drawing/2014/main" id="{F0C2CE5B-A764-2C6E-1E9C-00427710008A}"/>
                  </a:ext>
                </a:extLst>
              </p:cNvPr>
              <p:cNvPicPr>
                <a:picLocks noChangeAspect="1"/>
              </p:cNvPicPr>
              <p:nvPr/>
            </p:nvPicPr>
            <p:blipFill>
              <a:blip r:embed="rId4"/>
              <a:stretch>
                <a:fillRect/>
              </a:stretch>
            </p:blipFill>
            <p:spPr>
              <a:xfrm>
                <a:off x="8488247" y="2005839"/>
                <a:ext cx="8345065" cy="6211167"/>
              </a:xfrm>
              <a:prstGeom prst="rect">
                <a:avLst/>
              </a:prstGeom>
            </p:spPr>
          </p:pic>
          <p:sp>
            <p:nvSpPr>
              <p:cNvPr id="30" name="Rectangle 29">
                <a:extLst>
                  <a:ext uri="{FF2B5EF4-FFF2-40B4-BE49-F238E27FC236}">
                    <a16:creationId xmlns:a16="http://schemas.microsoft.com/office/drawing/2014/main" id="{584A35D7-B249-700F-6951-678916B055C7}"/>
                  </a:ext>
                </a:extLst>
              </p:cNvPr>
              <p:cNvSpPr/>
              <p:nvPr/>
            </p:nvSpPr>
            <p:spPr>
              <a:xfrm>
                <a:off x="8500990" y="2003436"/>
                <a:ext cx="8186810" cy="49688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8" name="Picture 17">
                <a:extLst>
                  <a:ext uri="{FF2B5EF4-FFF2-40B4-BE49-F238E27FC236}">
                    <a16:creationId xmlns:a16="http://schemas.microsoft.com/office/drawing/2014/main" id="{DC2D2133-DC44-0B8A-AE03-3A726429BCAD}"/>
                  </a:ext>
                </a:extLst>
              </p:cNvPr>
              <p:cNvPicPr>
                <a:picLocks noChangeAspect="1"/>
              </p:cNvPicPr>
              <p:nvPr/>
            </p:nvPicPr>
            <p:blipFill>
              <a:blip r:embed="rId5"/>
              <a:srcRect b="13722"/>
              <a:stretch/>
            </p:blipFill>
            <p:spPr>
              <a:xfrm>
                <a:off x="9384178" y="2139897"/>
                <a:ext cx="6553201" cy="5702406"/>
              </a:xfrm>
              <a:prstGeom prst="rect">
                <a:avLst/>
              </a:prstGeom>
            </p:spPr>
          </p:pic>
        </p:grpSp>
      </p:grpSp>
      <p:grpSp>
        <p:nvGrpSpPr>
          <p:cNvPr id="14" name="Group 13">
            <a:extLst>
              <a:ext uri="{FF2B5EF4-FFF2-40B4-BE49-F238E27FC236}">
                <a16:creationId xmlns:a16="http://schemas.microsoft.com/office/drawing/2014/main" id="{34F24F31-DA21-4252-A238-58660DA5A8AB}"/>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1B8B7B04-3544-6E94-A336-284D9F32E0D4}"/>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CCC3FBA5-D6C9-2803-0BEB-3E717057CD4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E30E01E7-23EF-B248-C049-A8A75600912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7FCAB299-F62C-55C6-708B-A3251872642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976A67E7-D0AC-7AC9-C539-473AA627CA8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48748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D4A86-D243-FC6E-FE05-41E7181BC25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56EEFE8-CD73-C132-5B40-D323A9FAD54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62830B4-BB5C-F5A5-9152-62C478DD640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713C84FF-0CF1-A635-06AB-B3CE18908E42}"/>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0D2E97C4-4430-5FB8-A7B8-BE8F562D95D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FE39447-F0A7-4833-20E4-190ACF397D5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F0480A2-506B-5E09-7AB1-0C327CEACF4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772513C-8000-EB89-B402-CE83B78A045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0CBF0C4-A6E3-2B4B-F7ED-FD1A26EC81E9}"/>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6945881-8A85-EF2E-7A36-8C187529576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7F51F44-BC27-82FC-5E2F-B115DC1C895D}"/>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2D262E2F-731A-90E8-B226-917FE7F93FD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1D9DBEC-6895-3F41-C084-810492D1312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B9822579-4D0D-EACA-603E-A7D31697E01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08735E8-B8D6-41F3-9B70-71FE9F67936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3A824C80-5E4C-D1C9-DDB4-8BBD1386BC8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5597839-2303-1BBF-A06B-7F89A349072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E3B3DB2F-44EE-C822-00C0-A7D5FFA64B5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37ABA49A-75F7-CAAE-9162-07972139FD19}"/>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p:sp>
        <p:nvSpPr>
          <p:cNvPr id="16" name="TextBox 15">
            <a:extLst>
              <a:ext uri="{FF2B5EF4-FFF2-40B4-BE49-F238E27FC236}">
                <a16:creationId xmlns:a16="http://schemas.microsoft.com/office/drawing/2014/main" id="{AA12BF3A-43BF-50A4-2CCB-6803DA1826E0}"/>
              </a:ext>
            </a:extLst>
          </p:cNvPr>
          <p:cNvSpPr txBox="1"/>
          <p:nvPr/>
        </p:nvSpPr>
        <p:spPr>
          <a:xfrm>
            <a:off x="1714500" y="3913789"/>
            <a:ext cx="14935200" cy="3323987"/>
          </a:xfrm>
          <a:prstGeom prst="rect">
            <a:avLst/>
          </a:prstGeom>
        </p:spPr>
        <p:txBody>
          <a:bodyPr wrap="square" lIns="0" tIns="0" rIns="0" bIns="0" rtlCol="0" anchor="t">
            <a:spAutoFit/>
          </a:bodyPr>
          <a:lstStyle/>
          <a:p>
            <a:r>
              <a:rPr lang="en-PH" sz="2400" b="1" dirty="0">
                <a:solidFill>
                  <a:srgbClr val="000000"/>
                </a:solidFill>
                <a:latin typeface="Nunito 1" panose="020B0604020202020204" charset="0"/>
                <a:ea typeface="Nunito 1 Bold"/>
                <a:cs typeface="Nunito 1 Bold"/>
                <a:sym typeface="Nunito 1 Bold"/>
              </a:rPr>
              <a:t>3.   Sub irrigation and Drip irrigation Method</a:t>
            </a:r>
          </a:p>
          <a:p>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Sub irrigation – applying water to the soil directly under the ground surface</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Drip irrigation – also trickle irrigation. Allows frequent or slow application of water either directly on land surface or into the root zones of crops</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Drip or trickle irrigation is considered the most efficient irrigation method.</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F027BD28-865B-5609-DED1-4EC205A415F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21" name="TextBox 15">
            <a:extLst>
              <a:ext uri="{FF2B5EF4-FFF2-40B4-BE49-F238E27FC236}">
                <a16:creationId xmlns:a16="http://schemas.microsoft.com/office/drawing/2014/main" id="{CC7B952E-2CB3-5D4E-5C3B-A8A9A05A9C3F}"/>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IRRIGATION METHODS</a:t>
            </a:r>
          </a:p>
        </p:txBody>
      </p:sp>
      <p:sp>
        <p:nvSpPr>
          <p:cNvPr id="14" name="TextBox 13">
            <a:extLst>
              <a:ext uri="{FF2B5EF4-FFF2-40B4-BE49-F238E27FC236}">
                <a16:creationId xmlns:a16="http://schemas.microsoft.com/office/drawing/2014/main" id="{F3E899DC-9C15-930A-9299-BD39F232925D}"/>
              </a:ext>
            </a:extLst>
          </p:cNvPr>
          <p:cNvSpPr txBox="1"/>
          <p:nvPr/>
        </p:nvSpPr>
        <p:spPr>
          <a:xfrm>
            <a:off x="1676400" y="2941299"/>
            <a:ext cx="14935200" cy="369332"/>
          </a:xfrm>
          <a:prstGeom prst="rect">
            <a:avLst/>
          </a:prstGeom>
        </p:spPr>
        <p:txBody>
          <a:bodyPr wrap="square" lIns="0" tIns="0" rIns="0" bIns="0" rtlCol="0" anchor="t">
            <a:spAutoFit/>
          </a:bodyPr>
          <a:lstStyle/>
          <a:p>
            <a:pPr marL="92075"/>
            <a:r>
              <a:rPr lang="en-US" sz="2400" b="1" dirty="0">
                <a:solidFill>
                  <a:srgbClr val="000000"/>
                </a:solidFill>
                <a:latin typeface="Nunito 1" panose="020B0604020202020204" charset="0"/>
                <a:ea typeface="Nunito 1 Bold"/>
                <a:cs typeface="Nunito 1 Bold"/>
                <a:sym typeface="Nunito 1 Bold"/>
              </a:rPr>
              <a:t>2.   Sprinkler irrigation </a:t>
            </a:r>
            <a:r>
              <a:rPr lang="en-US" sz="2400" dirty="0">
                <a:solidFill>
                  <a:srgbClr val="000000"/>
                </a:solidFill>
                <a:latin typeface="Nunito 1" panose="020B0604020202020204" charset="0"/>
                <a:ea typeface="Nunito 1 Bold"/>
                <a:cs typeface="Nunito 1 Bold"/>
                <a:sym typeface="Nunito 1 Bold"/>
              </a:rPr>
              <a:t>– application of water in the form of spray over the land  </a:t>
            </a:r>
            <a:endParaRPr lang="en-PH" sz="2400" dirty="0">
              <a:solidFill>
                <a:srgbClr val="000000"/>
              </a:solidFill>
              <a:latin typeface="Nunito 1" panose="020B0604020202020204" charset="0"/>
              <a:ea typeface="Nunito 1 Bold"/>
              <a:cs typeface="Nunito 1 Bold"/>
              <a:sym typeface="Nunito 1 Bold"/>
            </a:endParaRPr>
          </a:p>
        </p:txBody>
      </p:sp>
      <p:grpSp>
        <p:nvGrpSpPr>
          <p:cNvPr id="15" name="Group 14">
            <a:extLst>
              <a:ext uri="{FF2B5EF4-FFF2-40B4-BE49-F238E27FC236}">
                <a16:creationId xmlns:a16="http://schemas.microsoft.com/office/drawing/2014/main" id="{DB401033-92AD-7C01-6694-2FA3D4F6E652}"/>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3B46F97D-999F-E291-1F52-65AB025E260F}"/>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8CF6F607-CCF3-A554-E66E-5A1AF1777AC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236CB59F-8F67-F592-D3D7-8A875EA7858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F47FB914-4072-DDEB-63E9-35C5AC752F1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7E96CF2C-3DD3-4F9F-FA24-53F0D8C5D8B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528513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D63C-8DCC-A8C1-68E4-5D95258457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AC575D-9644-C221-22AC-3EFCC1E888C6}"/>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33E86CD-B85D-8256-0D36-7A8841B306F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157ADB0-067F-42BC-994A-DEC27BE35B3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4A46302-0F07-5028-CD05-16A97AE0F342}"/>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5EDF9B0-7BA5-9C6D-C1B9-5EC6C4CF933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F9A33A0-9FDC-E7C0-D498-1EF9B086845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41C0EF5B-3A2A-FF02-D7B1-3A604924EF8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CF62755-43D1-542E-5529-A19833A7B328}"/>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F136AD7-3A9D-5183-C3F8-09D9CC436F1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3B98013-D29D-4585-6707-CD83420FD0E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0D2F4C2-6499-692D-626F-CC9D96E72B5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0E60CE6-80C4-2F87-3F06-A88E39069A7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58559ABE-ABDB-25DB-0760-77BEDBF2BDF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BA7305A-0DC1-41D1-6754-4D085373B4B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4A7ABEE5-DC8D-8493-E8BA-6715576DF4E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D3D289C-4B14-D105-E32E-51FE344CB20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7CF511D-517B-9DE1-271D-89930F84B6F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D8A86081-ACBF-A0A8-5216-080359C9F3EB}"/>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1264A45A-ED0B-C703-EEBE-EBC9707DFC2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4" name="TextBox 13">
            <a:extLst>
              <a:ext uri="{FF2B5EF4-FFF2-40B4-BE49-F238E27FC236}">
                <a16:creationId xmlns:a16="http://schemas.microsoft.com/office/drawing/2014/main" id="{B0BCF735-4D8D-F4CE-BA7A-020F6C9301D7}"/>
              </a:ext>
            </a:extLst>
          </p:cNvPr>
          <p:cNvSpPr txBox="1"/>
          <p:nvPr/>
        </p:nvSpPr>
        <p:spPr>
          <a:xfrm>
            <a:off x="1693265" y="2916242"/>
            <a:ext cx="9525000" cy="5170646"/>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The water is directed to the base of the plant.  Water is applied to the soil through small orifices . </a:t>
            </a:r>
          </a:p>
          <a:p>
            <a:pPr algn="just"/>
            <a:endParaRPr lang="en-US" sz="24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The surface is rarely wet since the water is supplied from the soil underneath.  This requires complete control of the water table so that the root zone is kept relatively free of excess water but is continually supplied with capillary moisture during the cropping season. </a:t>
            </a:r>
          </a:p>
          <a:p>
            <a:pPr algn="just"/>
            <a:endParaRPr lang="en-US" sz="24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a:p>
            <a:pPr algn="just"/>
            <a:endParaRPr lang="en-US" sz="24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It is accomplished by running water through small channels or furrows while it moves down or across the slope of the field.</a:t>
            </a:r>
          </a:p>
        </p:txBody>
      </p:sp>
      <p:sp>
        <p:nvSpPr>
          <p:cNvPr id="15" name="TextBox 14">
            <a:extLst>
              <a:ext uri="{FF2B5EF4-FFF2-40B4-BE49-F238E27FC236}">
                <a16:creationId xmlns:a16="http://schemas.microsoft.com/office/drawing/2014/main" id="{85F29262-BB2B-7801-01F1-1D45BB83B77F}"/>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grpSp>
        <p:nvGrpSpPr>
          <p:cNvPr id="18" name="Group 17">
            <a:extLst>
              <a:ext uri="{FF2B5EF4-FFF2-40B4-BE49-F238E27FC236}">
                <a16:creationId xmlns:a16="http://schemas.microsoft.com/office/drawing/2014/main" id="{A342C0FB-6C87-B86B-15F5-81EEDBCAE6BA}"/>
              </a:ext>
            </a:extLst>
          </p:cNvPr>
          <p:cNvGrpSpPr/>
          <p:nvPr/>
        </p:nvGrpSpPr>
        <p:grpSpPr>
          <a:xfrm>
            <a:off x="11574522" y="2919528"/>
            <a:ext cx="4998442" cy="4814613"/>
            <a:chOff x="11574522" y="2919528"/>
            <a:chExt cx="4998442" cy="4814613"/>
          </a:xfrm>
        </p:grpSpPr>
        <p:sp>
          <p:nvSpPr>
            <p:cNvPr id="16" name="TextBox 15">
              <a:extLst>
                <a:ext uri="{FF2B5EF4-FFF2-40B4-BE49-F238E27FC236}">
                  <a16:creationId xmlns:a16="http://schemas.microsoft.com/office/drawing/2014/main" id="{55F29419-1C52-C33C-8105-82A45BD62361}"/>
                </a:ext>
              </a:extLst>
            </p:cNvPr>
            <p:cNvSpPr txBox="1"/>
            <p:nvPr/>
          </p:nvSpPr>
          <p:spPr>
            <a:xfrm>
              <a:off x="13258264" y="2919528"/>
              <a:ext cx="3314700" cy="4801314"/>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Furrow irrigation</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Sub irrigation</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Drip/trickle irrigation </a:t>
              </a:r>
            </a:p>
          </p:txBody>
        </p:sp>
        <p:sp>
          <p:nvSpPr>
            <p:cNvPr id="17" name="TextBox 16">
              <a:extLst>
                <a:ext uri="{FF2B5EF4-FFF2-40B4-BE49-F238E27FC236}">
                  <a16:creationId xmlns:a16="http://schemas.microsoft.com/office/drawing/2014/main" id="{13845631-B441-B3FC-3F6B-9AA23D630266}"/>
                </a:ext>
              </a:extLst>
            </p:cNvPr>
            <p:cNvSpPr txBox="1"/>
            <p:nvPr/>
          </p:nvSpPr>
          <p:spPr>
            <a:xfrm>
              <a:off x="11574522" y="2932827"/>
              <a:ext cx="690021" cy="4801314"/>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 </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  </a:t>
              </a: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PH" sz="2400" dirty="0">
                <a:solidFill>
                  <a:srgbClr val="000000"/>
                </a:solidFill>
                <a:latin typeface="Nunito 1" panose="020B0604020202020204" charset="0"/>
                <a:ea typeface="Nunito 1 Bold"/>
                <a:cs typeface="Nunito 1 Bold"/>
                <a:sym typeface="Nunito 1 Bold"/>
              </a:endParaRPr>
            </a:p>
            <a:p>
              <a:endParaRPr lang="en-PH"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PH" sz="2400" dirty="0">
                  <a:solidFill>
                    <a:srgbClr val="000000"/>
                  </a:solidFill>
                  <a:latin typeface="Nunito 1" panose="020B0604020202020204" charset="0"/>
                  <a:ea typeface="Nunito 1 Bold"/>
                  <a:cs typeface="Nunito 1 Bold"/>
                  <a:sym typeface="Nunito 1 Bold"/>
                </a:rPr>
                <a:t> </a:t>
              </a:r>
            </a:p>
          </p:txBody>
        </p:sp>
      </p:grpSp>
      <p:cxnSp>
        <p:nvCxnSpPr>
          <p:cNvPr id="28" name="Straight Connector 27">
            <a:extLst>
              <a:ext uri="{FF2B5EF4-FFF2-40B4-BE49-F238E27FC236}">
                <a16:creationId xmlns:a16="http://schemas.microsoft.com/office/drawing/2014/main" id="{A55B91E0-157B-9B35-B14D-0F1BC9B8F744}"/>
              </a:ext>
            </a:extLst>
          </p:cNvPr>
          <p:cNvCxnSpPr/>
          <p:nvPr/>
        </p:nvCxnSpPr>
        <p:spPr>
          <a:xfrm>
            <a:off x="11629068" y="3074909"/>
            <a:ext cx="1683742" cy="441960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A56750B-D1D8-DB2B-3A5C-9746D8E551B4}"/>
              </a:ext>
            </a:extLst>
          </p:cNvPr>
          <p:cNvCxnSpPr/>
          <p:nvPr/>
        </p:nvCxnSpPr>
        <p:spPr>
          <a:xfrm flipV="1">
            <a:off x="11652611" y="3119659"/>
            <a:ext cx="1683742" cy="4343400"/>
          </a:xfrm>
          <a:prstGeom prst="line">
            <a:avLst/>
          </a:prstGeom>
          <a:ln w="57150"/>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a16="http://schemas.microsoft.com/office/drawing/2014/main" id="{8CA949ED-4F0A-4900-3D3B-3FEA48A09B38}"/>
              </a:ext>
            </a:extLst>
          </p:cNvPr>
          <p:cNvCxnSpPr>
            <a:stCxn id="17" idx="1"/>
            <a:endCxn id="16" idx="1"/>
          </p:cNvCxnSpPr>
          <p:nvPr/>
        </p:nvCxnSpPr>
        <p:spPr>
          <a:xfrm flipV="1">
            <a:off x="11574522" y="5320185"/>
            <a:ext cx="1683742" cy="13299"/>
          </a:xfrm>
          <a:prstGeom prst="line">
            <a:avLst/>
          </a:prstGeom>
          <a:ln w="57150"/>
        </p:spPr>
        <p:style>
          <a:lnRef idx="1">
            <a:schemeClr val="dk1"/>
          </a:lnRef>
          <a:fillRef idx="0">
            <a:schemeClr val="dk1"/>
          </a:fillRef>
          <a:effectRef idx="0">
            <a:schemeClr val="dk1"/>
          </a:effectRef>
          <a:fontRef idx="minor">
            <a:schemeClr val="tx1"/>
          </a:fontRef>
        </p:style>
      </p:cxnSp>
      <p:grpSp>
        <p:nvGrpSpPr>
          <p:cNvPr id="21" name="Group 20">
            <a:extLst>
              <a:ext uri="{FF2B5EF4-FFF2-40B4-BE49-F238E27FC236}">
                <a16:creationId xmlns:a16="http://schemas.microsoft.com/office/drawing/2014/main" id="{7594D080-D83A-006D-3B04-78005B32DEBF}"/>
              </a:ext>
            </a:extLst>
          </p:cNvPr>
          <p:cNvGrpSpPr/>
          <p:nvPr/>
        </p:nvGrpSpPr>
        <p:grpSpPr>
          <a:xfrm>
            <a:off x="0" y="9599693"/>
            <a:ext cx="18287999" cy="687306"/>
            <a:chOff x="0" y="9599693"/>
            <a:chExt cx="18287999" cy="687306"/>
          </a:xfrm>
        </p:grpSpPr>
        <p:grpSp>
          <p:nvGrpSpPr>
            <p:cNvPr id="27" name="Group 11">
              <a:extLst>
                <a:ext uri="{FF2B5EF4-FFF2-40B4-BE49-F238E27FC236}">
                  <a16:creationId xmlns:a16="http://schemas.microsoft.com/office/drawing/2014/main" id="{CDC45B9F-7931-D54F-9BC6-E533722C545E}"/>
                </a:ext>
              </a:extLst>
            </p:cNvPr>
            <p:cNvGrpSpPr/>
            <p:nvPr/>
          </p:nvGrpSpPr>
          <p:grpSpPr>
            <a:xfrm>
              <a:off x="0" y="9599694"/>
              <a:ext cx="18287999" cy="687305"/>
              <a:chOff x="0" y="0"/>
              <a:chExt cx="5260714" cy="490218"/>
            </a:xfrm>
          </p:grpSpPr>
          <p:sp>
            <p:nvSpPr>
              <p:cNvPr id="33" name="Freeform 12">
                <a:extLst>
                  <a:ext uri="{FF2B5EF4-FFF2-40B4-BE49-F238E27FC236}">
                    <a16:creationId xmlns:a16="http://schemas.microsoft.com/office/drawing/2014/main" id="{FAC89C9C-DA66-A908-5C10-78352EF7C5B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4" name="TextBox 13">
                <a:extLst>
                  <a:ext uri="{FF2B5EF4-FFF2-40B4-BE49-F238E27FC236}">
                    <a16:creationId xmlns:a16="http://schemas.microsoft.com/office/drawing/2014/main" id="{8F0DD4DD-54E2-0881-BAE2-267A2757DFD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12">
              <a:extLst>
                <a:ext uri="{FF2B5EF4-FFF2-40B4-BE49-F238E27FC236}">
                  <a16:creationId xmlns:a16="http://schemas.microsoft.com/office/drawing/2014/main" id="{896613D7-5E8C-ABC2-7C60-C2F05056828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31" name="TextBox 13">
              <a:extLst>
                <a:ext uri="{FF2B5EF4-FFF2-40B4-BE49-F238E27FC236}">
                  <a16:creationId xmlns:a16="http://schemas.microsoft.com/office/drawing/2014/main" id="{41162CA3-CAB0-076B-901B-76F7F66CADC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01004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C112-DB5D-DFE8-CE8D-66A7E3E408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8B84F6B-2278-9FC3-4906-156883DFFBC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8188FD24-4F2F-E25D-011B-0BEAC605429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8BABBFC-D8DE-FA2C-5A83-8617481A098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EF1CD01-4C24-4016-4EC2-784D398787F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5C4EA58B-9B56-10DE-51B7-EF79B82943E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1753758-2FD5-6066-E217-F728612125F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C879399-37CA-282E-924E-074AEA1016C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BE6C2B4B-10E4-3673-D447-7E1ECD1AC408}"/>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272788B-D32D-EEE4-020E-38C909B9FA32}"/>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C54C99B7-F709-56D4-CC72-FE1F526684A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B6BF41B6-20FB-5C4D-1EDB-41B9CD5B135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87F6C5EA-BA42-8AD8-E939-AA4C03204BB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BBDB3479-0FE7-0EE7-46D5-AA159AB7BBB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09E95835-0FE9-40F8-D035-86C34A1B311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6759B81E-9718-D23F-B66B-3B210AB86B0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99F28B4-A420-F8DC-7627-F9109CDD24B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D00993F-9604-D1B0-A38B-5677EA07C8A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3F9AC906-48CE-6631-584B-73ACCE76E6D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6FD682B0-DFA3-5F85-BBE5-185550DB509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21" name="TextBox 15">
            <a:extLst>
              <a:ext uri="{FF2B5EF4-FFF2-40B4-BE49-F238E27FC236}">
                <a16:creationId xmlns:a16="http://schemas.microsoft.com/office/drawing/2014/main" id="{2169C63D-1BB3-1336-5200-D412A0C5D541}"/>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CONVEYANCE, DISTRIBUTION AND MANAGEMENT STRUCTURES</a:t>
            </a:r>
          </a:p>
        </p:txBody>
      </p:sp>
      <p:sp>
        <p:nvSpPr>
          <p:cNvPr id="14" name="TextBox 13">
            <a:extLst>
              <a:ext uri="{FF2B5EF4-FFF2-40B4-BE49-F238E27FC236}">
                <a16:creationId xmlns:a16="http://schemas.microsoft.com/office/drawing/2014/main" id="{BF48FA08-FC20-B2A0-669D-ED115867A64B}"/>
              </a:ext>
            </a:extLst>
          </p:cNvPr>
          <p:cNvSpPr txBox="1"/>
          <p:nvPr/>
        </p:nvSpPr>
        <p:spPr>
          <a:xfrm>
            <a:off x="1676400" y="2941299"/>
            <a:ext cx="14935200" cy="2585323"/>
          </a:xfrm>
          <a:prstGeom prst="rect">
            <a:avLst/>
          </a:prstGeom>
        </p:spPr>
        <p:txBody>
          <a:bodyPr wrap="square" lIns="0" tIns="0" rIns="0" bIns="0" rtlCol="0" anchor="t">
            <a:spAutoFit/>
          </a:bodyPr>
          <a:lstStyle/>
          <a:p>
            <a:pPr marL="549275" indent="-457200">
              <a:buFont typeface="+mj-lt"/>
              <a:buAutoNum type="arabicPeriod"/>
            </a:pPr>
            <a:r>
              <a:rPr lang="en-US" sz="2400" b="1" dirty="0">
                <a:solidFill>
                  <a:srgbClr val="000000"/>
                </a:solidFill>
                <a:latin typeface="Nunito 1" panose="020B0604020202020204" charset="0"/>
                <a:ea typeface="Nunito 1 Bold"/>
                <a:cs typeface="Nunito 1 Bold"/>
                <a:sym typeface="Nunito 1 Bold"/>
              </a:rPr>
              <a:t>Headwork structures</a:t>
            </a:r>
          </a:p>
          <a:p>
            <a:pPr marL="549275" indent="-457200">
              <a:buFont typeface="+mj-lt"/>
              <a:buAutoNum type="arabicPeriod"/>
            </a:pPr>
            <a:endParaRPr lang="en-US" sz="2400" b="1" dirty="0">
              <a:solidFill>
                <a:srgbClr val="000000"/>
              </a:solidFill>
              <a:latin typeface="Nunito 1" panose="020B0604020202020204" charset="0"/>
              <a:ea typeface="Nunito 1 Bold"/>
              <a:cs typeface="Nunito 1 Bold"/>
              <a:sym typeface="Nunito 1 Bold"/>
            </a:endParaRPr>
          </a:p>
          <a:p>
            <a:pPr marL="549275" indent="-457200">
              <a:buFont typeface="+mj-lt"/>
              <a:buAutoNum type="arabicPeriod"/>
            </a:pPr>
            <a:r>
              <a:rPr lang="en-US" sz="2400" b="1" dirty="0">
                <a:solidFill>
                  <a:srgbClr val="000000"/>
                </a:solidFill>
                <a:latin typeface="Nunito 1" panose="020B0604020202020204" charset="0"/>
                <a:ea typeface="Nunito 1 Bold"/>
                <a:cs typeface="Nunito 1 Bold"/>
                <a:sym typeface="Nunito 1 Bold"/>
              </a:rPr>
              <a:t>Conveyance structures</a:t>
            </a:r>
          </a:p>
          <a:p>
            <a:pPr marL="549275" indent="-457200">
              <a:buFont typeface="+mj-lt"/>
              <a:buAutoNum type="arabicPeriod"/>
            </a:pPr>
            <a:endParaRPr lang="en-US" sz="2400" b="1" dirty="0">
              <a:solidFill>
                <a:srgbClr val="000000"/>
              </a:solidFill>
              <a:latin typeface="Nunito 1" panose="020B0604020202020204" charset="0"/>
              <a:ea typeface="Nunito 1 Bold"/>
              <a:cs typeface="Nunito 1 Bold"/>
              <a:sym typeface="Nunito 1 Bold"/>
            </a:endParaRPr>
          </a:p>
          <a:p>
            <a:pPr marL="549275" indent="-457200">
              <a:buFont typeface="+mj-lt"/>
              <a:buAutoNum type="arabicPeriod"/>
            </a:pPr>
            <a:r>
              <a:rPr lang="en-US" sz="2400" b="1" dirty="0">
                <a:solidFill>
                  <a:srgbClr val="000000"/>
                </a:solidFill>
                <a:latin typeface="Nunito 1" panose="020B0604020202020204" charset="0"/>
                <a:ea typeface="Nunito 1 Bold"/>
                <a:cs typeface="Nunito 1 Bold"/>
                <a:sym typeface="Nunito 1 Bold"/>
              </a:rPr>
              <a:t>Control structures</a:t>
            </a:r>
          </a:p>
          <a:p>
            <a:pPr marL="549275" indent="-457200">
              <a:buFont typeface="+mj-lt"/>
              <a:buAutoNum type="arabicPeriod"/>
            </a:pPr>
            <a:endParaRPr lang="en-US" sz="2400" b="1" dirty="0">
              <a:solidFill>
                <a:srgbClr val="000000"/>
              </a:solidFill>
              <a:latin typeface="Nunito 1" panose="020B0604020202020204" charset="0"/>
              <a:ea typeface="Nunito 1 Bold"/>
              <a:cs typeface="Nunito 1 Bold"/>
              <a:sym typeface="Nunito 1 Bold"/>
            </a:endParaRPr>
          </a:p>
          <a:p>
            <a:pPr marL="549275" indent="-457200">
              <a:buFont typeface="+mj-lt"/>
              <a:buAutoNum type="arabicPeriod"/>
            </a:pPr>
            <a:r>
              <a:rPr lang="en-US" sz="2400" b="1" dirty="0">
                <a:solidFill>
                  <a:srgbClr val="000000"/>
                </a:solidFill>
                <a:latin typeface="Nunito 1" panose="020B0604020202020204" charset="0"/>
                <a:ea typeface="Nunito 1 Bold"/>
                <a:cs typeface="Nunito 1 Bold"/>
                <a:sym typeface="Nunito 1 Bold"/>
              </a:rPr>
              <a:t>Protective structures</a:t>
            </a:r>
            <a:endParaRPr lang="en-PH" sz="2400" dirty="0">
              <a:solidFill>
                <a:srgbClr val="000000"/>
              </a:solidFill>
              <a:latin typeface="Nunito 1" panose="020B0604020202020204" charset="0"/>
              <a:ea typeface="Nunito 1 Bold"/>
              <a:cs typeface="Nunito 1 Bold"/>
              <a:sym typeface="Nunito 1 Bold"/>
            </a:endParaRPr>
          </a:p>
        </p:txBody>
      </p:sp>
      <p:grpSp>
        <p:nvGrpSpPr>
          <p:cNvPr id="15" name="Group 14">
            <a:extLst>
              <a:ext uri="{FF2B5EF4-FFF2-40B4-BE49-F238E27FC236}">
                <a16:creationId xmlns:a16="http://schemas.microsoft.com/office/drawing/2014/main" id="{A5518472-6950-1A8E-C31E-1C963CB3F2E7}"/>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B8C65CA3-9984-C31E-CB50-0E0D8EF583EE}"/>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5282B61E-6A68-CE3C-FE05-486F60832D3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2C69F704-3768-CE2C-EB7F-9B602D8CC52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FBF83CE9-6B1D-085E-B26C-2184F8B722E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053CCA4F-1C39-FD06-9150-FC4D91B7EE8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458515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554B9-1B6B-0CAE-D92E-DA1EDEE12B6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B1CA88D-E392-A428-0C0C-B176D1EF8AA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6D0AB0B1-6983-A231-AECF-AE114C43BF4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83B1365-147A-42AE-0D66-D13E35C450F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DA43379-3A7B-54BD-2179-43B112C00F0A}"/>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D1ADC10D-F5D6-2ABF-EBDB-FCACF4ACE74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C597628-1718-419E-535F-9F9D08BEA5C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7C4D037-5775-9198-C1E0-074E62972BA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23D07CCB-E9BC-46AD-706C-89EC4A45F51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874A5BB-37E7-5245-A1AA-EE5E80493669}"/>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7AD069C-6E18-F898-A7F9-7BC0FF9CC6C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BD0FF31-AD45-2399-8350-94166F4D51E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466CC23-EEAB-6115-A934-E77C1989E7C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988C9CBC-1810-9DE4-0D1A-2795F388B814}"/>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C9B0E28E-3BBB-F645-0299-323004377A1A}"/>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It refers to the composite parts of the irrigation system that divert water from natural bodies of water such as rivers, streams and lakes.</a:t>
            </a:r>
          </a:p>
        </p:txBody>
      </p:sp>
      <p:sp>
        <p:nvSpPr>
          <p:cNvPr id="19" name="TextBox 12">
            <a:extLst>
              <a:ext uri="{FF2B5EF4-FFF2-40B4-BE49-F238E27FC236}">
                <a16:creationId xmlns:a16="http://schemas.microsoft.com/office/drawing/2014/main" id="{93EA07B4-61B5-F5C4-ED32-ABFACC8A38D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F61A3A93-1BE1-A525-3D0B-7B610F3AA21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0095226F-27F1-EFEE-F119-5B9D7C86B1C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255BBDE-1B23-1108-8C94-3AB17221E03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60EAFC9-F8FD-5916-3017-B4F3F6E7AFC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68D1F593-D431-1709-06D8-71ADB17D92B4}"/>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https://www.bfar.da.gov.ph/wp-content/uploads/2021/03/Republic-Act-8435.pdf</a:t>
            </a:r>
          </a:p>
        </p:txBody>
      </p:sp>
      <p:sp>
        <p:nvSpPr>
          <p:cNvPr id="16" name="TextBox 15">
            <a:extLst>
              <a:ext uri="{FF2B5EF4-FFF2-40B4-BE49-F238E27FC236}">
                <a16:creationId xmlns:a16="http://schemas.microsoft.com/office/drawing/2014/main" id="{047A177B-7BB4-EEFE-F495-60B2815D954F}"/>
              </a:ext>
            </a:extLst>
          </p:cNvPr>
          <p:cNvSpPr txBox="1"/>
          <p:nvPr/>
        </p:nvSpPr>
        <p:spPr>
          <a:xfrm>
            <a:off x="1676400" y="2941299"/>
            <a:ext cx="14935200" cy="3323987"/>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Headworks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Diversion canal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Channel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Headgate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p:txBody>
      </p:sp>
      <p:sp>
        <p:nvSpPr>
          <p:cNvPr id="17" name="Oval 16">
            <a:extLst>
              <a:ext uri="{FF2B5EF4-FFF2-40B4-BE49-F238E27FC236}">
                <a16:creationId xmlns:a16="http://schemas.microsoft.com/office/drawing/2014/main" id="{8099E7B5-77B2-F99B-9044-BB3220455A53}"/>
              </a:ext>
            </a:extLst>
          </p:cNvPr>
          <p:cNvSpPr/>
          <p:nvPr/>
        </p:nvSpPr>
        <p:spPr>
          <a:xfrm>
            <a:off x="1505640" y="286793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7228E1AA-3722-6F89-D815-04611E1CDF82}"/>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32F3AC26-AA7E-349C-DB26-34D5B1C716A8}"/>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CDF90312-DA9D-60EA-370C-CF820B72ABE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DCC8D357-CC61-2AA5-DE5D-7AA6A788152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1E35A975-FE17-4D8B-B5B2-DAFC6B88C0D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F783A702-A93C-BB16-C1F1-F81A75A8470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45593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29C45-5C94-07D5-DB41-01329288DF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2D9879D-5510-64F5-BA3C-BD5D6812B16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737EE7E-FB3F-CA97-D812-7207BD4E45C4}"/>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6C6AE15E-2986-C47F-6736-4A91FB6D1840}"/>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6E198D1E-4480-2C67-FF54-4FDE86945EE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4510E2F4-0FAE-123F-0039-AE93846F872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C53B1F6-6EFA-4D21-2C8B-FE881E67AC9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3B41061-9D39-826D-93C9-A506F889EA6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87228C2B-FADF-AF22-97D3-3E62A19E14E1}"/>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39E4D4D7-9F05-3339-3225-4C99A254324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108360D-2E90-D32B-4CC8-AE21A2011C7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794717D-4DA3-9671-CE5E-D7BA8F0091F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C06634C-9FD9-FAB8-BB02-DB4CF4646E6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016FD766-5136-ACA7-015F-32A7F344AF7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A4B51AFF-3D20-2D6A-3B5C-C4FBA577DB91}"/>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refers to a closed conduit designed to convey canal water in full and other pressure running condition, to convey canal water by gravity under roadways , railways, drainage channels and local depressions.</a:t>
            </a:r>
          </a:p>
        </p:txBody>
      </p:sp>
      <p:sp>
        <p:nvSpPr>
          <p:cNvPr id="19" name="TextBox 12">
            <a:extLst>
              <a:ext uri="{FF2B5EF4-FFF2-40B4-BE49-F238E27FC236}">
                <a16:creationId xmlns:a16="http://schemas.microsoft.com/office/drawing/2014/main" id="{99A44D21-9F13-7E10-5995-E64E666A21D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E07F703-D39B-72E7-7309-130CCDCF71D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7EF198E4-B04B-9445-4DE6-096BA1015E9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A10FD27-8336-9EF0-A8DA-A792DA40B6F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EF028803-7F8A-72D6-37B3-629F47C212E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2EBDD62-567E-2B9A-A649-5097A65C5713}"/>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EB17EC1B-B3F7-FCA8-32D9-34ABBD9BE68D}"/>
              </a:ext>
            </a:extLst>
          </p:cNvPr>
          <p:cNvSpPr txBox="1"/>
          <p:nvPr/>
        </p:nvSpPr>
        <p:spPr>
          <a:xfrm>
            <a:off x="1676400" y="3569056"/>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Siphon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Inverted siphon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Flume</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Culvert</a:t>
            </a:r>
          </a:p>
        </p:txBody>
      </p:sp>
      <p:sp>
        <p:nvSpPr>
          <p:cNvPr id="17" name="Oval 16">
            <a:extLst>
              <a:ext uri="{FF2B5EF4-FFF2-40B4-BE49-F238E27FC236}">
                <a16:creationId xmlns:a16="http://schemas.microsoft.com/office/drawing/2014/main" id="{297C6A42-29E4-7CED-B069-FAF0A4CDADD7}"/>
              </a:ext>
            </a:extLst>
          </p:cNvPr>
          <p:cNvSpPr/>
          <p:nvPr/>
        </p:nvSpPr>
        <p:spPr>
          <a:xfrm>
            <a:off x="1505640" y="4289770"/>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BEC030CA-B8E3-CA46-E847-ED7EA268445A}"/>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4863B6D4-BB7F-DC14-0F00-9590F9DCD1CD}"/>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633FC542-C688-11FC-9F49-2C03A6A3227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45FEF5ED-83F2-B469-D2B6-57B4A35834D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7C388628-E128-8260-EE5D-3A8DDE067C4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47D7CE41-1E87-1EC5-89F7-8D848FF514D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65345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BE9D2-298A-1411-2F32-A7DDDB5FC57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6FDD8C-4C16-D3A7-3F51-E26D1C77836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D378D2E-7B25-4B70-0477-EBBC589DCB0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980686FA-072D-DF94-42A4-C68AE61562A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941F7C29-AFD6-5811-4403-914D862912C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F1F5A10D-2B66-86C5-701A-18C7E92D9C0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546AFE4-2EB4-1216-D2F9-E5A86DE2E61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15B0B31-7135-52A0-A45A-4C5D9035D0B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D1FA870F-662D-4691-E20B-8E75C0C03BA8}"/>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D4782AE-D06D-0207-BE11-B2D631FA061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C793E32-5B37-2603-DF0B-52B03AD5D4E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43A8FCD7-73CA-4060-D695-88C67587EDB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487DCEE-8489-4B64-AC90-7F82FA9303B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9CA554A5-7594-F823-2F55-CF84225A21A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904A77E-EEF2-1B8D-6DA2-7C93B1302FE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EF661D0E-7E96-C8B2-F65A-D858587B43DB}"/>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B5BC29DB-98AF-E5D0-F325-494C6CCE0E5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6AA9665-1B4E-5810-D4C7-3F3BBF14F65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pic>
        <p:nvPicPr>
          <p:cNvPr id="29" name="Picture 28">
            <a:extLst>
              <a:ext uri="{FF2B5EF4-FFF2-40B4-BE49-F238E27FC236}">
                <a16:creationId xmlns:a16="http://schemas.microsoft.com/office/drawing/2014/main" id="{5D72E9AF-5299-9875-9B80-B1F501C8FBF2}"/>
              </a:ext>
            </a:extLst>
          </p:cNvPr>
          <p:cNvPicPr>
            <a:picLocks noChangeAspect="1"/>
          </p:cNvPicPr>
          <p:nvPr/>
        </p:nvPicPr>
        <p:blipFill>
          <a:blip r:embed="rId3"/>
          <a:stretch>
            <a:fillRect/>
          </a:stretch>
        </p:blipFill>
        <p:spPr>
          <a:xfrm>
            <a:off x="2483999" y="1873629"/>
            <a:ext cx="13320000" cy="6569928"/>
          </a:xfrm>
          <a:prstGeom prst="rect">
            <a:avLst/>
          </a:prstGeom>
        </p:spPr>
      </p:pic>
      <p:grpSp>
        <p:nvGrpSpPr>
          <p:cNvPr id="14" name="Group 13">
            <a:extLst>
              <a:ext uri="{FF2B5EF4-FFF2-40B4-BE49-F238E27FC236}">
                <a16:creationId xmlns:a16="http://schemas.microsoft.com/office/drawing/2014/main" id="{14543268-477E-1C93-BAAA-9AE3BC4432A4}"/>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7613FFDB-A2F9-B78B-ECA8-0A72D2CE4A1B}"/>
                </a:ext>
              </a:extLst>
            </p:cNvPr>
            <p:cNvGrpSpPr/>
            <p:nvPr/>
          </p:nvGrpSpPr>
          <p:grpSpPr>
            <a:xfrm>
              <a:off x="0" y="9599694"/>
              <a:ext cx="18287999" cy="687305"/>
              <a:chOff x="0" y="0"/>
              <a:chExt cx="5260714" cy="490218"/>
            </a:xfrm>
          </p:grpSpPr>
          <p:sp>
            <p:nvSpPr>
              <p:cNvPr id="18" name="Freeform 12">
                <a:extLst>
                  <a:ext uri="{FF2B5EF4-FFF2-40B4-BE49-F238E27FC236}">
                    <a16:creationId xmlns:a16="http://schemas.microsoft.com/office/drawing/2014/main" id="{F5A30594-32C6-FDFE-64CE-3ED569EB34A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1" name="TextBox 13">
                <a:extLst>
                  <a:ext uri="{FF2B5EF4-FFF2-40B4-BE49-F238E27FC236}">
                    <a16:creationId xmlns:a16="http://schemas.microsoft.com/office/drawing/2014/main" id="{136A241D-98E2-BF7C-7266-C33478A8C5D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64993B2C-BDE2-3FB7-293D-E3AE8F227A5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7" name="TextBox 13">
              <a:extLst>
                <a:ext uri="{FF2B5EF4-FFF2-40B4-BE49-F238E27FC236}">
                  <a16:creationId xmlns:a16="http://schemas.microsoft.com/office/drawing/2014/main" id="{FD93CBF8-3D1D-A303-EFCE-19AF062B42F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
        <p:nvSpPr>
          <p:cNvPr id="22" name="TextBox 21">
            <a:extLst>
              <a:ext uri="{FF2B5EF4-FFF2-40B4-BE49-F238E27FC236}">
                <a16:creationId xmlns:a16="http://schemas.microsoft.com/office/drawing/2014/main" id="{57CC1AB9-7988-33F0-F7F2-35ADC8195BCD}"/>
              </a:ext>
            </a:extLst>
          </p:cNvPr>
          <p:cNvSpPr txBox="1"/>
          <p:nvPr/>
        </p:nvSpPr>
        <p:spPr>
          <a:xfrm>
            <a:off x="2714027" y="6308012"/>
            <a:ext cx="1846980" cy="461665"/>
          </a:xfrm>
          <a:prstGeom prst="rect">
            <a:avLst/>
          </a:prstGeom>
          <a:solidFill>
            <a:schemeClr val="bg1"/>
          </a:solidFill>
        </p:spPr>
        <p:txBody>
          <a:bodyPr wrap="none" rtlCol="0">
            <a:spAutoFit/>
          </a:bodyPr>
          <a:lstStyle/>
          <a:p>
            <a:r>
              <a:rPr lang="en-PH" sz="2400" dirty="0">
                <a:latin typeface="Arial" panose="020B0604020202020204" pitchFamily="34" charset="0"/>
                <a:cs typeface="Arial" panose="020B0604020202020204" pitchFamily="34" charset="0"/>
              </a:rPr>
              <a:t>Division box</a:t>
            </a:r>
          </a:p>
        </p:txBody>
      </p:sp>
    </p:spTree>
    <p:extLst>
      <p:ext uri="{BB962C8B-B14F-4D97-AF65-F5344CB8AC3E}">
        <p14:creationId xmlns:p14="http://schemas.microsoft.com/office/powerpoint/2010/main" val="691547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1FAE3-11BD-D008-4341-85E542A66F7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5F81A26-1CCC-8FB5-BCFF-5A50B4A8F6B5}"/>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57DB5AB-3B67-7117-5436-D751C599213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790D683D-C4B1-7B80-6C5B-0A839DF37E4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22F831C4-71D4-D112-7498-D7C0F86C9F6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22E9D364-456B-9D79-D84C-E3882D4BCBD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A62AC71-773B-CB70-D0B5-2DD9D650AD5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44A72BF-FF3F-6B01-08B1-0769185ED9EC}"/>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4A1911D0-D58B-E9AD-0891-57712D77914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3B4271C-3B97-FD2C-258D-EA2794DC599A}"/>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EE2E1A7-1681-CEDC-1A18-E1013D7677E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DB7CD0D-B71A-21BD-B6E8-BC05FD6BF7C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57AC214-C970-6A04-DE60-D2BD9F2D39FD}"/>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D199A285-7E9A-BCBC-2177-E3670A3B277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09766328-DDE7-CC0F-D783-65DC5527AD2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55C820E6-7BB5-D103-A81E-50F92EE2CF19}"/>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BCCA687-7360-E229-8FF5-2FD0D4C7571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72D4786-024B-9E76-4A10-3082A7B9E4B5}"/>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pic>
        <p:nvPicPr>
          <p:cNvPr id="17" name="Picture 16">
            <a:extLst>
              <a:ext uri="{FF2B5EF4-FFF2-40B4-BE49-F238E27FC236}">
                <a16:creationId xmlns:a16="http://schemas.microsoft.com/office/drawing/2014/main" id="{46559A9D-6497-4A16-7226-8D60B5AA543D}"/>
              </a:ext>
            </a:extLst>
          </p:cNvPr>
          <p:cNvPicPr>
            <a:picLocks noChangeAspect="1"/>
          </p:cNvPicPr>
          <p:nvPr/>
        </p:nvPicPr>
        <p:blipFill>
          <a:blip r:embed="rId3"/>
          <a:stretch>
            <a:fillRect/>
          </a:stretch>
        </p:blipFill>
        <p:spPr>
          <a:xfrm>
            <a:off x="2483999" y="2471364"/>
            <a:ext cx="13320000" cy="5288408"/>
          </a:xfrm>
          <a:prstGeom prst="rect">
            <a:avLst/>
          </a:prstGeom>
        </p:spPr>
      </p:pic>
      <p:grpSp>
        <p:nvGrpSpPr>
          <p:cNvPr id="14" name="Group 13">
            <a:extLst>
              <a:ext uri="{FF2B5EF4-FFF2-40B4-BE49-F238E27FC236}">
                <a16:creationId xmlns:a16="http://schemas.microsoft.com/office/drawing/2014/main" id="{4B858476-8CFB-F1B1-253E-4BA2A29A9101}"/>
              </a:ext>
            </a:extLst>
          </p:cNvPr>
          <p:cNvGrpSpPr/>
          <p:nvPr/>
        </p:nvGrpSpPr>
        <p:grpSpPr>
          <a:xfrm>
            <a:off x="0" y="9599693"/>
            <a:ext cx="18287999" cy="687306"/>
            <a:chOff x="0" y="9599693"/>
            <a:chExt cx="18287999" cy="687306"/>
          </a:xfrm>
        </p:grpSpPr>
        <p:grpSp>
          <p:nvGrpSpPr>
            <p:cNvPr id="15" name="Group 11">
              <a:extLst>
                <a:ext uri="{FF2B5EF4-FFF2-40B4-BE49-F238E27FC236}">
                  <a16:creationId xmlns:a16="http://schemas.microsoft.com/office/drawing/2014/main" id="{10CCCED4-0FFD-0B0D-3FEB-425E59313953}"/>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C90613B1-85E5-55B7-D0BF-05087DA500E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40B7362B-442B-351D-5621-57AAD51F841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2">
              <a:extLst>
                <a:ext uri="{FF2B5EF4-FFF2-40B4-BE49-F238E27FC236}">
                  <a16:creationId xmlns:a16="http://schemas.microsoft.com/office/drawing/2014/main" id="{5DD9ED16-E5EC-B7A6-F1C3-04E749ED9EA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6161A442-7AD4-97E8-1701-F7D00DE29D5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816989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632EC-B601-431E-58A0-D889B3874B1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52D3FA-169E-A639-05CA-F7591182E81C}"/>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6AA8E15-231C-619F-CC5E-5B2A39A07932}"/>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FB47E0E-1DD4-A28E-23F8-EC7CC3F8A60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0C15B76E-EFA9-89D5-9DD3-608E2D53197B}"/>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A2A7851-B741-91EE-50DF-25E6A46284A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5B09E2DC-ECB0-34F5-92DE-4CC8768BE3D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00015765-7C57-8578-E2A4-E0DAB2B5CAF5}"/>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18E9A77-3B63-314B-33C9-6D863A959E1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388E1DA1-2343-7FB6-72C3-0DFEDB2CD09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06790F2-4F26-A7C8-DD9B-9454EEF77F2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F557D75-5DA2-D091-D729-B94C9A955C6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E4FB348C-3ED2-2EEC-737C-813840395DE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A786EA92-8E4B-0D11-7B14-3DD17B1501B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B0AF58CB-9166-84B7-4761-4E08CB6726E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9BCA3E99-E03A-B411-AB9F-F042BC8BEEC5}"/>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11964787-722C-420E-DE35-D106B7E2538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D0A792E-5FE8-3545-59AF-5CC93B9E551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pic>
        <p:nvPicPr>
          <p:cNvPr id="15" name="Picture 14">
            <a:extLst>
              <a:ext uri="{FF2B5EF4-FFF2-40B4-BE49-F238E27FC236}">
                <a16:creationId xmlns:a16="http://schemas.microsoft.com/office/drawing/2014/main" id="{48DA054A-A2C7-D716-A2DE-740C8822F83B}"/>
              </a:ext>
            </a:extLst>
          </p:cNvPr>
          <p:cNvPicPr>
            <a:picLocks noChangeAspect="1"/>
          </p:cNvPicPr>
          <p:nvPr/>
        </p:nvPicPr>
        <p:blipFill>
          <a:blip r:embed="rId3"/>
          <a:stretch>
            <a:fillRect/>
          </a:stretch>
        </p:blipFill>
        <p:spPr>
          <a:xfrm>
            <a:off x="2706321" y="1852354"/>
            <a:ext cx="13320000" cy="6596369"/>
          </a:xfrm>
          <a:prstGeom prst="rect">
            <a:avLst/>
          </a:prstGeom>
        </p:spPr>
      </p:pic>
      <p:grpSp>
        <p:nvGrpSpPr>
          <p:cNvPr id="14" name="Group 13">
            <a:extLst>
              <a:ext uri="{FF2B5EF4-FFF2-40B4-BE49-F238E27FC236}">
                <a16:creationId xmlns:a16="http://schemas.microsoft.com/office/drawing/2014/main" id="{E54AF90D-A8AA-2022-7963-78189EEB4BFD}"/>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131237AB-AB62-3DBB-A2D9-2FAFE760F169}"/>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9DF9861A-1298-512C-7237-66E5D9C761C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AC56DF72-8F4F-C6ED-C904-1FFFB6C4445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05A50D0D-DE81-29E2-EEEF-2F653D1B5F3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86F9EB83-91A1-C344-C6B0-401E40FA670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887231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D6F6D-63E0-E429-C256-48328321A4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315806-BB9A-4C70-6C2D-455DC94EBC2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4847464-C99E-3356-3E7B-F7CCC2B55E5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DD3A103-5673-81E6-119D-893F7DC62768}"/>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36DFA51-D018-5922-14A0-672CC281A3A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B2A0959-42DF-81A5-89C4-03BE5EF7CD4B}"/>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1D6F23F6-BE94-9E96-4FC8-3695E84BF73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FED9B8C-E564-B6AE-56C0-B17FF6B0BF5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ECBD6A3-42CF-E498-4A18-434BCCC0FE7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5F7C3ED6-F826-8A1B-0E7B-BD1C7D082C08}"/>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380B17F-77A3-5392-8FC3-4E3D88375971}"/>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94D8626-18C0-E784-B0AE-E0EEDE2E7AC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5B04ED7-BC06-ED00-FF82-4FA686A4B2D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D4C03C5E-13D2-98D0-02E2-62C7EE0B7B83}"/>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336FC011-0747-38A8-67AC-C8AFED47CA7F}"/>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Which of the following best describes how flow rate is related to velocity?</a:t>
            </a:r>
          </a:p>
        </p:txBody>
      </p:sp>
      <p:sp>
        <p:nvSpPr>
          <p:cNvPr id="19" name="TextBox 12">
            <a:extLst>
              <a:ext uri="{FF2B5EF4-FFF2-40B4-BE49-F238E27FC236}">
                <a16:creationId xmlns:a16="http://schemas.microsoft.com/office/drawing/2014/main" id="{BD636661-F7FC-5230-5BFC-B5728BB6C65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D8307A5-106E-ACE8-3CC4-B815B9B5FEC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E9A9EAEA-62D9-BEB5-3FA1-340EE5F683A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DC18A7F-71E2-1B9B-A071-065976E34EE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219EE5E3-7325-7A96-26F0-E292DD42D98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0090D57-0BFA-92CC-A335-D6BA58150EDA}"/>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https://www.valin.com/resources/blog/introduction-pressure-part-ii-velocity-flow-rate-and-reaction-force</a:t>
            </a:r>
          </a:p>
        </p:txBody>
      </p:sp>
      <p:sp>
        <p:nvSpPr>
          <p:cNvPr id="16" name="TextBox 15">
            <a:extLst>
              <a:ext uri="{FF2B5EF4-FFF2-40B4-BE49-F238E27FC236}">
                <a16:creationId xmlns:a16="http://schemas.microsoft.com/office/drawing/2014/main" id="{5638900E-2712-1613-2E69-F849D9D8E117}"/>
              </a:ext>
            </a:extLst>
          </p:cNvPr>
          <p:cNvSpPr txBox="1"/>
          <p:nvPr/>
        </p:nvSpPr>
        <p:spPr>
          <a:xfrm>
            <a:off x="1676400" y="2941299"/>
            <a:ext cx="14935200" cy="2954655"/>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 The volumetric flow rate is directly proportional to the velocity of the flowing fluid passing through a given cross sectional area.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The flow rate decreases as the velocity of the fluid increases in a constant cross-sectional area.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The flow rate is inversely proportional to the velocity of the fluid in a constant cross-sectional area.</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The flow rate remains constant regardless of changes in the fluid velocity and cross-sectional area.</a:t>
            </a:r>
          </a:p>
        </p:txBody>
      </p:sp>
      <p:sp>
        <p:nvSpPr>
          <p:cNvPr id="17" name="Oval 16">
            <a:extLst>
              <a:ext uri="{FF2B5EF4-FFF2-40B4-BE49-F238E27FC236}">
                <a16:creationId xmlns:a16="http://schemas.microsoft.com/office/drawing/2014/main" id="{60C0A47A-D7D4-980F-9E72-79FB63B304C3}"/>
              </a:ext>
            </a:extLst>
          </p:cNvPr>
          <p:cNvSpPr/>
          <p:nvPr/>
        </p:nvSpPr>
        <p:spPr>
          <a:xfrm>
            <a:off x="1505640" y="2862165"/>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3DBF53DA-174C-2BF5-59F9-93C5B4B76148}"/>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D18D6CCB-032E-8FBA-9183-0984FADB4741}"/>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321B5BD7-6D97-642C-98B0-50E7895F24D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84825EAF-8876-C980-4324-8CFEF1B5D4A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47B1D73C-29C3-366A-A055-62DA463CD32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8AE720AB-C220-4042-87AA-7836D7E8461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47879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FD1F0-59A9-3C2C-E673-09BD8BCF07E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8D8643F-6EC9-7784-B84D-7FE8E861A74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4CE6F25-5710-1082-2C3B-4CA2420B208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7C8172B3-A66C-9F0A-3E4C-699D3AAD1A25}"/>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597D9BA-8FAA-BEF5-D4CB-CD07C2F125F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68CC1AA-2541-5A4B-3D0B-251769F751B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BD6BC39-24BB-CCB7-C729-56F0105A318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D3E0CF4-7F1D-983C-59E5-58345EA13FE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20701810-7106-E3EE-4962-0AC0DAE47F8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0C4A5DB0-44DB-C1CE-0C65-D9766A2E32CB}"/>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96E0658-1875-A5A5-5D02-B3BD77303AF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6EB9C78-9578-95C9-8B44-74971392BC2B}"/>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DB87400-14FE-487D-1CAD-5B7A3CC3F83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F0FDA889-E970-E0DA-83E0-C4F17A16CAB8}"/>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11E94820-DBC7-4CCD-6192-7392A64BDDBB}"/>
              </a:ext>
            </a:extLst>
          </p:cNvPr>
          <p:cNvSpPr txBox="1"/>
          <p:nvPr/>
        </p:nvSpPr>
        <p:spPr>
          <a:xfrm>
            <a:off x="1828798" y="2025065"/>
            <a:ext cx="14630402" cy="738664"/>
          </a:xfrm>
          <a:prstGeom prst="rect">
            <a:avLst/>
          </a:prstGeom>
        </p:spPr>
        <p:txBody>
          <a:bodyPr wrap="square" lIns="0" tIns="0" rIns="0" bIns="0" rtlCol="0" anchor="t">
            <a:spAutoFit/>
          </a:bodyPr>
          <a:lstStyle/>
          <a:p>
            <a:pPr algn="ctr"/>
            <a:r>
              <a:rPr lang="en-US" sz="2400" b="1" dirty="0">
                <a:solidFill>
                  <a:srgbClr val="000000"/>
                </a:solidFill>
                <a:latin typeface="Nunito 1 Bold"/>
                <a:ea typeface="Nunito 1 Bold"/>
                <a:cs typeface="Nunito 1 Bold"/>
                <a:sym typeface="Nunito 1 Bold"/>
              </a:rPr>
              <a:t>Given an irrigation depth of 30 cm and 10 hours of  irrigation time, determine the discharge needed to irrigate  a hectare of land. </a:t>
            </a:r>
          </a:p>
        </p:txBody>
      </p:sp>
      <p:sp>
        <p:nvSpPr>
          <p:cNvPr id="19" name="TextBox 12">
            <a:extLst>
              <a:ext uri="{FF2B5EF4-FFF2-40B4-BE49-F238E27FC236}">
                <a16:creationId xmlns:a16="http://schemas.microsoft.com/office/drawing/2014/main" id="{2A022EF3-DADC-24B4-6448-2F9DE06F3F9B}"/>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B3AD4BAF-ED87-0462-688C-7C956854569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118CD4DA-AC14-67A2-0611-8BC92B49BA4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74C2E9B-E621-D706-034D-217D1D02A0E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4765309-6704-FD7C-F859-78DB4B1BD17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352DE66D-91C7-AE40-DE8F-727C3A5CB81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000FF00B-7952-6DFA-BB08-1F89969140ED}"/>
              </a:ext>
            </a:extLst>
          </p:cNvPr>
          <p:cNvSpPr txBox="1"/>
          <p:nvPr/>
        </p:nvSpPr>
        <p:spPr>
          <a:xfrm>
            <a:off x="1676400" y="294129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300m3/</a:t>
            </a:r>
            <a:r>
              <a:rPr lang="en-US" sz="2400" dirty="0" err="1">
                <a:solidFill>
                  <a:srgbClr val="000000"/>
                </a:solidFill>
                <a:latin typeface="Nunito 1" panose="020B0604020202020204" charset="0"/>
                <a:ea typeface="Nunito 1 Bold"/>
                <a:cs typeface="Nunito 1 Bold"/>
                <a:sym typeface="Nunito 1 Bold"/>
              </a:rPr>
              <a:t>hr</a:t>
            </a:r>
            <a:endParaRPr lang="en-US" sz="2400" dirty="0">
              <a:solidFill>
                <a:srgbClr val="000000"/>
              </a:solidFill>
              <a:latin typeface="Nunito 1" panose="020B0604020202020204" charset="0"/>
              <a:ea typeface="Nunito 1 Bold"/>
              <a:cs typeface="Nunito 1 Bold"/>
              <a:sym typeface="Nunito 1 Bold"/>
            </a:endParaRPr>
          </a:p>
        </p:txBody>
      </p:sp>
      <p:grpSp>
        <p:nvGrpSpPr>
          <p:cNvPr id="17" name="Group 16">
            <a:extLst>
              <a:ext uri="{FF2B5EF4-FFF2-40B4-BE49-F238E27FC236}">
                <a16:creationId xmlns:a16="http://schemas.microsoft.com/office/drawing/2014/main" id="{13363234-DAFE-6941-74DF-F8646F21601E}"/>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92A7F8AB-6C74-3E0D-067C-D41143893039}"/>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6F46F3E9-8D1E-DDEA-73DD-722BEFDC172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504CD402-B58B-9C52-6EC5-67088BAB522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D76A8C5B-375F-C204-CBD7-5BD43666766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99015A55-65D0-85B5-77E0-CDB1459B8E1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917765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C96B4-4216-3EEC-2EC5-49C6E46411D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617B5AC-1A1F-D2BA-9D39-DA10A79E157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BBE8554-72B7-8C95-5AFC-964BAC600B8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2397BBE-1E25-467B-4A80-9BEAC300C73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4C5B0C1C-0139-C908-3610-B2C47B8F3D5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B67FA87-D898-541E-F421-9D193C10B1B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C1658953-0DCA-3BAF-8988-6ABE3DD38F4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2152F43-E13F-12D2-1940-298ED16E8EFB}"/>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0666374-57DC-669A-6B6F-4C7BAFAE45F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C42123C7-275B-28BD-4F07-C7C507E2DEAD}"/>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6C493C1-7D4E-21C6-AFC9-2168E828CAD8}"/>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390E77F-E273-EE3F-2B04-2CC062A172F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0E37A427-4BBD-6BB1-FEF9-856B60479C7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7A2241CC-ED53-61AE-9201-0E3404A118E7}"/>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3F5D4D26-DBC0-91CE-29A3-F122622D1E5C}"/>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All of the following can be used to measure the velocity of flowing liquid, except?</a:t>
            </a:r>
          </a:p>
        </p:txBody>
      </p:sp>
      <p:sp>
        <p:nvSpPr>
          <p:cNvPr id="19" name="TextBox 12">
            <a:extLst>
              <a:ext uri="{FF2B5EF4-FFF2-40B4-BE49-F238E27FC236}">
                <a16:creationId xmlns:a16="http://schemas.microsoft.com/office/drawing/2014/main" id="{3040573D-FF66-7A0D-036A-DA1B22A044F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65A3125-A583-6976-6757-79D623FBAF2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412FD9CD-AFE2-A643-C20D-7F7C6BA99C75}"/>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8B66BAF-D6CD-9E28-C59C-081112B3649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3C1AF9DD-E1FB-91C8-2845-466B4500228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B62C0A93-EC42-B845-E8B4-971ED9C9889E}"/>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F59DE556-9E4A-8FF0-B77D-6A9B548193F0}"/>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Manning’s Equation</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Float Method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Current Meter Method</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Hydrometer method</a:t>
            </a:r>
          </a:p>
        </p:txBody>
      </p:sp>
      <p:sp>
        <p:nvSpPr>
          <p:cNvPr id="17" name="Oval 16">
            <a:extLst>
              <a:ext uri="{FF2B5EF4-FFF2-40B4-BE49-F238E27FC236}">
                <a16:creationId xmlns:a16="http://schemas.microsoft.com/office/drawing/2014/main" id="{41CA1EB6-1AAF-193C-C4F5-06B808EC5F74}"/>
              </a:ext>
            </a:extLst>
          </p:cNvPr>
          <p:cNvSpPr/>
          <p:nvPr/>
        </p:nvSpPr>
        <p:spPr>
          <a:xfrm>
            <a:off x="1505640" y="5082519"/>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7E81AE1A-9D13-CB9C-3CA9-A673440FAC07}"/>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E9177DA3-F20E-8793-DBED-8F0409079400}"/>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FA4EA7B7-5F46-DF3D-A40A-2C0599C4394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F672C284-AE55-CE7C-392E-8BC94E67744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CF5D98E7-2A87-7B73-8A53-17667709E8F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AAAF4BE1-FCF0-E847-D36C-24E194502FF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50812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4199B-D19C-C339-56F2-D6A6B90138C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1E9CA8-F1B9-FE62-7D50-122DAA7F7C42}"/>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8A3A014-4C3D-A635-87C0-B659245ADA3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B49758B-162A-0BD5-0F39-F1A76CE8E724}"/>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D0C28209-5E7C-05EB-28F6-264D225FD93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E0CA4B8-98D4-CD02-5A3A-1DBFB92ACCF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1B8A2B9-D7C6-529F-CF81-959E892269A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4CA7E7E-EB9C-2E59-18C1-E1AC4AD9542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5F1BD21-0E4A-C605-C8A8-95FBBBCB774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396D5553-9F59-47BE-203F-DE356FEF8188}"/>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B717471-CCDF-5BE7-4EDB-7106180DC314}"/>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476E16E6-E95D-8FF7-FE3F-0AE6EBCC3FD9}"/>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6A22AA4E-26E0-8598-F791-3B76422B632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mc:AlternateContent xmlns:mc="http://schemas.openxmlformats.org/markup-compatibility/2006" xmlns:a14="http://schemas.microsoft.com/office/drawing/2010/main">
        <mc:Choice Requires="a14">
          <p:sp>
            <p:nvSpPr>
              <p:cNvPr id="15" name="TextBox 15">
                <a:extLst>
                  <a:ext uri="{FF2B5EF4-FFF2-40B4-BE49-F238E27FC236}">
                    <a16:creationId xmlns:a16="http://schemas.microsoft.com/office/drawing/2014/main" id="{03D41B0D-037F-697B-69AA-34A53522D068}"/>
                  </a:ext>
                </a:extLst>
              </p:cNvPr>
              <p:cNvSpPr txBox="1"/>
              <p:nvPr/>
            </p:nvSpPr>
            <p:spPr>
              <a:xfrm>
                <a:off x="2246041" y="1972242"/>
                <a:ext cx="13795916" cy="3923382"/>
              </a:xfrm>
              <a:prstGeom prst="rect">
                <a:avLst/>
              </a:prstGeom>
            </p:spPr>
            <p:txBody>
              <a:bodyPr lIns="0" tIns="0" rIns="0" bIns="0" rtlCol="0" anchor="t">
                <a:spAutoFit/>
              </a:bodyPr>
              <a:lstStyle/>
              <a:p>
                <a:pPr algn="ctr"/>
                <a:r>
                  <a:rPr lang="en-US" sz="2400" b="1" dirty="0">
                    <a:solidFill>
                      <a:srgbClr val="000000"/>
                    </a:solidFill>
                    <a:latin typeface="Nunito 1" panose="020B0604020202020204" charset="0"/>
                    <a:ea typeface="Nunito 1 Bold"/>
                    <a:cs typeface="Nunito 1 Bold"/>
                    <a:sym typeface="Nunito 1 Bold"/>
                  </a:rPr>
                  <a:t>METHODS OF VELOCITY MEASUREMENT</a:t>
                </a:r>
              </a:p>
              <a:p>
                <a:pPr algn="ctr"/>
                <a:endParaRPr lang="en-US" sz="2400" b="1" dirty="0">
                  <a:solidFill>
                    <a:srgbClr val="000000"/>
                  </a:solidFill>
                  <a:latin typeface="Nunito 1" panose="020B0604020202020204" charset="0"/>
                  <a:ea typeface="Nunito 1 Bold"/>
                  <a:cs typeface="Nunito 1 Bold"/>
                  <a:sym typeface="Nunito 1 Bold"/>
                </a:endParaRPr>
              </a:p>
              <a:p>
                <a:r>
                  <a:rPr lang="en-US" sz="2400" b="1" dirty="0">
                    <a:solidFill>
                      <a:srgbClr val="000000"/>
                    </a:solidFill>
                    <a:latin typeface="Nunito 1" panose="020B0604020202020204" charset="0"/>
                    <a:ea typeface="Nunito 1 Bold"/>
                    <a:cs typeface="Nunito 1 Bold"/>
                    <a:sym typeface="Nunito 1 Bold"/>
                  </a:rPr>
                  <a:t>Velocity by Float Method</a:t>
                </a:r>
              </a:p>
              <a:p>
                <a:endParaRPr lang="en-US" sz="2400" b="1"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Q = AV	V</a:t>
                </a:r>
                <a:r>
                  <a:rPr lang="en-US" sz="2400" baseline="-25000" dirty="0">
                    <a:solidFill>
                      <a:srgbClr val="000000"/>
                    </a:solidFill>
                    <a:latin typeface="Nunito 1" panose="020B0604020202020204" charset="0"/>
                    <a:ea typeface="Nunito 1 Bold"/>
                    <a:cs typeface="Nunito 1 Bold"/>
                    <a:sym typeface="Nunito 1 Bold"/>
                  </a:rPr>
                  <a:t>s</a:t>
                </a:r>
                <a:r>
                  <a:rPr lang="en-US" sz="2400" dirty="0">
                    <a:solidFill>
                      <a:srgbClr val="000000"/>
                    </a:solidFill>
                    <a:latin typeface="Nunito 1" panose="020B0604020202020204" charset="0"/>
                    <a:ea typeface="Nunito 1 Bold"/>
                    <a:cs typeface="Nunito 1 Bold"/>
                    <a:sym typeface="Nunito 1 Bold"/>
                  </a:rPr>
                  <a:t>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PH" sz="2400" b="0" i="0" smtClean="0">
                            <a:solidFill>
                              <a:srgbClr val="000000"/>
                            </a:solidFill>
                            <a:latin typeface="Nunito 1" panose="020B0604020202020204" charset="0"/>
                            <a:sym typeface="Nunito 1 Bold"/>
                          </a:rPr>
                          <m:t>D</m:t>
                        </m:r>
                      </m:num>
                      <m:den>
                        <m:r>
                          <m:rPr>
                            <m:nor/>
                          </m:rPr>
                          <a:rPr lang="en-PH" sz="2400" b="0" i="0" smtClean="0">
                            <a:solidFill>
                              <a:srgbClr val="000000"/>
                            </a:solidFill>
                            <a:latin typeface="Nunito 1" panose="020B0604020202020204" charset="0"/>
                            <a:sym typeface="Nunito 1 Bold"/>
                          </a:rPr>
                          <m:t>t</m:t>
                        </m:r>
                      </m:den>
                    </m:f>
                  </m:oMath>
                </a14:m>
                <a:r>
                  <a:rPr lang="en-US" sz="2400" dirty="0">
                    <a:solidFill>
                      <a:srgbClr val="000000"/>
                    </a:solidFill>
                    <a:latin typeface="Nunito 1" panose="020B0604020202020204" charset="0"/>
                    <a:ea typeface="Nunito 1 Bold"/>
                    <a:cs typeface="Nunito 1 Bold"/>
                    <a:sym typeface="Nunito 1 Bold"/>
                  </a:rPr>
                  <a:t>		V = 0.8V</a:t>
                </a:r>
                <a:r>
                  <a:rPr lang="en-US" sz="2400" baseline="-25000" dirty="0">
                    <a:solidFill>
                      <a:srgbClr val="000000"/>
                    </a:solidFill>
                    <a:latin typeface="Nunito 1" panose="020B0604020202020204" charset="0"/>
                    <a:ea typeface="Nunito 1 Bold"/>
                    <a:cs typeface="Nunito 1 Bold"/>
                    <a:sym typeface="Nunito 1 Bold"/>
                  </a:rPr>
                  <a:t>s</a:t>
                </a:r>
              </a:p>
              <a:p>
                <a:endParaRPr lang="en-US" sz="2400" b="1" dirty="0">
                  <a:solidFill>
                    <a:srgbClr val="000000"/>
                  </a:solidFill>
                  <a:latin typeface="Nunito 1" panose="020B0604020202020204" charset="0"/>
                  <a:ea typeface="Nunito 1 Bold"/>
                  <a:cs typeface="Nunito 1 Bold"/>
                  <a:sym typeface="Nunito 1 Bold"/>
                </a:endParaRPr>
              </a:p>
              <a:p>
                <a:endParaRPr lang="en-US" sz="2400" b="1" dirty="0">
                  <a:solidFill>
                    <a:srgbClr val="000000"/>
                  </a:solidFill>
                  <a:latin typeface="Nunito 1" panose="020B0604020202020204" charset="0"/>
                  <a:ea typeface="Nunito 1 Bold"/>
                  <a:cs typeface="Nunito 1 Bold"/>
                  <a:sym typeface="Nunito 1 Bold"/>
                </a:endParaRPr>
              </a:p>
              <a:p>
                <a:r>
                  <a:rPr lang="en-US" sz="2400" b="1" dirty="0">
                    <a:solidFill>
                      <a:srgbClr val="000000"/>
                    </a:solidFill>
                    <a:latin typeface="Nunito 1" panose="020B0604020202020204" charset="0"/>
                    <a:ea typeface="Nunito 1 Bold"/>
                    <a:cs typeface="Nunito 1 Bold"/>
                    <a:sym typeface="Nunito 1 Bold"/>
                  </a:rPr>
                  <a:t>Velocity by Current Meter Method</a:t>
                </a:r>
              </a:p>
              <a:p>
                <a:endParaRPr lang="en-US" sz="2400" b="1"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V = a + </a:t>
                </a:r>
                <a:r>
                  <a:rPr lang="en-US" sz="2400" dirty="0" err="1">
                    <a:solidFill>
                      <a:srgbClr val="000000"/>
                    </a:solidFill>
                    <a:latin typeface="Nunito 1" panose="020B0604020202020204" charset="0"/>
                    <a:ea typeface="Nunito 1 Bold"/>
                    <a:cs typeface="Nunito 1 Bold"/>
                    <a:sym typeface="Nunito 1 Bold"/>
                  </a:rPr>
                  <a:t>bN</a:t>
                </a:r>
                <a:r>
                  <a:rPr lang="en-US" sz="2400" dirty="0">
                    <a:solidFill>
                      <a:srgbClr val="000000"/>
                    </a:solidFill>
                    <a:latin typeface="Nunito 1" panose="020B0604020202020204" charset="0"/>
                    <a:ea typeface="Nunito 1 Bold"/>
                    <a:cs typeface="Nunito 1 Bold"/>
                    <a:sym typeface="Nunito 1 Bold"/>
                  </a:rPr>
                  <a:t>		</a:t>
                </a:r>
              </a:p>
            </p:txBody>
          </p:sp>
        </mc:Choice>
        <mc:Fallback xmlns="">
          <p:sp>
            <p:nvSpPr>
              <p:cNvPr id="15" name="TextBox 15">
                <a:extLst>
                  <a:ext uri="{FF2B5EF4-FFF2-40B4-BE49-F238E27FC236}">
                    <a16:creationId xmlns:a16="http://schemas.microsoft.com/office/drawing/2014/main" id="{03D41B0D-037F-697B-69AA-34A53522D068}"/>
                  </a:ext>
                </a:extLst>
              </p:cNvPr>
              <p:cNvSpPr txBox="1">
                <a:spLocks noRot="1" noChangeAspect="1" noMove="1" noResize="1" noEditPoints="1" noAdjustHandles="1" noChangeArrowheads="1" noChangeShapeType="1" noTextEdit="1"/>
              </p:cNvSpPr>
              <p:nvPr/>
            </p:nvSpPr>
            <p:spPr>
              <a:xfrm>
                <a:off x="2246041" y="1972242"/>
                <a:ext cx="13795916" cy="3923382"/>
              </a:xfrm>
              <a:prstGeom prst="rect">
                <a:avLst/>
              </a:prstGeom>
              <a:blipFill>
                <a:blip r:embed="rId3"/>
                <a:stretch>
                  <a:fillRect l="-1325" t="-2488" b="-3888"/>
                </a:stretch>
              </a:blipFill>
            </p:spPr>
            <p:txBody>
              <a:bodyPr/>
              <a:lstStyle/>
              <a:p>
                <a:r>
                  <a:rPr lang="en-PH">
                    <a:noFill/>
                  </a:rPr>
                  <a:t> </a:t>
                </a:r>
              </a:p>
            </p:txBody>
          </p:sp>
        </mc:Fallback>
      </mc:AlternateContent>
      <p:sp>
        <p:nvSpPr>
          <p:cNvPr id="19" name="TextBox 12">
            <a:extLst>
              <a:ext uri="{FF2B5EF4-FFF2-40B4-BE49-F238E27FC236}">
                <a16:creationId xmlns:a16="http://schemas.microsoft.com/office/drawing/2014/main" id="{A664DA6D-D27D-6A77-BD8D-EEB77E72938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D2287763-53A5-9A0D-AC97-DDB241BDC0D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F09DDC3D-2B55-6FBB-2E65-22F5A5324F67}"/>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6DB88E7-4EDD-3DC7-32E9-B85530AF456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5F2E6CF9-50FF-95F4-0612-E22894A7E3C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BAF52989-2024-26B7-85E9-7D8BE1DEEC6B}"/>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7" name="TextBox 15">
            <a:extLst>
              <a:ext uri="{FF2B5EF4-FFF2-40B4-BE49-F238E27FC236}">
                <a16:creationId xmlns:a16="http://schemas.microsoft.com/office/drawing/2014/main" id="{4687B070-4884-C6A6-84BC-BDB5A2338E30}"/>
              </a:ext>
            </a:extLst>
          </p:cNvPr>
          <p:cNvSpPr txBox="1"/>
          <p:nvPr/>
        </p:nvSpPr>
        <p:spPr>
          <a:xfrm>
            <a:off x="2246041" y="6270440"/>
            <a:ext cx="5221559" cy="1231106"/>
          </a:xfrm>
          <a:prstGeom prst="rect">
            <a:avLst/>
          </a:prstGeom>
        </p:spPr>
        <p:txBody>
          <a:bodyPr wrap="square" lIns="0" tIns="0" rIns="0" bIns="0" rtlCol="0" anchor="t">
            <a:spAutoFit/>
          </a:bodyPr>
          <a:lstStyle/>
          <a:p>
            <a:r>
              <a:rPr lang="en-US" sz="2000" dirty="0">
                <a:solidFill>
                  <a:srgbClr val="000000"/>
                </a:solidFill>
                <a:latin typeface="Nunito 1" panose="020B0604020202020204" charset="0"/>
                <a:ea typeface="Nunito 1 Bold"/>
                <a:cs typeface="Nunito 1 Bold"/>
                <a:sym typeface="Nunito 1 Bold"/>
              </a:rPr>
              <a:t>where: a = starting velocity</a:t>
            </a:r>
          </a:p>
          <a:p>
            <a:pPr>
              <a:tabLst>
                <a:tab pos="990600" algn="l"/>
              </a:tabLst>
            </a:pPr>
            <a:r>
              <a:rPr lang="en-US" sz="2000" b="1" dirty="0">
                <a:solidFill>
                  <a:srgbClr val="000000"/>
                </a:solidFill>
                <a:latin typeface="Nunito 1" panose="020B0604020202020204" charset="0"/>
                <a:ea typeface="Nunito 1 Bold"/>
                <a:cs typeface="Nunito 1 Bold"/>
                <a:sym typeface="Nunito 1 Bold"/>
              </a:rPr>
              <a:t>	</a:t>
            </a:r>
            <a:r>
              <a:rPr lang="en-US" sz="2000" dirty="0">
                <a:solidFill>
                  <a:srgbClr val="000000"/>
                </a:solidFill>
                <a:latin typeface="Nunito 1" panose="020B0604020202020204" charset="0"/>
                <a:ea typeface="Nunito 1 Bold"/>
                <a:cs typeface="Nunito 1 Bold"/>
                <a:sym typeface="Nunito 1 Bold"/>
              </a:rPr>
              <a:t>b = proportionality constant</a:t>
            </a:r>
          </a:p>
          <a:p>
            <a:pPr>
              <a:tabLst>
                <a:tab pos="990600" algn="l"/>
              </a:tabLst>
            </a:pPr>
            <a:r>
              <a:rPr lang="en-US" sz="2000" dirty="0">
                <a:solidFill>
                  <a:srgbClr val="000000"/>
                </a:solidFill>
                <a:latin typeface="Nunito 1" panose="020B0604020202020204" charset="0"/>
                <a:ea typeface="Nunito 1 Bold"/>
                <a:cs typeface="Nunito 1 Bold"/>
                <a:sym typeface="Nunito 1 Bold"/>
              </a:rPr>
              <a:t>	N = speed of impeller </a:t>
            </a:r>
          </a:p>
          <a:p>
            <a:pPr>
              <a:tabLst>
                <a:tab pos="7442200" algn="l"/>
              </a:tabLst>
            </a:pPr>
            <a:endParaRPr lang="en-US" sz="2000" dirty="0">
              <a:solidFill>
                <a:srgbClr val="000000"/>
              </a:solidFill>
              <a:latin typeface="Nunito 1" panose="020B0604020202020204" charset="0"/>
              <a:ea typeface="Nunito 1 Bold"/>
              <a:cs typeface="Nunito 1 Bold"/>
              <a:sym typeface="Nunito 1 Bold"/>
            </a:endParaRPr>
          </a:p>
        </p:txBody>
      </p:sp>
      <p:grpSp>
        <p:nvGrpSpPr>
          <p:cNvPr id="14" name="Group 13">
            <a:extLst>
              <a:ext uri="{FF2B5EF4-FFF2-40B4-BE49-F238E27FC236}">
                <a16:creationId xmlns:a16="http://schemas.microsoft.com/office/drawing/2014/main" id="{B65D6637-BB2F-7E7F-1C09-9B69C91275E8}"/>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36C97171-B1C1-AE2A-8FAB-0EA6D86517A2}"/>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501451C0-42D2-FC51-55E2-EA32C804063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04105342-734B-2D90-7EAA-B228C923284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BC3A46DD-AEF0-DFAC-901A-F3A0DA78343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5EC2919B-C7C8-E936-1DB1-76900766C69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8225073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D78D0-CD14-C64E-C652-1F569371141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C5F543-420B-CEFD-2B60-D4915F4A187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EFB1AC1-AE54-F3D3-8B7A-DEC8ED31B86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09014926-985E-D00F-21DE-0DEDB0635A6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7497CA3-8EE8-E4D9-F68D-0B616C6596CE}"/>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ABB8F2E-032F-30AE-7A3B-919C68435AC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EE94CF8F-68F3-115F-6716-5350B2CD343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3AF43C3-8547-02DB-8DF4-E4002DEA193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955C488-C04E-D6A6-A773-7C9203CF618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AF75B2C-4B81-5622-8325-A77DEE55E0B8}"/>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73FA513-97E9-8FAC-5960-B69373EDF45D}"/>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F9673BF-4840-441D-1B16-8780F7A97D9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494D99DD-C456-FC7F-7D27-605C5A17292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mc:AlternateContent xmlns:mc="http://schemas.openxmlformats.org/markup-compatibility/2006" xmlns:a14="http://schemas.microsoft.com/office/drawing/2010/main">
        <mc:Choice Requires="a14">
          <p:sp>
            <p:nvSpPr>
              <p:cNvPr id="15" name="TextBox 15">
                <a:extLst>
                  <a:ext uri="{FF2B5EF4-FFF2-40B4-BE49-F238E27FC236}">
                    <a16:creationId xmlns:a16="http://schemas.microsoft.com/office/drawing/2014/main" id="{8B5AF456-127A-5F52-BC26-A7085F7208F4}"/>
                  </a:ext>
                </a:extLst>
              </p:cNvPr>
              <p:cNvSpPr txBox="1"/>
              <p:nvPr/>
            </p:nvSpPr>
            <p:spPr>
              <a:xfrm>
                <a:off x="2246041" y="1972242"/>
                <a:ext cx="13795916" cy="3923382"/>
              </a:xfrm>
              <a:prstGeom prst="rect">
                <a:avLst/>
              </a:prstGeom>
            </p:spPr>
            <p:txBody>
              <a:bodyPr lIns="0" tIns="0" rIns="0" bIns="0" rtlCol="0" anchor="t">
                <a:spAutoFit/>
              </a:bodyPr>
              <a:lstStyle/>
              <a:p>
                <a:pPr algn="ctr"/>
                <a:r>
                  <a:rPr lang="en-US" sz="2400" b="1" dirty="0">
                    <a:solidFill>
                      <a:srgbClr val="000000"/>
                    </a:solidFill>
                    <a:latin typeface="Nunito 1" panose="020B0604020202020204" charset="0"/>
                    <a:ea typeface="Nunito 1 Bold"/>
                    <a:cs typeface="Nunito 1 Bold"/>
                    <a:sym typeface="Nunito 1 Bold"/>
                  </a:rPr>
                  <a:t>METHODS OF VELOCITY MEASUREMENT</a:t>
                </a:r>
              </a:p>
              <a:p>
                <a:pPr algn="ctr"/>
                <a:endParaRPr lang="en-US" sz="2400" b="1" dirty="0">
                  <a:solidFill>
                    <a:srgbClr val="000000"/>
                  </a:solidFill>
                  <a:latin typeface="Nunito 1" panose="020B0604020202020204" charset="0"/>
                  <a:ea typeface="Nunito 1 Bold"/>
                  <a:cs typeface="Nunito 1 Bold"/>
                  <a:sym typeface="Nunito 1 Bold"/>
                </a:endParaRPr>
              </a:p>
              <a:p>
                <a:r>
                  <a:rPr lang="en-US" sz="2400" b="1" dirty="0">
                    <a:solidFill>
                      <a:srgbClr val="000000"/>
                    </a:solidFill>
                    <a:latin typeface="Nunito 1" panose="020B0604020202020204" charset="0"/>
                    <a:ea typeface="Nunito 1 Bold"/>
                    <a:cs typeface="Nunito 1 Bold"/>
                    <a:sym typeface="Nunito 1 Bold"/>
                  </a:rPr>
                  <a:t>Velocity by Float Method</a:t>
                </a:r>
              </a:p>
              <a:p>
                <a:endParaRPr lang="en-US" sz="2400" b="1"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Q = AV	V</a:t>
                </a:r>
                <a:r>
                  <a:rPr lang="en-US" sz="2400" baseline="-25000" dirty="0">
                    <a:solidFill>
                      <a:srgbClr val="000000"/>
                    </a:solidFill>
                    <a:latin typeface="Nunito 1" panose="020B0604020202020204" charset="0"/>
                    <a:ea typeface="Nunito 1 Bold"/>
                    <a:cs typeface="Nunito 1 Bold"/>
                    <a:sym typeface="Nunito 1 Bold"/>
                  </a:rPr>
                  <a:t>s</a:t>
                </a:r>
                <a:r>
                  <a:rPr lang="en-US" sz="2400" dirty="0">
                    <a:solidFill>
                      <a:srgbClr val="000000"/>
                    </a:solidFill>
                    <a:latin typeface="Nunito 1" panose="020B0604020202020204" charset="0"/>
                    <a:ea typeface="Nunito 1 Bold"/>
                    <a:cs typeface="Nunito 1 Bold"/>
                    <a:sym typeface="Nunito 1 Bold"/>
                  </a:rPr>
                  <a:t>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PH" sz="2400" b="0" i="0" smtClean="0">
                            <a:solidFill>
                              <a:srgbClr val="000000"/>
                            </a:solidFill>
                            <a:latin typeface="Nunito 1" panose="020B0604020202020204" charset="0"/>
                            <a:sym typeface="Nunito 1 Bold"/>
                          </a:rPr>
                          <m:t>D</m:t>
                        </m:r>
                      </m:num>
                      <m:den>
                        <m:r>
                          <m:rPr>
                            <m:nor/>
                          </m:rPr>
                          <a:rPr lang="en-PH" sz="2400" b="0" i="0" smtClean="0">
                            <a:solidFill>
                              <a:srgbClr val="000000"/>
                            </a:solidFill>
                            <a:latin typeface="Nunito 1" panose="020B0604020202020204" charset="0"/>
                            <a:sym typeface="Nunito 1 Bold"/>
                          </a:rPr>
                          <m:t>t</m:t>
                        </m:r>
                      </m:den>
                    </m:f>
                  </m:oMath>
                </a14:m>
                <a:r>
                  <a:rPr lang="en-US" sz="2400" dirty="0">
                    <a:solidFill>
                      <a:srgbClr val="000000"/>
                    </a:solidFill>
                    <a:latin typeface="Nunito 1" panose="020B0604020202020204" charset="0"/>
                    <a:ea typeface="Nunito 1 Bold"/>
                    <a:cs typeface="Nunito 1 Bold"/>
                    <a:sym typeface="Nunito 1 Bold"/>
                  </a:rPr>
                  <a:t>		V = 0.8V</a:t>
                </a:r>
                <a:r>
                  <a:rPr lang="en-US" sz="2400" baseline="-25000" dirty="0">
                    <a:solidFill>
                      <a:srgbClr val="000000"/>
                    </a:solidFill>
                    <a:latin typeface="Nunito 1" panose="020B0604020202020204" charset="0"/>
                    <a:ea typeface="Nunito 1 Bold"/>
                    <a:cs typeface="Nunito 1 Bold"/>
                    <a:sym typeface="Nunito 1 Bold"/>
                  </a:rPr>
                  <a:t>s</a:t>
                </a:r>
              </a:p>
              <a:p>
                <a:endParaRPr lang="en-US" sz="2400" b="1" dirty="0">
                  <a:solidFill>
                    <a:srgbClr val="000000"/>
                  </a:solidFill>
                  <a:latin typeface="Nunito 1" panose="020B0604020202020204" charset="0"/>
                  <a:ea typeface="Nunito 1 Bold"/>
                  <a:cs typeface="Nunito 1 Bold"/>
                  <a:sym typeface="Nunito 1 Bold"/>
                </a:endParaRPr>
              </a:p>
              <a:p>
                <a:endParaRPr lang="en-US" sz="2400" b="1" dirty="0">
                  <a:solidFill>
                    <a:srgbClr val="000000"/>
                  </a:solidFill>
                  <a:latin typeface="Nunito 1" panose="020B0604020202020204" charset="0"/>
                  <a:ea typeface="Nunito 1 Bold"/>
                  <a:cs typeface="Nunito 1 Bold"/>
                  <a:sym typeface="Nunito 1 Bold"/>
                </a:endParaRPr>
              </a:p>
              <a:p>
                <a:r>
                  <a:rPr lang="en-US" sz="2400" b="1" dirty="0">
                    <a:solidFill>
                      <a:srgbClr val="000000"/>
                    </a:solidFill>
                    <a:latin typeface="Nunito 1" panose="020B0604020202020204" charset="0"/>
                    <a:ea typeface="Nunito 1 Bold"/>
                    <a:cs typeface="Nunito 1 Bold"/>
                    <a:sym typeface="Nunito 1 Bold"/>
                  </a:rPr>
                  <a:t>Velocity by Current Meter Method</a:t>
                </a:r>
              </a:p>
              <a:p>
                <a:endParaRPr lang="en-US" sz="2400" b="1"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V = a + </a:t>
                </a:r>
                <a:r>
                  <a:rPr lang="en-US" sz="2400" dirty="0" err="1">
                    <a:solidFill>
                      <a:srgbClr val="000000"/>
                    </a:solidFill>
                    <a:latin typeface="Nunito 1" panose="020B0604020202020204" charset="0"/>
                    <a:ea typeface="Nunito 1 Bold"/>
                    <a:cs typeface="Nunito 1 Bold"/>
                    <a:sym typeface="Nunito 1 Bold"/>
                  </a:rPr>
                  <a:t>bN</a:t>
                </a:r>
                <a:r>
                  <a:rPr lang="en-US" sz="2400" dirty="0">
                    <a:solidFill>
                      <a:srgbClr val="000000"/>
                    </a:solidFill>
                    <a:latin typeface="Nunito 1" panose="020B0604020202020204" charset="0"/>
                    <a:ea typeface="Nunito 1 Bold"/>
                    <a:cs typeface="Nunito 1 Bold"/>
                    <a:sym typeface="Nunito 1 Bold"/>
                  </a:rPr>
                  <a:t>		</a:t>
                </a:r>
              </a:p>
            </p:txBody>
          </p:sp>
        </mc:Choice>
        <mc:Fallback xmlns="">
          <p:sp>
            <p:nvSpPr>
              <p:cNvPr id="15" name="TextBox 15">
                <a:extLst>
                  <a:ext uri="{FF2B5EF4-FFF2-40B4-BE49-F238E27FC236}">
                    <a16:creationId xmlns:a16="http://schemas.microsoft.com/office/drawing/2014/main" id="{8B5AF456-127A-5F52-BC26-A7085F7208F4}"/>
                  </a:ext>
                </a:extLst>
              </p:cNvPr>
              <p:cNvSpPr txBox="1">
                <a:spLocks noRot="1" noChangeAspect="1" noMove="1" noResize="1" noEditPoints="1" noAdjustHandles="1" noChangeArrowheads="1" noChangeShapeType="1" noTextEdit="1"/>
              </p:cNvSpPr>
              <p:nvPr/>
            </p:nvSpPr>
            <p:spPr>
              <a:xfrm>
                <a:off x="2246041" y="1972242"/>
                <a:ext cx="13795916" cy="3923382"/>
              </a:xfrm>
              <a:prstGeom prst="rect">
                <a:avLst/>
              </a:prstGeom>
              <a:blipFill>
                <a:blip r:embed="rId3"/>
                <a:stretch>
                  <a:fillRect l="-1325" t="-2488" b="-3888"/>
                </a:stretch>
              </a:blipFill>
            </p:spPr>
            <p:txBody>
              <a:bodyPr/>
              <a:lstStyle/>
              <a:p>
                <a:r>
                  <a:rPr lang="en-PH">
                    <a:noFill/>
                  </a:rPr>
                  <a:t> </a:t>
                </a:r>
              </a:p>
            </p:txBody>
          </p:sp>
        </mc:Fallback>
      </mc:AlternateContent>
      <p:sp>
        <p:nvSpPr>
          <p:cNvPr id="19" name="TextBox 12">
            <a:extLst>
              <a:ext uri="{FF2B5EF4-FFF2-40B4-BE49-F238E27FC236}">
                <a16:creationId xmlns:a16="http://schemas.microsoft.com/office/drawing/2014/main" id="{FAECEEEA-E96F-41F5-8DDC-950D5ED3BAB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7472E59-F7B3-0CA9-0568-3900FBBEA03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429ED359-8EE2-85C4-E5B1-9E9B0B798CD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40DEE7F-1FD2-05BD-9354-775320905A5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A0D46EA-0120-6FC5-3CEF-AAB4255E331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84843B6-03B8-C5AC-DF53-E6E40E62EF4D}"/>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pic>
        <p:nvPicPr>
          <p:cNvPr id="16" name="Picture 15">
            <a:extLst>
              <a:ext uri="{FF2B5EF4-FFF2-40B4-BE49-F238E27FC236}">
                <a16:creationId xmlns:a16="http://schemas.microsoft.com/office/drawing/2014/main" id="{141BAB0E-EC80-5BA9-D872-7805F5547CE9}"/>
              </a:ext>
            </a:extLst>
          </p:cNvPr>
          <p:cNvPicPr>
            <a:picLocks noChangeAspect="1"/>
          </p:cNvPicPr>
          <p:nvPr/>
        </p:nvPicPr>
        <p:blipFill>
          <a:blip r:embed="rId4"/>
          <a:stretch>
            <a:fillRect/>
          </a:stretch>
        </p:blipFill>
        <p:spPr>
          <a:xfrm>
            <a:off x="6592227" y="5483034"/>
            <a:ext cx="10058402" cy="2846156"/>
          </a:xfrm>
          <a:prstGeom prst="rect">
            <a:avLst/>
          </a:prstGeom>
        </p:spPr>
      </p:pic>
      <p:sp>
        <p:nvSpPr>
          <p:cNvPr id="17" name="TextBox 15">
            <a:extLst>
              <a:ext uri="{FF2B5EF4-FFF2-40B4-BE49-F238E27FC236}">
                <a16:creationId xmlns:a16="http://schemas.microsoft.com/office/drawing/2014/main" id="{64BCCA13-0BD9-A6C1-61C9-2C288AE7F4B8}"/>
              </a:ext>
            </a:extLst>
          </p:cNvPr>
          <p:cNvSpPr txBox="1"/>
          <p:nvPr/>
        </p:nvSpPr>
        <p:spPr>
          <a:xfrm>
            <a:off x="2246041" y="6270440"/>
            <a:ext cx="5221559" cy="1231106"/>
          </a:xfrm>
          <a:prstGeom prst="rect">
            <a:avLst/>
          </a:prstGeom>
        </p:spPr>
        <p:txBody>
          <a:bodyPr wrap="square" lIns="0" tIns="0" rIns="0" bIns="0" rtlCol="0" anchor="t">
            <a:spAutoFit/>
          </a:bodyPr>
          <a:lstStyle/>
          <a:p>
            <a:r>
              <a:rPr lang="en-US" sz="2000" dirty="0">
                <a:solidFill>
                  <a:srgbClr val="000000"/>
                </a:solidFill>
                <a:latin typeface="Nunito 1" panose="020B0604020202020204" charset="0"/>
                <a:ea typeface="Nunito 1 Bold"/>
                <a:cs typeface="Nunito 1 Bold"/>
                <a:sym typeface="Nunito 1 Bold"/>
              </a:rPr>
              <a:t>where: a = starting velocity</a:t>
            </a:r>
          </a:p>
          <a:p>
            <a:pPr>
              <a:tabLst>
                <a:tab pos="990600" algn="l"/>
              </a:tabLst>
            </a:pPr>
            <a:r>
              <a:rPr lang="en-US" sz="2000" b="1" dirty="0">
                <a:solidFill>
                  <a:srgbClr val="000000"/>
                </a:solidFill>
                <a:latin typeface="Nunito 1" panose="020B0604020202020204" charset="0"/>
                <a:ea typeface="Nunito 1 Bold"/>
                <a:cs typeface="Nunito 1 Bold"/>
                <a:sym typeface="Nunito 1 Bold"/>
              </a:rPr>
              <a:t>	</a:t>
            </a:r>
            <a:r>
              <a:rPr lang="en-US" sz="2000" dirty="0">
                <a:solidFill>
                  <a:srgbClr val="000000"/>
                </a:solidFill>
                <a:latin typeface="Nunito 1" panose="020B0604020202020204" charset="0"/>
                <a:ea typeface="Nunito 1 Bold"/>
                <a:cs typeface="Nunito 1 Bold"/>
                <a:sym typeface="Nunito 1 Bold"/>
              </a:rPr>
              <a:t>b = proportionality constant</a:t>
            </a:r>
          </a:p>
          <a:p>
            <a:pPr>
              <a:tabLst>
                <a:tab pos="990600" algn="l"/>
              </a:tabLst>
            </a:pPr>
            <a:r>
              <a:rPr lang="en-US" sz="2000" dirty="0">
                <a:solidFill>
                  <a:srgbClr val="000000"/>
                </a:solidFill>
                <a:latin typeface="Nunito 1" panose="020B0604020202020204" charset="0"/>
                <a:ea typeface="Nunito 1 Bold"/>
                <a:cs typeface="Nunito 1 Bold"/>
                <a:sym typeface="Nunito 1 Bold"/>
              </a:rPr>
              <a:t>	N = speed of impeller </a:t>
            </a:r>
          </a:p>
          <a:p>
            <a:pPr>
              <a:tabLst>
                <a:tab pos="7442200" algn="l"/>
              </a:tabLst>
            </a:pPr>
            <a:endParaRPr lang="en-US" sz="2000" dirty="0">
              <a:solidFill>
                <a:srgbClr val="000000"/>
              </a:solidFill>
              <a:latin typeface="Nunito 1" panose="020B0604020202020204" charset="0"/>
              <a:ea typeface="Nunito 1 Bold"/>
              <a:cs typeface="Nunito 1 Bold"/>
              <a:sym typeface="Nunito 1 Bold"/>
            </a:endParaRPr>
          </a:p>
        </p:txBody>
      </p:sp>
      <p:grpSp>
        <p:nvGrpSpPr>
          <p:cNvPr id="14" name="Group 13">
            <a:extLst>
              <a:ext uri="{FF2B5EF4-FFF2-40B4-BE49-F238E27FC236}">
                <a16:creationId xmlns:a16="http://schemas.microsoft.com/office/drawing/2014/main" id="{1F34274D-6B83-11D0-C1F8-AF1C1EE56A75}"/>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A1F5ECE7-A11B-9DAD-F81B-8E43AA9CECF9}"/>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F9F38733-0EA1-20A4-666C-5ECEA4D3DF5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132AE095-617E-6FB5-744A-0C3D66EF2B2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7A9EF180-E507-2254-24EC-5EA69AF010C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DCF810EA-1392-979D-F4F0-85D74F1371F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4632992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D93F-D700-B6A6-5087-78AF8999C8B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ABBB467-2812-C83D-B25B-28AA6720BDD0}"/>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0254A8E6-1940-E581-6562-359D63C69322}"/>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EF80F3C-F053-F25D-A287-4A9190DD890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C5F34704-57DC-01DB-A7D0-98531B8847EB}"/>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9AAF273F-8631-DE50-328F-1943CE43D5C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B2B24BED-D751-15FC-30F4-341FA973F94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875317E-0002-95A4-AF15-5EE46208CF33}"/>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F3924855-44E2-EBBB-4A5A-8FDBDE52662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75A71AA-6297-02F8-D725-1B7CEC9EC7F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A8FB2B9-9513-D75B-E26C-ED367E2FC76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602FA4F-487C-268A-676E-4ACBD1AB00A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9037F8F-E874-776C-798E-609B2972555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3EB4362F-3E4D-1F36-6162-9AD7803720F7}"/>
              </a:ext>
            </a:extLst>
          </p:cNvPr>
          <p:cNvSpPr txBox="1"/>
          <p:nvPr/>
        </p:nvSpPr>
        <p:spPr>
          <a:xfrm>
            <a:off x="2246041" y="1972242"/>
            <a:ext cx="13795916" cy="1846659"/>
          </a:xfrm>
          <a:prstGeom prst="rect">
            <a:avLst/>
          </a:prstGeom>
        </p:spPr>
        <p:txBody>
          <a:bodyPr lIns="0" tIns="0" rIns="0" bIns="0" rtlCol="0" anchor="t">
            <a:spAutoFit/>
          </a:bodyPr>
          <a:lstStyle/>
          <a:p>
            <a:pPr algn="ctr"/>
            <a:r>
              <a:rPr lang="en-US" sz="2400" b="1" dirty="0">
                <a:solidFill>
                  <a:srgbClr val="000000"/>
                </a:solidFill>
                <a:latin typeface="Nunito 1" panose="020B0604020202020204" charset="0"/>
                <a:ea typeface="Nunito 1 Bold"/>
                <a:cs typeface="Nunito 1 Bold"/>
                <a:sym typeface="Nunito 1 Bold"/>
              </a:rPr>
              <a:t>METHODS OF VELOCITY MEASUREMENT</a:t>
            </a:r>
          </a:p>
          <a:p>
            <a:endParaRPr lang="en-US" sz="2400" b="1" dirty="0">
              <a:solidFill>
                <a:srgbClr val="000000"/>
              </a:solidFill>
              <a:latin typeface="Nunito 1" panose="020B0604020202020204" charset="0"/>
              <a:ea typeface="Nunito 1 Bold"/>
              <a:cs typeface="Nunito 1 Bold"/>
              <a:sym typeface="Nunito 1 Bold"/>
            </a:endParaRPr>
          </a:p>
          <a:p>
            <a:r>
              <a:rPr lang="en-US" sz="2400" b="1" dirty="0">
                <a:solidFill>
                  <a:srgbClr val="000000"/>
                </a:solidFill>
                <a:latin typeface="Nunito 1" panose="020B0604020202020204" charset="0"/>
                <a:ea typeface="Nunito 1 Bold"/>
                <a:cs typeface="Nunito 1 Bold"/>
                <a:sym typeface="Nunito 1 Bold"/>
              </a:rPr>
              <a:t>Velocity by Current Meter Method</a:t>
            </a:r>
          </a:p>
          <a:p>
            <a:endParaRPr lang="en-US" sz="2400" b="1"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V = a + </a:t>
            </a:r>
            <a:r>
              <a:rPr lang="en-US" sz="2400" dirty="0" err="1">
                <a:solidFill>
                  <a:srgbClr val="000000"/>
                </a:solidFill>
                <a:latin typeface="Nunito 1" panose="020B0604020202020204" charset="0"/>
                <a:ea typeface="Nunito 1 Bold"/>
                <a:cs typeface="Nunito 1 Bold"/>
                <a:sym typeface="Nunito 1 Bold"/>
              </a:rPr>
              <a:t>bN</a:t>
            </a:r>
            <a:r>
              <a:rPr lang="en-US" sz="2400" dirty="0">
                <a:solidFill>
                  <a:srgbClr val="000000"/>
                </a:solidFill>
                <a:latin typeface="Nunito 1" panose="020B0604020202020204" charset="0"/>
                <a:ea typeface="Nunito 1 Bold"/>
                <a:cs typeface="Nunito 1 Bold"/>
                <a:sym typeface="Nunito 1 Bold"/>
              </a:rPr>
              <a:t>		</a:t>
            </a:r>
          </a:p>
        </p:txBody>
      </p:sp>
      <p:sp>
        <p:nvSpPr>
          <p:cNvPr id="19" name="TextBox 12">
            <a:extLst>
              <a:ext uri="{FF2B5EF4-FFF2-40B4-BE49-F238E27FC236}">
                <a16:creationId xmlns:a16="http://schemas.microsoft.com/office/drawing/2014/main" id="{E40D3E29-8B9E-9783-568F-166EFA60568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BBB7312-7915-9370-D6BE-AF06605BB23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8857697E-FDE3-4610-937D-482B80BF6398}"/>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0AA69B1-912F-FF5C-1317-5CA99C3208F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86AE0BD-297C-DD1B-4CF7-B3EC5EA41AE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216C9AC9-3D4E-9B8A-07A8-15C16ED01136}"/>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pic>
        <p:nvPicPr>
          <p:cNvPr id="16" name="Picture 15">
            <a:extLst>
              <a:ext uri="{FF2B5EF4-FFF2-40B4-BE49-F238E27FC236}">
                <a16:creationId xmlns:a16="http://schemas.microsoft.com/office/drawing/2014/main" id="{03FB61CD-8391-F7E0-A8F6-5E3E37CF5296}"/>
              </a:ext>
            </a:extLst>
          </p:cNvPr>
          <p:cNvPicPr>
            <a:picLocks noChangeAspect="1"/>
          </p:cNvPicPr>
          <p:nvPr/>
        </p:nvPicPr>
        <p:blipFill>
          <a:blip r:embed="rId3"/>
          <a:stretch>
            <a:fillRect/>
          </a:stretch>
        </p:blipFill>
        <p:spPr>
          <a:xfrm>
            <a:off x="4337120" y="4198121"/>
            <a:ext cx="10058402" cy="2846156"/>
          </a:xfrm>
          <a:prstGeom prst="rect">
            <a:avLst/>
          </a:prstGeom>
        </p:spPr>
      </p:pic>
      <p:grpSp>
        <p:nvGrpSpPr>
          <p:cNvPr id="14" name="Group 13">
            <a:extLst>
              <a:ext uri="{FF2B5EF4-FFF2-40B4-BE49-F238E27FC236}">
                <a16:creationId xmlns:a16="http://schemas.microsoft.com/office/drawing/2014/main" id="{10BACAFE-4E4C-BE0C-737B-FED429E8A96A}"/>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CE021E5E-9046-D20E-CA26-8E9AF97CDB67}"/>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F116BE9D-5FB8-25B2-919D-8C828F14149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714A0988-900E-0B5B-9FD8-4F79F83BE5D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BA60164F-42E1-5376-9023-533942ACF36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BD932057-7213-4A48-712D-09D65A3FB18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8382615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A558B-9631-F062-9F7A-A36CFABF87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265E84D-3CEA-CA4C-25A0-D0745AC3BDA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B9EF263-F31A-331B-830B-05806815D25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1FBB039-9FDE-8FA7-ED4D-2AB24DC4A13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D9CBADC0-A2C9-C1E1-16BE-6784C79824BA}"/>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C7FD6F0-D3D9-2CB5-5A5B-A1162E6FB7B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8A8EF0E2-E4AF-BF44-33D7-3BADA2BAAB1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27A3971D-BABB-46BF-4D66-07192A38778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EF068D2-E8E2-E7B5-6FF5-3BC1FD6ADB28}"/>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1B8B0C7-C6B5-A626-B402-3A9C88539AB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B1D2B05-9755-E5A4-E44E-D4E54E20208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A96C5CA-A39C-EC23-7448-D58F86E83A6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91A374B-7EB7-6DA5-14F5-DF7A28A45CA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5D7AAB2-D586-B8FD-D875-1BD6F7237B9B}"/>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a:t>
            </a:r>
          </a:p>
        </p:txBody>
      </p:sp>
      <p:sp>
        <p:nvSpPr>
          <p:cNvPr id="15" name="TextBox 15">
            <a:extLst>
              <a:ext uri="{FF2B5EF4-FFF2-40B4-BE49-F238E27FC236}">
                <a16:creationId xmlns:a16="http://schemas.microsoft.com/office/drawing/2014/main" id="{5E43D8E9-1450-4A08-B649-90F33A46D94A}"/>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Using the float method in determining the velocity of  water in a channel, the float velocity in relation to the average water velocity is ____. </a:t>
            </a:r>
          </a:p>
        </p:txBody>
      </p:sp>
      <p:sp>
        <p:nvSpPr>
          <p:cNvPr id="19" name="TextBox 12">
            <a:extLst>
              <a:ext uri="{FF2B5EF4-FFF2-40B4-BE49-F238E27FC236}">
                <a16:creationId xmlns:a16="http://schemas.microsoft.com/office/drawing/2014/main" id="{8C3AE6EE-1847-5BC4-F9EC-2F142182817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26C859C-052A-FF4B-E5BE-190D33D1A81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D6700D6C-5B07-1767-605B-3D07DB906D08}"/>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00D733B-9491-6F5E-1DE2-DB306045424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6263A352-2812-EE5F-DD22-20DDF5A4EAB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84088877-13D2-3004-28AC-B3E7E6ED630F}"/>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E68CFA9F-BC99-47C2-BB8C-8EA636E1996E}"/>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Equal to average water velocity </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Less than to average water velocity </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Greater than average water velocity </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No relation at all </a:t>
            </a:r>
          </a:p>
        </p:txBody>
      </p:sp>
      <p:sp>
        <p:nvSpPr>
          <p:cNvPr id="17" name="Oval 16">
            <a:extLst>
              <a:ext uri="{FF2B5EF4-FFF2-40B4-BE49-F238E27FC236}">
                <a16:creationId xmlns:a16="http://schemas.microsoft.com/office/drawing/2014/main" id="{0548BA9F-635A-9106-9915-CC7291BAD3F7}"/>
              </a:ext>
            </a:extLst>
          </p:cNvPr>
          <p:cNvSpPr/>
          <p:nvPr/>
        </p:nvSpPr>
        <p:spPr>
          <a:xfrm>
            <a:off x="1505640" y="437801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8462AE96-4B23-3FC8-21FF-B51B1D5B275C}"/>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B83FAFC0-993E-B9FF-E8CA-5FA2A1EEA3E7}"/>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612A6DD2-C6AC-94D9-61D5-AE9E9868FBA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F2CC1270-39A6-A036-71B2-64B6BB25764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74683D19-ED86-1579-663A-C8E4EA98CFE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46DDE8AA-2F76-0CEA-7929-EDD66063F12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19422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5E8A5-E8CD-50EB-2FDD-9499896C489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A158B8C-F21E-DF6F-C33E-F97763BB8CD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33CDCB2-B711-2DE7-24BF-2B085600C55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FF81327-D3BA-6A4F-20F7-AB25C4B85845}"/>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3FC65BE6-FE98-B33A-7B85-29931CF84FB2}"/>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163D818-7D4F-AEAD-E1DA-5FB84527BC0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F9F2F2A-87F5-ED74-482B-23A516A5D87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8981C08-2A4F-0BC6-A4DB-04EAE255E88C}"/>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49CE02D2-5F0E-91C5-37B9-70B8B7A20DF9}"/>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B9277B07-1374-1C79-E959-9D6E260906F3}"/>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9509F25-A1DA-6AC9-A690-8F599B3CCB80}"/>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14AEA1A3-92F9-98B6-523C-15BECD7415F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0B9FEB3E-86B5-1D9C-FB69-E82BBCBB917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CEEF0C85-F97F-8657-10C9-5802FFC95208}"/>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 </a:t>
            </a:r>
          </a:p>
        </p:txBody>
      </p:sp>
      <p:sp>
        <p:nvSpPr>
          <p:cNvPr id="15" name="TextBox 15">
            <a:extLst>
              <a:ext uri="{FF2B5EF4-FFF2-40B4-BE49-F238E27FC236}">
                <a16:creationId xmlns:a16="http://schemas.microsoft.com/office/drawing/2014/main" id="{C0C1B602-3951-BD24-F99A-5A9CF8B36482}"/>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The velocities at 0.2 and 0.8 of the depth of flow in a 1.0 m wide rectangular open channel are 1.2 m/s and 0.3 m/s respectively. If the flow depth is 0.8m, the discharge is?</a:t>
            </a:r>
          </a:p>
        </p:txBody>
      </p:sp>
      <p:sp>
        <p:nvSpPr>
          <p:cNvPr id="19" name="TextBox 12">
            <a:extLst>
              <a:ext uri="{FF2B5EF4-FFF2-40B4-BE49-F238E27FC236}">
                <a16:creationId xmlns:a16="http://schemas.microsoft.com/office/drawing/2014/main" id="{66A237D8-DF70-E516-1192-59B10133D29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A167F7A6-BF40-60A6-F85E-B4221CDB1F6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4D3BA4E7-A5B9-5282-B6BB-16B8312FD0B1}"/>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EB8BAE3-E64E-4264-B01F-203426D1C4B2}"/>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E18991A-4732-E6D0-513D-C75579DBB26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E0103EE8-1921-C2A3-F2F9-59166B07B72B}"/>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B9ED46AF-26FC-3229-E571-86F9A96688A3}"/>
              </a:ext>
            </a:extLst>
          </p:cNvPr>
          <p:cNvSpPr txBox="1"/>
          <p:nvPr/>
        </p:nvSpPr>
        <p:spPr>
          <a:xfrm>
            <a:off x="1676400" y="294129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0.6m3/s</a:t>
            </a:r>
          </a:p>
        </p:txBody>
      </p:sp>
      <p:pic>
        <p:nvPicPr>
          <p:cNvPr id="18" name="Picture 17">
            <a:extLst>
              <a:ext uri="{FF2B5EF4-FFF2-40B4-BE49-F238E27FC236}">
                <a16:creationId xmlns:a16="http://schemas.microsoft.com/office/drawing/2014/main" id="{954621B3-E2F3-9E8B-F84B-3B1DFB9008CF}"/>
              </a:ext>
            </a:extLst>
          </p:cNvPr>
          <p:cNvPicPr>
            <a:picLocks noChangeAspect="1"/>
          </p:cNvPicPr>
          <p:nvPr/>
        </p:nvPicPr>
        <p:blipFill>
          <a:blip r:embed="rId2"/>
          <a:stretch>
            <a:fillRect/>
          </a:stretch>
        </p:blipFill>
        <p:spPr>
          <a:xfrm>
            <a:off x="4114798" y="4202537"/>
            <a:ext cx="10058402" cy="2846156"/>
          </a:xfrm>
          <a:prstGeom prst="rect">
            <a:avLst/>
          </a:prstGeom>
        </p:spPr>
      </p:pic>
      <p:grpSp>
        <p:nvGrpSpPr>
          <p:cNvPr id="17" name="Group 16">
            <a:extLst>
              <a:ext uri="{FF2B5EF4-FFF2-40B4-BE49-F238E27FC236}">
                <a16:creationId xmlns:a16="http://schemas.microsoft.com/office/drawing/2014/main" id="{39A1D315-551B-9080-9D37-4DD4476CC342}"/>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45D23C36-1473-C5CE-7C04-76F7CB102D55}"/>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20C16AFB-177B-3C04-B9BE-5254A055259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376B6B54-E024-6ABE-5814-C9C1CE9EE60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58ECD183-1BCD-CB58-11FE-C3F03C05BD0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1FB03325-0974-AF8D-7790-DBCDE0F9362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469983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DBB0F-087F-4FDB-7354-FEE04663D6F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5A73FED-F421-5367-3F96-121292C250B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D30DE0D-5094-31A9-2FD9-B107614366F4}"/>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DC6E2DF-E77C-8232-E35E-61E55307A7E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68433BA-2D72-C8CC-5B60-C4E09C9A60D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14E01D0-CC85-16FE-2CAE-DDB9FF10942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E3B7D3B-65CC-83D5-CA98-0A7F8C676F9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048011D0-EC05-3449-FE64-0A191266545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E554A5C-E368-C54A-E3B1-3B9E5E355C27}"/>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6B1B2FC-B9D1-BEBF-0F1D-576F34989A7E}"/>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32909FB-B734-0A03-B059-425FB456D70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ED8E606-9BE8-C01A-0F10-56327DD0326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C2309081-E485-DFDE-1B45-B0983A690EA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E20C9483-1925-8182-4ACB-FDED7FFC7E4F}"/>
              </a:ext>
            </a:extLst>
          </p:cNvPr>
          <p:cNvSpPr txBox="1"/>
          <p:nvPr/>
        </p:nvSpPr>
        <p:spPr>
          <a:xfrm>
            <a:off x="2246041" y="1972242"/>
            <a:ext cx="13795916" cy="2215991"/>
          </a:xfrm>
          <a:prstGeom prst="rect">
            <a:avLst/>
          </a:prstGeom>
        </p:spPr>
        <p:txBody>
          <a:bodyPr lIns="0" tIns="0" rIns="0" bIns="0" rtlCol="0" anchor="t">
            <a:spAutoFit/>
          </a:bodyPr>
          <a:lstStyle/>
          <a:p>
            <a:pPr algn="ctr"/>
            <a:r>
              <a:rPr lang="en-US" sz="2400" b="1" dirty="0">
                <a:solidFill>
                  <a:srgbClr val="000000"/>
                </a:solidFill>
                <a:latin typeface="Nunito 1" panose="020B0604020202020204" charset="0"/>
                <a:ea typeface="Nunito 1 Bold"/>
                <a:cs typeface="Nunito 1 Bold"/>
                <a:sym typeface="Nunito 1 Bold"/>
              </a:rPr>
              <a:t>METHODS OF VELOCITY MEASUREMENT</a:t>
            </a:r>
          </a:p>
          <a:p>
            <a:endParaRPr lang="en-US" sz="2400" b="1" dirty="0">
              <a:solidFill>
                <a:srgbClr val="000000"/>
              </a:solidFill>
              <a:latin typeface="Nunito 1" panose="020B0604020202020204" charset="0"/>
              <a:ea typeface="Nunito 1 Bold"/>
              <a:cs typeface="Nunito 1 Bold"/>
              <a:sym typeface="Nunito 1 Bold"/>
            </a:endParaRPr>
          </a:p>
          <a:p>
            <a:r>
              <a:rPr lang="en-US" sz="2400" b="1" dirty="0">
                <a:solidFill>
                  <a:srgbClr val="000000"/>
                </a:solidFill>
                <a:latin typeface="Nunito 1" panose="020B0604020202020204" charset="0"/>
                <a:ea typeface="Nunito 1 Bold"/>
                <a:cs typeface="Nunito 1 Bold"/>
                <a:sym typeface="Nunito 1 Bold"/>
              </a:rPr>
              <a:t>Parshall Flume </a:t>
            </a:r>
          </a:p>
          <a:p>
            <a:endParaRPr lang="en-US" sz="24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Measures flow by noting the head loss caused by forcing a stream of water through a throat or constricted section of the flume with a depressed bottom.</a:t>
            </a:r>
          </a:p>
        </p:txBody>
      </p:sp>
      <p:sp>
        <p:nvSpPr>
          <p:cNvPr id="19" name="TextBox 12">
            <a:extLst>
              <a:ext uri="{FF2B5EF4-FFF2-40B4-BE49-F238E27FC236}">
                <a16:creationId xmlns:a16="http://schemas.microsoft.com/office/drawing/2014/main" id="{E16D8ED6-BCD6-BCB6-B072-B2200EA7BA0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1EC5CF3C-B903-11E3-A085-D6A89099B6F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5FCC93BF-0761-77AA-A3F0-EFDF3FFA9F3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1EC44AB-570F-4A75-C52C-86C29DBC68E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FDBC9574-6284-974D-55B8-4B0F5CEE78D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DF0CF131-3A54-1AAB-E8EC-65F163C8826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pic>
        <p:nvPicPr>
          <p:cNvPr id="4098" name="Picture 2" descr="The 3-Inch Parshall Flume | Open Channel Flow">
            <a:extLst>
              <a:ext uri="{FF2B5EF4-FFF2-40B4-BE49-F238E27FC236}">
                <a16:creationId xmlns:a16="http://schemas.microsoft.com/office/drawing/2014/main" id="{399702D3-68D1-785C-F628-2413E160C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8279" y="4490895"/>
            <a:ext cx="9525000" cy="3257550"/>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14B43E60-4CA1-9F42-A149-600A1FEB2754}"/>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7001240F-D1CE-FAAA-076E-46DB6E106FEC}"/>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499F8DAE-102C-E3E4-5FE3-44898912DF9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14F7AD70-A177-CCAE-1025-8C5BF496E1A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EF0E3CC5-0212-B34D-195D-BB299C7BB80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19BA4713-C8E4-11F6-D484-25056B24F3A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3579834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0219C-A108-6174-67D6-8F716497021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27517B1-7F8B-3030-5012-491F74E7DFB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5821635-777B-53C6-426A-AC87A45A6E0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31816B4C-1C31-8C5F-B0F9-8EE775EB2E3C}"/>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563EE563-FACE-66F9-684A-461F60A2240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97AB6EC6-C2A1-0954-B9B4-8B3B434CCF6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CE603D2-EB27-0F65-C52C-56FA9FD1462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188417E-7FD2-77ED-72D1-C7111D4E9CE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133A6F7-2152-40C2-F16C-2A1F2E09B11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06F2B15-19B0-D89C-3B3C-48184B845E1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B1B5BA3-9D20-7818-41A8-02D2D914519B}"/>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E474A7E-1D5B-7A95-8808-EA419FF6FED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166DD15-CD8C-D7B4-1695-2E8FBB1F198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mc:AlternateContent xmlns:mc="http://schemas.openxmlformats.org/markup-compatibility/2006" xmlns:a14="http://schemas.microsoft.com/office/drawing/2010/main">
        <mc:Choice Requires="a14">
          <p:sp>
            <p:nvSpPr>
              <p:cNvPr id="15" name="TextBox 15">
                <a:extLst>
                  <a:ext uri="{FF2B5EF4-FFF2-40B4-BE49-F238E27FC236}">
                    <a16:creationId xmlns:a16="http://schemas.microsoft.com/office/drawing/2014/main" id="{8057812B-3160-3A74-0EA6-A1E330482037}"/>
                  </a:ext>
                </a:extLst>
              </p:cNvPr>
              <p:cNvSpPr txBox="1"/>
              <p:nvPr/>
            </p:nvSpPr>
            <p:spPr>
              <a:xfrm>
                <a:off x="2246041" y="2025065"/>
                <a:ext cx="13795916" cy="6664325"/>
              </a:xfrm>
              <a:prstGeom prst="rect">
                <a:avLst/>
              </a:prstGeom>
            </p:spPr>
            <p:txBody>
              <a:bodyPr lIns="0" tIns="0" rIns="0" bIns="0" rtlCol="0" anchor="t">
                <a:spAutoFit/>
              </a:bodyPr>
              <a:lstStyle/>
              <a:p>
                <a:r>
                  <a:rPr lang="en-US" sz="2400" b="1" dirty="0">
                    <a:solidFill>
                      <a:srgbClr val="000000"/>
                    </a:solidFill>
                    <a:latin typeface="Nunito 1" panose="020B0604020202020204" charset="0"/>
                    <a:ea typeface="Nunito 1 Bold"/>
                    <a:cs typeface="Nunito 1 Bold"/>
                    <a:sym typeface="Nunito 1 Bold"/>
                  </a:rPr>
                  <a:t>Velocity by Orifice Opening</a:t>
                </a:r>
              </a:p>
              <a:p>
                <a:endParaRPr lang="en-US" sz="2400" b="1" dirty="0">
                  <a:solidFill>
                    <a:srgbClr val="000000"/>
                  </a:solidFill>
                  <a:latin typeface="Nunito 1" panose="020B0604020202020204" charset="0"/>
                  <a:ea typeface="Nunito 1 Bold"/>
                  <a:cs typeface="Nunito 1 Bold"/>
                  <a:sym typeface="Nunito 1 Bold"/>
                </a:endParaRPr>
              </a:p>
              <a:p>
                <a:r>
                  <a:rPr lang="en-PH" sz="2400" dirty="0">
                    <a:solidFill>
                      <a:srgbClr val="000000"/>
                    </a:solidFill>
                    <a:latin typeface="Nunito 1" panose="020B0604020202020204" charset="0"/>
                    <a:ea typeface="Nunito 1 Bold"/>
                    <a:cs typeface="Nunito 1 Bold"/>
                    <a:sym typeface="Nunito 1 Bold"/>
                  </a:rPr>
                  <a:t>V = </a:t>
                </a:r>
                <a14:m>
                  <m:oMath xmlns:m="http://schemas.openxmlformats.org/officeDocument/2006/math">
                    <m:rad>
                      <m:radPr>
                        <m:degHide m:val="on"/>
                        <m:ctrlPr>
                          <a:rPr lang="en-PH" sz="2400" i="1" smtClean="0">
                            <a:solidFill>
                              <a:srgbClr val="000000"/>
                            </a:solidFill>
                            <a:latin typeface="Cambria Math" panose="02040503050406030204" pitchFamily="18" charset="0"/>
                            <a:sym typeface="Nunito 1 Bold"/>
                          </a:rPr>
                        </m:ctrlPr>
                      </m:radPr>
                      <m:deg/>
                      <m:e>
                        <m:r>
                          <m:rPr>
                            <m:nor/>
                          </m:rPr>
                          <a:rPr lang="en-PH" sz="2400" b="0" i="0" smtClean="0">
                            <a:solidFill>
                              <a:srgbClr val="000000"/>
                            </a:solidFill>
                            <a:latin typeface="Nunito 1" panose="020B0604020202020204" charset="0"/>
                            <a:sym typeface="Nunito 1 Bold"/>
                          </a:rPr>
                          <m:t>2</m:t>
                        </m:r>
                        <m:r>
                          <m:rPr>
                            <m:nor/>
                          </m:rPr>
                          <a:rPr lang="en-PH" sz="2400" b="0" i="0" smtClean="0">
                            <a:solidFill>
                              <a:srgbClr val="000000"/>
                            </a:solidFill>
                            <a:latin typeface="Nunito 1" panose="020B0604020202020204" charset="0"/>
                            <a:sym typeface="Nunito 1 Bold"/>
                          </a:rPr>
                          <m:t>gh</m:t>
                        </m:r>
                      </m:e>
                    </m:rad>
                    <m:r>
                      <m:rPr>
                        <m:nor/>
                      </m:rPr>
                      <a:rPr lang="en-PH" sz="2400" b="0" i="0" smtClean="0">
                        <a:solidFill>
                          <a:srgbClr val="000000"/>
                        </a:solidFill>
                        <a:latin typeface="Nunito 1" panose="020B0604020202020204" charset="0"/>
                        <a:sym typeface="Nunito 1 Bold"/>
                      </a:rPr>
                      <m:t> </m:t>
                    </m:r>
                  </m:oMath>
                </a14:m>
                <a:r>
                  <a:rPr lang="en-US" sz="2400" b="1" dirty="0">
                    <a:solidFill>
                      <a:srgbClr val="000000"/>
                    </a:solidFill>
                    <a:latin typeface="Nunito 1" panose="020B0604020202020204" charset="0"/>
                    <a:ea typeface="Nunito 1 Bold"/>
                    <a:cs typeface="Nunito 1 Bold"/>
                    <a:sym typeface="Nunito 1 Bold"/>
                  </a:rPr>
                  <a:t>		</a:t>
                </a:r>
                <a:r>
                  <a:rPr lang="en-US" sz="2400" dirty="0">
                    <a:solidFill>
                      <a:srgbClr val="000000"/>
                    </a:solidFill>
                    <a:latin typeface="Nunito 1" panose="020B0604020202020204" charset="0"/>
                    <a:ea typeface="Nunito 1 Bold"/>
                    <a:cs typeface="Nunito 1 Bold"/>
                    <a:sym typeface="Nunito 1 Bold"/>
                  </a:rPr>
                  <a:t>where: h = depth of water (cm) above opening</a:t>
                </a:r>
              </a:p>
              <a:p>
                <a:endParaRPr lang="en-US" sz="2400"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Q = </a:t>
                </a:r>
                <a:r>
                  <a:rPr lang="en-US" sz="2400" dirty="0" err="1">
                    <a:solidFill>
                      <a:srgbClr val="000000"/>
                    </a:solidFill>
                    <a:latin typeface="Nunito 1" panose="020B0604020202020204" charset="0"/>
                    <a:ea typeface="Nunito 1 Bold"/>
                    <a:cs typeface="Nunito 1 Bold"/>
                    <a:sym typeface="Nunito 1 Bold"/>
                  </a:rPr>
                  <a:t>C</a:t>
                </a:r>
                <a:r>
                  <a:rPr lang="en-US" sz="2400" baseline="-25000" dirty="0" err="1">
                    <a:solidFill>
                      <a:srgbClr val="000000"/>
                    </a:solidFill>
                    <a:latin typeface="Nunito 1" panose="020B0604020202020204" charset="0"/>
                    <a:ea typeface="Nunito 1 Bold"/>
                    <a:cs typeface="Nunito 1 Bold"/>
                    <a:sym typeface="Nunito 1 Bold"/>
                  </a:rPr>
                  <a:t>d</a:t>
                </a:r>
                <a:r>
                  <a:rPr lang="en-US" sz="2400" dirty="0" err="1">
                    <a:solidFill>
                      <a:srgbClr val="000000"/>
                    </a:solidFill>
                    <a:latin typeface="Nunito 1" panose="020B0604020202020204" charset="0"/>
                    <a:ea typeface="Nunito 1 Bold"/>
                    <a:cs typeface="Nunito 1 Bold"/>
                    <a:sym typeface="Nunito 1 Bold"/>
                  </a:rPr>
                  <a:t>AV</a:t>
                </a:r>
                <a:r>
                  <a:rPr lang="en-US" sz="2400" dirty="0">
                    <a:solidFill>
                      <a:srgbClr val="000000"/>
                    </a:solidFill>
                    <a:latin typeface="Nunito 1" panose="020B0604020202020204" charset="0"/>
                    <a:ea typeface="Nunito 1 Bold"/>
                    <a:cs typeface="Nunito 1 Bold"/>
                    <a:sym typeface="Nunito 1 Bold"/>
                  </a:rPr>
                  <a:t>		where: Cd value ranges from 0.027 to 0.035, depending on the position of orifice</a:t>
                </a:r>
              </a:p>
              <a:p>
                <a:endParaRPr lang="en-US" sz="2400" b="1" dirty="0">
                  <a:solidFill>
                    <a:srgbClr val="000000"/>
                  </a:solidFill>
                  <a:latin typeface="Nunito 1" panose="020B0604020202020204" charset="0"/>
                  <a:ea typeface="Nunito 1 Bold"/>
                  <a:cs typeface="Nunito 1 Bold"/>
                  <a:sym typeface="Nunito 1 Bold"/>
                </a:endParaRPr>
              </a:p>
              <a:p>
                <a:r>
                  <a:rPr lang="en-US" sz="2400" b="1" dirty="0">
                    <a:solidFill>
                      <a:srgbClr val="000000"/>
                    </a:solidFill>
                    <a:latin typeface="Nunito 1" panose="020B0604020202020204" charset="0"/>
                    <a:ea typeface="Nunito 1 Bold"/>
                    <a:cs typeface="Nunito 1 Bold"/>
                    <a:sym typeface="Nunito 1 Bold"/>
                  </a:rPr>
                  <a:t>Sharp Crested Weirs</a:t>
                </a:r>
              </a:p>
              <a:p>
                <a:endParaRPr lang="en-US" sz="2400" b="1"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Rectangular weir (Francis weir)		Q = 0.0184LH</a:t>
                </a:r>
                <a:r>
                  <a:rPr lang="en-US" sz="2400" baseline="30000" dirty="0">
                    <a:solidFill>
                      <a:srgbClr val="000000"/>
                    </a:solidFill>
                    <a:latin typeface="Nunito 1" panose="020B0604020202020204" charset="0"/>
                    <a:ea typeface="Nunito 1 Bold"/>
                    <a:cs typeface="Nunito 1 Bold"/>
                    <a:sym typeface="Nunito 1 Bold"/>
                  </a:rPr>
                  <a:t>3/2</a:t>
                </a:r>
              </a:p>
              <a:p>
                <a:pPr marL="342900" indent="-342900">
                  <a:buFont typeface="Arial" panose="020B0604020202020204" pitchFamily="34" charset="0"/>
                  <a:buChar char="•"/>
                </a:pPr>
                <a:endParaRPr lang="en-US" sz="2400" baseline="300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Rectangular weir with contraction		Q = 0.0184(L – 0.2H)H</a:t>
                </a:r>
                <a:r>
                  <a:rPr lang="en-US" sz="2400" baseline="30000" dirty="0">
                    <a:solidFill>
                      <a:srgbClr val="000000"/>
                    </a:solidFill>
                    <a:latin typeface="Nunito 1" panose="020B0604020202020204" charset="0"/>
                    <a:ea typeface="Nunito 1 Bold"/>
                    <a:cs typeface="Nunito 1 Bold"/>
                    <a:sym typeface="Nunito 1 Bold"/>
                  </a:rPr>
                  <a:t>3/2</a:t>
                </a: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endParaRPr lang="en-US" sz="2400" b="1"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Trapezoidal weir (</a:t>
                </a:r>
                <a:r>
                  <a:rPr lang="en-US" sz="2400" dirty="0" err="1">
                    <a:solidFill>
                      <a:srgbClr val="000000"/>
                    </a:solidFill>
                    <a:latin typeface="Nunito 1" panose="020B0604020202020204" charset="0"/>
                    <a:ea typeface="Nunito 1 Bold"/>
                    <a:cs typeface="Nunito 1 Bold"/>
                    <a:sym typeface="Nunito 1 Bold"/>
                  </a:rPr>
                  <a:t>Cipoletti</a:t>
                </a:r>
                <a:r>
                  <a:rPr lang="en-US" sz="2400" dirty="0">
                    <a:solidFill>
                      <a:srgbClr val="000000"/>
                    </a:solidFill>
                    <a:latin typeface="Nunito 1" panose="020B0604020202020204" charset="0"/>
                    <a:ea typeface="Nunito 1 Bold"/>
                    <a:cs typeface="Nunito 1 Bold"/>
                    <a:sym typeface="Nunito 1 Bold"/>
                  </a:rPr>
                  <a:t> weir)		Q = 0.0186LH</a:t>
                </a:r>
                <a:r>
                  <a:rPr lang="en-US" sz="2400" baseline="30000" dirty="0">
                    <a:solidFill>
                      <a:srgbClr val="000000"/>
                    </a:solidFill>
                    <a:latin typeface="Nunito 1" panose="020B0604020202020204" charset="0"/>
                    <a:ea typeface="Nunito 1 Bold"/>
                    <a:cs typeface="Nunito 1 Bold"/>
                    <a:sym typeface="Nunito 1 Bold"/>
                  </a:rPr>
                  <a:t>3/2</a:t>
                </a:r>
              </a:p>
              <a:p>
                <a:pPr marL="342900" indent="-342900">
                  <a:buFont typeface="Arial" panose="020B0604020202020204" pitchFamily="34" charset="0"/>
                  <a:buChar char="•"/>
                </a:pPr>
                <a:endParaRPr lang="en-US" sz="2400" b="1"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dirty="0">
                    <a:solidFill>
                      <a:srgbClr val="000000"/>
                    </a:solidFill>
                    <a:latin typeface="Nunito 1" panose="020B0604020202020204" charset="0"/>
                    <a:ea typeface="Nunito 1 Bold"/>
                    <a:cs typeface="Nunito 1 Bold"/>
                    <a:sym typeface="Nunito 1 Bold"/>
                  </a:rPr>
                  <a:t>90</a:t>
                </a:r>
                <a:r>
                  <a:rPr lang="en-US" sz="2400" baseline="30000" dirty="0">
                    <a:solidFill>
                      <a:srgbClr val="000000"/>
                    </a:solidFill>
                    <a:latin typeface="Nunito 1" panose="020B0604020202020204" charset="0"/>
                    <a:ea typeface="Nunito 1 Bold"/>
                    <a:cs typeface="Nunito 1 Bold"/>
                    <a:sym typeface="Nunito 1 Bold"/>
                  </a:rPr>
                  <a:t>0</a:t>
                </a:r>
                <a:r>
                  <a:rPr lang="en-US" sz="2400" dirty="0">
                    <a:solidFill>
                      <a:srgbClr val="000000"/>
                    </a:solidFill>
                    <a:latin typeface="Nunito 1" panose="020B0604020202020204" charset="0"/>
                    <a:ea typeface="Nunito 1 Bold"/>
                    <a:cs typeface="Nunito 1 Bold"/>
                    <a:sym typeface="Nunito 1 Bold"/>
                  </a:rPr>
                  <a:t> triangular weir				Q = 0.0138H</a:t>
                </a:r>
                <a:r>
                  <a:rPr lang="en-US" sz="2400" baseline="30000" dirty="0">
                    <a:solidFill>
                      <a:srgbClr val="000000"/>
                    </a:solidFill>
                    <a:latin typeface="Nunito 1" panose="020B0604020202020204" charset="0"/>
                    <a:ea typeface="Nunito 1 Bold"/>
                    <a:cs typeface="Nunito 1 Bold"/>
                    <a:sym typeface="Nunito 1 Bold"/>
                  </a:rPr>
                  <a:t>5/2</a:t>
                </a:r>
              </a:p>
              <a:p>
                <a:pPr marL="342900" indent="-342900">
                  <a:buFont typeface="Arial" panose="020B0604020202020204" pitchFamily="34" charset="0"/>
                  <a:buChar char="•"/>
                </a:pPr>
                <a:endParaRPr lang="en-US" sz="2400" baseline="30000" dirty="0">
                  <a:solidFill>
                    <a:srgbClr val="000000"/>
                  </a:solidFill>
                  <a:latin typeface="Nunito 1" panose="020B0604020202020204" charset="0"/>
                  <a:ea typeface="Nunito 1 Bold"/>
                  <a:cs typeface="Nunito 1 Bold"/>
                  <a:sym typeface="Nunito 1 Bold"/>
                </a:endParaRPr>
              </a:p>
              <a:p>
                <a:pPr marL="6003925"/>
                <a:r>
                  <a:rPr lang="en-US" sz="2000" dirty="0">
                    <a:solidFill>
                      <a:srgbClr val="000000"/>
                    </a:solidFill>
                    <a:latin typeface="Nunito 1" panose="020B0604020202020204" charset="0"/>
                    <a:ea typeface="Nunito 1 Bold"/>
                    <a:cs typeface="Nunito 1 Bold"/>
                    <a:sym typeface="Nunito 1 Bold"/>
                  </a:rPr>
                  <a:t>Where: 	Q = discharge (</a:t>
                </a:r>
                <a:r>
                  <a:rPr lang="en-US" sz="2000" dirty="0" err="1">
                    <a:solidFill>
                      <a:srgbClr val="000000"/>
                    </a:solidFill>
                    <a:latin typeface="Nunito 1" panose="020B0604020202020204" charset="0"/>
                    <a:ea typeface="Nunito 1 Bold"/>
                    <a:cs typeface="Nunito 1 Bold"/>
                    <a:sym typeface="Nunito 1 Bold"/>
                  </a:rPr>
                  <a:t>lps</a:t>
                </a:r>
                <a:r>
                  <a:rPr lang="en-US" sz="2000" dirty="0">
                    <a:solidFill>
                      <a:srgbClr val="000000"/>
                    </a:solidFill>
                    <a:latin typeface="Nunito 1" panose="020B0604020202020204" charset="0"/>
                    <a:ea typeface="Nunito 1 Bold"/>
                    <a:cs typeface="Nunito 1 Bold"/>
                    <a:sym typeface="Nunito 1 Bold"/>
                  </a:rPr>
                  <a:t>)</a:t>
                </a:r>
              </a:p>
              <a:p>
                <a:pPr marL="6003925"/>
                <a:r>
                  <a:rPr lang="en-US" sz="2000" dirty="0">
                    <a:solidFill>
                      <a:srgbClr val="000000"/>
                    </a:solidFill>
                    <a:latin typeface="Nunito 1" panose="020B0604020202020204" charset="0"/>
                    <a:ea typeface="Nunito 1 Bold"/>
                    <a:cs typeface="Nunito 1 Bold"/>
                    <a:sym typeface="Nunito 1 Bold"/>
                  </a:rPr>
                  <a:t>		L = width of weir (cm)</a:t>
                </a:r>
              </a:p>
              <a:p>
                <a:pPr marL="6003925"/>
                <a:r>
                  <a:rPr lang="en-US" sz="2000" dirty="0">
                    <a:solidFill>
                      <a:srgbClr val="000000"/>
                    </a:solidFill>
                    <a:latin typeface="Nunito 1" panose="020B0604020202020204" charset="0"/>
                    <a:ea typeface="Nunito 1 Bold"/>
                    <a:cs typeface="Nunito 1 Bold"/>
                    <a:sym typeface="Nunito 1 Bold"/>
                  </a:rPr>
                  <a:t>		H = total head (cm)</a:t>
                </a:r>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5" name="TextBox 15">
                <a:extLst>
                  <a:ext uri="{FF2B5EF4-FFF2-40B4-BE49-F238E27FC236}">
                    <a16:creationId xmlns:a16="http://schemas.microsoft.com/office/drawing/2014/main" id="{8057812B-3160-3A74-0EA6-A1E330482037}"/>
                  </a:ext>
                </a:extLst>
              </p:cNvPr>
              <p:cNvSpPr txBox="1">
                <a:spLocks noRot="1" noChangeAspect="1" noMove="1" noResize="1" noEditPoints="1" noAdjustHandles="1" noChangeArrowheads="1" noChangeShapeType="1" noTextEdit="1"/>
              </p:cNvSpPr>
              <p:nvPr/>
            </p:nvSpPr>
            <p:spPr>
              <a:xfrm>
                <a:off x="2246041" y="2025065"/>
                <a:ext cx="13795916" cy="6664325"/>
              </a:xfrm>
              <a:prstGeom prst="rect">
                <a:avLst/>
              </a:prstGeom>
              <a:blipFill>
                <a:blip r:embed="rId3"/>
                <a:stretch>
                  <a:fillRect l="-1325" t="-1372" r="-883" b="-1464"/>
                </a:stretch>
              </a:blipFill>
            </p:spPr>
            <p:txBody>
              <a:bodyPr/>
              <a:lstStyle/>
              <a:p>
                <a:r>
                  <a:rPr lang="en-PH">
                    <a:noFill/>
                  </a:rPr>
                  <a:t> </a:t>
                </a:r>
              </a:p>
            </p:txBody>
          </p:sp>
        </mc:Fallback>
      </mc:AlternateContent>
      <p:sp>
        <p:nvSpPr>
          <p:cNvPr id="19" name="TextBox 12">
            <a:extLst>
              <a:ext uri="{FF2B5EF4-FFF2-40B4-BE49-F238E27FC236}">
                <a16:creationId xmlns:a16="http://schemas.microsoft.com/office/drawing/2014/main" id="{74839D34-F4AE-3FEF-C0A4-B4B095E07DA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8CE2813-8232-3C84-C5AA-B25319B2C12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FB9AC0D3-CD3C-951D-BE91-D915E1A0E077}"/>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8D406B2-3A6F-ADFF-B933-436CD2B9B00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FD5BB20-087D-2950-0038-25EA04473667}"/>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C98FA405-F072-F7BB-E57A-BEDA4F71EF94}"/>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grpSp>
        <p:nvGrpSpPr>
          <p:cNvPr id="14" name="Group 13">
            <a:extLst>
              <a:ext uri="{FF2B5EF4-FFF2-40B4-BE49-F238E27FC236}">
                <a16:creationId xmlns:a16="http://schemas.microsoft.com/office/drawing/2014/main" id="{4042F5C1-6054-E539-2E9B-467F96539740}"/>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D87CFC16-3A17-F55B-B55E-2146A26258B0}"/>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345F1A08-D33C-E5D1-227E-1C4D97F42B8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72D8D746-659E-E064-FF68-CB58BA58BA3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3EB1FB39-60F5-8F05-C5DC-A2829AB62F9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8B3D24B1-A5D0-03A0-BE86-1466DB90EAA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153450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C6DC5-3151-DC76-4412-F31E4C67A5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152EEC2-401F-7CBD-EE36-D613BA2C4455}"/>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2F195C7-B291-66EC-E185-25AF5D80D13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1180009B-29C8-EDAA-2202-F4AEF45B9C2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0308D7D-918E-29A9-3258-92C9C2B5B668}"/>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A85D77C9-8D7B-AA9E-3B35-5F22BA91CE4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3A4C939-7547-8E6F-8503-04501837026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192F7B1-A4BE-D526-D956-F2E6230FAC7B}"/>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48118AAA-F6EF-B4DE-3B05-F5E2C8D86FCB}"/>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BB5AF2D-63C0-FD09-5057-B54CF4C896F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75B6F1BA-2D76-376B-A5DE-7A76A38DA1A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703A986-68F5-F6F2-462F-D03D62288F7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558D844D-7723-8F27-582A-5AF08D03FDF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859809A5-6A88-3BFD-7B23-251F719AC36B}"/>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WEIRS</a:t>
            </a:r>
          </a:p>
        </p:txBody>
      </p:sp>
      <p:sp>
        <p:nvSpPr>
          <p:cNvPr id="19" name="TextBox 12">
            <a:extLst>
              <a:ext uri="{FF2B5EF4-FFF2-40B4-BE49-F238E27FC236}">
                <a16:creationId xmlns:a16="http://schemas.microsoft.com/office/drawing/2014/main" id="{FC457818-0B5D-949D-CC16-1A8E891CACA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3A82CED6-FEAC-6638-EEE5-512A114F10F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C390E057-E165-2F6E-D36D-45681A5B2B76}"/>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3781FA60-971D-82B3-E725-E838D428BEC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3CB9C7B3-3488-76A1-1E8D-C11AFA54370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BF074680-0057-8971-3F07-358DE0F92211}"/>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C9D16375-4B1C-CF0C-0B21-2AE5338E869B}"/>
              </a:ext>
            </a:extLst>
          </p:cNvPr>
          <p:cNvSpPr txBox="1"/>
          <p:nvPr/>
        </p:nvSpPr>
        <p:spPr>
          <a:xfrm>
            <a:off x="1676399" y="2687593"/>
            <a:ext cx="14935200" cy="2585323"/>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Q = </a:t>
            </a:r>
            <a:r>
              <a:rPr lang="en-US" sz="2400" dirty="0" err="1">
                <a:solidFill>
                  <a:srgbClr val="000000"/>
                </a:solidFill>
                <a:latin typeface="Nunito 1" panose="020B0604020202020204" charset="0"/>
                <a:ea typeface="Nunito 1 Bold"/>
                <a:cs typeface="Nunito 1 Bold"/>
                <a:sym typeface="Nunito 1 Bold"/>
              </a:rPr>
              <a:t>CLH</a:t>
            </a:r>
            <a:r>
              <a:rPr lang="en-US" sz="2400" baseline="30000" dirty="0" err="1">
                <a:solidFill>
                  <a:srgbClr val="000000"/>
                </a:solidFill>
                <a:latin typeface="Nunito 1" panose="020B0604020202020204" charset="0"/>
                <a:ea typeface="Nunito 1 Bold"/>
                <a:cs typeface="Nunito 1 Bold"/>
                <a:sym typeface="Nunito 1 Bold"/>
              </a:rPr>
              <a:t>m</a:t>
            </a:r>
            <a:endParaRPr lang="en-US" sz="2400" baseline="30000" dirty="0">
              <a:solidFill>
                <a:srgbClr val="000000"/>
              </a:solidFill>
              <a:latin typeface="Nunito 1" panose="020B0604020202020204" charset="0"/>
              <a:ea typeface="Nunito 1 Bold"/>
              <a:cs typeface="Nunito 1 Bold"/>
              <a:sym typeface="Nunito 1 Bold"/>
            </a:endParaRPr>
          </a:p>
          <a:p>
            <a:pPr algn="just"/>
            <a:r>
              <a:rPr lang="en-US" sz="2400" dirty="0">
                <a:solidFill>
                  <a:srgbClr val="000000"/>
                </a:solidFill>
                <a:latin typeface="Nunito 1" panose="020B0604020202020204" charset="0"/>
                <a:ea typeface="Nunito 1 Bold"/>
                <a:cs typeface="Nunito 1 Bold"/>
                <a:sym typeface="Nunito 1 Bold"/>
              </a:rPr>
              <a:t>Where: Q – discharge</a:t>
            </a:r>
          </a:p>
          <a:p>
            <a:pPr marL="1082675" algn="just">
              <a:tabLst>
                <a:tab pos="1082675" algn="l"/>
              </a:tabLst>
            </a:pPr>
            <a:r>
              <a:rPr lang="en-US" sz="2400" dirty="0">
                <a:solidFill>
                  <a:srgbClr val="000000"/>
                </a:solidFill>
                <a:latin typeface="Nunito 1" panose="020B0604020202020204" charset="0"/>
                <a:ea typeface="Nunito 1 Bold"/>
                <a:cs typeface="Nunito 1 Bold"/>
                <a:sym typeface="Nunito 1 Bold"/>
              </a:rPr>
              <a:t>C – coefficient, dependent on the nature of the crest and approach conditions.</a:t>
            </a:r>
          </a:p>
          <a:p>
            <a:pPr marL="1082675" algn="just">
              <a:tabLst>
                <a:tab pos="1082675" algn="l"/>
              </a:tabLst>
            </a:pPr>
            <a:r>
              <a:rPr lang="en-US" sz="2400" dirty="0">
                <a:solidFill>
                  <a:srgbClr val="000000"/>
                </a:solidFill>
                <a:latin typeface="Nunito 1" panose="020B0604020202020204" charset="0"/>
                <a:ea typeface="Nunito 1 Bold"/>
                <a:cs typeface="Nunito 1 Bold"/>
                <a:sym typeface="Nunito 1 Bold"/>
              </a:rPr>
              <a:t>L – length of crest</a:t>
            </a:r>
          </a:p>
          <a:p>
            <a:pPr marL="1082675" algn="just">
              <a:tabLst>
                <a:tab pos="1082675" algn="l"/>
              </a:tabLst>
            </a:pPr>
            <a:r>
              <a:rPr lang="en-US" sz="2400" dirty="0">
                <a:solidFill>
                  <a:srgbClr val="000000"/>
                </a:solidFill>
                <a:latin typeface="Nunito 1" panose="020B0604020202020204" charset="0"/>
                <a:ea typeface="Nunito 1 Bold"/>
                <a:cs typeface="Nunito 1 Bold"/>
                <a:sym typeface="Nunito 1 Bold"/>
              </a:rPr>
              <a:t>H – head of the crest</a:t>
            </a:r>
          </a:p>
          <a:p>
            <a:pPr marL="1082675" algn="just">
              <a:tabLst>
                <a:tab pos="1082675" algn="l"/>
              </a:tabLst>
            </a:pPr>
            <a:r>
              <a:rPr lang="en-US" sz="2400" dirty="0">
                <a:solidFill>
                  <a:srgbClr val="000000"/>
                </a:solidFill>
                <a:latin typeface="Nunito 1" panose="020B0604020202020204" charset="0"/>
                <a:ea typeface="Nunito 1 Bold"/>
                <a:cs typeface="Nunito 1 Bold"/>
                <a:sym typeface="Nunito 1 Bold"/>
              </a:rPr>
              <a:t>m – exponent, depending upon the weir opening</a:t>
            </a:r>
          </a:p>
          <a:p>
            <a:pPr algn="just"/>
            <a:endParaRPr lang="en-US" sz="2400" dirty="0">
              <a:solidFill>
                <a:srgbClr val="000000"/>
              </a:solidFill>
              <a:latin typeface="Nunito 1" panose="020B0604020202020204" charset="0"/>
              <a:ea typeface="Nunito 1 Bold"/>
              <a:cs typeface="Nunito 1 Bold"/>
              <a:sym typeface="Nunito 1 Bold"/>
            </a:endParaRPr>
          </a:p>
        </p:txBody>
      </p:sp>
      <p:grpSp>
        <p:nvGrpSpPr>
          <p:cNvPr id="21" name="Group 20">
            <a:extLst>
              <a:ext uri="{FF2B5EF4-FFF2-40B4-BE49-F238E27FC236}">
                <a16:creationId xmlns:a16="http://schemas.microsoft.com/office/drawing/2014/main" id="{993511F4-5FDD-FB9A-9F49-8BF9B218D9BE}"/>
              </a:ext>
            </a:extLst>
          </p:cNvPr>
          <p:cNvGrpSpPr/>
          <p:nvPr/>
        </p:nvGrpSpPr>
        <p:grpSpPr>
          <a:xfrm>
            <a:off x="2486462" y="5485696"/>
            <a:ext cx="13315075" cy="2481850"/>
            <a:chOff x="2667000" y="5481051"/>
            <a:chExt cx="13315075" cy="2481850"/>
          </a:xfrm>
        </p:grpSpPr>
        <p:grpSp>
          <p:nvGrpSpPr>
            <p:cNvPr id="18" name="Group 17">
              <a:extLst>
                <a:ext uri="{FF2B5EF4-FFF2-40B4-BE49-F238E27FC236}">
                  <a16:creationId xmlns:a16="http://schemas.microsoft.com/office/drawing/2014/main" id="{E1727B96-A593-A5DD-5078-87CC5FB622FC}"/>
                </a:ext>
              </a:extLst>
            </p:cNvPr>
            <p:cNvGrpSpPr/>
            <p:nvPr/>
          </p:nvGrpSpPr>
          <p:grpSpPr>
            <a:xfrm>
              <a:off x="2667000" y="5481051"/>
              <a:ext cx="9742212" cy="2481850"/>
              <a:chOff x="7441834" y="5699847"/>
              <a:chExt cx="6356183" cy="1619251"/>
            </a:xfrm>
          </p:grpSpPr>
          <p:pic>
            <p:nvPicPr>
              <p:cNvPr id="1029" name="Picture 5" descr="Rectangular weir (without end contractions)-Hansen weir. | Download  Scientific Diagram">
                <a:extLst>
                  <a:ext uri="{FF2B5EF4-FFF2-40B4-BE49-F238E27FC236}">
                    <a16:creationId xmlns:a16="http://schemas.microsoft.com/office/drawing/2014/main" id="{4550871B-25FC-2C80-6CEF-17EDA0166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1834" y="5699847"/>
                <a:ext cx="3536783" cy="161925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Rectangular weir with double end contractions-Poncelet weir. | Download  Scientific Diagram">
                <a:extLst>
                  <a:ext uri="{FF2B5EF4-FFF2-40B4-BE49-F238E27FC236}">
                    <a16:creationId xmlns:a16="http://schemas.microsoft.com/office/drawing/2014/main" id="{F23E22D6-F167-D220-6C55-46A5F0682E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8617" y="5699848"/>
                <a:ext cx="2819400" cy="1619250"/>
              </a:xfrm>
              <a:prstGeom prst="rect">
                <a:avLst/>
              </a:prstGeom>
              <a:noFill/>
              <a:extLst>
                <a:ext uri="{909E8E84-426E-40DD-AFC4-6F175D3DCCD1}">
                  <a14:hiddenFill xmlns:a14="http://schemas.microsoft.com/office/drawing/2010/main">
                    <a:solidFill>
                      <a:srgbClr val="FFFFFF"/>
                    </a:solidFill>
                  </a14:hiddenFill>
                </a:ext>
              </a:extLst>
            </p:spPr>
          </p:pic>
        </p:grpSp>
        <p:pic>
          <p:nvPicPr>
            <p:cNvPr id="1033" name="Picture 9" descr="Francis equation Archives - Low Cost Easy to Use Spreadsheets for  Engineering Calculations Available at Engineering Excel SpreadsheetsLow  Cost Easy to Use Spreadsheets for Engineering Calculations Available at  Engineering Excel Spreadsheets">
              <a:extLst>
                <a:ext uri="{FF2B5EF4-FFF2-40B4-BE49-F238E27FC236}">
                  <a16:creationId xmlns:a16="http://schemas.microsoft.com/office/drawing/2014/main" id="{26475DEB-C7F6-E79B-3A86-97C3D9B229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09213" y="5481051"/>
              <a:ext cx="3572862" cy="248184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3D146291-1801-5D94-8697-FF87EB78824F}"/>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33404930-8275-D384-C7EF-5F8F3EB2F2FF}"/>
                </a:ext>
              </a:extLst>
            </p:cNvPr>
            <p:cNvGrpSpPr/>
            <p:nvPr/>
          </p:nvGrpSpPr>
          <p:grpSpPr>
            <a:xfrm>
              <a:off x="0" y="9599694"/>
              <a:ext cx="18287999" cy="687305"/>
              <a:chOff x="0" y="0"/>
              <a:chExt cx="5260714" cy="490218"/>
            </a:xfrm>
          </p:grpSpPr>
          <p:sp>
            <p:nvSpPr>
              <p:cNvPr id="28" name="Freeform 12">
                <a:extLst>
                  <a:ext uri="{FF2B5EF4-FFF2-40B4-BE49-F238E27FC236}">
                    <a16:creationId xmlns:a16="http://schemas.microsoft.com/office/drawing/2014/main" id="{D2A57E72-E589-B0BC-6D11-C80171D1ECDC}"/>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9" name="TextBox 13">
                <a:extLst>
                  <a:ext uri="{FF2B5EF4-FFF2-40B4-BE49-F238E27FC236}">
                    <a16:creationId xmlns:a16="http://schemas.microsoft.com/office/drawing/2014/main" id="{EA225F74-EAC2-5220-83E1-1654BE61786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5F12728D-C2F1-B4D5-BA14-6BF0182F0E4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7" name="TextBox 13">
              <a:extLst>
                <a:ext uri="{FF2B5EF4-FFF2-40B4-BE49-F238E27FC236}">
                  <a16:creationId xmlns:a16="http://schemas.microsoft.com/office/drawing/2014/main" id="{31EB25A7-3ECF-3C96-5931-74ED11EDC1C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9104230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18FFC-26AB-FA6D-895C-FB2C69AC10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8E2E6F-773F-0D7F-DC44-9FC38FCC5D6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EDBA39E-23B9-7AF1-3F64-07C60B3322A7}"/>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B95C583-A3A1-FEA3-1012-B9C2F6AD848C}"/>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F5C6197-C868-3025-B11A-5018C63F969C}"/>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969B255D-A7A9-2F31-3300-9DE28806D00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43893260-2C7E-B60A-161A-499107ADF54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028A3F8-F596-DAB9-F6C5-B5ED2CC2EC9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8BD8B65-762A-FAB5-E8B5-426C31E4460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8B288AB-BC86-2465-E1EA-55E92DF8EDB0}"/>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5A518D8-12A4-18C9-6FA0-72A91FFA13F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BF29D6F-7A7C-0EB2-9A84-630784F77D7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C064ACB-55AB-780B-0728-01899B3A799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6FC642DD-BEDA-1AD5-8DCC-C77FD8C0BFD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61B198A-41BE-326F-56DA-BD8382A2939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DC737D20-AE1A-68D9-CDBB-DDB5681AF6C7}"/>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1FBC1E1-37F0-871D-CE5A-380CBF3F391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51B212B-0E36-49B3-2040-CFBCD1E0652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E15FE21D-794B-AEEC-38F1-8F65DA5B63A4}"/>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pic>
        <p:nvPicPr>
          <p:cNvPr id="14" name="Picture 13">
            <a:extLst>
              <a:ext uri="{FF2B5EF4-FFF2-40B4-BE49-F238E27FC236}">
                <a16:creationId xmlns:a16="http://schemas.microsoft.com/office/drawing/2014/main" id="{D429A584-BFBF-2453-3E36-90F1682A6F78}"/>
              </a:ext>
            </a:extLst>
          </p:cNvPr>
          <p:cNvPicPr>
            <a:picLocks noChangeAspect="1"/>
          </p:cNvPicPr>
          <p:nvPr/>
        </p:nvPicPr>
        <p:blipFill>
          <a:blip r:embed="rId3">
            <a:duotone>
              <a:schemeClr val="accent4">
                <a:shade val="45000"/>
                <a:satMod val="135000"/>
              </a:schemeClr>
              <a:prstClr val="white"/>
            </a:duotone>
          </a:blip>
          <a:stretch>
            <a:fillRect/>
          </a:stretch>
        </p:blipFill>
        <p:spPr>
          <a:xfrm>
            <a:off x="5358890" y="1805387"/>
            <a:ext cx="7570218" cy="6676226"/>
          </a:xfrm>
          <a:prstGeom prst="rect">
            <a:avLst/>
          </a:prstGeom>
        </p:spPr>
      </p:pic>
      <p:sp>
        <p:nvSpPr>
          <p:cNvPr id="17" name="TextBox 16">
            <a:extLst>
              <a:ext uri="{FF2B5EF4-FFF2-40B4-BE49-F238E27FC236}">
                <a16:creationId xmlns:a16="http://schemas.microsoft.com/office/drawing/2014/main" id="{091FB187-E2B5-0CA6-6894-923B0C5262AB}"/>
              </a:ext>
            </a:extLst>
          </p:cNvPr>
          <p:cNvSpPr txBox="1"/>
          <p:nvPr/>
        </p:nvSpPr>
        <p:spPr>
          <a:xfrm>
            <a:off x="13164228" y="4934806"/>
            <a:ext cx="3447372" cy="923330"/>
          </a:xfrm>
          <a:prstGeom prst="rect">
            <a:avLst/>
          </a:prstGeom>
          <a:noFill/>
        </p:spPr>
        <p:txBody>
          <a:bodyPr wrap="square">
            <a:spAutoFit/>
          </a:bodyPr>
          <a:lstStyle/>
          <a:p>
            <a:pPr marL="92075"/>
            <a:r>
              <a:rPr lang="en-US" sz="1800" dirty="0">
                <a:solidFill>
                  <a:srgbClr val="000000"/>
                </a:solidFill>
                <a:latin typeface="Nunito 1" panose="020B0604020202020204" charset="0"/>
                <a:ea typeface="Nunito 1 Bold"/>
                <a:cs typeface="Nunito 1 Bold"/>
                <a:sym typeface="Nunito 1 Bold"/>
              </a:rPr>
              <a:t>Where: 	Q = discharge (</a:t>
            </a:r>
            <a:r>
              <a:rPr lang="en-US" sz="1800" dirty="0" err="1">
                <a:solidFill>
                  <a:srgbClr val="000000"/>
                </a:solidFill>
                <a:latin typeface="Nunito 1" panose="020B0604020202020204" charset="0"/>
                <a:ea typeface="Nunito 1 Bold"/>
                <a:cs typeface="Nunito 1 Bold"/>
                <a:sym typeface="Nunito 1 Bold"/>
              </a:rPr>
              <a:t>cfs</a:t>
            </a:r>
            <a:r>
              <a:rPr lang="en-US" sz="1800" dirty="0">
                <a:solidFill>
                  <a:srgbClr val="000000"/>
                </a:solidFill>
                <a:latin typeface="Nunito 1" panose="020B0604020202020204" charset="0"/>
                <a:ea typeface="Nunito 1 Bold"/>
                <a:cs typeface="Nunito 1 Bold"/>
                <a:sym typeface="Nunito 1 Bold"/>
              </a:rPr>
              <a:t>)</a:t>
            </a:r>
          </a:p>
          <a:p>
            <a:pPr marL="92075"/>
            <a:r>
              <a:rPr lang="en-US" sz="1800" dirty="0">
                <a:solidFill>
                  <a:srgbClr val="000000"/>
                </a:solidFill>
                <a:latin typeface="Nunito 1" panose="020B0604020202020204" charset="0"/>
                <a:ea typeface="Nunito 1 Bold"/>
                <a:cs typeface="Nunito 1 Bold"/>
                <a:sym typeface="Nunito 1 Bold"/>
              </a:rPr>
              <a:t>	L = width of weir (f)</a:t>
            </a:r>
          </a:p>
          <a:p>
            <a:pPr marL="92075"/>
            <a:r>
              <a:rPr lang="en-US" sz="1800" dirty="0">
                <a:solidFill>
                  <a:srgbClr val="000000"/>
                </a:solidFill>
                <a:latin typeface="Nunito 1" panose="020B0604020202020204" charset="0"/>
                <a:ea typeface="Nunito 1 Bold"/>
                <a:cs typeface="Nunito 1 Bold"/>
                <a:sym typeface="Nunito 1 Bold"/>
              </a:rPr>
              <a:t>	H = total head (f)</a:t>
            </a:r>
            <a:endParaRPr lang="en-PH" dirty="0"/>
          </a:p>
        </p:txBody>
      </p:sp>
      <p:grpSp>
        <p:nvGrpSpPr>
          <p:cNvPr id="15" name="Group 14">
            <a:extLst>
              <a:ext uri="{FF2B5EF4-FFF2-40B4-BE49-F238E27FC236}">
                <a16:creationId xmlns:a16="http://schemas.microsoft.com/office/drawing/2014/main" id="{9B32526E-8EE6-301D-A2DE-C059AB3BCB86}"/>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2D64A7A6-0B83-8714-8C1A-244E940583A7}"/>
                </a:ext>
              </a:extLst>
            </p:cNvPr>
            <p:cNvGrpSpPr/>
            <p:nvPr/>
          </p:nvGrpSpPr>
          <p:grpSpPr>
            <a:xfrm>
              <a:off x="0" y="9599694"/>
              <a:ext cx="18287999" cy="687305"/>
              <a:chOff x="0" y="0"/>
              <a:chExt cx="5260714" cy="490218"/>
            </a:xfrm>
          </p:grpSpPr>
          <p:sp>
            <p:nvSpPr>
              <p:cNvPr id="22" name="Freeform 12">
                <a:extLst>
                  <a:ext uri="{FF2B5EF4-FFF2-40B4-BE49-F238E27FC236}">
                    <a16:creationId xmlns:a16="http://schemas.microsoft.com/office/drawing/2014/main" id="{31D846F8-C663-3B53-6D5E-E2477E88413B}"/>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90578499-3B9A-2E6E-3AE9-3EE1E171DFC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615FA423-747E-2831-C208-6E98A29447F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6BD0E19B-D315-2CD6-6970-B94AF1AFE29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079995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613DB-2987-600B-824F-48BF954121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DE36FEC-1C0B-7C02-21B7-2CD7846F184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55CB92C-0588-FC29-4802-C40E7563E17D}"/>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8F6E41A-3574-BED4-A483-C5B36C5E8036}"/>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E5E02228-9245-F0DF-174B-98DE31A44C4B}"/>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86B2EAC-9397-9701-85FE-F9C7F175760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F6D59584-EF9B-E39F-844C-AA2F63CAB06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DC26A9F-8C86-5956-13B4-26B87B1856B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49486E8-183E-CF06-B5A0-F8A0F059FDF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9D609678-C13B-17EE-2857-5E8D54B6070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1D02D57-6116-6AE4-8EE8-315B1AC4904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108353F-8897-1B78-0C58-D4D28C9FE2A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49DAD4B8-41F2-0121-1B7D-CBE29C7E9AE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6FDA435-A0D4-B6EE-C0D6-97A9F62A8695}"/>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BD969A97-801A-A0FB-0949-2340DB7FC9A2}"/>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The theoretical flow velocity in an orifice is 4 m/s, what is  the height of water flowing the center of the orifice? </a:t>
            </a:r>
          </a:p>
        </p:txBody>
      </p:sp>
      <p:sp>
        <p:nvSpPr>
          <p:cNvPr id="19" name="TextBox 12">
            <a:extLst>
              <a:ext uri="{FF2B5EF4-FFF2-40B4-BE49-F238E27FC236}">
                <a16:creationId xmlns:a16="http://schemas.microsoft.com/office/drawing/2014/main" id="{7887FF1B-76A2-2B82-41CB-329F68EDAAA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82A4F149-1F74-7843-DF7F-C312411BCB6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3685A568-F5D0-4664-8482-4C85BAF9601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B08E2C1-872C-F6D5-2EB5-F9835B23F7A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E1FB7D85-EC51-1BB2-622A-F7A812C3C20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2C89ECB5-FC72-F0FE-F1C0-A95AB53790FF}"/>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E3642971-0A9D-9979-6E07-CE96B2425C57}"/>
              </a:ext>
            </a:extLst>
          </p:cNvPr>
          <p:cNvSpPr txBox="1"/>
          <p:nvPr/>
        </p:nvSpPr>
        <p:spPr>
          <a:xfrm>
            <a:off x="1676400" y="294129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0.82m</a:t>
            </a:r>
          </a:p>
        </p:txBody>
      </p:sp>
      <p:grpSp>
        <p:nvGrpSpPr>
          <p:cNvPr id="17" name="Group 16">
            <a:extLst>
              <a:ext uri="{FF2B5EF4-FFF2-40B4-BE49-F238E27FC236}">
                <a16:creationId xmlns:a16="http://schemas.microsoft.com/office/drawing/2014/main" id="{971F1A22-1EF6-FCEF-45C3-4111E46E30D1}"/>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A83738D7-48B1-EB29-F8D0-BB806D057A81}"/>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A9A34755-853C-7A23-F290-35BB4CF1B7E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D307320E-485D-D176-539E-FAC91EE1839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2CF4F8CF-F8D6-41CF-84F5-3AE54FDCE8C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94FAFD8E-CA5B-93B3-29EA-B4DED7D2E8D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36521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D31C0-A86D-CADB-4F5B-99E3D7F1041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8BFF30C-AC1C-8FE4-B13A-4F945B7A3588}"/>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60178369-4CB6-A097-44FA-ED6A78AB4EFB}"/>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228EB00-B378-7DA7-C6AF-3CCFF78AD01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792E2F5D-B652-2751-6545-727A137A0ADB}"/>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048E7A4E-1A70-69D1-CC57-1E405549855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623B195-8D88-25DD-569D-3A800BB4893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D9A7E73-70D9-425F-B82B-B3F1107A2F5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834CBDBB-1558-5E8B-EAB3-0C0CC503DC49}"/>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576DDDFC-6AE8-ED7E-131F-1A76EE7BC01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78B3F28-3E9C-6C0A-6B1B-65203A3E527E}"/>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C25A635E-03AF-08CE-9E2A-E824F30FB7A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FDFFCE14-9B3F-1A21-6F4F-BC91E91EAD5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33BE2BD4-F9D3-0199-9A47-D22B24242E10}"/>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1EE97649-8AC1-EF7A-17C5-CB93248CEE4C}"/>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A rectangular lined canal will be used to irrigate 60 has. If a Francis weir of 0.4m crest will be used to control the flow, what would be the depth of water over the crest in order to supply 2 </a:t>
            </a:r>
            <a:r>
              <a:rPr lang="en-US" sz="2400" b="1" dirty="0" err="1">
                <a:latin typeface="Nunito 1 Bold"/>
                <a:ea typeface="Nunito 1 Bold"/>
                <a:cs typeface="Nunito 1 Bold"/>
                <a:sym typeface="Nunito 1 Bold"/>
              </a:rPr>
              <a:t>lps</a:t>
            </a:r>
            <a:r>
              <a:rPr lang="en-US" sz="2400" b="1" dirty="0">
                <a:latin typeface="Nunito 1 Bold"/>
                <a:ea typeface="Nunito 1 Bold"/>
                <a:cs typeface="Nunito 1 Bold"/>
                <a:sym typeface="Nunito 1 Bold"/>
              </a:rPr>
              <a:t>/ha?</a:t>
            </a:r>
          </a:p>
        </p:txBody>
      </p:sp>
      <p:sp>
        <p:nvSpPr>
          <p:cNvPr id="19" name="TextBox 12">
            <a:extLst>
              <a:ext uri="{FF2B5EF4-FFF2-40B4-BE49-F238E27FC236}">
                <a16:creationId xmlns:a16="http://schemas.microsoft.com/office/drawing/2014/main" id="{EF643C48-D624-4B14-0FA5-75B8D09EF2C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1E519AD-B235-40D3-70E0-8EF97BF7837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69860227-1379-36B9-C314-953A073BBDE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D1E32E89-09A0-881C-A96D-AAEB0851D77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7129CA5-36C1-DB08-FEAB-E2CD9A6D318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3E2A1E71-6C18-61F9-E770-4AC469E343EE}"/>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C9A483AF-91BB-CCFF-8C70-52F4EEFB58A7}"/>
              </a:ext>
            </a:extLst>
          </p:cNvPr>
          <p:cNvSpPr txBox="1"/>
          <p:nvPr/>
        </p:nvSpPr>
        <p:spPr>
          <a:xfrm>
            <a:off x="1676399" y="390778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h = 0.30m</a:t>
            </a:r>
          </a:p>
        </p:txBody>
      </p:sp>
      <p:grpSp>
        <p:nvGrpSpPr>
          <p:cNvPr id="17" name="Group 16">
            <a:extLst>
              <a:ext uri="{FF2B5EF4-FFF2-40B4-BE49-F238E27FC236}">
                <a16:creationId xmlns:a16="http://schemas.microsoft.com/office/drawing/2014/main" id="{4B1F39D2-286A-D043-4339-3C3FAEC7880D}"/>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084ECF9C-D521-7CBC-D154-696582713D78}"/>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0EE56353-7F57-5CB8-C2F6-D45CF046286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00CBE45A-C656-173F-1576-B24587E1ACE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5B0DA22C-E7F8-21E8-D878-7EAB0A7D860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E77B43FC-790E-5338-FD5F-AF1688118B2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83748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532D-56A6-4F67-21AB-341A4F9101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8AB8186-19DA-A6E0-3360-C565EBD2AEB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D71661C8-C5FD-9184-86E4-F8402570E8E9}"/>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C8B9285-3646-EA4A-54B8-3F0D24083F7B}"/>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9C4A92A0-286D-0B8C-2FA9-863F024D306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B7CE53EA-7605-8F4C-B82A-AC04CC406E6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C33EACD-7005-AB52-55D9-B4709B8E6939}"/>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FA1FB6D-34C1-F77B-0AE4-69B8E5C14F1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24D3DA3-6996-DDCE-BBB3-4E3A51269382}"/>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C7CCB93-E5AC-155D-DE37-4E18A8A53D70}"/>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FDB83025-E753-E8A1-9456-02DAFF49873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FFA1049-B0E8-1F04-4E8D-8705E75EA6C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2820708F-5E53-D60E-743A-36557585BE3B}"/>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529DA432-CCA7-09D7-A716-2F2616E4BF8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424BD9DB-BE74-C400-517C-4FFCF9F71721}"/>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If the canal in the previous condition is changed into a triangular canal, what would be the depth of water over the crest if a V-notch weir is used?</a:t>
            </a:r>
          </a:p>
        </p:txBody>
      </p:sp>
      <p:sp>
        <p:nvSpPr>
          <p:cNvPr id="19" name="TextBox 12">
            <a:extLst>
              <a:ext uri="{FF2B5EF4-FFF2-40B4-BE49-F238E27FC236}">
                <a16:creationId xmlns:a16="http://schemas.microsoft.com/office/drawing/2014/main" id="{243C94E3-90DA-8026-6030-02940049D83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AEB91F2B-793A-6418-43C3-A74498692C6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BB0A9AFE-600D-6A1B-BF94-68FF5B6CD0C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6BBF8F97-7179-40CF-5185-318F800F113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241B4DB-76C7-4BEB-816A-714E4538780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D5C29C9B-3D4C-FD3E-3510-9D73D2B4DD05}"/>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5EADBFA6-1E22-DCC2-9213-3F0B64AA26B9}"/>
              </a:ext>
            </a:extLst>
          </p:cNvPr>
          <p:cNvSpPr txBox="1"/>
          <p:nvPr/>
        </p:nvSpPr>
        <p:spPr>
          <a:xfrm>
            <a:off x="1676399" y="390778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h = 0.38m</a:t>
            </a:r>
          </a:p>
        </p:txBody>
      </p:sp>
      <p:grpSp>
        <p:nvGrpSpPr>
          <p:cNvPr id="17" name="Group 16">
            <a:extLst>
              <a:ext uri="{FF2B5EF4-FFF2-40B4-BE49-F238E27FC236}">
                <a16:creationId xmlns:a16="http://schemas.microsoft.com/office/drawing/2014/main" id="{5D0AC663-2556-ECDF-F820-EA3796B9E010}"/>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689FA7A8-9472-5B83-5039-5BAA35565D6B}"/>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753D59F3-D57B-E1FA-B144-FB93AD37744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9ACCCD86-843C-822F-7223-EA8A07107AB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F2190C5E-DEC6-BC93-E45E-FD3C3A7E62C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91DC3CE9-E1DD-15F8-8D52-9994F1E6C4FA}"/>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42424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DAC99-6E73-C3A2-B0AD-43632EA5102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577B9B-C82A-50E2-759B-3987A2D7B12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B2759C2-0CE8-1D12-43D1-15A4631A07E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A9A9620D-DD40-554C-C80E-C46D20439D0E}"/>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B4E2A22D-849F-8FBE-622C-971C4C9E2F83}"/>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BAE1889A-C9DD-994D-5F24-09F56BC12E9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4A5C6B8-1131-8E5E-B648-4A309A2129F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1FDDDA3-4603-DC6B-7152-6FB7252FFE2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86B65CAB-2A6F-8F21-1943-C34C524136A5}"/>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FC71676E-D147-98BE-E0F6-29D7CCCC0E9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14160791-B015-4745-A849-EC9724B27CE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E427D0B-A76A-F0F4-A4C6-41D30F2DF1D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135031C6-90BE-4E7B-85E2-D77EABDAACE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30E492FD-A00C-D579-1635-FF03A3129A6B}"/>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EF8379DD-26FF-2CAC-D0D8-AC1D7DC0AAB8}"/>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What is the depth of water flowing on a 90</a:t>
            </a:r>
            <a:r>
              <a:rPr lang="en-US" sz="2400" b="1" baseline="30000" dirty="0">
                <a:latin typeface="Nunito 1 Bold"/>
                <a:ea typeface="Nunito 1 Bold"/>
                <a:cs typeface="Nunito 1 Bold"/>
                <a:sym typeface="Nunito 1 Bold"/>
              </a:rPr>
              <a:t>0</a:t>
            </a:r>
            <a:r>
              <a:rPr lang="en-US" sz="2400" b="1" dirty="0">
                <a:latin typeface="Nunito 1 Bold"/>
                <a:ea typeface="Nunito 1 Bold"/>
                <a:cs typeface="Nunito 1 Bold"/>
                <a:sym typeface="Nunito 1 Bold"/>
              </a:rPr>
              <a:t> V-notch weir if the water cross-sectional area is 0.5 m2?</a:t>
            </a:r>
          </a:p>
        </p:txBody>
      </p:sp>
      <p:sp>
        <p:nvSpPr>
          <p:cNvPr id="19" name="TextBox 12">
            <a:extLst>
              <a:ext uri="{FF2B5EF4-FFF2-40B4-BE49-F238E27FC236}">
                <a16:creationId xmlns:a16="http://schemas.microsoft.com/office/drawing/2014/main" id="{97D04F50-84FB-407C-C784-1D90726CF65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1BCA45A-1A11-3B6D-A9E1-91E7FDD0421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4A734507-5039-E873-6F20-1F6984EFA8D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A74328E-A34C-CF77-2BD0-667450F5428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DFDD336-143B-A221-B775-E20B15A6191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1139A69-6793-26F8-4733-889FCC221BAC}"/>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6EC9B0C7-2BDC-774C-29BE-CD0E59E95BA2}"/>
              </a:ext>
            </a:extLst>
          </p:cNvPr>
          <p:cNvSpPr txBox="1"/>
          <p:nvPr/>
        </p:nvSpPr>
        <p:spPr>
          <a:xfrm>
            <a:off x="1676399" y="390778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y = 0.71m</a:t>
            </a:r>
          </a:p>
        </p:txBody>
      </p:sp>
      <p:grpSp>
        <p:nvGrpSpPr>
          <p:cNvPr id="17" name="Group 16">
            <a:extLst>
              <a:ext uri="{FF2B5EF4-FFF2-40B4-BE49-F238E27FC236}">
                <a16:creationId xmlns:a16="http://schemas.microsoft.com/office/drawing/2014/main" id="{B296C0F9-C4A2-F5EC-281D-3508AF28CFA4}"/>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930B8175-211F-455E-A341-273DC08933F0}"/>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989213BB-24F3-6CDB-8A4A-DC2A768BF28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D520393D-89C3-B078-559D-8A9E1DF5150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E338A037-E9B8-FEB4-2538-8B458366272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C027E952-AF6C-B64C-3329-6EE9CE80B98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40210340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8A07A-B41C-B7F4-7F08-CE76A0B6A03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F08217D-91B8-A579-4566-F99C990B498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BB3C3AFF-B658-5579-D9F7-E42514C0E68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2CED0B6B-B862-1CC9-8F32-ADD2F2016B45}"/>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7114453-B7D4-0A6C-CB77-D524873D7AF3}"/>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B138121A-204C-C566-45C4-F20A1A5CC83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AD66EAD-75AE-21BA-773B-D90C001F016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931043F2-063E-B877-0942-C0C8C6B9CFD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7CA34D5E-C141-9517-32DA-63E7215BAE9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0127D53A-4BB5-2114-CE2A-814B1D8488EB}"/>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353E3D47-9A4F-C38E-4573-D81504DC78AC}"/>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7AC06127-3039-9218-EB93-EA8B10A2F27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C0BA5B0-0A57-E85C-ACFA-6A2A2BF2859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mc:AlternateContent xmlns:mc="http://schemas.openxmlformats.org/markup-compatibility/2006" xmlns:a14="http://schemas.microsoft.com/office/drawing/2010/main">
        <mc:Choice Requires="a14">
          <p:sp>
            <p:nvSpPr>
              <p:cNvPr id="15" name="TextBox 15">
                <a:extLst>
                  <a:ext uri="{FF2B5EF4-FFF2-40B4-BE49-F238E27FC236}">
                    <a16:creationId xmlns:a16="http://schemas.microsoft.com/office/drawing/2014/main" id="{33D4AE5B-4E95-6C32-6F53-386E2EE9DD03}"/>
                  </a:ext>
                </a:extLst>
              </p:cNvPr>
              <p:cNvSpPr txBox="1"/>
              <p:nvPr/>
            </p:nvSpPr>
            <p:spPr>
              <a:xfrm>
                <a:off x="2246041" y="2025065"/>
                <a:ext cx="13795916" cy="3406958"/>
              </a:xfrm>
              <a:prstGeom prst="rect">
                <a:avLst/>
              </a:prstGeom>
            </p:spPr>
            <p:txBody>
              <a:bodyPr lIns="0" tIns="0" rIns="0" bIns="0" rtlCol="0" anchor="t">
                <a:spAutoFit/>
              </a:bodyPr>
              <a:lstStyle/>
              <a:p>
                <a:pPr algn="ctr">
                  <a:tabLst>
                    <a:tab pos="7442200" algn="l"/>
                  </a:tabLst>
                </a:pPr>
                <a:r>
                  <a:rPr lang="en-US" sz="2400" b="1" dirty="0">
                    <a:solidFill>
                      <a:srgbClr val="000000"/>
                    </a:solidFill>
                    <a:latin typeface="Nunito 1" panose="020B0604020202020204" charset="0"/>
                    <a:ea typeface="Nunito 1 Bold"/>
                    <a:cs typeface="Nunito 1 Bold"/>
                    <a:sym typeface="Nunito 1 Bold"/>
                  </a:rPr>
                  <a:t>MANNING’S VELOCITY EQUATION</a:t>
                </a:r>
              </a:p>
              <a:p>
                <a:pPr>
                  <a:tabLst>
                    <a:tab pos="7442200" algn="l"/>
                  </a:tabLst>
                </a:pPr>
                <a:endParaRPr lang="en-US" sz="2400" b="1"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V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a:rPr lang="en-PH" sz="2400" b="0" i="1" smtClean="0">
                            <a:solidFill>
                              <a:srgbClr val="000000"/>
                            </a:solidFill>
                            <a:latin typeface="Cambria Math" panose="02040503050406030204" pitchFamily="18" charset="0"/>
                            <a:sym typeface="Nunito 1 Bold"/>
                          </a:rPr>
                          <m:t>𝑘</m:t>
                        </m:r>
                      </m:num>
                      <m:den>
                        <m:r>
                          <a:rPr lang="en-PH" sz="2400" b="0" i="1" smtClean="0">
                            <a:solidFill>
                              <a:srgbClr val="000000"/>
                            </a:solidFill>
                            <a:latin typeface="Cambria Math" panose="02040503050406030204" pitchFamily="18" charset="0"/>
                            <a:sym typeface="Nunito 1 Bold"/>
                          </a:rPr>
                          <m:t>𝑛</m:t>
                        </m:r>
                      </m:den>
                    </m:f>
                    <m:sSup>
                      <m:sSupPr>
                        <m:ctrlPr>
                          <a:rPr lang="en-US" sz="2400" i="1" smtClean="0">
                            <a:solidFill>
                              <a:srgbClr val="000000"/>
                            </a:solidFill>
                            <a:latin typeface="Cambria Math" panose="02040503050406030204" pitchFamily="18" charset="0"/>
                            <a:sym typeface="Nunito 1 Bold"/>
                          </a:rPr>
                        </m:ctrlPr>
                      </m:sSupPr>
                      <m:e>
                        <m:r>
                          <a:rPr lang="en-PH" sz="2400" b="0" i="1" smtClean="0">
                            <a:solidFill>
                              <a:srgbClr val="000000"/>
                            </a:solidFill>
                            <a:latin typeface="Cambria Math" panose="02040503050406030204" pitchFamily="18" charset="0"/>
                            <a:sym typeface="Nunito 1 Bold"/>
                          </a:rPr>
                          <m:t>𝑅</m:t>
                        </m:r>
                      </m:e>
                      <m:sup>
                        <m:f>
                          <m:fPr>
                            <m:ctrlPr>
                              <a:rPr lang="en-US" sz="2400" i="1" smtClean="0">
                                <a:solidFill>
                                  <a:srgbClr val="000000"/>
                                </a:solidFill>
                                <a:latin typeface="Cambria Math" panose="02040503050406030204" pitchFamily="18" charset="0"/>
                                <a:sym typeface="Nunito 1 Bold"/>
                              </a:rPr>
                            </m:ctrlPr>
                          </m:fPr>
                          <m:num>
                            <m:r>
                              <a:rPr lang="en-PH" sz="2400" b="0" i="1" smtClean="0">
                                <a:solidFill>
                                  <a:srgbClr val="000000"/>
                                </a:solidFill>
                                <a:latin typeface="Cambria Math" panose="02040503050406030204" pitchFamily="18" charset="0"/>
                                <a:sym typeface="Nunito 1 Bold"/>
                              </a:rPr>
                              <m:t>2</m:t>
                            </m:r>
                          </m:num>
                          <m:den>
                            <m:r>
                              <a:rPr lang="en-PH" sz="2400" b="0" i="1" smtClean="0">
                                <a:solidFill>
                                  <a:srgbClr val="000000"/>
                                </a:solidFill>
                                <a:latin typeface="Cambria Math" panose="02040503050406030204" pitchFamily="18" charset="0"/>
                                <a:sym typeface="Nunito 1 Bold"/>
                              </a:rPr>
                              <m:t>3</m:t>
                            </m:r>
                          </m:den>
                        </m:f>
                      </m:sup>
                    </m:sSup>
                    <m:sSup>
                      <m:sSupPr>
                        <m:ctrlPr>
                          <a:rPr lang="en-US" sz="2400" i="1">
                            <a:solidFill>
                              <a:srgbClr val="000000"/>
                            </a:solidFill>
                            <a:latin typeface="Cambria Math" panose="02040503050406030204" pitchFamily="18" charset="0"/>
                            <a:sym typeface="Nunito 1 Bold"/>
                          </a:rPr>
                        </m:ctrlPr>
                      </m:sSupPr>
                      <m:e>
                        <m:r>
                          <a:rPr lang="en-PH" sz="2400" b="0" i="1" smtClean="0">
                            <a:solidFill>
                              <a:srgbClr val="000000"/>
                            </a:solidFill>
                            <a:latin typeface="Cambria Math" panose="02040503050406030204" pitchFamily="18" charset="0"/>
                            <a:sym typeface="Nunito 1 Bold"/>
                          </a:rPr>
                          <m:t>𝑆</m:t>
                        </m:r>
                      </m:e>
                      <m:sup>
                        <m:f>
                          <m:fPr>
                            <m:ctrlPr>
                              <a:rPr lang="en-US" sz="2400" i="1">
                                <a:solidFill>
                                  <a:srgbClr val="000000"/>
                                </a:solidFill>
                                <a:latin typeface="Cambria Math" panose="02040503050406030204" pitchFamily="18" charset="0"/>
                                <a:sym typeface="Nunito 1 Bold"/>
                              </a:rPr>
                            </m:ctrlPr>
                          </m:fPr>
                          <m:num>
                            <m:r>
                              <a:rPr lang="en-PH" sz="2400" b="0" i="1" smtClean="0">
                                <a:solidFill>
                                  <a:srgbClr val="000000"/>
                                </a:solidFill>
                                <a:latin typeface="Cambria Math" panose="02040503050406030204" pitchFamily="18" charset="0"/>
                                <a:sym typeface="Nunito 1 Bold"/>
                              </a:rPr>
                              <m:t>1</m:t>
                            </m:r>
                          </m:num>
                          <m:den>
                            <m:r>
                              <a:rPr lang="en-PH" sz="2400" b="0" i="1" smtClean="0">
                                <a:solidFill>
                                  <a:srgbClr val="000000"/>
                                </a:solidFill>
                                <a:latin typeface="Cambria Math" panose="02040503050406030204" pitchFamily="18" charset="0"/>
                                <a:sym typeface="Nunito 1 Bold"/>
                              </a:rPr>
                              <m:t>2</m:t>
                            </m:r>
                          </m:den>
                        </m:f>
                      </m:sup>
                    </m:sSup>
                  </m:oMath>
                </a14:m>
                <a:r>
                  <a:rPr lang="en-US" sz="2400" dirty="0">
                    <a:solidFill>
                      <a:srgbClr val="000000"/>
                    </a:solidFill>
                    <a:latin typeface="Nunito 1" panose="020B0604020202020204" charset="0"/>
                    <a:ea typeface="Nunito 1 Bold"/>
                    <a:cs typeface="Nunito 1 Bold"/>
                    <a:sym typeface="Nunito 1 Bold"/>
                  </a:rPr>
                  <a:t>		where: k = 1 for SI units, 1.486 for English units</a:t>
                </a:r>
              </a:p>
              <a:p>
                <a:pPr>
                  <a:tabLst>
                    <a:tab pos="3771900" algn="l"/>
                  </a:tabLst>
                </a:pPr>
                <a:r>
                  <a:rPr lang="en-US" sz="2400" dirty="0">
                    <a:solidFill>
                      <a:srgbClr val="000000"/>
                    </a:solidFill>
                    <a:latin typeface="Nunito 1" panose="020B0604020202020204" charset="0"/>
                    <a:ea typeface="Nunito 1 Bold"/>
                    <a:cs typeface="Nunito 1 Bold"/>
                    <a:sym typeface="Nunito 1 Bold"/>
                  </a:rPr>
                  <a:t>	n = roughness coefficient</a:t>
                </a:r>
              </a:p>
              <a:p>
                <a:pPr>
                  <a:tabLst>
                    <a:tab pos="3771900" algn="l"/>
                  </a:tabLst>
                </a:pPr>
                <a:r>
                  <a:rPr lang="en-US" sz="2400" dirty="0">
                    <a:solidFill>
                      <a:srgbClr val="000000"/>
                    </a:solidFill>
                    <a:latin typeface="Nunito 1" panose="020B0604020202020204" charset="0"/>
                    <a:ea typeface="Nunito 1 Bold"/>
                    <a:cs typeface="Nunito 1 Bold"/>
                    <a:sym typeface="Nunito 1 Bold"/>
                  </a:rPr>
                  <a:t>	R = hydraulic radius (m, ft)</a:t>
                </a:r>
              </a:p>
              <a:p>
                <a:pPr>
                  <a:tabLst>
                    <a:tab pos="3771900" algn="l"/>
                  </a:tabLst>
                </a:pPr>
                <a:r>
                  <a:rPr lang="en-US" sz="2400" dirty="0">
                    <a:solidFill>
                      <a:srgbClr val="000000"/>
                    </a:solidFill>
                    <a:latin typeface="Nunito 1" panose="020B0604020202020204" charset="0"/>
                    <a:ea typeface="Nunito 1 Bold"/>
                    <a:cs typeface="Nunito 1 Bold"/>
                    <a:sym typeface="Nunito 1 Bold"/>
                  </a:rPr>
                  <a:t>	s = slope gradient</a:t>
                </a:r>
              </a:p>
              <a:p>
                <a:endParaRPr lang="en-US" sz="2400" b="1" dirty="0">
                  <a:solidFill>
                    <a:srgbClr val="000000"/>
                  </a:solidFill>
                  <a:latin typeface="Nunito 1" panose="020B0604020202020204" charset="0"/>
                  <a:ea typeface="Nunito 1 Bold"/>
                  <a:cs typeface="Nunito 1 Bold"/>
                  <a:sym typeface="Nunito 1 Bold"/>
                </a:endParaRPr>
              </a:p>
              <a:p>
                <a:r>
                  <a:rPr lang="en-US" sz="2400" dirty="0">
                    <a:solidFill>
                      <a:srgbClr val="000000"/>
                    </a:solidFill>
                    <a:latin typeface="Nunito 1" panose="020B0604020202020204" charset="0"/>
                    <a:ea typeface="Nunito 1 Bold"/>
                    <a:cs typeface="Nunito 1 Bold"/>
                    <a:sym typeface="Nunito 1 Bold"/>
                  </a:rPr>
                  <a:t>Q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a:rPr lang="en-PH" sz="2400" b="0" i="1" smtClean="0">
                            <a:solidFill>
                              <a:srgbClr val="000000"/>
                            </a:solidFill>
                            <a:latin typeface="Cambria Math" panose="02040503050406030204" pitchFamily="18" charset="0"/>
                            <a:sym typeface="Nunito 1 Bold"/>
                          </a:rPr>
                          <m:t>𝑘</m:t>
                        </m:r>
                      </m:num>
                      <m:den>
                        <m:r>
                          <a:rPr lang="en-PH" sz="2400" b="0" i="1" smtClean="0">
                            <a:solidFill>
                              <a:srgbClr val="000000"/>
                            </a:solidFill>
                            <a:latin typeface="Cambria Math" panose="02040503050406030204" pitchFamily="18" charset="0"/>
                            <a:sym typeface="Nunito 1 Bold"/>
                          </a:rPr>
                          <m:t>𝑛</m:t>
                        </m:r>
                      </m:den>
                    </m:f>
                    <m:sSup>
                      <m:sSupPr>
                        <m:ctrlPr>
                          <a:rPr lang="en-US" sz="2400" i="1" smtClean="0">
                            <a:solidFill>
                              <a:srgbClr val="000000"/>
                            </a:solidFill>
                            <a:latin typeface="Cambria Math" panose="02040503050406030204" pitchFamily="18" charset="0"/>
                            <a:sym typeface="Nunito 1 Bold"/>
                          </a:rPr>
                        </m:ctrlPr>
                      </m:sSupPr>
                      <m:e>
                        <m:r>
                          <a:rPr lang="en-PH" sz="2400" b="0" i="1" smtClean="0">
                            <a:solidFill>
                              <a:srgbClr val="000000"/>
                            </a:solidFill>
                            <a:latin typeface="Cambria Math" panose="02040503050406030204" pitchFamily="18" charset="0"/>
                            <a:sym typeface="Nunito 1 Bold"/>
                          </a:rPr>
                          <m:t>𝐴𝑅</m:t>
                        </m:r>
                      </m:e>
                      <m:sup>
                        <m:f>
                          <m:fPr>
                            <m:ctrlPr>
                              <a:rPr lang="en-US" sz="2400" i="1" smtClean="0">
                                <a:solidFill>
                                  <a:srgbClr val="000000"/>
                                </a:solidFill>
                                <a:latin typeface="Cambria Math" panose="02040503050406030204" pitchFamily="18" charset="0"/>
                                <a:sym typeface="Nunito 1 Bold"/>
                              </a:rPr>
                            </m:ctrlPr>
                          </m:fPr>
                          <m:num>
                            <m:r>
                              <a:rPr lang="en-PH" sz="2400" b="0" i="1" smtClean="0">
                                <a:solidFill>
                                  <a:srgbClr val="000000"/>
                                </a:solidFill>
                                <a:latin typeface="Cambria Math" panose="02040503050406030204" pitchFamily="18" charset="0"/>
                                <a:sym typeface="Nunito 1 Bold"/>
                              </a:rPr>
                              <m:t>2</m:t>
                            </m:r>
                          </m:num>
                          <m:den>
                            <m:r>
                              <a:rPr lang="en-PH" sz="2400" b="0" i="1" smtClean="0">
                                <a:solidFill>
                                  <a:srgbClr val="000000"/>
                                </a:solidFill>
                                <a:latin typeface="Cambria Math" panose="02040503050406030204" pitchFamily="18" charset="0"/>
                                <a:sym typeface="Nunito 1 Bold"/>
                              </a:rPr>
                              <m:t>3</m:t>
                            </m:r>
                          </m:den>
                        </m:f>
                      </m:sup>
                    </m:sSup>
                    <m:sSup>
                      <m:sSupPr>
                        <m:ctrlPr>
                          <a:rPr lang="en-US" sz="2400" i="1">
                            <a:solidFill>
                              <a:srgbClr val="000000"/>
                            </a:solidFill>
                            <a:latin typeface="Cambria Math" panose="02040503050406030204" pitchFamily="18" charset="0"/>
                            <a:sym typeface="Nunito 1 Bold"/>
                          </a:rPr>
                        </m:ctrlPr>
                      </m:sSupPr>
                      <m:e>
                        <m:r>
                          <a:rPr lang="en-PH" sz="2400" b="0" i="1" smtClean="0">
                            <a:solidFill>
                              <a:srgbClr val="000000"/>
                            </a:solidFill>
                            <a:latin typeface="Cambria Math" panose="02040503050406030204" pitchFamily="18" charset="0"/>
                            <a:sym typeface="Nunito 1 Bold"/>
                          </a:rPr>
                          <m:t>𝑆</m:t>
                        </m:r>
                      </m:e>
                      <m:sup>
                        <m:f>
                          <m:fPr>
                            <m:ctrlPr>
                              <a:rPr lang="en-US" sz="2400" i="1">
                                <a:solidFill>
                                  <a:srgbClr val="000000"/>
                                </a:solidFill>
                                <a:latin typeface="Cambria Math" panose="02040503050406030204" pitchFamily="18" charset="0"/>
                                <a:sym typeface="Nunito 1 Bold"/>
                              </a:rPr>
                            </m:ctrlPr>
                          </m:fPr>
                          <m:num>
                            <m:r>
                              <a:rPr lang="en-PH" sz="2400" b="0" i="1" smtClean="0">
                                <a:solidFill>
                                  <a:srgbClr val="000000"/>
                                </a:solidFill>
                                <a:latin typeface="Cambria Math" panose="02040503050406030204" pitchFamily="18" charset="0"/>
                                <a:sym typeface="Nunito 1 Bold"/>
                              </a:rPr>
                              <m:t>1</m:t>
                            </m:r>
                          </m:num>
                          <m:den>
                            <m:r>
                              <a:rPr lang="en-PH" sz="2400" b="0" i="1" smtClean="0">
                                <a:solidFill>
                                  <a:srgbClr val="000000"/>
                                </a:solidFill>
                                <a:latin typeface="Cambria Math" panose="02040503050406030204" pitchFamily="18" charset="0"/>
                                <a:sym typeface="Nunito 1 Bold"/>
                              </a:rPr>
                              <m:t>2</m:t>
                            </m:r>
                          </m:den>
                        </m:f>
                      </m:sup>
                    </m:sSup>
                  </m:oMath>
                </a14:m>
                <a:endParaRPr lang="en-US" sz="2400" b="1" dirty="0">
                  <a:solidFill>
                    <a:srgbClr val="000000"/>
                  </a:solidFill>
                  <a:latin typeface="Nunito 1" panose="020B0604020202020204" charset="0"/>
                  <a:ea typeface="Nunito 1 Bold"/>
                  <a:cs typeface="Nunito 1 Bold"/>
                  <a:sym typeface="Nunito 1 Bold"/>
                </a:endParaRPr>
              </a:p>
            </p:txBody>
          </p:sp>
        </mc:Choice>
        <mc:Fallback xmlns="">
          <p:sp>
            <p:nvSpPr>
              <p:cNvPr id="15" name="TextBox 15">
                <a:extLst>
                  <a:ext uri="{FF2B5EF4-FFF2-40B4-BE49-F238E27FC236}">
                    <a16:creationId xmlns:a16="http://schemas.microsoft.com/office/drawing/2014/main" id="{33D4AE5B-4E95-6C32-6F53-386E2EE9DD03}"/>
                  </a:ext>
                </a:extLst>
              </p:cNvPr>
              <p:cNvSpPr txBox="1">
                <a:spLocks noRot="1" noChangeAspect="1" noMove="1" noResize="1" noEditPoints="1" noAdjustHandles="1" noChangeArrowheads="1" noChangeShapeType="1" noTextEdit="1"/>
              </p:cNvSpPr>
              <p:nvPr/>
            </p:nvSpPr>
            <p:spPr>
              <a:xfrm>
                <a:off x="2246041" y="2025065"/>
                <a:ext cx="13795916" cy="3406958"/>
              </a:xfrm>
              <a:prstGeom prst="rect">
                <a:avLst/>
              </a:prstGeom>
              <a:blipFill>
                <a:blip r:embed="rId3"/>
                <a:stretch>
                  <a:fillRect l="-1325" t="-2683" b="-2862"/>
                </a:stretch>
              </a:blipFill>
            </p:spPr>
            <p:txBody>
              <a:bodyPr/>
              <a:lstStyle/>
              <a:p>
                <a:r>
                  <a:rPr lang="en-PH">
                    <a:noFill/>
                  </a:rPr>
                  <a:t> </a:t>
                </a:r>
              </a:p>
            </p:txBody>
          </p:sp>
        </mc:Fallback>
      </mc:AlternateContent>
      <p:sp>
        <p:nvSpPr>
          <p:cNvPr id="19" name="TextBox 12">
            <a:extLst>
              <a:ext uri="{FF2B5EF4-FFF2-40B4-BE49-F238E27FC236}">
                <a16:creationId xmlns:a16="http://schemas.microsoft.com/office/drawing/2014/main" id="{BB8BEA84-3F3D-9D29-2F6C-6043DAB65D6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766EB3E-902E-FE8B-FA12-DECC1FD26DA7}"/>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B15F6F42-1649-E6EE-93C5-5A4CC9F1D9F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7B8C2EA6-6946-378E-4763-8FD90DD7FEA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C6511991-35A0-2D40-153D-B3A084D44D0E}"/>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BFF9E6C5-BE72-CF29-B963-F0C5C470D36D}"/>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grpSp>
        <p:nvGrpSpPr>
          <p:cNvPr id="14" name="Group 13">
            <a:extLst>
              <a:ext uri="{FF2B5EF4-FFF2-40B4-BE49-F238E27FC236}">
                <a16:creationId xmlns:a16="http://schemas.microsoft.com/office/drawing/2014/main" id="{C1DAB882-5B78-A13C-4618-C68B185F1DC6}"/>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29994B7E-A24B-DF78-5E3E-484D886FDBF8}"/>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349EF3AD-7852-821C-3C41-866918B667D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2" name="TextBox 13">
                <a:extLst>
                  <a:ext uri="{FF2B5EF4-FFF2-40B4-BE49-F238E27FC236}">
                    <a16:creationId xmlns:a16="http://schemas.microsoft.com/office/drawing/2014/main" id="{5F24CA86-F0DF-116B-155F-F4644E6F849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E83FBB62-1F5E-7CC9-48BB-A7F2C64A830A}"/>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A3738EBC-7425-447E-E39A-764D611CBE7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088723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1351-EB3C-D9DF-7880-A62F2C05AE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EF3C319-33B1-1A29-E90D-31C567353D2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B6385C7-49B6-2AC8-5ED1-21B79F68040C}"/>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BEB66E2D-111C-BC93-77F8-9FAFFC9B0E41}"/>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E855CD2-B91D-8CB8-5664-35BFF6CE6BE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0CA0BB2B-DD1F-F882-6495-616DD572DE8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9991BE92-89DC-1B08-9934-AF7C385C354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AF36A26-78BC-C112-55C2-1E410F08C4B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663A122-0266-A26F-E6DE-D7F1872B8BC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275F876-1BDC-AA02-E2D0-E73BA7A673E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FA66F64-F723-E7A3-F84A-4DA4563CA3C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F5934BE-13DC-7770-754F-C9B2C1FCF36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BFF2F00-57A9-A3AB-8A40-6E9B5F4A0B6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0A14D32B-9F06-CFB1-C717-8A5560FD8AE6}"/>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Open Channel Flow</a:t>
            </a:r>
          </a:p>
        </p:txBody>
      </p:sp>
      <p:sp>
        <p:nvSpPr>
          <p:cNvPr id="19" name="TextBox 12">
            <a:extLst>
              <a:ext uri="{FF2B5EF4-FFF2-40B4-BE49-F238E27FC236}">
                <a16:creationId xmlns:a16="http://schemas.microsoft.com/office/drawing/2014/main" id="{E88FBBE7-225D-9586-9CB4-43E110E519D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38938B4-F341-7F3B-390A-0C5A1CECBEE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B02468D0-7A30-6466-3E00-82B2A46CD542}"/>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E4C5B4E-1B00-3160-E4B1-1FD041F7393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8A6B1C82-195F-FA91-4E43-0BD8E367651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850BE8C3-B514-F1EC-1DEB-91B4C741CC32}"/>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p:sp>
        <p:nvSpPr>
          <p:cNvPr id="16" name="TextBox 15">
            <a:extLst>
              <a:ext uri="{FF2B5EF4-FFF2-40B4-BE49-F238E27FC236}">
                <a16:creationId xmlns:a16="http://schemas.microsoft.com/office/drawing/2014/main" id="{323D285E-C6B0-D0F3-F2F2-600368E17F4D}"/>
              </a:ext>
            </a:extLst>
          </p:cNvPr>
          <p:cNvSpPr txBox="1"/>
          <p:nvPr/>
        </p:nvSpPr>
        <p:spPr>
          <a:xfrm>
            <a:off x="1676400" y="2732820"/>
            <a:ext cx="14935200" cy="1477328"/>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An open channel is a waterway, canal or conduit in which a liquid flows with a free surface. It describes the</a:t>
            </a:r>
          </a:p>
          <a:p>
            <a:pPr algn="ctr"/>
            <a:r>
              <a:rPr lang="en-US" sz="2400" dirty="0">
                <a:solidFill>
                  <a:srgbClr val="000000"/>
                </a:solidFill>
                <a:latin typeface="Nunito 1" panose="020B0604020202020204" charset="0"/>
                <a:ea typeface="Nunito 1 Bold"/>
                <a:cs typeface="Nunito 1 Bold"/>
                <a:sym typeface="Nunito 1 Bold"/>
              </a:rPr>
              <a:t>flow in rivers, man-made channels and partially-full pipes (sewers, drains), as well as the</a:t>
            </a:r>
          </a:p>
          <a:p>
            <a:pPr algn="ctr"/>
            <a:r>
              <a:rPr lang="en-US" sz="2400" dirty="0">
                <a:solidFill>
                  <a:srgbClr val="000000"/>
                </a:solidFill>
                <a:latin typeface="Nunito 1" panose="020B0604020202020204" charset="0"/>
                <a:ea typeface="Nunito 1 Bold"/>
                <a:cs typeface="Nunito 1 Bold"/>
                <a:sym typeface="Nunito 1 Bold"/>
              </a:rPr>
              <a:t>behavior of hydraulic structures such as weirs, spillways and sluices.</a:t>
            </a:r>
          </a:p>
          <a:p>
            <a:pPr algn="ctr"/>
            <a:endParaRPr lang="en-US" sz="2400" dirty="0">
              <a:solidFill>
                <a:srgbClr val="000000"/>
              </a:solidFill>
              <a:latin typeface="Nunito 1" panose="020B0604020202020204" charset="0"/>
              <a:ea typeface="Nunito 1 Bold"/>
              <a:cs typeface="Nunito 1 Bold"/>
              <a:sym typeface="Nunito 1 Bold"/>
            </a:endParaRPr>
          </a:p>
        </p:txBody>
      </p:sp>
      <p:pic>
        <p:nvPicPr>
          <p:cNvPr id="21" name="Picture 20">
            <a:extLst>
              <a:ext uri="{FF2B5EF4-FFF2-40B4-BE49-F238E27FC236}">
                <a16:creationId xmlns:a16="http://schemas.microsoft.com/office/drawing/2014/main" id="{6BA969B0-B276-42E7-4362-A5E91459D190}"/>
              </a:ext>
            </a:extLst>
          </p:cNvPr>
          <p:cNvPicPr>
            <a:picLocks noChangeAspect="1"/>
          </p:cNvPicPr>
          <p:nvPr/>
        </p:nvPicPr>
        <p:blipFill>
          <a:blip r:embed="rId3"/>
          <a:srcRect t="28666" b="19764"/>
          <a:stretch/>
        </p:blipFill>
        <p:spPr>
          <a:xfrm>
            <a:off x="6035273" y="4121279"/>
            <a:ext cx="6217452" cy="3206290"/>
          </a:xfrm>
          <a:prstGeom prst="rect">
            <a:avLst/>
          </a:prstGeom>
          <a:ln w="76200">
            <a:solidFill>
              <a:schemeClr val="bg1"/>
            </a:solidFill>
          </a:ln>
        </p:spPr>
      </p:pic>
      <p:sp>
        <p:nvSpPr>
          <p:cNvPr id="22" name="AutoShape 4" descr="Jual Open Channel Flowmeter / Flowmeter Saluran Terbuka / Flowmeter Sungai  Depok | Zara Tech Achievement">
            <a:extLst>
              <a:ext uri="{FF2B5EF4-FFF2-40B4-BE49-F238E27FC236}">
                <a16:creationId xmlns:a16="http://schemas.microsoft.com/office/drawing/2014/main" id="{9A01D815-30FB-294F-B837-54D6DA026E1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4" name="TextBox 13">
            <a:extLst>
              <a:ext uri="{FF2B5EF4-FFF2-40B4-BE49-F238E27FC236}">
                <a16:creationId xmlns:a16="http://schemas.microsoft.com/office/drawing/2014/main" id="{022E73BA-9980-32B0-2907-8641BFF1D025}"/>
              </a:ext>
            </a:extLst>
          </p:cNvPr>
          <p:cNvSpPr txBox="1"/>
          <p:nvPr/>
        </p:nvSpPr>
        <p:spPr>
          <a:xfrm>
            <a:off x="1524000" y="7676644"/>
            <a:ext cx="14935200" cy="369332"/>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Open channel is considered the most common method of conveying water for the irrigation. </a:t>
            </a:r>
          </a:p>
        </p:txBody>
      </p:sp>
      <p:grpSp>
        <p:nvGrpSpPr>
          <p:cNvPr id="17" name="Group 16">
            <a:extLst>
              <a:ext uri="{FF2B5EF4-FFF2-40B4-BE49-F238E27FC236}">
                <a16:creationId xmlns:a16="http://schemas.microsoft.com/office/drawing/2014/main" id="{D9697440-EFDA-124A-C11B-1B0779ABD667}"/>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0713E15A-EA2E-6FE6-1576-1A614775463E}"/>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F29251C4-ACDB-7F6C-DC36-5309B10289FE}"/>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DAD57E6F-AE93-A2C9-8FCD-5AC0B14241D8}"/>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A0F3BD3A-E752-2FD1-A8FE-C22E33ED372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D2EC8D77-4B4E-4332-D5C3-3AEF68F3E46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420528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D5A3D-871D-EC88-FC6F-C3F9BECEFA2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E1DED16-6D0C-8378-6FA2-EFE280EEAD6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8F22930-DA38-5498-A292-5C53DB1F95F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E5CE534-E4CF-58E3-7E09-E7CE24054E62}"/>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6E8C5F3D-771A-5695-072D-8858D04294BD}"/>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400C3F0-5652-FDEE-7A30-9D7E9226342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09298884-DC43-D5D1-EA91-38D6EDDF77A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E348DC19-FF64-3560-A64B-4E99D7D92B5F}"/>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B7A85DC-31F5-C434-3D26-3D9642B686BA}"/>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07997F08-3AE0-D0F6-D229-ADEABD1027E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9644EA24-167F-15BD-137A-A08196CDEC12}"/>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C833CF0-9CA9-FD9E-C625-061A39BEFFE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1E6983C-5EA7-9DE6-09A7-EAD047B9A09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50D0CCF-889B-A2EF-E060-E37D75A4741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D224BC06-AD20-BD57-6F2D-B4E78E19DEF2}"/>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This refers to a channel built with unvarying cross-section and  constant bottom slope.</a:t>
            </a:r>
          </a:p>
        </p:txBody>
      </p:sp>
      <p:sp>
        <p:nvSpPr>
          <p:cNvPr id="19" name="TextBox 12">
            <a:extLst>
              <a:ext uri="{FF2B5EF4-FFF2-40B4-BE49-F238E27FC236}">
                <a16:creationId xmlns:a16="http://schemas.microsoft.com/office/drawing/2014/main" id="{49E8DA12-85F3-0AD0-46AD-3A669F114CE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37B9C363-A0D9-E367-FC2B-470BB96FD4F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BD08331D-8E34-2075-27D7-6853318DFE6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064FF82-C3CA-76D2-5284-15B4D196C1F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AC29879-649B-0B68-4CC7-7B4CDA48BC6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49E31795-D08F-25A2-9260-8FAC2AB67A09}"/>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https://www.usgs.gov/faqs/what-groundwater</a:t>
            </a:r>
          </a:p>
        </p:txBody>
      </p:sp>
      <p:sp>
        <p:nvSpPr>
          <p:cNvPr id="16" name="TextBox 15">
            <a:extLst>
              <a:ext uri="{FF2B5EF4-FFF2-40B4-BE49-F238E27FC236}">
                <a16:creationId xmlns:a16="http://schemas.microsoft.com/office/drawing/2014/main" id="{1E2347DC-6DEF-98A3-5179-F6511F51F875}"/>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Open channel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Open conduits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Prismatic channel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Non-prismatic channel</a:t>
            </a:r>
          </a:p>
        </p:txBody>
      </p:sp>
      <p:sp>
        <p:nvSpPr>
          <p:cNvPr id="17" name="Oval 16">
            <a:extLst>
              <a:ext uri="{FF2B5EF4-FFF2-40B4-BE49-F238E27FC236}">
                <a16:creationId xmlns:a16="http://schemas.microsoft.com/office/drawing/2014/main" id="{9CD633D7-E3B1-555C-EC4B-9F29902B427D}"/>
              </a:ext>
            </a:extLst>
          </p:cNvPr>
          <p:cNvSpPr/>
          <p:nvPr/>
        </p:nvSpPr>
        <p:spPr>
          <a:xfrm>
            <a:off x="1505640" y="437801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5">
            <a:extLst>
              <a:ext uri="{FF2B5EF4-FFF2-40B4-BE49-F238E27FC236}">
                <a16:creationId xmlns:a16="http://schemas.microsoft.com/office/drawing/2014/main" id="{995363EC-613D-E0C0-1850-00E046B05D54}"/>
              </a:ext>
            </a:extLst>
          </p:cNvPr>
          <p:cNvSpPr txBox="1"/>
          <p:nvPr/>
        </p:nvSpPr>
        <p:spPr>
          <a:xfrm>
            <a:off x="5334000" y="5153073"/>
            <a:ext cx="10707957" cy="738664"/>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 the cross-section is non-uniform or the bottom slope is not constant. Natural   </a:t>
            </a:r>
          </a:p>
          <a:p>
            <a:pPr algn="just"/>
            <a:r>
              <a:rPr lang="en-US" sz="2400" dirty="0">
                <a:solidFill>
                  <a:srgbClr val="000000"/>
                </a:solidFill>
                <a:latin typeface="Nunito 1" panose="020B0604020202020204" charset="0"/>
                <a:ea typeface="Nunito 1 Bold"/>
                <a:cs typeface="Nunito 1 Bold"/>
                <a:sym typeface="Nunito 1 Bold"/>
              </a:rPr>
              <a:t>   channels are usually non-prismatic channel.</a:t>
            </a:r>
          </a:p>
        </p:txBody>
      </p:sp>
      <p:grpSp>
        <p:nvGrpSpPr>
          <p:cNvPr id="21" name="Group 20">
            <a:extLst>
              <a:ext uri="{FF2B5EF4-FFF2-40B4-BE49-F238E27FC236}">
                <a16:creationId xmlns:a16="http://schemas.microsoft.com/office/drawing/2014/main" id="{BF062B4A-CA3C-3534-B219-2DA7D62C678B}"/>
              </a:ext>
            </a:extLst>
          </p:cNvPr>
          <p:cNvGrpSpPr/>
          <p:nvPr/>
        </p:nvGrpSpPr>
        <p:grpSpPr>
          <a:xfrm>
            <a:off x="0" y="9599693"/>
            <a:ext cx="18287999" cy="687306"/>
            <a:chOff x="0" y="9599693"/>
            <a:chExt cx="18287999" cy="687306"/>
          </a:xfrm>
        </p:grpSpPr>
        <p:grpSp>
          <p:nvGrpSpPr>
            <p:cNvPr id="22" name="Group 11">
              <a:extLst>
                <a:ext uri="{FF2B5EF4-FFF2-40B4-BE49-F238E27FC236}">
                  <a16:creationId xmlns:a16="http://schemas.microsoft.com/office/drawing/2014/main" id="{BC287578-097A-8B12-814C-28996B29F416}"/>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121022F0-81DC-782E-8287-EB854B5DD9F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FDB21629-3664-7B54-B3DF-00880DE46B0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82C75328-9717-FC6C-168C-F1C5F91157E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16BAFB14-787D-B543-0504-236B27543F1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03364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12874-F26F-4FE6-3496-3921E7F18AE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D870083-61FB-B610-85F0-6BD8A2D48F6C}"/>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DBCCB14-3E40-41A2-AF54-7E7B98CF0E9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04CB19A4-4E5F-6A41-C4E4-3B72EB40C5B5}"/>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F1B9FC9C-E847-D0E5-33CC-CD66B1CD5AA5}"/>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A2F0885-0999-639E-F839-C540ABFBEA49}"/>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3EDD0712-1C7C-97A0-3F40-09716496326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AC877B3-F6EC-C2C1-04B4-8F729A58AFF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5DA6068-C3F3-BCCD-B526-800E786CF851}"/>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7A498800-8C31-1399-BEB0-40CA0A2F035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7F8DEB9-BA0A-2477-C0ED-0EB4A591881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B527EB05-0E19-B3FE-131B-8A6A503FB42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954E90D2-8540-AF24-6D23-C4257443CD8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34D2628D-5DBA-130B-6D37-71EE7E551FC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A569E36F-5089-084B-3D26-915F04E62EF7}"/>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When the water level in the pipe drops below the upper edge of the pipe or culvert and  its conduit controls, the flow becomes:</a:t>
            </a:r>
          </a:p>
        </p:txBody>
      </p:sp>
      <p:sp>
        <p:nvSpPr>
          <p:cNvPr id="19" name="TextBox 12">
            <a:extLst>
              <a:ext uri="{FF2B5EF4-FFF2-40B4-BE49-F238E27FC236}">
                <a16:creationId xmlns:a16="http://schemas.microsoft.com/office/drawing/2014/main" id="{D0AF54C5-B18C-4630-BD36-A263665A035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93588F3-0BEA-B1DD-7104-B7B0ECA4906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AA8FF319-32D6-56FA-D9C5-1CF095A5496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F46F0D11-E07F-F0CB-E2D1-46D43E6F1B4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DA5A601-C8EA-6C54-DC1B-4945AA7BEAC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E5534A87-BB68-F9E7-3556-CCD19A096D2B}"/>
              </a:ext>
            </a:extLst>
          </p:cNvPr>
          <p:cNvSpPr txBox="1"/>
          <p:nvPr/>
        </p:nvSpPr>
        <p:spPr>
          <a:xfrm>
            <a:off x="1676400" y="2941299"/>
            <a:ext cx="14935200" cy="2585323"/>
          </a:xfrm>
          <a:prstGeom prst="rect">
            <a:avLst/>
          </a:prstGeom>
        </p:spPr>
        <p:txBody>
          <a:bodyPr wrap="square" lIns="0" tIns="0" rIns="0" bIns="0" rtlCol="0" anchor="t">
            <a:spAutoFit/>
          </a:bodyPr>
          <a:lstStyle/>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Open channel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Open conduits</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Prismatic channel</a:t>
            </a:r>
          </a:p>
          <a:p>
            <a:pPr marL="514350" indent="-514350" algn="just">
              <a:buFont typeface="+mj-lt"/>
              <a:buAutoNum type="alphaLcPeriod"/>
            </a:pPr>
            <a:endParaRPr lang="en-US" sz="2400" dirty="0">
              <a:solidFill>
                <a:srgbClr val="000000"/>
              </a:solidFill>
              <a:latin typeface="Nunito 1" panose="020B0604020202020204" charset="0"/>
              <a:ea typeface="Nunito 1 Bold"/>
              <a:cs typeface="Nunito 1 Bold"/>
              <a:sym typeface="Nunito 1 Bold"/>
            </a:endParaRPr>
          </a:p>
          <a:p>
            <a:pPr marL="514350" indent="-514350" algn="just">
              <a:buFont typeface="+mj-lt"/>
              <a:buAutoNum type="alphaLcPeriod"/>
            </a:pPr>
            <a:r>
              <a:rPr lang="en-US" sz="2400" dirty="0">
                <a:solidFill>
                  <a:srgbClr val="000000"/>
                </a:solidFill>
                <a:latin typeface="Nunito 1" panose="020B0604020202020204" charset="0"/>
                <a:ea typeface="Nunito 1 Bold"/>
                <a:cs typeface="Nunito 1 Bold"/>
                <a:sym typeface="Nunito 1 Bold"/>
              </a:rPr>
              <a:t>Non-prismatic channel</a:t>
            </a:r>
          </a:p>
        </p:txBody>
      </p:sp>
      <p:sp>
        <p:nvSpPr>
          <p:cNvPr id="17" name="Oval 16">
            <a:extLst>
              <a:ext uri="{FF2B5EF4-FFF2-40B4-BE49-F238E27FC236}">
                <a16:creationId xmlns:a16="http://schemas.microsoft.com/office/drawing/2014/main" id="{9C16035C-0C28-B301-B434-97F874088038}"/>
              </a:ext>
            </a:extLst>
          </p:cNvPr>
          <p:cNvSpPr/>
          <p:nvPr/>
        </p:nvSpPr>
        <p:spPr>
          <a:xfrm>
            <a:off x="1505640" y="2941298"/>
            <a:ext cx="475936" cy="47593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grpSp>
        <p:nvGrpSpPr>
          <p:cNvPr id="18" name="Group 17">
            <a:extLst>
              <a:ext uri="{FF2B5EF4-FFF2-40B4-BE49-F238E27FC236}">
                <a16:creationId xmlns:a16="http://schemas.microsoft.com/office/drawing/2014/main" id="{A55B6427-E7E1-C5F8-F18C-A085972E08D1}"/>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3A0F11D1-0386-48F5-07BA-D3A9466B3576}"/>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01AFCC8A-822B-F4BD-F9CB-6A15B0609FD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4D39A422-483D-3E39-A6AC-F269556A3CD9}"/>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12">
              <a:extLst>
                <a:ext uri="{FF2B5EF4-FFF2-40B4-BE49-F238E27FC236}">
                  <a16:creationId xmlns:a16="http://schemas.microsoft.com/office/drawing/2014/main" id="{0D8DCDB4-C0A1-3741-300A-3EDB83535DB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1462EEA5-7B80-550D-D652-62A45D554E5F}"/>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361274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C0917-F624-7785-B72D-95C8C0E653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5EFB6C4-A114-8424-439D-CFBC3ADCCD5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5E3F2AB9-F07A-4F13-537B-E71F6850FD6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CD3C4A7E-8E06-73FA-B186-88A8D087BA63}"/>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AA1C141-CF0E-E2A6-9F95-E7222F309CE6}"/>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66CD6763-D28F-8926-D49A-178A62A7149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D13B15F8-D463-33FC-8340-BC5ADA1B818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D71F8DBB-BC46-343B-6A9C-AA2122B879CA}"/>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52BBA05-8A05-E294-5460-16A34FE427C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396EF1A-9A28-ADC9-F700-23C5117E76D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4964AE0-F914-253E-E296-FF33CEE9E9CA}"/>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5D8E65EA-D7D9-64E2-2E71-97CF5861E513}"/>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2DD7B3DC-9413-6EC7-62E1-7A022F531AF1}"/>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ED627EA8-DF2B-769D-68CE-EC181F709F7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39EEF88-DF78-464C-1E59-C3743BC1C0B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B78EB4DB-37D7-0696-A41E-2DFF9C299B1C}"/>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16BB37AB-8F86-4CAC-A509-F8C07502C6F5}"/>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A5EAB531-90CB-7C5F-CE54-049D59B1629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2" name="AutoShape 4" descr="Jual Open Channel Flowmeter / Flowmeter Saluran Terbuka / Flowmeter Sungai  Depok | Zara Tech Achievement">
            <a:extLst>
              <a:ext uri="{FF2B5EF4-FFF2-40B4-BE49-F238E27FC236}">
                <a16:creationId xmlns:a16="http://schemas.microsoft.com/office/drawing/2014/main" id="{74474624-0F4A-76E5-4F74-A3BBADC917A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4" name="TextBox 14">
            <a:extLst>
              <a:ext uri="{FF2B5EF4-FFF2-40B4-BE49-F238E27FC236}">
                <a16:creationId xmlns:a16="http://schemas.microsoft.com/office/drawing/2014/main" id="{D39050CC-84FB-5872-568F-66540F973BC2}"/>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RECALL</a:t>
            </a:r>
          </a:p>
        </p:txBody>
      </p:sp>
      <p:pic>
        <p:nvPicPr>
          <p:cNvPr id="18" name="Picture 17">
            <a:extLst>
              <a:ext uri="{FF2B5EF4-FFF2-40B4-BE49-F238E27FC236}">
                <a16:creationId xmlns:a16="http://schemas.microsoft.com/office/drawing/2014/main" id="{97C52298-A162-A3AA-D482-F731FCCC9A0B}"/>
              </a:ext>
            </a:extLst>
          </p:cNvPr>
          <p:cNvPicPr>
            <a:picLocks noChangeAspect="1"/>
          </p:cNvPicPr>
          <p:nvPr/>
        </p:nvPicPr>
        <p:blipFill>
          <a:blip r:embed="rId3"/>
          <a:stretch>
            <a:fillRect/>
          </a:stretch>
        </p:blipFill>
        <p:spPr>
          <a:xfrm>
            <a:off x="2109837" y="1839047"/>
            <a:ext cx="14068326" cy="6608906"/>
          </a:xfrm>
          <a:prstGeom prst="rect">
            <a:avLst/>
          </a:prstGeom>
        </p:spPr>
      </p:pic>
      <p:grpSp>
        <p:nvGrpSpPr>
          <p:cNvPr id="15" name="Group 14">
            <a:extLst>
              <a:ext uri="{FF2B5EF4-FFF2-40B4-BE49-F238E27FC236}">
                <a16:creationId xmlns:a16="http://schemas.microsoft.com/office/drawing/2014/main" id="{7544C502-3AC6-FC1E-4DEE-C608A8DBDDE0}"/>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685F3BF2-9612-5088-5D1D-2F859D81C9A9}"/>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59B09368-C187-36FF-C7C7-99D0D4545B3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4222C367-5198-523D-AD07-21E60C4738A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87DA1387-AADC-8CF9-6B06-DB1B5187C57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8AF97051-AA32-B0BD-4569-5153E829C89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581918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BABD8-E083-1383-FCE2-C39A9023969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C5315E6-2BBE-D8BE-DB2A-63183B75739B}"/>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142C039A-9A4D-14E9-8982-4DDE65D4BF13}"/>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8FAEF755-99D5-7867-4042-9786BD02AF6C}"/>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0CC66A23-3EEA-CC03-D707-800842DC9BD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BF8AE55B-E834-1E65-3BED-109041A2339A}"/>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9055D9DF-8FBA-4253-3CF5-71CE7A6A1176}"/>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A243D463-FE95-488A-25C9-60D41FC2BF3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4882028-40FE-A16B-C030-0F5B5E8F5F0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2A2B2DE0-555A-9C61-2D68-97CCD1B8FC18}"/>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496C4EA-D905-12C7-2900-212D68EA1DD0}"/>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6C585A4-77F6-9B94-3741-9418A5964D6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25B8A2F-BE2D-18F8-73D7-831E90870BE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85BD35DD-A5ED-7F34-E75B-0D39C94F62B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7D20300E-0686-CBFB-608A-8B9E6EE081F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DE525D23-E412-0EFB-572F-4A99E35DC0F3}"/>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B5381A7-2EE1-AC36-3E50-B4AE517E735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32EC4EB-A6F1-4A9F-14AB-8F880448CBB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2" name="AutoShape 4" descr="Jual Open Channel Flowmeter / Flowmeter Saluran Terbuka / Flowmeter Sungai  Depok | Zara Tech Achievement">
            <a:extLst>
              <a:ext uri="{FF2B5EF4-FFF2-40B4-BE49-F238E27FC236}">
                <a16:creationId xmlns:a16="http://schemas.microsoft.com/office/drawing/2014/main" id="{4BD7DD53-3E01-2BAA-A0E5-C92CC790656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4" name="TextBox 14">
            <a:extLst>
              <a:ext uri="{FF2B5EF4-FFF2-40B4-BE49-F238E27FC236}">
                <a16:creationId xmlns:a16="http://schemas.microsoft.com/office/drawing/2014/main" id="{8A85B7E1-9999-3494-027A-5B586E0471C5}"/>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RECALL</a:t>
            </a:r>
          </a:p>
        </p:txBody>
      </p:sp>
      <p:grpSp>
        <p:nvGrpSpPr>
          <p:cNvPr id="28" name="Group 27">
            <a:extLst>
              <a:ext uri="{FF2B5EF4-FFF2-40B4-BE49-F238E27FC236}">
                <a16:creationId xmlns:a16="http://schemas.microsoft.com/office/drawing/2014/main" id="{C64485DB-DA34-FED2-0503-0F5A3D5C2463}"/>
              </a:ext>
            </a:extLst>
          </p:cNvPr>
          <p:cNvGrpSpPr/>
          <p:nvPr/>
        </p:nvGrpSpPr>
        <p:grpSpPr>
          <a:xfrm>
            <a:off x="2109837" y="1839047"/>
            <a:ext cx="14068326" cy="6608906"/>
            <a:chOff x="2109837" y="1839047"/>
            <a:chExt cx="14068326" cy="6608906"/>
          </a:xfrm>
        </p:grpSpPr>
        <p:pic>
          <p:nvPicPr>
            <p:cNvPr id="18" name="Picture 17">
              <a:extLst>
                <a:ext uri="{FF2B5EF4-FFF2-40B4-BE49-F238E27FC236}">
                  <a16:creationId xmlns:a16="http://schemas.microsoft.com/office/drawing/2014/main" id="{CF9F1F2B-82D4-040D-D9F8-EE30F3A76AD1}"/>
                </a:ext>
              </a:extLst>
            </p:cNvPr>
            <p:cNvPicPr>
              <a:picLocks noChangeAspect="1"/>
            </p:cNvPicPr>
            <p:nvPr/>
          </p:nvPicPr>
          <p:blipFill>
            <a:blip r:embed="rId3">
              <a:alphaModFix amt="20000"/>
            </a:blip>
            <a:stretch>
              <a:fillRect/>
            </a:stretch>
          </p:blipFill>
          <p:spPr>
            <a:xfrm>
              <a:off x="2109837" y="1839047"/>
              <a:ext cx="14068326" cy="6608906"/>
            </a:xfrm>
            <a:prstGeom prst="rect">
              <a:avLst/>
            </a:prstGeom>
          </p:spPr>
        </p:pic>
        <p:pic>
          <p:nvPicPr>
            <p:cNvPr id="16" name="Picture 15">
              <a:extLst>
                <a:ext uri="{FF2B5EF4-FFF2-40B4-BE49-F238E27FC236}">
                  <a16:creationId xmlns:a16="http://schemas.microsoft.com/office/drawing/2014/main" id="{E66C973D-2CC3-4E39-9212-BF641C5A2B21}"/>
                </a:ext>
              </a:extLst>
            </p:cNvPr>
            <p:cNvPicPr>
              <a:picLocks noChangeAspect="1"/>
            </p:cNvPicPr>
            <p:nvPr/>
          </p:nvPicPr>
          <p:blipFill>
            <a:blip r:embed="rId4"/>
            <a:stretch>
              <a:fillRect/>
            </a:stretch>
          </p:blipFill>
          <p:spPr>
            <a:xfrm>
              <a:off x="2262232" y="4653603"/>
              <a:ext cx="4748168" cy="465027"/>
            </a:xfrm>
            <a:prstGeom prst="rect">
              <a:avLst/>
            </a:prstGeom>
          </p:spPr>
        </p:pic>
      </p:grpSp>
      <p:sp>
        <p:nvSpPr>
          <p:cNvPr id="27" name="Rectangle: Rounded Corners 26">
            <a:extLst>
              <a:ext uri="{FF2B5EF4-FFF2-40B4-BE49-F238E27FC236}">
                <a16:creationId xmlns:a16="http://schemas.microsoft.com/office/drawing/2014/main" id="{A50720DE-E176-F8A4-8C73-28CA4B2F4B34}"/>
              </a:ext>
            </a:extLst>
          </p:cNvPr>
          <p:cNvSpPr/>
          <p:nvPr/>
        </p:nvSpPr>
        <p:spPr>
          <a:xfrm>
            <a:off x="2683473" y="4589191"/>
            <a:ext cx="3429000" cy="608067"/>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9" name="Rectangle 28">
            <a:extLst>
              <a:ext uri="{FF2B5EF4-FFF2-40B4-BE49-F238E27FC236}">
                <a16:creationId xmlns:a16="http://schemas.microsoft.com/office/drawing/2014/main" id="{F4519EEA-4A0F-3B16-3EC6-D493DCD3EBC7}"/>
              </a:ext>
            </a:extLst>
          </p:cNvPr>
          <p:cNvSpPr/>
          <p:nvPr/>
        </p:nvSpPr>
        <p:spPr>
          <a:xfrm>
            <a:off x="6858000" y="4653603"/>
            <a:ext cx="8594128" cy="489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latin typeface="Nunito 1" panose="020B0604020202020204" charset="0"/>
              </a:rPr>
              <a:t>The most simple form of open channel flow computation.</a:t>
            </a:r>
            <a:endParaRPr lang="en-PH" sz="2400" dirty="0">
              <a:solidFill>
                <a:sysClr val="windowText" lastClr="000000"/>
              </a:solidFill>
              <a:latin typeface="Nunito 1" panose="020B0604020202020204" charset="0"/>
            </a:endParaRPr>
          </a:p>
        </p:txBody>
      </p:sp>
      <p:grpSp>
        <p:nvGrpSpPr>
          <p:cNvPr id="15" name="Group 14">
            <a:extLst>
              <a:ext uri="{FF2B5EF4-FFF2-40B4-BE49-F238E27FC236}">
                <a16:creationId xmlns:a16="http://schemas.microsoft.com/office/drawing/2014/main" id="{6CEA8702-EE0D-1550-FD4C-84EE90C9E916}"/>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DD7E600B-A68F-D9E2-9A2A-919BA4E9A5B9}"/>
                </a:ext>
              </a:extLst>
            </p:cNvPr>
            <p:cNvGrpSpPr/>
            <p:nvPr/>
          </p:nvGrpSpPr>
          <p:grpSpPr>
            <a:xfrm>
              <a:off x="0" y="9599694"/>
              <a:ext cx="18287999" cy="687305"/>
              <a:chOff x="0" y="0"/>
              <a:chExt cx="5260714" cy="490218"/>
            </a:xfrm>
          </p:grpSpPr>
          <p:sp>
            <p:nvSpPr>
              <p:cNvPr id="30" name="Freeform 12">
                <a:extLst>
                  <a:ext uri="{FF2B5EF4-FFF2-40B4-BE49-F238E27FC236}">
                    <a16:creationId xmlns:a16="http://schemas.microsoft.com/office/drawing/2014/main" id="{B813F07C-85A7-5BDA-3A6D-C5DF0FB35DA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1" name="TextBox 13">
                <a:extLst>
                  <a:ext uri="{FF2B5EF4-FFF2-40B4-BE49-F238E27FC236}">
                    <a16:creationId xmlns:a16="http://schemas.microsoft.com/office/drawing/2014/main" id="{4CB3F929-07A4-9B05-E188-E3885FF6E97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423B8A69-E083-866B-2560-71BBBA2DEC1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6" name="TextBox 13">
              <a:extLst>
                <a:ext uri="{FF2B5EF4-FFF2-40B4-BE49-F238E27FC236}">
                  <a16:creationId xmlns:a16="http://schemas.microsoft.com/office/drawing/2014/main" id="{00D9EECE-9A7E-2411-D663-882E03B685B4}"/>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0137509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25707-C30D-6386-5E9D-17243C7283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C6F8A57-DCBF-DFCE-5424-4F49B5E23741}"/>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4A2296B-C88F-E126-1710-532FE627AEE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4443D9F-854E-A633-85BD-21D1B6C83EB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DEE94A85-FF9F-970C-4306-696ADE5F261E}"/>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FDEE47A7-2DE6-A4C2-6389-7A02F3B5629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99E2757C-9FD0-655B-4DE0-C1B338A332D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DD4036D-C31B-3CF8-8F79-25A1ADA9E87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C3BCC5C9-1E0F-8B40-F383-704DBE42E52F}"/>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91C61FF-AEA7-CABB-9BA3-2FB2EEB8EB67}"/>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1AEDFAD-ABF6-99C4-2412-50565AC26CD3}"/>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DC183934-3AA2-3C01-0EC3-B3E8040E5A3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2071EDFA-2167-46B2-C7F2-3A82ED45F71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BD4BB82B-D807-0047-8E40-D07696114BEC}"/>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FROUDE NUMBER</a:t>
            </a:r>
          </a:p>
        </p:txBody>
      </p:sp>
      <p:sp>
        <p:nvSpPr>
          <p:cNvPr id="19" name="TextBox 12">
            <a:extLst>
              <a:ext uri="{FF2B5EF4-FFF2-40B4-BE49-F238E27FC236}">
                <a16:creationId xmlns:a16="http://schemas.microsoft.com/office/drawing/2014/main" id="{7170E8D9-4A23-E880-DBDC-FA09753559D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13D6120A-528E-4C15-2AF5-A5288773956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9398B310-1589-B3A1-D771-8293A34A5A0D}"/>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44E1C21A-2D0C-D4B2-6A43-4DEB49AF181B}"/>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7A46A7A6-CD97-A33F-0CF7-483F9B7B5AA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9CD18287-F8B8-387C-4F02-8E8156882B74}"/>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072310C-06A1-9360-F8E9-9EE958EC06FC}"/>
                  </a:ext>
                </a:extLst>
              </p:cNvPr>
              <p:cNvSpPr txBox="1"/>
              <p:nvPr/>
            </p:nvSpPr>
            <p:spPr>
              <a:xfrm>
                <a:off x="1676400" y="2941299"/>
                <a:ext cx="14935200" cy="2010422"/>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Froude number is a dimensionless value that describes different flow regimes of open channel flow. The Froude number is a ratio of inertial and gravitational forces. </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F = </a:t>
                </a:r>
                <a14:m>
                  <m:oMath xmlns:m="http://schemas.openxmlformats.org/officeDocument/2006/math">
                    <m:f>
                      <m:fPr>
                        <m:ctrlPr>
                          <a:rPr lang="en-US" sz="2400" i="1" smtClean="0">
                            <a:solidFill>
                              <a:srgbClr val="000000"/>
                            </a:solidFill>
                            <a:latin typeface="Cambria Math" panose="02040503050406030204" pitchFamily="18" charset="0"/>
                            <a:sym typeface="Nunito 1 Bold"/>
                          </a:rPr>
                        </m:ctrlPr>
                      </m:fPr>
                      <m:num>
                        <m:r>
                          <m:rPr>
                            <m:nor/>
                          </m:rPr>
                          <a:rPr lang="en-PH" sz="2400" b="0" i="0" smtClean="0">
                            <a:solidFill>
                              <a:srgbClr val="000000"/>
                            </a:solidFill>
                            <a:latin typeface="Nunito 1" panose="020B0604020202020204" charset="0"/>
                            <a:sym typeface="Nunito 1 Bold"/>
                          </a:rPr>
                          <m:t>V</m:t>
                        </m:r>
                      </m:num>
                      <m:den>
                        <m:rad>
                          <m:radPr>
                            <m:degHide m:val="on"/>
                            <m:ctrlPr>
                              <a:rPr lang="en-US" sz="2400" i="1" smtClean="0">
                                <a:solidFill>
                                  <a:srgbClr val="000000"/>
                                </a:solidFill>
                                <a:latin typeface="Cambria Math" panose="02040503050406030204" pitchFamily="18" charset="0"/>
                                <a:sym typeface="Nunito 1 Bold"/>
                              </a:rPr>
                            </m:ctrlPr>
                          </m:radPr>
                          <m:deg/>
                          <m:e>
                            <m:r>
                              <m:rPr>
                                <m:nor/>
                              </m:rPr>
                              <a:rPr lang="en-PH" sz="2400" b="0" i="0" smtClean="0">
                                <a:solidFill>
                                  <a:srgbClr val="000000"/>
                                </a:solidFill>
                                <a:latin typeface="Nunito 1" panose="020B0604020202020204" charset="0"/>
                                <a:sym typeface="Nunito 1 Bold"/>
                              </a:rPr>
                              <m:t>gD</m:t>
                            </m:r>
                          </m:e>
                        </m:rad>
                      </m:den>
                    </m:f>
                  </m:oMath>
                </a14:m>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6" name="TextBox 15">
                <a:extLst>
                  <a:ext uri="{FF2B5EF4-FFF2-40B4-BE49-F238E27FC236}">
                    <a16:creationId xmlns:a16="http://schemas.microsoft.com/office/drawing/2014/main" id="{1072310C-06A1-9360-F8E9-9EE958EC06FC}"/>
                  </a:ext>
                </a:extLst>
              </p:cNvPr>
              <p:cNvSpPr txBox="1">
                <a:spLocks noRot="1" noChangeAspect="1" noMove="1" noResize="1" noEditPoints="1" noAdjustHandles="1" noChangeArrowheads="1" noChangeShapeType="1" noTextEdit="1"/>
              </p:cNvSpPr>
              <p:nvPr/>
            </p:nvSpPr>
            <p:spPr>
              <a:xfrm>
                <a:off x="1676400" y="2941299"/>
                <a:ext cx="14935200" cy="2010422"/>
              </a:xfrm>
              <a:prstGeom prst="rect">
                <a:avLst/>
              </a:prstGeom>
              <a:blipFill>
                <a:blip r:embed="rId3"/>
                <a:stretch>
                  <a:fillRect t="-4545"/>
                </a:stretch>
              </a:blipFill>
            </p:spPr>
            <p:txBody>
              <a:bodyPr/>
              <a:lstStyle/>
              <a:p>
                <a:r>
                  <a:rPr lang="en-PH">
                    <a:noFill/>
                  </a:rPr>
                  <a:t> </a:t>
                </a:r>
              </a:p>
            </p:txBody>
          </p:sp>
        </mc:Fallback>
      </mc:AlternateContent>
      <p:sp>
        <p:nvSpPr>
          <p:cNvPr id="22" name="AutoShape 4" descr="Jual Open Channel Flowmeter / Flowmeter Saluran Terbuka / Flowmeter Sungai  Depok | Zara Tech Achievement">
            <a:extLst>
              <a:ext uri="{FF2B5EF4-FFF2-40B4-BE49-F238E27FC236}">
                <a16:creationId xmlns:a16="http://schemas.microsoft.com/office/drawing/2014/main" id="{63CF47E0-A541-91CB-E016-54E798029BE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17" name="Picture 16">
            <a:extLst>
              <a:ext uri="{FF2B5EF4-FFF2-40B4-BE49-F238E27FC236}">
                <a16:creationId xmlns:a16="http://schemas.microsoft.com/office/drawing/2014/main" id="{29A5620F-C357-3D83-2263-26C83C17E670}"/>
              </a:ext>
            </a:extLst>
          </p:cNvPr>
          <p:cNvPicPr>
            <a:picLocks noChangeAspect="1"/>
          </p:cNvPicPr>
          <p:nvPr/>
        </p:nvPicPr>
        <p:blipFill>
          <a:blip r:embed="rId4"/>
          <a:stretch>
            <a:fillRect/>
          </a:stretch>
        </p:blipFill>
        <p:spPr>
          <a:xfrm>
            <a:off x="2278698" y="5517075"/>
            <a:ext cx="5862858" cy="2500108"/>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B962D7C-3591-E035-799D-5DE4CA969742}"/>
                  </a:ext>
                </a:extLst>
              </p:cNvPr>
              <p:cNvSpPr txBox="1"/>
              <p:nvPr/>
            </p:nvSpPr>
            <p:spPr>
              <a:xfrm>
                <a:off x="10129157" y="5763865"/>
                <a:ext cx="5029200" cy="1555234"/>
              </a:xfrm>
              <a:prstGeom prst="rect">
                <a:avLst/>
              </a:prstGeom>
            </p:spPr>
            <p:txBody>
              <a:bodyPr wrap="square" lIns="0" tIns="0" rIns="0" bIns="0" rtlCol="0" anchor="t">
                <a:spAutoFit/>
              </a:bodyPr>
              <a:lstStyle/>
              <a:p>
                <a:pPr algn="ctr"/>
                <a:r>
                  <a:rPr lang="en-US" sz="2400" dirty="0">
                    <a:solidFill>
                      <a:srgbClr val="000000"/>
                    </a:solidFill>
                    <a:latin typeface="Nunito 1" panose="020B0604020202020204" charset="0"/>
                    <a:ea typeface="Nunito 1 Bold"/>
                    <a:cs typeface="Nunito 1 Bold"/>
                    <a:sym typeface="Nunito 1 Bold"/>
                  </a:rPr>
                  <a:t>When F = 1, the flow is said to be in critical state. The equation becomes:</a:t>
                </a:r>
              </a:p>
              <a:p>
                <a:pPr algn="ctr"/>
                <a:endParaRPr lang="en-US" sz="2400" dirty="0">
                  <a:solidFill>
                    <a:srgbClr val="000000"/>
                  </a:solidFill>
                  <a:latin typeface="Nunito 1" panose="020B0604020202020204" charset="0"/>
                  <a:ea typeface="Nunito 1 Bold"/>
                  <a:cs typeface="Nunito 1 Bold"/>
                  <a:sym typeface="Nunito 1 Bold"/>
                </a:endParaRPr>
              </a:p>
              <a:p>
                <a:pPr algn="ctr"/>
                <a:r>
                  <a:rPr lang="en-US" sz="2400" dirty="0">
                    <a:solidFill>
                      <a:srgbClr val="000000"/>
                    </a:solidFill>
                    <a:latin typeface="Nunito 1" panose="020B0604020202020204" charset="0"/>
                    <a:ea typeface="Nunito 1 Bold"/>
                    <a:cs typeface="Nunito 1 Bold"/>
                    <a:sym typeface="Nunito 1 Bold"/>
                  </a:rPr>
                  <a:t>V =</a:t>
                </a:r>
                <a14:m>
                  <m:oMath xmlns:m="http://schemas.openxmlformats.org/officeDocument/2006/math">
                    <m:rad>
                      <m:radPr>
                        <m:degHide m:val="on"/>
                        <m:ctrlPr>
                          <a:rPr lang="en-US" sz="2400" i="1">
                            <a:solidFill>
                              <a:srgbClr val="000000"/>
                            </a:solidFill>
                            <a:latin typeface="Cambria Math" panose="02040503050406030204" pitchFamily="18" charset="0"/>
                            <a:sym typeface="Nunito 1 Bold"/>
                          </a:rPr>
                        </m:ctrlPr>
                      </m:radPr>
                      <m:deg/>
                      <m:e>
                        <m:r>
                          <m:rPr>
                            <m:nor/>
                          </m:rPr>
                          <a:rPr lang="en-PH" sz="2400">
                            <a:solidFill>
                              <a:srgbClr val="000000"/>
                            </a:solidFill>
                            <a:latin typeface="Nunito 1" panose="020B0604020202020204" charset="0"/>
                            <a:sym typeface="Nunito 1 Bold"/>
                          </a:rPr>
                          <m:t>gD</m:t>
                        </m:r>
                      </m:e>
                    </m:rad>
                  </m:oMath>
                </a14:m>
                <a:endParaRPr lang="en-US" sz="2400" dirty="0">
                  <a:solidFill>
                    <a:srgbClr val="000000"/>
                  </a:solidFill>
                  <a:latin typeface="Nunito 1" panose="020B0604020202020204" charset="0"/>
                  <a:ea typeface="Nunito 1 Bold"/>
                  <a:cs typeface="Nunito 1 Bold"/>
                  <a:sym typeface="Nunito 1 Bold"/>
                </a:endParaRPr>
              </a:p>
            </p:txBody>
          </p:sp>
        </mc:Choice>
        <mc:Fallback xmlns="">
          <p:sp>
            <p:nvSpPr>
              <p:cNvPr id="18" name="TextBox 17">
                <a:extLst>
                  <a:ext uri="{FF2B5EF4-FFF2-40B4-BE49-F238E27FC236}">
                    <a16:creationId xmlns:a16="http://schemas.microsoft.com/office/drawing/2014/main" id="{2B962D7C-3591-E035-799D-5DE4CA969742}"/>
                  </a:ext>
                </a:extLst>
              </p:cNvPr>
              <p:cNvSpPr txBox="1">
                <a:spLocks noRot="1" noChangeAspect="1" noMove="1" noResize="1" noEditPoints="1" noAdjustHandles="1" noChangeArrowheads="1" noChangeShapeType="1" noTextEdit="1"/>
              </p:cNvSpPr>
              <p:nvPr/>
            </p:nvSpPr>
            <p:spPr>
              <a:xfrm>
                <a:off x="10129157" y="5763865"/>
                <a:ext cx="5029200" cy="1555234"/>
              </a:xfrm>
              <a:prstGeom prst="rect">
                <a:avLst/>
              </a:prstGeom>
              <a:blipFill>
                <a:blip r:embed="rId5"/>
                <a:stretch>
                  <a:fillRect l="-2788" t="-6275" r="-4000" b="-10980"/>
                </a:stretch>
              </a:blipFill>
            </p:spPr>
            <p:txBody>
              <a:bodyPr/>
              <a:lstStyle/>
              <a:p>
                <a:r>
                  <a:rPr lang="en-PH">
                    <a:noFill/>
                  </a:rPr>
                  <a:t> </a:t>
                </a:r>
              </a:p>
            </p:txBody>
          </p:sp>
        </mc:Fallback>
      </mc:AlternateContent>
      <p:grpSp>
        <p:nvGrpSpPr>
          <p:cNvPr id="14" name="Group 13">
            <a:extLst>
              <a:ext uri="{FF2B5EF4-FFF2-40B4-BE49-F238E27FC236}">
                <a16:creationId xmlns:a16="http://schemas.microsoft.com/office/drawing/2014/main" id="{188806F9-A3D6-A5D5-77AF-CD855A60B828}"/>
              </a:ext>
            </a:extLst>
          </p:cNvPr>
          <p:cNvGrpSpPr/>
          <p:nvPr/>
        </p:nvGrpSpPr>
        <p:grpSpPr>
          <a:xfrm>
            <a:off x="0" y="9599693"/>
            <a:ext cx="18287999" cy="687306"/>
            <a:chOff x="0" y="9599693"/>
            <a:chExt cx="18287999" cy="687306"/>
          </a:xfrm>
        </p:grpSpPr>
        <p:grpSp>
          <p:nvGrpSpPr>
            <p:cNvPr id="21" name="Group 11">
              <a:extLst>
                <a:ext uri="{FF2B5EF4-FFF2-40B4-BE49-F238E27FC236}">
                  <a16:creationId xmlns:a16="http://schemas.microsoft.com/office/drawing/2014/main" id="{B03183BA-0A7C-3728-C523-E54145E12E9F}"/>
                </a:ext>
              </a:extLst>
            </p:cNvPr>
            <p:cNvGrpSpPr/>
            <p:nvPr/>
          </p:nvGrpSpPr>
          <p:grpSpPr>
            <a:xfrm>
              <a:off x="0" y="9599694"/>
              <a:ext cx="18287999" cy="687305"/>
              <a:chOff x="0" y="0"/>
              <a:chExt cx="5260714" cy="490218"/>
            </a:xfrm>
          </p:grpSpPr>
          <p:sp>
            <p:nvSpPr>
              <p:cNvPr id="29" name="Freeform 12">
                <a:extLst>
                  <a:ext uri="{FF2B5EF4-FFF2-40B4-BE49-F238E27FC236}">
                    <a16:creationId xmlns:a16="http://schemas.microsoft.com/office/drawing/2014/main" id="{501D2407-2AD3-33DA-B01B-42D537D3E8B7}"/>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0" name="TextBox 13">
                <a:extLst>
                  <a:ext uri="{FF2B5EF4-FFF2-40B4-BE49-F238E27FC236}">
                    <a16:creationId xmlns:a16="http://schemas.microsoft.com/office/drawing/2014/main" id="{4694FA86-379A-B6DA-29D1-20B3A50808F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55D59742-CACA-38C4-2589-44F08A1B7D8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8" name="TextBox 13">
              <a:extLst>
                <a:ext uri="{FF2B5EF4-FFF2-40B4-BE49-F238E27FC236}">
                  <a16:creationId xmlns:a16="http://schemas.microsoft.com/office/drawing/2014/main" id="{21E19BF2-4000-722F-A5E5-0D54C9285D3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250178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4D5A0-06EA-C8FF-DE99-7F8B1F89133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9891337-B847-BFAD-5FCA-3DA6BF184A56}"/>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9C7BC3D1-78AD-B0E6-1F59-065F711883AE}"/>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3EACEFF-7909-6259-7807-1FCBA5E4DFB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9979CB08-7691-372E-128A-802BB8DDC448}"/>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2E49B1A3-D5FD-B670-99CB-43829287066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622BA2C9-7135-08ED-652B-0FECDB01F2B1}"/>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02DB178-D4FB-F72D-093E-2E41E8282CA1}"/>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66FE163C-4C43-3402-2F3C-641B0719D40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EB2BDDE-69D0-C150-1A99-112411E6542C}"/>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B01D77BC-0989-DBAD-1DEA-33839EC5634C}"/>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942C7FBA-821A-063D-42D2-32235BFD0AC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EB05B80-E015-33D6-5311-9CBCF2F2C9C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651E87FC-3EC4-38CF-55F7-2371F8B344F1}"/>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OPEN CHANNEL HYDRAULICS</a:t>
            </a:r>
          </a:p>
        </p:txBody>
      </p:sp>
      <p:sp>
        <p:nvSpPr>
          <p:cNvPr id="19" name="TextBox 12">
            <a:extLst>
              <a:ext uri="{FF2B5EF4-FFF2-40B4-BE49-F238E27FC236}">
                <a16:creationId xmlns:a16="http://schemas.microsoft.com/office/drawing/2014/main" id="{0CF02FE0-282B-ECB8-508A-986A1320D95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8FB0BAA-5DE6-665B-085D-7DC6B6E9247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DA46A2A5-86C3-062C-C7C4-A76CD67DB8A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89820DCC-D934-6DA7-2AF6-1F9CA933A4D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45DA014A-EF58-5F0A-9F13-FF1E1E8AF34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F6D103CE-1C88-2E8C-9140-08F0F3415733}"/>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E90FCDE6-1FAB-0A89-A3C4-6D9D3D34574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6146" name="Picture 2" descr="Introduction/Open-Channel Flow - ppt download">
            <a:extLst>
              <a:ext uri="{FF2B5EF4-FFF2-40B4-BE49-F238E27FC236}">
                <a16:creationId xmlns:a16="http://schemas.microsoft.com/office/drawing/2014/main" id="{32D96D86-8A84-2ECD-D1DF-1E7AE4F5B6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25" t="11386" r="3325" b="10454"/>
          <a:stretch/>
        </p:blipFill>
        <p:spPr bwMode="auto">
          <a:xfrm>
            <a:off x="4417876" y="2722488"/>
            <a:ext cx="9147447" cy="574422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15">
            <a:extLst>
              <a:ext uri="{FF2B5EF4-FFF2-40B4-BE49-F238E27FC236}">
                <a16:creationId xmlns:a16="http://schemas.microsoft.com/office/drawing/2014/main" id="{5DD2BDF3-B587-3FE2-897A-EBC7C5E5448F}"/>
              </a:ext>
            </a:extLst>
          </p:cNvPr>
          <p:cNvSpPr txBox="1"/>
          <p:nvPr/>
        </p:nvSpPr>
        <p:spPr>
          <a:xfrm>
            <a:off x="5650310" y="2458758"/>
            <a:ext cx="6987380" cy="307777"/>
          </a:xfrm>
          <a:prstGeom prst="rect">
            <a:avLst/>
          </a:prstGeom>
        </p:spPr>
        <p:txBody>
          <a:bodyPr wrap="square" lIns="0" tIns="0" rIns="0" bIns="0" rtlCol="0" anchor="t">
            <a:spAutoFit/>
          </a:bodyPr>
          <a:lstStyle/>
          <a:p>
            <a:pPr algn="ctr"/>
            <a:r>
              <a:rPr lang="en-US" sz="2000" dirty="0">
                <a:latin typeface="Nunito 1" panose="020B0604020202020204" charset="0"/>
                <a:ea typeface="Nunito 1 Bold"/>
                <a:cs typeface="Nunito 1 Bold"/>
                <a:sym typeface="Nunito 1 Bold"/>
              </a:rPr>
              <a:t>Geometric elements for channel cross sections</a:t>
            </a:r>
          </a:p>
        </p:txBody>
      </p:sp>
      <p:grpSp>
        <p:nvGrpSpPr>
          <p:cNvPr id="14" name="Group 13">
            <a:extLst>
              <a:ext uri="{FF2B5EF4-FFF2-40B4-BE49-F238E27FC236}">
                <a16:creationId xmlns:a16="http://schemas.microsoft.com/office/drawing/2014/main" id="{FF0660C4-AC9D-F7AE-48B2-ADF8E374247D}"/>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A4887CE3-F2A6-A7C9-5232-112D75EF528F}"/>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C943A8CA-A6F8-F5B1-6596-F30C1EF0949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A6376BD4-011B-5125-253D-641F011FF5A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064447C9-4AB4-AB50-55E3-37EA72EBA70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06F5E54E-DCAF-6894-11F8-914FCFCB238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7050138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787A-3F53-329D-9F85-E701CC6C30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6C59F40-5581-6B04-F066-E8BA52218E0D}"/>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AED95B99-7056-F563-7497-E8C150FF472B}"/>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6BC76DB-2212-358C-C89C-62006920D19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5B76630F-EE30-3DDD-04ED-FEA78DB3D9DA}"/>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40561399-1361-8119-A065-74AC657CD257}"/>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8C7EAD0-18D9-DD0E-EBB7-6C3248FE792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776D981-E5ED-A817-AD5E-4DD44F031267}"/>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30FAF496-41E3-272F-B051-497C35452103}"/>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87E6498-EDB3-FC4C-E63E-52E51D98848B}"/>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2E92C192-0584-F466-C5D1-47ED7DB88CAD}"/>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A15D7299-054D-93B9-18DD-75F215F66CB5}"/>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DBF38776-E570-53B3-D745-267D0ED9423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1209BAA4-8689-7FE4-835A-313C31C61B37}"/>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solidFill>
                  <a:srgbClr val="000000"/>
                </a:solidFill>
                <a:latin typeface="Nunito 1 Bold"/>
                <a:ea typeface="Nunito 1 Bold"/>
                <a:cs typeface="Nunito 1 Bold"/>
                <a:sym typeface="Nunito 1 Bold"/>
              </a:rPr>
              <a:t>Important Terminologies</a:t>
            </a:r>
          </a:p>
        </p:txBody>
      </p:sp>
      <p:sp>
        <p:nvSpPr>
          <p:cNvPr id="19" name="TextBox 12">
            <a:extLst>
              <a:ext uri="{FF2B5EF4-FFF2-40B4-BE49-F238E27FC236}">
                <a16:creationId xmlns:a16="http://schemas.microsoft.com/office/drawing/2014/main" id="{F3DF9B8B-72B1-9552-373A-960B6032968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BF041D24-DD80-EBBE-70E5-C702AEDB1FA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0BB992F5-FB51-6632-3F15-903761F3BA0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58C1BA28-A194-F396-2E29-E6B4A34F7D1E}"/>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CD33D281-34DA-AECF-DABF-CD469322B70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BFB13340-55C9-7851-85DD-017BE2EDE405}"/>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https://www.sciencedirect.com/book/9780750659789/hydraulics-of-open-channel-flow</a:t>
            </a:r>
          </a:p>
        </p:txBody>
      </p:sp>
      <p:sp>
        <p:nvSpPr>
          <p:cNvPr id="16" name="TextBox 15">
            <a:extLst>
              <a:ext uri="{FF2B5EF4-FFF2-40B4-BE49-F238E27FC236}">
                <a16:creationId xmlns:a16="http://schemas.microsoft.com/office/drawing/2014/main" id="{23854A08-4132-DD4B-4E86-4C5C0ACE51B5}"/>
              </a:ext>
            </a:extLst>
          </p:cNvPr>
          <p:cNvSpPr txBox="1"/>
          <p:nvPr/>
        </p:nvSpPr>
        <p:spPr>
          <a:xfrm>
            <a:off x="1676400" y="2549261"/>
            <a:ext cx="14935200" cy="5909310"/>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Channel section</a:t>
            </a:r>
            <a:r>
              <a:rPr lang="en-US" sz="2400" dirty="0">
                <a:solidFill>
                  <a:srgbClr val="000000"/>
                </a:solidFill>
                <a:latin typeface="Nunito 1" panose="020B0604020202020204" charset="0"/>
                <a:ea typeface="Nunito 1 Bold"/>
                <a:cs typeface="Nunito 1 Bold"/>
                <a:sym typeface="Nunito 1 Bold"/>
              </a:rPr>
              <a:t> refers to the cross section of a channel taken normal to the direction of flow.</a:t>
            </a:r>
          </a:p>
          <a:p>
            <a:pPr marL="342900"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Depth of flow, y </a:t>
            </a:r>
            <a:r>
              <a:rPr lang="en-US" sz="2400" dirty="0">
                <a:solidFill>
                  <a:srgbClr val="000000"/>
                </a:solidFill>
                <a:latin typeface="Nunito 1" panose="020B0604020202020204" charset="0"/>
                <a:ea typeface="Nunito 1 Bold"/>
                <a:cs typeface="Nunito 1 Bold"/>
                <a:sym typeface="Nunito 1 Bold"/>
              </a:rPr>
              <a:t>is the vertical distance of the lowest point of a channel section from the free surface (or depth of flow section, d)</a:t>
            </a:r>
          </a:p>
          <a:p>
            <a:pPr marL="342900"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Stage</a:t>
            </a:r>
            <a:r>
              <a:rPr lang="en-US" sz="2400" dirty="0">
                <a:solidFill>
                  <a:srgbClr val="000000"/>
                </a:solidFill>
                <a:latin typeface="Nunito 1" panose="020B0604020202020204" charset="0"/>
                <a:ea typeface="Nunito 1 Bold"/>
                <a:cs typeface="Nunito 1 Bold"/>
                <a:sym typeface="Nunito 1 Bold"/>
              </a:rPr>
              <a:t> is the elevation or vertical distance of the free surface above a datum. If the lowest point of the channel section is chosen as the datum, the stage is identical with the depth of flow.</a:t>
            </a:r>
          </a:p>
          <a:p>
            <a:pPr marL="342900"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Top width, T </a:t>
            </a:r>
            <a:r>
              <a:rPr lang="en-US" sz="2400" dirty="0">
                <a:solidFill>
                  <a:srgbClr val="000000"/>
                </a:solidFill>
                <a:latin typeface="Nunito 1" panose="020B0604020202020204" charset="0"/>
                <a:ea typeface="Nunito 1 Bold"/>
                <a:cs typeface="Nunito 1 Bold"/>
                <a:sym typeface="Nunito 1 Bold"/>
              </a:rPr>
              <a:t>is the width of channel section at the free surface.</a:t>
            </a:r>
          </a:p>
          <a:p>
            <a:pPr marL="342900"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Water area, A </a:t>
            </a:r>
            <a:r>
              <a:rPr lang="en-US" sz="2400" dirty="0">
                <a:solidFill>
                  <a:srgbClr val="000000"/>
                </a:solidFill>
                <a:latin typeface="Nunito 1" panose="020B0604020202020204" charset="0"/>
                <a:ea typeface="Nunito 1 Bold"/>
                <a:cs typeface="Nunito 1 Bold"/>
                <a:sym typeface="Nunito 1 Bold"/>
              </a:rPr>
              <a:t>- is the cross-sectional area of the flow normal to the direction of flow.</a:t>
            </a:r>
          </a:p>
          <a:p>
            <a:pPr marL="342900"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Wetted perimeter, P </a:t>
            </a:r>
            <a:r>
              <a:rPr lang="en-US" sz="2400" dirty="0">
                <a:solidFill>
                  <a:srgbClr val="000000"/>
                </a:solidFill>
                <a:latin typeface="Nunito 1" panose="020B0604020202020204" charset="0"/>
                <a:ea typeface="Nunito 1 Bold"/>
                <a:cs typeface="Nunito 1 Bold"/>
                <a:sym typeface="Nunito 1 Bold"/>
              </a:rPr>
              <a:t>is the length of the line of intersection of the channel wetted surface with a cross-sectional plane normal to the direction of flow.</a:t>
            </a:r>
          </a:p>
          <a:p>
            <a:pPr marL="342900" indent="-342900">
              <a:buFont typeface="Arial" panose="020B0604020202020204" pitchFamily="34" charset="0"/>
              <a:buChar char="•"/>
            </a:pPr>
            <a:endParaRPr lang="en-US" sz="2400"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pPr>
            <a:r>
              <a:rPr lang="en-US" sz="2400" b="1" dirty="0">
                <a:solidFill>
                  <a:srgbClr val="000000"/>
                </a:solidFill>
                <a:latin typeface="Nunito 1" panose="020B0604020202020204" charset="0"/>
                <a:ea typeface="Nunito 1 Bold"/>
                <a:cs typeface="Nunito 1 Bold"/>
                <a:sym typeface="Nunito 1 Bold"/>
              </a:rPr>
              <a:t>Hydraulic radius, R </a:t>
            </a:r>
            <a:r>
              <a:rPr lang="en-US" sz="2400" dirty="0">
                <a:solidFill>
                  <a:srgbClr val="000000"/>
                </a:solidFill>
                <a:latin typeface="Nunito 1" panose="020B0604020202020204" charset="0"/>
                <a:ea typeface="Nunito 1 Bold"/>
                <a:cs typeface="Nunito 1 Bold"/>
                <a:sym typeface="Nunito 1 Bold"/>
              </a:rPr>
              <a:t>is the ratio of the cross sectional area to the wetted perimeter</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72D73A21-CB59-38BC-25DE-116DCAE3BEB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pSp>
        <p:nvGrpSpPr>
          <p:cNvPr id="14" name="Group 13">
            <a:extLst>
              <a:ext uri="{FF2B5EF4-FFF2-40B4-BE49-F238E27FC236}">
                <a16:creationId xmlns:a16="http://schemas.microsoft.com/office/drawing/2014/main" id="{E770EA46-78FE-189C-840B-D1F89765B24A}"/>
              </a:ext>
            </a:extLst>
          </p:cNvPr>
          <p:cNvGrpSpPr/>
          <p:nvPr/>
        </p:nvGrpSpPr>
        <p:grpSpPr>
          <a:xfrm>
            <a:off x="0" y="9599693"/>
            <a:ext cx="18287999" cy="687306"/>
            <a:chOff x="0" y="9599693"/>
            <a:chExt cx="18287999" cy="687306"/>
          </a:xfrm>
        </p:grpSpPr>
        <p:grpSp>
          <p:nvGrpSpPr>
            <p:cNvPr id="17" name="Group 11">
              <a:extLst>
                <a:ext uri="{FF2B5EF4-FFF2-40B4-BE49-F238E27FC236}">
                  <a16:creationId xmlns:a16="http://schemas.microsoft.com/office/drawing/2014/main" id="{E78EF5D9-2DC3-2C14-390B-0C76E7E31C27}"/>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51E7F456-7C70-D990-90CA-06032EAC967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6E156020-AF90-8586-A4CB-63C431CA27F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2">
              <a:extLst>
                <a:ext uri="{FF2B5EF4-FFF2-40B4-BE49-F238E27FC236}">
                  <a16:creationId xmlns:a16="http://schemas.microsoft.com/office/drawing/2014/main" id="{DA56E7F4-40EB-BBAD-18C0-4B1536608CB1}"/>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1" name="TextBox 13">
              <a:extLst>
                <a:ext uri="{FF2B5EF4-FFF2-40B4-BE49-F238E27FC236}">
                  <a16:creationId xmlns:a16="http://schemas.microsoft.com/office/drawing/2014/main" id="{4145CA56-F767-E7C8-640C-4EEC7E69626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14242432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94340-0B7A-F1F8-D729-070169D5D9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02778B-F3C7-D3D5-8290-4ABB29D721DA}"/>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DC810D9E-4CB6-2C10-FB0A-4C46B07A4B0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45DF0A1B-02FC-D58E-FACB-92863F4B170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A35D4DBD-7AA1-9394-6E66-6EC180B81CF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198D0CED-98A6-65DB-CB93-23CE22BB5981}"/>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39051065-D7A2-3A0E-7445-E52DDA51C7AD}"/>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70BC0D68-F4FF-F300-0825-5B296A130FB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968AE19F-F37B-8730-515E-B7CBE454C184}"/>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48C12C74-6B84-A69A-5406-5AB3AA0DA6B5}"/>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B3B1676-A88D-FCA2-4774-FBC7BDD6389C}"/>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684B0BCF-1F39-CACC-0FB5-5557BF068E0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4D170B41-225F-1F6E-6F6F-A270FF62B21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A71DC0BC-574E-9C8B-68A3-7006D05231B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B9BA1FD-4C2E-B1D9-A4C7-B2B72AEC4880}"/>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64E9DB92-12B8-D2AA-9736-0B212DC609D0}"/>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22AB57E1-4AE7-04FA-1A09-AB4BE2A4697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02DC4380-3C2C-1AEE-E0FE-DFB6E51F3A6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2" name="AutoShape 4" descr="Jual Open Channel Flowmeter / Flowmeter Saluran Terbuka / Flowmeter Sungai  Depok | Zara Tech Achievement">
            <a:extLst>
              <a:ext uri="{FF2B5EF4-FFF2-40B4-BE49-F238E27FC236}">
                <a16:creationId xmlns:a16="http://schemas.microsoft.com/office/drawing/2014/main" id="{C98CD67C-DF16-01A7-9718-ACD8BE233B6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pSp>
        <p:nvGrpSpPr>
          <p:cNvPr id="14" name="Group 13">
            <a:extLst>
              <a:ext uri="{FF2B5EF4-FFF2-40B4-BE49-F238E27FC236}">
                <a16:creationId xmlns:a16="http://schemas.microsoft.com/office/drawing/2014/main" id="{4A5869BC-D41D-167F-3A5A-8011B22E30BB}"/>
              </a:ext>
            </a:extLst>
          </p:cNvPr>
          <p:cNvGrpSpPr/>
          <p:nvPr/>
        </p:nvGrpSpPr>
        <p:grpSpPr>
          <a:xfrm>
            <a:off x="2221576" y="2040892"/>
            <a:ext cx="13540048" cy="6221045"/>
            <a:chOff x="1085851" y="2040890"/>
            <a:chExt cx="13540048" cy="6221045"/>
          </a:xfrm>
        </p:grpSpPr>
        <p:pic>
          <p:nvPicPr>
            <p:cNvPr id="9218" name="Picture 2" descr="May be an image of floor plan, blueprint and text">
              <a:extLst>
                <a:ext uri="{FF2B5EF4-FFF2-40B4-BE49-F238E27FC236}">
                  <a16:creationId xmlns:a16="http://schemas.microsoft.com/office/drawing/2014/main" id="{FA9015D9-504C-4EBE-D835-5B64CFD70A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 t="11787" r="296" b="19294"/>
            <a:stretch/>
          </p:blipFill>
          <p:spPr bwMode="auto">
            <a:xfrm>
              <a:off x="7855874" y="2040890"/>
              <a:ext cx="6770025" cy="622104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May be an illustration of blueprint and text that says '#BOARDEXAMTIPS When say saving memory space in your brain, this is what I mean: In open channels, did you know that you can determine the area of rectangular and triangular channels just by learning the trapezoidal channel formula? Trapezoid b Rectangle Trapezoid: A=by+zy2 by zy- A A= Triangle Rectangle: A=by by Triangle: A zy -engr.henrytenorio -engr. henry tenorio'">
              <a:extLst>
                <a:ext uri="{FF2B5EF4-FFF2-40B4-BE49-F238E27FC236}">
                  <a16:creationId xmlns:a16="http://schemas.microsoft.com/office/drawing/2014/main" id="{C7AF3FA5-C8FE-BDFF-C9D3-CD236E77CC0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956" b="20125"/>
            <a:stretch/>
          </p:blipFill>
          <p:spPr bwMode="auto">
            <a:xfrm>
              <a:off x="1085851" y="2040892"/>
              <a:ext cx="6770024" cy="622104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Group 14">
            <a:extLst>
              <a:ext uri="{FF2B5EF4-FFF2-40B4-BE49-F238E27FC236}">
                <a16:creationId xmlns:a16="http://schemas.microsoft.com/office/drawing/2014/main" id="{5F57257E-80AA-1E1A-E127-AB0D1BCA01D7}"/>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D5E25FD4-0E50-E524-39BA-0AE1B2909A7A}"/>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C81834C2-25F4-51E1-76FC-578A0A6F22E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6" name="TextBox 13">
                <a:extLst>
                  <a:ext uri="{FF2B5EF4-FFF2-40B4-BE49-F238E27FC236}">
                    <a16:creationId xmlns:a16="http://schemas.microsoft.com/office/drawing/2014/main" id="{792D63AC-CCBD-600F-B908-634165ED9687}"/>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422BA0EC-F8AA-4FAF-6178-A4F9867B85B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CCDB9B19-8AD3-A65D-1ABE-E8BF1D9B977B}"/>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1901380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29BF7-27BE-2A81-8F74-BA907C85D21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524C297-2D31-A396-4720-359060FDA659}"/>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303114B-2593-8E3D-E713-5C346D277E0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7E402AE-F7D6-1C04-FF16-534B37984174}"/>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A3E5D8C-8DA2-804F-3703-971294010A54}"/>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2858EC0A-3510-492D-D9FE-E9990E0DA8BD}"/>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5F3DA357-B0D7-9FF5-163A-1E3DBA33A42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83ACF7F4-8CBA-11AD-471A-31C102796BB0}"/>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51FB8094-66BE-CB85-E339-CC94EE02DA4E}"/>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A69C5EFB-0AE8-FF28-3021-E8271A529C16}"/>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A6DA6915-CFBA-630D-EA4F-1D69A1D34DEF}"/>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E3BBD763-116B-6886-A7D8-D665EE9A504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953B6E63-493C-7FF3-1EF1-499A624D8C00}"/>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0E1EF640-A981-1CC8-AC32-25B22E668795}"/>
              </a:ext>
            </a:extLst>
          </p:cNvPr>
          <p:cNvSpPr txBox="1"/>
          <p:nvPr/>
        </p:nvSpPr>
        <p:spPr>
          <a:xfrm>
            <a:off x="2246041" y="2025065"/>
            <a:ext cx="13795916" cy="369332"/>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OPEN CHANNEL HYDRAULICS</a:t>
            </a:r>
          </a:p>
        </p:txBody>
      </p:sp>
      <p:sp>
        <p:nvSpPr>
          <p:cNvPr id="19" name="TextBox 12">
            <a:extLst>
              <a:ext uri="{FF2B5EF4-FFF2-40B4-BE49-F238E27FC236}">
                <a16:creationId xmlns:a16="http://schemas.microsoft.com/office/drawing/2014/main" id="{B94233EF-DF14-3EAD-D7E2-5A670CB5F0FF}"/>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54559278-DD48-2162-CB6C-77C8631BD1F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A0704DBC-A1D4-5566-8691-289D355DA5B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A776D28D-E72B-F4D4-6B1C-FFC503D0391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93D7811D-C194-1161-8E90-D587C048C67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40FAFE04-E204-364E-427C-DDB458FD371B}"/>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CE489288-9979-A85D-0FF8-943407CAB34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6148" name="Picture 4" descr="Solved) - Q4 (A) Give TWO (2) Differences Between Open Channel Flow And  Pipe... (1 Answer) | Transtutors">
            <a:extLst>
              <a:ext uri="{FF2B5EF4-FFF2-40B4-BE49-F238E27FC236}">
                <a16:creationId xmlns:a16="http://schemas.microsoft.com/office/drawing/2014/main" id="{CAD59586-1966-20EA-3A5C-6917AE0E38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419"/>
          <a:stretch/>
        </p:blipFill>
        <p:spPr bwMode="auto">
          <a:xfrm>
            <a:off x="3977914" y="3009186"/>
            <a:ext cx="10332169" cy="5425428"/>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15">
            <a:extLst>
              <a:ext uri="{FF2B5EF4-FFF2-40B4-BE49-F238E27FC236}">
                <a16:creationId xmlns:a16="http://schemas.microsoft.com/office/drawing/2014/main" id="{C0C96968-EC5F-43D4-D608-B81EBFE66CCA}"/>
              </a:ext>
            </a:extLst>
          </p:cNvPr>
          <p:cNvSpPr txBox="1"/>
          <p:nvPr/>
        </p:nvSpPr>
        <p:spPr>
          <a:xfrm>
            <a:off x="5130482" y="2691387"/>
            <a:ext cx="8027031" cy="307777"/>
          </a:xfrm>
          <a:prstGeom prst="rect">
            <a:avLst/>
          </a:prstGeom>
        </p:spPr>
        <p:txBody>
          <a:bodyPr wrap="square" lIns="0" tIns="0" rIns="0" bIns="0" rtlCol="0" anchor="t">
            <a:spAutoFit/>
          </a:bodyPr>
          <a:lstStyle/>
          <a:p>
            <a:pPr algn="ctr"/>
            <a:r>
              <a:rPr lang="en-US" sz="2000" dirty="0">
                <a:latin typeface="Nunito 1" panose="020B0604020202020204" charset="0"/>
                <a:ea typeface="Nunito 1 Bold"/>
                <a:cs typeface="Nunito 1 Bold"/>
                <a:sym typeface="Nunito 1 Bold"/>
              </a:rPr>
              <a:t>Best hydraulic section</a:t>
            </a:r>
          </a:p>
        </p:txBody>
      </p:sp>
      <p:sp>
        <p:nvSpPr>
          <p:cNvPr id="29" name="TextBox 15">
            <a:extLst>
              <a:ext uri="{FF2B5EF4-FFF2-40B4-BE49-F238E27FC236}">
                <a16:creationId xmlns:a16="http://schemas.microsoft.com/office/drawing/2014/main" id="{0A720D75-4307-C2FF-95B9-616C8721599E}"/>
              </a:ext>
            </a:extLst>
          </p:cNvPr>
          <p:cNvSpPr txBox="1"/>
          <p:nvPr/>
        </p:nvSpPr>
        <p:spPr>
          <a:xfrm>
            <a:off x="4685934" y="4594023"/>
            <a:ext cx="1117600" cy="1846659"/>
          </a:xfrm>
          <a:prstGeom prst="rect">
            <a:avLst/>
          </a:prstGeom>
        </p:spPr>
        <p:txBody>
          <a:bodyPr wrap="square" lIns="0" tIns="0" rIns="0" bIns="0" rtlCol="0" anchor="t">
            <a:spAutoFit/>
          </a:bodyPr>
          <a:lstStyle/>
          <a:p>
            <a:r>
              <a:rPr lang="en-US" sz="1200" dirty="0">
                <a:solidFill>
                  <a:schemeClr val="accent1"/>
                </a:solidFill>
                <a:latin typeface="Nunito 1" panose="020B0604020202020204" charset="0"/>
                <a:ea typeface="Nunito 1 Bold"/>
                <a:cs typeface="Nunito 1 Bold"/>
                <a:sym typeface="Nunito 1 Bold"/>
              </a:rPr>
              <a:t>half of a perfect hexagon</a:t>
            </a:r>
          </a:p>
          <a:p>
            <a:endParaRPr lang="en-US" sz="1200" dirty="0">
              <a:solidFill>
                <a:schemeClr val="accent1"/>
              </a:solidFill>
              <a:latin typeface="Nunito 1" panose="020B0604020202020204" charset="0"/>
              <a:ea typeface="Nunito 1 Bold"/>
              <a:cs typeface="Nunito 1 Bold"/>
              <a:sym typeface="Nunito 1 Bold"/>
            </a:endParaRPr>
          </a:p>
          <a:p>
            <a:endParaRPr lang="en-US" sz="1200" dirty="0">
              <a:solidFill>
                <a:schemeClr val="accent1"/>
              </a:solidFill>
              <a:latin typeface="Nunito 1" panose="020B0604020202020204" charset="0"/>
              <a:ea typeface="Nunito 1 Bold"/>
              <a:cs typeface="Nunito 1 Bold"/>
              <a:sym typeface="Nunito 1 Bold"/>
            </a:endParaRPr>
          </a:p>
          <a:p>
            <a:r>
              <a:rPr lang="en-US" sz="1200" dirty="0">
                <a:solidFill>
                  <a:schemeClr val="accent1"/>
                </a:solidFill>
                <a:latin typeface="Nunito 1" panose="020B0604020202020204" charset="0"/>
                <a:ea typeface="Nunito 1 Bold"/>
                <a:cs typeface="Nunito 1 Bold"/>
                <a:sym typeface="Nunito 1 Bold"/>
              </a:rPr>
              <a:t>half of a square</a:t>
            </a:r>
          </a:p>
          <a:p>
            <a:endParaRPr lang="en-US" sz="1200" dirty="0">
              <a:solidFill>
                <a:schemeClr val="accent1"/>
              </a:solidFill>
              <a:latin typeface="Nunito 1" panose="020B0604020202020204" charset="0"/>
              <a:ea typeface="Nunito 1 Bold"/>
              <a:cs typeface="Nunito 1 Bold"/>
              <a:sym typeface="Nunito 1 Bold"/>
            </a:endParaRPr>
          </a:p>
          <a:p>
            <a:endParaRPr lang="en-US" sz="1200" dirty="0">
              <a:solidFill>
                <a:schemeClr val="accent1"/>
              </a:solidFill>
              <a:latin typeface="Nunito 1" panose="020B0604020202020204" charset="0"/>
              <a:ea typeface="Nunito 1 Bold"/>
              <a:cs typeface="Nunito 1 Bold"/>
              <a:sym typeface="Nunito 1 Bold"/>
            </a:endParaRPr>
          </a:p>
          <a:p>
            <a:endParaRPr lang="en-US" sz="1200" dirty="0">
              <a:solidFill>
                <a:schemeClr val="accent1"/>
              </a:solidFill>
              <a:latin typeface="Nunito 1" panose="020B0604020202020204" charset="0"/>
              <a:ea typeface="Nunito 1 Bold"/>
              <a:cs typeface="Nunito 1 Bold"/>
              <a:sym typeface="Nunito 1 Bold"/>
            </a:endParaRPr>
          </a:p>
          <a:p>
            <a:r>
              <a:rPr lang="en-US" sz="1200" dirty="0">
                <a:solidFill>
                  <a:schemeClr val="accent1"/>
                </a:solidFill>
                <a:latin typeface="Nunito 1" panose="020B0604020202020204" charset="0"/>
                <a:ea typeface="Nunito 1 Bold"/>
                <a:cs typeface="Nunito 1 Bold"/>
                <a:sym typeface="Nunito 1 Bold"/>
              </a:rPr>
              <a:t>half of a square</a:t>
            </a:r>
          </a:p>
          <a:p>
            <a:endParaRPr lang="en-US" sz="1200" dirty="0">
              <a:solidFill>
                <a:schemeClr val="accent1"/>
              </a:solidFill>
              <a:latin typeface="Nunito 1" panose="020B0604020202020204" charset="0"/>
              <a:ea typeface="Nunito 1 Bold"/>
              <a:cs typeface="Nunito 1 Bold"/>
              <a:sym typeface="Nunito 1 Bold"/>
            </a:endParaRPr>
          </a:p>
        </p:txBody>
      </p:sp>
      <p:grpSp>
        <p:nvGrpSpPr>
          <p:cNvPr id="14" name="Group 13">
            <a:extLst>
              <a:ext uri="{FF2B5EF4-FFF2-40B4-BE49-F238E27FC236}">
                <a16:creationId xmlns:a16="http://schemas.microsoft.com/office/drawing/2014/main" id="{2E66ABE7-0B24-F1D3-746A-50A1E5C4523E}"/>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8B7BBB06-F8A9-86E1-9EC6-D82794616C09}"/>
                </a:ext>
              </a:extLst>
            </p:cNvPr>
            <p:cNvGrpSpPr/>
            <p:nvPr/>
          </p:nvGrpSpPr>
          <p:grpSpPr>
            <a:xfrm>
              <a:off x="0" y="9599694"/>
              <a:ext cx="18287999" cy="687305"/>
              <a:chOff x="0" y="0"/>
              <a:chExt cx="5260714" cy="490218"/>
            </a:xfrm>
          </p:grpSpPr>
          <p:sp>
            <p:nvSpPr>
              <p:cNvPr id="21" name="Freeform 12">
                <a:extLst>
                  <a:ext uri="{FF2B5EF4-FFF2-40B4-BE49-F238E27FC236}">
                    <a16:creationId xmlns:a16="http://schemas.microsoft.com/office/drawing/2014/main" id="{D9F4940A-54CF-4D60-4DDD-12A25DD5F59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B2E0570E-70F1-6193-CC61-5012E420490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4640BD5B-B8C6-E52B-508C-44B51B08E837}"/>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18" name="TextBox 13">
              <a:extLst>
                <a:ext uri="{FF2B5EF4-FFF2-40B4-BE49-F238E27FC236}">
                  <a16:creationId xmlns:a16="http://schemas.microsoft.com/office/drawing/2014/main" id="{60084398-3AD4-5726-91F5-E67ECFF18009}"/>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30868743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79682-F7BC-C702-76FD-793B6D91C4D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BF9B03-E701-5FC9-8BF5-55B90B8DF693}"/>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2BAEED57-2121-87EB-9860-3351635178C0}"/>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32FAF81-FCF6-C554-56DE-7A06F2750307}"/>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6BC70DC-CEF8-8FDB-169B-061DFB7D4857}"/>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7BDA5E2B-3768-68C9-48B4-07CF9FD9EC9F}"/>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33C24CDD-2AE0-A0EB-03EB-97F01A65AA3C}"/>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3B4B9D1-4B69-31CA-B79D-E00598532A0C}"/>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0AFD71BF-2703-45A5-6A76-1D386B7290F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BF100F27-D485-7C4D-11F2-AFC87D8D76A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6866752A-573E-7721-5102-CC4B038C7E00}"/>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9F644C7-EA18-0122-7D88-E35040D172D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EF79E91F-D161-3853-3F0D-6E36BD43916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2">
            <a:extLst>
              <a:ext uri="{FF2B5EF4-FFF2-40B4-BE49-F238E27FC236}">
                <a16:creationId xmlns:a16="http://schemas.microsoft.com/office/drawing/2014/main" id="{01B826F0-BA6A-95A9-CE63-5CB751FBBFC4}"/>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6FE5797F-60D1-C856-1FF5-F87E37EC86F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DA53FADB-00F7-3C1B-7F0D-4BAFA0E52E84}"/>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5BFF9459-D47F-4948-85AC-789D8983419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6C08ABC6-F6FD-1BD9-3D0E-270F8C23DAD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15">
            <a:extLst>
              <a:ext uri="{FF2B5EF4-FFF2-40B4-BE49-F238E27FC236}">
                <a16:creationId xmlns:a16="http://schemas.microsoft.com/office/drawing/2014/main" id="{E39FF8BD-6001-4E7F-32B5-157459C08B08}"/>
              </a:ext>
            </a:extLst>
          </p:cNvPr>
          <p:cNvSpPr txBox="1"/>
          <p:nvPr/>
        </p:nvSpPr>
        <p:spPr>
          <a:xfrm>
            <a:off x="1219198" y="8899770"/>
            <a:ext cx="15849602" cy="184666"/>
          </a:xfrm>
          <a:prstGeom prst="rect">
            <a:avLst/>
          </a:prstGeom>
        </p:spPr>
        <p:txBody>
          <a:bodyPr wrap="square" lIns="0" tIns="0" rIns="0" bIns="0" rtlCol="0" anchor="t">
            <a:spAutoFit/>
          </a:bodyPr>
          <a:lstStyle/>
          <a:p>
            <a:pPr algn="r"/>
            <a:r>
              <a:rPr lang="en-US" sz="1200" i="1" dirty="0">
                <a:solidFill>
                  <a:srgbClr val="000000"/>
                </a:solidFill>
                <a:latin typeface="Nunito 1" panose="020B0604020202020204" charset="0"/>
                <a:ea typeface="Nunito 1 Bold"/>
                <a:cs typeface="Nunito 1 Bold"/>
                <a:sym typeface="Nunito 1 Bold"/>
              </a:rPr>
              <a:t>Reference: https://www.fsl.orst.edu/geowater/FX3/help/8_Hydraulic_Reference/Froude_Number_and_Flow_States.htm</a:t>
            </a:r>
          </a:p>
        </p:txBody>
      </p:sp>
      <p:sp>
        <p:nvSpPr>
          <p:cNvPr id="22" name="AutoShape 4" descr="Jual Open Channel Flowmeter / Flowmeter Saluran Terbuka / Flowmeter Sungai  Depok | Zara Tech Achievement">
            <a:extLst>
              <a:ext uri="{FF2B5EF4-FFF2-40B4-BE49-F238E27FC236}">
                <a16:creationId xmlns:a16="http://schemas.microsoft.com/office/drawing/2014/main" id="{86BDB785-2D0C-6B44-9418-D0EAFC4FD00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4" name="TextBox 13">
            <a:extLst>
              <a:ext uri="{FF2B5EF4-FFF2-40B4-BE49-F238E27FC236}">
                <a16:creationId xmlns:a16="http://schemas.microsoft.com/office/drawing/2014/main" id="{7EEAEFA5-D397-BF55-675B-660A2048CB0D}"/>
              </a:ext>
            </a:extLst>
          </p:cNvPr>
          <p:cNvSpPr txBox="1"/>
          <p:nvPr/>
        </p:nvSpPr>
        <p:spPr>
          <a:xfrm>
            <a:off x="1676398" y="4526362"/>
            <a:ext cx="9220203" cy="1754326"/>
          </a:xfrm>
          <a:prstGeom prst="rect">
            <a:avLst/>
          </a:prstGeom>
        </p:spPr>
        <p:txBody>
          <a:bodyPr wrap="square" lIns="0" tIns="0" rIns="0" bIns="0" rtlCol="0" anchor="t">
            <a:spAutoFit/>
          </a:bodyPr>
          <a:lstStyle/>
          <a:p>
            <a:r>
              <a:rPr lang="en-US" sz="2400" b="1" dirty="0">
                <a:latin typeface="Nunito 1 Bold"/>
                <a:ea typeface="Nunito 1 Bold"/>
                <a:cs typeface="Nunito 1 Bold"/>
                <a:sym typeface="Nunito 1 Bold"/>
              </a:rPr>
              <a:t>Critical Flow In Open Channels</a:t>
            </a:r>
          </a:p>
          <a:p>
            <a:endParaRPr lang="en-US" sz="2400" dirty="0">
              <a:solidFill>
                <a:srgbClr val="000000"/>
              </a:solidFill>
              <a:latin typeface="Nunito 1" panose="020B0604020202020204" charset="0"/>
              <a:ea typeface="Nunito 1 Bold"/>
              <a:cs typeface="Nunito 1 Bold"/>
              <a:sym typeface="Nunito 1 Bold"/>
            </a:endParaRPr>
          </a:p>
          <a:p>
            <a:r>
              <a:rPr lang="en-US" sz="2200" dirty="0">
                <a:solidFill>
                  <a:srgbClr val="000000"/>
                </a:solidFill>
                <a:latin typeface="Nunito 1" panose="020B0604020202020204" charset="0"/>
                <a:ea typeface="Nunito 1 Bold"/>
                <a:cs typeface="Nunito 1 Bold"/>
                <a:sym typeface="Nunito 1 Bold"/>
              </a:rPr>
              <a:t>When the flow is at critical depth, the Froude number is equal to 1. This gives the following equality below, relating the area and top width of flow to the discharge of the channel and gravity. </a:t>
            </a:r>
          </a:p>
        </p:txBody>
      </p:sp>
      <p:pic>
        <p:nvPicPr>
          <p:cNvPr id="17" name="Picture 16">
            <a:extLst>
              <a:ext uri="{FF2B5EF4-FFF2-40B4-BE49-F238E27FC236}">
                <a16:creationId xmlns:a16="http://schemas.microsoft.com/office/drawing/2014/main" id="{61896962-8D67-619E-8A09-D8A59666740D}"/>
              </a:ext>
            </a:extLst>
          </p:cNvPr>
          <p:cNvPicPr>
            <a:picLocks noChangeAspect="1"/>
          </p:cNvPicPr>
          <p:nvPr/>
        </p:nvPicPr>
        <p:blipFill>
          <a:blip r:embed="rId3"/>
          <a:stretch>
            <a:fillRect/>
          </a:stretch>
        </p:blipFill>
        <p:spPr>
          <a:xfrm>
            <a:off x="1676398" y="6823991"/>
            <a:ext cx="1790791" cy="1277255"/>
          </a:xfrm>
          <a:prstGeom prst="rect">
            <a:avLst/>
          </a:prstGeom>
        </p:spPr>
      </p:pic>
      <p:sp>
        <p:nvSpPr>
          <p:cNvPr id="18" name="TextBox 15">
            <a:extLst>
              <a:ext uri="{FF2B5EF4-FFF2-40B4-BE49-F238E27FC236}">
                <a16:creationId xmlns:a16="http://schemas.microsoft.com/office/drawing/2014/main" id="{4347B464-1F88-4194-C979-563C18661027}"/>
              </a:ext>
            </a:extLst>
          </p:cNvPr>
          <p:cNvSpPr txBox="1"/>
          <p:nvPr/>
        </p:nvSpPr>
        <p:spPr>
          <a:xfrm>
            <a:off x="2246041" y="2025065"/>
            <a:ext cx="13795916" cy="369332"/>
          </a:xfrm>
          <a:prstGeom prst="rect">
            <a:avLst/>
          </a:prstGeom>
        </p:spPr>
        <p:txBody>
          <a:bodyPr lIns="0" tIns="0" rIns="0" bIns="0" rtlCol="0" anchor="t">
            <a:spAutoFit/>
          </a:bodyPr>
          <a:lstStyle/>
          <a:p>
            <a:pPr algn="ctr">
              <a:tabLst>
                <a:tab pos="7442200" algn="l"/>
              </a:tabLst>
            </a:pPr>
            <a:r>
              <a:rPr lang="en-PH" sz="2400" b="1" dirty="0">
                <a:solidFill>
                  <a:srgbClr val="000000"/>
                </a:solidFill>
                <a:latin typeface="Nunito 1 Bold" panose="020B0604020202020204" charset="0"/>
                <a:ea typeface="Nunito 1 Bold"/>
                <a:cs typeface="Nunito 1 Bold"/>
                <a:sym typeface="Nunito 1 Bold"/>
              </a:rPr>
              <a:t>SPECIFIC ENERGY AND CRITICAL FLOW</a:t>
            </a:r>
            <a:endParaRPr lang="en-US" sz="2400" b="1" dirty="0">
              <a:solidFill>
                <a:srgbClr val="000000"/>
              </a:solidFill>
              <a:latin typeface="Nunito 1" panose="020B0604020202020204" charset="0"/>
              <a:ea typeface="Nunito 1 Bold"/>
              <a:cs typeface="Nunito 1 Bold"/>
              <a:sym typeface="Nunito 1 Bold"/>
            </a:endParaRPr>
          </a:p>
        </p:txBody>
      </p:sp>
      <p:sp>
        <p:nvSpPr>
          <p:cNvPr id="21" name="TextBox 15">
            <a:extLst>
              <a:ext uri="{FF2B5EF4-FFF2-40B4-BE49-F238E27FC236}">
                <a16:creationId xmlns:a16="http://schemas.microsoft.com/office/drawing/2014/main" id="{85F8184C-32BB-1C1C-6B31-CF52459ED0C4}"/>
              </a:ext>
            </a:extLst>
          </p:cNvPr>
          <p:cNvSpPr txBox="1"/>
          <p:nvPr/>
        </p:nvSpPr>
        <p:spPr>
          <a:xfrm>
            <a:off x="4114887" y="6786982"/>
            <a:ext cx="3962400" cy="1600438"/>
          </a:xfrm>
          <a:prstGeom prst="rect">
            <a:avLst/>
          </a:prstGeom>
        </p:spPr>
        <p:txBody>
          <a:bodyPr wrap="square" lIns="0" tIns="0" rIns="0" bIns="0" rtlCol="0" anchor="t">
            <a:spAutoFit/>
          </a:bodyPr>
          <a:lstStyle/>
          <a:p>
            <a:pPr>
              <a:tabLst>
                <a:tab pos="7442200" algn="l"/>
              </a:tabLst>
            </a:pPr>
            <a:r>
              <a:rPr lang="en-US" sz="2000" dirty="0">
                <a:solidFill>
                  <a:srgbClr val="000000"/>
                </a:solidFill>
                <a:latin typeface="Nunito 1" panose="020B0604020202020204" charset="0"/>
                <a:ea typeface="Nunito 1 Bold"/>
                <a:cs typeface="Nunito 1 Bold"/>
                <a:sym typeface="Nunito 1 Bold"/>
              </a:rPr>
              <a:t>A = area (m</a:t>
            </a:r>
            <a:r>
              <a:rPr lang="en-US" sz="2000" baseline="30000" dirty="0">
                <a:solidFill>
                  <a:srgbClr val="000000"/>
                </a:solidFill>
                <a:latin typeface="Nunito 1" panose="020B0604020202020204" charset="0"/>
                <a:ea typeface="Nunito 1 Bold"/>
                <a:cs typeface="Nunito 1 Bold"/>
                <a:sym typeface="Nunito 1 Bold"/>
              </a:rPr>
              <a:t>2</a:t>
            </a:r>
            <a:r>
              <a:rPr lang="en-US" sz="2000" dirty="0">
                <a:solidFill>
                  <a:srgbClr val="000000"/>
                </a:solidFill>
                <a:latin typeface="Nunito 1" panose="020B0604020202020204" charset="0"/>
                <a:ea typeface="Nunito 1 Bold"/>
                <a:cs typeface="Nunito 1 Bold"/>
                <a:sym typeface="Nunito 1 Bold"/>
              </a:rPr>
              <a:t>, ft</a:t>
            </a:r>
            <a:r>
              <a:rPr lang="en-US" sz="2000" baseline="30000" dirty="0">
                <a:solidFill>
                  <a:srgbClr val="000000"/>
                </a:solidFill>
                <a:latin typeface="Nunito 1" panose="020B0604020202020204" charset="0"/>
                <a:ea typeface="Nunito 1 Bold"/>
                <a:cs typeface="Nunito 1 Bold"/>
                <a:sym typeface="Nunito 1 Bold"/>
              </a:rPr>
              <a:t>2</a:t>
            </a:r>
            <a:r>
              <a:rPr lang="en-US" sz="2000" dirty="0">
                <a:solidFill>
                  <a:srgbClr val="000000"/>
                </a:solidFill>
                <a:latin typeface="Nunito 1" panose="020B0604020202020204" charset="0"/>
                <a:ea typeface="Nunito 1 Bold"/>
                <a:cs typeface="Nunito 1 Bold"/>
                <a:sym typeface="Nunito 1 Bold"/>
              </a:rPr>
              <a:t>)</a:t>
            </a:r>
          </a:p>
          <a:p>
            <a:pPr>
              <a:tabLst>
                <a:tab pos="3771900" algn="l"/>
              </a:tabLst>
            </a:pPr>
            <a:r>
              <a:rPr lang="en-US" sz="2000" dirty="0">
                <a:solidFill>
                  <a:srgbClr val="000000"/>
                </a:solidFill>
                <a:latin typeface="Nunito 1" panose="020B0604020202020204" charset="0"/>
                <a:ea typeface="Nunito 1 Bold"/>
                <a:cs typeface="Nunito 1 Bold"/>
                <a:sym typeface="Nunito 1 Bold"/>
              </a:rPr>
              <a:t>T = top width (m, ft)</a:t>
            </a:r>
          </a:p>
          <a:p>
            <a:pPr>
              <a:tabLst>
                <a:tab pos="3771900" algn="l"/>
              </a:tabLst>
            </a:pPr>
            <a:r>
              <a:rPr lang="en-US" sz="2000" dirty="0">
                <a:solidFill>
                  <a:srgbClr val="000000"/>
                </a:solidFill>
                <a:latin typeface="Nunito 1" panose="020B0604020202020204" charset="0"/>
                <a:ea typeface="Nunito 1 Bold"/>
                <a:cs typeface="Nunito 1 Bold"/>
                <a:sym typeface="Nunito 1 Bold"/>
              </a:rPr>
              <a:t>Q = discharge (m</a:t>
            </a:r>
            <a:r>
              <a:rPr lang="en-US" sz="2000" baseline="30000" dirty="0">
                <a:solidFill>
                  <a:srgbClr val="000000"/>
                </a:solidFill>
                <a:latin typeface="Nunito 1" panose="020B0604020202020204" charset="0"/>
                <a:ea typeface="Nunito 1 Bold"/>
                <a:cs typeface="Nunito 1 Bold"/>
                <a:sym typeface="Nunito 1 Bold"/>
              </a:rPr>
              <a:t>3</a:t>
            </a:r>
            <a:r>
              <a:rPr lang="en-US" sz="2000" dirty="0">
                <a:solidFill>
                  <a:srgbClr val="000000"/>
                </a:solidFill>
                <a:latin typeface="Nunito 1" panose="020B0604020202020204" charset="0"/>
                <a:ea typeface="Nunito 1 Bold"/>
                <a:cs typeface="Nunito 1 Bold"/>
                <a:sym typeface="Nunito 1 Bold"/>
              </a:rPr>
              <a:t>/s, </a:t>
            </a:r>
            <a:r>
              <a:rPr lang="en-US" sz="2000" dirty="0" err="1">
                <a:solidFill>
                  <a:srgbClr val="000000"/>
                </a:solidFill>
                <a:latin typeface="Nunito 1" panose="020B0604020202020204" charset="0"/>
                <a:ea typeface="Nunito 1 Bold"/>
                <a:cs typeface="Nunito 1 Bold"/>
                <a:sym typeface="Nunito 1 Bold"/>
              </a:rPr>
              <a:t>cfs</a:t>
            </a:r>
            <a:r>
              <a:rPr lang="en-US" sz="2000" dirty="0">
                <a:solidFill>
                  <a:srgbClr val="000000"/>
                </a:solidFill>
                <a:latin typeface="Nunito 1" panose="020B0604020202020204" charset="0"/>
                <a:ea typeface="Nunito 1 Bold"/>
                <a:cs typeface="Nunito 1 Bold"/>
                <a:sym typeface="Nunito 1 Bold"/>
              </a:rPr>
              <a:t>)</a:t>
            </a:r>
          </a:p>
          <a:p>
            <a:pPr>
              <a:tabLst>
                <a:tab pos="3771900" algn="l"/>
              </a:tabLst>
            </a:pPr>
            <a:r>
              <a:rPr lang="en-US" sz="2000" dirty="0">
                <a:solidFill>
                  <a:srgbClr val="000000"/>
                </a:solidFill>
                <a:latin typeface="Nunito 1" panose="020B0604020202020204" charset="0"/>
                <a:ea typeface="Nunito 1 Bold"/>
                <a:cs typeface="Nunito 1 Bold"/>
                <a:sym typeface="Nunito 1 Bold"/>
              </a:rPr>
              <a:t>g = gravity (9.81m/s</a:t>
            </a:r>
            <a:r>
              <a:rPr lang="en-US" sz="2000" baseline="30000" dirty="0">
                <a:solidFill>
                  <a:srgbClr val="000000"/>
                </a:solidFill>
                <a:latin typeface="Nunito 1" panose="020B0604020202020204" charset="0"/>
                <a:ea typeface="Nunito 1 Bold"/>
                <a:cs typeface="Nunito 1 Bold"/>
                <a:sym typeface="Nunito 1 Bold"/>
              </a:rPr>
              <a:t>2</a:t>
            </a:r>
            <a:r>
              <a:rPr lang="en-US" sz="2000" dirty="0">
                <a:solidFill>
                  <a:srgbClr val="000000"/>
                </a:solidFill>
                <a:latin typeface="Nunito 1" panose="020B0604020202020204" charset="0"/>
                <a:ea typeface="Nunito 1 Bold"/>
                <a:cs typeface="Nunito 1 Bold"/>
                <a:sym typeface="Nunito 1 Bold"/>
              </a:rPr>
              <a:t>, 32.2fps)</a:t>
            </a:r>
          </a:p>
          <a:p>
            <a:endParaRPr lang="en-US" sz="2400" b="1" dirty="0">
              <a:solidFill>
                <a:srgbClr val="000000"/>
              </a:solidFill>
              <a:latin typeface="Nunito 1" panose="020B0604020202020204" charset="0"/>
              <a:ea typeface="Nunito 1 Bold"/>
              <a:cs typeface="Nunito 1 Bold"/>
              <a:sym typeface="Nunito 1 Bold"/>
            </a:endParaRPr>
          </a:p>
        </p:txBody>
      </p:sp>
      <p:sp>
        <p:nvSpPr>
          <p:cNvPr id="28" name="TextBox 27">
            <a:extLst>
              <a:ext uri="{FF2B5EF4-FFF2-40B4-BE49-F238E27FC236}">
                <a16:creationId xmlns:a16="http://schemas.microsoft.com/office/drawing/2014/main" id="{3D00B3D2-C5C7-A6C2-60CE-70709FD4670A}"/>
              </a:ext>
            </a:extLst>
          </p:cNvPr>
          <p:cNvSpPr txBox="1"/>
          <p:nvPr/>
        </p:nvSpPr>
        <p:spPr>
          <a:xfrm>
            <a:off x="1676398" y="2559470"/>
            <a:ext cx="14935200" cy="369332"/>
          </a:xfrm>
          <a:prstGeom prst="rect">
            <a:avLst/>
          </a:prstGeom>
        </p:spPr>
        <p:txBody>
          <a:bodyPr wrap="square" lIns="0" tIns="0" rIns="0" bIns="0" rtlCol="0" anchor="t">
            <a:spAutoFit/>
          </a:bodyPr>
          <a:lstStyle/>
          <a:p>
            <a:r>
              <a:rPr lang="en-US" sz="2400" dirty="0">
                <a:solidFill>
                  <a:srgbClr val="000000"/>
                </a:solidFill>
                <a:latin typeface="Nunito 1" panose="020B0604020202020204" charset="0"/>
                <a:ea typeface="Nunito 1 Bold"/>
                <a:cs typeface="Nunito 1 Bold"/>
                <a:sym typeface="Nunito 1 Bold"/>
              </a:rPr>
              <a:t>Specific energy is the sum of the depth of flow and the velocity head. Specific energy at a cross-section is:</a:t>
            </a:r>
          </a:p>
        </p:txBody>
      </p:sp>
      <p:pic>
        <p:nvPicPr>
          <p:cNvPr id="31" name="Picture 30">
            <a:extLst>
              <a:ext uri="{FF2B5EF4-FFF2-40B4-BE49-F238E27FC236}">
                <a16:creationId xmlns:a16="http://schemas.microsoft.com/office/drawing/2014/main" id="{3EE24510-7FD1-1169-CEDB-AFE659F75ABB}"/>
              </a:ext>
            </a:extLst>
          </p:cNvPr>
          <p:cNvPicPr>
            <a:picLocks noChangeAspect="1"/>
          </p:cNvPicPr>
          <p:nvPr/>
        </p:nvPicPr>
        <p:blipFill>
          <a:blip r:embed="rId4"/>
          <a:stretch>
            <a:fillRect/>
          </a:stretch>
        </p:blipFill>
        <p:spPr>
          <a:xfrm>
            <a:off x="7740580" y="3240406"/>
            <a:ext cx="2806840" cy="935612"/>
          </a:xfrm>
          <a:prstGeom prst="rect">
            <a:avLst/>
          </a:prstGeom>
        </p:spPr>
      </p:pic>
      <p:pic>
        <p:nvPicPr>
          <p:cNvPr id="1026" name="Picture 2" descr="Free Birds Engineering: To Investigate the Relationship Between Specific  Energy (e) and Depth of Flow(y) In a Laboratory Flume.">
            <a:extLst>
              <a:ext uri="{FF2B5EF4-FFF2-40B4-BE49-F238E27FC236}">
                <a16:creationId xmlns:a16="http://schemas.microsoft.com/office/drawing/2014/main" id="{D1A876B2-99C2-F0CD-C769-D8F7BE28B4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50334" y="3246871"/>
            <a:ext cx="5122712" cy="4249420"/>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15">
            <a:extLst>
              <a:ext uri="{FF2B5EF4-FFF2-40B4-BE49-F238E27FC236}">
                <a16:creationId xmlns:a16="http://schemas.microsoft.com/office/drawing/2014/main" id="{79960845-2DD2-3B71-6712-73881DB99C0B}"/>
              </a:ext>
            </a:extLst>
          </p:cNvPr>
          <p:cNvSpPr txBox="1"/>
          <p:nvPr/>
        </p:nvSpPr>
        <p:spPr>
          <a:xfrm>
            <a:off x="11698557" y="7717177"/>
            <a:ext cx="4343400" cy="615553"/>
          </a:xfrm>
          <a:prstGeom prst="rect">
            <a:avLst/>
          </a:prstGeom>
        </p:spPr>
        <p:txBody>
          <a:bodyPr wrap="square" lIns="0" tIns="0" rIns="0" bIns="0" rtlCol="0" anchor="t">
            <a:spAutoFit/>
          </a:bodyPr>
          <a:lstStyle/>
          <a:p>
            <a:pPr marL="342900" indent="-342900">
              <a:buFont typeface="Arial" panose="020B0604020202020204" pitchFamily="34" charset="0"/>
              <a:buChar char="•"/>
              <a:tabLst>
                <a:tab pos="7442200" algn="l"/>
              </a:tabLst>
            </a:pPr>
            <a:r>
              <a:rPr lang="en-US" sz="2000" dirty="0">
                <a:solidFill>
                  <a:srgbClr val="000000"/>
                </a:solidFill>
                <a:latin typeface="Nunito 1" panose="020B0604020202020204" charset="0"/>
                <a:ea typeface="Nunito 1 Bold"/>
                <a:cs typeface="Nunito 1 Bold"/>
                <a:sym typeface="Nunito 1 Bold"/>
              </a:rPr>
              <a:t>If </a:t>
            </a:r>
            <a:r>
              <a:rPr lang="en-US" sz="2000" b="1" dirty="0" err="1">
                <a:solidFill>
                  <a:srgbClr val="000000"/>
                </a:solidFill>
                <a:latin typeface="Nunito 1" panose="020B0604020202020204" charset="0"/>
                <a:ea typeface="Nunito 1 Bold"/>
                <a:cs typeface="Nunito 1 Bold"/>
                <a:sym typeface="Nunito 1 Bold"/>
              </a:rPr>
              <a:t>y</a:t>
            </a:r>
            <a:r>
              <a:rPr lang="en-US" sz="2000" b="1" baseline="-25000" dirty="0" err="1">
                <a:solidFill>
                  <a:srgbClr val="000000"/>
                </a:solidFill>
                <a:latin typeface="Nunito 1" panose="020B0604020202020204" charset="0"/>
                <a:ea typeface="Nunito 1 Bold"/>
                <a:cs typeface="Nunito 1 Bold"/>
                <a:sym typeface="Nunito 1 Bold"/>
              </a:rPr>
              <a:t>actual</a:t>
            </a:r>
            <a:r>
              <a:rPr lang="en-US" sz="2000" b="1" dirty="0">
                <a:solidFill>
                  <a:srgbClr val="000000"/>
                </a:solidFill>
                <a:latin typeface="Nunito 1" panose="020B0604020202020204" charset="0"/>
                <a:ea typeface="Nunito 1 Bold"/>
                <a:cs typeface="Nunito 1 Bold"/>
                <a:sym typeface="Nunito 1 Bold"/>
              </a:rPr>
              <a:t> &gt; </a:t>
            </a:r>
            <a:r>
              <a:rPr lang="en-US" sz="2000" b="1" dirty="0" err="1">
                <a:solidFill>
                  <a:srgbClr val="000000"/>
                </a:solidFill>
                <a:latin typeface="Nunito 1" panose="020B0604020202020204" charset="0"/>
                <a:ea typeface="Nunito 1 Bold"/>
                <a:cs typeface="Nunito 1 Bold"/>
                <a:sym typeface="Nunito 1 Bold"/>
              </a:rPr>
              <a:t>y</a:t>
            </a:r>
            <a:r>
              <a:rPr lang="en-US" sz="2000" b="1" baseline="-25000" dirty="0" err="1">
                <a:solidFill>
                  <a:srgbClr val="000000"/>
                </a:solidFill>
                <a:latin typeface="Nunito 1" panose="020B0604020202020204" charset="0"/>
                <a:ea typeface="Nunito 1 Bold"/>
                <a:cs typeface="Nunito 1 Bold"/>
                <a:sym typeface="Nunito 1 Bold"/>
              </a:rPr>
              <a:t>critical</a:t>
            </a:r>
            <a:r>
              <a:rPr lang="en-US" sz="2000" dirty="0">
                <a:solidFill>
                  <a:srgbClr val="000000"/>
                </a:solidFill>
                <a:latin typeface="Nunito 1" panose="020B0604020202020204" charset="0"/>
                <a:ea typeface="Nunito 1 Bold"/>
                <a:cs typeface="Nunito 1 Bold"/>
                <a:sym typeface="Nunito 1 Bold"/>
              </a:rPr>
              <a:t>, flow is </a:t>
            </a:r>
            <a:r>
              <a:rPr lang="en-US" sz="2000" b="1" dirty="0">
                <a:solidFill>
                  <a:srgbClr val="000000"/>
                </a:solidFill>
                <a:latin typeface="Nunito 1" panose="020B0604020202020204" charset="0"/>
                <a:ea typeface="Nunito 1 Bold"/>
                <a:cs typeface="Nunito 1 Bold"/>
                <a:sym typeface="Nunito 1 Bold"/>
              </a:rPr>
              <a:t>subcritical</a:t>
            </a:r>
            <a:endParaRPr lang="en-US" sz="2400" b="1" dirty="0">
              <a:solidFill>
                <a:srgbClr val="000000"/>
              </a:solidFill>
              <a:latin typeface="Nunito 1" panose="020B0604020202020204" charset="0"/>
              <a:ea typeface="Nunito 1 Bold"/>
              <a:cs typeface="Nunito 1 Bold"/>
              <a:sym typeface="Nunito 1 Bold"/>
            </a:endParaRPr>
          </a:p>
          <a:p>
            <a:pPr marL="342900" indent="-342900">
              <a:buFont typeface="Arial" panose="020B0604020202020204" pitchFamily="34" charset="0"/>
              <a:buChar char="•"/>
              <a:tabLst>
                <a:tab pos="7442200" algn="l"/>
              </a:tabLst>
            </a:pPr>
            <a:r>
              <a:rPr lang="en-US" sz="2000" dirty="0">
                <a:solidFill>
                  <a:srgbClr val="000000"/>
                </a:solidFill>
                <a:latin typeface="Nunito 1" panose="020B0604020202020204" charset="0"/>
                <a:ea typeface="Nunito 1 Bold"/>
                <a:cs typeface="Nunito 1 Bold"/>
                <a:sym typeface="Nunito 1 Bold"/>
              </a:rPr>
              <a:t>If </a:t>
            </a:r>
            <a:r>
              <a:rPr lang="en-US" sz="2000" b="1" dirty="0" err="1">
                <a:solidFill>
                  <a:srgbClr val="000000"/>
                </a:solidFill>
                <a:latin typeface="Nunito 1" panose="020B0604020202020204" charset="0"/>
                <a:ea typeface="Nunito 1 Bold"/>
                <a:cs typeface="Nunito 1 Bold"/>
                <a:sym typeface="Nunito 1 Bold"/>
              </a:rPr>
              <a:t>y</a:t>
            </a:r>
            <a:r>
              <a:rPr lang="en-US" sz="2000" b="1" baseline="-25000" dirty="0" err="1">
                <a:solidFill>
                  <a:srgbClr val="000000"/>
                </a:solidFill>
                <a:latin typeface="Nunito 1" panose="020B0604020202020204" charset="0"/>
                <a:ea typeface="Nunito 1 Bold"/>
                <a:cs typeface="Nunito 1 Bold"/>
                <a:sym typeface="Nunito 1 Bold"/>
              </a:rPr>
              <a:t>actual</a:t>
            </a:r>
            <a:r>
              <a:rPr lang="en-US" sz="2000" b="1" dirty="0">
                <a:solidFill>
                  <a:srgbClr val="000000"/>
                </a:solidFill>
                <a:latin typeface="Nunito 1" panose="020B0604020202020204" charset="0"/>
                <a:ea typeface="Nunito 1 Bold"/>
                <a:cs typeface="Nunito 1 Bold"/>
                <a:sym typeface="Nunito 1 Bold"/>
              </a:rPr>
              <a:t> &lt; </a:t>
            </a:r>
            <a:r>
              <a:rPr lang="en-US" sz="2000" b="1" dirty="0" err="1">
                <a:solidFill>
                  <a:srgbClr val="000000"/>
                </a:solidFill>
                <a:latin typeface="Nunito 1" panose="020B0604020202020204" charset="0"/>
                <a:ea typeface="Nunito 1 Bold"/>
                <a:cs typeface="Nunito 1 Bold"/>
                <a:sym typeface="Nunito 1 Bold"/>
              </a:rPr>
              <a:t>y</a:t>
            </a:r>
            <a:r>
              <a:rPr lang="en-US" sz="2000" b="1" baseline="-25000" dirty="0" err="1">
                <a:solidFill>
                  <a:srgbClr val="000000"/>
                </a:solidFill>
                <a:latin typeface="Nunito 1" panose="020B0604020202020204" charset="0"/>
                <a:ea typeface="Nunito 1 Bold"/>
                <a:cs typeface="Nunito 1 Bold"/>
                <a:sym typeface="Nunito 1 Bold"/>
              </a:rPr>
              <a:t>critical</a:t>
            </a:r>
            <a:r>
              <a:rPr lang="en-US" sz="2000" dirty="0">
                <a:solidFill>
                  <a:srgbClr val="000000"/>
                </a:solidFill>
                <a:latin typeface="Nunito 1" panose="020B0604020202020204" charset="0"/>
                <a:ea typeface="Nunito 1 Bold"/>
                <a:cs typeface="Nunito 1 Bold"/>
                <a:sym typeface="Nunito 1 Bold"/>
              </a:rPr>
              <a:t>, flow is </a:t>
            </a:r>
            <a:r>
              <a:rPr lang="en-US" sz="2000" b="1" dirty="0">
                <a:solidFill>
                  <a:srgbClr val="000000"/>
                </a:solidFill>
                <a:latin typeface="Nunito 1" panose="020B0604020202020204" charset="0"/>
                <a:ea typeface="Nunito 1 Bold"/>
                <a:cs typeface="Nunito 1 Bold"/>
                <a:sym typeface="Nunito 1 Bold"/>
              </a:rPr>
              <a:t>supercritical</a:t>
            </a:r>
            <a:endParaRPr lang="en-US" sz="2400" b="1" dirty="0">
              <a:solidFill>
                <a:srgbClr val="000000"/>
              </a:solidFill>
              <a:latin typeface="Nunito 1" panose="020B0604020202020204" charset="0"/>
              <a:ea typeface="Nunito 1 Bold"/>
              <a:cs typeface="Nunito 1 Bold"/>
              <a:sym typeface="Nunito 1 Bold"/>
            </a:endParaRPr>
          </a:p>
        </p:txBody>
      </p:sp>
      <p:grpSp>
        <p:nvGrpSpPr>
          <p:cNvPr id="15" name="Group 14">
            <a:extLst>
              <a:ext uri="{FF2B5EF4-FFF2-40B4-BE49-F238E27FC236}">
                <a16:creationId xmlns:a16="http://schemas.microsoft.com/office/drawing/2014/main" id="{6F927A86-2CE3-3F05-B1BB-AE82AE581063}"/>
              </a:ext>
            </a:extLst>
          </p:cNvPr>
          <p:cNvGrpSpPr/>
          <p:nvPr/>
        </p:nvGrpSpPr>
        <p:grpSpPr>
          <a:xfrm>
            <a:off x="0" y="9599693"/>
            <a:ext cx="18287999" cy="687306"/>
            <a:chOff x="0" y="9599693"/>
            <a:chExt cx="18287999" cy="687306"/>
          </a:xfrm>
        </p:grpSpPr>
        <p:grpSp>
          <p:nvGrpSpPr>
            <p:cNvPr id="16" name="Group 11">
              <a:extLst>
                <a:ext uri="{FF2B5EF4-FFF2-40B4-BE49-F238E27FC236}">
                  <a16:creationId xmlns:a16="http://schemas.microsoft.com/office/drawing/2014/main" id="{3F0D2682-D6CE-F173-B36F-CBDDB3C6DBC1}"/>
                </a:ext>
              </a:extLst>
            </p:cNvPr>
            <p:cNvGrpSpPr/>
            <p:nvPr/>
          </p:nvGrpSpPr>
          <p:grpSpPr>
            <a:xfrm>
              <a:off x="0" y="9599694"/>
              <a:ext cx="18287999" cy="687305"/>
              <a:chOff x="0" y="0"/>
              <a:chExt cx="5260714" cy="490218"/>
            </a:xfrm>
          </p:grpSpPr>
          <p:sp>
            <p:nvSpPr>
              <p:cNvPr id="30" name="Freeform 12">
                <a:extLst>
                  <a:ext uri="{FF2B5EF4-FFF2-40B4-BE49-F238E27FC236}">
                    <a16:creationId xmlns:a16="http://schemas.microsoft.com/office/drawing/2014/main" id="{AE7BF035-5D3B-DDEF-E9A7-C44B62FF700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33" name="TextBox 13">
                <a:extLst>
                  <a:ext uri="{FF2B5EF4-FFF2-40B4-BE49-F238E27FC236}">
                    <a16:creationId xmlns:a16="http://schemas.microsoft.com/office/drawing/2014/main" id="{4DCF09F3-9F14-73FD-994E-29457F6703E4}"/>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12">
              <a:extLst>
                <a:ext uri="{FF2B5EF4-FFF2-40B4-BE49-F238E27FC236}">
                  <a16:creationId xmlns:a16="http://schemas.microsoft.com/office/drawing/2014/main" id="{8F6C8E22-7AEC-2C16-B859-BA705E9C2BA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9" name="TextBox 13">
              <a:extLst>
                <a:ext uri="{FF2B5EF4-FFF2-40B4-BE49-F238E27FC236}">
                  <a16:creationId xmlns:a16="http://schemas.microsoft.com/office/drawing/2014/main" id="{0167C902-9456-C3B4-7C32-98A21A00D04C}"/>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spTree>
    <p:extLst>
      <p:ext uri="{BB962C8B-B14F-4D97-AF65-F5344CB8AC3E}">
        <p14:creationId xmlns:p14="http://schemas.microsoft.com/office/powerpoint/2010/main" val="29151921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1F0FA-B744-750F-6C42-F77041567FD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505C994-3ED0-7AC2-EC77-61843E3F4658}"/>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245F2389-D17C-2329-04B6-82600832FE1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5CF94756-59B5-D90D-4071-9BA26A71DF3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E3211D60-2538-3AE2-4B6F-3D07C20C79B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0A9CF18A-CC5D-4312-0531-FD2CE38ABE5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1AAC96DB-D0B9-0907-B622-750F9E9621CA}"/>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14B550E1-EFD8-4D31-D6F6-AE0CF0DEAE12}"/>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D544EE3-2FFC-D611-9321-56F1529E7D26}"/>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E524A5ED-84F8-BC7D-F688-B989F741E73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7FB8B55-5091-ED12-C1E4-84DB1EAF6B75}"/>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F70849AC-A2C1-F1BD-4B66-86760C346B56}"/>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4FED73E-E0AC-3F77-800C-00F3C4009366}"/>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3659D3D-2D9E-6B99-781D-3B2F342874FC}"/>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546C18C0-F406-530A-E1C2-860EC298444D}"/>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What is the depth of water in a trapezoidal channel with a side slope of 2 and carrying a 2.5 m3/s water flow?  The channel’s bottom width is 1.5 meters and the flowing water has a velocity of 0.8 m/s.</a:t>
            </a:r>
          </a:p>
        </p:txBody>
      </p:sp>
      <p:sp>
        <p:nvSpPr>
          <p:cNvPr id="19" name="TextBox 12">
            <a:extLst>
              <a:ext uri="{FF2B5EF4-FFF2-40B4-BE49-F238E27FC236}">
                <a16:creationId xmlns:a16="http://schemas.microsoft.com/office/drawing/2014/main" id="{741E5E08-388B-C9FF-4C7C-D302F7FAFB05}"/>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CEAF1A17-72FB-3EA0-1B86-FC462A58BC9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B0513863-C0C9-44A6-A8BC-C108777B6D6B}"/>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C00A9B73-1D2E-F926-2EF9-1ADFD43B015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B5E919C7-EEDF-3EA2-79B1-575E482D9AF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DAB335E6-0FAA-D6CB-3DE5-4CDC7211CF25}"/>
              </a:ext>
            </a:extLst>
          </p:cNvPr>
          <p:cNvSpPr txBox="1"/>
          <p:nvPr/>
        </p:nvSpPr>
        <p:spPr>
          <a:xfrm>
            <a:off x="1676400" y="355562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 0.93m</a:t>
            </a:r>
          </a:p>
        </p:txBody>
      </p:sp>
      <p:grpSp>
        <p:nvGrpSpPr>
          <p:cNvPr id="17" name="Group 16">
            <a:extLst>
              <a:ext uri="{FF2B5EF4-FFF2-40B4-BE49-F238E27FC236}">
                <a16:creationId xmlns:a16="http://schemas.microsoft.com/office/drawing/2014/main" id="{6A78E51B-41C7-DA52-A3FF-4213788EB3C3}"/>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6A0FAAD3-26EC-750A-0DE4-D0B7BFD63804}"/>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7A5C4EB2-C42D-6BDA-9E72-8B16BD273EEF}"/>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C8A01EE9-82D8-00AD-CF42-228849A7974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A05EF735-9E9E-758E-FD7F-B5A3CF222DA9}"/>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7DC1A0D0-4D43-87C6-9AC4-ACDA27D89EE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8C6B44FB-7F56-DEDE-CA7F-BDB758DBD58A}"/>
                  </a:ext>
                </a:extLst>
              </p:cNvPr>
              <p:cNvSpPr txBox="1"/>
              <p:nvPr/>
            </p:nvSpPr>
            <p:spPr>
              <a:xfrm>
                <a:off x="6209148" y="4030806"/>
                <a:ext cx="4036682" cy="4431791"/>
              </a:xfrm>
              <a:prstGeom prst="rect">
                <a:avLst/>
              </a:prstGeom>
              <a:noFill/>
            </p:spPr>
            <p:txBody>
              <a:bodyPr wrap="none" rtlCol="0">
                <a:spAutoFit/>
              </a:bodyPr>
              <a:lstStyle/>
              <a:p>
                <a:r>
                  <a:rPr lang="en-PH" sz="2400" dirty="0">
                    <a:latin typeface="Nunito" pitchFamily="2" charset="0"/>
                    <a:cs typeface="Arial" panose="020B0604020202020204" pitchFamily="34" charset="0"/>
                  </a:rPr>
                  <a:t>Q = AV</a:t>
                </a:r>
              </a:p>
              <a:p>
                <a:r>
                  <a:rPr lang="en-PH" sz="2400" dirty="0">
                    <a:latin typeface="Nunito" pitchFamily="2" charset="0"/>
                    <a:cs typeface="Arial" panose="020B0604020202020204" pitchFamily="34" charset="0"/>
                  </a:rPr>
                  <a:t>A = </a:t>
                </a:r>
                <a14:m>
                  <m:oMath xmlns:m="http://schemas.openxmlformats.org/officeDocument/2006/math">
                    <m:f>
                      <m:fPr>
                        <m:ctrlPr>
                          <a:rPr lang="en-PH" sz="2400" i="1" smtClean="0">
                            <a:latin typeface="Cambria Math" panose="02040503050406030204" pitchFamily="18" charset="0"/>
                            <a:cs typeface="Arial" panose="020B0604020202020204" pitchFamily="34" charset="0"/>
                          </a:rPr>
                        </m:ctrlPr>
                      </m:fPr>
                      <m:num>
                        <m:r>
                          <m:rPr>
                            <m:nor/>
                          </m:rPr>
                          <a:rPr lang="en-PH" sz="2400" b="0" i="0" smtClean="0">
                            <a:latin typeface="Nunito" pitchFamily="2" charset="0"/>
                            <a:cs typeface="Arial" panose="020B0604020202020204" pitchFamily="34" charset="0"/>
                          </a:rPr>
                          <m:t>Q</m:t>
                        </m:r>
                      </m:num>
                      <m:den>
                        <m:r>
                          <m:rPr>
                            <m:nor/>
                          </m:rPr>
                          <a:rPr lang="en-PH" sz="2400" b="0" i="0" smtClean="0">
                            <a:latin typeface="Nunito" pitchFamily="2" charset="0"/>
                            <a:cs typeface="Arial" panose="020B0604020202020204" pitchFamily="34" charset="0"/>
                          </a:rPr>
                          <m:t>V</m:t>
                        </m:r>
                      </m:den>
                    </m:f>
                  </m:oMath>
                </a14:m>
                <a:r>
                  <a:rPr lang="en-PH" sz="2400" dirty="0">
                    <a:latin typeface="Nunito" pitchFamily="2" charset="0"/>
                    <a:cs typeface="Arial" panose="020B0604020202020204" pitchFamily="34" charset="0"/>
                  </a:rPr>
                  <a:t>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m:rPr>
                            <m:nor/>
                          </m:rPr>
                          <a:rPr lang="en-PH" sz="2400" b="0" i="0" smtClean="0">
                            <a:latin typeface="Nunito" pitchFamily="2" charset="0"/>
                            <a:cs typeface="Arial" panose="020B0604020202020204" pitchFamily="34" charset="0"/>
                          </a:rPr>
                          <m:t>2.5</m:t>
                        </m:r>
                        <m:r>
                          <m:rPr>
                            <m:nor/>
                          </m:rPr>
                          <a:rPr lang="en-PH" sz="2400" b="0" i="0" smtClean="0">
                            <a:latin typeface="Nunito" pitchFamily="2" charset="0"/>
                            <a:cs typeface="Arial" panose="020B0604020202020204" pitchFamily="34" charset="0"/>
                          </a:rPr>
                          <m:t>m</m:t>
                        </m:r>
                        <m:r>
                          <m:rPr>
                            <m:nor/>
                          </m:rPr>
                          <a:rPr lang="en-PH" sz="2400" b="0" i="0" smtClean="0">
                            <a:latin typeface="Nunito" pitchFamily="2" charset="0"/>
                            <a:cs typeface="Arial" panose="020B0604020202020204" pitchFamily="34" charset="0"/>
                          </a:rPr>
                          <m:t>3/</m:t>
                        </m:r>
                        <m:r>
                          <m:rPr>
                            <m:nor/>
                          </m:rPr>
                          <a:rPr lang="en-PH" sz="2400" b="0" i="0" smtClean="0">
                            <a:latin typeface="Nunito" pitchFamily="2" charset="0"/>
                            <a:cs typeface="Arial" panose="020B0604020202020204" pitchFamily="34" charset="0"/>
                          </a:rPr>
                          <m:t>s</m:t>
                        </m:r>
                      </m:num>
                      <m:den>
                        <m:r>
                          <m:rPr>
                            <m:nor/>
                          </m:rPr>
                          <a:rPr lang="en-PH" sz="2400" b="0" i="0" smtClean="0">
                            <a:latin typeface="Nunito" pitchFamily="2" charset="0"/>
                            <a:cs typeface="Arial" panose="020B0604020202020204" pitchFamily="34" charset="0"/>
                          </a:rPr>
                          <m:t>0.8</m:t>
                        </m:r>
                        <m:r>
                          <m:rPr>
                            <m:nor/>
                          </m:rPr>
                          <a:rPr lang="en-PH" sz="2400" b="0" i="0" smtClean="0">
                            <a:latin typeface="Nunito" pitchFamily="2" charset="0"/>
                            <a:cs typeface="Arial" panose="020B0604020202020204" pitchFamily="34" charset="0"/>
                          </a:rPr>
                          <m:t>m</m:t>
                        </m:r>
                        <m:r>
                          <m:rPr>
                            <m:nor/>
                          </m:rPr>
                          <a:rPr lang="en-PH" sz="2400" b="0" i="0" smtClean="0">
                            <a:latin typeface="Nunito" pitchFamily="2" charset="0"/>
                            <a:cs typeface="Arial" panose="020B0604020202020204" pitchFamily="34" charset="0"/>
                          </a:rPr>
                          <m:t>/</m:t>
                        </m:r>
                        <m:r>
                          <m:rPr>
                            <m:nor/>
                          </m:rPr>
                          <a:rPr lang="en-PH" sz="2400" b="0" i="0" smtClean="0">
                            <a:latin typeface="Nunito" pitchFamily="2" charset="0"/>
                            <a:cs typeface="Arial" panose="020B0604020202020204" pitchFamily="34" charset="0"/>
                          </a:rPr>
                          <m:t>s</m:t>
                        </m:r>
                      </m:den>
                    </m:f>
                  </m:oMath>
                </a14:m>
                <a:r>
                  <a:rPr lang="en-PH" sz="2400" dirty="0">
                    <a:latin typeface="Nunito" pitchFamily="2" charset="0"/>
                    <a:cs typeface="Arial" panose="020B0604020202020204" pitchFamily="34" charset="0"/>
                  </a:rPr>
                  <a:t> = 3.125m2</a:t>
                </a: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3.125 = (b + </a:t>
                </a:r>
                <a:r>
                  <a:rPr lang="en-PH" sz="2400" dirty="0" err="1">
                    <a:latin typeface="Nunito" pitchFamily="2" charset="0"/>
                    <a:cs typeface="Arial" panose="020B0604020202020204" pitchFamily="34" charset="0"/>
                  </a:rPr>
                  <a:t>mh</a:t>
                </a:r>
                <a:r>
                  <a:rPr lang="en-PH" sz="2400" dirty="0">
                    <a:latin typeface="Nunito" pitchFamily="2" charset="0"/>
                    <a:cs typeface="Arial" panose="020B0604020202020204" pitchFamily="34" charset="0"/>
                  </a:rPr>
                  <a:t>)h</a:t>
                </a:r>
              </a:p>
              <a:p>
                <a:r>
                  <a:rPr lang="en-PH" sz="2400" dirty="0">
                    <a:latin typeface="Nunito" pitchFamily="2" charset="0"/>
                    <a:cs typeface="Arial" panose="020B0604020202020204" pitchFamily="34" charset="0"/>
                  </a:rPr>
                  <a:t>3.125 = (1.5 + 2h)h</a:t>
                </a: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By shift solve:</a:t>
                </a:r>
              </a:p>
              <a:p>
                <a:endParaRPr lang="en-PH" sz="2400" dirty="0">
                  <a:latin typeface="Nunito" pitchFamily="2" charset="0"/>
                  <a:cs typeface="Arial" panose="020B0604020202020204" pitchFamily="34" charset="0"/>
                </a:endParaRPr>
              </a:p>
              <a:p>
                <a:r>
                  <a:rPr lang="en-PH" sz="2400" b="1" dirty="0">
                    <a:latin typeface="Nunito" pitchFamily="2" charset="0"/>
                    <a:cs typeface="Arial" panose="020B0604020202020204" pitchFamily="34" charset="0"/>
                  </a:rPr>
                  <a:t>h = 0.93m</a:t>
                </a:r>
              </a:p>
              <a:p>
                <a:r>
                  <a:rPr lang="en-PH" sz="2400" dirty="0">
                    <a:latin typeface="Nunito" pitchFamily="2" charset="0"/>
                    <a:cs typeface="Arial" panose="020B0604020202020204" pitchFamily="34" charset="0"/>
                  </a:rPr>
                  <a:t> </a:t>
                </a:r>
              </a:p>
              <a:p>
                <a:endParaRPr lang="en-PH" sz="2400" dirty="0">
                  <a:latin typeface="Nunito" pitchFamily="2" charset="0"/>
                  <a:cs typeface="Arial" panose="020B0604020202020204" pitchFamily="34" charset="0"/>
                </a:endParaRPr>
              </a:p>
            </p:txBody>
          </p:sp>
        </mc:Choice>
        <mc:Fallback>
          <p:sp>
            <p:nvSpPr>
              <p:cNvPr id="29" name="TextBox 28">
                <a:extLst>
                  <a:ext uri="{FF2B5EF4-FFF2-40B4-BE49-F238E27FC236}">
                    <a16:creationId xmlns:a16="http://schemas.microsoft.com/office/drawing/2014/main" id="{8C6B44FB-7F56-DEDE-CA7F-BDB758DBD58A}"/>
                  </a:ext>
                </a:extLst>
              </p:cNvPr>
              <p:cNvSpPr txBox="1">
                <a:spLocks noRot="1" noChangeAspect="1" noMove="1" noResize="1" noEditPoints="1" noAdjustHandles="1" noChangeArrowheads="1" noChangeShapeType="1" noTextEdit="1"/>
              </p:cNvSpPr>
              <p:nvPr/>
            </p:nvSpPr>
            <p:spPr>
              <a:xfrm>
                <a:off x="6209148" y="4030806"/>
                <a:ext cx="4036682" cy="4431791"/>
              </a:xfrm>
              <a:prstGeom prst="rect">
                <a:avLst/>
              </a:prstGeom>
              <a:blipFill>
                <a:blip r:embed="rId2"/>
                <a:stretch>
                  <a:fillRect l="-2417" t="-1100" r="-1208"/>
                </a:stretch>
              </a:blipFill>
            </p:spPr>
            <p:txBody>
              <a:bodyPr/>
              <a:lstStyle/>
              <a:p>
                <a:r>
                  <a:rPr lang="en-PH">
                    <a:noFill/>
                  </a:rPr>
                  <a:t> </a:t>
                </a:r>
              </a:p>
            </p:txBody>
          </p:sp>
        </mc:Fallback>
      </mc:AlternateContent>
    </p:spTree>
    <p:extLst>
      <p:ext uri="{BB962C8B-B14F-4D97-AF65-F5344CB8AC3E}">
        <p14:creationId xmlns:p14="http://schemas.microsoft.com/office/powerpoint/2010/main" val="12138110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68E91-292F-A31E-E862-505A6D36EBF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51A6FE8-00ED-DAD2-9D4C-3DE78BD9B6D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3358E88D-8A8A-EC2A-E9BF-1F0365CBAD01}"/>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12F79D46-E1E3-4C4C-98ED-500B09113FB9}"/>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6C6669EB-CD4F-8890-E386-D2CC7DCFFEF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245C6633-AAA5-DA66-E5D9-4CA378B2515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E748FFA8-89D3-6424-CD9A-2C12BD2C8113}"/>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05CFE2F4-5B51-85A7-9BA5-F47DBEBEFBF6}"/>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1878BF77-227E-0024-ECC9-B460596638D5}"/>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6416372-DDB1-4308-51D4-A05113AE2751}"/>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09F46197-09F7-B30C-4AF6-D49B3D799648}"/>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8F64D6B2-232A-C138-2AD2-893F433038A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F559C857-6E72-D96D-99D6-89E93A8572FE}"/>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FBE33E2-80FF-59B1-1FF5-D511ACC35275}"/>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70E0A40F-7F2B-2948-28BC-262AEE833090}"/>
              </a:ext>
            </a:extLst>
          </p:cNvPr>
          <p:cNvSpPr txBox="1"/>
          <p:nvPr/>
        </p:nvSpPr>
        <p:spPr>
          <a:xfrm>
            <a:off x="2246041" y="2025065"/>
            <a:ext cx="13795916" cy="1477328"/>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Consider a farm irrigation canal having the following dimensions: bottom width of 0.50 meters, total depth of 0.65 meters, side slopes of 2:1, depth of water of 0.50 meter, and channel slope of 1  meter per kilometer. Use n = 0.024. Determine the ff: cross-sectional area of the stream, wetted perimeter, hydraulic radius, and the discharge of the stream.</a:t>
            </a:r>
          </a:p>
        </p:txBody>
      </p:sp>
      <p:sp>
        <p:nvSpPr>
          <p:cNvPr id="19" name="TextBox 12">
            <a:extLst>
              <a:ext uri="{FF2B5EF4-FFF2-40B4-BE49-F238E27FC236}">
                <a16:creationId xmlns:a16="http://schemas.microsoft.com/office/drawing/2014/main" id="{4DD996DE-44FF-B807-3946-99F572455F36}"/>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2C2E6B5B-2E83-5AF2-498B-1E7A28E31066}"/>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BEEB5292-F944-2A51-5F89-CB2F9E77B34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0A85D5C8-524B-1020-1F6A-BFF2B7E6C7C3}"/>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F8774E04-2FA5-C3D4-76CB-A58F70A09B02}"/>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0704DB73-6922-D801-211E-42A1F8C2A3E0}"/>
              </a:ext>
            </a:extLst>
          </p:cNvPr>
          <p:cNvSpPr txBox="1"/>
          <p:nvPr/>
        </p:nvSpPr>
        <p:spPr>
          <a:xfrm>
            <a:off x="1676399" y="3907789"/>
            <a:ext cx="14935200" cy="1477328"/>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A = 0.75m</a:t>
            </a:r>
            <a:r>
              <a:rPr lang="en-US" sz="2400" baseline="30000" dirty="0">
                <a:solidFill>
                  <a:srgbClr val="000000"/>
                </a:solidFill>
                <a:latin typeface="Nunito 1" panose="020B0604020202020204" charset="0"/>
                <a:ea typeface="Nunito 1 Bold"/>
                <a:cs typeface="Nunito 1 Bold"/>
                <a:sym typeface="Nunito 1 Bold"/>
              </a:rPr>
              <a:t>2</a:t>
            </a:r>
          </a:p>
          <a:p>
            <a:pPr algn="just"/>
            <a:r>
              <a:rPr lang="en-US" sz="2400" dirty="0">
                <a:solidFill>
                  <a:srgbClr val="000000"/>
                </a:solidFill>
                <a:latin typeface="Nunito 1" panose="020B0604020202020204" charset="0"/>
                <a:ea typeface="Nunito 1 Bold"/>
                <a:cs typeface="Nunito 1 Bold"/>
                <a:sym typeface="Nunito 1 Bold"/>
              </a:rPr>
              <a:t>		P = 2.74m</a:t>
            </a:r>
          </a:p>
          <a:p>
            <a:pPr algn="just"/>
            <a:r>
              <a:rPr lang="en-US" sz="2400" dirty="0">
                <a:solidFill>
                  <a:srgbClr val="000000"/>
                </a:solidFill>
                <a:latin typeface="Nunito 1" panose="020B0604020202020204" charset="0"/>
                <a:ea typeface="Nunito 1 Bold"/>
                <a:cs typeface="Nunito 1 Bold"/>
                <a:sym typeface="Nunito 1 Bold"/>
              </a:rPr>
              <a:t>		R = 0.27m</a:t>
            </a:r>
          </a:p>
          <a:p>
            <a:pPr algn="just"/>
            <a:r>
              <a:rPr lang="en-US" sz="2400" dirty="0">
                <a:solidFill>
                  <a:srgbClr val="000000"/>
                </a:solidFill>
                <a:latin typeface="Nunito 1" panose="020B0604020202020204" charset="0"/>
                <a:ea typeface="Nunito 1 Bold"/>
                <a:cs typeface="Nunito 1 Bold"/>
                <a:sym typeface="Nunito 1 Bold"/>
              </a:rPr>
              <a:t>		Q = 0.41m</a:t>
            </a:r>
            <a:r>
              <a:rPr lang="en-US" sz="2400" baseline="30000" dirty="0">
                <a:solidFill>
                  <a:srgbClr val="000000"/>
                </a:solidFill>
                <a:latin typeface="Nunito 1" panose="020B0604020202020204" charset="0"/>
                <a:ea typeface="Nunito 1 Bold"/>
                <a:cs typeface="Nunito 1 Bold"/>
                <a:sym typeface="Nunito 1 Bold"/>
              </a:rPr>
              <a:t>3</a:t>
            </a:r>
            <a:r>
              <a:rPr lang="en-US" sz="2400" dirty="0">
                <a:solidFill>
                  <a:srgbClr val="000000"/>
                </a:solidFill>
                <a:latin typeface="Nunito 1" panose="020B0604020202020204" charset="0"/>
                <a:ea typeface="Nunito 1 Bold"/>
                <a:cs typeface="Nunito 1 Bold"/>
                <a:sym typeface="Nunito 1 Bold"/>
              </a:rPr>
              <a:t>/s</a:t>
            </a:r>
          </a:p>
        </p:txBody>
      </p:sp>
      <p:grpSp>
        <p:nvGrpSpPr>
          <p:cNvPr id="17" name="Group 16">
            <a:extLst>
              <a:ext uri="{FF2B5EF4-FFF2-40B4-BE49-F238E27FC236}">
                <a16:creationId xmlns:a16="http://schemas.microsoft.com/office/drawing/2014/main" id="{AB8298AE-4CAD-A1F1-B874-BD09B1E4E2AD}"/>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280B7E01-E7B9-9250-505E-7119EE5F9A7A}"/>
                </a:ext>
              </a:extLst>
            </p:cNvPr>
            <p:cNvGrpSpPr/>
            <p:nvPr/>
          </p:nvGrpSpPr>
          <p:grpSpPr>
            <a:xfrm>
              <a:off x="0" y="9599694"/>
              <a:ext cx="18287999" cy="687305"/>
              <a:chOff x="0" y="0"/>
              <a:chExt cx="5260714" cy="490218"/>
            </a:xfrm>
          </p:grpSpPr>
          <p:sp>
            <p:nvSpPr>
              <p:cNvPr id="26" name="Freeform 12">
                <a:extLst>
                  <a:ext uri="{FF2B5EF4-FFF2-40B4-BE49-F238E27FC236}">
                    <a16:creationId xmlns:a16="http://schemas.microsoft.com/office/drawing/2014/main" id="{C0D37D43-DE1D-DF05-47AD-213A40E01B78}"/>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7" name="TextBox 13">
                <a:extLst>
                  <a:ext uri="{FF2B5EF4-FFF2-40B4-BE49-F238E27FC236}">
                    <a16:creationId xmlns:a16="http://schemas.microsoft.com/office/drawing/2014/main" id="{10BB32BE-8A31-D535-A2CE-9AA66C4C3A9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BAA82C2B-31E0-660F-124E-D0BEF30061F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CAF584DD-36B8-05B4-131E-036409DCF2B1}"/>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BF4572A3-314D-FCA3-549F-0D748252F022}"/>
                  </a:ext>
                </a:extLst>
              </p:cNvPr>
              <p:cNvSpPr txBox="1"/>
              <p:nvPr/>
            </p:nvSpPr>
            <p:spPr>
              <a:xfrm>
                <a:off x="6172200" y="4030806"/>
                <a:ext cx="3378489" cy="4245265"/>
              </a:xfrm>
              <a:prstGeom prst="rect">
                <a:avLst/>
              </a:prstGeom>
              <a:noFill/>
            </p:spPr>
            <p:txBody>
              <a:bodyPr wrap="none" rtlCol="0">
                <a:spAutoFit/>
              </a:bodyPr>
              <a:lstStyle/>
              <a:p>
                <a:r>
                  <a:rPr lang="en-PH" sz="2400" dirty="0">
                    <a:latin typeface="Nunito" pitchFamily="2" charset="0"/>
                    <a:cs typeface="Arial" panose="020B0604020202020204" pitchFamily="34" charset="0"/>
                  </a:rPr>
                  <a:t>A = (b + </a:t>
                </a:r>
                <a:r>
                  <a:rPr lang="en-PH" sz="2400" dirty="0" err="1">
                    <a:latin typeface="Nunito" pitchFamily="2" charset="0"/>
                    <a:cs typeface="Arial" panose="020B0604020202020204" pitchFamily="34" charset="0"/>
                  </a:rPr>
                  <a:t>mh</a:t>
                </a:r>
                <a:r>
                  <a:rPr lang="en-PH" sz="2400" dirty="0">
                    <a:latin typeface="Nunito" pitchFamily="2" charset="0"/>
                    <a:cs typeface="Arial" panose="020B0604020202020204" pitchFamily="34" charset="0"/>
                  </a:rPr>
                  <a:t>)h</a:t>
                </a:r>
              </a:p>
              <a:p>
                <a:r>
                  <a:rPr lang="en-PH" sz="2400" dirty="0">
                    <a:latin typeface="Nunito" pitchFamily="2" charset="0"/>
                    <a:cs typeface="Arial" panose="020B0604020202020204" pitchFamily="34" charset="0"/>
                  </a:rPr>
                  <a:t>A = [0.5 + 2(0.5)]0.5</a:t>
                </a:r>
              </a:p>
              <a:p>
                <a:r>
                  <a:rPr lang="en-PH" sz="2400" b="1" dirty="0">
                    <a:latin typeface="Nunito" pitchFamily="2" charset="0"/>
                    <a:cs typeface="Arial" panose="020B0604020202020204" pitchFamily="34" charset="0"/>
                  </a:rPr>
                  <a:t>A = 0.75m</a:t>
                </a:r>
                <a:r>
                  <a:rPr lang="en-PH" sz="2400" b="1" baseline="30000" dirty="0">
                    <a:latin typeface="Nunito" pitchFamily="2" charset="0"/>
                    <a:cs typeface="Arial" panose="020B0604020202020204" pitchFamily="34" charset="0"/>
                  </a:rPr>
                  <a:t>2</a:t>
                </a: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P = b + 2h</a:t>
                </a:r>
                <a14:m>
                  <m:oMath xmlns:m="http://schemas.openxmlformats.org/officeDocument/2006/math">
                    <m:rad>
                      <m:radPr>
                        <m:degHide m:val="on"/>
                        <m:ctrlPr>
                          <a:rPr lang="en-PH" sz="2400" i="1" smtClean="0">
                            <a:latin typeface="Cambria Math" panose="02040503050406030204" pitchFamily="18" charset="0"/>
                            <a:cs typeface="Arial" panose="020B0604020202020204" pitchFamily="34" charset="0"/>
                          </a:rPr>
                        </m:ctrlPr>
                      </m:radPr>
                      <m:deg/>
                      <m:e>
                        <m:r>
                          <a:rPr lang="en-PH" sz="2400" b="0" i="1" smtClean="0">
                            <a:latin typeface="Cambria Math" panose="02040503050406030204" pitchFamily="18" charset="0"/>
                            <a:cs typeface="Arial" panose="020B0604020202020204" pitchFamily="34" charset="0"/>
                          </a:rPr>
                          <m:t>1+</m:t>
                        </m:r>
                        <m:sSup>
                          <m:sSupPr>
                            <m:ctrlPr>
                              <a:rPr lang="en-PH" sz="2400" b="0" i="1" smtClean="0">
                                <a:latin typeface="Cambria Math" panose="02040503050406030204" pitchFamily="18" charset="0"/>
                                <a:cs typeface="Arial" panose="020B0604020202020204" pitchFamily="34" charset="0"/>
                              </a:rPr>
                            </m:ctrlPr>
                          </m:sSupPr>
                          <m:e>
                            <m:r>
                              <a:rPr lang="en-PH" sz="2400" b="0" i="1" smtClean="0">
                                <a:latin typeface="Cambria Math" panose="02040503050406030204" pitchFamily="18" charset="0"/>
                                <a:cs typeface="Arial" panose="020B0604020202020204" pitchFamily="34" charset="0"/>
                              </a:rPr>
                              <m:t>𝑚</m:t>
                            </m:r>
                          </m:e>
                          <m:sup>
                            <m:r>
                              <a:rPr lang="en-PH" sz="2400" b="0" i="1" smtClean="0">
                                <a:latin typeface="Cambria Math" panose="02040503050406030204" pitchFamily="18" charset="0"/>
                                <a:cs typeface="Arial" panose="020B0604020202020204" pitchFamily="34" charset="0"/>
                              </a:rPr>
                              <m:t>2</m:t>
                            </m:r>
                          </m:sup>
                        </m:sSup>
                      </m:e>
                    </m:rad>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P = 0.5 + 2(0.5)</a:t>
                </a:r>
                <a14:m>
                  <m:oMath xmlns:m="http://schemas.openxmlformats.org/officeDocument/2006/math">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1+</m:t>
                        </m:r>
                        <m:sSup>
                          <m:sSupPr>
                            <m:ctrlPr>
                              <a:rPr lang="en-PH" sz="2400" i="1">
                                <a:latin typeface="Cambria Math" panose="02040503050406030204" pitchFamily="18" charset="0"/>
                                <a:cs typeface="Arial" panose="020B0604020202020204" pitchFamily="34" charset="0"/>
                              </a:rPr>
                            </m:ctrlPr>
                          </m:sSupPr>
                          <m:e>
                            <m:r>
                              <a:rPr lang="en-PH" sz="2400" b="0" i="1" smtClean="0">
                                <a:latin typeface="Cambria Math" panose="02040503050406030204" pitchFamily="18" charset="0"/>
                                <a:cs typeface="Arial" panose="020B0604020202020204" pitchFamily="34" charset="0"/>
                              </a:rPr>
                              <m:t>2</m:t>
                            </m:r>
                          </m:e>
                          <m:sup>
                            <m:r>
                              <a:rPr lang="en-PH" sz="2400" i="1">
                                <a:latin typeface="Cambria Math" panose="02040503050406030204" pitchFamily="18" charset="0"/>
                                <a:cs typeface="Arial" panose="020B0604020202020204" pitchFamily="34" charset="0"/>
                              </a:rPr>
                              <m:t>2</m:t>
                            </m:r>
                          </m:sup>
                        </m:sSup>
                      </m:e>
                    </m:rad>
                  </m:oMath>
                </a14:m>
                <a:endParaRPr lang="en-PH" sz="2400" dirty="0">
                  <a:latin typeface="Nunito" pitchFamily="2" charset="0"/>
                  <a:cs typeface="Arial" panose="020B0604020202020204" pitchFamily="34" charset="0"/>
                </a:endParaRPr>
              </a:p>
              <a:p>
                <a:r>
                  <a:rPr lang="en-PH" sz="2400" b="1" dirty="0">
                    <a:latin typeface="Nunito" pitchFamily="2" charset="0"/>
                    <a:cs typeface="Arial" panose="020B0604020202020204" pitchFamily="34" charset="0"/>
                  </a:rPr>
                  <a:t>P = 2.74m</a:t>
                </a: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R = A/P</a:t>
                </a:r>
              </a:p>
              <a:p>
                <a:r>
                  <a:rPr lang="en-PH" sz="2400" dirty="0">
                    <a:latin typeface="Nunito" pitchFamily="2" charset="0"/>
                    <a:cs typeface="Arial" panose="020B0604020202020204" pitchFamily="34" charset="0"/>
                  </a:rPr>
                  <a:t>R = 0.75/2.74</a:t>
                </a:r>
              </a:p>
              <a:p>
                <a:r>
                  <a:rPr lang="en-PH" sz="2400" b="1" dirty="0">
                    <a:latin typeface="Nunito" pitchFamily="2" charset="0"/>
                    <a:cs typeface="Arial" panose="020B0604020202020204" pitchFamily="34" charset="0"/>
                  </a:rPr>
                  <a:t>R = 0.27m</a:t>
                </a:r>
              </a:p>
            </p:txBody>
          </p:sp>
        </mc:Choice>
        <mc:Fallback>
          <p:sp>
            <p:nvSpPr>
              <p:cNvPr id="28" name="TextBox 27">
                <a:extLst>
                  <a:ext uri="{FF2B5EF4-FFF2-40B4-BE49-F238E27FC236}">
                    <a16:creationId xmlns:a16="http://schemas.microsoft.com/office/drawing/2014/main" id="{BF4572A3-314D-FCA3-549F-0D748252F022}"/>
                  </a:ext>
                </a:extLst>
              </p:cNvPr>
              <p:cNvSpPr txBox="1">
                <a:spLocks noRot="1" noChangeAspect="1" noMove="1" noResize="1" noEditPoints="1" noAdjustHandles="1" noChangeArrowheads="1" noChangeShapeType="1" noTextEdit="1"/>
              </p:cNvSpPr>
              <p:nvPr/>
            </p:nvSpPr>
            <p:spPr>
              <a:xfrm>
                <a:off x="6172200" y="4030806"/>
                <a:ext cx="3378489" cy="4245265"/>
              </a:xfrm>
              <a:prstGeom prst="rect">
                <a:avLst/>
              </a:prstGeom>
              <a:blipFill>
                <a:blip r:embed="rId2"/>
                <a:stretch>
                  <a:fillRect l="-2888" t="-1148" b="-2296"/>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2A26C0DD-1445-480A-CD35-64B9A1500777}"/>
                  </a:ext>
                </a:extLst>
              </p:cNvPr>
              <p:cNvSpPr txBox="1"/>
              <p:nvPr/>
            </p:nvSpPr>
            <p:spPr>
              <a:xfrm>
                <a:off x="9998780" y="4030806"/>
                <a:ext cx="4623253" cy="2689006"/>
              </a:xfrm>
              <a:prstGeom prst="rect">
                <a:avLst/>
              </a:prstGeom>
              <a:noFill/>
            </p:spPr>
            <p:txBody>
              <a:bodyPr wrap="none" rtlCol="0">
                <a:spAutoFit/>
              </a:bodyPr>
              <a:lstStyle/>
              <a:p>
                <a:r>
                  <a:rPr lang="en-PH" sz="2400" dirty="0">
                    <a:latin typeface="Nunito" pitchFamily="2" charset="0"/>
                    <a:cs typeface="Arial" panose="020B0604020202020204" pitchFamily="34" charset="0"/>
                  </a:rPr>
                  <a:t>Q = </a:t>
                </a:r>
                <a14:m>
                  <m:oMath xmlns:m="http://schemas.openxmlformats.org/officeDocument/2006/math">
                    <m:f>
                      <m:fPr>
                        <m:ctrlPr>
                          <a:rPr lang="en-PH" sz="2400" i="1" smtClean="0">
                            <a:latin typeface="Cambria Math" panose="02040503050406030204" pitchFamily="18" charset="0"/>
                            <a:cs typeface="Arial" panose="020B0604020202020204" pitchFamily="34" charset="0"/>
                          </a:rPr>
                        </m:ctrlPr>
                      </m:fPr>
                      <m:num>
                        <m:r>
                          <a:rPr lang="en-PH" sz="2400" b="0" i="1" smtClean="0">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𝑛</m:t>
                        </m:r>
                      </m:den>
                    </m:f>
                  </m:oMath>
                </a14:m>
                <a:r>
                  <a:rPr lang="en-PH" sz="2400" dirty="0">
                    <a:latin typeface="Nunito" pitchFamily="2" charset="0"/>
                    <a:cs typeface="Arial" panose="020B0604020202020204" pitchFamily="34" charset="0"/>
                  </a:rPr>
                  <a:t>A</a:t>
                </a:r>
                <a14:m>
                  <m:oMath xmlns:m="http://schemas.openxmlformats.org/officeDocument/2006/math">
                    <m:sSup>
                      <m:sSupPr>
                        <m:ctrlPr>
                          <a:rPr lang="en-PH" sz="2400" i="1" dirty="0" smtClean="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R</m:t>
                        </m:r>
                      </m:e>
                      <m:sup>
                        <m:f>
                          <m:fPr>
                            <m:ctrlPr>
                              <a:rPr lang="en-PH" sz="2400" i="1" dirty="0" smtClean="0">
                                <a:latin typeface="Cambria Math" panose="02040503050406030204" pitchFamily="18" charset="0"/>
                                <a:cs typeface="Arial" panose="020B0604020202020204" pitchFamily="34" charset="0"/>
                              </a:rPr>
                            </m:ctrlPr>
                          </m:fPr>
                          <m:num>
                            <m:r>
                              <a:rPr lang="en-PH" sz="2400" b="0" i="1" dirty="0" smtClean="0">
                                <a:latin typeface="Nunito" pitchFamily="2" charset="0"/>
                                <a:cs typeface="Arial" panose="020B0604020202020204" pitchFamily="34" charset="0"/>
                              </a:rPr>
                              <m:t>2</m:t>
                            </m:r>
                          </m:num>
                          <m:den>
                            <m:r>
                              <a:rPr lang="en-PH" sz="2400" b="0" i="1" dirty="0" smtClean="0">
                                <a:latin typeface="Nunito" pitchFamily="2"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S</m:t>
                        </m:r>
                      </m:e>
                      <m:sup>
                        <m:f>
                          <m:fPr>
                            <m:ctrlPr>
                              <a:rPr lang="en-PH" sz="2400" i="1" dirty="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1</m:t>
                            </m:r>
                          </m:num>
                          <m:den>
                            <m:r>
                              <a:rPr lang="en-PH" sz="2400" b="0" i="1" dirty="0" smtClean="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Q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0.024</m:t>
                        </m:r>
                      </m:den>
                    </m:f>
                    <m:r>
                      <a:rPr lang="en-PH" sz="2400" b="0" i="0" smtClean="0">
                        <a:latin typeface="Cambria Math" panose="02040503050406030204" pitchFamily="18" charset="0"/>
                        <a:cs typeface="Arial" panose="020B0604020202020204" pitchFamily="34" charset="0"/>
                      </a:rPr>
                      <m:t>(0.75)</m:t>
                    </m:r>
                    <m:sSup>
                      <m:sSupPr>
                        <m:ctrlPr>
                          <a:rPr lang="en-PH" sz="2400" i="1" dirty="0">
                            <a:latin typeface="Cambria Math" panose="02040503050406030204" pitchFamily="18" charset="0"/>
                            <a:cs typeface="Arial" panose="020B0604020202020204" pitchFamily="34" charset="0"/>
                          </a:rPr>
                        </m:ctrlPr>
                      </m:sSupPr>
                      <m:e>
                        <m:r>
                          <a:rPr lang="en-PH" sz="2400" b="0" i="1" dirty="0" smtClean="0">
                            <a:latin typeface="Cambria Math" panose="02040503050406030204" pitchFamily="18" charset="0"/>
                            <a:cs typeface="Arial" panose="020B0604020202020204" pitchFamily="34" charset="0"/>
                          </a:rPr>
                          <m:t>(0.27)</m:t>
                        </m:r>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2</m:t>
                            </m:r>
                          </m:num>
                          <m:den>
                            <m:r>
                              <a:rPr lang="en-PH" sz="2400" i="1" dirty="0">
                                <a:latin typeface="Cambria Math" panose="02040503050406030204" pitchFamily="18"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r>
                          <m:rPr>
                            <m:nor/>
                          </m:rPr>
                          <a:rPr lang="en-PH" sz="2400" b="0" i="0" dirty="0" smtClean="0">
                            <a:latin typeface="Cambria Math" panose="02040503050406030204" pitchFamily="18" charset="0"/>
                            <a:cs typeface="Arial" panose="020B0604020202020204" pitchFamily="34" charset="0"/>
                          </a:rPr>
                          <m:t>(1/1000)</m:t>
                        </m:r>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1</m:t>
                            </m:r>
                          </m:num>
                          <m:den>
                            <m:r>
                              <a:rPr lang="en-PH" sz="2400" i="1" dirty="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b="1" dirty="0">
                    <a:latin typeface="Nunito" pitchFamily="2" charset="0"/>
                    <a:cs typeface="Arial" panose="020B0604020202020204" pitchFamily="34" charset="0"/>
                  </a:rPr>
                  <a:t>Q = 0.41m</a:t>
                </a:r>
                <a:r>
                  <a:rPr lang="en-PH" sz="2400" b="1" baseline="30000" dirty="0">
                    <a:latin typeface="Nunito" pitchFamily="2" charset="0"/>
                    <a:cs typeface="Arial" panose="020B0604020202020204" pitchFamily="34" charset="0"/>
                  </a:rPr>
                  <a:t>3</a:t>
                </a:r>
                <a:r>
                  <a:rPr lang="en-PH" sz="2400" b="1" dirty="0">
                    <a:latin typeface="Nunito" pitchFamily="2" charset="0"/>
                    <a:cs typeface="Arial" panose="020B0604020202020204" pitchFamily="34" charset="0"/>
                  </a:rPr>
                  <a:t>/s</a:t>
                </a:r>
              </a:p>
              <a:p>
                <a:r>
                  <a:rPr lang="en-PH" sz="2400" dirty="0">
                    <a:latin typeface="Nunito" pitchFamily="2" charset="0"/>
                    <a:cs typeface="Arial" panose="020B0604020202020204" pitchFamily="34" charset="0"/>
                  </a:rPr>
                  <a:t> </a:t>
                </a:r>
              </a:p>
              <a:p>
                <a:endParaRPr lang="en-PH" sz="2400" dirty="0">
                  <a:latin typeface="Nunito" pitchFamily="2" charset="0"/>
                  <a:cs typeface="Arial" panose="020B0604020202020204" pitchFamily="34" charset="0"/>
                </a:endParaRPr>
              </a:p>
              <a:p>
                <a:endParaRPr lang="en-PH" sz="2400" dirty="0">
                  <a:latin typeface="Nunito" pitchFamily="2" charset="0"/>
                  <a:cs typeface="Arial" panose="020B0604020202020204" pitchFamily="34" charset="0"/>
                </a:endParaRPr>
              </a:p>
            </p:txBody>
          </p:sp>
        </mc:Choice>
        <mc:Fallback>
          <p:sp>
            <p:nvSpPr>
              <p:cNvPr id="30" name="TextBox 29">
                <a:extLst>
                  <a:ext uri="{FF2B5EF4-FFF2-40B4-BE49-F238E27FC236}">
                    <a16:creationId xmlns:a16="http://schemas.microsoft.com/office/drawing/2014/main" id="{2A26C0DD-1445-480A-CD35-64B9A1500777}"/>
                  </a:ext>
                </a:extLst>
              </p:cNvPr>
              <p:cNvSpPr txBox="1">
                <a:spLocks noRot="1" noChangeAspect="1" noMove="1" noResize="1" noEditPoints="1" noAdjustHandles="1" noChangeArrowheads="1" noChangeShapeType="1" noTextEdit="1"/>
              </p:cNvSpPr>
              <p:nvPr/>
            </p:nvSpPr>
            <p:spPr>
              <a:xfrm>
                <a:off x="9998780" y="4030806"/>
                <a:ext cx="4623253" cy="2689006"/>
              </a:xfrm>
              <a:prstGeom prst="rect">
                <a:avLst/>
              </a:prstGeom>
              <a:blipFill>
                <a:blip r:embed="rId3"/>
                <a:stretch>
                  <a:fillRect l="-1976"/>
                </a:stretch>
              </a:blipFill>
            </p:spPr>
            <p:txBody>
              <a:bodyPr/>
              <a:lstStyle/>
              <a:p>
                <a:r>
                  <a:rPr lang="en-PH">
                    <a:noFill/>
                  </a:rPr>
                  <a:t> </a:t>
                </a:r>
              </a:p>
            </p:txBody>
          </p:sp>
        </mc:Fallback>
      </mc:AlternateContent>
    </p:spTree>
    <p:extLst>
      <p:ext uri="{BB962C8B-B14F-4D97-AF65-F5344CB8AC3E}">
        <p14:creationId xmlns:p14="http://schemas.microsoft.com/office/powerpoint/2010/main" val="2150199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9F4C3-2688-6694-3208-F4D694F38B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0E8A41-46A1-1EAF-DF26-70BC5BAA6C87}"/>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42521DAF-296F-C8BA-A886-18775CBE8376}"/>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5F87341-3EC3-7D1E-C7A6-BD75A20DE9FF}"/>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1014C76B-9C32-121D-BEDE-BC28A8106B9C}"/>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434A0BA-A2AD-AA6E-44DE-D268E5135BE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F46E08F6-825E-DCA8-6D31-B31116A1778B}"/>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120B4FF-F4C2-E612-9862-31AC2B56164D}"/>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FD9A6E01-3118-9515-93F0-F37FBEF452F0}"/>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4397722A-DDE9-7B9F-9DCE-BB2EFA933C54}"/>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083F96F-5467-E581-D3E4-CCDCFD33A777}"/>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3D3DD735-53C3-B1BC-D899-8315465C54C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EDEBBA03-1983-40E3-9A75-85D06BC16FC5}"/>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1E0F622-EB40-84DF-A87F-344F74C77876}"/>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3BCA13B4-9A82-6F81-F3CD-AE247896D36A}"/>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A triangular channel section with a bottom angle 80 deg with channel gradient 0.0016 and n = 0.025, carries a discharge of 400 </a:t>
            </a:r>
            <a:r>
              <a:rPr lang="en-US" sz="2400" b="1" dirty="0" err="1">
                <a:latin typeface="Nunito 1 Bold"/>
                <a:ea typeface="Nunito 1 Bold"/>
                <a:cs typeface="Nunito 1 Bold"/>
                <a:sym typeface="Nunito 1 Bold"/>
              </a:rPr>
              <a:t>cfs</a:t>
            </a:r>
            <a:r>
              <a:rPr lang="en-US" sz="2400" b="1" dirty="0">
                <a:latin typeface="Nunito 1 Bold"/>
                <a:ea typeface="Nunito 1 Bold"/>
                <a:cs typeface="Nunito 1 Bold"/>
                <a:sym typeface="Nunito 1 Bold"/>
              </a:rPr>
              <a:t>, determine the normal depth and the velocity of flow.</a:t>
            </a:r>
          </a:p>
        </p:txBody>
      </p:sp>
      <p:sp>
        <p:nvSpPr>
          <p:cNvPr id="19" name="TextBox 12">
            <a:extLst>
              <a:ext uri="{FF2B5EF4-FFF2-40B4-BE49-F238E27FC236}">
                <a16:creationId xmlns:a16="http://schemas.microsoft.com/office/drawing/2014/main" id="{23AE3A43-1890-4CFD-1F52-212A78D23012}"/>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1EF64C9B-98D6-CA0F-95EC-7A5F2588C092}"/>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E788EEFF-E54A-D2B6-4322-A79E643C8949}"/>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9E43ABC-04D9-E662-C4D2-254DF8EDD3C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6A015344-2313-2A74-2384-28E28F1BEA9F}"/>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9A2A5394-0B96-AE60-51DD-1A4103560CF0}"/>
              </a:ext>
            </a:extLst>
          </p:cNvPr>
          <p:cNvSpPr txBox="1"/>
          <p:nvPr/>
        </p:nvSpPr>
        <p:spPr>
          <a:xfrm>
            <a:off x="1676399" y="3907789"/>
            <a:ext cx="14935200" cy="738664"/>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y = 9.68ft</a:t>
            </a:r>
          </a:p>
          <a:p>
            <a:pPr algn="just"/>
            <a:r>
              <a:rPr lang="en-US" sz="2400" dirty="0">
                <a:solidFill>
                  <a:srgbClr val="000000"/>
                </a:solidFill>
                <a:latin typeface="Nunito 1" panose="020B0604020202020204" charset="0"/>
                <a:ea typeface="Nunito 1 Bold"/>
                <a:cs typeface="Nunito 1 Bold"/>
                <a:sym typeface="Nunito 1 Bold"/>
              </a:rPr>
              <a:t>		V = 5.08fps</a:t>
            </a:r>
          </a:p>
        </p:txBody>
      </p:sp>
      <p:grpSp>
        <p:nvGrpSpPr>
          <p:cNvPr id="17" name="Group 16">
            <a:extLst>
              <a:ext uri="{FF2B5EF4-FFF2-40B4-BE49-F238E27FC236}">
                <a16:creationId xmlns:a16="http://schemas.microsoft.com/office/drawing/2014/main" id="{D2D12512-450A-6247-419B-0C7BE09A2D8C}"/>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62CD84A8-8352-A6A6-4F90-7B72CD2D62B9}"/>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99F56A70-045B-2D9F-3FB3-FE5969CBCF80}"/>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2253E4F3-9F66-1433-8BEB-6DD48628E86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3266BEA9-A5DD-22DA-1E1F-8DED30D01F9E}"/>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39996EBE-85A4-5142-E6E7-F16D3664A633}"/>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E1C12A59-5605-1EF2-7EAA-393E3D0656F1}"/>
                  </a:ext>
                </a:extLst>
              </p:cNvPr>
              <p:cNvSpPr txBox="1"/>
              <p:nvPr/>
            </p:nvSpPr>
            <p:spPr>
              <a:xfrm>
                <a:off x="3429000" y="4937109"/>
                <a:ext cx="6422912" cy="3626314"/>
              </a:xfrm>
              <a:prstGeom prst="rect">
                <a:avLst/>
              </a:prstGeom>
              <a:noFill/>
            </p:spPr>
            <p:txBody>
              <a:bodyPr wrap="none" rtlCol="0">
                <a:spAutoFit/>
              </a:bodyPr>
              <a:lstStyle/>
              <a:p>
                <a:r>
                  <a:rPr lang="en-PH" sz="2400" dirty="0">
                    <a:latin typeface="Nunito" pitchFamily="2" charset="0"/>
                    <a:cs typeface="Arial" panose="020B0604020202020204" pitchFamily="34" charset="0"/>
                  </a:rPr>
                  <a:t>Q = </a:t>
                </a:r>
                <a14:m>
                  <m:oMath xmlns:m="http://schemas.openxmlformats.org/officeDocument/2006/math">
                    <m:f>
                      <m:fPr>
                        <m:ctrlPr>
                          <a:rPr lang="en-PH" sz="2400" i="1" smtClean="0">
                            <a:latin typeface="Cambria Math" panose="02040503050406030204" pitchFamily="18" charset="0"/>
                            <a:cs typeface="Arial" panose="020B0604020202020204" pitchFamily="34" charset="0"/>
                          </a:rPr>
                        </m:ctrlPr>
                      </m:fPr>
                      <m:num>
                        <m:r>
                          <a:rPr lang="en-PH" sz="2400" b="0" i="1" smtClean="0">
                            <a:latin typeface="Cambria Math" panose="02040503050406030204" pitchFamily="18" charset="0"/>
                            <a:cs typeface="Arial" panose="020B0604020202020204" pitchFamily="34" charset="0"/>
                          </a:rPr>
                          <m:t>1.486</m:t>
                        </m:r>
                      </m:num>
                      <m:den>
                        <m:r>
                          <a:rPr lang="en-PH" sz="2400" b="0" i="1" smtClean="0">
                            <a:latin typeface="Cambria Math" panose="02040503050406030204" pitchFamily="18" charset="0"/>
                            <a:cs typeface="Arial" panose="020B0604020202020204" pitchFamily="34" charset="0"/>
                          </a:rPr>
                          <m:t>𝑛</m:t>
                        </m:r>
                      </m:den>
                    </m:f>
                  </m:oMath>
                </a14:m>
                <a:r>
                  <a:rPr lang="en-PH" sz="2400" dirty="0">
                    <a:latin typeface="Nunito" pitchFamily="2" charset="0"/>
                    <a:cs typeface="Arial" panose="020B0604020202020204" pitchFamily="34" charset="0"/>
                  </a:rPr>
                  <a:t>A</a:t>
                </a:r>
                <a14:m>
                  <m:oMath xmlns:m="http://schemas.openxmlformats.org/officeDocument/2006/math">
                    <m:sSup>
                      <m:sSupPr>
                        <m:ctrlPr>
                          <a:rPr lang="en-PH" sz="2400" i="1" dirty="0" smtClean="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R</m:t>
                        </m:r>
                      </m:e>
                      <m:sup>
                        <m:f>
                          <m:fPr>
                            <m:ctrlPr>
                              <a:rPr lang="en-PH" sz="2400" i="1" dirty="0" smtClean="0">
                                <a:latin typeface="Cambria Math" panose="02040503050406030204" pitchFamily="18" charset="0"/>
                                <a:cs typeface="Arial" panose="020B0604020202020204" pitchFamily="34" charset="0"/>
                              </a:rPr>
                            </m:ctrlPr>
                          </m:fPr>
                          <m:num>
                            <m:r>
                              <a:rPr lang="en-PH" sz="2400" b="0" i="1" dirty="0" smtClean="0">
                                <a:latin typeface="Nunito" pitchFamily="2" charset="0"/>
                                <a:cs typeface="Arial" panose="020B0604020202020204" pitchFamily="34" charset="0"/>
                              </a:rPr>
                              <m:t>2</m:t>
                            </m:r>
                          </m:num>
                          <m:den>
                            <m:r>
                              <a:rPr lang="en-PH" sz="2400" b="0" i="1" dirty="0" smtClean="0">
                                <a:latin typeface="Nunito" pitchFamily="2"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S</m:t>
                        </m:r>
                      </m:e>
                      <m:sup>
                        <m:f>
                          <m:fPr>
                            <m:ctrlPr>
                              <a:rPr lang="en-PH" sz="2400" i="1" dirty="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1</m:t>
                            </m:r>
                          </m:num>
                          <m:den>
                            <m:r>
                              <a:rPr lang="en-PH" sz="2400" b="0" i="1" dirty="0" smtClean="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Q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1</m:t>
                        </m:r>
                        <m:r>
                          <a:rPr lang="en-PH" sz="2400" b="0" i="1" smtClean="0">
                            <a:latin typeface="Cambria Math" panose="02040503050406030204" pitchFamily="18" charset="0"/>
                            <a:cs typeface="Arial" panose="020B0604020202020204" pitchFamily="34" charset="0"/>
                          </a:rPr>
                          <m:t>.486</m:t>
                        </m:r>
                      </m:num>
                      <m:den>
                        <m:r>
                          <a:rPr lang="en-PH" sz="2400" b="0" i="1" smtClean="0">
                            <a:latin typeface="Cambria Math" panose="02040503050406030204" pitchFamily="18" charset="0"/>
                            <a:cs typeface="Arial" panose="020B0604020202020204" pitchFamily="34" charset="0"/>
                          </a:rPr>
                          <m:t>𝑛</m:t>
                        </m:r>
                      </m:den>
                    </m:f>
                    <m:r>
                      <a:rPr lang="en-PH" sz="2400" b="0" i="0" smtClean="0">
                        <a:latin typeface="Cambria Math" panose="02040503050406030204" pitchFamily="18" charset="0"/>
                        <a:cs typeface="Arial" panose="020B0604020202020204" pitchFamily="34" charset="0"/>
                      </a:rPr>
                      <m:t>(</m:t>
                    </m:r>
                    <m:r>
                      <m:rPr>
                        <m:sty m:val="p"/>
                      </m:rPr>
                      <a:rPr lang="en-PH" sz="2400" b="0" i="0" smtClean="0">
                        <a:latin typeface="Cambria Math" panose="02040503050406030204" pitchFamily="18" charset="0"/>
                        <a:cs typeface="Arial" panose="020B0604020202020204" pitchFamily="34" charset="0"/>
                      </a:rPr>
                      <m:t>m</m:t>
                    </m:r>
                    <m:sSup>
                      <m:sSupPr>
                        <m:ctrlPr>
                          <a:rPr lang="en-PH" sz="2400" b="0" i="1" smtClean="0">
                            <a:latin typeface="Cambria Math" panose="02040503050406030204" pitchFamily="18" charset="0"/>
                            <a:cs typeface="Arial" panose="020B0604020202020204" pitchFamily="34" charset="0"/>
                          </a:rPr>
                        </m:ctrlPr>
                      </m:sSupPr>
                      <m:e>
                        <m:r>
                          <a:rPr lang="en-PH" sz="2400" b="0" i="1" smtClean="0">
                            <a:latin typeface="Cambria Math" panose="02040503050406030204" pitchFamily="18" charset="0"/>
                            <a:cs typeface="Arial" panose="020B0604020202020204" pitchFamily="34" charset="0"/>
                          </a:rPr>
                          <m:t>h</m:t>
                        </m:r>
                      </m:e>
                      <m:sup>
                        <m:r>
                          <a:rPr lang="en-PH" sz="2400" b="0" i="1" smtClean="0">
                            <a:latin typeface="Cambria Math" panose="02040503050406030204" pitchFamily="18" charset="0"/>
                            <a:cs typeface="Arial" panose="020B0604020202020204" pitchFamily="34" charset="0"/>
                          </a:rPr>
                          <m:t>2</m:t>
                        </m:r>
                      </m:sup>
                    </m:sSup>
                    <m:r>
                      <a:rPr lang="en-PH" sz="2400" b="0" i="0" smtClean="0">
                        <a:latin typeface="Cambria Math" panose="02040503050406030204" pitchFamily="18" charset="0"/>
                        <a:cs typeface="Arial" panose="020B0604020202020204" pitchFamily="34" charset="0"/>
                      </a:rPr>
                      <m:t>)</m:t>
                    </m:r>
                    <m:sSup>
                      <m:sSupPr>
                        <m:ctrlPr>
                          <a:rPr lang="en-PH" sz="2400" i="1" dirty="0">
                            <a:latin typeface="Cambria Math" panose="02040503050406030204" pitchFamily="18" charset="0"/>
                            <a:cs typeface="Arial" panose="020B0604020202020204" pitchFamily="34" charset="0"/>
                          </a:rPr>
                        </m:ctrlPr>
                      </m:sSupPr>
                      <m:e>
                        <m:d>
                          <m:dPr>
                            <m:ctrlPr>
                              <a:rPr lang="en-PH" sz="2400" i="1" dirty="0" smtClean="0">
                                <a:latin typeface="Cambria Math" panose="02040503050406030204" pitchFamily="18" charset="0"/>
                                <a:cs typeface="Arial" panose="020B0604020202020204" pitchFamily="34" charset="0"/>
                              </a:rPr>
                            </m:ctrlPr>
                          </m:dPr>
                          <m:e>
                            <m:f>
                              <m:fPr>
                                <m:ctrlPr>
                                  <a:rPr lang="en-PH" sz="2400" i="1" dirty="0" smtClean="0">
                                    <a:latin typeface="Cambria Math" panose="02040503050406030204" pitchFamily="18" charset="0"/>
                                    <a:cs typeface="Arial" panose="020B0604020202020204" pitchFamily="34" charset="0"/>
                                  </a:rPr>
                                </m:ctrlPr>
                              </m:fPr>
                              <m:num>
                                <m:r>
                                  <m:rPr>
                                    <m:sty m:val="p"/>
                                  </m:rPr>
                                  <a:rPr lang="en-PH" sz="2400">
                                    <a:latin typeface="Cambria Math" panose="02040503050406030204" pitchFamily="18" charset="0"/>
                                    <a:cs typeface="Arial" panose="020B0604020202020204" pitchFamily="34" charset="0"/>
                                  </a:rPr>
                                  <m:t>m</m:t>
                                </m:r>
                                <m:sSup>
                                  <m:sSupPr>
                                    <m:ctrlPr>
                                      <a:rPr lang="en-PH" sz="2400" i="1">
                                        <a:latin typeface="Cambria Math" panose="02040503050406030204" pitchFamily="18" charset="0"/>
                                        <a:cs typeface="Arial" panose="020B0604020202020204" pitchFamily="34" charset="0"/>
                                      </a:rPr>
                                    </m:ctrlPr>
                                  </m:sSupPr>
                                  <m:e>
                                    <m:r>
                                      <a:rPr lang="en-PH" sz="2400" i="1">
                                        <a:latin typeface="Cambria Math" panose="02040503050406030204" pitchFamily="18" charset="0"/>
                                        <a:cs typeface="Arial" panose="020B0604020202020204" pitchFamily="34" charset="0"/>
                                      </a:rPr>
                                      <m:t>h</m:t>
                                    </m:r>
                                  </m:e>
                                  <m:sup>
                                    <m:r>
                                      <a:rPr lang="en-PH" sz="2400" i="1">
                                        <a:latin typeface="Cambria Math" panose="02040503050406030204" pitchFamily="18" charset="0"/>
                                        <a:cs typeface="Arial" panose="020B0604020202020204" pitchFamily="34" charset="0"/>
                                      </a:rPr>
                                      <m:t>2</m:t>
                                    </m:r>
                                  </m:sup>
                                </m:sSup>
                              </m:num>
                              <m:den>
                                <m:r>
                                  <m:rPr>
                                    <m:nor/>
                                  </m:rPr>
                                  <a:rPr lang="en-PH" sz="2400" dirty="0">
                                    <a:latin typeface="Nunito" pitchFamily="2" charset="0"/>
                                    <a:cs typeface="Arial" panose="020B0604020202020204" pitchFamily="34" charset="0"/>
                                  </a:rPr>
                                  <m:t>2</m:t>
                                </m:r>
                                <m:r>
                                  <m:rPr>
                                    <m:nor/>
                                  </m:rPr>
                                  <a:rPr lang="en-PH" sz="2400" dirty="0">
                                    <a:latin typeface="Nunito" pitchFamily="2" charset="0"/>
                                    <a:cs typeface="Arial" panose="020B0604020202020204" pitchFamily="34" charset="0"/>
                                  </a:rPr>
                                  <m:t>h</m:t>
                                </m:r>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1+</m:t>
                                    </m:r>
                                    <m:sSup>
                                      <m:sSupPr>
                                        <m:ctrlPr>
                                          <a:rPr lang="en-PH" sz="2400" i="1">
                                            <a:latin typeface="Cambria Math" panose="02040503050406030204" pitchFamily="18" charset="0"/>
                                            <a:cs typeface="Arial" panose="020B0604020202020204" pitchFamily="34" charset="0"/>
                                          </a:rPr>
                                        </m:ctrlPr>
                                      </m:sSupPr>
                                      <m:e>
                                        <m:r>
                                          <a:rPr lang="en-PH" sz="2400" i="1">
                                            <a:latin typeface="Cambria Math" panose="02040503050406030204" pitchFamily="18" charset="0"/>
                                            <a:cs typeface="Arial" panose="020B0604020202020204" pitchFamily="34" charset="0"/>
                                          </a:rPr>
                                          <m:t>𝑚</m:t>
                                        </m:r>
                                      </m:e>
                                      <m:sup>
                                        <m:r>
                                          <a:rPr lang="en-PH" sz="2400" i="1">
                                            <a:latin typeface="Cambria Math" panose="02040503050406030204" pitchFamily="18" charset="0"/>
                                            <a:cs typeface="Arial" panose="020B0604020202020204" pitchFamily="34" charset="0"/>
                                          </a:rPr>
                                          <m:t>2</m:t>
                                        </m:r>
                                      </m:sup>
                                    </m:sSup>
                                  </m:e>
                                </m:rad>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2</m:t>
                            </m:r>
                          </m:num>
                          <m:den>
                            <m:r>
                              <a:rPr lang="en-PH" sz="2400" i="1" dirty="0">
                                <a:latin typeface="Cambria Math" panose="02040503050406030204" pitchFamily="18"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r>
                          <m:rPr>
                            <m:nor/>
                          </m:rPr>
                          <a:rPr lang="en-PH" sz="2400" b="0" i="0" dirty="0" smtClean="0">
                            <a:latin typeface="Cambria Math" panose="02040503050406030204" pitchFamily="18" charset="0"/>
                            <a:cs typeface="Arial" panose="020B0604020202020204" pitchFamily="34" charset="0"/>
                          </a:rPr>
                          <m:t>(</m:t>
                        </m:r>
                        <m:r>
                          <m:rPr>
                            <m:nor/>
                          </m:rPr>
                          <a:rPr lang="en-PH" sz="2400" b="0" i="0" dirty="0" smtClean="0">
                            <a:latin typeface="Cambria Math" panose="02040503050406030204" pitchFamily="18" charset="0"/>
                            <a:cs typeface="Arial" panose="020B0604020202020204" pitchFamily="34" charset="0"/>
                          </a:rPr>
                          <m:t>S</m:t>
                        </m:r>
                        <m:r>
                          <m:rPr>
                            <m:nor/>
                          </m:rPr>
                          <a:rPr lang="en-PH" sz="2400" b="0" i="0" dirty="0" smtClean="0">
                            <a:latin typeface="Cambria Math" panose="02040503050406030204" pitchFamily="18" charset="0"/>
                            <a:cs typeface="Arial" panose="020B0604020202020204" pitchFamily="34" charset="0"/>
                          </a:rPr>
                          <m:t>)</m:t>
                        </m:r>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1</m:t>
                            </m:r>
                          </m:num>
                          <m:den>
                            <m:r>
                              <a:rPr lang="en-PH" sz="2400" i="1" dirty="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400cfs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a:rPr lang="en-PH" sz="2400" b="0" i="1" smtClean="0">
                            <a:latin typeface="Cambria Math" panose="02040503050406030204" pitchFamily="18" charset="0"/>
                            <a:cs typeface="Arial" panose="020B0604020202020204" pitchFamily="34" charset="0"/>
                          </a:rPr>
                          <m:t>1.486</m:t>
                        </m:r>
                      </m:num>
                      <m:den>
                        <m:r>
                          <a:rPr lang="en-PH" sz="2400" b="0" i="1" smtClean="0">
                            <a:latin typeface="Cambria Math" panose="02040503050406030204" pitchFamily="18" charset="0"/>
                            <a:cs typeface="Arial" panose="020B0604020202020204" pitchFamily="34" charset="0"/>
                          </a:rPr>
                          <m:t>0.025</m:t>
                        </m:r>
                      </m:den>
                    </m:f>
                    <m:r>
                      <a:rPr lang="en-PH" sz="2400">
                        <a:latin typeface="Cambria Math" panose="02040503050406030204" pitchFamily="18" charset="0"/>
                        <a:cs typeface="Arial" panose="020B0604020202020204" pitchFamily="34" charset="0"/>
                      </a:rPr>
                      <m:t>(</m:t>
                    </m:r>
                    <m:r>
                      <a:rPr lang="en-PH" sz="2400" b="0" i="1" smtClean="0">
                        <a:latin typeface="Cambria Math" panose="02040503050406030204" pitchFamily="18" charset="0"/>
                        <a:cs typeface="Arial" panose="020B0604020202020204" pitchFamily="34" charset="0"/>
                      </a:rPr>
                      <m:t>0.84</m:t>
                    </m:r>
                    <m:sSup>
                      <m:sSupPr>
                        <m:ctrlPr>
                          <a:rPr lang="en-PH" sz="2400" i="1">
                            <a:latin typeface="Cambria Math" panose="02040503050406030204" pitchFamily="18" charset="0"/>
                            <a:cs typeface="Arial" panose="020B0604020202020204" pitchFamily="34" charset="0"/>
                          </a:rPr>
                        </m:ctrlPr>
                      </m:sSupPr>
                      <m:e>
                        <m:r>
                          <a:rPr lang="en-PH" sz="2400" i="1">
                            <a:latin typeface="Cambria Math" panose="02040503050406030204" pitchFamily="18" charset="0"/>
                            <a:cs typeface="Arial" panose="020B0604020202020204" pitchFamily="34" charset="0"/>
                          </a:rPr>
                          <m:t>h</m:t>
                        </m:r>
                      </m:e>
                      <m:sup>
                        <m:r>
                          <a:rPr lang="en-PH" sz="2400" i="1">
                            <a:latin typeface="Cambria Math" panose="02040503050406030204" pitchFamily="18" charset="0"/>
                            <a:cs typeface="Arial" panose="020B0604020202020204" pitchFamily="34" charset="0"/>
                          </a:rPr>
                          <m:t>2</m:t>
                        </m:r>
                      </m:sup>
                    </m:sSup>
                    <m:r>
                      <a:rPr lang="en-PH" sz="2400">
                        <a:latin typeface="Cambria Math" panose="02040503050406030204" pitchFamily="18" charset="0"/>
                        <a:cs typeface="Arial" panose="020B0604020202020204" pitchFamily="34" charset="0"/>
                      </a:rPr>
                      <m:t>)</m:t>
                    </m:r>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f>
                              <m:fPr>
                                <m:ctrlPr>
                                  <a:rPr lang="en-PH" sz="2400" i="1" dirty="0">
                                    <a:latin typeface="Cambria Math" panose="02040503050406030204" pitchFamily="18" charset="0"/>
                                    <a:cs typeface="Arial" panose="020B0604020202020204" pitchFamily="34" charset="0"/>
                                  </a:rPr>
                                </m:ctrlPr>
                              </m:fPr>
                              <m:num>
                                <m:r>
                                  <a:rPr lang="en-PH" sz="2400" b="0" i="0" dirty="0" smtClean="0">
                                    <a:latin typeface="Cambria Math" panose="02040503050406030204" pitchFamily="18" charset="0"/>
                                    <a:cs typeface="Arial" panose="020B0604020202020204" pitchFamily="34" charset="0"/>
                                  </a:rPr>
                                  <m:t>0.84</m:t>
                                </m:r>
                                <m:sSup>
                                  <m:sSupPr>
                                    <m:ctrlPr>
                                      <a:rPr lang="en-PH" sz="2400" i="1">
                                        <a:latin typeface="Cambria Math" panose="02040503050406030204" pitchFamily="18" charset="0"/>
                                        <a:cs typeface="Arial" panose="020B0604020202020204" pitchFamily="34" charset="0"/>
                                      </a:rPr>
                                    </m:ctrlPr>
                                  </m:sSupPr>
                                  <m:e>
                                    <m:r>
                                      <a:rPr lang="en-PH" sz="2400" i="1">
                                        <a:latin typeface="Cambria Math" panose="02040503050406030204" pitchFamily="18" charset="0"/>
                                        <a:cs typeface="Arial" panose="020B0604020202020204" pitchFamily="34" charset="0"/>
                                      </a:rPr>
                                      <m:t>h</m:t>
                                    </m:r>
                                  </m:e>
                                  <m:sup>
                                    <m:r>
                                      <a:rPr lang="en-PH" sz="2400" i="1">
                                        <a:latin typeface="Cambria Math" panose="02040503050406030204" pitchFamily="18" charset="0"/>
                                        <a:cs typeface="Arial" panose="020B0604020202020204" pitchFamily="34" charset="0"/>
                                      </a:rPr>
                                      <m:t>2</m:t>
                                    </m:r>
                                  </m:sup>
                                </m:sSup>
                              </m:num>
                              <m:den>
                                <m:r>
                                  <m:rPr>
                                    <m:nor/>
                                  </m:rPr>
                                  <a:rPr lang="en-PH" sz="2400" dirty="0">
                                    <a:latin typeface="Nunito" pitchFamily="2" charset="0"/>
                                    <a:cs typeface="Arial" panose="020B0604020202020204" pitchFamily="34" charset="0"/>
                                  </a:rPr>
                                  <m:t>2</m:t>
                                </m:r>
                                <m:r>
                                  <m:rPr>
                                    <m:nor/>
                                  </m:rPr>
                                  <a:rPr lang="en-PH" sz="2400" dirty="0">
                                    <a:latin typeface="Nunito" pitchFamily="2" charset="0"/>
                                    <a:cs typeface="Arial" panose="020B0604020202020204" pitchFamily="34" charset="0"/>
                                  </a:rPr>
                                  <m:t>h</m:t>
                                </m:r>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1+</m:t>
                                    </m:r>
                                    <m:sSup>
                                      <m:sSupPr>
                                        <m:ctrlPr>
                                          <a:rPr lang="en-PH" sz="2400" i="1">
                                            <a:latin typeface="Cambria Math" panose="02040503050406030204" pitchFamily="18" charset="0"/>
                                            <a:cs typeface="Arial" panose="020B0604020202020204" pitchFamily="34" charset="0"/>
                                          </a:rPr>
                                        </m:ctrlPr>
                                      </m:sSupPr>
                                      <m:e>
                                        <m:r>
                                          <a:rPr lang="en-PH" sz="2400" b="0" i="1" smtClean="0">
                                            <a:latin typeface="Cambria Math" panose="02040503050406030204" pitchFamily="18" charset="0"/>
                                            <a:cs typeface="Arial" panose="020B0604020202020204" pitchFamily="34" charset="0"/>
                                          </a:rPr>
                                          <m:t>0.84</m:t>
                                        </m:r>
                                      </m:e>
                                      <m:sup>
                                        <m:r>
                                          <a:rPr lang="en-PH" sz="2400" i="1">
                                            <a:latin typeface="Cambria Math" panose="02040503050406030204" pitchFamily="18" charset="0"/>
                                            <a:cs typeface="Arial" panose="020B0604020202020204" pitchFamily="34" charset="0"/>
                                          </a:rPr>
                                          <m:t>2</m:t>
                                        </m:r>
                                      </m:sup>
                                    </m:sSup>
                                  </m:e>
                                </m:rad>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2</m:t>
                            </m:r>
                          </m:num>
                          <m:den>
                            <m:r>
                              <a:rPr lang="en-PH" sz="2400" i="1" dirty="0">
                                <a:latin typeface="Cambria Math" panose="02040503050406030204" pitchFamily="18"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r>
                          <m:rPr>
                            <m:nor/>
                          </m:rPr>
                          <a:rPr lang="en-PH" sz="2400" dirty="0">
                            <a:latin typeface="Cambria Math" panose="02040503050406030204" pitchFamily="18" charset="0"/>
                            <a:cs typeface="Arial" panose="020B0604020202020204" pitchFamily="34" charset="0"/>
                          </a:rPr>
                          <m:t>(</m:t>
                        </m:r>
                        <m:r>
                          <m:rPr>
                            <m:nor/>
                          </m:rPr>
                          <a:rPr lang="en-PH" sz="2400" b="0" i="0" dirty="0" smtClean="0">
                            <a:latin typeface="Cambria Math" panose="02040503050406030204" pitchFamily="18" charset="0"/>
                            <a:cs typeface="Arial" panose="020B0604020202020204" pitchFamily="34" charset="0"/>
                          </a:rPr>
                          <m:t>0.0016</m:t>
                        </m:r>
                        <m:r>
                          <m:rPr>
                            <m:nor/>
                          </m:rPr>
                          <a:rPr lang="en-PH" sz="2400" dirty="0">
                            <a:latin typeface="Cambria Math" panose="02040503050406030204" pitchFamily="18" charset="0"/>
                            <a:cs typeface="Arial" panose="020B0604020202020204" pitchFamily="34" charset="0"/>
                          </a:rPr>
                          <m:t>)</m:t>
                        </m:r>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1</m:t>
                            </m:r>
                          </m:num>
                          <m:den>
                            <m:r>
                              <a:rPr lang="en-PH" sz="2400" i="1" dirty="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By shift solve:</a:t>
                </a:r>
              </a:p>
              <a:p>
                <a:endParaRPr lang="en-PH" sz="2400" dirty="0">
                  <a:latin typeface="Nunito" pitchFamily="2" charset="0"/>
                  <a:cs typeface="Arial" panose="020B0604020202020204" pitchFamily="34" charset="0"/>
                </a:endParaRPr>
              </a:p>
              <a:p>
                <a:r>
                  <a:rPr lang="en-PH" sz="2400" b="1" dirty="0">
                    <a:latin typeface="Nunito" pitchFamily="2" charset="0"/>
                    <a:cs typeface="Arial" panose="020B0604020202020204" pitchFamily="34" charset="0"/>
                  </a:rPr>
                  <a:t>h = y = 9.68ft</a:t>
                </a:r>
              </a:p>
            </p:txBody>
          </p:sp>
        </mc:Choice>
        <mc:Fallback>
          <p:sp>
            <p:nvSpPr>
              <p:cNvPr id="29" name="TextBox 28">
                <a:extLst>
                  <a:ext uri="{FF2B5EF4-FFF2-40B4-BE49-F238E27FC236}">
                    <a16:creationId xmlns:a16="http://schemas.microsoft.com/office/drawing/2014/main" id="{E1C12A59-5605-1EF2-7EAA-393E3D0656F1}"/>
                  </a:ext>
                </a:extLst>
              </p:cNvPr>
              <p:cNvSpPr txBox="1">
                <a:spLocks noRot="1" noChangeAspect="1" noMove="1" noResize="1" noEditPoints="1" noAdjustHandles="1" noChangeArrowheads="1" noChangeShapeType="1" noTextEdit="1"/>
              </p:cNvSpPr>
              <p:nvPr/>
            </p:nvSpPr>
            <p:spPr>
              <a:xfrm>
                <a:off x="3429000" y="4937109"/>
                <a:ext cx="6422912" cy="3626314"/>
              </a:xfrm>
              <a:prstGeom prst="rect">
                <a:avLst/>
              </a:prstGeom>
              <a:blipFill>
                <a:blip r:embed="rId2"/>
                <a:stretch>
                  <a:fillRect l="-1519" b="-3025"/>
                </a:stretch>
              </a:blipFill>
            </p:spPr>
            <p:txBody>
              <a:bodyPr/>
              <a:lstStyle/>
              <a:p>
                <a:r>
                  <a:rPr lang="en-PH">
                    <a:noFill/>
                  </a:rPr>
                  <a:t> </a:t>
                </a:r>
              </a:p>
            </p:txBody>
          </p:sp>
        </mc:Fallback>
      </mc:AlternateContent>
      <p:grpSp>
        <p:nvGrpSpPr>
          <p:cNvPr id="43" name="Group 42">
            <a:extLst>
              <a:ext uri="{FF2B5EF4-FFF2-40B4-BE49-F238E27FC236}">
                <a16:creationId xmlns:a16="http://schemas.microsoft.com/office/drawing/2014/main" id="{C998A20E-5EFE-0B61-561D-6B5B1465AB5B}"/>
              </a:ext>
            </a:extLst>
          </p:cNvPr>
          <p:cNvGrpSpPr/>
          <p:nvPr/>
        </p:nvGrpSpPr>
        <p:grpSpPr>
          <a:xfrm>
            <a:off x="8051435" y="3329204"/>
            <a:ext cx="7228122" cy="2539240"/>
            <a:chOff x="8111767" y="3924300"/>
            <a:chExt cx="7228122" cy="2539240"/>
          </a:xfrm>
        </p:grpSpPr>
        <p:sp>
          <p:nvSpPr>
            <p:cNvPr id="32" name="Isosceles Triangle 31">
              <a:extLst>
                <a:ext uri="{FF2B5EF4-FFF2-40B4-BE49-F238E27FC236}">
                  <a16:creationId xmlns:a16="http://schemas.microsoft.com/office/drawing/2014/main" id="{9BCDB859-E532-2CC8-FBD7-526207A12278}"/>
                </a:ext>
              </a:extLst>
            </p:cNvPr>
            <p:cNvSpPr/>
            <p:nvPr/>
          </p:nvSpPr>
          <p:spPr>
            <a:xfrm rot="10800000">
              <a:off x="8111767" y="3926619"/>
              <a:ext cx="3600000" cy="2536921"/>
            </a:xfrm>
            <a:prstGeom prst="triangl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cxnSp>
          <p:nvCxnSpPr>
            <p:cNvPr id="34" name="Straight Connector 33">
              <a:extLst>
                <a:ext uri="{FF2B5EF4-FFF2-40B4-BE49-F238E27FC236}">
                  <a16:creationId xmlns:a16="http://schemas.microsoft.com/office/drawing/2014/main" id="{A5A346DD-F172-7E0E-E608-BA25C189C09A}"/>
                </a:ext>
              </a:extLst>
            </p:cNvPr>
            <p:cNvCxnSpPr>
              <a:stCxn id="32" idx="0"/>
            </p:cNvCxnSpPr>
            <p:nvPr/>
          </p:nvCxnSpPr>
          <p:spPr>
            <a:xfrm flipH="1" flipV="1">
              <a:off x="9906000" y="3924300"/>
              <a:ext cx="5767" cy="2539240"/>
            </a:xfrm>
            <a:prstGeom prst="line">
              <a:avLst/>
            </a:prstGeom>
            <a:ln w="28575">
              <a:solidFill>
                <a:schemeClr val="tx2">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5E150CC-AA87-B2D8-EFCB-BE8782A21206}"/>
                </a:ext>
              </a:extLst>
            </p:cNvPr>
            <p:cNvSpPr txBox="1"/>
            <p:nvPr/>
          </p:nvSpPr>
          <p:spPr>
            <a:xfrm>
              <a:off x="9906000" y="5798341"/>
              <a:ext cx="428322" cy="307777"/>
            </a:xfrm>
            <a:prstGeom prst="rect">
              <a:avLst/>
            </a:prstGeom>
            <a:noFill/>
          </p:spPr>
          <p:txBody>
            <a:bodyPr wrap="none" rtlCol="0">
              <a:spAutoFit/>
            </a:bodyPr>
            <a:lstStyle/>
            <a:p>
              <a:r>
                <a:rPr lang="en-PH" sz="1400" dirty="0"/>
                <a:t>40°</a:t>
              </a:r>
            </a:p>
          </p:txBody>
        </p:sp>
        <p:sp>
          <p:nvSpPr>
            <p:cNvPr id="36" name="TextBox 35">
              <a:extLst>
                <a:ext uri="{FF2B5EF4-FFF2-40B4-BE49-F238E27FC236}">
                  <a16:creationId xmlns:a16="http://schemas.microsoft.com/office/drawing/2014/main" id="{FA334A9E-05D3-E69C-D5AD-DD9B6A26870B}"/>
                </a:ext>
              </a:extLst>
            </p:cNvPr>
            <p:cNvSpPr txBox="1"/>
            <p:nvPr/>
          </p:nvSpPr>
          <p:spPr>
            <a:xfrm>
              <a:off x="9525000" y="5788319"/>
              <a:ext cx="428322" cy="307777"/>
            </a:xfrm>
            <a:prstGeom prst="rect">
              <a:avLst/>
            </a:prstGeom>
            <a:noFill/>
          </p:spPr>
          <p:txBody>
            <a:bodyPr wrap="none" rtlCol="0">
              <a:spAutoFit/>
            </a:bodyPr>
            <a:lstStyle/>
            <a:p>
              <a:r>
                <a:rPr lang="en-PH" sz="1400" dirty="0"/>
                <a:t>40°</a:t>
              </a:r>
            </a:p>
          </p:txBody>
        </p:sp>
        <p:sp>
          <p:nvSpPr>
            <p:cNvPr id="37" name="Right Triangle 36">
              <a:extLst>
                <a:ext uri="{FF2B5EF4-FFF2-40B4-BE49-F238E27FC236}">
                  <a16:creationId xmlns:a16="http://schemas.microsoft.com/office/drawing/2014/main" id="{8981B85E-5632-8CA2-D6C3-AC6BCE1B0127}"/>
                </a:ext>
              </a:extLst>
            </p:cNvPr>
            <p:cNvSpPr/>
            <p:nvPr/>
          </p:nvSpPr>
          <p:spPr>
            <a:xfrm flipH="1">
              <a:off x="10639326" y="4968381"/>
              <a:ext cx="332850" cy="469250"/>
            </a:xfrm>
            <a:prstGeom prst="rtTriangle">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8" name="TextBox 37">
              <a:extLst>
                <a:ext uri="{FF2B5EF4-FFF2-40B4-BE49-F238E27FC236}">
                  <a16:creationId xmlns:a16="http://schemas.microsoft.com/office/drawing/2014/main" id="{F8620F48-8C3B-E27D-BEF8-8C67557C8909}"/>
                </a:ext>
              </a:extLst>
            </p:cNvPr>
            <p:cNvSpPr txBox="1"/>
            <p:nvPr/>
          </p:nvSpPr>
          <p:spPr>
            <a:xfrm>
              <a:off x="11891509" y="4112990"/>
              <a:ext cx="3448380" cy="1569660"/>
            </a:xfrm>
            <a:prstGeom prst="rect">
              <a:avLst/>
            </a:prstGeom>
            <a:noFill/>
          </p:spPr>
          <p:txBody>
            <a:bodyPr wrap="none" rtlCol="0">
              <a:spAutoFit/>
            </a:bodyPr>
            <a:lstStyle/>
            <a:p>
              <a:r>
                <a:rPr lang="en-PH" sz="2400" dirty="0">
                  <a:latin typeface="Nunito" pitchFamily="2" charset="0"/>
                  <a:cs typeface="Arial" panose="020B0604020202020204" pitchFamily="34" charset="0"/>
                </a:rPr>
                <a:t>Slope, m = H/V</a:t>
              </a: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tan(40) = </a:t>
              </a:r>
              <a:r>
                <a:rPr lang="en-PH" sz="2400" dirty="0" err="1">
                  <a:latin typeface="Nunito" pitchFamily="2" charset="0"/>
                  <a:cs typeface="Arial" panose="020B0604020202020204" pitchFamily="34" charset="0"/>
                </a:rPr>
                <a:t>opp</a:t>
              </a:r>
              <a:r>
                <a:rPr lang="en-PH" sz="2400" dirty="0">
                  <a:latin typeface="Nunito" pitchFamily="2" charset="0"/>
                  <a:cs typeface="Arial" panose="020B0604020202020204" pitchFamily="34" charset="0"/>
                </a:rPr>
                <a:t>/adj = H/V</a:t>
              </a:r>
            </a:p>
            <a:p>
              <a:r>
                <a:rPr lang="en-PH" sz="2400" dirty="0">
                  <a:latin typeface="Nunito" pitchFamily="2" charset="0"/>
                  <a:cs typeface="Arial" panose="020B0604020202020204" pitchFamily="34" charset="0"/>
                </a:rPr>
                <a:t>tan(40) = 0.84 = m</a:t>
              </a:r>
            </a:p>
          </p:txBody>
        </p:sp>
        <p:sp>
          <p:nvSpPr>
            <p:cNvPr id="39" name="TextBox 38">
              <a:extLst>
                <a:ext uri="{FF2B5EF4-FFF2-40B4-BE49-F238E27FC236}">
                  <a16:creationId xmlns:a16="http://schemas.microsoft.com/office/drawing/2014/main" id="{1EDAD6F9-1A66-F3D6-14CE-0E9D1C902C9A}"/>
                </a:ext>
              </a:extLst>
            </p:cNvPr>
            <p:cNvSpPr txBox="1"/>
            <p:nvPr/>
          </p:nvSpPr>
          <p:spPr>
            <a:xfrm>
              <a:off x="10911566" y="5161804"/>
              <a:ext cx="255198" cy="215444"/>
            </a:xfrm>
            <a:prstGeom prst="rect">
              <a:avLst/>
            </a:prstGeom>
            <a:noFill/>
          </p:spPr>
          <p:txBody>
            <a:bodyPr wrap="none" rtlCol="0">
              <a:spAutoFit/>
            </a:bodyPr>
            <a:lstStyle/>
            <a:p>
              <a:r>
                <a:rPr lang="en-PH" sz="800" dirty="0">
                  <a:latin typeface="Nunito" pitchFamily="2" charset="0"/>
                  <a:cs typeface="Arial" panose="020B0604020202020204" pitchFamily="34" charset="0"/>
                </a:rPr>
                <a:t>V</a:t>
              </a:r>
            </a:p>
          </p:txBody>
        </p:sp>
        <p:sp>
          <p:nvSpPr>
            <p:cNvPr id="40" name="TextBox 39">
              <a:extLst>
                <a:ext uri="{FF2B5EF4-FFF2-40B4-BE49-F238E27FC236}">
                  <a16:creationId xmlns:a16="http://schemas.microsoft.com/office/drawing/2014/main" id="{D7CD97AD-3811-250E-8ED3-D9814354C06A}"/>
                </a:ext>
              </a:extLst>
            </p:cNvPr>
            <p:cNvSpPr txBox="1"/>
            <p:nvPr/>
          </p:nvSpPr>
          <p:spPr>
            <a:xfrm>
              <a:off x="10699447" y="5396784"/>
              <a:ext cx="263214" cy="215444"/>
            </a:xfrm>
            <a:prstGeom prst="rect">
              <a:avLst/>
            </a:prstGeom>
            <a:noFill/>
          </p:spPr>
          <p:txBody>
            <a:bodyPr wrap="none" rtlCol="0">
              <a:spAutoFit/>
            </a:bodyPr>
            <a:lstStyle/>
            <a:p>
              <a:r>
                <a:rPr lang="en-PH" sz="800" dirty="0">
                  <a:latin typeface="Nunito" pitchFamily="2" charset="0"/>
                  <a:cs typeface="Arial" panose="020B0604020202020204" pitchFamily="34" charset="0"/>
                </a:rPr>
                <a:t>H</a:t>
              </a:r>
            </a:p>
          </p:txBody>
        </p:sp>
        <p:sp>
          <p:nvSpPr>
            <p:cNvPr id="41" name="TextBox 40">
              <a:extLst>
                <a:ext uri="{FF2B5EF4-FFF2-40B4-BE49-F238E27FC236}">
                  <a16:creationId xmlns:a16="http://schemas.microsoft.com/office/drawing/2014/main" id="{DB6EBA28-80B5-9E72-C46F-A629D8BA0FCC}"/>
                </a:ext>
              </a:extLst>
            </p:cNvPr>
            <p:cNvSpPr txBox="1"/>
            <p:nvPr/>
          </p:nvSpPr>
          <p:spPr>
            <a:xfrm>
              <a:off x="10767937" y="5081995"/>
              <a:ext cx="287258" cy="246221"/>
            </a:xfrm>
            <a:prstGeom prst="rect">
              <a:avLst/>
            </a:prstGeom>
            <a:noFill/>
          </p:spPr>
          <p:txBody>
            <a:bodyPr wrap="none" rtlCol="0">
              <a:spAutoFit/>
            </a:bodyPr>
            <a:lstStyle/>
            <a:p>
              <a:r>
                <a:rPr lang="en-PH" sz="500" dirty="0">
                  <a:latin typeface="Nunito" pitchFamily="2" charset="0"/>
                  <a:cs typeface="Arial" panose="020B0604020202020204" pitchFamily="34" charset="0"/>
                </a:rPr>
                <a:t>40°</a:t>
              </a:r>
            </a:p>
            <a:p>
              <a:endParaRPr lang="en-PH" sz="500" dirty="0">
                <a:latin typeface="Nunito" pitchFamily="2" charset="0"/>
                <a:cs typeface="Arial" panose="020B0604020202020204" pitchFamily="34" charset="0"/>
              </a:endParaRPr>
            </a:p>
          </p:txBody>
        </p:sp>
      </p:grpSp>
      <p:sp>
        <p:nvSpPr>
          <p:cNvPr id="44" name="TextBox 43">
            <a:extLst>
              <a:ext uri="{FF2B5EF4-FFF2-40B4-BE49-F238E27FC236}">
                <a16:creationId xmlns:a16="http://schemas.microsoft.com/office/drawing/2014/main" id="{87356B4B-2549-AE38-A7E9-AC7CC6113422}"/>
              </a:ext>
            </a:extLst>
          </p:cNvPr>
          <p:cNvSpPr txBox="1"/>
          <p:nvPr/>
        </p:nvSpPr>
        <p:spPr>
          <a:xfrm>
            <a:off x="10975564" y="6137882"/>
            <a:ext cx="3531736" cy="1569660"/>
          </a:xfrm>
          <a:prstGeom prst="rect">
            <a:avLst/>
          </a:prstGeom>
          <a:noFill/>
        </p:spPr>
        <p:txBody>
          <a:bodyPr wrap="none" rtlCol="0">
            <a:spAutoFit/>
          </a:bodyPr>
          <a:lstStyle/>
          <a:p>
            <a:r>
              <a:rPr lang="en-PH" sz="2400" dirty="0">
                <a:latin typeface="Nunito" pitchFamily="2" charset="0"/>
                <a:cs typeface="Arial" panose="020B0604020202020204" pitchFamily="34" charset="0"/>
              </a:rPr>
              <a:t>Q = AV</a:t>
            </a:r>
          </a:p>
          <a:p>
            <a:r>
              <a:rPr lang="en-PH" sz="2400" dirty="0">
                <a:latin typeface="Nunito" pitchFamily="2" charset="0"/>
                <a:cs typeface="Arial" panose="020B0604020202020204" pitchFamily="34" charset="0"/>
              </a:rPr>
              <a:t>V = Q/A</a:t>
            </a:r>
          </a:p>
          <a:p>
            <a:r>
              <a:rPr lang="en-PH" sz="2400" dirty="0">
                <a:latin typeface="Nunito" pitchFamily="2" charset="0"/>
                <a:cs typeface="Arial" panose="020B0604020202020204" pitchFamily="34" charset="0"/>
              </a:rPr>
              <a:t>V = 400cfs/[0.84(9.68</a:t>
            </a:r>
            <a:r>
              <a:rPr lang="en-PH" sz="2400" baseline="30000" dirty="0">
                <a:latin typeface="Nunito" pitchFamily="2" charset="0"/>
                <a:cs typeface="Arial" panose="020B0604020202020204" pitchFamily="34" charset="0"/>
              </a:rPr>
              <a:t>2</a:t>
            </a:r>
            <a:r>
              <a:rPr lang="en-PH" sz="2400" dirty="0">
                <a:latin typeface="Nunito" pitchFamily="2" charset="0"/>
                <a:cs typeface="Arial" panose="020B0604020202020204" pitchFamily="34" charset="0"/>
              </a:rPr>
              <a:t>)]</a:t>
            </a:r>
          </a:p>
          <a:p>
            <a:r>
              <a:rPr lang="en-PH" sz="2400" b="1" dirty="0">
                <a:latin typeface="Nunito" pitchFamily="2" charset="0"/>
                <a:cs typeface="Arial" panose="020B0604020202020204" pitchFamily="34" charset="0"/>
              </a:rPr>
              <a:t>V = 5.08fps</a:t>
            </a:r>
          </a:p>
        </p:txBody>
      </p:sp>
    </p:spTree>
    <p:extLst>
      <p:ext uri="{BB962C8B-B14F-4D97-AF65-F5344CB8AC3E}">
        <p14:creationId xmlns:p14="http://schemas.microsoft.com/office/powerpoint/2010/main" val="24550127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2B69D-BF12-1B71-941B-9B7CFAE7532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1045C70-C7B9-D606-D597-9F5DEE7C78EE}"/>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E02C38D3-31D6-16BB-C6A5-3AD87EA44728}"/>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FE56E702-4C12-1342-1667-279066FACCB4}"/>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385F5C10-5393-1AD0-B10A-608A5B5A958F}"/>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88A83487-3EA3-91D8-8B1F-D6A3D7736330}"/>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txBody>
            <a:bodyPr/>
            <a:lstStyle/>
            <a:p>
              <a:endParaRPr lang="en-PH" dirty="0"/>
            </a:p>
          </p:txBody>
        </p:sp>
        <p:sp>
          <p:nvSpPr>
            <p:cNvPr id="7" name="TextBox 7">
              <a:extLst>
                <a:ext uri="{FF2B5EF4-FFF2-40B4-BE49-F238E27FC236}">
                  <a16:creationId xmlns:a16="http://schemas.microsoft.com/office/drawing/2014/main" id="{A4521465-1EE3-87BB-14FB-9BC64C1A17C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6FAF5BD-8DDB-0E78-BD46-A9DB64925FA8}"/>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B21A3433-5F80-E11A-62B8-87D98A7EDFAD}"/>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8BAAC7E0-412F-8A25-F9CA-7FAB8A81BB60}"/>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5BA11058-48CD-242E-91D1-FE57B01B4236}"/>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B519CBBE-027F-26C0-A454-71F2A72DE3D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7EF845E0-8B31-CF7C-BC7C-CA6F19F97B1F}"/>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CB3733A5-3506-0B21-429B-A3E8A49A2E25}"/>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9F9F9A82-921D-8650-3F33-5321C1C38E13}"/>
              </a:ext>
            </a:extLst>
          </p:cNvPr>
          <p:cNvSpPr txBox="1"/>
          <p:nvPr/>
        </p:nvSpPr>
        <p:spPr>
          <a:xfrm>
            <a:off x="2246041" y="2025065"/>
            <a:ext cx="13795916" cy="738664"/>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Given a trapezoidal canal with cross-sectional area of 20 ft²; for best hydraulic section, what should be the depth of flow and the bottom width of the channel?</a:t>
            </a:r>
          </a:p>
        </p:txBody>
      </p:sp>
      <p:sp>
        <p:nvSpPr>
          <p:cNvPr id="19" name="TextBox 12">
            <a:extLst>
              <a:ext uri="{FF2B5EF4-FFF2-40B4-BE49-F238E27FC236}">
                <a16:creationId xmlns:a16="http://schemas.microsoft.com/office/drawing/2014/main" id="{74ABCF14-3D74-A827-B19E-2875626BF2D0}"/>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BAA2776F-DEFD-DEF9-598D-0EF2A20408AD}"/>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5A0D237B-5ED2-A423-2C85-4C19F5E1108F}"/>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CFC62E69-E761-41B9-EA61-BB942648DCAB}"/>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DE7AB1AC-8D30-C723-A746-08865369CD1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38EF98AE-19B9-E1AC-3BFC-0E6F0298A832}"/>
              </a:ext>
            </a:extLst>
          </p:cNvPr>
          <p:cNvSpPr txBox="1"/>
          <p:nvPr/>
        </p:nvSpPr>
        <p:spPr>
          <a:xfrm>
            <a:off x="1676399" y="390778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y = 3.4ft </a:t>
            </a:r>
          </a:p>
        </p:txBody>
      </p:sp>
      <p:grpSp>
        <p:nvGrpSpPr>
          <p:cNvPr id="17" name="Group 16">
            <a:extLst>
              <a:ext uri="{FF2B5EF4-FFF2-40B4-BE49-F238E27FC236}">
                <a16:creationId xmlns:a16="http://schemas.microsoft.com/office/drawing/2014/main" id="{5A63DDE5-327C-738E-29ED-C9092E408115}"/>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F410C64F-4C74-9AC3-FB10-DAED0C63D022}"/>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855032AD-86CD-2A66-0110-4826DA0C6064}"/>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46D98078-C227-600B-ECE3-92F967047963}"/>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40FA8C2F-FC3F-D11E-7FB7-B6F48A0AC19C}"/>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F03E0C9B-A60C-B1D7-EB8D-689E1B700A97}"/>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1886046A-0BA0-6020-A8CB-338E2B79E109}"/>
                  </a:ext>
                </a:extLst>
              </p:cNvPr>
              <p:cNvSpPr txBox="1"/>
              <p:nvPr/>
            </p:nvSpPr>
            <p:spPr>
              <a:xfrm>
                <a:off x="3411777" y="4937109"/>
                <a:ext cx="3312125" cy="2343142"/>
              </a:xfrm>
              <a:prstGeom prst="rect">
                <a:avLst/>
              </a:prstGeom>
              <a:noFill/>
            </p:spPr>
            <p:txBody>
              <a:bodyPr wrap="none" rtlCol="0">
                <a:spAutoFit/>
              </a:bodyPr>
              <a:lstStyle/>
              <a:p>
                <a:r>
                  <a:rPr lang="en-PH" sz="2400" dirty="0">
                    <a:latin typeface="Nunito" pitchFamily="2" charset="0"/>
                    <a:cs typeface="Arial" panose="020B0604020202020204" pitchFamily="34" charset="0"/>
                  </a:rPr>
                  <a:t>A = 20ft</a:t>
                </a:r>
                <a:r>
                  <a:rPr lang="en-PH" sz="2400" baseline="30000" dirty="0">
                    <a:latin typeface="Nunito" pitchFamily="2" charset="0"/>
                    <a:cs typeface="Arial" panose="020B0604020202020204" pitchFamily="34" charset="0"/>
                  </a:rPr>
                  <a:t>2</a:t>
                </a:r>
                <a:r>
                  <a:rPr lang="en-PH" sz="2400" dirty="0">
                    <a:latin typeface="Nunito" pitchFamily="2" charset="0"/>
                    <a:cs typeface="Arial" panose="020B0604020202020204" pitchFamily="34" charset="0"/>
                  </a:rPr>
                  <a:t> = </a:t>
                </a:r>
                <a14:m>
                  <m:oMath xmlns:m="http://schemas.openxmlformats.org/officeDocument/2006/math">
                    <m:rad>
                      <m:radPr>
                        <m:degHide m:val="on"/>
                        <m:ctrlPr>
                          <a:rPr lang="en-PH" sz="2400" i="1" smtClean="0">
                            <a:latin typeface="Cambria Math" panose="02040503050406030204" pitchFamily="18" charset="0"/>
                            <a:cs typeface="Arial" panose="020B0604020202020204" pitchFamily="34" charset="0"/>
                          </a:rPr>
                        </m:ctrlPr>
                      </m:radPr>
                      <m:deg/>
                      <m:e>
                        <m:r>
                          <a:rPr lang="en-PH" sz="2400" b="0" i="1" smtClean="0">
                            <a:latin typeface="Cambria Math" panose="02040503050406030204" pitchFamily="18" charset="0"/>
                            <a:cs typeface="Arial" panose="020B0604020202020204" pitchFamily="34" charset="0"/>
                          </a:rPr>
                          <m:t>3</m:t>
                        </m:r>
                      </m:e>
                    </m:rad>
                  </m:oMath>
                </a14:m>
                <a:r>
                  <a:rPr lang="en-PH" sz="2400" dirty="0">
                    <a:latin typeface="Nunito" pitchFamily="2" charset="0"/>
                    <a:cs typeface="Arial" panose="020B0604020202020204" pitchFamily="34" charset="0"/>
                  </a:rPr>
                  <a:t>y</a:t>
                </a:r>
                <a:r>
                  <a:rPr lang="en-PH" sz="2400" baseline="30000" dirty="0">
                    <a:latin typeface="Nunito" pitchFamily="2" charset="0"/>
                    <a:cs typeface="Arial" panose="020B0604020202020204" pitchFamily="34" charset="0"/>
                  </a:rPr>
                  <a:t>2</a:t>
                </a:r>
              </a:p>
              <a:p>
                <a:r>
                  <a:rPr lang="en-PH" sz="2400" dirty="0">
                    <a:latin typeface="Nunito" pitchFamily="2" charset="0"/>
                    <a:cs typeface="Arial" panose="020B0604020202020204" pitchFamily="34" charset="0"/>
                  </a:rPr>
                  <a:t>y = 3.4ft</a:t>
                </a: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A = (b + </a:t>
                </a:r>
                <a:r>
                  <a:rPr lang="en-PH" sz="2400" dirty="0" err="1">
                    <a:latin typeface="Nunito" pitchFamily="2" charset="0"/>
                    <a:cs typeface="Arial" panose="020B0604020202020204" pitchFamily="34" charset="0"/>
                  </a:rPr>
                  <a:t>mh</a:t>
                </a:r>
                <a:r>
                  <a:rPr lang="en-PH" sz="2400" dirty="0">
                    <a:latin typeface="Nunito" pitchFamily="2" charset="0"/>
                    <a:cs typeface="Arial" panose="020B0604020202020204" pitchFamily="34" charset="0"/>
                  </a:rPr>
                  <a:t>)h</a:t>
                </a:r>
              </a:p>
              <a:p>
                <a:r>
                  <a:rPr lang="en-PH" sz="2400" dirty="0">
                    <a:latin typeface="Nunito" pitchFamily="2" charset="0"/>
                    <a:cs typeface="Arial" panose="020B0604020202020204" pitchFamily="34" charset="0"/>
                  </a:rPr>
                  <a:t>20 = [b + 0.577(.4)]3.4</a:t>
                </a:r>
              </a:p>
              <a:p>
                <a:r>
                  <a:rPr lang="en-PH" sz="2400" b="1" dirty="0">
                    <a:latin typeface="Nunito" pitchFamily="2" charset="0"/>
                    <a:cs typeface="Arial" panose="020B0604020202020204" pitchFamily="34" charset="0"/>
                  </a:rPr>
                  <a:t>b = 3.92ft</a:t>
                </a:r>
              </a:p>
            </p:txBody>
          </p:sp>
        </mc:Choice>
        <mc:Fallback>
          <p:sp>
            <p:nvSpPr>
              <p:cNvPr id="29" name="TextBox 28">
                <a:extLst>
                  <a:ext uri="{FF2B5EF4-FFF2-40B4-BE49-F238E27FC236}">
                    <a16:creationId xmlns:a16="http://schemas.microsoft.com/office/drawing/2014/main" id="{1886046A-0BA0-6020-A8CB-338E2B79E109}"/>
                  </a:ext>
                </a:extLst>
              </p:cNvPr>
              <p:cNvSpPr txBox="1">
                <a:spLocks noRot="1" noChangeAspect="1" noMove="1" noResize="1" noEditPoints="1" noAdjustHandles="1" noChangeArrowheads="1" noChangeShapeType="1" noTextEdit="1"/>
              </p:cNvSpPr>
              <p:nvPr/>
            </p:nvSpPr>
            <p:spPr>
              <a:xfrm>
                <a:off x="3411777" y="4937109"/>
                <a:ext cx="3312125" cy="2343142"/>
              </a:xfrm>
              <a:prstGeom prst="rect">
                <a:avLst/>
              </a:prstGeom>
              <a:blipFill>
                <a:blip r:embed="rId2"/>
                <a:stretch>
                  <a:fillRect l="-2947" t="-260" r="-1842" b="-5208"/>
                </a:stretch>
              </a:blipFill>
            </p:spPr>
            <p:txBody>
              <a:bodyPr/>
              <a:lstStyle/>
              <a:p>
                <a:r>
                  <a:rPr lang="en-PH">
                    <a:noFill/>
                  </a:rPr>
                  <a:t> </a:t>
                </a:r>
              </a:p>
            </p:txBody>
          </p:sp>
        </mc:Fallback>
      </mc:AlternateContent>
      <p:sp>
        <p:nvSpPr>
          <p:cNvPr id="30" name="TextBox 29">
            <a:extLst>
              <a:ext uri="{FF2B5EF4-FFF2-40B4-BE49-F238E27FC236}">
                <a16:creationId xmlns:a16="http://schemas.microsoft.com/office/drawing/2014/main" id="{C3AF5E3B-10CB-C578-0096-ED399335B227}"/>
              </a:ext>
            </a:extLst>
          </p:cNvPr>
          <p:cNvSpPr txBox="1"/>
          <p:nvPr/>
        </p:nvSpPr>
        <p:spPr>
          <a:xfrm>
            <a:off x="6978904" y="3826596"/>
            <a:ext cx="5923416" cy="369332"/>
          </a:xfrm>
          <a:prstGeom prst="rect">
            <a:avLst/>
          </a:prstGeom>
          <a:noFill/>
        </p:spPr>
        <p:txBody>
          <a:bodyPr wrap="none" rtlCol="0">
            <a:spAutoFit/>
          </a:bodyPr>
          <a:lstStyle/>
          <a:p>
            <a:r>
              <a:rPr lang="en-PH" b="1" dirty="0">
                <a:latin typeface="Nunito" pitchFamily="2" charset="0"/>
                <a:cs typeface="Arial" panose="020B0604020202020204" pitchFamily="34" charset="0"/>
              </a:rPr>
              <a:t>TAKE NOTE: for best trapezoidal section, m = 0.577</a:t>
            </a:r>
          </a:p>
        </p:txBody>
      </p:sp>
    </p:spTree>
    <p:extLst>
      <p:ext uri="{BB962C8B-B14F-4D97-AF65-F5344CB8AC3E}">
        <p14:creationId xmlns:p14="http://schemas.microsoft.com/office/powerpoint/2010/main" val="38061601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19F6-39C4-38E4-293F-538AB159299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4EE9405-9B81-8EDB-ED2A-F3F2B19AA2CF}"/>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7372F254-DD63-B5FB-5F11-164BBA5BBCFF}"/>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D7F3A34D-F0B5-A8CD-0F5F-ED7A46D1BF6D}"/>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EBE2D5DE-6BC6-BDA1-5FDA-7C0174DC7B59}"/>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3B510548-87F6-492F-EBA1-BBCDEF80CD24}"/>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129CA06B-7407-BD0A-96BB-2AE8408C52E0}"/>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6DA39D3-76AE-AB22-A467-56E742CE036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FEA17F95-2921-6373-8E40-6C530AE2FB25}"/>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6BAB7E98-2759-CBE5-51B4-FCA4155CEF5F}"/>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EBF827D6-F91C-0723-772E-E76ACEC5BFE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A1E7ED7A-1E6A-B2A5-7C46-E1D742296991}"/>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BF349D68-D77A-5D58-D257-A7502138897C}"/>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F851D5B3-E634-5A53-EF8D-8DCF62C4BB18}"/>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B146EFD4-F698-A354-F070-DD7D7C20BD8F}"/>
              </a:ext>
            </a:extLst>
          </p:cNvPr>
          <p:cNvSpPr txBox="1"/>
          <p:nvPr/>
        </p:nvSpPr>
        <p:spPr>
          <a:xfrm>
            <a:off x="2246041" y="2025065"/>
            <a:ext cx="13795916" cy="1107996"/>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The most hydraulically efficient trapezoidal channel section to carry a discharge of 5m3/s on a bed material with a roughness n of 0.02 and a bottom slope of 1 in 200 should have a bottom width of?</a:t>
            </a:r>
          </a:p>
        </p:txBody>
      </p:sp>
      <p:sp>
        <p:nvSpPr>
          <p:cNvPr id="19" name="TextBox 12">
            <a:extLst>
              <a:ext uri="{FF2B5EF4-FFF2-40B4-BE49-F238E27FC236}">
                <a16:creationId xmlns:a16="http://schemas.microsoft.com/office/drawing/2014/main" id="{9A2CFFE0-9F39-87B6-0810-BB5A7916CCF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E6D614FA-922C-5FC3-A786-B04C991D4E9E}"/>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5CFE607F-2EFD-C315-C2A5-0BCC72607ADA}"/>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E932B264-7131-A7D2-F75A-24AA7C37CC68}"/>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C2CFCA13-BDAA-C464-CBE4-2A69D17DD52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313A1BF3-48BB-C98F-2E70-6DD09E57A15B}"/>
              </a:ext>
            </a:extLst>
          </p:cNvPr>
          <p:cNvSpPr txBox="1"/>
          <p:nvPr/>
        </p:nvSpPr>
        <p:spPr>
          <a:xfrm>
            <a:off x="1676399" y="390778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b = 1.27m</a:t>
            </a:r>
          </a:p>
        </p:txBody>
      </p:sp>
      <p:grpSp>
        <p:nvGrpSpPr>
          <p:cNvPr id="17" name="Group 16">
            <a:extLst>
              <a:ext uri="{FF2B5EF4-FFF2-40B4-BE49-F238E27FC236}">
                <a16:creationId xmlns:a16="http://schemas.microsoft.com/office/drawing/2014/main" id="{F563158C-48AD-06EC-1BB5-D9E5F5E5FCCF}"/>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52560A84-C31A-9FB6-E68D-19D2123FBB12}"/>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6D925979-A604-90B2-2261-6CC0BB1D3512}"/>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8A761D9C-06AA-5E96-EDD7-C5D2063738A2}"/>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38F3D160-C3F4-CD6F-1F40-3A3BC8B414FD}"/>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5C870EF4-AA08-D1E0-0343-93C084573725}"/>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29EFD0D6-8DA3-3389-77B4-5584AFB88BED}"/>
                  </a:ext>
                </a:extLst>
              </p:cNvPr>
              <p:cNvSpPr txBox="1"/>
              <p:nvPr/>
            </p:nvSpPr>
            <p:spPr>
              <a:xfrm>
                <a:off x="3406888" y="4937109"/>
                <a:ext cx="3622082" cy="3916008"/>
              </a:xfrm>
              <a:prstGeom prst="rect">
                <a:avLst/>
              </a:prstGeom>
              <a:noFill/>
            </p:spPr>
            <p:txBody>
              <a:bodyPr wrap="none" rtlCol="0">
                <a:spAutoFit/>
              </a:bodyPr>
              <a:lstStyle/>
              <a:p>
                <a:r>
                  <a:rPr lang="en-PH" sz="2400" dirty="0">
                    <a:latin typeface="Nunito" pitchFamily="2" charset="0"/>
                    <a:cs typeface="Arial" panose="020B0604020202020204" pitchFamily="34" charset="0"/>
                  </a:rPr>
                  <a:t>Q = </a:t>
                </a:r>
                <a14:m>
                  <m:oMath xmlns:m="http://schemas.openxmlformats.org/officeDocument/2006/math">
                    <m:f>
                      <m:fPr>
                        <m:ctrlPr>
                          <a:rPr lang="en-PH" sz="2400" i="1" smtClean="0">
                            <a:latin typeface="Cambria Math" panose="02040503050406030204" pitchFamily="18" charset="0"/>
                            <a:cs typeface="Arial" panose="020B0604020202020204" pitchFamily="34" charset="0"/>
                          </a:rPr>
                        </m:ctrlPr>
                      </m:fPr>
                      <m:num>
                        <m:r>
                          <a:rPr lang="en-PH" sz="2400" b="0" i="1" smtClean="0">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𝑛</m:t>
                        </m:r>
                      </m:den>
                    </m:f>
                  </m:oMath>
                </a14:m>
                <a:r>
                  <a:rPr lang="en-PH" sz="2400" dirty="0">
                    <a:latin typeface="Nunito" pitchFamily="2" charset="0"/>
                    <a:cs typeface="Arial" panose="020B0604020202020204" pitchFamily="34" charset="0"/>
                  </a:rPr>
                  <a:t>A</a:t>
                </a:r>
                <a14:m>
                  <m:oMath xmlns:m="http://schemas.openxmlformats.org/officeDocument/2006/math">
                    <m:sSup>
                      <m:sSupPr>
                        <m:ctrlPr>
                          <a:rPr lang="en-PH" sz="2400" i="1" dirty="0" smtClean="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R</m:t>
                        </m:r>
                      </m:e>
                      <m:sup>
                        <m:f>
                          <m:fPr>
                            <m:ctrlPr>
                              <a:rPr lang="en-PH" sz="2400" i="1" dirty="0" smtClean="0">
                                <a:latin typeface="Cambria Math" panose="02040503050406030204" pitchFamily="18" charset="0"/>
                                <a:cs typeface="Arial" panose="020B0604020202020204" pitchFamily="34" charset="0"/>
                              </a:rPr>
                            </m:ctrlPr>
                          </m:fPr>
                          <m:num>
                            <m:r>
                              <a:rPr lang="en-PH" sz="2400" b="0" i="1" dirty="0" smtClean="0">
                                <a:latin typeface="Nunito" pitchFamily="2" charset="0"/>
                                <a:cs typeface="Arial" panose="020B0604020202020204" pitchFamily="34" charset="0"/>
                              </a:rPr>
                              <m:t>2</m:t>
                            </m:r>
                          </m:num>
                          <m:den>
                            <m:r>
                              <a:rPr lang="en-PH" sz="2400" b="0" i="1" dirty="0" smtClean="0">
                                <a:latin typeface="Nunito" pitchFamily="2"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S</m:t>
                        </m:r>
                      </m:e>
                      <m:sup>
                        <m:f>
                          <m:fPr>
                            <m:ctrlPr>
                              <a:rPr lang="en-PH" sz="2400" i="1" dirty="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1</m:t>
                            </m:r>
                          </m:num>
                          <m:den>
                            <m:r>
                              <a:rPr lang="en-PH" sz="2400" b="0" i="1" dirty="0" smtClean="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Q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𝑛</m:t>
                        </m:r>
                      </m:den>
                    </m:f>
                    <m:d>
                      <m:dPr>
                        <m:ctrlPr>
                          <a:rPr lang="en-PH" sz="2400" i="1">
                            <a:latin typeface="Cambria Math" panose="02040503050406030204" pitchFamily="18" charset="0"/>
                            <a:cs typeface="Arial" panose="020B0604020202020204" pitchFamily="34" charset="0"/>
                          </a:rPr>
                        </m:ctrlPr>
                      </m:dPr>
                      <m:e>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3</m:t>
                            </m:r>
                          </m:e>
                        </m:rad>
                        <m:r>
                          <m:rPr>
                            <m:nor/>
                          </m:rPr>
                          <a:rPr lang="en-PH" sz="2400" dirty="0">
                            <a:latin typeface="Nunito" pitchFamily="2" charset="0"/>
                            <a:cs typeface="Arial" panose="020B0604020202020204" pitchFamily="34" charset="0"/>
                          </a:rPr>
                          <m:t>y</m:t>
                        </m:r>
                        <m:r>
                          <m:rPr>
                            <m:nor/>
                          </m:rPr>
                          <a:rPr lang="en-PH" sz="2400" baseline="30000" dirty="0">
                            <a:latin typeface="Nunito" pitchFamily="2" charset="0"/>
                            <a:cs typeface="Arial" panose="020B0604020202020204" pitchFamily="34" charset="0"/>
                          </a:rPr>
                          <m:t>2</m:t>
                        </m:r>
                      </m:e>
                    </m:d>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f>
                              <m:fPr>
                                <m:ctrlPr>
                                  <a:rPr lang="en-PH" sz="2400" i="1" dirty="0">
                                    <a:latin typeface="Cambria Math" panose="02040503050406030204" pitchFamily="18" charset="0"/>
                                    <a:cs typeface="Arial" panose="020B0604020202020204" pitchFamily="34" charset="0"/>
                                  </a:rPr>
                                </m:ctrlPr>
                              </m:fPr>
                              <m:num>
                                <m:r>
                                  <a:rPr lang="en-PH" sz="2400" b="0" i="1" smtClean="0">
                                    <a:latin typeface="Cambria Math" panose="02040503050406030204" pitchFamily="18" charset="0"/>
                                    <a:cs typeface="Arial" panose="020B0604020202020204" pitchFamily="34" charset="0"/>
                                  </a:rPr>
                                  <m:t>𝑦</m:t>
                                </m:r>
                              </m:num>
                              <m:den>
                                <m:r>
                                  <a:rPr lang="en-PH" sz="2400" b="0" i="1" dirty="0" smtClean="0">
                                    <a:latin typeface="Cambria Math" panose="02040503050406030204" pitchFamily="18" charset="0"/>
                                    <a:cs typeface="Arial" panose="020B0604020202020204" pitchFamily="34" charset="0"/>
                                  </a:rPr>
                                  <m:t>2</m:t>
                                </m:r>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2</m:t>
                            </m:r>
                          </m:num>
                          <m:den>
                            <m:r>
                              <a:rPr lang="en-PH" sz="2400" i="1" dirty="0">
                                <a:latin typeface="Cambria Math" panose="02040503050406030204" pitchFamily="18"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r>
                              <a:rPr lang="en-PH" sz="2400" b="0" i="1" dirty="0" smtClean="0">
                                <a:latin typeface="Cambria Math" panose="02040503050406030204" pitchFamily="18" charset="0"/>
                                <a:cs typeface="Arial" panose="020B0604020202020204" pitchFamily="34" charset="0"/>
                              </a:rPr>
                              <m:t>𝑆</m:t>
                            </m:r>
                          </m:e>
                        </m:d>
                      </m:e>
                      <m:sup>
                        <m:f>
                          <m:fPr>
                            <m:ctrlPr>
                              <a:rPr lang="en-PH" sz="2400" i="1" dirty="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1</m:t>
                            </m:r>
                          </m:num>
                          <m:den>
                            <m:r>
                              <a:rPr lang="en-PH" sz="2400" b="0" i="1" dirty="0" smtClean="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5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0.02</m:t>
                        </m:r>
                      </m:den>
                    </m:f>
                    <m:d>
                      <m:dPr>
                        <m:ctrlPr>
                          <a:rPr lang="en-PH" sz="2400" i="1">
                            <a:latin typeface="Cambria Math" panose="02040503050406030204" pitchFamily="18" charset="0"/>
                            <a:cs typeface="Arial" panose="020B0604020202020204" pitchFamily="34" charset="0"/>
                          </a:rPr>
                        </m:ctrlPr>
                      </m:dPr>
                      <m:e>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3</m:t>
                            </m:r>
                          </m:e>
                        </m:rad>
                        <m:r>
                          <m:rPr>
                            <m:nor/>
                          </m:rPr>
                          <a:rPr lang="en-PH" sz="2400" dirty="0">
                            <a:latin typeface="Nunito" pitchFamily="2" charset="0"/>
                            <a:cs typeface="Arial" panose="020B0604020202020204" pitchFamily="34" charset="0"/>
                          </a:rPr>
                          <m:t>y</m:t>
                        </m:r>
                        <m:r>
                          <m:rPr>
                            <m:nor/>
                          </m:rPr>
                          <a:rPr lang="en-PH" sz="2400" baseline="30000" dirty="0">
                            <a:latin typeface="Nunito" pitchFamily="2" charset="0"/>
                            <a:cs typeface="Arial" panose="020B0604020202020204" pitchFamily="34" charset="0"/>
                          </a:rPr>
                          <m:t>2</m:t>
                        </m:r>
                      </m:e>
                    </m:d>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f>
                              <m:fPr>
                                <m:ctrlPr>
                                  <a:rPr lang="en-PH" sz="2400" i="1" dirty="0">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𝑦</m:t>
                                </m:r>
                              </m:num>
                              <m:den>
                                <m:r>
                                  <a:rPr lang="en-PH" sz="2400" i="1" dirty="0">
                                    <a:latin typeface="Cambria Math" panose="02040503050406030204" pitchFamily="18" charset="0"/>
                                    <a:cs typeface="Arial" panose="020B0604020202020204" pitchFamily="34" charset="0"/>
                                  </a:rPr>
                                  <m:t>2</m:t>
                                </m:r>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2</m:t>
                            </m:r>
                          </m:num>
                          <m:den>
                            <m:r>
                              <a:rPr lang="en-PH" sz="2400" i="1" dirty="0">
                                <a:latin typeface="Cambria Math" panose="02040503050406030204" pitchFamily="18"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f>
                              <m:fPr>
                                <m:ctrlPr>
                                  <a:rPr lang="en-PH" sz="2400" b="0" i="1" dirty="0" smtClean="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1</m:t>
                                </m:r>
                              </m:num>
                              <m:den>
                                <m:r>
                                  <a:rPr lang="en-PH" sz="2400" b="0" i="1" dirty="0" smtClean="0">
                                    <a:latin typeface="Cambria Math" panose="02040503050406030204" pitchFamily="18" charset="0"/>
                                    <a:cs typeface="Arial" panose="020B0604020202020204" pitchFamily="34" charset="0"/>
                                  </a:rPr>
                                  <m:t>200</m:t>
                                </m:r>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1</m:t>
                            </m:r>
                          </m:num>
                          <m:den>
                            <m:r>
                              <a:rPr lang="en-PH" sz="2400" i="1" dirty="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By shift solve:</a:t>
                </a: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y = 1.1</a:t>
                </a:r>
              </a:p>
              <a:p>
                <a:endParaRPr lang="en-PH" sz="2400" dirty="0">
                  <a:latin typeface="Nunito" pitchFamily="2" charset="0"/>
                  <a:cs typeface="Arial" panose="020B0604020202020204" pitchFamily="34" charset="0"/>
                </a:endParaRPr>
              </a:p>
            </p:txBody>
          </p:sp>
        </mc:Choice>
        <mc:Fallback>
          <p:sp>
            <p:nvSpPr>
              <p:cNvPr id="31" name="TextBox 30">
                <a:extLst>
                  <a:ext uri="{FF2B5EF4-FFF2-40B4-BE49-F238E27FC236}">
                    <a16:creationId xmlns:a16="http://schemas.microsoft.com/office/drawing/2014/main" id="{29EFD0D6-8DA3-3389-77B4-5584AFB88BED}"/>
                  </a:ext>
                </a:extLst>
              </p:cNvPr>
              <p:cNvSpPr txBox="1">
                <a:spLocks noRot="1" noChangeAspect="1" noMove="1" noResize="1" noEditPoints="1" noAdjustHandles="1" noChangeArrowheads="1" noChangeShapeType="1" noTextEdit="1"/>
              </p:cNvSpPr>
              <p:nvPr/>
            </p:nvSpPr>
            <p:spPr>
              <a:xfrm>
                <a:off x="3406888" y="4937109"/>
                <a:ext cx="3622082" cy="3916008"/>
              </a:xfrm>
              <a:prstGeom prst="rect">
                <a:avLst/>
              </a:prstGeom>
              <a:blipFill>
                <a:blip r:embed="rId2"/>
                <a:stretch>
                  <a:fillRect l="-2694"/>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8C1B06C0-9681-B4C0-B912-F06525591F60}"/>
                  </a:ext>
                </a:extLst>
              </p:cNvPr>
              <p:cNvSpPr txBox="1"/>
              <p:nvPr/>
            </p:nvSpPr>
            <p:spPr>
              <a:xfrm>
                <a:off x="8379093" y="4937109"/>
                <a:ext cx="8594148" cy="2254848"/>
              </a:xfrm>
              <a:prstGeom prst="rect">
                <a:avLst/>
              </a:prstGeom>
              <a:noFill/>
            </p:spPr>
            <p:txBody>
              <a:bodyPr wrap="none" rtlCol="0">
                <a:spAutoFit/>
              </a:bodyPr>
              <a:lstStyle/>
              <a:p>
                <a:r>
                  <a:rPr lang="en-PH" sz="2400" dirty="0">
                    <a:latin typeface="Nunito" pitchFamily="2" charset="0"/>
                    <a:cs typeface="Arial" panose="020B0604020202020204" pitchFamily="34" charset="0"/>
                  </a:rPr>
                  <a:t>A = (b + </a:t>
                </a:r>
                <a:r>
                  <a:rPr lang="en-PH" sz="2400" dirty="0" err="1">
                    <a:latin typeface="Nunito" pitchFamily="2" charset="0"/>
                    <a:cs typeface="Arial" panose="020B0604020202020204" pitchFamily="34" charset="0"/>
                  </a:rPr>
                  <a:t>mh</a:t>
                </a:r>
                <a:r>
                  <a:rPr lang="en-PH" sz="2400" dirty="0">
                    <a:latin typeface="Nunito" pitchFamily="2" charset="0"/>
                    <a:cs typeface="Arial" panose="020B0604020202020204" pitchFamily="34" charset="0"/>
                  </a:rPr>
                  <a:t>)h	and for best trapezoidal section, A = </a:t>
                </a:r>
                <a14:m>
                  <m:oMath xmlns:m="http://schemas.openxmlformats.org/officeDocument/2006/math">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3</m:t>
                        </m:r>
                      </m:e>
                    </m:rad>
                  </m:oMath>
                </a14:m>
                <a:r>
                  <a:rPr lang="en-PH" sz="2400" dirty="0">
                    <a:latin typeface="Nunito" pitchFamily="2" charset="0"/>
                    <a:cs typeface="Arial" panose="020B0604020202020204" pitchFamily="34" charset="0"/>
                  </a:rPr>
                  <a:t>y</a:t>
                </a:r>
                <a:r>
                  <a:rPr lang="en-PH" sz="2400" baseline="30000" dirty="0">
                    <a:latin typeface="Nunito" pitchFamily="2" charset="0"/>
                    <a:cs typeface="Arial" panose="020B0604020202020204" pitchFamily="34" charset="0"/>
                  </a:rPr>
                  <a:t>2</a:t>
                </a:r>
              </a:p>
              <a:p>
                <a:endParaRPr lang="en-PH" sz="2400" baseline="300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Therefore:</a:t>
                </a:r>
              </a:p>
              <a:p>
                <a:endParaRPr lang="en-PH" sz="2400" dirty="0">
                  <a:latin typeface="Nunito" pitchFamily="2" charset="0"/>
                  <a:cs typeface="Arial" panose="020B0604020202020204" pitchFamily="34" charset="0"/>
                </a:endParaRPr>
              </a:p>
              <a:p>
                <a14:m>
                  <m:oMath xmlns:m="http://schemas.openxmlformats.org/officeDocument/2006/math">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3</m:t>
                        </m:r>
                      </m:e>
                    </m:rad>
                  </m:oMath>
                </a14:m>
                <a:r>
                  <a:rPr lang="en-PH" sz="2400" dirty="0">
                    <a:latin typeface="Nunito" pitchFamily="2" charset="0"/>
                    <a:cs typeface="Arial" panose="020B0604020202020204" pitchFamily="34" charset="0"/>
                  </a:rPr>
                  <a:t>y</a:t>
                </a:r>
                <a:r>
                  <a:rPr lang="en-PH" sz="2400" baseline="30000" dirty="0">
                    <a:latin typeface="Nunito" pitchFamily="2" charset="0"/>
                    <a:cs typeface="Arial" panose="020B0604020202020204" pitchFamily="34" charset="0"/>
                  </a:rPr>
                  <a:t>2</a:t>
                </a:r>
                <a:r>
                  <a:rPr lang="en-PH" sz="2400" dirty="0">
                    <a:latin typeface="Nunito" pitchFamily="2" charset="0"/>
                    <a:cs typeface="Arial" panose="020B0604020202020204" pitchFamily="34" charset="0"/>
                  </a:rPr>
                  <a:t> = [b + 0.577(1.1)] x 1.1</a:t>
                </a:r>
              </a:p>
              <a:p>
                <a:r>
                  <a:rPr lang="en-PH" sz="2400" b="1" dirty="0">
                    <a:latin typeface="Nunito" pitchFamily="2" charset="0"/>
                    <a:cs typeface="Arial" panose="020B0604020202020204" pitchFamily="34" charset="0"/>
                  </a:rPr>
                  <a:t>b = 1.27m</a:t>
                </a:r>
              </a:p>
            </p:txBody>
          </p:sp>
        </mc:Choice>
        <mc:Fallback>
          <p:sp>
            <p:nvSpPr>
              <p:cNvPr id="32" name="TextBox 31">
                <a:extLst>
                  <a:ext uri="{FF2B5EF4-FFF2-40B4-BE49-F238E27FC236}">
                    <a16:creationId xmlns:a16="http://schemas.microsoft.com/office/drawing/2014/main" id="{8C1B06C0-9681-B4C0-B912-F06525591F60}"/>
                  </a:ext>
                </a:extLst>
              </p:cNvPr>
              <p:cNvSpPr txBox="1">
                <a:spLocks noRot="1" noChangeAspect="1" noMove="1" noResize="1" noEditPoints="1" noAdjustHandles="1" noChangeArrowheads="1" noChangeShapeType="1" noTextEdit="1"/>
              </p:cNvSpPr>
              <p:nvPr/>
            </p:nvSpPr>
            <p:spPr>
              <a:xfrm>
                <a:off x="8379093" y="4937109"/>
                <a:ext cx="8594148" cy="2254848"/>
              </a:xfrm>
              <a:prstGeom prst="rect">
                <a:avLst/>
              </a:prstGeom>
              <a:blipFill>
                <a:blip r:embed="rId3"/>
                <a:stretch>
                  <a:fillRect l="-1136" t="-270" r="-355" b="-5405"/>
                </a:stretch>
              </a:blipFill>
            </p:spPr>
            <p:txBody>
              <a:bodyPr/>
              <a:lstStyle/>
              <a:p>
                <a:r>
                  <a:rPr lang="en-PH">
                    <a:noFill/>
                  </a:rPr>
                  <a:t> </a:t>
                </a:r>
              </a:p>
            </p:txBody>
          </p:sp>
        </mc:Fallback>
      </mc:AlternateContent>
    </p:spTree>
    <p:extLst>
      <p:ext uri="{BB962C8B-B14F-4D97-AF65-F5344CB8AC3E}">
        <p14:creationId xmlns:p14="http://schemas.microsoft.com/office/powerpoint/2010/main" val="16349183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E1F5E-CC67-E3EB-279A-2C3CBFEFBD5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477D8C3-255C-11C1-A75E-DC9A7551D714}"/>
              </a:ext>
            </a:extLst>
          </p:cNvPr>
          <p:cNvGrpSpPr/>
          <p:nvPr/>
        </p:nvGrpSpPr>
        <p:grpSpPr>
          <a:xfrm>
            <a:off x="-152399" y="-262359"/>
            <a:ext cx="9518720" cy="5354280"/>
            <a:chOff x="0" y="0"/>
            <a:chExt cx="27343100" cy="13716000"/>
          </a:xfrm>
          <a:noFill/>
        </p:grpSpPr>
        <p:sp>
          <p:nvSpPr>
            <p:cNvPr id="3" name="Freeform 3">
              <a:extLst>
                <a:ext uri="{FF2B5EF4-FFF2-40B4-BE49-F238E27FC236}">
                  <a16:creationId xmlns:a16="http://schemas.microsoft.com/office/drawing/2014/main" id="{06D5C1C5-BDE7-E1A1-B912-96D42AAEBB6A}"/>
                </a:ext>
              </a:extLst>
            </p:cNvPr>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sp>
          <p:nvSpPr>
            <p:cNvPr id="4" name="Freeform 4">
              <a:extLst>
                <a:ext uri="{FF2B5EF4-FFF2-40B4-BE49-F238E27FC236}">
                  <a16:creationId xmlns:a16="http://schemas.microsoft.com/office/drawing/2014/main" id="{E50D1343-AC67-2A23-C11C-2854D5D2FC8A}"/>
                </a:ext>
              </a:extLst>
            </p:cNvPr>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grpFill/>
          </p:spPr>
        </p:sp>
      </p:grpSp>
      <p:grpSp>
        <p:nvGrpSpPr>
          <p:cNvPr id="5" name="Group 5">
            <a:extLst>
              <a:ext uri="{FF2B5EF4-FFF2-40B4-BE49-F238E27FC236}">
                <a16:creationId xmlns:a16="http://schemas.microsoft.com/office/drawing/2014/main" id="{84AC3E8A-877E-9FC5-9379-3EE09762D010}"/>
              </a:ext>
            </a:extLst>
          </p:cNvPr>
          <p:cNvGrpSpPr/>
          <p:nvPr/>
        </p:nvGrpSpPr>
        <p:grpSpPr>
          <a:xfrm>
            <a:off x="1028700" y="1233888"/>
            <a:ext cx="16230600" cy="7447557"/>
            <a:chOff x="0" y="0"/>
            <a:chExt cx="4274726" cy="1718953"/>
          </a:xfrm>
        </p:grpSpPr>
        <p:sp>
          <p:nvSpPr>
            <p:cNvPr id="6" name="Freeform 6">
              <a:extLst>
                <a:ext uri="{FF2B5EF4-FFF2-40B4-BE49-F238E27FC236}">
                  <a16:creationId xmlns:a16="http://schemas.microsoft.com/office/drawing/2014/main" id="{9B1BF9B3-6791-9F65-9CBB-46E1CD7095F6}"/>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7" name="TextBox 7">
              <a:extLst>
                <a:ext uri="{FF2B5EF4-FFF2-40B4-BE49-F238E27FC236}">
                  <a16:creationId xmlns:a16="http://schemas.microsoft.com/office/drawing/2014/main" id="{7573104E-FFC4-5007-64E5-A616522C8538}"/>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65D5005E-59E3-352C-9C76-74162C460E44}"/>
              </a:ext>
            </a:extLst>
          </p:cNvPr>
          <p:cNvGrpSpPr/>
          <p:nvPr/>
        </p:nvGrpSpPr>
        <p:grpSpPr>
          <a:xfrm>
            <a:off x="5139012" y="847929"/>
            <a:ext cx="8009976" cy="864872"/>
            <a:chOff x="0" y="0"/>
            <a:chExt cx="2109623" cy="455698"/>
          </a:xfrm>
        </p:grpSpPr>
        <p:sp>
          <p:nvSpPr>
            <p:cNvPr id="9" name="Freeform 9">
              <a:extLst>
                <a:ext uri="{FF2B5EF4-FFF2-40B4-BE49-F238E27FC236}">
                  <a16:creationId xmlns:a16="http://schemas.microsoft.com/office/drawing/2014/main" id="{A7B1FA07-A85A-E73D-A57F-512C644F2189}"/>
                </a:ext>
              </a:extLst>
            </p:cNvPr>
            <p:cNvSpPr/>
            <p:nvPr/>
          </p:nvSpPr>
          <p:spPr>
            <a:xfrm>
              <a:off x="0" y="0"/>
              <a:ext cx="2109623" cy="455698"/>
            </a:xfrm>
            <a:custGeom>
              <a:avLst/>
              <a:gdLst/>
              <a:ahLst/>
              <a:cxnLst/>
              <a:rect l="l" t="t" r="r" b="b"/>
              <a:pathLst>
                <a:path w="2109623" h="455698">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id="10" name="TextBox 10">
              <a:extLst>
                <a:ext uri="{FF2B5EF4-FFF2-40B4-BE49-F238E27FC236}">
                  <a16:creationId xmlns:a16="http://schemas.microsoft.com/office/drawing/2014/main" id="{DD9B1D90-522E-309C-C7A4-7AA3C0B1D970}"/>
                </a:ext>
              </a:extLst>
            </p:cNvPr>
            <p:cNvSpPr txBox="1"/>
            <p:nvPr/>
          </p:nvSpPr>
          <p:spPr>
            <a:xfrm>
              <a:off x="0" y="-38100"/>
              <a:ext cx="2109623" cy="49379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a:extLst>
              <a:ext uri="{FF2B5EF4-FFF2-40B4-BE49-F238E27FC236}">
                <a16:creationId xmlns:a16="http://schemas.microsoft.com/office/drawing/2014/main" id="{DC5523F5-6CD0-F34D-53F7-85DFC89F3799}"/>
              </a:ext>
            </a:extLst>
          </p:cNvPr>
          <p:cNvGrpSpPr/>
          <p:nvPr/>
        </p:nvGrpSpPr>
        <p:grpSpPr>
          <a:xfrm>
            <a:off x="0" y="9599694"/>
            <a:ext cx="18287999" cy="687305"/>
            <a:chOff x="0" y="0"/>
            <a:chExt cx="5260714" cy="490218"/>
          </a:xfrm>
        </p:grpSpPr>
        <p:sp>
          <p:nvSpPr>
            <p:cNvPr id="12" name="Freeform 12">
              <a:extLst>
                <a:ext uri="{FF2B5EF4-FFF2-40B4-BE49-F238E27FC236}">
                  <a16:creationId xmlns:a16="http://schemas.microsoft.com/office/drawing/2014/main" id="{00348BE8-0E4D-0B96-558A-194BB85026FA}"/>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13" name="TextBox 13">
              <a:extLst>
                <a:ext uri="{FF2B5EF4-FFF2-40B4-BE49-F238E27FC236}">
                  <a16:creationId xmlns:a16="http://schemas.microsoft.com/office/drawing/2014/main" id="{30764B78-F4B4-847B-2BFE-1DDD209C3C3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A48366EF-D916-51B6-7A7B-C96E99B60518}"/>
              </a:ext>
            </a:extLst>
          </p:cNvPr>
          <p:cNvSpPr txBox="1"/>
          <p:nvPr/>
        </p:nvSpPr>
        <p:spPr>
          <a:xfrm>
            <a:off x="4543721" y="632820"/>
            <a:ext cx="9200557" cy="1026563"/>
          </a:xfrm>
          <a:prstGeom prst="rect">
            <a:avLst/>
          </a:prstGeom>
        </p:spPr>
        <p:txBody>
          <a:bodyPr lIns="0" tIns="0" rIns="0" bIns="0" rtlCol="0" anchor="t">
            <a:spAutoFit/>
          </a:bodyPr>
          <a:lstStyle/>
          <a:p>
            <a:pPr algn="ctr">
              <a:lnSpc>
                <a:spcPts val="9250"/>
              </a:lnSpc>
            </a:pPr>
            <a:r>
              <a:rPr lang="en-US" sz="4000" dirty="0">
                <a:solidFill>
                  <a:srgbClr val="000000"/>
                </a:solidFill>
                <a:latin typeface="Fredoka"/>
                <a:ea typeface="Fredoka"/>
                <a:cs typeface="Fredoka"/>
                <a:sym typeface="Fredoka"/>
              </a:rPr>
              <a:t>QUESTION</a:t>
            </a:r>
          </a:p>
        </p:txBody>
      </p:sp>
      <p:sp>
        <p:nvSpPr>
          <p:cNvPr id="15" name="TextBox 15">
            <a:extLst>
              <a:ext uri="{FF2B5EF4-FFF2-40B4-BE49-F238E27FC236}">
                <a16:creationId xmlns:a16="http://schemas.microsoft.com/office/drawing/2014/main" id="{F88DBD8B-7578-0DFF-1F1E-B75ACB608EC5}"/>
              </a:ext>
            </a:extLst>
          </p:cNvPr>
          <p:cNvSpPr txBox="1"/>
          <p:nvPr/>
        </p:nvSpPr>
        <p:spPr>
          <a:xfrm>
            <a:off x="2246041" y="2025065"/>
            <a:ext cx="13795916" cy="1477328"/>
          </a:xfrm>
          <a:prstGeom prst="rect">
            <a:avLst/>
          </a:prstGeom>
        </p:spPr>
        <p:txBody>
          <a:bodyPr lIns="0" tIns="0" rIns="0" bIns="0" rtlCol="0" anchor="t">
            <a:spAutoFit/>
          </a:bodyPr>
          <a:lstStyle/>
          <a:p>
            <a:pPr algn="ctr"/>
            <a:r>
              <a:rPr lang="en-US" sz="2400" b="1" dirty="0">
                <a:latin typeface="Nunito 1 Bold"/>
                <a:ea typeface="Nunito 1 Bold"/>
                <a:cs typeface="Nunito 1 Bold"/>
                <a:sym typeface="Nunito 1 Bold"/>
              </a:rPr>
              <a:t>A concrete-lined trapezoidal canal is to carry a maximum discharge of 2.0 m3/s. The required head loss over a horizontal distance of 1 km is 2.0 m. The side slope is to be set at 1:1 and the permissible b/d ratio is 3. If the Manning’s roughness coefficient is 0.015, the design depth required is?</a:t>
            </a:r>
          </a:p>
        </p:txBody>
      </p:sp>
      <p:sp>
        <p:nvSpPr>
          <p:cNvPr id="19" name="TextBox 12">
            <a:extLst>
              <a:ext uri="{FF2B5EF4-FFF2-40B4-BE49-F238E27FC236}">
                <a16:creationId xmlns:a16="http://schemas.microsoft.com/office/drawing/2014/main" id="{EF0FE250-E524-28CE-929C-666A3A60DE88}"/>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ATTRTC</a:t>
            </a:r>
            <a:r>
              <a:rPr lang="en-US" sz="2000" dirty="0">
                <a:solidFill>
                  <a:srgbClr val="000000"/>
                </a:solidFill>
                <a:latin typeface="Nunito 1"/>
                <a:ea typeface="Nunito 1"/>
                <a:cs typeface="Nunito 1"/>
                <a:sym typeface="Nunito 1"/>
              </a:rPr>
              <a:t> ABELE Review 2024</a:t>
            </a:r>
          </a:p>
        </p:txBody>
      </p:sp>
      <p:sp>
        <p:nvSpPr>
          <p:cNvPr id="20" name="TextBox 13">
            <a:extLst>
              <a:ext uri="{FF2B5EF4-FFF2-40B4-BE49-F238E27FC236}">
                <a16:creationId xmlns:a16="http://schemas.microsoft.com/office/drawing/2014/main" id="{43811572-6474-60E7-4F64-C0E8E2A021E8}"/>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p:nvGrpSpPr>
          <p:cNvPr id="23" name="Group 5">
            <a:extLst>
              <a:ext uri="{FF2B5EF4-FFF2-40B4-BE49-F238E27FC236}">
                <a16:creationId xmlns:a16="http://schemas.microsoft.com/office/drawing/2014/main" id="{9492E98F-86A6-F710-0D16-0BD3ED82D33E}"/>
              </a:ext>
            </a:extLst>
          </p:cNvPr>
          <p:cNvGrpSpPr/>
          <p:nvPr/>
        </p:nvGrpSpPr>
        <p:grpSpPr>
          <a:xfrm flipV="1">
            <a:off x="1028699" y="8766022"/>
            <a:ext cx="16230600" cy="452163"/>
            <a:chOff x="0" y="0"/>
            <a:chExt cx="4274726" cy="1718953"/>
          </a:xfrm>
        </p:grpSpPr>
        <p:sp>
          <p:nvSpPr>
            <p:cNvPr id="24" name="Freeform 6">
              <a:extLst>
                <a:ext uri="{FF2B5EF4-FFF2-40B4-BE49-F238E27FC236}">
                  <a16:creationId xmlns:a16="http://schemas.microsoft.com/office/drawing/2014/main" id="{93C37C74-721C-8222-4070-9F652DCAF36C}"/>
                </a:ext>
              </a:extLst>
            </p:cNvPr>
            <p:cNvSpPr/>
            <p:nvPr/>
          </p:nvSpPr>
          <p:spPr>
            <a:xfrm>
              <a:off x="0" y="0"/>
              <a:ext cx="4274726" cy="1718953"/>
            </a:xfrm>
            <a:custGeom>
              <a:avLst/>
              <a:gdLst/>
              <a:ahLst/>
              <a:cxnLst/>
              <a:rect l="l" t="t" r="r" b="b"/>
              <a:pathLst>
                <a:path w="4274726" h="1718953">
                  <a:moveTo>
                    <a:pt x="0" y="0"/>
                  </a:moveTo>
                  <a:lnTo>
                    <a:pt x="4274726" y="0"/>
                  </a:lnTo>
                  <a:lnTo>
                    <a:pt x="4274726" y="1718953"/>
                  </a:lnTo>
                  <a:lnTo>
                    <a:pt x="0" y="1718953"/>
                  </a:lnTo>
                  <a:close/>
                </a:path>
              </a:pathLst>
            </a:custGeom>
            <a:solidFill>
              <a:srgbClr val="F1F2F2"/>
            </a:solidFill>
          </p:spPr>
        </p:sp>
        <p:sp>
          <p:nvSpPr>
            <p:cNvPr id="25" name="TextBox 7">
              <a:extLst>
                <a:ext uri="{FF2B5EF4-FFF2-40B4-BE49-F238E27FC236}">
                  <a16:creationId xmlns:a16="http://schemas.microsoft.com/office/drawing/2014/main" id="{CF53DF81-4A7D-3299-E5DD-DEC30AC37F54}"/>
                </a:ext>
              </a:extLst>
            </p:cNvPr>
            <p:cNvSpPr txBox="1"/>
            <p:nvPr/>
          </p:nvSpPr>
          <p:spPr>
            <a:xfrm>
              <a:off x="0" y="-38100"/>
              <a:ext cx="4274726" cy="1757053"/>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5">
            <a:extLst>
              <a:ext uri="{FF2B5EF4-FFF2-40B4-BE49-F238E27FC236}">
                <a16:creationId xmlns:a16="http://schemas.microsoft.com/office/drawing/2014/main" id="{99C4469E-2271-703F-BDC1-ED1E7123FE77}"/>
              </a:ext>
            </a:extLst>
          </p:cNvPr>
          <p:cNvSpPr txBox="1"/>
          <p:nvPr/>
        </p:nvSpPr>
        <p:spPr>
          <a:xfrm>
            <a:off x="1676399" y="3907789"/>
            <a:ext cx="14935200" cy="369332"/>
          </a:xfrm>
          <a:prstGeom prst="rect">
            <a:avLst/>
          </a:prstGeom>
        </p:spPr>
        <p:txBody>
          <a:bodyPr wrap="square" lIns="0" tIns="0" rIns="0" bIns="0" rtlCol="0" anchor="t">
            <a:spAutoFit/>
          </a:bodyPr>
          <a:lstStyle/>
          <a:p>
            <a:pPr algn="just"/>
            <a:r>
              <a:rPr lang="en-US" sz="2400" dirty="0">
                <a:solidFill>
                  <a:srgbClr val="000000"/>
                </a:solidFill>
                <a:latin typeface="Nunito 1" panose="020B0604020202020204" charset="0"/>
                <a:ea typeface="Nunito 1 Bold"/>
                <a:cs typeface="Nunito 1 Bold"/>
                <a:sym typeface="Nunito 1 Bold"/>
              </a:rPr>
              <a:t>Answers: 	y = 0.56m</a:t>
            </a:r>
          </a:p>
        </p:txBody>
      </p:sp>
      <p:grpSp>
        <p:nvGrpSpPr>
          <p:cNvPr id="17" name="Group 16">
            <a:extLst>
              <a:ext uri="{FF2B5EF4-FFF2-40B4-BE49-F238E27FC236}">
                <a16:creationId xmlns:a16="http://schemas.microsoft.com/office/drawing/2014/main" id="{987FB516-7B8B-488D-4C79-0B8C3D0849FF}"/>
              </a:ext>
            </a:extLst>
          </p:cNvPr>
          <p:cNvGrpSpPr/>
          <p:nvPr/>
        </p:nvGrpSpPr>
        <p:grpSpPr>
          <a:xfrm>
            <a:off x="0" y="9599693"/>
            <a:ext cx="18287999" cy="687306"/>
            <a:chOff x="0" y="9599693"/>
            <a:chExt cx="18287999" cy="687306"/>
          </a:xfrm>
        </p:grpSpPr>
        <p:grpSp>
          <p:nvGrpSpPr>
            <p:cNvPr id="18" name="Group 11">
              <a:extLst>
                <a:ext uri="{FF2B5EF4-FFF2-40B4-BE49-F238E27FC236}">
                  <a16:creationId xmlns:a16="http://schemas.microsoft.com/office/drawing/2014/main" id="{AFC8776A-53AF-7265-5CFC-6E7F746778C7}"/>
                </a:ext>
              </a:extLst>
            </p:cNvPr>
            <p:cNvGrpSpPr/>
            <p:nvPr/>
          </p:nvGrpSpPr>
          <p:grpSpPr>
            <a:xfrm>
              <a:off x="0" y="9599694"/>
              <a:ext cx="18287999" cy="687305"/>
              <a:chOff x="0" y="0"/>
              <a:chExt cx="5260714" cy="490218"/>
            </a:xfrm>
          </p:grpSpPr>
          <p:sp>
            <p:nvSpPr>
              <p:cNvPr id="27" name="Freeform 12">
                <a:extLst>
                  <a:ext uri="{FF2B5EF4-FFF2-40B4-BE49-F238E27FC236}">
                    <a16:creationId xmlns:a16="http://schemas.microsoft.com/office/drawing/2014/main" id="{79B159CC-ABD9-CEF1-BEAB-B0FFC85ABFCD}"/>
                  </a:ext>
                </a:extLst>
              </p:cNvPr>
              <p:cNvSpPr/>
              <p:nvPr/>
            </p:nvSpPr>
            <p:spPr>
              <a:xfrm>
                <a:off x="0" y="0"/>
                <a:ext cx="5260714" cy="490218"/>
              </a:xfrm>
              <a:custGeom>
                <a:avLst/>
                <a:gdLst/>
                <a:ahLst/>
                <a:cxnLst/>
                <a:rect l="l" t="t" r="r" b="b"/>
                <a:pathLst>
                  <a:path w="5260714" h="490218">
                    <a:moveTo>
                      <a:pt x="0" y="0"/>
                    </a:moveTo>
                    <a:lnTo>
                      <a:pt x="5260714" y="0"/>
                    </a:lnTo>
                    <a:lnTo>
                      <a:pt x="5260714" y="490218"/>
                    </a:lnTo>
                    <a:lnTo>
                      <a:pt x="0" y="490218"/>
                    </a:lnTo>
                    <a:close/>
                  </a:path>
                </a:pathLst>
              </a:custGeom>
              <a:solidFill>
                <a:srgbClr val="F1F2F2"/>
              </a:solidFill>
            </p:spPr>
          </p:sp>
          <p:sp>
            <p:nvSpPr>
              <p:cNvPr id="28" name="TextBox 13">
                <a:extLst>
                  <a:ext uri="{FF2B5EF4-FFF2-40B4-BE49-F238E27FC236}">
                    <a16:creationId xmlns:a16="http://schemas.microsoft.com/office/drawing/2014/main" id="{1F5B50F0-761C-C855-50A2-14847D6173FA}"/>
                  </a:ext>
                </a:extLst>
              </p:cNvPr>
              <p:cNvSpPr txBox="1"/>
              <p:nvPr/>
            </p:nvSpPr>
            <p:spPr>
              <a:xfrm>
                <a:off x="0" y="-38100"/>
                <a:ext cx="5260714" cy="528318"/>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12">
              <a:extLst>
                <a:ext uri="{FF2B5EF4-FFF2-40B4-BE49-F238E27FC236}">
                  <a16:creationId xmlns:a16="http://schemas.microsoft.com/office/drawing/2014/main" id="{93E97FA1-1CC0-DD6A-0E0B-05FD0C224AD3}"/>
                </a:ext>
              </a:extLst>
            </p:cNvPr>
            <p:cNvSpPr txBox="1"/>
            <p:nvPr/>
          </p:nvSpPr>
          <p:spPr>
            <a:xfrm>
              <a:off x="1028700" y="9599693"/>
              <a:ext cx="7658100" cy="480901"/>
            </a:xfrm>
            <a:prstGeom prst="rect">
              <a:avLst/>
            </a:prstGeom>
          </p:spPr>
          <p:txBody>
            <a:bodyPr wrap="square" lIns="0" tIns="0" rIns="0" bIns="0" rtlCol="0" anchor="t">
              <a:spAutoFit/>
            </a:bodyPr>
            <a:lstStyle/>
            <a:p>
              <a:pPr>
                <a:lnSpc>
                  <a:spcPts val="4200"/>
                </a:lnSpc>
              </a:pPr>
              <a:r>
                <a:rPr lang="en-US" sz="2000" dirty="0" err="1">
                  <a:solidFill>
                    <a:srgbClr val="000000"/>
                  </a:solidFill>
                  <a:latin typeface="Nunito 1"/>
                  <a:ea typeface="Nunito 1"/>
                  <a:cs typeface="Nunito 1"/>
                  <a:sym typeface="Nunito 1"/>
                </a:rPr>
                <a:t>ATTRC</a:t>
              </a:r>
              <a:r>
                <a:rPr lang="en-US" sz="2000" dirty="0">
                  <a:solidFill>
                    <a:srgbClr val="000000"/>
                  </a:solidFill>
                  <a:latin typeface="Nunito 1"/>
                  <a:ea typeface="Nunito 1"/>
                  <a:cs typeface="Nunito 1"/>
                  <a:sym typeface="Nunito 1"/>
                </a:rPr>
                <a:t> ABELE Review 2025</a:t>
              </a:r>
            </a:p>
          </p:txBody>
        </p:sp>
        <p:sp>
          <p:nvSpPr>
            <p:cNvPr id="22" name="TextBox 13">
              <a:extLst>
                <a:ext uri="{FF2B5EF4-FFF2-40B4-BE49-F238E27FC236}">
                  <a16:creationId xmlns:a16="http://schemas.microsoft.com/office/drawing/2014/main" id="{937140E3-AA83-4089-D05F-D91CF7AAFC47}"/>
                </a:ext>
              </a:extLst>
            </p:cNvPr>
            <p:cNvSpPr txBox="1"/>
            <p:nvPr/>
          </p:nvSpPr>
          <p:spPr>
            <a:xfrm>
              <a:off x="10134600" y="9599693"/>
              <a:ext cx="7124700" cy="480901"/>
            </a:xfrm>
            <a:prstGeom prst="rect">
              <a:avLst/>
            </a:prstGeom>
          </p:spPr>
          <p:txBody>
            <a:bodyPr wrap="square" lIns="0" tIns="0" rIns="0" bIns="0" rtlCol="0" anchor="t">
              <a:spAutoFit/>
            </a:bodyPr>
            <a:lstStyle/>
            <a:p>
              <a:pPr algn="r">
                <a:lnSpc>
                  <a:spcPts val="4200"/>
                </a:lnSpc>
              </a:pPr>
              <a:r>
                <a:rPr lang="en-US" sz="2000" dirty="0">
                  <a:solidFill>
                    <a:srgbClr val="000000"/>
                  </a:solidFill>
                  <a:latin typeface="Nunito 1"/>
                  <a:ea typeface="Nunito 1"/>
                  <a:cs typeface="Nunito 1"/>
                  <a:sym typeface="Nunito 1"/>
                </a:rPr>
                <a:t>Irrigation and Drainage Engineering |  Open Channel</a:t>
              </a:r>
            </a:p>
          </p:txBody>
        </p:sp>
      </p:gr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0B52E8CD-2489-8422-E0BA-2A026AD64DBD}"/>
                  </a:ext>
                </a:extLst>
              </p:cNvPr>
              <p:cNvSpPr txBox="1"/>
              <p:nvPr/>
            </p:nvSpPr>
            <p:spPr>
              <a:xfrm>
                <a:off x="3406888" y="4988199"/>
                <a:ext cx="6202788" cy="3710888"/>
              </a:xfrm>
              <a:prstGeom prst="rect">
                <a:avLst/>
              </a:prstGeom>
              <a:noFill/>
            </p:spPr>
            <p:txBody>
              <a:bodyPr wrap="none" rtlCol="0">
                <a:spAutoFit/>
              </a:bodyPr>
              <a:lstStyle/>
              <a:p>
                <a:r>
                  <a:rPr lang="en-PH" sz="2400" dirty="0">
                    <a:latin typeface="Nunito" pitchFamily="2" charset="0"/>
                    <a:cs typeface="Arial" panose="020B0604020202020204" pitchFamily="34" charset="0"/>
                  </a:rPr>
                  <a:t>Q = </a:t>
                </a:r>
                <a14:m>
                  <m:oMath xmlns:m="http://schemas.openxmlformats.org/officeDocument/2006/math">
                    <m:f>
                      <m:fPr>
                        <m:ctrlPr>
                          <a:rPr lang="en-PH" sz="2400" i="1" smtClean="0">
                            <a:latin typeface="Cambria Math" panose="02040503050406030204" pitchFamily="18" charset="0"/>
                            <a:cs typeface="Arial" panose="020B0604020202020204" pitchFamily="34" charset="0"/>
                          </a:rPr>
                        </m:ctrlPr>
                      </m:fPr>
                      <m:num>
                        <m:r>
                          <a:rPr lang="en-PH" sz="2400" b="0" i="1" smtClean="0">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𝑛</m:t>
                        </m:r>
                      </m:den>
                    </m:f>
                  </m:oMath>
                </a14:m>
                <a:r>
                  <a:rPr lang="en-PH" sz="2400" dirty="0">
                    <a:latin typeface="Nunito" pitchFamily="2" charset="0"/>
                    <a:cs typeface="Arial" panose="020B0604020202020204" pitchFamily="34" charset="0"/>
                  </a:rPr>
                  <a:t>A</a:t>
                </a:r>
                <a14:m>
                  <m:oMath xmlns:m="http://schemas.openxmlformats.org/officeDocument/2006/math">
                    <m:sSup>
                      <m:sSupPr>
                        <m:ctrlPr>
                          <a:rPr lang="en-PH" sz="2400" i="1" dirty="0" smtClean="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R</m:t>
                        </m:r>
                      </m:e>
                      <m:sup>
                        <m:f>
                          <m:fPr>
                            <m:ctrlPr>
                              <a:rPr lang="en-PH" sz="2400" i="1" dirty="0" smtClean="0">
                                <a:latin typeface="Cambria Math" panose="02040503050406030204" pitchFamily="18" charset="0"/>
                                <a:cs typeface="Arial" panose="020B0604020202020204" pitchFamily="34" charset="0"/>
                              </a:rPr>
                            </m:ctrlPr>
                          </m:fPr>
                          <m:num>
                            <m:r>
                              <a:rPr lang="en-PH" sz="2400" b="0" i="1" dirty="0" smtClean="0">
                                <a:latin typeface="Nunito" pitchFamily="2" charset="0"/>
                                <a:cs typeface="Arial" panose="020B0604020202020204" pitchFamily="34" charset="0"/>
                              </a:rPr>
                              <m:t>2</m:t>
                            </m:r>
                          </m:num>
                          <m:den>
                            <m:r>
                              <a:rPr lang="en-PH" sz="2400" b="0" i="1" dirty="0" smtClean="0">
                                <a:latin typeface="Nunito" pitchFamily="2"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r>
                          <m:rPr>
                            <m:nor/>
                          </m:rPr>
                          <a:rPr lang="en-PH" sz="2400" b="0" i="0" dirty="0" smtClean="0">
                            <a:latin typeface="Nunito" pitchFamily="2" charset="0"/>
                            <a:cs typeface="Arial" panose="020B0604020202020204" pitchFamily="34" charset="0"/>
                          </a:rPr>
                          <m:t>S</m:t>
                        </m:r>
                      </m:e>
                      <m:sup>
                        <m:f>
                          <m:fPr>
                            <m:ctrlPr>
                              <a:rPr lang="en-PH" sz="2400" i="1" dirty="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1</m:t>
                            </m:r>
                          </m:num>
                          <m:den>
                            <m:r>
                              <a:rPr lang="en-PH" sz="2400" b="0" i="1" dirty="0" smtClean="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Q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𝑛</m:t>
                        </m:r>
                        <m:r>
                          <a:rPr lang="en-PH" sz="2400" i="1" smtClean="0">
                            <a:latin typeface="Cambria Math" panose="02040503050406030204" pitchFamily="18" charset="0"/>
                            <a:cs typeface="Arial" panose="020B0604020202020204" pitchFamily="34" charset="0"/>
                          </a:rPr>
                          <m:t> </m:t>
                        </m:r>
                      </m:den>
                    </m:f>
                    <m:d>
                      <m:dPr>
                        <m:begChr m:val="["/>
                        <m:endChr m:val="]"/>
                        <m:ctrlPr>
                          <a:rPr lang="en-PH" sz="2400" i="1">
                            <a:latin typeface="Cambria Math" panose="02040503050406030204" pitchFamily="18" charset="0"/>
                            <a:cs typeface="Arial" panose="020B0604020202020204" pitchFamily="34" charset="0"/>
                          </a:rPr>
                        </m:ctrlPr>
                      </m:dPr>
                      <m:e>
                        <m:r>
                          <a:rPr lang="en-PH" sz="2400" b="0" i="1" smtClean="0">
                            <a:latin typeface="Cambria Math" panose="02040503050406030204" pitchFamily="18" charset="0"/>
                            <a:cs typeface="Arial" panose="020B0604020202020204" pitchFamily="34" charset="0"/>
                          </a:rPr>
                          <m:t>𝑏</m:t>
                        </m:r>
                        <m:r>
                          <m:rPr>
                            <m:sty m:val="p"/>
                          </m:rPr>
                          <a:rPr lang="en-PH" sz="2400">
                            <a:latin typeface="Cambria Math" panose="02040503050406030204" pitchFamily="18" charset="0"/>
                            <a:cs typeface="Arial" panose="020B0604020202020204" pitchFamily="34" charset="0"/>
                          </a:rPr>
                          <m:t>h</m:t>
                        </m:r>
                        <m:r>
                          <a:rPr lang="en-PH" sz="2400">
                            <a:latin typeface="Cambria Math" panose="02040503050406030204" pitchFamily="18" charset="0"/>
                            <a:cs typeface="Arial" panose="020B0604020202020204" pitchFamily="34" charset="0"/>
                          </a:rPr>
                          <m:t>+</m:t>
                        </m:r>
                        <m:sSup>
                          <m:sSupPr>
                            <m:ctrlPr>
                              <a:rPr lang="en-PH" sz="2400" i="1">
                                <a:latin typeface="Cambria Math" panose="02040503050406030204" pitchFamily="18" charset="0"/>
                                <a:cs typeface="Arial" panose="020B0604020202020204" pitchFamily="34" charset="0"/>
                              </a:rPr>
                            </m:ctrlPr>
                          </m:sSupPr>
                          <m:e>
                            <m:r>
                              <a:rPr lang="en-PH" sz="2400" b="0" i="1" smtClean="0">
                                <a:latin typeface="Cambria Math" panose="02040503050406030204" pitchFamily="18" charset="0"/>
                                <a:cs typeface="Arial" panose="020B0604020202020204" pitchFamily="34" charset="0"/>
                              </a:rPr>
                              <m:t>𝑚</m:t>
                            </m:r>
                            <m:r>
                              <a:rPr lang="en-PH" sz="2400" i="1">
                                <a:latin typeface="Cambria Math" panose="02040503050406030204" pitchFamily="18" charset="0"/>
                                <a:cs typeface="Arial" panose="020B0604020202020204" pitchFamily="34" charset="0"/>
                              </a:rPr>
                              <m:t>h</m:t>
                            </m:r>
                          </m:e>
                          <m:sup>
                            <m:r>
                              <a:rPr lang="en-PH" sz="2400" i="1">
                                <a:latin typeface="Cambria Math" panose="02040503050406030204" pitchFamily="18" charset="0"/>
                                <a:cs typeface="Arial" panose="020B0604020202020204" pitchFamily="34" charset="0"/>
                              </a:rPr>
                              <m:t>2</m:t>
                            </m:r>
                          </m:sup>
                        </m:sSup>
                      </m:e>
                    </m:d>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f>
                              <m:fPr>
                                <m:ctrlPr>
                                  <a:rPr lang="en-PH" sz="2400" i="1" dirty="0">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𝑏</m:t>
                                </m:r>
                                <m:r>
                                  <m:rPr>
                                    <m:sty m:val="p"/>
                                  </m:rPr>
                                  <a:rPr lang="en-PH" sz="2400">
                                    <a:latin typeface="Cambria Math" panose="02040503050406030204" pitchFamily="18" charset="0"/>
                                    <a:cs typeface="Arial" panose="020B0604020202020204" pitchFamily="34" charset="0"/>
                                  </a:rPr>
                                  <m:t>h</m:t>
                                </m:r>
                                <m:r>
                                  <a:rPr lang="en-PH" sz="2400">
                                    <a:latin typeface="Cambria Math" panose="02040503050406030204" pitchFamily="18" charset="0"/>
                                    <a:cs typeface="Arial" panose="020B0604020202020204" pitchFamily="34" charset="0"/>
                                  </a:rPr>
                                  <m:t>+</m:t>
                                </m:r>
                                <m:sSup>
                                  <m:sSupPr>
                                    <m:ctrlPr>
                                      <a:rPr lang="en-PH" sz="2400" i="1">
                                        <a:latin typeface="Cambria Math" panose="02040503050406030204" pitchFamily="18" charset="0"/>
                                        <a:cs typeface="Arial" panose="020B0604020202020204" pitchFamily="34" charset="0"/>
                                      </a:rPr>
                                    </m:ctrlPr>
                                  </m:sSupPr>
                                  <m:e>
                                    <m:r>
                                      <a:rPr lang="en-PH" sz="2400" i="1">
                                        <a:latin typeface="Cambria Math" panose="02040503050406030204" pitchFamily="18" charset="0"/>
                                        <a:cs typeface="Arial" panose="020B0604020202020204" pitchFamily="34" charset="0"/>
                                      </a:rPr>
                                      <m:t>𝑚</m:t>
                                    </m:r>
                                    <m:r>
                                      <a:rPr lang="en-PH" sz="2400" i="1">
                                        <a:latin typeface="Cambria Math" panose="02040503050406030204" pitchFamily="18" charset="0"/>
                                        <a:cs typeface="Arial" panose="020B0604020202020204" pitchFamily="34" charset="0"/>
                                      </a:rPr>
                                      <m:t>h</m:t>
                                    </m:r>
                                  </m:e>
                                  <m:sup>
                                    <m:r>
                                      <a:rPr lang="en-PH" sz="2400" i="1">
                                        <a:latin typeface="Cambria Math" panose="02040503050406030204" pitchFamily="18" charset="0"/>
                                        <a:cs typeface="Arial" panose="020B0604020202020204" pitchFamily="34" charset="0"/>
                                      </a:rPr>
                                      <m:t>2</m:t>
                                    </m:r>
                                  </m:sup>
                                </m:sSup>
                              </m:num>
                              <m:den>
                                <m:r>
                                  <m:rPr>
                                    <m:nor/>
                                  </m:rPr>
                                  <a:rPr lang="en-PH" sz="2400" b="0" i="0" smtClean="0">
                                    <a:latin typeface="Cambria Math" panose="02040503050406030204" pitchFamily="18" charset="0"/>
                                    <a:cs typeface="Arial" panose="020B0604020202020204" pitchFamily="34" charset="0"/>
                                  </a:rPr>
                                  <m:t>b</m:t>
                                </m:r>
                                <m:r>
                                  <m:rPr>
                                    <m:nor/>
                                  </m:rPr>
                                  <a:rPr lang="en-PH" sz="2400">
                                    <a:latin typeface="Cambria Math" panose="02040503050406030204" pitchFamily="18" charset="0"/>
                                    <a:cs typeface="Arial" panose="020B0604020202020204" pitchFamily="34" charset="0"/>
                                  </a:rPr>
                                  <m:t> + </m:t>
                                </m:r>
                                <m:r>
                                  <m:rPr>
                                    <m:nor/>
                                  </m:rPr>
                                  <a:rPr lang="en-PH" sz="2400" dirty="0">
                                    <a:latin typeface="Nunito" pitchFamily="2" charset="0"/>
                                    <a:cs typeface="Arial" panose="020B0604020202020204" pitchFamily="34" charset="0"/>
                                  </a:rPr>
                                  <m:t>2</m:t>
                                </m:r>
                                <m:r>
                                  <m:rPr>
                                    <m:nor/>
                                  </m:rPr>
                                  <a:rPr lang="en-PH" sz="2400" dirty="0">
                                    <a:latin typeface="Nunito" pitchFamily="2" charset="0"/>
                                    <a:cs typeface="Arial" panose="020B0604020202020204" pitchFamily="34" charset="0"/>
                                  </a:rPr>
                                  <m:t>h</m:t>
                                </m:r>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1+</m:t>
                                    </m:r>
                                    <m:sSup>
                                      <m:sSupPr>
                                        <m:ctrlPr>
                                          <a:rPr lang="en-PH" sz="2400" i="1">
                                            <a:latin typeface="Cambria Math" panose="02040503050406030204" pitchFamily="18" charset="0"/>
                                            <a:cs typeface="Arial" panose="020B0604020202020204" pitchFamily="34" charset="0"/>
                                          </a:rPr>
                                        </m:ctrlPr>
                                      </m:sSupPr>
                                      <m:e>
                                        <m:r>
                                          <a:rPr lang="en-PH" sz="2400" b="0" i="1" smtClean="0">
                                            <a:latin typeface="Cambria Math" panose="02040503050406030204" pitchFamily="18" charset="0"/>
                                            <a:cs typeface="Arial" panose="020B0604020202020204" pitchFamily="34" charset="0"/>
                                          </a:rPr>
                                          <m:t>𝑚</m:t>
                                        </m:r>
                                      </m:e>
                                      <m:sup>
                                        <m:r>
                                          <a:rPr lang="en-PH" sz="2400" i="1">
                                            <a:latin typeface="Cambria Math" panose="02040503050406030204" pitchFamily="18" charset="0"/>
                                            <a:cs typeface="Arial" panose="020B0604020202020204" pitchFamily="34" charset="0"/>
                                          </a:rPr>
                                          <m:t>2</m:t>
                                        </m:r>
                                      </m:sup>
                                    </m:sSup>
                                  </m:e>
                                </m:rad>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2</m:t>
                            </m:r>
                          </m:num>
                          <m:den>
                            <m:r>
                              <a:rPr lang="en-PH" sz="2400" i="1" dirty="0">
                                <a:latin typeface="Cambria Math" panose="02040503050406030204" pitchFamily="18"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r>
                              <a:rPr lang="en-PH" sz="2400" b="0" i="1" dirty="0" smtClean="0">
                                <a:latin typeface="Cambria Math" panose="02040503050406030204" pitchFamily="18" charset="0"/>
                                <a:cs typeface="Arial" panose="020B0604020202020204" pitchFamily="34" charset="0"/>
                              </a:rPr>
                              <m:t>𝑆</m:t>
                            </m:r>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1</m:t>
                            </m:r>
                          </m:num>
                          <m:den>
                            <m:r>
                              <a:rPr lang="en-PH" sz="2400" i="1" dirty="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2 = </a:t>
                </a:r>
                <a14:m>
                  <m:oMath xmlns:m="http://schemas.openxmlformats.org/officeDocument/2006/math">
                    <m:f>
                      <m:fPr>
                        <m:ctrlPr>
                          <a:rPr lang="en-PH" sz="2400" i="1">
                            <a:latin typeface="Cambria Math" panose="02040503050406030204" pitchFamily="18" charset="0"/>
                            <a:cs typeface="Arial" panose="020B0604020202020204" pitchFamily="34" charset="0"/>
                          </a:rPr>
                        </m:ctrlPr>
                      </m:fPr>
                      <m:num>
                        <m:r>
                          <a:rPr lang="en-PH" sz="2400" i="1">
                            <a:latin typeface="Cambria Math" panose="02040503050406030204" pitchFamily="18" charset="0"/>
                            <a:cs typeface="Arial" panose="020B0604020202020204" pitchFamily="34" charset="0"/>
                          </a:rPr>
                          <m:t>1</m:t>
                        </m:r>
                      </m:num>
                      <m:den>
                        <m:r>
                          <a:rPr lang="en-PH" sz="2400" b="0" i="1" smtClean="0">
                            <a:latin typeface="Cambria Math" panose="02040503050406030204" pitchFamily="18" charset="0"/>
                            <a:cs typeface="Arial" panose="020B0604020202020204" pitchFamily="34" charset="0"/>
                          </a:rPr>
                          <m:t>0.015</m:t>
                        </m:r>
                      </m:den>
                    </m:f>
                    <m:d>
                      <m:dPr>
                        <m:begChr m:val="["/>
                        <m:endChr m:val="]"/>
                        <m:ctrlPr>
                          <a:rPr lang="en-PH" sz="2400" b="0" i="0" smtClean="0">
                            <a:latin typeface="Cambria Math" panose="02040503050406030204" pitchFamily="18" charset="0"/>
                            <a:cs typeface="Arial" panose="020B0604020202020204" pitchFamily="34" charset="0"/>
                          </a:rPr>
                        </m:ctrlPr>
                      </m:dPr>
                      <m:e>
                        <m:d>
                          <m:dPr>
                            <m:ctrlPr>
                              <a:rPr lang="en-PH" sz="2400" b="0" smtClean="0">
                                <a:latin typeface="Cambria Math" panose="02040503050406030204" pitchFamily="18" charset="0"/>
                                <a:cs typeface="Arial" panose="020B0604020202020204" pitchFamily="34" charset="0"/>
                              </a:rPr>
                            </m:ctrlPr>
                          </m:dPr>
                          <m:e>
                            <m:r>
                              <a:rPr lang="en-PH" sz="2400" b="0" i="0" smtClean="0">
                                <a:latin typeface="Cambria Math" panose="02040503050406030204" pitchFamily="18" charset="0"/>
                                <a:cs typeface="Arial" panose="020B0604020202020204" pitchFamily="34" charset="0"/>
                              </a:rPr>
                              <m:t>3</m:t>
                            </m:r>
                            <m:r>
                              <m:rPr>
                                <m:sty m:val="p"/>
                              </m:rPr>
                              <a:rPr lang="en-PH" sz="2400" b="0" i="0" smtClean="0">
                                <a:latin typeface="Cambria Math" panose="02040503050406030204" pitchFamily="18" charset="0"/>
                                <a:cs typeface="Arial" panose="020B0604020202020204" pitchFamily="34" charset="0"/>
                              </a:rPr>
                              <m:t>h</m:t>
                            </m:r>
                          </m:e>
                        </m:d>
                        <m:r>
                          <m:rPr>
                            <m:sty m:val="p"/>
                          </m:rPr>
                          <a:rPr lang="en-PH" sz="2400" b="0" i="0" smtClean="0">
                            <a:latin typeface="Cambria Math" panose="02040503050406030204" pitchFamily="18" charset="0"/>
                            <a:cs typeface="Arial" panose="020B0604020202020204" pitchFamily="34" charset="0"/>
                          </a:rPr>
                          <m:t>h</m:t>
                        </m:r>
                        <m:r>
                          <a:rPr lang="en-PH" sz="2400" b="0" i="0" smtClean="0">
                            <a:latin typeface="Cambria Math" panose="02040503050406030204" pitchFamily="18" charset="0"/>
                            <a:cs typeface="Arial" panose="020B0604020202020204" pitchFamily="34" charset="0"/>
                          </a:rPr>
                          <m:t>+</m:t>
                        </m:r>
                        <m:sSup>
                          <m:sSupPr>
                            <m:ctrlPr>
                              <a:rPr lang="en-PH" sz="2400" i="1">
                                <a:latin typeface="Cambria Math" panose="02040503050406030204" pitchFamily="18" charset="0"/>
                                <a:cs typeface="Arial" panose="020B0604020202020204" pitchFamily="34" charset="0"/>
                              </a:rPr>
                            </m:ctrlPr>
                          </m:sSupPr>
                          <m:e>
                            <m:r>
                              <a:rPr lang="en-PH" sz="2400" i="1">
                                <a:latin typeface="Cambria Math" panose="02040503050406030204" pitchFamily="18" charset="0"/>
                                <a:cs typeface="Arial" panose="020B0604020202020204" pitchFamily="34" charset="0"/>
                              </a:rPr>
                              <m:t>h</m:t>
                            </m:r>
                          </m:e>
                          <m:sup>
                            <m:r>
                              <a:rPr lang="en-PH" sz="2400" i="1">
                                <a:latin typeface="Cambria Math" panose="02040503050406030204" pitchFamily="18" charset="0"/>
                                <a:cs typeface="Arial" panose="020B0604020202020204" pitchFamily="34" charset="0"/>
                              </a:rPr>
                              <m:t>2</m:t>
                            </m:r>
                          </m:sup>
                        </m:sSup>
                      </m:e>
                    </m:d>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f>
                              <m:fPr>
                                <m:ctrlPr>
                                  <a:rPr lang="en-PH" sz="2400" i="1" dirty="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3</m:t>
                                </m:r>
                                <m:r>
                                  <a:rPr lang="en-PH" sz="2400" b="0" i="1" dirty="0" smtClean="0">
                                    <a:latin typeface="Cambria Math" panose="02040503050406030204" pitchFamily="18" charset="0"/>
                                    <a:cs typeface="Arial" panose="020B0604020202020204" pitchFamily="34" charset="0"/>
                                  </a:rPr>
                                  <m:t>h</m:t>
                                </m:r>
                                <m:r>
                                  <a:rPr lang="en-PH" sz="2400" b="0" i="1" baseline="30000" dirty="0" smtClean="0">
                                    <a:latin typeface="Cambria Math" panose="02040503050406030204" pitchFamily="18" charset="0"/>
                                    <a:cs typeface="Arial" panose="020B0604020202020204" pitchFamily="34" charset="0"/>
                                  </a:rPr>
                                  <m:t>2</m:t>
                                </m:r>
                                <m:r>
                                  <a:rPr lang="en-PH" sz="2400" b="0" i="1" dirty="0" smtClean="0">
                                    <a:latin typeface="Cambria Math" panose="02040503050406030204" pitchFamily="18" charset="0"/>
                                    <a:cs typeface="Arial" panose="020B0604020202020204" pitchFamily="34" charset="0"/>
                                  </a:rPr>
                                  <m:t>+ </m:t>
                                </m:r>
                                <m:sSup>
                                  <m:sSupPr>
                                    <m:ctrlPr>
                                      <a:rPr lang="en-PH" sz="2400" i="1">
                                        <a:latin typeface="Cambria Math" panose="02040503050406030204" pitchFamily="18" charset="0"/>
                                        <a:cs typeface="Arial" panose="020B0604020202020204" pitchFamily="34" charset="0"/>
                                      </a:rPr>
                                    </m:ctrlPr>
                                  </m:sSupPr>
                                  <m:e>
                                    <m:r>
                                      <a:rPr lang="en-PH" sz="2400" i="1">
                                        <a:latin typeface="Cambria Math" panose="02040503050406030204" pitchFamily="18" charset="0"/>
                                        <a:cs typeface="Arial" panose="020B0604020202020204" pitchFamily="34" charset="0"/>
                                      </a:rPr>
                                      <m:t>h</m:t>
                                    </m:r>
                                  </m:e>
                                  <m:sup>
                                    <m:r>
                                      <a:rPr lang="en-PH" sz="2400" i="1">
                                        <a:latin typeface="Cambria Math" panose="02040503050406030204" pitchFamily="18" charset="0"/>
                                        <a:cs typeface="Arial" panose="020B0604020202020204" pitchFamily="34" charset="0"/>
                                      </a:rPr>
                                      <m:t>2</m:t>
                                    </m:r>
                                  </m:sup>
                                </m:sSup>
                              </m:num>
                              <m:den>
                                <m:r>
                                  <m:rPr>
                                    <m:nor/>
                                  </m:rPr>
                                  <a:rPr lang="en-PH" sz="2400" b="0" i="0" smtClean="0">
                                    <a:latin typeface="Cambria Math" panose="02040503050406030204" pitchFamily="18" charset="0"/>
                                    <a:cs typeface="Arial" panose="020B0604020202020204" pitchFamily="34" charset="0"/>
                                  </a:rPr>
                                  <m:t>3</m:t>
                                </m:r>
                                <m:r>
                                  <m:rPr>
                                    <m:nor/>
                                  </m:rPr>
                                  <a:rPr lang="en-PH" sz="2400" b="0" i="0" smtClean="0">
                                    <a:latin typeface="Cambria Math" panose="02040503050406030204" pitchFamily="18" charset="0"/>
                                    <a:cs typeface="Arial" panose="020B0604020202020204" pitchFamily="34" charset="0"/>
                                  </a:rPr>
                                  <m:t>h</m:t>
                                </m:r>
                                <m:r>
                                  <m:rPr>
                                    <m:nor/>
                                  </m:rPr>
                                  <a:rPr lang="en-PH" sz="2400" b="0" i="0" smtClean="0">
                                    <a:latin typeface="Cambria Math" panose="02040503050406030204" pitchFamily="18" charset="0"/>
                                    <a:cs typeface="Arial" panose="020B0604020202020204" pitchFamily="34" charset="0"/>
                                  </a:rPr>
                                  <m:t> + </m:t>
                                </m:r>
                                <m:r>
                                  <m:rPr>
                                    <m:nor/>
                                  </m:rPr>
                                  <a:rPr lang="en-PH" sz="2400" dirty="0">
                                    <a:latin typeface="Nunito" pitchFamily="2" charset="0"/>
                                    <a:cs typeface="Arial" panose="020B0604020202020204" pitchFamily="34" charset="0"/>
                                  </a:rPr>
                                  <m:t>2</m:t>
                                </m:r>
                                <m:r>
                                  <m:rPr>
                                    <m:nor/>
                                  </m:rPr>
                                  <a:rPr lang="en-PH" sz="2400" dirty="0">
                                    <a:latin typeface="Nunito" pitchFamily="2" charset="0"/>
                                    <a:cs typeface="Arial" panose="020B0604020202020204" pitchFamily="34" charset="0"/>
                                  </a:rPr>
                                  <m:t>h</m:t>
                                </m:r>
                                <m:rad>
                                  <m:radPr>
                                    <m:degHide m:val="on"/>
                                    <m:ctrlPr>
                                      <a:rPr lang="en-PH" sz="2400" i="1">
                                        <a:latin typeface="Cambria Math" panose="02040503050406030204" pitchFamily="18" charset="0"/>
                                        <a:cs typeface="Arial" panose="020B0604020202020204" pitchFamily="34" charset="0"/>
                                      </a:rPr>
                                    </m:ctrlPr>
                                  </m:radPr>
                                  <m:deg/>
                                  <m:e>
                                    <m:r>
                                      <a:rPr lang="en-PH" sz="2400" i="1">
                                        <a:latin typeface="Cambria Math" panose="02040503050406030204" pitchFamily="18" charset="0"/>
                                        <a:cs typeface="Arial" panose="020B0604020202020204" pitchFamily="34" charset="0"/>
                                      </a:rPr>
                                      <m:t>1+</m:t>
                                    </m:r>
                                    <m:sSup>
                                      <m:sSupPr>
                                        <m:ctrlPr>
                                          <a:rPr lang="en-PH" sz="2400" i="1">
                                            <a:latin typeface="Cambria Math" panose="02040503050406030204" pitchFamily="18" charset="0"/>
                                            <a:cs typeface="Arial" panose="020B0604020202020204" pitchFamily="34" charset="0"/>
                                          </a:rPr>
                                        </m:ctrlPr>
                                      </m:sSupPr>
                                      <m:e>
                                        <m:r>
                                          <a:rPr lang="en-PH" sz="2400" b="0" i="1" smtClean="0">
                                            <a:latin typeface="Cambria Math" panose="02040503050406030204" pitchFamily="18" charset="0"/>
                                            <a:cs typeface="Arial" panose="020B0604020202020204" pitchFamily="34" charset="0"/>
                                          </a:rPr>
                                          <m:t>1</m:t>
                                        </m:r>
                                      </m:e>
                                      <m:sup>
                                        <m:r>
                                          <a:rPr lang="en-PH" sz="2400" i="1">
                                            <a:latin typeface="Cambria Math" panose="02040503050406030204" pitchFamily="18" charset="0"/>
                                            <a:cs typeface="Arial" panose="020B0604020202020204" pitchFamily="34" charset="0"/>
                                          </a:rPr>
                                          <m:t>2</m:t>
                                        </m:r>
                                      </m:sup>
                                    </m:sSup>
                                  </m:e>
                                </m:rad>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2</m:t>
                            </m:r>
                          </m:num>
                          <m:den>
                            <m:r>
                              <a:rPr lang="en-PH" sz="2400" i="1" dirty="0">
                                <a:latin typeface="Cambria Math" panose="02040503050406030204" pitchFamily="18" charset="0"/>
                                <a:cs typeface="Arial" panose="020B0604020202020204" pitchFamily="34" charset="0"/>
                              </a:rPr>
                              <m:t>3</m:t>
                            </m:r>
                          </m:den>
                        </m:f>
                      </m:sup>
                    </m:sSup>
                    <m:sSup>
                      <m:sSupPr>
                        <m:ctrlPr>
                          <a:rPr lang="en-PH" sz="2400" i="1" dirty="0">
                            <a:latin typeface="Cambria Math" panose="02040503050406030204" pitchFamily="18" charset="0"/>
                            <a:cs typeface="Arial" panose="020B0604020202020204" pitchFamily="34" charset="0"/>
                          </a:rPr>
                        </m:ctrlPr>
                      </m:sSupPr>
                      <m:e>
                        <m:d>
                          <m:dPr>
                            <m:ctrlPr>
                              <a:rPr lang="en-PH" sz="2400" i="1" dirty="0">
                                <a:latin typeface="Cambria Math" panose="02040503050406030204" pitchFamily="18" charset="0"/>
                                <a:cs typeface="Arial" panose="020B0604020202020204" pitchFamily="34" charset="0"/>
                              </a:rPr>
                            </m:ctrlPr>
                          </m:dPr>
                          <m:e>
                            <m:f>
                              <m:fPr>
                                <m:ctrlPr>
                                  <a:rPr lang="en-PH" sz="2400" b="0" i="1" dirty="0" smtClean="0">
                                    <a:latin typeface="Cambria Math" panose="02040503050406030204" pitchFamily="18" charset="0"/>
                                    <a:cs typeface="Arial" panose="020B0604020202020204" pitchFamily="34" charset="0"/>
                                  </a:rPr>
                                </m:ctrlPr>
                              </m:fPr>
                              <m:num>
                                <m:r>
                                  <a:rPr lang="en-PH" sz="2400" b="0" i="1" dirty="0" smtClean="0">
                                    <a:latin typeface="Cambria Math" panose="02040503050406030204" pitchFamily="18" charset="0"/>
                                    <a:cs typeface="Arial" panose="020B0604020202020204" pitchFamily="34" charset="0"/>
                                  </a:rPr>
                                  <m:t>2</m:t>
                                </m:r>
                              </m:num>
                              <m:den>
                                <m:r>
                                  <a:rPr lang="en-PH" sz="2400" b="0" i="1" dirty="0" smtClean="0">
                                    <a:latin typeface="Cambria Math" panose="02040503050406030204" pitchFamily="18" charset="0"/>
                                    <a:cs typeface="Arial" panose="020B0604020202020204" pitchFamily="34" charset="0"/>
                                  </a:rPr>
                                  <m:t>1000</m:t>
                                </m:r>
                              </m:den>
                            </m:f>
                          </m:e>
                        </m:d>
                      </m:e>
                      <m:sup>
                        <m:f>
                          <m:fPr>
                            <m:ctrlPr>
                              <a:rPr lang="en-PH" sz="2400" i="1" dirty="0">
                                <a:latin typeface="Cambria Math" panose="02040503050406030204" pitchFamily="18" charset="0"/>
                                <a:cs typeface="Arial" panose="020B0604020202020204" pitchFamily="34" charset="0"/>
                              </a:rPr>
                            </m:ctrlPr>
                          </m:fPr>
                          <m:num>
                            <m:r>
                              <a:rPr lang="en-PH" sz="2400" i="1" dirty="0">
                                <a:latin typeface="Cambria Math" panose="02040503050406030204" pitchFamily="18" charset="0"/>
                                <a:cs typeface="Arial" panose="020B0604020202020204" pitchFamily="34" charset="0"/>
                              </a:rPr>
                              <m:t>1</m:t>
                            </m:r>
                          </m:num>
                          <m:den>
                            <m:r>
                              <a:rPr lang="en-PH" sz="2400" i="1" dirty="0">
                                <a:latin typeface="Cambria Math" panose="02040503050406030204" pitchFamily="18" charset="0"/>
                                <a:cs typeface="Arial" panose="020B0604020202020204" pitchFamily="34" charset="0"/>
                              </a:rPr>
                              <m:t>2</m:t>
                            </m:r>
                          </m:den>
                        </m:f>
                      </m:sup>
                    </m:sSup>
                  </m:oMath>
                </a14:m>
                <a:endParaRPr lang="en-PH" sz="2400" dirty="0">
                  <a:latin typeface="Nunito" pitchFamily="2" charset="0"/>
                  <a:cs typeface="Arial" panose="020B0604020202020204" pitchFamily="34" charset="0"/>
                </a:endParaRPr>
              </a:p>
              <a:p>
                <a:endParaRPr lang="en-PH" sz="2400" dirty="0">
                  <a:latin typeface="Nunito" pitchFamily="2" charset="0"/>
                  <a:cs typeface="Arial" panose="020B0604020202020204" pitchFamily="34" charset="0"/>
                </a:endParaRPr>
              </a:p>
              <a:p>
                <a:r>
                  <a:rPr lang="en-PH" sz="2400" dirty="0">
                    <a:latin typeface="Nunito" pitchFamily="2" charset="0"/>
                    <a:cs typeface="Arial" panose="020B0604020202020204" pitchFamily="34" charset="0"/>
                  </a:rPr>
                  <a:t>By shift solve:</a:t>
                </a:r>
              </a:p>
              <a:p>
                <a:endParaRPr lang="en-PH" sz="2400" dirty="0">
                  <a:latin typeface="Nunito" pitchFamily="2" charset="0"/>
                  <a:cs typeface="Arial" panose="020B0604020202020204" pitchFamily="34" charset="0"/>
                </a:endParaRPr>
              </a:p>
              <a:p>
                <a:r>
                  <a:rPr lang="en-PH" sz="2400" b="1" dirty="0">
                    <a:latin typeface="Nunito" pitchFamily="2" charset="0"/>
                    <a:cs typeface="Arial" panose="020B0604020202020204" pitchFamily="34" charset="0"/>
                  </a:rPr>
                  <a:t>y = 0.56m</a:t>
                </a:r>
              </a:p>
            </p:txBody>
          </p:sp>
        </mc:Choice>
        <mc:Fallback>
          <p:sp>
            <p:nvSpPr>
              <p:cNvPr id="29" name="TextBox 28">
                <a:extLst>
                  <a:ext uri="{FF2B5EF4-FFF2-40B4-BE49-F238E27FC236}">
                    <a16:creationId xmlns:a16="http://schemas.microsoft.com/office/drawing/2014/main" id="{0B52E8CD-2489-8422-E0BA-2A026AD64DBD}"/>
                  </a:ext>
                </a:extLst>
              </p:cNvPr>
              <p:cNvSpPr txBox="1">
                <a:spLocks noRot="1" noChangeAspect="1" noMove="1" noResize="1" noEditPoints="1" noAdjustHandles="1" noChangeArrowheads="1" noChangeShapeType="1" noTextEdit="1"/>
              </p:cNvSpPr>
              <p:nvPr/>
            </p:nvSpPr>
            <p:spPr>
              <a:xfrm>
                <a:off x="3406888" y="4988199"/>
                <a:ext cx="6202788" cy="3710888"/>
              </a:xfrm>
              <a:prstGeom prst="rect">
                <a:avLst/>
              </a:prstGeom>
              <a:blipFill>
                <a:blip r:embed="rId2"/>
                <a:stretch>
                  <a:fillRect l="-1573" b="-821"/>
                </a:stretch>
              </a:blipFill>
            </p:spPr>
            <p:txBody>
              <a:bodyPr/>
              <a:lstStyle/>
              <a:p>
                <a:r>
                  <a:rPr lang="en-PH">
                    <a:noFill/>
                  </a:rPr>
                  <a:t> </a:t>
                </a:r>
              </a:p>
            </p:txBody>
          </p:sp>
        </mc:Fallback>
      </mc:AlternateContent>
      <p:sp>
        <p:nvSpPr>
          <p:cNvPr id="30" name="TextBox 29">
            <a:extLst>
              <a:ext uri="{FF2B5EF4-FFF2-40B4-BE49-F238E27FC236}">
                <a16:creationId xmlns:a16="http://schemas.microsoft.com/office/drawing/2014/main" id="{6EF68F07-1BB5-9BA5-3B25-5D4D7CD5C0CA}"/>
              </a:ext>
            </a:extLst>
          </p:cNvPr>
          <p:cNvSpPr txBox="1"/>
          <p:nvPr/>
        </p:nvSpPr>
        <p:spPr>
          <a:xfrm>
            <a:off x="5768365" y="3897767"/>
            <a:ext cx="12635069" cy="1200329"/>
          </a:xfrm>
          <a:prstGeom prst="rect">
            <a:avLst/>
          </a:prstGeom>
          <a:noFill/>
        </p:spPr>
        <p:txBody>
          <a:bodyPr wrap="square" rtlCol="0">
            <a:spAutoFit/>
          </a:bodyPr>
          <a:lstStyle/>
          <a:p>
            <a:r>
              <a:rPr lang="en-PH" sz="2400" dirty="0">
                <a:latin typeface="Nunito" pitchFamily="2" charset="0"/>
                <a:cs typeface="Arial" panose="020B0604020202020204" pitchFamily="34" charset="0"/>
              </a:rPr>
              <a:t>Given: b/d = 3 or b/h = 3</a:t>
            </a:r>
          </a:p>
          <a:p>
            <a:r>
              <a:rPr lang="en-PH" sz="2400" dirty="0">
                <a:latin typeface="Nunito" pitchFamily="2" charset="0"/>
                <a:cs typeface="Arial" panose="020B0604020202020204" pitchFamily="34" charset="0"/>
              </a:rPr>
              <a:t>Therefore, b can be expressed in terms of h. We can rewrite it as b = 3h.</a:t>
            </a:r>
          </a:p>
          <a:p>
            <a:r>
              <a:rPr lang="en-PH" sz="2400" dirty="0">
                <a:latin typeface="Nunito" pitchFamily="2" charset="0"/>
                <a:cs typeface="Arial" panose="020B0604020202020204" pitchFamily="34" charset="0"/>
              </a:rPr>
              <a:t>Replacing all b values to 3h, we have</a:t>
            </a:r>
          </a:p>
        </p:txBody>
      </p:sp>
    </p:spTree>
    <p:extLst>
      <p:ext uri="{BB962C8B-B14F-4D97-AF65-F5344CB8AC3E}">
        <p14:creationId xmlns:p14="http://schemas.microsoft.com/office/powerpoint/2010/main" val="39062383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18288000" cy="10287000"/>
            <a:chOff x="0" y="0"/>
            <a:chExt cx="27343100" cy="13716000"/>
          </a:xfrm>
        </p:grpSpPr>
        <p:sp>
          <p:nvSpPr>
            <p:cNvPr id="3" name="Freeform 3"/>
            <p:cNvSpPr/>
            <p:nvPr/>
          </p:nvSpPr>
          <p:spPr>
            <a:xfrm>
              <a:off x="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3627100" y="0"/>
              <a:ext cx="13716000" cy="13716000"/>
            </a:xfrm>
            <a:custGeom>
              <a:avLst/>
              <a:gdLst/>
              <a:ahLst/>
              <a:cxnLst/>
              <a:rect l="l" t="t" r="r" b="b"/>
              <a:pathLst>
                <a:path w="13716000" h="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8" name="Freeform 8"/>
          <p:cNvSpPr/>
          <p:nvPr/>
        </p:nvSpPr>
        <p:spPr>
          <a:xfrm>
            <a:off x="12076251" y="1662606"/>
            <a:ext cx="2942276" cy="2942276"/>
          </a:xfrm>
          <a:custGeom>
            <a:avLst/>
            <a:gdLst/>
            <a:ahLst/>
            <a:cxnLst/>
            <a:rect l="l" t="t" r="r" b="b"/>
            <a:pathLst>
              <a:path w="2942276" h="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flipH="1">
            <a:off x="2120044" y="6010601"/>
            <a:ext cx="3395204" cy="1049427"/>
          </a:xfrm>
          <a:custGeom>
            <a:avLst/>
            <a:gdLst/>
            <a:ahLst/>
            <a:cxnLst/>
            <a:rect l="l" t="t" r="r" b="b"/>
            <a:pathLst>
              <a:path w="3395204" h="1049427">
                <a:moveTo>
                  <a:pt x="3395205" y="0"/>
                </a:moveTo>
                <a:lnTo>
                  <a:pt x="0" y="0"/>
                </a:lnTo>
                <a:lnTo>
                  <a:pt x="0" y="1049427"/>
                </a:lnTo>
                <a:lnTo>
                  <a:pt x="3395205" y="1049427"/>
                </a:lnTo>
                <a:lnTo>
                  <a:pt x="3395205"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3269473" y="3960262"/>
            <a:ext cx="11749054" cy="1793183"/>
          </a:xfrm>
          <a:prstGeom prst="rect">
            <a:avLst/>
          </a:prstGeom>
        </p:spPr>
        <p:txBody>
          <a:bodyPr lIns="0" tIns="0" rIns="0" bIns="0" rtlCol="0" anchor="t">
            <a:spAutoFit/>
          </a:bodyPr>
          <a:lstStyle/>
          <a:p>
            <a:pPr algn="ctr">
              <a:lnSpc>
                <a:spcPts val="14620"/>
              </a:lnSpc>
            </a:pPr>
            <a:r>
              <a:rPr lang="en-US" sz="10443" dirty="0">
                <a:solidFill>
                  <a:srgbClr val="000000"/>
                </a:solidFill>
                <a:latin typeface="Fredoka"/>
                <a:ea typeface="Fredoka"/>
                <a:cs typeface="Fredoka"/>
                <a:sym typeface="Fredoka"/>
              </a:rPr>
              <a:t>THANK YOU</a:t>
            </a:r>
          </a:p>
        </p:txBody>
      </p:sp>
      <p:grpSp>
        <p:nvGrpSpPr>
          <p:cNvPr id="14" name="Group 5">
            <a:extLst>
              <a:ext uri="{FF2B5EF4-FFF2-40B4-BE49-F238E27FC236}">
                <a16:creationId xmlns:a16="http://schemas.microsoft.com/office/drawing/2014/main" id="{997EE1D9-F945-1E98-51E8-4649CFE2F648}"/>
              </a:ext>
            </a:extLst>
          </p:cNvPr>
          <p:cNvGrpSpPr/>
          <p:nvPr/>
        </p:nvGrpSpPr>
        <p:grpSpPr>
          <a:xfrm>
            <a:off x="0" y="8353252"/>
            <a:ext cx="18288000" cy="1420979"/>
            <a:chOff x="0" y="0"/>
            <a:chExt cx="5260714" cy="374250"/>
          </a:xfrm>
        </p:grpSpPr>
        <p:sp>
          <p:nvSpPr>
            <p:cNvPr id="15" name="Freeform 6">
              <a:extLst>
                <a:ext uri="{FF2B5EF4-FFF2-40B4-BE49-F238E27FC236}">
                  <a16:creationId xmlns:a16="http://schemas.microsoft.com/office/drawing/2014/main" id="{F64EC73E-B5C2-A4A2-DE7F-F8267FECCE9E}"/>
                </a:ext>
              </a:extLst>
            </p:cNvPr>
            <p:cNvSpPr/>
            <p:nvPr/>
          </p:nvSpPr>
          <p:spPr>
            <a:xfrm>
              <a:off x="0" y="0"/>
              <a:ext cx="5260714" cy="374250"/>
            </a:xfrm>
            <a:custGeom>
              <a:avLst/>
              <a:gdLst/>
              <a:ahLst/>
              <a:cxnLst/>
              <a:rect l="l" t="t" r="r" b="b"/>
              <a:pathLst>
                <a:path w="5260714" h="374250">
                  <a:moveTo>
                    <a:pt x="0" y="0"/>
                  </a:moveTo>
                  <a:lnTo>
                    <a:pt x="5260714" y="0"/>
                  </a:lnTo>
                  <a:lnTo>
                    <a:pt x="5260714" y="374250"/>
                  </a:lnTo>
                  <a:lnTo>
                    <a:pt x="0" y="374250"/>
                  </a:lnTo>
                  <a:close/>
                </a:path>
              </a:pathLst>
            </a:custGeom>
            <a:solidFill>
              <a:srgbClr val="F1F2F2"/>
            </a:solidFill>
          </p:spPr>
        </p:sp>
        <p:sp>
          <p:nvSpPr>
            <p:cNvPr id="16" name="TextBox 7">
              <a:extLst>
                <a:ext uri="{FF2B5EF4-FFF2-40B4-BE49-F238E27FC236}">
                  <a16:creationId xmlns:a16="http://schemas.microsoft.com/office/drawing/2014/main" id="{6F825F64-2141-C165-F5DF-496290D8BF74}"/>
                </a:ext>
              </a:extLst>
            </p:cNvPr>
            <p:cNvSpPr txBox="1"/>
            <p:nvPr/>
          </p:nvSpPr>
          <p:spPr>
            <a:xfrm>
              <a:off x="0" y="-38100"/>
              <a:ext cx="5260714" cy="41235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2">
            <a:extLst>
              <a:ext uri="{FF2B5EF4-FFF2-40B4-BE49-F238E27FC236}">
                <a16:creationId xmlns:a16="http://schemas.microsoft.com/office/drawing/2014/main" id="{A3D2CCD0-A1A3-BAB4-2B30-07CAC39D47D8}"/>
              </a:ext>
            </a:extLst>
          </p:cNvPr>
          <p:cNvSpPr txBox="1"/>
          <p:nvPr/>
        </p:nvSpPr>
        <p:spPr>
          <a:xfrm>
            <a:off x="1028700" y="8743950"/>
            <a:ext cx="5577893" cy="514350"/>
          </a:xfrm>
          <a:prstGeom prst="rect">
            <a:avLst/>
          </a:prstGeom>
        </p:spPr>
        <p:txBody>
          <a:bodyPr lIns="0" tIns="0" rIns="0" bIns="0" rtlCol="0" anchor="t">
            <a:spAutoFit/>
          </a:bodyPr>
          <a:lstStyle/>
          <a:p>
            <a:pPr algn="l">
              <a:lnSpc>
                <a:spcPts val="4200"/>
              </a:lnSpc>
            </a:pPr>
            <a:r>
              <a:rPr lang="en-US" sz="3000" dirty="0">
                <a:solidFill>
                  <a:srgbClr val="000000"/>
                </a:solidFill>
                <a:latin typeface="Nunito 1"/>
                <a:ea typeface="Nunito 1"/>
                <a:cs typeface="Nunito 1"/>
                <a:sym typeface="Nunito 1"/>
              </a:rPr>
              <a:t>ABELE | 2025</a:t>
            </a:r>
          </a:p>
        </p:txBody>
      </p:sp>
      <p:sp>
        <p:nvSpPr>
          <p:cNvPr id="18" name="TextBox 13">
            <a:extLst>
              <a:ext uri="{FF2B5EF4-FFF2-40B4-BE49-F238E27FC236}">
                <a16:creationId xmlns:a16="http://schemas.microsoft.com/office/drawing/2014/main" id="{2702E126-B5B5-4F09-A901-BC28BFBCF505}"/>
              </a:ext>
            </a:extLst>
          </p:cNvPr>
          <p:cNvSpPr txBox="1"/>
          <p:nvPr/>
        </p:nvSpPr>
        <p:spPr>
          <a:xfrm>
            <a:off x="12777754" y="8743950"/>
            <a:ext cx="4481546" cy="514350"/>
          </a:xfrm>
          <a:prstGeom prst="rect">
            <a:avLst/>
          </a:prstGeom>
        </p:spPr>
        <p:txBody>
          <a:bodyPr lIns="0" tIns="0" rIns="0" bIns="0" rtlCol="0" anchor="t">
            <a:spAutoFit/>
          </a:bodyPr>
          <a:lstStyle/>
          <a:p>
            <a:pPr algn="r">
              <a:lnSpc>
                <a:spcPts val="4200"/>
              </a:lnSpc>
            </a:pPr>
            <a:r>
              <a:rPr lang="en-US" sz="3000" dirty="0" err="1">
                <a:solidFill>
                  <a:srgbClr val="000000"/>
                </a:solidFill>
                <a:latin typeface="Nunito 1"/>
                <a:ea typeface="Nunito 1"/>
                <a:cs typeface="Nunito 1"/>
                <a:sym typeface="Nunito 1"/>
              </a:rPr>
              <a:t>ATTRTC</a:t>
            </a:r>
            <a:r>
              <a:rPr lang="en-US" sz="3000" dirty="0">
                <a:solidFill>
                  <a:srgbClr val="000000"/>
                </a:solidFill>
                <a:latin typeface="Nunito 1"/>
                <a:ea typeface="Nunito 1"/>
                <a:cs typeface="Nunito 1"/>
                <a:sym typeface="Nunito 1"/>
              </a:rPr>
              <a:t> - Iligan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8958</TotalTime>
  <Words>5434</Words>
  <Application>Microsoft Office PowerPoint</Application>
  <PresentationFormat>Custom</PresentationFormat>
  <Paragraphs>808</Paragraphs>
  <Slides>64</Slides>
  <Notes>47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Fredoka</vt:lpstr>
      <vt:lpstr>Nunito</vt:lpstr>
      <vt:lpstr>Canva Sans</vt:lpstr>
      <vt:lpstr>Calibri</vt:lpstr>
      <vt:lpstr>Nunito 1 Bold</vt:lpstr>
      <vt:lpstr>__Inter_d65c78</vt:lpstr>
      <vt:lpstr>Cambria Math</vt:lpstr>
      <vt:lpstr>Nunito 1</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ATTRTC Review</dc:title>
  <dc:creator>Nicole Jane J. Lim</dc:creator>
  <cp:lastModifiedBy>Nicole Jane Lim</cp:lastModifiedBy>
  <cp:revision>165</cp:revision>
  <dcterms:created xsi:type="dcterms:W3CDTF">2006-08-16T00:00:00Z</dcterms:created>
  <dcterms:modified xsi:type="dcterms:W3CDTF">2025-08-05T07:27:22Z</dcterms:modified>
  <dc:identifier>DAGRv5agEMg</dc:identifier>
</cp:coreProperties>
</file>