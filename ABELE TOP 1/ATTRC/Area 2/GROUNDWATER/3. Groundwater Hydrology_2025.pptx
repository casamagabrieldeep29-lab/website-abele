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52"/>
  </p:notesMasterIdLst>
  <p:sldIdLst>
    <p:sldId id="256" r:id="rId2"/>
    <p:sldId id="257" r:id="rId3"/>
    <p:sldId id="300" r:id="rId4"/>
    <p:sldId id="345" r:id="rId5"/>
    <p:sldId id="349" r:id="rId6"/>
    <p:sldId id="368" r:id="rId7"/>
    <p:sldId id="376" r:id="rId8"/>
    <p:sldId id="361" r:id="rId9"/>
    <p:sldId id="362" r:id="rId10"/>
    <p:sldId id="360" r:id="rId11"/>
    <p:sldId id="357" r:id="rId12"/>
    <p:sldId id="364" r:id="rId13"/>
    <p:sldId id="401" r:id="rId14"/>
    <p:sldId id="369" r:id="rId15"/>
    <p:sldId id="365" r:id="rId16"/>
    <p:sldId id="399" r:id="rId17"/>
    <p:sldId id="402" r:id="rId18"/>
    <p:sldId id="370" r:id="rId19"/>
    <p:sldId id="372" r:id="rId20"/>
    <p:sldId id="374" r:id="rId21"/>
    <p:sldId id="377" r:id="rId22"/>
    <p:sldId id="378" r:id="rId23"/>
    <p:sldId id="379" r:id="rId24"/>
    <p:sldId id="380" r:id="rId25"/>
    <p:sldId id="356" r:id="rId26"/>
    <p:sldId id="367" r:id="rId27"/>
    <p:sldId id="381" r:id="rId28"/>
    <p:sldId id="382" r:id="rId29"/>
    <p:sldId id="383" r:id="rId30"/>
    <p:sldId id="385" r:id="rId31"/>
    <p:sldId id="384" r:id="rId32"/>
    <p:sldId id="316" r:id="rId33"/>
    <p:sldId id="390" r:id="rId34"/>
    <p:sldId id="389" r:id="rId35"/>
    <p:sldId id="388" r:id="rId36"/>
    <p:sldId id="386" r:id="rId37"/>
    <p:sldId id="400" r:id="rId38"/>
    <p:sldId id="391" r:id="rId39"/>
    <p:sldId id="393" r:id="rId40"/>
    <p:sldId id="394" r:id="rId41"/>
    <p:sldId id="403" r:id="rId42"/>
    <p:sldId id="405" r:id="rId43"/>
    <p:sldId id="406" r:id="rId44"/>
    <p:sldId id="407" r:id="rId45"/>
    <p:sldId id="395" r:id="rId46"/>
    <p:sldId id="396" r:id="rId47"/>
    <p:sldId id="408" r:id="rId48"/>
    <p:sldId id="397" r:id="rId49"/>
    <p:sldId id="398" r:id="rId50"/>
    <p:sldId id="271" r:id="rId51"/>
  </p:sldIdLst>
  <p:sldSz cx="18288000" cy="10287000"/>
  <p:notesSz cx="6858000" cy="9144000"/>
  <p:embeddedFontLst>
    <p:embeddedFont>
      <p:font typeface="Cambria" panose="02040503050406030204" pitchFamily="18" charset="0"/>
      <p:regular r:id="rId53"/>
      <p:bold r:id="rId54"/>
      <p:italic r:id="rId55"/>
      <p:boldItalic r:id="rId56"/>
    </p:embeddedFont>
    <p:embeddedFont>
      <p:font typeface="Cambria Math" panose="02040503050406030204" pitchFamily="18" charset="0"/>
      <p:regular r:id="rId57"/>
    </p:embeddedFont>
    <p:embeddedFont>
      <p:font typeface="Canva Sans" panose="020B0604020202020204" charset="0"/>
      <p:regular r:id="rId58"/>
    </p:embeddedFont>
    <p:embeddedFont>
      <p:font typeface="Fredoka" pitchFamily="2" charset="-79"/>
      <p:regular r:id="rId59"/>
      <p:bold r:id="rId60"/>
    </p:embeddedFont>
    <p:embeddedFont>
      <p:font typeface="Fredoka SemiBold" pitchFamily="2" charset="-79"/>
      <p:bold r:id="rId61"/>
    </p:embeddedFont>
    <p:embeddedFont>
      <p:font typeface="Nunito" pitchFamily="2" charset="0"/>
      <p:regular r:id="rId62"/>
      <p:bold r:id="rId63"/>
      <p:italic r:id="rId64"/>
      <p:boldItalic r:id="rId65"/>
    </p:embeddedFont>
    <p:embeddedFont>
      <p:font typeface="Nunito 1" panose="020B0604020202020204" charset="0"/>
      <p:regular r:id="rId66"/>
    </p:embeddedFont>
    <p:embeddedFont>
      <p:font typeface="Nunito 1 Bold" panose="020B0604020202020204" charset="0"/>
      <p:regular r:id="rId6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2F2"/>
    <a:srgbClr val="F1F2F2"/>
    <a:srgbClr val="FFFF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84869" autoAdjust="0"/>
  </p:normalViewPr>
  <p:slideViewPr>
    <p:cSldViewPr>
      <p:cViewPr varScale="1">
        <p:scale>
          <a:sx n="42" d="100"/>
          <a:sy n="42" d="100"/>
        </p:scale>
        <p:origin x="1493"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1.fntdata"/><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1.fntdata"/><Relationship Id="rId58" Type="http://schemas.openxmlformats.org/officeDocument/2006/relationships/font" Target="fonts/font6.fntdata"/><Relationship Id="rId66" Type="http://schemas.openxmlformats.org/officeDocument/2006/relationships/font" Target="fonts/font14.fntdata"/><Relationship Id="rId5" Type="http://schemas.openxmlformats.org/officeDocument/2006/relationships/slide" Target="slides/slide4.xml"/><Relationship Id="rId61" Type="http://schemas.openxmlformats.org/officeDocument/2006/relationships/font" Target="fonts/font9.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4.fntdata"/><Relationship Id="rId64" Type="http://schemas.openxmlformats.org/officeDocument/2006/relationships/font" Target="fonts/font12.fntdata"/><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7.fntdata"/><Relationship Id="rId67"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2.fntdata"/><Relationship Id="rId62" Type="http://schemas.openxmlformats.org/officeDocument/2006/relationships/font" Target="fonts/font10.fntdata"/><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5.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60" Type="http://schemas.openxmlformats.org/officeDocument/2006/relationships/font" Target="fonts/font8.fntdata"/><Relationship Id="rId65"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2BD163-B8EE-451D-AFA3-A94063D858EC}" type="datetimeFigureOut">
              <a:rPr lang="en-PH" smtClean="0"/>
              <a:t>05/08/2025</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4731FA-A794-438D-9C93-55A23472C33A}" type="slidenum">
              <a:rPr lang="en-PH" smtClean="0"/>
              <a:t>‹#›</a:t>
            </a:fld>
            <a:endParaRPr lang="en-PH"/>
          </a:p>
        </p:txBody>
      </p:sp>
    </p:spTree>
    <p:extLst>
      <p:ext uri="{BB962C8B-B14F-4D97-AF65-F5344CB8AC3E}">
        <p14:creationId xmlns:p14="http://schemas.microsoft.com/office/powerpoint/2010/main" val="2202196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E74731FA-A794-438D-9C93-55A23472C33A}" type="slidenum">
              <a:rPr lang="en-PH" smtClean="0"/>
              <a:t>1</a:t>
            </a:fld>
            <a:endParaRPr lang="en-PH"/>
          </a:p>
        </p:txBody>
      </p:sp>
    </p:spTree>
    <p:extLst>
      <p:ext uri="{BB962C8B-B14F-4D97-AF65-F5344CB8AC3E}">
        <p14:creationId xmlns:p14="http://schemas.microsoft.com/office/powerpoint/2010/main" val="2672761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E74731FA-A794-438D-9C93-55A23472C33A}" type="slidenum">
              <a:rPr lang="en-PH" smtClean="0"/>
              <a:t>6</a:t>
            </a:fld>
            <a:endParaRPr lang="en-PH"/>
          </a:p>
        </p:txBody>
      </p:sp>
    </p:spTree>
    <p:extLst>
      <p:ext uri="{BB962C8B-B14F-4D97-AF65-F5344CB8AC3E}">
        <p14:creationId xmlns:p14="http://schemas.microsoft.com/office/powerpoint/2010/main" val="6416171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EF13A-C8B4-E501-4079-932B20397B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B4B53D-DB96-8883-BA99-5D33154600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3F2625-F6E8-0CDE-8E5D-30F55321D3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D38B55-DFC6-AB7D-A281-39EB8437827A}"/>
              </a:ext>
            </a:extLst>
          </p:cNvPr>
          <p:cNvSpPr>
            <a:spLocks noGrp="1"/>
          </p:cNvSpPr>
          <p:nvPr>
            <p:ph type="sldNum" sz="quarter" idx="5"/>
          </p:nvPr>
        </p:nvSpPr>
        <p:spPr/>
        <p:txBody>
          <a:bodyPr/>
          <a:lstStyle/>
          <a:p>
            <a:fld id="{E74731FA-A794-438D-9C93-55A23472C33A}" type="slidenum">
              <a:rPr lang="en-PH" smtClean="0"/>
              <a:t>7</a:t>
            </a:fld>
            <a:endParaRPr lang="en-PH"/>
          </a:p>
        </p:txBody>
      </p:sp>
    </p:spTree>
    <p:extLst>
      <p:ext uri="{BB962C8B-B14F-4D97-AF65-F5344CB8AC3E}">
        <p14:creationId xmlns:p14="http://schemas.microsoft.com/office/powerpoint/2010/main" val="39570293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E74731FA-A794-438D-9C93-55A23472C33A}" type="slidenum">
              <a:rPr lang="en-PH" smtClean="0"/>
              <a:t>8</a:t>
            </a:fld>
            <a:endParaRPr lang="en-PH"/>
          </a:p>
        </p:txBody>
      </p:sp>
    </p:spTree>
    <p:extLst>
      <p:ext uri="{BB962C8B-B14F-4D97-AF65-F5344CB8AC3E}">
        <p14:creationId xmlns:p14="http://schemas.microsoft.com/office/powerpoint/2010/main" val="1308140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E74731FA-A794-438D-9C93-55A23472C33A}" type="slidenum">
              <a:rPr lang="en-PH" smtClean="0"/>
              <a:t>9</a:t>
            </a:fld>
            <a:endParaRPr lang="en-PH"/>
          </a:p>
        </p:txBody>
      </p:sp>
    </p:spTree>
    <p:extLst>
      <p:ext uri="{BB962C8B-B14F-4D97-AF65-F5344CB8AC3E}">
        <p14:creationId xmlns:p14="http://schemas.microsoft.com/office/powerpoint/2010/main" val="35034129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E74731FA-A794-438D-9C93-55A23472C33A}" type="slidenum">
              <a:rPr lang="en-PH" smtClean="0"/>
              <a:t>10</a:t>
            </a:fld>
            <a:endParaRPr lang="en-PH"/>
          </a:p>
        </p:txBody>
      </p:sp>
    </p:spTree>
    <p:extLst>
      <p:ext uri="{BB962C8B-B14F-4D97-AF65-F5344CB8AC3E}">
        <p14:creationId xmlns:p14="http://schemas.microsoft.com/office/powerpoint/2010/main" val="36232378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E74731FA-A794-438D-9C93-55A23472C33A}" type="slidenum">
              <a:rPr lang="en-PH" smtClean="0"/>
              <a:t>11</a:t>
            </a:fld>
            <a:endParaRPr lang="en-PH"/>
          </a:p>
        </p:txBody>
      </p:sp>
    </p:spTree>
    <p:extLst>
      <p:ext uri="{BB962C8B-B14F-4D97-AF65-F5344CB8AC3E}">
        <p14:creationId xmlns:p14="http://schemas.microsoft.com/office/powerpoint/2010/main" val="28285489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E74731FA-A794-438D-9C93-55A23472C33A}" type="slidenum">
              <a:rPr lang="en-PH" smtClean="0"/>
              <a:t>12</a:t>
            </a:fld>
            <a:endParaRPr lang="en-PH"/>
          </a:p>
        </p:txBody>
      </p:sp>
    </p:spTree>
    <p:extLst>
      <p:ext uri="{BB962C8B-B14F-4D97-AF65-F5344CB8AC3E}">
        <p14:creationId xmlns:p14="http://schemas.microsoft.com/office/powerpoint/2010/main" val="9839744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570F7-73C3-FD9D-7ED1-1A24B37D2F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6464B8-CFF3-8612-B27B-AE96BD0B19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507FEB-A887-BF24-8329-3C701C54C968}"/>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19EAE118-18C2-89FD-6B50-1137CD4F9262}"/>
              </a:ext>
            </a:extLst>
          </p:cNvPr>
          <p:cNvSpPr>
            <a:spLocks noGrp="1"/>
          </p:cNvSpPr>
          <p:nvPr>
            <p:ph type="sldNum" sz="quarter" idx="5"/>
          </p:nvPr>
        </p:nvSpPr>
        <p:spPr/>
        <p:txBody>
          <a:bodyPr/>
          <a:lstStyle/>
          <a:p>
            <a:fld id="{E74731FA-A794-438D-9C93-55A23472C33A}" type="slidenum">
              <a:rPr lang="en-PH" smtClean="0"/>
              <a:t>13</a:t>
            </a:fld>
            <a:endParaRPr lang="en-PH"/>
          </a:p>
        </p:txBody>
      </p:sp>
    </p:spTree>
    <p:extLst>
      <p:ext uri="{BB962C8B-B14F-4D97-AF65-F5344CB8AC3E}">
        <p14:creationId xmlns:p14="http://schemas.microsoft.com/office/powerpoint/2010/main" val="17947491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E74731FA-A794-438D-9C93-55A23472C33A}" type="slidenum">
              <a:rPr lang="en-PH" smtClean="0"/>
              <a:t>14</a:t>
            </a:fld>
            <a:endParaRPr lang="en-PH"/>
          </a:p>
        </p:txBody>
      </p:sp>
    </p:spTree>
    <p:extLst>
      <p:ext uri="{BB962C8B-B14F-4D97-AF65-F5344CB8AC3E}">
        <p14:creationId xmlns:p14="http://schemas.microsoft.com/office/powerpoint/2010/main" val="2519013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D259C-A7D0-8E41-846F-C06CBBB69A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7BFD07-A02D-07FA-F067-FA3B22C75D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66AC64-D313-5BCE-FAE0-7A7104BFED98}"/>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144DAD9A-9077-5B7E-38D7-1F45754E734B}"/>
              </a:ext>
            </a:extLst>
          </p:cNvPr>
          <p:cNvSpPr>
            <a:spLocks noGrp="1"/>
          </p:cNvSpPr>
          <p:nvPr>
            <p:ph type="sldNum" sz="quarter" idx="5"/>
          </p:nvPr>
        </p:nvSpPr>
        <p:spPr/>
        <p:txBody>
          <a:bodyPr/>
          <a:lstStyle/>
          <a:p>
            <a:fld id="{E74731FA-A794-438D-9C93-55A23472C33A}" type="slidenum">
              <a:rPr lang="en-PH" smtClean="0"/>
              <a:t>16</a:t>
            </a:fld>
            <a:endParaRPr lang="en-PH"/>
          </a:p>
        </p:txBody>
      </p:sp>
    </p:spTree>
    <p:extLst>
      <p:ext uri="{BB962C8B-B14F-4D97-AF65-F5344CB8AC3E}">
        <p14:creationId xmlns:p14="http://schemas.microsoft.com/office/powerpoint/2010/main" val="4796658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E74731FA-A794-438D-9C93-55A23472C33A}" type="slidenum">
              <a:rPr lang="en-PH" smtClean="0"/>
              <a:t>18</a:t>
            </a:fld>
            <a:endParaRPr lang="en-PH"/>
          </a:p>
        </p:txBody>
      </p:sp>
    </p:spTree>
    <p:extLst>
      <p:ext uri="{BB962C8B-B14F-4D97-AF65-F5344CB8AC3E}">
        <p14:creationId xmlns:p14="http://schemas.microsoft.com/office/powerpoint/2010/main" val="2687682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E74731FA-A794-438D-9C93-55A23472C33A}" type="slidenum">
              <a:rPr lang="en-PH" smtClean="0"/>
              <a:t>19</a:t>
            </a:fld>
            <a:endParaRPr lang="en-PH"/>
          </a:p>
        </p:txBody>
      </p:sp>
    </p:spTree>
    <p:extLst>
      <p:ext uri="{BB962C8B-B14F-4D97-AF65-F5344CB8AC3E}">
        <p14:creationId xmlns:p14="http://schemas.microsoft.com/office/powerpoint/2010/main" val="26722706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40324-42D0-4C5D-7149-8F7B6B59A1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68AA05-3AA3-0DBE-863C-63798837C2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ED9793-C07B-FE23-0F56-BCA3AB812011}"/>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7A7FFAB0-55A3-CDE2-A3BF-085945EDF70F}"/>
              </a:ext>
            </a:extLst>
          </p:cNvPr>
          <p:cNvSpPr>
            <a:spLocks noGrp="1"/>
          </p:cNvSpPr>
          <p:nvPr>
            <p:ph type="sldNum" sz="quarter" idx="5"/>
          </p:nvPr>
        </p:nvSpPr>
        <p:spPr/>
        <p:txBody>
          <a:bodyPr/>
          <a:lstStyle/>
          <a:p>
            <a:fld id="{E74731FA-A794-438D-9C93-55A23472C33A}" type="slidenum">
              <a:rPr lang="en-PH" smtClean="0"/>
              <a:t>20</a:t>
            </a:fld>
            <a:endParaRPr lang="en-PH"/>
          </a:p>
        </p:txBody>
      </p:sp>
    </p:spTree>
    <p:extLst>
      <p:ext uri="{BB962C8B-B14F-4D97-AF65-F5344CB8AC3E}">
        <p14:creationId xmlns:p14="http://schemas.microsoft.com/office/powerpoint/2010/main" val="14766567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F92AB-B9CC-9530-C0C2-6589E0662C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D25B4B-E4AD-67E0-0238-DDD86153CA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1F8F1-C5D6-C6BE-859D-9C0C6C9D089A}"/>
              </a:ext>
            </a:extLst>
          </p:cNvPr>
          <p:cNvSpPr>
            <a:spLocks noGrp="1"/>
          </p:cNvSpPr>
          <p:nvPr>
            <p:ph type="body" idx="1"/>
          </p:nvPr>
        </p:nvSpPr>
        <p:spPr/>
        <p:txBody>
          <a:bodyPr/>
          <a:lstStyle/>
          <a:p>
            <a:pPr algn="l"/>
            <a:endParaRPr lang="en-PH" dirty="0"/>
          </a:p>
        </p:txBody>
      </p:sp>
      <p:sp>
        <p:nvSpPr>
          <p:cNvPr id="4" name="Slide Number Placeholder 3">
            <a:extLst>
              <a:ext uri="{FF2B5EF4-FFF2-40B4-BE49-F238E27FC236}">
                <a16:creationId xmlns:a16="http://schemas.microsoft.com/office/drawing/2014/main" id="{20D7E674-2689-AA41-6C6F-8FA775DBE512}"/>
              </a:ext>
            </a:extLst>
          </p:cNvPr>
          <p:cNvSpPr>
            <a:spLocks noGrp="1"/>
          </p:cNvSpPr>
          <p:nvPr>
            <p:ph type="sldNum" sz="quarter" idx="5"/>
          </p:nvPr>
        </p:nvSpPr>
        <p:spPr/>
        <p:txBody>
          <a:bodyPr/>
          <a:lstStyle/>
          <a:p>
            <a:fld id="{E74731FA-A794-438D-9C93-55A23472C33A}" type="slidenum">
              <a:rPr lang="en-PH" smtClean="0"/>
              <a:t>21</a:t>
            </a:fld>
            <a:endParaRPr lang="en-PH"/>
          </a:p>
        </p:txBody>
      </p:sp>
    </p:spTree>
    <p:extLst>
      <p:ext uri="{BB962C8B-B14F-4D97-AF65-F5344CB8AC3E}">
        <p14:creationId xmlns:p14="http://schemas.microsoft.com/office/powerpoint/2010/main" val="26836964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D6A17-F2D3-7710-7114-753810B8CA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5465DB-2EC1-8320-88D7-0CA23B3BE1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0E18CB-66BD-2602-081B-357A422B739A}"/>
              </a:ext>
            </a:extLst>
          </p:cNvPr>
          <p:cNvSpPr>
            <a:spLocks noGrp="1"/>
          </p:cNvSpPr>
          <p:nvPr>
            <p:ph type="body" idx="1"/>
          </p:nvPr>
        </p:nvSpPr>
        <p:spPr/>
        <p:txBody>
          <a:bodyPr/>
          <a:lstStyle/>
          <a:p>
            <a:pPr algn="l"/>
            <a:endParaRPr lang="en-PH" dirty="0"/>
          </a:p>
        </p:txBody>
      </p:sp>
      <p:sp>
        <p:nvSpPr>
          <p:cNvPr id="4" name="Slide Number Placeholder 3">
            <a:extLst>
              <a:ext uri="{FF2B5EF4-FFF2-40B4-BE49-F238E27FC236}">
                <a16:creationId xmlns:a16="http://schemas.microsoft.com/office/drawing/2014/main" id="{E8F5A14D-84DA-A9C6-7D31-0BD71BB354CB}"/>
              </a:ext>
            </a:extLst>
          </p:cNvPr>
          <p:cNvSpPr>
            <a:spLocks noGrp="1"/>
          </p:cNvSpPr>
          <p:nvPr>
            <p:ph type="sldNum" sz="quarter" idx="5"/>
          </p:nvPr>
        </p:nvSpPr>
        <p:spPr/>
        <p:txBody>
          <a:bodyPr/>
          <a:lstStyle/>
          <a:p>
            <a:fld id="{E74731FA-A794-438D-9C93-55A23472C33A}" type="slidenum">
              <a:rPr lang="en-PH" smtClean="0"/>
              <a:t>22</a:t>
            </a:fld>
            <a:endParaRPr lang="en-PH"/>
          </a:p>
        </p:txBody>
      </p:sp>
    </p:spTree>
    <p:extLst>
      <p:ext uri="{BB962C8B-B14F-4D97-AF65-F5344CB8AC3E}">
        <p14:creationId xmlns:p14="http://schemas.microsoft.com/office/powerpoint/2010/main" val="180489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23373-D22B-B18E-A62D-6D94244711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7852F4-B4B8-F0F7-6C5C-78AC89D6907E}"/>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179ED5B0-2149-D41F-53FA-C5BEA1031039}"/>
                  </a:ext>
                </a:extLst>
              </p:cNvPr>
              <p:cNvSpPr>
                <a:spLocks noGrp="1"/>
              </p:cNvSpPr>
              <p:nvPr>
                <p:ph type="body" idx="1"/>
              </p:nvPr>
            </p:nvSpPr>
            <p:spPr/>
            <p:txBody>
              <a:bodyPr/>
              <a:lstStyle/>
              <a:p>
                <a:r>
                  <a:rPr lang="en-US" dirty="0"/>
                  <a:t>GWS/A x Sy</a:t>
                </a:r>
              </a:p>
              <a:p>
                <a:endParaRPr lang="en-US" dirty="0"/>
              </a:p>
              <a:p>
                <a:pPr algn="just">
                  <a:tabLst>
                    <a:tab pos="4221163" algn="l"/>
                  </a:tabLst>
                </a:pPr>
                <a14:m>
                  <m:oMath xmlns:m="http://schemas.openxmlformats.org/officeDocument/2006/math">
                    <m:r>
                      <m:rPr>
                        <m:nor/>
                      </m:rPr>
                      <a:rPr lang="en-US" i="0" smtClean="0">
                        <a:solidFill>
                          <a:srgbClr val="000000"/>
                        </a:solidFill>
                        <a:latin typeface="Cambria" panose="02040503050406030204" pitchFamily="18" charset="0"/>
                        <a:ea typeface="Cambria" panose="02040503050406030204" pitchFamily="18" charset="0"/>
                        <a:cs typeface="Nunito 1 Bold"/>
                        <a:sym typeface="Nunito 1 Bold"/>
                      </a:rPr>
                      <m:t>∆</m:t>
                    </m:r>
                    <m:r>
                      <m:rPr>
                        <m:nor/>
                      </m:rPr>
                      <a:rPr lang="en-PH" b="0" i="0" smtClean="0">
                        <a:solidFill>
                          <a:srgbClr val="000000"/>
                        </a:solidFill>
                        <a:latin typeface="Nunito 1" panose="020B0604020202020204" charset="0"/>
                        <a:ea typeface="Cambria Math" panose="02040503050406030204" pitchFamily="18" charset="0"/>
                        <a:cs typeface="Nunito 1 Bold"/>
                        <a:sym typeface="Nunito 1 Bold"/>
                      </a:rPr>
                      <m:t>GWS</m:t>
                    </m:r>
                  </m:oMath>
                </a14:m>
                <a:r>
                  <a:rPr lang="en-US" dirty="0">
                    <a:solidFill>
                      <a:srgbClr val="000000"/>
                    </a:solidFill>
                    <a:latin typeface="Nunito 1" panose="020B0604020202020204" charset="0"/>
                    <a:ea typeface="Nunito 1 Bold"/>
                    <a:cs typeface="Nunito 1 Bold"/>
                    <a:sym typeface="Nunito 1 Bold"/>
                  </a:rPr>
                  <a:t> – change in groundwater storage, m3</a:t>
                </a:r>
              </a:p>
              <a:p>
                <a:pPr marL="4221163" lvl="8">
                  <a:tabLst>
                    <a:tab pos="4572000" algn="l"/>
                  </a:tabLst>
                </a:pPr>
                <a:r>
                  <a:rPr lang="en-US" dirty="0" err="1">
                    <a:solidFill>
                      <a:srgbClr val="000000"/>
                    </a:solidFill>
                    <a:latin typeface="Nunito 1" panose="020B0604020202020204" charset="0"/>
                    <a:ea typeface="Nunito 1 Bold"/>
                    <a:cs typeface="Nunito 1 Bold"/>
                    <a:sym typeface="Nunito 1 Bold"/>
                  </a:rPr>
                  <a:t>Aaq</a:t>
                </a:r>
                <a:r>
                  <a:rPr lang="en-US" dirty="0">
                    <a:solidFill>
                      <a:srgbClr val="000000"/>
                    </a:solidFill>
                    <a:latin typeface="Nunito 1" panose="020B0604020202020204" charset="0"/>
                    <a:ea typeface="Nunito 1 Bold"/>
                    <a:cs typeface="Nunito 1 Bold"/>
                    <a:sym typeface="Nunito 1 Bold"/>
                  </a:rPr>
                  <a:t> – area of the aquifer, m2</a:t>
                </a:r>
              </a:p>
              <a:p>
                <a:pPr marL="4221163" lvl="8">
                  <a:tabLst>
                    <a:tab pos="4572000" algn="l"/>
                  </a:tabLst>
                </a:pPr>
                <a14:m>
                  <m:oMath xmlns:m="http://schemas.openxmlformats.org/officeDocument/2006/math">
                    <m:r>
                      <m:rPr>
                        <m:nor/>
                      </m:rPr>
                      <a:rPr lang="en-US" i="0" smtClean="0">
                        <a:solidFill>
                          <a:srgbClr val="000000"/>
                        </a:solidFill>
                        <a:latin typeface="Cambria" panose="02040503050406030204" pitchFamily="18" charset="0"/>
                        <a:ea typeface="Cambria" panose="02040503050406030204" pitchFamily="18" charset="0"/>
                        <a:cs typeface="Nunito 1 Bold"/>
                        <a:sym typeface="Nunito 1 Bold"/>
                      </a:rPr>
                      <m:t>∆</m:t>
                    </m:r>
                    <m:r>
                      <m:rPr>
                        <m:nor/>
                      </m:rPr>
                      <a:rPr lang="en-PH" b="0" i="0" smtClean="0">
                        <a:solidFill>
                          <a:srgbClr val="000000"/>
                        </a:solidFill>
                        <a:latin typeface="Nunito 1" panose="020B0604020202020204" charset="0"/>
                        <a:ea typeface="Cambria Math" panose="02040503050406030204" pitchFamily="18" charset="0"/>
                        <a:cs typeface="Nunito 1 Bold"/>
                        <a:sym typeface="Nunito 1 Bold"/>
                      </a:rPr>
                      <m:t>GWT</m:t>
                    </m:r>
                  </m:oMath>
                </a14:m>
                <a:r>
                  <a:rPr lang="en-US" dirty="0">
                    <a:solidFill>
                      <a:srgbClr val="000000"/>
                    </a:solidFill>
                    <a:latin typeface="Nunito 1" panose="020B0604020202020204" charset="0"/>
                    <a:ea typeface="Nunito 1 Bold"/>
                    <a:cs typeface="Nunito 1 Bold"/>
                    <a:sym typeface="Nunito 1 Bold"/>
                  </a:rPr>
                  <a:t> – groundwater table fluctuation or drawdown, m</a:t>
                </a:r>
              </a:p>
              <a:p>
                <a:pPr marL="4221163" lvl="8">
                  <a:tabLst>
                    <a:tab pos="4572000" algn="l"/>
                  </a:tabLst>
                </a:pPr>
                <a:r>
                  <a:rPr lang="en-US" dirty="0">
                    <a:solidFill>
                      <a:srgbClr val="000000"/>
                    </a:solidFill>
                    <a:latin typeface="Nunito 1" panose="020B0604020202020204" charset="0"/>
                    <a:ea typeface="Nunito 1 Bold"/>
                    <a:cs typeface="Nunito 1 Bold"/>
                    <a:sym typeface="Nunito 1 Bold"/>
                  </a:rPr>
                  <a:t>Ps – piezometric surface fluctuation</a:t>
                </a:r>
              </a:p>
              <a:p>
                <a:pPr marL="4221163" lvl="8">
                  <a:tabLst>
                    <a:tab pos="4572000" algn="l"/>
                  </a:tabLst>
                </a:pPr>
                <a:r>
                  <a:rPr lang="en-US" dirty="0">
                    <a:solidFill>
                      <a:srgbClr val="000000"/>
                    </a:solidFill>
                    <a:latin typeface="Nunito 1" panose="020B0604020202020204" charset="0"/>
                    <a:ea typeface="Nunito 1 Bold"/>
                    <a:cs typeface="Nunito 1 Bold"/>
                    <a:sym typeface="Nunito 1 Bold"/>
                  </a:rPr>
                  <a:t>Sy – specific yield</a:t>
                </a:r>
              </a:p>
              <a:p>
                <a:pPr marL="4221163" lvl="8">
                  <a:tabLst>
                    <a:tab pos="4572000" algn="l"/>
                  </a:tabLst>
                </a:pPr>
                <a:r>
                  <a:rPr lang="en-US" dirty="0">
                    <a:solidFill>
                      <a:srgbClr val="000000"/>
                    </a:solidFill>
                    <a:latin typeface="Nunito 1" panose="020B0604020202020204" charset="0"/>
                    <a:ea typeface="Nunito 1 Bold"/>
                    <a:cs typeface="Nunito 1 Bold"/>
                    <a:sym typeface="Nunito 1 Bold"/>
                  </a:rPr>
                  <a:t>S – storage coefficient</a:t>
                </a:r>
              </a:p>
              <a:p>
                <a:endParaRPr lang="en-PH" dirty="0"/>
              </a:p>
            </p:txBody>
          </p:sp>
        </mc:Choice>
        <mc:Fallback xmlns="">
          <p:sp>
            <p:nvSpPr>
              <p:cNvPr id="3" name="Notes Placeholder 2">
                <a:extLst>
                  <a:ext uri="{FF2B5EF4-FFF2-40B4-BE49-F238E27FC236}">
                    <a16:creationId xmlns:a16="http://schemas.microsoft.com/office/drawing/2014/main" id="{179ED5B0-2149-D41F-53FA-C5BEA1031039}"/>
                  </a:ext>
                </a:extLst>
              </p:cNvPr>
              <p:cNvSpPr>
                <a:spLocks noGrp="1"/>
              </p:cNvSpPr>
              <p:nvPr>
                <p:ph type="body" idx="1"/>
              </p:nvPr>
            </p:nvSpPr>
            <p:spPr/>
            <p:txBody>
              <a:bodyPr/>
              <a:lstStyle/>
              <a:p>
                <a:r>
                  <a:rPr lang="en-US" dirty="0" err="1"/>
                  <a:t>GWS</a:t>
                </a:r>
                <a:r>
                  <a:rPr lang="en-US" dirty="0"/>
                  <a:t>/A x Sy</a:t>
                </a:r>
              </a:p>
              <a:p>
                <a:endParaRPr lang="en-US" dirty="0"/>
              </a:p>
              <a:p>
                <a:pPr algn="just">
                  <a:tabLst>
                    <a:tab pos="4221163" algn="l"/>
                  </a:tabLst>
                </a:pPr>
                <a:r>
                  <a:rPr lang="en-US" i="0">
                    <a:solidFill>
                      <a:srgbClr val="000000"/>
                    </a:solidFill>
                    <a:latin typeface="Cambria Math" panose="02040503050406030204" pitchFamily="18" charset="0"/>
                    <a:ea typeface="Cambria" panose="02040503050406030204" pitchFamily="18" charset="0"/>
                    <a:cs typeface="Nunito 1 Bold"/>
                    <a:sym typeface="Nunito 1 Bold"/>
                  </a:rPr>
                  <a:t>"∆</a:t>
                </a:r>
                <a:r>
                  <a:rPr lang="en-PH" b="0" i="0">
                    <a:solidFill>
                      <a:srgbClr val="000000"/>
                    </a:solidFill>
                    <a:latin typeface="Cambria Math" panose="02040503050406030204" pitchFamily="18" charset="0"/>
                    <a:ea typeface="Cambria Math" panose="02040503050406030204" pitchFamily="18" charset="0"/>
                    <a:cs typeface="Nunito 1 Bold"/>
                    <a:sym typeface="Nunito 1 Bold"/>
                  </a:rPr>
                  <a:t>GWS</a:t>
                </a:r>
                <a:r>
                  <a:rPr lang="en-PH" b="0" i="0">
                    <a:solidFill>
                      <a:srgbClr val="000000"/>
                    </a:solidFill>
                    <a:latin typeface="Nunito 1" panose="020B0604020202020204" charset="0"/>
                    <a:ea typeface="Cambria Math" panose="02040503050406030204" pitchFamily="18" charset="0"/>
                    <a:cs typeface="Nunito 1 Bold"/>
                    <a:sym typeface="Nunito 1 Bold"/>
                  </a:rPr>
                  <a:t>"</a:t>
                </a:r>
                <a:r>
                  <a:rPr lang="en-US" dirty="0">
                    <a:solidFill>
                      <a:srgbClr val="000000"/>
                    </a:solidFill>
                    <a:latin typeface="Nunito 1" panose="020B0604020202020204" charset="0"/>
                    <a:ea typeface="Nunito 1 Bold"/>
                    <a:cs typeface="Nunito 1 Bold"/>
                    <a:sym typeface="Nunito 1 Bold"/>
                  </a:rPr>
                  <a:t> – change in groundwater storage, m3</a:t>
                </a:r>
              </a:p>
              <a:p>
                <a:pPr marL="4221163" lvl="8">
                  <a:tabLst>
                    <a:tab pos="4572000" algn="l"/>
                  </a:tabLst>
                </a:pPr>
                <a:r>
                  <a:rPr lang="en-US" dirty="0" err="1">
                    <a:solidFill>
                      <a:srgbClr val="000000"/>
                    </a:solidFill>
                    <a:latin typeface="Nunito 1" panose="020B0604020202020204" charset="0"/>
                    <a:ea typeface="Nunito 1 Bold"/>
                    <a:cs typeface="Nunito 1 Bold"/>
                    <a:sym typeface="Nunito 1 Bold"/>
                  </a:rPr>
                  <a:t>Aaq</a:t>
                </a:r>
                <a:r>
                  <a:rPr lang="en-US" dirty="0">
                    <a:solidFill>
                      <a:srgbClr val="000000"/>
                    </a:solidFill>
                    <a:latin typeface="Nunito 1" panose="020B0604020202020204" charset="0"/>
                    <a:ea typeface="Nunito 1 Bold"/>
                    <a:cs typeface="Nunito 1 Bold"/>
                    <a:sym typeface="Nunito 1 Bold"/>
                  </a:rPr>
                  <a:t> – area of the aquifer, m2</a:t>
                </a:r>
              </a:p>
              <a:p>
                <a:pPr marL="4221163" lvl="8">
                  <a:tabLst>
                    <a:tab pos="4572000" algn="l"/>
                  </a:tabLst>
                </a:pPr>
                <a:r>
                  <a:rPr lang="en-US" i="0">
                    <a:solidFill>
                      <a:srgbClr val="000000"/>
                    </a:solidFill>
                    <a:latin typeface="Cambria Math" panose="02040503050406030204" pitchFamily="18" charset="0"/>
                    <a:ea typeface="Cambria" panose="02040503050406030204" pitchFamily="18" charset="0"/>
                    <a:cs typeface="Nunito 1 Bold"/>
                    <a:sym typeface="Nunito 1 Bold"/>
                  </a:rPr>
                  <a:t>"∆</a:t>
                </a:r>
                <a:r>
                  <a:rPr lang="en-PH" b="0" i="0">
                    <a:solidFill>
                      <a:srgbClr val="000000"/>
                    </a:solidFill>
                    <a:latin typeface="Cambria Math" panose="02040503050406030204" pitchFamily="18" charset="0"/>
                    <a:ea typeface="Cambria Math" panose="02040503050406030204" pitchFamily="18" charset="0"/>
                    <a:cs typeface="Nunito 1 Bold"/>
                    <a:sym typeface="Nunito 1 Bold"/>
                  </a:rPr>
                  <a:t>GWT</a:t>
                </a:r>
                <a:r>
                  <a:rPr lang="en-PH" b="0" i="0">
                    <a:solidFill>
                      <a:srgbClr val="000000"/>
                    </a:solidFill>
                    <a:latin typeface="Nunito 1" panose="020B0604020202020204" charset="0"/>
                    <a:ea typeface="Cambria Math" panose="02040503050406030204" pitchFamily="18" charset="0"/>
                    <a:cs typeface="Nunito 1 Bold"/>
                    <a:sym typeface="Nunito 1 Bold"/>
                  </a:rPr>
                  <a:t>"</a:t>
                </a:r>
                <a:r>
                  <a:rPr lang="en-US" dirty="0">
                    <a:solidFill>
                      <a:srgbClr val="000000"/>
                    </a:solidFill>
                    <a:latin typeface="Nunito 1" panose="020B0604020202020204" charset="0"/>
                    <a:ea typeface="Nunito 1 Bold"/>
                    <a:cs typeface="Nunito 1 Bold"/>
                    <a:sym typeface="Nunito 1 Bold"/>
                  </a:rPr>
                  <a:t> – groundwater table fluctuation or drawdown, m</a:t>
                </a:r>
              </a:p>
              <a:p>
                <a:pPr marL="4221163" lvl="8">
                  <a:tabLst>
                    <a:tab pos="4572000" algn="l"/>
                  </a:tabLst>
                </a:pPr>
                <a:r>
                  <a:rPr lang="en-US" dirty="0">
                    <a:solidFill>
                      <a:srgbClr val="000000"/>
                    </a:solidFill>
                    <a:latin typeface="Nunito 1" panose="020B0604020202020204" charset="0"/>
                    <a:ea typeface="Nunito 1 Bold"/>
                    <a:cs typeface="Nunito 1 Bold"/>
                    <a:sym typeface="Nunito 1 Bold"/>
                  </a:rPr>
                  <a:t>Ps – piezometric surface fluctuation</a:t>
                </a:r>
              </a:p>
              <a:p>
                <a:pPr marL="4221163" lvl="8">
                  <a:tabLst>
                    <a:tab pos="4572000" algn="l"/>
                  </a:tabLst>
                </a:pPr>
                <a:r>
                  <a:rPr lang="en-US" dirty="0">
                    <a:solidFill>
                      <a:srgbClr val="000000"/>
                    </a:solidFill>
                    <a:latin typeface="Nunito 1" panose="020B0604020202020204" charset="0"/>
                    <a:ea typeface="Nunito 1 Bold"/>
                    <a:cs typeface="Nunito 1 Bold"/>
                    <a:sym typeface="Nunito 1 Bold"/>
                  </a:rPr>
                  <a:t>Sy – specific yield</a:t>
                </a:r>
              </a:p>
              <a:p>
                <a:pPr marL="4221163" lvl="8">
                  <a:tabLst>
                    <a:tab pos="4572000" algn="l"/>
                  </a:tabLst>
                </a:pPr>
                <a:r>
                  <a:rPr lang="en-US" dirty="0">
                    <a:solidFill>
                      <a:srgbClr val="000000"/>
                    </a:solidFill>
                    <a:latin typeface="Nunito 1" panose="020B0604020202020204" charset="0"/>
                    <a:ea typeface="Nunito 1 Bold"/>
                    <a:cs typeface="Nunito 1 Bold"/>
                    <a:sym typeface="Nunito 1 Bold"/>
                  </a:rPr>
                  <a:t>S – storage coefficient</a:t>
                </a:r>
              </a:p>
              <a:p>
                <a:endParaRPr lang="en-PH" dirty="0"/>
              </a:p>
            </p:txBody>
          </p:sp>
        </mc:Fallback>
      </mc:AlternateContent>
      <p:sp>
        <p:nvSpPr>
          <p:cNvPr id="4" name="Slide Number Placeholder 3">
            <a:extLst>
              <a:ext uri="{FF2B5EF4-FFF2-40B4-BE49-F238E27FC236}">
                <a16:creationId xmlns:a16="http://schemas.microsoft.com/office/drawing/2014/main" id="{D7AE662E-F5F6-485E-B0C9-12A9D5267445}"/>
              </a:ext>
            </a:extLst>
          </p:cNvPr>
          <p:cNvSpPr>
            <a:spLocks noGrp="1"/>
          </p:cNvSpPr>
          <p:nvPr>
            <p:ph type="sldNum" sz="quarter" idx="5"/>
          </p:nvPr>
        </p:nvSpPr>
        <p:spPr/>
        <p:txBody>
          <a:bodyPr/>
          <a:lstStyle/>
          <a:p>
            <a:fld id="{E74731FA-A794-438D-9C93-55A23472C33A}" type="slidenum">
              <a:rPr lang="en-PH" smtClean="0"/>
              <a:t>23</a:t>
            </a:fld>
            <a:endParaRPr lang="en-PH"/>
          </a:p>
        </p:txBody>
      </p:sp>
    </p:spTree>
    <p:extLst>
      <p:ext uri="{BB962C8B-B14F-4D97-AF65-F5344CB8AC3E}">
        <p14:creationId xmlns:p14="http://schemas.microsoft.com/office/powerpoint/2010/main" val="1160021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70D1F-3117-7FEF-37DC-F2F2D089CC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61D9D9-EE4D-7E10-109F-9F5762D007E8}"/>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8CFC25FD-51C0-1B5D-E01A-329F67342933}"/>
                  </a:ext>
                </a:extLst>
              </p:cNvPr>
              <p:cNvSpPr>
                <a:spLocks noGrp="1"/>
              </p:cNvSpPr>
              <p:nvPr>
                <p:ph type="body" idx="1"/>
              </p:nvPr>
            </p:nvSpPr>
            <p:spPr/>
            <p:txBody>
              <a:bodyPr/>
              <a:lstStyle/>
              <a:p>
                <a:pPr algn="just">
                  <a:tabLst>
                    <a:tab pos="4221163" algn="l"/>
                  </a:tabLst>
                </a:pPr>
                <a14:m>
                  <m:oMath xmlns:m="http://schemas.openxmlformats.org/officeDocument/2006/math">
                    <m:r>
                      <m:rPr>
                        <m:nor/>
                      </m:rPr>
                      <a:rPr lang="en-US" i="0" smtClean="0">
                        <a:solidFill>
                          <a:srgbClr val="000000"/>
                        </a:solidFill>
                        <a:latin typeface="Cambria" panose="02040503050406030204" pitchFamily="18" charset="0"/>
                        <a:ea typeface="Cambria" panose="02040503050406030204" pitchFamily="18" charset="0"/>
                        <a:cs typeface="Nunito 1 Bold"/>
                        <a:sym typeface="Nunito 1 Bold"/>
                      </a:rPr>
                      <m:t>∆</m:t>
                    </m:r>
                    <m:r>
                      <m:rPr>
                        <m:nor/>
                      </m:rPr>
                      <a:rPr lang="en-PH" b="0" i="0" smtClean="0">
                        <a:solidFill>
                          <a:srgbClr val="000000"/>
                        </a:solidFill>
                        <a:latin typeface="Nunito 1" panose="020B0604020202020204" charset="0"/>
                        <a:ea typeface="Cambria Math" panose="02040503050406030204" pitchFamily="18" charset="0"/>
                        <a:cs typeface="Nunito 1 Bold"/>
                        <a:sym typeface="Nunito 1 Bold"/>
                      </a:rPr>
                      <m:t>GWS</m:t>
                    </m:r>
                  </m:oMath>
                </a14:m>
                <a:r>
                  <a:rPr lang="en-US" dirty="0">
                    <a:solidFill>
                      <a:srgbClr val="000000"/>
                    </a:solidFill>
                    <a:latin typeface="Nunito 1" panose="020B0604020202020204" charset="0"/>
                    <a:ea typeface="Nunito 1 Bold"/>
                    <a:cs typeface="Nunito 1 Bold"/>
                    <a:sym typeface="Nunito 1 Bold"/>
                  </a:rPr>
                  <a:t> – change in groundwater storage, m3</a:t>
                </a:r>
              </a:p>
              <a:p>
                <a:pPr marL="4221163" lvl="8">
                  <a:tabLst>
                    <a:tab pos="4572000" algn="l"/>
                  </a:tabLst>
                </a:pPr>
                <a:r>
                  <a:rPr lang="en-US" dirty="0" err="1">
                    <a:solidFill>
                      <a:srgbClr val="000000"/>
                    </a:solidFill>
                    <a:latin typeface="Nunito 1" panose="020B0604020202020204" charset="0"/>
                    <a:ea typeface="Nunito 1 Bold"/>
                    <a:cs typeface="Nunito 1 Bold"/>
                    <a:sym typeface="Nunito 1 Bold"/>
                  </a:rPr>
                  <a:t>Aaq</a:t>
                </a:r>
                <a:r>
                  <a:rPr lang="en-US" dirty="0">
                    <a:solidFill>
                      <a:srgbClr val="000000"/>
                    </a:solidFill>
                    <a:latin typeface="Nunito 1" panose="020B0604020202020204" charset="0"/>
                    <a:ea typeface="Nunito 1 Bold"/>
                    <a:cs typeface="Nunito 1 Bold"/>
                    <a:sym typeface="Nunito 1 Bold"/>
                  </a:rPr>
                  <a:t> – area of the aquifer, m2</a:t>
                </a:r>
              </a:p>
              <a:p>
                <a:pPr marL="4221163" lvl="8">
                  <a:tabLst>
                    <a:tab pos="4572000" algn="l"/>
                  </a:tabLst>
                </a:pPr>
                <a14:m>
                  <m:oMath xmlns:m="http://schemas.openxmlformats.org/officeDocument/2006/math">
                    <m:r>
                      <m:rPr>
                        <m:nor/>
                      </m:rPr>
                      <a:rPr lang="en-US" i="0" smtClean="0">
                        <a:solidFill>
                          <a:srgbClr val="000000"/>
                        </a:solidFill>
                        <a:latin typeface="Cambria" panose="02040503050406030204" pitchFamily="18" charset="0"/>
                        <a:ea typeface="Cambria" panose="02040503050406030204" pitchFamily="18" charset="0"/>
                        <a:cs typeface="Nunito 1 Bold"/>
                        <a:sym typeface="Nunito 1 Bold"/>
                      </a:rPr>
                      <m:t>∆</m:t>
                    </m:r>
                    <m:r>
                      <m:rPr>
                        <m:nor/>
                      </m:rPr>
                      <a:rPr lang="en-PH" b="0" i="0" smtClean="0">
                        <a:solidFill>
                          <a:srgbClr val="000000"/>
                        </a:solidFill>
                        <a:latin typeface="Nunito 1" panose="020B0604020202020204" charset="0"/>
                        <a:ea typeface="Cambria Math" panose="02040503050406030204" pitchFamily="18" charset="0"/>
                        <a:cs typeface="Nunito 1 Bold"/>
                        <a:sym typeface="Nunito 1 Bold"/>
                      </a:rPr>
                      <m:t>GWT</m:t>
                    </m:r>
                  </m:oMath>
                </a14:m>
                <a:r>
                  <a:rPr lang="en-US" dirty="0">
                    <a:solidFill>
                      <a:srgbClr val="000000"/>
                    </a:solidFill>
                    <a:latin typeface="Nunito 1" panose="020B0604020202020204" charset="0"/>
                    <a:ea typeface="Nunito 1 Bold"/>
                    <a:cs typeface="Nunito 1 Bold"/>
                    <a:sym typeface="Nunito 1 Bold"/>
                  </a:rPr>
                  <a:t> – groundwater table fluctuation or drawdown, m</a:t>
                </a:r>
              </a:p>
              <a:p>
                <a:pPr marL="4221163" lvl="8">
                  <a:tabLst>
                    <a:tab pos="4572000" algn="l"/>
                  </a:tabLst>
                </a:pPr>
                <a:r>
                  <a:rPr lang="en-US" dirty="0">
                    <a:solidFill>
                      <a:srgbClr val="000000"/>
                    </a:solidFill>
                    <a:latin typeface="Nunito 1" panose="020B0604020202020204" charset="0"/>
                    <a:ea typeface="Nunito 1 Bold"/>
                    <a:cs typeface="Nunito 1 Bold"/>
                    <a:sym typeface="Nunito 1 Bold"/>
                  </a:rPr>
                  <a:t>Ps – piezometric surface fluctuation</a:t>
                </a:r>
              </a:p>
              <a:p>
                <a:pPr marL="4221163" lvl="8">
                  <a:tabLst>
                    <a:tab pos="4572000" algn="l"/>
                  </a:tabLst>
                </a:pPr>
                <a:r>
                  <a:rPr lang="en-US" dirty="0">
                    <a:solidFill>
                      <a:srgbClr val="000000"/>
                    </a:solidFill>
                    <a:latin typeface="Nunito 1" panose="020B0604020202020204" charset="0"/>
                    <a:ea typeface="Nunito 1 Bold"/>
                    <a:cs typeface="Nunito 1 Bold"/>
                    <a:sym typeface="Nunito 1 Bold"/>
                  </a:rPr>
                  <a:t>S – storage coefficient</a:t>
                </a:r>
              </a:p>
              <a:p>
                <a:endParaRPr lang="en-PH" dirty="0"/>
              </a:p>
            </p:txBody>
          </p:sp>
        </mc:Choice>
        <mc:Fallback xmlns="">
          <p:sp>
            <p:nvSpPr>
              <p:cNvPr id="3" name="Notes Placeholder 2">
                <a:extLst>
                  <a:ext uri="{FF2B5EF4-FFF2-40B4-BE49-F238E27FC236}">
                    <a16:creationId xmlns:a16="http://schemas.microsoft.com/office/drawing/2014/main" id="{8CFC25FD-51C0-1B5D-E01A-329F67342933}"/>
                  </a:ext>
                </a:extLst>
              </p:cNvPr>
              <p:cNvSpPr>
                <a:spLocks noGrp="1"/>
              </p:cNvSpPr>
              <p:nvPr>
                <p:ph type="body" idx="1"/>
              </p:nvPr>
            </p:nvSpPr>
            <p:spPr/>
            <p:txBody>
              <a:bodyPr/>
              <a:lstStyle/>
              <a:p>
                <a:pPr algn="just">
                  <a:tabLst>
                    <a:tab pos="4221163" algn="l"/>
                  </a:tabLst>
                </a:pPr>
                <a:r>
                  <a:rPr lang="en-US" i="0">
                    <a:solidFill>
                      <a:srgbClr val="000000"/>
                    </a:solidFill>
                    <a:latin typeface="Cambria Math" panose="02040503050406030204" pitchFamily="18" charset="0"/>
                    <a:ea typeface="Cambria" panose="02040503050406030204" pitchFamily="18" charset="0"/>
                    <a:cs typeface="Nunito 1 Bold"/>
                    <a:sym typeface="Nunito 1 Bold"/>
                  </a:rPr>
                  <a:t>"∆</a:t>
                </a:r>
                <a:r>
                  <a:rPr lang="en-PH" b="0" i="0">
                    <a:solidFill>
                      <a:srgbClr val="000000"/>
                    </a:solidFill>
                    <a:latin typeface="Cambria Math" panose="02040503050406030204" pitchFamily="18" charset="0"/>
                    <a:ea typeface="Cambria Math" panose="02040503050406030204" pitchFamily="18" charset="0"/>
                    <a:cs typeface="Nunito 1 Bold"/>
                    <a:sym typeface="Nunito 1 Bold"/>
                  </a:rPr>
                  <a:t>GWS</a:t>
                </a:r>
                <a:r>
                  <a:rPr lang="en-PH" b="0" i="0">
                    <a:solidFill>
                      <a:srgbClr val="000000"/>
                    </a:solidFill>
                    <a:latin typeface="Nunito 1" panose="020B0604020202020204" charset="0"/>
                    <a:ea typeface="Cambria Math" panose="02040503050406030204" pitchFamily="18" charset="0"/>
                    <a:cs typeface="Nunito 1 Bold"/>
                    <a:sym typeface="Nunito 1 Bold"/>
                  </a:rPr>
                  <a:t>"</a:t>
                </a:r>
                <a:r>
                  <a:rPr lang="en-US" dirty="0">
                    <a:solidFill>
                      <a:srgbClr val="000000"/>
                    </a:solidFill>
                    <a:latin typeface="Nunito 1" panose="020B0604020202020204" charset="0"/>
                    <a:ea typeface="Nunito 1 Bold"/>
                    <a:cs typeface="Nunito 1 Bold"/>
                    <a:sym typeface="Nunito 1 Bold"/>
                  </a:rPr>
                  <a:t> – change in groundwater storage, m3</a:t>
                </a:r>
              </a:p>
              <a:p>
                <a:pPr marL="4221163" lvl="8">
                  <a:tabLst>
                    <a:tab pos="4572000" algn="l"/>
                  </a:tabLst>
                </a:pPr>
                <a:r>
                  <a:rPr lang="en-US" dirty="0" err="1">
                    <a:solidFill>
                      <a:srgbClr val="000000"/>
                    </a:solidFill>
                    <a:latin typeface="Nunito 1" panose="020B0604020202020204" charset="0"/>
                    <a:ea typeface="Nunito 1 Bold"/>
                    <a:cs typeface="Nunito 1 Bold"/>
                    <a:sym typeface="Nunito 1 Bold"/>
                  </a:rPr>
                  <a:t>Aaq</a:t>
                </a:r>
                <a:r>
                  <a:rPr lang="en-US" dirty="0">
                    <a:solidFill>
                      <a:srgbClr val="000000"/>
                    </a:solidFill>
                    <a:latin typeface="Nunito 1" panose="020B0604020202020204" charset="0"/>
                    <a:ea typeface="Nunito 1 Bold"/>
                    <a:cs typeface="Nunito 1 Bold"/>
                    <a:sym typeface="Nunito 1 Bold"/>
                  </a:rPr>
                  <a:t> – area of the aquifer, m2</a:t>
                </a:r>
              </a:p>
              <a:p>
                <a:pPr marL="4221163" lvl="8">
                  <a:tabLst>
                    <a:tab pos="4572000" algn="l"/>
                  </a:tabLst>
                </a:pPr>
                <a:r>
                  <a:rPr lang="en-US" i="0">
                    <a:solidFill>
                      <a:srgbClr val="000000"/>
                    </a:solidFill>
                    <a:latin typeface="Cambria Math" panose="02040503050406030204" pitchFamily="18" charset="0"/>
                    <a:ea typeface="Cambria" panose="02040503050406030204" pitchFamily="18" charset="0"/>
                    <a:cs typeface="Nunito 1 Bold"/>
                    <a:sym typeface="Nunito 1 Bold"/>
                  </a:rPr>
                  <a:t>"∆</a:t>
                </a:r>
                <a:r>
                  <a:rPr lang="en-PH" b="0" i="0">
                    <a:solidFill>
                      <a:srgbClr val="000000"/>
                    </a:solidFill>
                    <a:latin typeface="Cambria Math" panose="02040503050406030204" pitchFamily="18" charset="0"/>
                    <a:ea typeface="Cambria Math" panose="02040503050406030204" pitchFamily="18" charset="0"/>
                    <a:cs typeface="Nunito 1 Bold"/>
                    <a:sym typeface="Nunito 1 Bold"/>
                  </a:rPr>
                  <a:t>GWT</a:t>
                </a:r>
                <a:r>
                  <a:rPr lang="en-PH" b="0" i="0">
                    <a:solidFill>
                      <a:srgbClr val="000000"/>
                    </a:solidFill>
                    <a:latin typeface="Nunito 1" panose="020B0604020202020204" charset="0"/>
                    <a:ea typeface="Cambria Math" panose="02040503050406030204" pitchFamily="18" charset="0"/>
                    <a:cs typeface="Nunito 1 Bold"/>
                    <a:sym typeface="Nunito 1 Bold"/>
                  </a:rPr>
                  <a:t>"</a:t>
                </a:r>
                <a:r>
                  <a:rPr lang="en-US" dirty="0">
                    <a:solidFill>
                      <a:srgbClr val="000000"/>
                    </a:solidFill>
                    <a:latin typeface="Nunito 1" panose="020B0604020202020204" charset="0"/>
                    <a:ea typeface="Nunito 1 Bold"/>
                    <a:cs typeface="Nunito 1 Bold"/>
                    <a:sym typeface="Nunito 1 Bold"/>
                  </a:rPr>
                  <a:t> – groundwater table fluctuation or drawdown, m</a:t>
                </a:r>
              </a:p>
              <a:p>
                <a:pPr marL="4221163" lvl="8">
                  <a:tabLst>
                    <a:tab pos="4572000" algn="l"/>
                  </a:tabLst>
                </a:pPr>
                <a:r>
                  <a:rPr lang="en-US" dirty="0">
                    <a:solidFill>
                      <a:srgbClr val="000000"/>
                    </a:solidFill>
                    <a:latin typeface="Nunito 1" panose="020B0604020202020204" charset="0"/>
                    <a:ea typeface="Nunito 1 Bold"/>
                    <a:cs typeface="Nunito 1 Bold"/>
                    <a:sym typeface="Nunito 1 Bold"/>
                  </a:rPr>
                  <a:t>Ps – piezometric surface fluctuation</a:t>
                </a:r>
              </a:p>
              <a:p>
                <a:pPr marL="4221163" lvl="8">
                  <a:tabLst>
                    <a:tab pos="4572000" algn="l"/>
                  </a:tabLst>
                </a:pPr>
                <a:r>
                  <a:rPr lang="en-US" dirty="0">
                    <a:solidFill>
                      <a:srgbClr val="000000"/>
                    </a:solidFill>
                    <a:latin typeface="Nunito 1" panose="020B0604020202020204" charset="0"/>
                    <a:ea typeface="Nunito 1 Bold"/>
                    <a:cs typeface="Nunito 1 Bold"/>
                    <a:sym typeface="Nunito 1 Bold"/>
                  </a:rPr>
                  <a:t>S – storage coefficient</a:t>
                </a:r>
              </a:p>
              <a:p>
                <a:endParaRPr lang="en-PH" dirty="0"/>
              </a:p>
            </p:txBody>
          </p:sp>
        </mc:Fallback>
      </mc:AlternateContent>
      <p:sp>
        <p:nvSpPr>
          <p:cNvPr id="4" name="Slide Number Placeholder 3">
            <a:extLst>
              <a:ext uri="{FF2B5EF4-FFF2-40B4-BE49-F238E27FC236}">
                <a16:creationId xmlns:a16="http://schemas.microsoft.com/office/drawing/2014/main" id="{28E6D764-C711-F54A-068A-A0B3F3D6685D}"/>
              </a:ext>
            </a:extLst>
          </p:cNvPr>
          <p:cNvSpPr>
            <a:spLocks noGrp="1"/>
          </p:cNvSpPr>
          <p:nvPr>
            <p:ph type="sldNum" sz="quarter" idx="5"/>
          </p:nvPr>
        </p:nvSpPr>
        <p:spPr/>
        <p:txBody>
          <a:bodyPr/>
          <a:lstStyle/>
          <a:p>
            <a:fld id="{E74731FA-A794-438D-9C93-55A23472C33A}" type="slidenum">
              <a:rPr lang="en-PH" smtClean="0"/>
              <a:t>24</a:t>
            </a:fld>
            <a:endParaRPr lang="en-PH"/>
          </a:p>
        </p:txBody>
      </p:sp>
    </p:spTree>
    <p:extLst>
      <p:ext uri="{BB962C8B-B14F-4D97-AF65-F5344CB8AC3E}">
        <p14:creationId xmlns:p14="http://schemas.microsoft.com/office/powerpoint/2010/main" val="201922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E74731FA-A794-438D-9C93-55A23472C33A}" type="slidenum">
              <a:rPr lang="en-PH" smtClean="0"/>
              <a:t>26</a:t>
            </a:fld>
            <a:endParaRPr lang="en-PH"/>
          </a:p>
        </p:txBody>
      </p:sp>
    </p:spTree>
    <p:extLst>
      <p:ext uri="{BB962C8B-B14F-4D97-AF65-F5344CB8AC3E}">
        <p14:creationId xmlns:p14="http://schemas.microsoft.com/office/powerpoint/2010/main" val="33067271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E74731FA-A794-438D-9C93-55A23472C33A}" type="slidenum">
              <a:rPr lang="en-PH" smtClean="0"/>
              <a:t>27</a:t>
            </a:fld>
            <a:endParaRPr lang="en-PH"/>
          </a:p>
        </p:txBody>
      </p:sp>
    </p:spTree>
    <p:extLst>
      <p:ext uri="{BB962C8B-B14F-4D97-AF65-F5344CB8AC3E}">
        <p14:creationId xmlns:p14="http://schemas.microsoft.com/office/powerpoint/2010/main" val="25809657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E74731FA-A794-438D-9C93-55A23472C33A}" type="slidenum">
              <a:rPr lang="en-PH" smtClean="0"/>
              <a:t>30</a:t>
            </a:fld>
            <a:endParaRPr lang="en-PH"/>
          </a:p>
        </p:txBody>
      </p:sp>
    </p:spTree>
    <p:extLst>
      <p:ext uri="{BB962C8B-B14F-4D97-AF65-F5344CB8AC3E}">
        <p14:creationId xmlns:p14="http://schemas.microsoft.com/office/powerpoint/2010/main" val="12202968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E74731FA-A794-438D-9C93-55A23472C33A}" type="slidenum">
              <a:rPr lang="en-PH" smtClean="0"/>
              <a:t>31</a:t>
            </a:fld>
            <a:endParaRPr lang="en-PH"/>
          </a:p>
        </p:txBody>
      </p:sp>
    </p:spTree>
    <p:extLst>
      <p:ext uri="{BB962C8B-B14F-4D97-AF65-F5344CB8AC3E}">
        <p14:creationId xmlns:p14="http://schemas.microsoft.com/office/powerpoint/2010/main" val="31627819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E74731FA-A794-438D-9C93-55A23472C33A}" type="slidenum">
              <a:rPr lang="en-PH" smtClean="0"/>
              <a:t>32</a:t>
            </a:fld>
            <a:endParaRPr lang="en-PH"/>
          </a:p>
        </p:txBody>
      </p:sp>
    </p:spTree>
    <p:extLst>
      <p:ext uri="{BB962C8B-B14F-4D97-AF65-F5344CB8AC3E}">
        <p14:creationId xmlns:p14="http://schemas.microsoft.com/office/powerpoint/2010/main" val="28264719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71381-17B3-C813-75FF-C7A57B3FC0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3DE836-8597-0114-1594-E211E0F9F5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0B27EC-080D-FAE8-B88B-F2578EF494E0}"/>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00061F1E-AAD0-D517-17EE-E46649F1B2C9}"/>
              </a:ext>
            </a:extLst>
          </p:cNvPr>
          <p:cNvSpPr>
            <a:spLocks noGrp="1"/>
          </p:cNvSpPr>
          <p:nvPr>
            <p:ph type="sldNum" sz="quarter" idx="5"/>
          </p:nvPr>
        </p:nvSpPr>
        <p:spPr/>
        <p:txBody>
          <a:bodyPr/>
          <a:lstStyle/>
          <a:p>
            <a:fld id="{E74731FA-A794-438D-9C93-55A23472C33A}" type="slidenum">
              <a:rPr lang="en-PH" smtClean="0"/>
              <a:t>33</a:t>
            </a:fld>
            <a:endParaRPr lang="en-PH"/>
          </a:p>
        </p:txBody>
      </p:sp>
    </p:spTree>
    <p:extLst>
      <p:ext uri="{BB962C8B-B14F-4D97-AF65-F5344CB8AC3E}">
        <p14:creationId xmlns:p14="http://schemas.microsoft.com/office/powerpoint/2010/main" val="20201099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B6F2E-B751-B5D8-E488-04EBDA03A2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F80CB5-BF15-D7CF-E894-F08CA5218D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0B14A0-6102-7EAD-79FA-05B6AD723D94}"/>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6DD7CB77-9A26-9A24-70BC-DCDA83568579}"/>
              </a:ext>
            </a:extLst>
          </p:cNvPr>
          <p:cNvSpPr>
            <a:spLocks noGrp="1"/>
          </p:cNvSpPr>
          <p:nvPr>
            <p:ph type="sldNum" sz="quarter" idx="5"/>
          </p:nvPr>
        </p:nvSpPr>
        <p:spPr/>
        <p:txBody>
          <a:bodyPr/>
          <a:lstStyle/>
          <a:p>
            <a:fld id="{E74731FA-A794-438D-9C93-55A23472C33A}" type="slidenum">
              <a:rPr lang="en-PH" smtClean="0"/>
              <a:t>34</a:t>
            </a:fld>
            <a:endParaRPr lang="en-PH"/>
          </a:p>
        </p:txBody>
      </p:sp>
    </p:spTree>
    <p:extLst>
      <p:ext uri="{BB962C8B-B14F-4D97-AF65-F5344CB8AC3E}">
        <p14:creationId xmlns:p14="http://schemas.microsoft.com/office/powerpoint/2010/main" val="6684727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A69C6-D3B6-AC60-33C9-791E9648BF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E9182C-B966-0081-38BA-9188FEC4B6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3E2A85-86AA-5B76-57CB-C2FBE8411D89}"/>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FAF4F7D0-163D-7942-6B4F-5745ED33A011}"/>
              </a:ext>
            </a:extLst>
          </p:cNvPr>
          <p:cNvSpPr>
            <a:spLocks noGrp="1"/>
          </p:cNvSpPr>
          <p:nvPr>
            <p:ph type="sldNum" sz="quarter" idx="5"/>
          </p:nvPr>
        </p:nvSpPr>
        <p:spPr/>
        <p:txBody>
          <a:bodyPr/>
          <a:lstStyle/>
          <a:p>
            <a:fld id="{E74731FA-A794-438D-9C93-55A23472C33A}" type="slidenum">
              <a:rPr lang="en-PH" smtClean="0"/>
              <a:t>38</a:t>
            </a:fld>
            <a:endParaRPr lang="en-PH"/>
          </a:p>
        </p:txBody>
      </p:sp>
    </p:spTree>
    <p:extLst>
      <p:ext uri="{BB962C8B-B14F-4D97-AF65-F5344CB8AC3E}">
        <p14:creationId xmlns:p14="http://schemas.microsoft.com/office/powerpoint/2010/main" val="28732069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3693C-38BF-35C8-DE90-311C6C7E64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24B5D4-4C57-3908-A92C-94C262F1EA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E258C5-7A7F-3609-0E60-7D480A3FC1E5}"/>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36AD0717-ADB7-B4B5-3780-7E962AC2F734}"/>
              </a:ext>
            </a:extLst>
          </p:cNvPr>
          <p:cNvSpPr>
            <a:spLocks noGrp="1"/>
          </p:cNvSpPr>
          <p:nvPr>
            <p:ph type="sldNum" sz="quarter" idx="5"/>
          </p:nvPr>
        </p:nvSpPr>
        <p:spPr/>
        <p:txBody>
          <a:bodyPr/>
          <a:lstStyle/>
          <a:p>
            <a:fld id="{E74731FA-A794-438D-9C93-55A23472C33A}" type="slidenum">
              <a:rPr lang="en-PH" smtClean="0"/>
              <a:t>39</a:t>
            </a:fld>
            <a:endParaRPr lang="en-PH"/>
          </a:p>
        </p:txBody>
      </p:sp>
    </p:spTree>
    <p:extLst>
      <p:ext uri="{BB962C8B-B14F-4D97-AF65-F5344CB8AC3E}">
        <p14:creationId xmlns:p14="http://schemas.microsoft.com/office/powerpoint/2010/main" val="25843756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0774F-E7EB-B0D8-6381-EFB6060AB3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7A2D5-3311-DB85-F366-0D9E5AD3F9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79048D-0537-F343-9DFB-456E5B6E23B8}"/>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47995982-A982-8771-0112-B5FA52953CA1}"/>
              </a:ext>
            </a:extLst>
          </p:cNvPr>
          <p:cNvSpPr>
            <a:spLocks noGrp="1"/>
          </p:cNvSpPr>
          <p:nvPr>
            <p:ph type="sldNum" sz="quarter" idx="5"/>
          </p:nvPr>
        </p:nvSpPr>
        <p:spPr/>
        <p:txBody>
          <a:bodyPr/>
          <a:lstStyle/>
          <a:p>
            <a:fld id="{E74731FA-A794-438D-9C93-55A23472C33A}" type="slidenum">
              <a:rPr lang="en-PH" smtClean="0"/>
              <a:t>40</a:t>
            </a:fld>
            <a:endParaRPr lang="en-PH"/>
          </a:p>
        </p:txBody>
      </p:sp>
    </p:spTree>
    <p:extLst>
      <p:ext uri="{BB962C8B-B14F-4D97-AF65-F5344CB8AC3E}">
        <p14:creationId xmlns:p14="http://schemas.microsoft.com/office/powerpoint/2010/main" val="11744989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4411D-9A2D-FDBC-0AAB-3D6B473AAF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1C0D7B-CED5-C0CC-330F-4B47CC5C65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6CD48C-499A-3CF9-4DCD-D5E9F50E3E9B}"/>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4851302C-D679-C563-A57A-40027AC23ADF}"/>
              </a:ext>
            </a:extLst>
          </p:cNvPr>
          <p:cNvSpPr>
            <a:spLocks noGrp="1"/>
          </p:cNvSpPr>
          <p:nvPr>
            <p:ph type="sldNum" sz="quarter" idx="5"/>
          </p:nvPr>
        </p:nvSpPr>
        <p:spPr/>
        <p:txBody>
          <a:bodyPr/>
          <a:lstStyle/>
          <a:p>
            <a:fld id="{E74731FA-A794-438D-9C93-55A23472C33A}" type="slidenum">
              <a:rPr lang="en-PH" smtClean="0"/>
              <a:t>41</a:t>
            </a:fld>
            <a:endParaRPr lang="en-PH"/>
          </a:p>
        </p:txBody>
      </p:sp>
    </p:spTree>
    <p:extLst>
      <p:ext uri="{BB962C8B-B14F-4D97-AF65-F5344CB8AC3E}">
        <p14:creationId xmlns:p14="http://schemas.microsoft.com/office/powerpoint/2010/main" val="30693277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EED6F-C264-C42C-143B-26DC4F4F5C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7BB9AF-5A96-6899-0CE5-A601279478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5F8BE9-9E80-74E1-24C8-8E07CDB454B3}"/>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22633547-CDF6-00B7-7729-95FA9947BF54}"/>
              </a:ext>
            </a:extLst>
          </p:cNvPr>
          <p:cNvSpPr>
            <a:spLocks noGrp="1"/>
          </p:cNvSpPr>
          <p:nvPr>
            <p:ph type="sldNum" sz="quarter" idx="5"/>
          </p:nvPr>
        </p:nvSpPr>
        <p:spPr/>
        <p:txBody>
          <a:bodyPr/>
          <a:lstStyle/>
          <a:p>
            <a:fld id="{E74731FA-A794-438D-9C93-55A23472C33A}" type="slidenum">
              <a:rPr lang="en-PH" smtClean="0"/>
              <a:t>42</a:t>
            </a:fld>
            <a:endParaRPr lang="en-PH"/>
          </a:p>
        </p:txBody>
      </p:sp>
    </p:spTree>
    <p:extLst>
      <p:ext uri="{BB962C8B-B14F-4D97-AF65-F5344CB8AC3E}">
        <p14:creationId xmlns:p14="http://schemas.microsoft.com/office/powerpoint/2010/main" val="31488397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70632-3337-D2D2-9B03-B0D0D5488B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C35CB3-D24B-321F-E268-B4AAB6BA0B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A920D9-A0D7-AB57-333C-B0E824E9F8E1}"/>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C5CCFEE8-17D3-3D8F-0FFF-97B0FAF63A6B}"/>
              </a:ext>
            </a:extLst>
          </p:cNvPr>
          <p:cNvSpPr>
            <a:spLocks noGrp="1"/>
          </p:cNvSpPr>
          <p:nvPr>
            <p:ph type="sldNum" sz="quarter" idx="5"/>
          </p:nvPr>
        </p:nvSpPr>
        <p:spPr/>
        <p:txBody>
          <a:bodyPr/>
          <a:lstStyle/>
          <a:p>
            <a:fld id="{E74731FA-A794-438D-9C93-55A23472C33A}" type="slidenum">
              <a:rPr lang="en-PH" smtClean="0"/>
              <a:t>43</a:t>
            </a:fld>
            <a:endParaRPr lang="en-PH"/>
          </a:p>
        </p:txBody>
      </p:sp>
    </p:spTree>
    <p:extLst>
      <p:ext uri="{BB962C8B-B14F-4D97-AF65-F5344CB8AC3E}">
        <p14:creationId xmlns:p14="http://schemas.microsoft.com/office/powerpoint/2010/main" val="2121426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B455E-D29F-7F85-5B06-BA7F0A9CE6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FFC22A-97AA-046F-21B0-D83CBF6E84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5772C0-4F97-9F14-F9D9-A21F6652897C}"/>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F41EA41F-002E-54CC-4F8D-99C09ADEC4DF}"/>
              </a:ext>
            </a:extLst>
          </p:cNvPr>
          <p:cNvSpPr>
            <a:spLocks noGrp="1"/>
          </p:cNvSpPr>
          <p:nvPr>
            <p:ph type="sldNum" sz="quarter" idx="5"/>
          </p:nvPr>
        </p:nvSpPr>
        <p:spPr/>
        <p:txBody>
          <a:bodyPr/>
          <a:lstStyle/>
          <a:p>
            <a:fld id="{E74731FA-A794-438D-9C93-55A23472C33A}" type="slidenum">
              <a:rPr lang="en-PH" smtClean="0"/>
              <a:t>44</a:t>
            </a:fld>
            <a:endParaRPr lang="en-PH"/>
          </a:p>
        </p:txBody>
      </p:sp>
    </p:spTree>
    <p:extLst>
      <p:ext uri="{BB962C8B-B14F-4D97-AF65-F5344CB8AC3E}">
        <p14:creationId xmlns:p14="http://schemas.microsoft.com/office/powerpoint/2010/main" val="286366937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75B75-653C-7DD7-34CF-C55EB58555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769A60-7DCC-7958-C0C4-BF9CFF6CF7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914013-0529-CD10-48BC-D0E5E755B53B}"/>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BF81EB8A-7CF4-40D2-95B0-107CFC1D8F96}"/>
              </a:ext>
            </a:extLst>
          </p:cNvPr>
          <p:cNvSpPr>
            <a:spLocks noGrp="1"/>
          </p:cNvSpPr>
          <p:nvPr>
            <p:ph type="sldNum" sz="quarter" idx="5"/>
          </p:nvPr>
        </p:nvSpPr>
        <p:spPr/>
        <p:txBody>
          <a:bodyPr/>
          <a:lstStyle/>
          <a:p>
            <a:fld id="{E74731FA-A794-438D-9C93-55A23472C33A}" type="slidenum">
              <a:rPr lang="en-PH" smtClean="0"/>
              <a:t>45</a:t>
            </a:fld>
            <a:endParaRPr lang="en-PH"/>
          </a:p>
        </p:txBody>
      </p:sp>
    </p:spTree>
    <p:extLst>
      <p:ext uri="{BB962C8B-B14F-4D97-AF65-F5344CB8AC3E}">
        <p14:creationId xmlns:p14="http://schemas.microsoft.com/office/powerpoint/2010/main" val="34171786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CA9C1-0EAE-CBF6-6B9B-96F2C929DF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6D1972-8056-6834-B26D-D1183CC766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79582A-83B2-616A-E26D-BA5F96962211}"/>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187EBCD2-AAB4-9330-2802-A937596C6AC8}"/>
              </a:ext>
            </a:extLst>
          </p:cNvPr>
          <p:cNvSpPr>
            <a:spLocks noGrp="1"/>
          </p:cNvSpPr>
          <p:nvPr>
            <p:ph type="sldNum" sz="quarter" idx="5"/>
          </p:nvPr>
        </p:nvSpPr>
        <p:spPr/>
        <p:txBody>
          <a:bodyPr/>
          <a:lstStyle/>
          <a:p>
            <a:fld id="{E74731FA-A794-438D-9C93-55A23472C33A}" type="slidenum">
              <a:rPr lang="en-PH" smtClean="0"/>
              <a:t>46</a:t>
            </a:fld>
            <a:endParaRPr lang="en-PH"/>
          </a:p>
        </p:txBody>
      </p:sp>
    </p:spTree>
    <p:extLst>
      <p:ext uri="{BB962C8B-B14F-4D97-AF65-F5344CB8AC3E}">
        <p14:creationId xmlns:p14="http://schemas.microsoft.com/office/powerpoint/2010/main" val="6683283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A5EB8-4453-23BD-EE5D-8142847B73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6DA6A4-A717-5000-2650-75844DA900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29043C-C363-B371-145E-C3C98B3527A0}"/>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B82C7759-D745-BB5A-DC09-860770D5388B}"/>
              </a:ext>
            </a:extLst>
          </p:cNvPr>
          <p:cNvSpPr>
            <a:spLocks noGrp="1"/>
          </p:cNvSpPr>
          <p:nvPr>
            <p:ph type="sldNum" sz="quarter" idx="5"/>
          </p:nvPr>
        </p:nvSpPr>
        <p:spPr/>
        <p:txBody>
          <a:bodyPr/>
          <a:lstStyle/>
          <a:p>
            <a:fld id="{E74731FA-A794-438D-9C93-55A23472C33A}" type="slidenum">
              <a:rPr lang="en-PH" smtClean="0"/>
              <a:t>47</a:t>
            </a:fld>
            <a:endParaRPr lang="en-PH"/>
          </a:p>
        </p:txBody>
      </p:sp>
    </p:spTree>
    <p:extLst>
      <p:ext uri="{BB962C8B-B14F-4D97-AF65-F5344CB8AC3E}">
        <p14:creationId xmlns:p14="http://schemas.microsoft.com/office/powerpoint/2010/main" val="21603646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95E54-C38E-D0FE-B218-B4D8134660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6C61CD-8AD0-05F6-0482-6A1096BC05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0E8DF7-9CCF-33DF-973E-5509E5D98410}"/>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246BDC14-00E1-2761-A564-5D8D22197FEC}"/>
              </a:ext>
            </a:extLst>
          </p:cNvPr>
          <p:cNvSpPr>
            <a:spLocks noGrp="1"/>
          </p:cNvSpPr>
          <p:nvPr>
            <p:ph type="sldNum" sz="quarter" idx="5"/>
          </p:nvPr>
        </p:nvSpPr>
        <p:spPr/>
        <p:txBody>
          <a:bodyPr/>
          <a:lstStyle/>
          <a:p>
            <a:fld id="{E74731FA-A794-438D-9C93-55A23472C33A}" type="slidenum">
              <a:rPr lang="en-PH" smtClean="0"/>
              <a:t>48</a:t>
            </a:fld>
            <a:endParaRPr lang="en-PH"/>
          </a:p>
        </p:txBody>
      </p:sp>
    </p:spTree>
    <p:extLst>
      <p:ext uri="{BB962C8B-B14F-4D97-AF65-F5344CB8AC3E}">
        <p14:creationId xmlns:p14="http://schemas.microsoft.com/office/powerpoint/2010/main" val="29986310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22630-EE0D-CBAC-FFDC-94CE1DC789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1A0181-D5B1-922B-55EA-37C2EA2ABA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C1D2A7-46F3-5BB3-01BD-8CA77A040CF6}"/>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970E6AD7-CBA7-B8FF-6E8F-2BDF28E12482}"/>
              </a:ext>
            </a:extLst>
          </p:cNvPr>
          <p:cNvSpPr>
            <a:spLocks noGrp="1"/>
          </p:cNvSpPr>
          <p:nvPr>
            <p:ph type="sldNum" sz="quarter" idx="5"/>
          </p:nvPr>
        </p:nvSpPr>
        <p:spPr/>
        <p:txBody>
          <a:bodyPr/>
          <a:lstStyle/>
          <a:p>
            <a:fld id="{E74731FA-A794-438D-9C93-55A23472C33A}" type="slidenum">
              <a:rPr lang="en-PH" smtClean="0"/>
              <a:t>49</a:t>
            </a:fld>
            <a:endParaRPr lang="en-PH"/>
          </a:p>
        </p:txBody>
      </p:sp>
    </p:spTree>
    <p:extLst>
      <p:ext uri="{BB962C8B-B14F-4D97-AF65-F5344CB8AC3E}">
        <p14:creationId xmlns:p14="http://schemas.microsoft.com/office/powerpoint/2010/main" val="30557476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7.jpe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25.jpe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33.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4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36.png"/></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7.xml"/><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36.png"/></Relationships>
</file>

<file path=ppt/slides/_rels/slide50.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0"/>
            <a:ext cx="18288000" cy="10287000"/>
            <a:chOff x="0" y="0"/>
            <a:chExt cx="27343100" cy="13716000"/>
          </a:xfrm>
        </p:grpSpPr>
        <p:sp>
          <p:nvSpPr>
            <p:cNvPr id="3" name="Freeform 3"/>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grpSp>
        <p:nvGrpSpPr>
          <p:cNvPr id="5" name="Group 5"/>
          <p:cNvGrpSpPr/>
          <p:nvPr/>
        </p:nvGrpSpPr>
        <p:grpSpPr>
          <a:xfrm>
            <a:off x="0" y="8353252"/>
            <a:ext cx="18288000" cy="1420979"/>
            <a:chOff x="0" y="0"/>
            <a:chExt cx="5260714" cy="374250"/>
          </a:xfrm>
        </p:grpSpPr>
        <p:sp>
          <p:nvSpPr>
            <p:cNvPr id="6" name="Freeform 6"/>
            <p:cNvSpPr/>
            <p:nvPr/>
          </p:nvSpPr>
          <p:spPr>
            <a:xfrm>
              <a:off x="0" y="0"/>
              <a:ext cx="5260714" cy="374250"/>
            </a:xfrm>
            <a:custGeom>
              <a:avLst/>
              <a:gdLst/>
              <a:ahLst/>
              <a:cxnLst/>
              <a:rect l="l" t="t" r="r" b="b"/>
              <a:pathLst>
                <a:path w="5260714" h="374250">
                  <a:moveTo>
                    <a:pt x="0" y="0"/>
                  </a:moveTo>
                  <a:lnTo>
                    <a:pt x="5260714" y="0"/>
                  </a:lnTo>
                  <a:lnTo>
                    <a:pt x="5260714" y="374250"/>
                  </a:lnTo>
                  <a:lnTo>
                    <a:pt x="0" y="374250"/>
                  </a:lnTo>
                  <a:close/>
                </a:path>
              </a:pathLst>
            </a:custGeom>
            <a:solidFill>
              <a:srgbClr val="F1F2F2"/>
            </a:solidFill>
          </p:spPr>
        </p:sp>
        <p:sp>
          <p:nvSpPr>
            <p:cNvPr id="7" name="TextBox 7"/>
            <p:cNvSpPr txBox="1"/>
            <p:nvPr/>
          </p:nvSpPr>
          <p:spPr>
            <a:xfrm>
              <a:off x="0" y="-38100"/>
              <a:ext cx="5260714" cy="41235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600877" y="559518"/>
            <a:ext cx="2942276" cy="2942276"/>
          </a:xfrm>
          <a:custGeom>
            <a:avLst/>
            <a:gdLst/>
            <a:ahLst/>
            <a:cxnLst/>
            <a:rect l="l" t="t" r="r" b="b"/>
            <a:pathLst>
              <a:path w="2942276" h="2942276">
                <a:moveTo>
                  <a:pt x="0" y="0"/>
                </a:moveTo>
                <a:lnTo>
                  <a:pt x="2942276" y="0"/>
                </a:lnTo>
                <a:lnTo>
                  <a:pt x="2942276" y="2942277"/>
                </a:lnTo>
                <a:lnTo>
                  <a:pt x="0" y="294227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a:off x="12399945" y="6931538"/>
            <a:ext cx="3395204" cy="1049427"/>
          </a:xfrm>
          <a:custGeom>
            <a:avLst/>
            <a:gdLst/>
            <a:ahLst/>
            <a:cxnLst/>
            <a:rect l="l" t="t" r="r" b="b"/>
            <a:pathLst>
              <a:path w="3395204" h="1049427">
                <a:moveTo>
                  <a:pt x="0" y="0"/>
                </a:moveTo>
                <a:lnTo>
                  <a:pt x="3395204" y="0"/>
                </a:lnTo>
                <a:lnTo>
                  <a:pt x="3395204" y="1049427"/>
                </a:lnTo>
                <a:lnTo>
                  <a:pt x="0" y="104942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0" name="TextBox 10"/>
          <p:cNvSpPr txBox="1"/>
          <p:nvPr/>
        </p:nvSpPr>
        <p:spPr>
          <a:xfrm>
            <a:off x="1668631" y="1573137"/>
            <a:ext cx="14950738" cy="4549859"/>
          </a:xfrm>
          <a:prstGeom prst="rect">
            <a:avLst/>
          </a:prstGeom>
        </p:spPr>
        <p:txBody>
          <a:bodyPr lIns="0" tIns="0" rIns="0" bIns="0" rtlCol="0" anchor="t">
            <a:spAutoFit/>
          </a:bodyPr>
          <a:lstStyle/>
          <a:p>
            <a:pPr algn="ctr">
              <a:lnSpc>
                <a:spcPts val="14620"/>
              </a:lnSpc>
            </a:pPr>
            <a:r>
              <a:rPr lang="en-US" sz="10443" dirty="0">
                <a:solidFill>
                  <a:srgbClr val="000000"/>
                </a:solidFill>
                <a:latin typeface="Fredoka SemiBold" pitchFamily="2" charset="-79"/>
                <a:ea typeface="Fredoka"/>
                <a:cs typeface="Fredoka SemiBold" pitchFamily="2" charset="-79"/>
                <a:sym typeface="Fredoka"/>
              </a:rPr>
              <a:t>AREA II:</a:t>
            </a:r>
          </a:p>
          <a:p>
            <a:pPr algn="ctr">
              <a:lnSpc>
                <a:spcPts val="10259"/>
              </a:lnSpc>
            </a:pPr>
            <a:r>
              <a:rPr lang="en-US" sz="8999" dirty="0">
                <a:solidFill>
                  <a:srgbClr val="000000"/>
                </a:solidFill>
                <a:latin typeface="Fredoka SemiBold" pitchFamily="2" charset="-79"/>
                <a:ea typeface="Fredoka"/>
                <a:cs typeface="Fredoka SemiBold" pitchFamily="2" charset="-79"/>
                <a:sym typeface="Fredoka"/>
              </a:rPr>
              <a:t>LAND AND WATER RESOURCES ENGINEERING</a:t>
            </a:r>
          </a:p>
        </p:txBody>
      </p:sp>
      <p:sp>
        <p:nvSpPr>
          <p:cNvPr id="12" name="TextBox 12"/>
          <p:cNvSpPr txBox="1"/>
          <p:nvPr/>
        </p:nvSpPr>
        <p:spPr>
          <a:xfrm>
            <a:off x="1028700" y="8743950"/>
            <a:ext cx="5577893" cy="514350"/>
          </a:xfrm>
          <a:prstGeom prst="rect">
            <a:avLst/>
          </a:prstGeom>
        </p:spPr>
        <p:txBody>
          <a:bodyPr lIns="0" tIns="0" rIns="0" bIns="0" rtlCol="0" anchor="t">
            <a:spAutoFit/>
          </a:bodyPr>
          <a:lstStyle/>
          <a:p>
            <a:pPr algn="l">
              <a:lnSpc>
                <a:spcPts val="4200"/>
              </a:lnSpc>
            </a:pPr>
            <a:r>
              <a:rPr lang="en-US" sz="3000" dirty="0">
                <a:solidFill>
                  <a:srgbClr val="000000"/>
                </a:solidFill>
                <a:latin typeface="Nunito" pitchFamily="2" charset="0"/>
                <a:ea typeface="Nunito 1"/>
                <a:cs typeface="Nunito 1"/>
                <a:sym typeface="Nunito 1"/>
              </a:rPr>
              <a:t>ABELE | 2025</a:t>
            </a:r>
          </a:p>
        </p:txBody>
      </p:sp>
      <p:sp>
        <p:nvSpPr>
          <p:cNvPr id="13" name="TextBox 13"/>
          <p:cNvSpPr txBox="1"/>
          <p:nvPr/>
        </p:nvSpPr>
        <p:spPr>
          <a:xfrm>
            <a:off x="12777754" y="8743950"/>
            <a:ext cx="4481546" cy="514350"/>
          </a:xfrm>
          <a:prstGeom prst="rect">
            <a:avLst/>
          </a:prstGeom>
        </p:spPr>
        <p:txBody>
          <a:bodyPr lIns="0" tIns="0" rIns="0" bIns="0" rtlCol="0" anchor="t">
            <a:spAutoFit/>
          </a:bodyPr>
          <a:lstStyle/>
          <a:p>
            <a:pPr algn="r">
              <a:lnSpc>
                <a:spcPts val="4200"/>
              </a:lnSpc>
            </a:pPr>
            <a:r>
              <a:rPr lang="en-US" sz="3000" dirty="0" err="1">
                <a:solidFill>
                  <a:srgbClr val="000000"/>
                </a:solidFill>
                <a:latin typeface="Nunito" pitchFamily="2" charset="0"/>
                <a:ea typeface="Nunito 1"/>
                <a:cs typeface="Nunito 1"/>
                <a:sym typeface="Nunito 1"/>
              </a:rPr>
              <a:t>ATTRC</a:t>
            </a:r>
            <a:r>
              <a:rPr lang="en-US" sz="3000" dirty="0">
                <a:solidFill>
                  <a:srgbClr val="000000"/>
                </a:solidFill>
                <a:latin typeface="Nunito" pitchFamily="2" charset="0"/>
                <a:ea typeface="Nunito 1"/>
                <a:cs typeface="Nunito 1"/>
                <a:sym typeface="Nunito 1"/>
              </a:rPr>
              <a:t> - Iligan City</a:t>
            </a:r>
          </a:p>
        </p:txBody>
      </p:sp>
      <p:sp>
        <p:nvSpPr>
          <p:cNvPr id="14" name="Freeform 14"/>
          <p:cNvSpPr/>
          <p:nvPr/>
        </p:nvSpPr>
        <p:spPr>
          <a:xfrm>
            <a:off x="17216912" y="0"/>
            <a:ext cx="1071088" cy="2030656"/>
          </a:xfrm>
          <a:custGeom>
            <a:avLst/>
            <a:gdLst/>
            <a:ahLst/>
            <a:cxnLst/>
            <a:rect l="l" t="t" r="r" b="b"/>
            <a:pathLst>
              <a:path w="2942276" h="2942276">
                <a:moveTo>
                  <a:pt x="0" y="0"/>
                </a:moveTo>
                <a:lnTo>
                  <a:pt x="2942276" y="0"/>
                </a:lnTo>
                <a:lnTo>
                  <a:pt x="2942276" y="2942276"/>
                </a:lnTo>
                <a:lnTo>
                  <a:pt x="0" y="2942276"/>
                </a:lnTo>
                <a:lnTo>
                  <a:pt x="0" y="0"/>
                </a:lnTo>
                <a:close/>
              </a:path>
            </a:pathLst>
          </a:custGeom>
          <a:blipFill>
            <a:blip r:embed="rId5">
              <a:extLst>
                <a:ext uri="{96DAC541-7B7A-43D3-8B79-37D633B846F1}">
                  <asvg:svgBlip xmlns:asvg="http://schemas.microsoft.com/office/drawing/2016/SVG/main" r:embed="rId6"/>
                </a:ext>
              </a:extLst>
            </a:blip>
            <a:stretch>
              <a:fillRect t="-44892" r="-174700"/>
            </a:stretch>
          </a:blipFill>
        </p:spPr>
      </p:sp>
      <p:pic>
        <p:nvPicPr>
          <p:cNvPr id="15" name="Picture 2" descr="No photo description available.">
            <a:extLst>
              <a:ext uri="{FF2B5EF4-FFF2-40B4-BE49-F238E27FC236}">
                <a16:creationId xmlns:a16="http://schemas.microsoft.com/office/drawing/2014/main" id="{B4B6732B-8B1E-FA9F-329D-A933B90711C7}"/>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94088" y="952729"/>
            <a:ext cx="2155854" cy="2155854"/>
          </a:xfrm>
          <a:prstGeom prst="ellipse">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Round Geometric Memphis Design"/>
          <p:cNvSpPr/>
          <p:nvPr/>
        </p:nvSpPr>
        <p:spPr>
          <a:xfrm>
            <a:off x="600877" y="559518"/>
            <a:ext cx="2942276" cy="2942276"/>
          </a:xfrm>
          <a:custGeom>
            <a:avLst/>
            <a:gdLst/>
            <a:ahLst/>
            <a:cxnLst/>
            <a:rect l="l" t="t" r="r" b="b"/>
            <a:pathLst>
              <a:path w="2942276" h="2942276">
                <a:moveTo>
                  <a:pt x="0" y="0"/>
                </a:moveTo>
                <a:lnTo>
                  <a:pt x="2942276" y="0"/>
                </a:lnTo>
                <a:lnTo>
                  <a:pt x="2942276" y="2942277"/>
                </a:lnTo>
                <a:lnTo>
                  <a:pt x="0" y="29422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descr="Round Geometric Memphis Design"/>
          <p:cNvSpPr/>
          <p:nvPr/>
        </p:nvSpPr>
        <p:spPr>
          <a:xfrm>
            <a:off x="17216912" y="0"/>
            <a:ext cx="1071088" cy="2030656"/>
          </a:xfrm>
          <a:custGeom>
            <a:avLst/>
            <a:gdLst/>
            <a:ahLst/>
            <a:cxnLst/>
            <a:rect l="l" t="t" r="r" b="b"/>
            <a:pathLst>
              <a:path w="2942276" h="2942276">
                <a:moveTo>
                  <a:pt x="0" y="0"/>
                </a:moveTo>
                <a:lnTo>
                  <a:pt x="2942276" y="0"/>
                </a:lnTo>
                <a:lnTo>
                  <a:pt x="2942276" y="2942276"/>
                </a:lnTo>
                <a:lnTo>
                  <a:pt x="0" y="2942276"/>
                </a:lnTo>
                <a:lnTo>
                  <a:pt x="0" y="0"/>
                </a:lnTo>
                <a:close/>
              </a:path>
            </a:pathLst>
          </a:custGeom>
          <a:blipFill>
            <a:blip r:embed="rId2">
              <a:extLst>
                <a:ext uri="{96DAC541-7B7A-43D3-8B79-37D633B846F1}">
                  <asvg:svgBlip xmlns:asvg="http://schemas.microsoft.com/office/drawing/2016/SVG/main" r:embed="rId3"/>
                </a:ext>
              </a:extLst>
            </a:blip>
            <a:stretch>
              <a:fillRect t="-44892" r="-174700"/>
            </a:stretch>
          </a:blipFill>
        </p:spPr>
      </p:sp>
      <p:sp>
        <p:nvSpPr>
          <p:cNvPr id="4" name="TextBox 4"/>
          <p:cNvSpPr txBox="1"/>
          <p:nvPr/>
        </p:nvSpPr>
        <p:spPr>
          <a:xfrm>
            <a:off x="2673585" y="1495435"/>
            <a:ext cx="12940831" cy="2447925"/>
          </a:xfrm>
          <a:prstGeom prst="rect">
            <a:avLst/>
          </a:prstGeom>
        </p:spPr>
        <p:txBody>
          <a:bodyPr lIns="0" tIns="0" rIns="0" bIns="0" rtlCol="0" anchor="t">
            <a:spAutoFit/>
          </a:bodyPr>
          <a:lstStyle/>
          <a:p>
            <a:pPr marL="0" lvl="0" indent="0" algn="ctr">
              <a:lnSpc>
                <a:spcPts val="9600"/>
              </a:lnSpc>
              <a:spcBef>
                <a:spcPct val="0"/>
              </a:spcBef>
            </a:pPr>
            <a:r>
              <a:rPr lang="en-US" sz="8000" dirty="0">
                <a:solidFill>
                  <a:srgbClr val="000000"/>
                </a:solidFill>
                <a:latin typeface="Fredoka"/>
                <a:ea typeface="Fredoka"/>
                <a:cs typeface="Fredoka"/>
                <a:sym typeface="Fredoka"/>
              </a:rPr>
              <a:t>IRRIGATION AND DRAINAGE ENGINEERING</a:t>
            </a:r>
          </a:p>
        </p:txBody>
      </p:sp>
      <p:grpSp>
        <p:nvGrpSpPr>
          <p:cNvPr id="52" name="Group 51">
            <a:extLst>
              <a:ext uri="{FF2B5EF4-FFF2-40B4-BE49-F238E27FC236}">
                <a16:creationId xmlns:a16="http://schemas.microsoft.com/office/drawing/2014/main" id="{5D52C3D3-2A8D-FE8D-613B-C77B75FC372A}"/>
              </a:ext>
            </a:extLst>
          </p:cNvPr>
          <p:cNvGrpSpPr/>
          <p:nvPr/>
        </p:nvGrpSpPr>
        <p:grpSpPr>
          <a:xfrm>
            <a:off x="2673585" y="4405473"/>
            <a:ext cx="6019800" cy="880074"/>
            <a:chOff x="1295400" y="5558827"/>
            <a:chExt cx="6019800" cy="880074"/>
          </a:xfrm>
        </p:grpSpPr>
        <p:grpSp>
          <p:nvGrpSpPr>
            <p:cNvPr id="15" name="Group 10">
              <a:extLst>
                <a:ext uri="{FF2B5EF4-FFF2-40B4-BE49-F238E27FC236}">
                  <a16:creationId xmlns:a16="http://schemas.microsoft.com/office/drawing/2014/main" id="{CA6D57E5-28FF-B36D-BD04-43444F9BFADB}"/>
                </a:ext>
              </a:extLst>
            </p:cNvPr>
            <p:cNvGrpSpPr/>
            <p:nvPr/>
          </p:nvGrpSpPr>
          <p:grpSpPr>
            <a:xfrm>
              <a:off x="1295400" y="5558827"/>
              <a:ext cx="6019800" cy="880074"/>
              <a:chOff x="0" y="0"/>
              <a:chExt cx="3247348" cy="455698"/>
            </a:xfrm>
          </p:grpSpPr>
          <p:sp>
            <p:nvSpPr>
              <p:cNvPr id="16" name="Freeform 11">
                <a:extLst>
                  <a:ext uri="{FF2B5EF4-FFF2-40B4-BE49-F238E27FC236}">
                    <a16:creationId xmlns:a16="http://schemas.microsoft.com/office/drawing/2014/main" id="{81FFA35C-E2E3-8FBB-3915-83ED68FC3DDE}"/>
                  </a:ext>
                </a:extLst>
              </p:cNvPr>
              <p:cNvSpPr/>
              <p:nvPr/>
            </p:nvSpPr>
            <p:spPr>
              <a:xfrm>
                <a:off x="0" y="0"/>
                <a:ext cx="3247348" cy="455698"/>
              </a:xfrm>
              <a:prstGeom prst="roundRect">
                <a:avLst/>
              </a:prstGeom>
              <a:solidFill>
                <a:srgbClr val="DDDEDE"/>
              </a:solidFill>
              <a:ln w="38100" cap="sq">
                <a:solidFill>
                  <a:srgbClr val="F1F2F2"/>
                </a:solidFill>
                <a:prstDash val="solid"/>
                <a:miter/>
              </a:ln>
            </p:spPr>
          </p:sp>
          <p:sp>
            <p:nvSpPr>
              <p:cNvPr id="17" name="TextBox 12">
                <a:extLst>
                  <a:ext uri="{FF2B5EF4-FFF2-40B4-BE49-F238E27FC236}">
                    <a16:creationId xmlns:a16="http://schemas.microsoft.com/office/drawing/2014/main" id="{9E1B37F0-4F53-E73A-AF04-8BEC670E9344}"/>
                  </a:ext>
                </a:extLst>
              </p:cNvPr>
              <p:cNvSpPr txBox="1"/>
              <p:nvPr/>
            </p:nvSpPr>
            <p:spPr>
              <a:xfrm>
                <a:off x="0" y="-38100"/>
                <a:ext cx="3247348" cy="493798"/>
              </a:xfrm>
              <a:prstGeom prst="round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2015271" y="5659411"/>
              <a:ext cx="4580058" cy="541751"/>
            </a:xfrm>
            <a:prstGeom prst="rect">
              <a:avLst/>
            </a:prstGeom>
          </p:spPr>
          <p:txBody>
            <a:bodyPr lIns="0" tIns="0" rIns="0" bIns="0" rtlCol="0" anchor="t">
              <a:spAutoFit/>
            </a:bodyPr>
            <a:lstStyle/>
            <a:p>
              <a:pPr algn="ctr">
                <a:lnSpc>
                  <a:spcPts val="4620"/>
                </a:lnSpc>
              </a:pPr>
              <a:r>
                <a:rPr lang="en-US" sz="2600" b="1" dirty="0">
                  <a:solidFill>
                    <a:srgbClr val="000000"/>
                  </a:solidFill>
                  <a:latin typeface="Canva Sans"/>
                  <a:ea typeface="Canva Sans"/>
                  <a:cs typeface="Canva Sans"/>
                  <a:sym typeface="Canva Sans"/>
                </a:rPr>
                <a:t>Surveying</a:t>
              </a:r>
            </a:p>
          </p:txBody>
        </p:sp>
      </p:grpSp>
      <p:grpSp>
        <p:nvGrpSpPr>
          <p:cNvPr id="21" name="Group 20">
            <a:extLst>
              <a:ext uri="{FF2B5EF4-FFF2-40B4-BE49-F238E27FC236}">
                <a16:creationId xmlns:a16="http://schemas.microsoft.com/office/drawing/2014/main" id="{02992D13-A5B8-36E8-5F45-32FEEB737F70}"/>
              </a:ext>
            </a:extLst>
          </p:cNvPr>
          <p:cNvGrpSpPr/>
          <p:nvPr/>
        </p:nvGrpSpPr>
        <p:grpSpPr>
          <a:xfrm>
            <a:off x="2673585" y="5624673"/>
            <a:ext cx="6019800" cy="880074"/>
            <a:chOff x="1295400" y="6709252"/>
            <a:chExt cx="6019800" cy="880074"/>
          </a:xfrm>
        </p:grpSpPr>
        <p:grpSp>
          <p:nvGrpSpPr>
            <p:cNvPr id="18" name="Group 10">
              <a:extLst>
                <a:ext uri="{FF2B5EF4-FFF2-40B4-BE49-F238E27FC236}">
                  <a16:creationId xmlns:a16="http://schemas.microsoft.com/office/drawing/2014/main" id="{7394E585-E2CF-6055-BCB9-FAAF8A04B346}"/>
                </a:ext>
              </a:extLst>
            </p:cNvPr>
            <p:cNvGrpSpPr/>
            <p:nvPr/>
          </p:nvGrpSpPr>
          <p:grpSpPr>
            <a:xfrm>
              <a:off x="1295400" y="6709252"/>
              <a:ext cx="6019800" cy="880074"/>
              <a:chOff x="0" y="0"/>
              <a:chExt cx="3247348" cy="455698"/>
            </a:xfrm>
          </p:grpSpPr>
          <p:sp>
            <p:nvSpPr>
              <p:cNvPr id="19" name="Freeform 11">
                <a:extLst>
                  <a:ext uri="{FF2B5EF4-FFF2-40B4-BE49-F238E27FC236}">
                    <a16:creationId xmlns:a16="http://schemas.microsoft.com/office/drawing/2014/main" id="{F7CE2F9B-1182-B17B-D325-4BBB24C8DF2F}"/>
                  </a:ext>
                </a:extLst>
              </p:cNvPr>
              <p:cNvSpPr/>
              <p:nvPr/>
            </p:nvSpPr>
            <p:spPr>
              <a:xfrm>
                <a:off x="0" y="0"/>
                <a:ext cx="3247348" cy="455698"/>
              </a:xfrm>
              <a:prstGeom prst="roundRect">
                <a:avLst/>
              </a:prstGeom>
              <a:solidFill>
                <a:srgbClr val="DDDEDE"/>
              </a:solidFill>
              <a:ln w="38100" cap="sq">
                <a:solidFill>
                  <a:srgbClr val="F1F2F2"/>
                </a:solidFill>
                <a:prstDash val="solid"/>
                <a:miter/>
              </a:ln>
            </p:spPr>
          </p:sp>
          <p:sp>
            <p:nvSpPr>
              <p:cNvPr id="20" name="TextBox 12">
                <a:extLst>
                  <a:ext uri="{FF2B5EF4-FFF2-40B4-BE49-F238E27FC236}">
                    <a16:creationId xmlns:a16="http://schemas.microsoft.com/office/drawing/2014/main" id="{9D747EB2-554C-6B6D-31DD-47590C127339}"/>
                  </a:ext>
                </a:extLst>
              </p:cNvPr>
              <p:cNvSpPr txBox="1"/>
              <p:nvPr/>
            </p:nvSpPr>
            <p:spPr>
              <a:xfrm>
                <a:off x="0" y="-38100"/>
                <a:ext cx="3247348" cy="493798"/>
              </a:xfrm>
              <a:prstGeom prst="round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634797" y="6846154"/>
              <a:ext cx="5414229" cy="528478"/>
            </a:xfrm>
            <a:prstGeom prst="rect">
              <a:avLst/>
            </a:prstGeom>
          </p:spPr>
          <p:txBody>
            <a:bodyPr wrap="square" lIns="0" tIns="0" rIns="0" bIns="0" rtlCol="0" anchor="t">
              <a:spAutoFit/>
            </a:bodyPr>
            <a:lstStyle/>
            <a:p>
              <a:pPr marL="0" lvl="0" indent="0" algn="ctr">
                <a:lnSpc>
                  <a:spcPts val="4620"/>
                </a:lnSpc>
                <a:spcBef>
                  <a:spcPct val="0"/>
                </a:spcBef>
              </a:pPr>
              <a:r>
                <a:rPr lang="en-US" sz="2600" b="1" dirty="0">
                  <a:solidFill>
                    <a:srgbClr val="000000"/>
                  </a:solidFill>
                  <a:latin typeface="Canva Sans"/>
                  <a:ea typeface="Canva Sans"/>
                  <a:cs typeface="Canva Sans"/>
                  <a:sym typeface="Canva Sans"/>
                </a:rPr>
                <a:t>Fluid Mechanics</a:t>
              </a:r>
            </a:p>
          </p:txBody>
        </p:sp>
      </p:grpSp>
      <p:grpSp>
        <p:nvGrpSpPr>
          <p:cNvPr id="22" name="Group 21">
            <a:extLst>
              <a:ext uri="{FF2B5EF4-FFF2-40B4-BE49-F238E27FC236}">
                <a16:creationId xmlns:a16="http://schemas.microsoft.com/office/drawing/2014/main" id="{F867F948-1C06-4BA7-CB05-BCF5EAB65403}"/>
              </a:ext>
            </a:extLst>
          </p:cNvPr>
          <p:cNvGrpSpPr/>
          <p:nvPr/>
        </p:nvGrpSpPr>
        <p:grpSpPr>
          <a:xfrm>
            <a:off x="2673585" y="6770292"/>
            <a:ext cx="6019800" cy="880074"/>
            <a:chOff x="1295400" y="6709252"/>
            <a:chExt cx="6019800" cy="880074"/>
          </a:xfrm>
        </p:grpSpPr>
        <p:grpSp>
          <p:nvGrpSpPr>
            <p:cNvPr id="23" name="Group 10">
              <a:extLst>
                <a:ext uri="{FF2B5EF4-FFF2-40B4-BE49-F238E27FC236}">
                  <a16:creationId xmlns:a16="http://schemas.microsoft.com/office/drawing/2014/main" id="{58CFF5F9-EAFF-D0A0-FA2E-CAD99F5E316C}"/>
                </a:ext>
              </a:extLst>
            </p:cNvPr>
            <p:cNvGrpSpPr/>
            <p:nvPr/>
          </p:nvGrpSpPr>
          <p:grpSpPr>
            <a:xfrm>
              <a:off x="1295400" y="6709252"/>
              <a:ext cx="6019800" cy="880074"/>
              <a:chOff x="0" y="0"/>
              <a:chExt cx="3247348" cy="455698"/>
            </a:xfrm>
          </p:grpSpPr>
          <p:sp>
            <p:nvSpPr>
              <p:cNvPr id="25" name="Freeform 11">
                <a:extLst>
                  <a:ext uri="{FF2B5EF4-FFF2-40B4-BE49-F238E27FC236}">
                    <a16:creationId xmlns:a16="http://schemas.microsoft.com/office/drawing/2014/main" id="{5CCDF30F-3D1E-C536-909B-2C3259F2CCC5}"/>
                  </a:ext>
                </a:extLst>
              </p:cNvPr>
              <p:cNvSpPr/>
              <p:nvPr/>
            </p:nvSpPr>
            <p:spPr>
              <a:xfrm>
                <a:off x="0" y="0"/>
                <a:ext cx="3247348" cy="455698"/>
              </a:xfrm>
              <a:prstGeom prst="roundRect">
                <a:avLst/>
              </a:prstGeom>
              <a:solidFill>
                <a:srgbClr val="DDDEDE"/>
              </a:solidFill>
              <a:ln w="38100" cap="sq">
                <a:solidFill>
                  <a:srgbClr val="F1F2F2"/>
                </a:solidFill>
                <a:prstDash val="solid"/>
                <a:miter/>
              </a:ln>
            </p:spPr>
          </p:sp>
          <p:sp>
            <p:nvSpPr>
              <p:cNvPr id="26" name="TextBox 12">
                <a:extLst>
                  <a:ext uri="{FF2B5EF4-FFF2-40B4-BE49-F238E27FC236}">
                    <a16:creationId xmlns:a16="http://schemas.microsoft.com/office/drawing/2014/main" id="{CDD9264F-5263-23B8-7D20-BEE5A40324BA}"/>
                  </a:ext>
                </a:extLst>
              </p:cNvPr>
              <p:cNvSpPr txBox="1"/>
              <p:nvPr/>
            </p:nvSpPr>
            <p:spPr>
              <a:xfrm>
                <a:off x="0" y="-38100"/>
                <a:ext cx="3247348" cy="493798"/>
              </a:xfrm>
              <a:prstGeom prst="roundRect">
                <a:avLst/>
              </a:prstGeom>
            </p:spPr>
            <p:txBody>
              <a:bodyPr lIns="50800" tIns="50800" rIns="50800" bIns="50800" rtlCol="0" anchor="ctr"/>
              <a:lstStyle/>
              <a:p>
                <a:pPr algn="ctr">
                  <a:lnSpc>
                    <a:spcPts val="2659"/>
                  </a:lnSpc>
                  <a:spcBef>
                    <a:spcPct val="0"/>
                  </a:spcBef>
                </a:pPr>
                <a:endParaRPr/>
              </a:p>
            </p:txBody>
          </p:sp>
        </p:grpSp>
        <p:sp>
          <p:nvSpPr>
            <p:cNvPr id="24" name="TextBox 6">
              <a:extLst>
                <a:ext uri="{FF2B5EF4-FFF2-40B4-BE49-F238E27FC236}">
                  <a16:creationId xmlns:a16="http://schemas.microsoft.com/office/drawing/2014/main" id="{DD7920BA-C74C-3878-1EAE-EDCC78D1BE86}"/>
                </a:ext>
              </a:extLst>
            </p:cNvPr>
            <p:cNvSpPr txBox="1"/>
            <p:nvPr/>
          </p:nvSpPr>
          <p:spPr>
            <a:xfrm>
              <a:off x="1634797" y="6846154"/>
              <a:ext cx="5414229" cy="528478"/>
            </a:xfrm>
            <a:prstGeom prst="rect">
              <a:avLst/>
            </a:prstGeom>
          </p:spPr>
          <p:txBody>
            <a:bodyPr wrap="square" lIns="0" tIns="0" rIns="0" bIns="0" rtlCol="0" anchor="t">
              <a:spAutoFit/>
            </a:bodyPr>
            <a:lstStyle/>
            <a:p>
              <a:pPr marL="0" lvl="0" indent="0" algn="ctr">
                <a:lnSpc>
                  <a:spcPts val="4620"/>
                </a:lnSpc>
                <a:spcBef>
                  <a:spcPct val="0"/>
                </a:spcBef>
              </a:pPr>
              <a:r>
                <a:rPr lang="en-US" sz="2600" b="1" dirty="0">
                  <a:solidFill>
                    <a:srgbClr val="000000"/>
                  </a:solidFill>
                  <a:latin typeface="Canva Sans"/>
                  <a:ea typeface="Canva Sans"/>
                  <a:cs typeface="Canva Sans"/>
                  <a:sym typeface="Canva Sans"/>
                </a:rPr>
                <a:t>Groundwater Hydrology</a:t>
              </a:r>
            </a:p>
          </p:txBody>
        </p:sp>
      </p:grpSp>
      <p:grpSp>
        <p:nvGrpSpPr>
          <p:cNvPr id="29" name="Group 28">
            <a:extLst>
              <a:ext uri="{FF2B5EF4-FFF2-40B4-BE49-F238E27FC236}">
                <a16:creationId xmlns:a16="http://schemas.microsoft.com/office/drawing/2014/main" id="{60222F70-0399-4A77-CBCA-A5DED8F50A33}"/>
              </a:ext>
            </a:extLst>
          </p:cNvPr>
          <p:cNvGrpSpPr/>
          <p:nvPr/>
        </p:nvGrpSpPr>
        <p:grpSpPr>
          <a:xfrm>
            <a:off x="9551873" y="4405473"/>
            <a:ext cx="6019800" cy="880074"/>
            <a:chOff x="1295400" y="6709252"/>
            <a:chExt cx="6019800" cy="880074"/>
          </a:xfrm>
        </p:grpSpPr>
        <p:grpSp>
          <p:nvGrpSpPr>
            <p:cNvPr id="30" name="Group 10">
              <a:extLst>
                <a:ext uri="{FF2B5EF4-FFF2-40B4-BE49-F238E27FC236}">
                  <a16:creationId xmlns:a16="http://schemas.microsoft.com/office/drawing/2014/main" id="{26FA2352-2FE0-0573-EB89-2DD8F13F83D8}"/>
                </a:ext>
              </a:extLst>
            </p:cNvPr>
            <p:cNvGrpSpPr/>
            <p:nvPr/>
          </p:nvGrpSpPr>
          <p:grpSpPr>
            <a:xfrm>
              <a:off x="1295400" y="6709252"/>
              <a:ext cx="6019800" cy="880074"/>
              <a:chOff x="0" y="0"/>
              <a:chExt cx="3247348" cy="455698"/>
            </a:xfrm>
          </p:grpSpPr>
          <p:sp>
            <p:nvSpPr>
              <p:cNvPr id="32" name="Freeform 11">
                <a:extLst>
                  <a:ext uri="{FF2B5EF4-FFF2-40B4-BE49-F238E27FC236}">
                    <a16:creationId xmlns:a16="http://schemas.microsoft.com/office/drawing/2014/main" id="{ABAEDEB5-D286-1E69-433D-2EA3A5AEF501}"/>
                  </a:ext>
                </a:extLst>
              </p:cNvPr>
              <p:cNvSpPr/>
              <p:nvPr/>
            </p:nvSpPr>
            <p:spPr>
              <a:xfrm>
                <a:off x="0" y="0"/>
                <a:ext cx="3247348" cy="455698"/>
              </a:xfrm>
              <a:prstGeom prst="roundRect">
                <a:avLst/>
              </a:prstGeom>
              <a:solidFill>
                <a:srgbClr val="DDDEDE"/>
              </a:solidFill>
              <a:ln w="38100" cap="sq">
                <a:solidFill>
                  <a:srgbClr val="F1F2F2"/>
                </a:solidFill>
                <a:prstDash val="solid"/>
                <a:miter/>
              </a:ln>
            </p:spPr>
          </p:sp>
          <p:sp>
            <p:nvSpPr>
              <p:cNvPr id="33" name="TextBox 12">
                <a:extLst>
                  <a:ext uri="{FF2B5EF4-FFF2-40B4-BE49-F238E27FC236}">
                    <a16:creationId xmlns:a16="http://schemas.microsoft.com/office/drawing/2014/main" id="{DCD6BD17-BD57-E202-9226-1A7DBDC59665}"/>
                  </a:ext>
                </a:extLst>
              </p:cNvPr>
              <p:cNvSpPr txBox="1"/>
              <p:nvPr/>
            </p:nvSpPr>
            <p:spPr>
              <a:xfrm>
                <a:off x="0" y="-38100"/>
                <a:ext cx="3247348" cy="493798"/>
              </a:xfrm>
              <a:prstGeom prst="roundRect">
                <a:avLst/>
              </a:prstGeom>
            </p:spPr>
            <p:txBody>
              <a:bodyPr lIns="50800" tIns="50800" rIns="50800" bIns="50800" rtlCol="0" anchor="ctr"/>
              <a:lstStyle/>
              <a:p>
                <a:pPr algn="ctr">
                  <a:lnSpc>
                    <a:spcPts val="2659"/>
                  </a:lnSpc>
                  <a:spcBef>
                    <a:spcPct val="0"/>
                  </a:spcBef>
                </a:pPr>
                <a:endParaRPr/>
              </a:p>
            </p:txBody>
          </p:sp>
        </p:grpSp>
        <p:sp>
          <p:nvSpPr>
            <p:cNvPr id="31" name="TextBox 6">
              <a:extLst>
                <a:ext uri="{FF2B5EF4-FFF2-40B4-BE49-F238E27FC236}">
                  <a16:creationId xmlns:a16="http://schemas.microsoft.com/office/drawing/2014/main" id="{BDD836E0-F179-D95C-4820-DBA6379C74AF}"/>
                </a:ext>
              </a:extLst>
            </p:cNvPr>
            <p:cNvSpPr txBox="1"/>
            <p:nvPr/>
          </p:nvSpPr>
          <p:spPr>
            <a:xfrm>
              <a:off x="1634797" y="6846154"/>
              <a:ext cx="5414229" cy="528478"/>
            </a:xfrm>
            <a:prstGeom prst="rect">
              <a:avLst/>
            </a:prstGeom>
          </p:spPr>
          <p:txBody>
            <a:bodyPr wrap="square" lIns="0" tIns="0" rIns="0" bIns="0" rtlCol="0" anchor="t">
              <a:spAutoFit/>
            </a:bodyPr>
            <a:lstStyle/>
            <a:p>
              <a:pPr marL="0" lvl="0" indent="0" algn="ctr">
                <a:lnSpc>
                  <a:spcPts val="4620"/>
                </a:lnSpc>
                <a:spcBef>
                  <a:spcPct val="0"/>
                </a:spcBef>
              </a:pPr>
              <a:r>
                <a:rPr lang="en-US" sz="2600" b="1" dirty="0">
                  <a:solidFill>
                    <a:srgbClr val="000000"/>
                  </a:solidFill>
                  <a:latin typeface="Canva Sans"/>
                  <a:ea typeface="Canva Sans"/>
                  <a:cs typeface="Canva Sans"/>
                  <a:sym typeface="Canva Sans"/>
                </a:rPr>
                <a:t>Pumps</a:t>
              </a:r>
            </a:p>
          </p:txBody>
        </p:sp>
      </p:grpSp>
      <p:grpSp>
        <p:nvGrpSpPr>
          <p:cNvPr id="53" name="Group 52">
            <a:extLst>
              <a:ext uri="{FF2B5EF4-FFF2-40B4-BE49-F238E27FC236}">
                <a16:creationId xmlns:a16="http://schemas.microsoft.com/office/drawing/2014/main" id="{8DB5B269-8652-4AEA-3EAD-E45CFA8BB4B9}"/>
              </a:ext>
            </a:extLst>
          </p:cNvPr>
          <p:cNvGrpSpPr/>
          <p:nvPr/>
        </p:nvGrpSpPr>
        <p:grpSpPr>
          <a:xfrm>
            <a:off x="9551873" y="5624673"/>
            <a:ext cx="6019800" cy="880074"/>
            <a:chOff x="1295400" y="5558827"/>
            <a:chExt cx="6019800" cy="880074"/>
          </a:xfrm>
        </p:grpSpPr>
        <p:grpSp>
          <p:nvGrpSpPr>
            <p:cNvPr id="54" name="Group 10">
              <a:extLst>
                <a:ext uri="{FF2B5EF4-FFF2-40B4-BE49-F238E27FC236}">
                  <a16:creationId xmlns:a16="http://schemas.microsoft.com/office/drawing/2014/main" id="{6758D15C-1D6B-9C94-4F08-692093EE31AA}"/>
                </a:ext>
              </a:extLst>
            </p:cNvPr>
            <p:cNvGrpSpPr/>
            <p:nvPr/>
          </p:nvGrpSpPr>
          <p:grpSpPr>
            <a:xfrm>
              <a:off x="1295400" y="5558827"/>
              <a:ext cx="6019800" cy="880074"/>
              <a:chOff x="0" y="0"/>
              <a:chExt cx="3247348" cy="455698"/>
            </a:xfrm>
          </p:grpSpPr>
          <p:sp>
            <p:nvSpPr>
              <p:cNvPr id="56" name="Freeform 11">
                <a:extLst>
                  <a:ext uri="{FF2B5EF4-FFF2-40B4-BE49-F238E27FC236}">
                    <a16:creationId xmlns:a16="http://schemas.microsoft.com/office/drawing/2014/main" id="{F32738D0-8D0B-3865-23D7-47E4C29F57AC}"/>
                  </a:ext>
                </a:extLst>
              </p:cNvPr>
              <p:cNvSpPr/>
              <p:nvPr/>
            </p:nvSpPr>
            <p:spPr>
              <a:xfrm>
                <a:off x="0" y="0"/>
                <a:ext cx="3247348" cy="455698"/>
              </a:xfrm>
              <a:prstGeom prst="roundRect">
                <a:avLst/>
              </a:prstGeom>
              <a:solidFill>
                <a:srgbClr val="DDDEDE"/>
              </a:solidFill>
              <a:ln w="38100" cap="sq">
                <a:solidFill>
                  <a:srgbClr val="F1F2F2"/>
                </a:solidFill>
                <a:prstDash val="solid"/>
                <a:miter/>
              </a:ln>
            </p:spPr>
          </p:sp>
          <p:sp>
            <p:nvSpPr>
              <p:cNvPr id="57" name="TextBox 12">
                <a:extLst>
                  <a:ext uri="{FF2B5EF4-FFF2-40B4-BE49-F238E27FC236}">
                    <a16:creationId xmlns:a16="http://schemas.microsoft.com/office/drawing/2014/main" id="{C4198CEB-3F10-9E30-BB38-18156B6E30EE}"/>
                  </a:ext>
                </a:extLst>
              </p:cNvPr>
              <p:cNvSpPr txBox="1"/>
              <p:nvPr/>
            </p:nvSpPr>
            <p:spPr>
              <a:xfrm>
                <a:off x="0" y="-38100"/>
                <a:ext cx="3247348" cy="493798"/>
              </a:xfrm>
              <a:prstGeom prst="roundRect">
                <a:avLst/>
              </a:prstGeom>
            </p:spPr>
            <p:txBody>
              <a:bodyPr lIns="50800" tIns="50800" rIns="50800" bIns="50800" rtlCol="0" anchor="ctr"/>
              <a:lstStyle/>
              <a:p>
                <a:pPr algn="ctr">
                  <a:lnSpc>
                    <a:spcPts val="2659"/>
                  </a:lnSpc>
                  <a:spcBef>
                    <a:spcPct val="0"/>
                  </a:spcBef>
                </a:pPr>
                <a:endParaRPr/>
              </a:p>
            </p:txBody>
          </p:sp>
        </p:grpSp>
        <p:sp>
          <p:nvSpPr>
            <p:cNvPr id="55" name="TextBox 5">
              <a:extLst>
                <a:ext uri="{FF2B5EF4-FFF2-40B4-BE49-F238E27FC236}">
                  <a16:creationId xmlns:a16="http://schemas.microsoft.com/office/drawing/2014/main" id="{6B3ECAF5-1F80-2D8A-1DF2-A31DAC552751}"/>
                </a:ext>
              </a:extLst>
            </p:cNvPr>
            <p:cNvSpPr txBox="1"/>
            <p:nvPr/>
          </p:nvSpPr>
          <p:spPr>
            <a:xfrm>
              <a:off x="2051882" y="5651100"/>
              <a:ext cx="4580058" cy="541751"/>
            </a:xfrm>
            <a:prstGeom prst="rect">
              <a:avLst/>
            </a:prstGeom>
          </p:spPr>
          <p:txBody>
            <a:bodyPr lIns="0" tIns="0" rIns="0" bIns="0" rtlCol="0" anchor="t">
              <a:spAutoFit/>
            </a:bodyPr>
            <a:lstStyle/>
            <a:p>
              <a:pPr marL="0" lvl="0" indent="0" algn="ctr">
                <a:lnSpc>
                  <a:spcPts val="4620"/>
                </a:lnSpc>
                <a:spcBef>
                  <a:spcPct val="0"/>
                </a:spcBef>
              </a:pPr>
              <a:r>
                <a:rPr lang="en-US" sz="2600" b="1" dirty="0">
                  <a:solidFill>
                    <a:srgbClr val="000000"/>
                  </a:solidFill>
                  <a:latin typeface="Canva Sans"/>
                  <a:ea typeface="Canva Sans"/>
                  <a:cs typeface="Canva Sans"/>
                  <a:sym typeface="Canva Sans"/>
                </a:rPr>
                <a:t>Open Channel</a:t>
              </a:r>
            </a:p>
          </p:txBody>
        </p:sp>
      </p:grpSp>
      <p:grpSp>
        <p:nvGrpSpPr>
          <p:cNvPr id="58" name="Group 57">
            <a:extLst>
              <a:ext uri="{FF2B5EF4-FFF2-40B4-BE49-F238E27FC236}">
                <a16:creationId xmlns:a16="http://schemas.microsoft.com/office/drawing/2014/main" id="{A6B622DC-D04B-F027-1CBF-F8F117EC952A}"/>
              </a:ext>
            </a:extLst>
          </p:cNvPr>
          <p:cNvGrpSpPr/>
          <p:nvPr/>
        </p:nvGrpSpPr>
        <p:grpSpPr>
          <a:xfrm>
            <a:off x="9551873" y="6765162"/>
            <a:ext cx="6019800" cy="880074"/>
            <a:chOff x="1295400" y="6709252"/>
            <a:chExt cx="6019800" cy="880074"/>
          </a:xfrm>
        </p:grpSpPr>
        <p:grpSp>
          <p:nvGrpSpPr>
            <p:cNvPr id="59" name="Group 10">
              <a:extLst>
                <a:ext uri="{FF2B5EF4-FFF2-40B4-BE49-F238E27FC236}">
                  <a16:creationId xmlns:a16="http://schemas.microsoft.com/office/drawing/2014/main" id="{A685B682-44BB-CB0E-B1A9-6581D8062BC5}"/>
                </a:ext>
              </a:extLst>
            </p:cNvPr>
            <p:cNvGrpSpPr/>
            <p:nvPr/>
          </p:nvGrpSpPr>
          <p:grpSpPr>
            <a:xfrm>
              <a:off x="1295400" y="6709252"/>
              <a:ext cx="6019800" cy="880074"/>
              <a:chOff x="0" y="0"/>
              <a:chExt cx="3247348" cy="455698"/>
            </a:xfrm>
          </p:grpSpPr>
          <p:sp>
            <p:nvSpPr>
              <p:cNvPr id="61" name="Freeform 11">
                <a:extLst>
                  <a:ext uri="{FF2B5EF4-FFF2-40B4-BE49-F238E27FC236}">
                    <a16:creationId xmlns:a16="http://schemas.microsoft.com/office/drawing/2014/main" id="{65C6099B-B529-C1F2-533F-EC9B299FF46F}"/>
                  </a:ext>
                </a:extLst>
              </p:cNvPr>
              <p:cNvSpPr/>
              <p:nvPr/>
            </p:nvSpPr>
            <p:spPr>
              <a:xfrm>
                <a:off x="0" y="0"/>
                <a:ext cx="3247348" cy="455698"/>
              </a:xfrm>
              <a:prstGeom prst="roundRect">
                <a:avLst/>
              </a:prstGeom>
              <a:solidFill>
                <a:srgbClr val="DDDEDE"/>
              </a:solidFill>
              <a:ln w="38100" cap="sq">
                <a:solidFill>
                  <a:srgbClr val="F1F2F2"/>
                </a:solidFill>
                <a:prstDash val="solid"/>
                <a:miter/>
              </a:ln>
            </p:spPr>
          </p:sp>
          <p:sp>
            <p:nvSpPr>
              <p:cNvPr id="62" name="TextBox 12">
                <a:extLst>
                  <a:ext uri="{FF2B5EF4-FFF2-40B4-BE49-F238E27FC236}">
                    <a16:creationId xmlns:a16="http://schemas.microsoft.com/office/drawing/2014/main" id="{4FB9F9AE-D89F-4CE4-BFA2-924314D9BB2B}"/>
                  </a:ext>
                </a:extLst>
              </p:cNvPr>
              <p:cNvSpPr txBox="1"/>
              <p:nvPr/>
            </p:nvSpPr>
            <p:spPr>
              <a:xfrm>
                <a:off x="0" y="-38100"/>
                <a:ext cx="3247348" cy="493798"/>
              </a:xfrm>
              <a:prstGeom prst="roundRect">
                <a:avLst/>
              </a:prstGeom>
            </p:spPr>
            <p:txBody>
              <a:bodyPr lIns="50800" tIns="50800" rIns="50800" bIns="50800" rtlCol="0" anchor="ctr"/>
              <a:lstStyle/>
              <a:p>
                <a:pPr algn="ctr">
                  <a:lnSpc>
                    <a:spcPts val="2659"/>
                  </a:lnSpc>
                  <a:spcBef>
                    <a:spcPct val="0"/>
                  </a:spcBef>
                </a:pPr>
                <a:endParaRPr/>
              </a:p>
            </p:txBody>
          </p:sp>
        </p:grpSp>
        <p:sp>
          <p:nvSpPr>
            <p:cNvPr id="60" name="TextBox 6">
              <a:extLst>
                <a:ext uri="{FF2B5EF4-FFF2-40B4-BE49-F238E27FC236}">
                  <a16:creationId xmlns:a16="http://schemas.microsoft.com/office/drawing/2014/main" id="{929D3B86-3EDC-9AD0-1657-60245F74EDA2}"/>
                </a:ext>
              </a:extLst>
            </p:cNvPr>
            <p:cNvSpPr txBox="1"/>
            <p:nvPr/>
          </p:nvSpPr>
          <p:spPr>
            <a:xfrm>
              <a:off x="1634797" y="6846154"/>
              <a:ext cx="5414229" cy="528478"/>
            </a:xfrm>
            <a:prstGeom prst="rect">
              <a:avLst/>
            </a:prstGeom>
          </p:spPr>
          <p:txBody>
            <a:bodyPr wrap="square" lIns="0" tIns="0" rIns="0" bIns="0" rtlCol="0" anchor="t">
              <a:spAutoFit/>
            </a:bodyPr>
            <a:lstStyle/>
            <a:p>
              <a:pPr algn="ctr">
                <a:lnSpc>
                  <a:spcPts val="4620"/>
                </a:lnSpc>
              </a:pPr>
              <a:r>
                <a:rPr lang="en-US" sz="2600" b="1" dirty="0">
                  <a:solidFill>
                    <a:srgbClr val="000000"/>
                  </a:solidFill>
                  <a:latin typeface="Canva Sans"/>
                  <a:ea typeface="Canva Sans"/>
                  <a:cs typeface="Canva Sans"/>
                  <a:sym typeface="Canva Sans"/>
                </a:rPr>
                <a:t>Pressurized Irrigation Systems</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9C24E-170B-250E-E59A-BD4485974BC0}"/>
            </a:ext>
          </a:extLst>
        </p:cNvPr>
        <p:cNvGrpSpPr/>
        <p:nvPr/>
      </p:nvGrpSpPr>
      <p:grpSpPr>
        <a:xfrm>
          <a:off x="0" y="0"/>
          <a:ext cx="0" cy="0"/>
          <a:chOff x="0" y="0"/>
          <a:chExt cx="0" cy="0"/>
        </a:xfrm>
      </p:grpSpPr>
      <p:sp>
        <p:nvSpPr>
          <p:cNvPr id="2" name="Freeform 2" descr="Round Geometric Memphis Design">
            <a:extLst>
              <a:ext uri="{FF2B5EF4-FFF2-40B4-BE49-F238E27FC236}">
                <a16:creationId xmlns:a16="http://schemas.microsoft.com/office/drawing/2014/main" id="{DC4C034A-7FE6-A31C-F5D2-DCCCED4123F5}"/>
              </a:ext>
            </a:extLst>
          </p:cNvPr>
          <p:cNvSpPr/>
          <p:nvPr/>
        </p:nvSpPr>
        <p:spPr>
          <a:xfrm>
            <a:off x="600877" y="559518"/>
            <a:ext cx="2942276" cy="2942276"/>
          </a:xfrm>
          <a:custGeom>
            <a:avLst/>
            <a:gdLst/>
            <a:ahLst/>
            <a:cxnLst/>
            <a:rect l="l" t="t" r="r" b="b"/>
            <a:pathLst>
              <a:path w="2942276" h="2942276">
                <a:moveTo>
                  <a:pt x="0" y="0"/>
                </a:moveTo>
                <a:lnTo>
                  <a:pt x="2942276" y="0"/>
                </a:lnTo>
                <a:lnTo>
                  <a:pt x="2942276" y="2942277"/>
                </a:lnTo>
                <a:lnTo>
                  <a:pt x="0" y="29422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descr="Round Geometric Memphis Design">
            <a:extLst>
              <a:ext uri="{FF2B5EF4-FFF2-40B4-BE49-F238E27FC236}">
                <a16:creationId xmlns:a16="http://schemas.microsoft.com/office/drawing/2014/main" id="{2C25B5C9-7558-6F18-39C6-D54CC9399DFF}"/>
              </a:ext>
            </a:extLst>
          </p:cNvPr>
          <p:cNvSpPr/>
          <p:nvPr/>
        </p:nvSpPr>
        <p:spPr>
          <a:xfrm>
            <a:off x="17216912" y="0"/>
            <a:ext cx="1071088" cy="2030656"/>
          </a:xfrm>
          <a:custGeom>
            <a:avLst/>
            <a:gdLst/>
            <a:ahLst/>
            <a:cxnLst/>
            <a:rect l="l" t="t" r="r" b="b"/>
            <a:pathLst>
              <a:path w="2942276" h="2942276">
                <a:moveTo>
                  <a:pt x="0" y="0"/>
                </a:moveTo>
                <a:lnTo>
                  <a:pt x="2942276" y="0"/>
                </a:lnTo>
                <a:lnTo>
                  <a:pt x="2942276" y="2942276"/>
                </a:lnTo>
                <a:lnTo>
                  <a:pt x="0" y="2942276"/>
                </a:lnTo>
                <a:lnTo>
                  <a:pt x="0" y="0"/>
                </a:lnTo>
                <a:close/>
              </a:path>
            </a:pathLst>
          </a:custGeom>
          <a:blipFill>
            <a:blip r:embed="rId2">
              <a:extLst>
                <a:ext uri="{96DAC541-7B7A-43D3-8B79-37D633B846F1}">
                  <asvg:svgBlip xmlns:asvg="http://schemas.microsoft.com/office/drawing/2016/SVG/main" r:embed="rId3"/>
                </a:ext>
              </a:extLst>
            </a:blip>
            <a:stretch>
              <a:fillRect t="-44892" r="-174700"/>
            </a:stretch>
          </a:blipFill>
        </p:spPr>
      </p:sp>
      <p:sp>
        <p:nvSpPr>
          <p:cNvPr id="4" name="TextBox 4">
            <a:extLst>
              <a:ext uri="{FF2B5EF4-FFF2-40B4-BE49-F238E27FC236}">
                <a16:creationId xmlns:a16="http://schemas.microsoft.com/office/drawing/2014/main" id="{081EB90A-38A2-4BE6-8712-D079713A20F6}"/>
              </a:ext>
            </a:extLst>
          </p:cNvPr>
          <p:cNvSpPr txBox="1"/>
          <p:nvPr/>
        </p:nvSpPr>
        <p:spPr>
          <a:xfrm>
            <a:off x="2673585" y="1495435"/>
            <a:ext cx="12940831" cy="2447925"/>
          </a:xfrm>
          <a:prstGeom prst="rect">
            <a:avLst/>
          </a:prstGeom>
        </p:spPr>
        <p:txBody>
          <a:bodyPr lIns="0" tIns="0" rIns="0" bIns="0" rtlCol="0" anchor="t">
            <a:spAutoFit/>
          </a:bodyPr>
          <a:lstStyle/>
          <a:p>
            <a:pPr marL="0" lvl="0" indent="0" algn="ctr">
              <a:lnSpc>
                <a:spcPts val="9600"/>
              </a:lnSpc>
              <a:spcBef>
                <a:spcPct val="0"/>
              </a:spcBef>
            </a:pPr>
            <a:r>
              <a:rPr lang="en-US" sz="8000" dirty="0">
                <a:solidFill>
                  <a:srgbClr val="000000"/>
                </a:solidFill>
                <a:latin typeface="Fredoka"/>
                <a:ea typeface="Fredoka"/>
                <a:cs typeface="Fredoka"/>
                <a:sym typeface="Fredoka"/>
              </a:rPr>
              <a:t>IRRIGATION AND DRAINAGE ENGINEERING</a:t>
            </a:r>
          </a:p>
        </p:txBody>
      </p:sp>
      <p:grpSp>
        <p:nvGrpSpPr>
          <p:cNvPr id="29" name="Group 28">
            <a:extLst>
              <a:ext uri="{FF2B5EF4-FFF2-40B4-BE49-F238E27FC236}">
                <a16:creationId xmlns:a16="http://schemas.microsoft.com/office/drawing/2014/main" id="{6800753F-331D-7F9F-0B03-27ADEF28DBBE}"/>
              </a:ext>
            </a:extLst>
          </p:cNvPr>
          <p:cNvGrpSpPr/>
          <p:nvPr/>
        </p:nvGrpSpPr>
        <p:grpSpPr>
          <a:xfrm>
            <a:off x="9551873" y="4405473"/>
            <a:ext cx="6019800" cy="880074"/>
            <a:chOff x="1295400" y="6709252"/>
            <a:chExt cx="6019800" cy="880074"/>
          </a:xfrm>
          <a:solidFill>
            <a:schemeClr val="bg1">
              <a:lumMod val="95000"/>
            </a:schemeClr>
          </a:solidFill>
        </p:grpSpPr>
        <p:grpSp>
          <p:nvGrpSpPr>
            <p:cNvPr id="30" name="Group 10">
              <a:extLst>
                <a:ext uri="{FF2B5EF4-FFF2-40B4-BE49-F238E27FC236}">
                  <a16:creationId xmlns:a16="http://schemas.microsoft.com/office/drawing/2014/main" id="{2666FFEE-9425-1513-5821-A6CD0708EAB6}"/>
                </a:ext>
              </a:extLst>
            </p:cNvPr>
            <p:cNvGrpSpPr/>
            <p:nvPr/>
          </p:nvGrpSpPr>
          <p:grpSpPr>
            <a:xfrm>
              <a:off x="1295400" y="6709252"/>
              <a:ext cx="6019800" cy="880074"/>
              <a:chOff x="0" y="0"/>
              <a:chExt cx="3247348" cy="455698"/>
            </a:xfrm>
            <a:grpFill/>
          </p:grpSpPr>
          <p:sp>
            <p:nvSpPr>
              <p:cNvPr id="32" name="Freeform 11">
                <a:extLst>
                  <a:ext uri="{FF2B5EF4-FFF2-40B4-BE49-F238E27FC236}">
                    <a16:creationId xmlns:a16="http://schemas.microsoft.com/office/drawing/2014/main" id="{12F246ED-C0D2-414D-6C68-C7A343EA3D00}"/>
                  </a:ext>
                </a:extLst>
              </p:cNvPr>
              <p:cNvSpPr/>
              <p:nvPr/>
            </p:nvSpPr>
            <p:spPr>
              <a:xfrm>
                <a:off x="0" y="0"/>
                <a:ext cx="3247348" cy="455698"/>
              </a:xfrm>
              <a:prstGeom prst="roundRect">
                <a:avLst/>
              </a:prstGeom>
              <a:grpFill/>
              <a:ln w="38100" cap="sq">
                <a:solidFill>
                  <a:srgbClr val="F1F2F2"/>
                </a:solidFill>
                <a:prstDash val="solid"/>
                <a:miter/>
              </a:ln>
            </p:spPr>
          </p:sp>
          <p:sp>
            <p:nvSpPr>
              <p:cNvPr id="33" name="TextBox 12">
                <a:extLst>
                  <a:ext uri="{FF2B5EF4-FFF2-40B4-BE49-F238E27FC236}">
                    <a16:creationId xmlns:a16="http://schemas.microsoft.com/office/drawing/2014/main" id="{16B670DB-19F6-34B2-0553-69E7EDCB1378}"/>
                  </a:ext>
                </a:extLst>
              </p:cNvPr>
              <p:cNvSpPr txBox="1"/>
              <p:nvPr/>
            </p:nvSpPr>
            <p:spPr>
              <a:xfrm>
                <a:off x="0" y="-38100"/>
                <a:ext cx="3247348" cy="493798"/>
              </a:xfrm>
              <a:prstGeom prst="roundRect">
                <a:avLst/>
              </a:prstGeom>
              <a:grpFill/>
            </p:spPr>
            <p:txBody>
              <a:bodyPr lIns="50800" tIns="50800" rIns="50800" bIns="50800" rtlCol="0" anchor="ctr"/>
              <a:lstStyle/>
              <a:p>
                <a:pPr algn="ctr">
                  <a:lnSpc>
                    <a:spcPts val="2659"/>
                  </a:lnSpc>
                  <a:spcBef>
                    <a:spcPct val="0"/>
                  </a:spcBef>
                </a:pPr>
                <a:endParaRPr>
                  <a:solidFill>
                    <a:schemeClr val="bg1">
                      <a:lumMod val="85000"/>
                    </a:schemeClr>
                  </a:solidFill>
                </a:endParaRPr>
              </a:p>
            </p:txBody>
          </p:sp>
        </p:grpSp>
        <p:sp>
          <p:nvSpPr>
            <p:cNvPr id="31" name="TextBox 6">
              <a:extLst>
                <a:ext uri="{FF2B5EF4-FFF2-40B4-BE49-F238E27FC236}">
                  <a16:creationId xmlns:a16="http://schemas.microsoft.com/office/drawing/2014/main" id="{B8C724C1-AD11-F1AF-BD2F-C9B7F7CC8F7E}"/>
                </a:ext>
              </a:extLst>
            </p:cNvPr>
            <p:cNvSpPr txBox="1"/>
            <p:nvPr/>
          </p:nvSpPr>
          <p:spPr>
            <a:xfrm>
              <a:off x="1634797" y="6846154"/>
              <a:ext cx="5414229" cy="528478"/>
            </a:xfrm>
            <a:prstGeom prst="rect">
              <a:avLst/>
            </a:prstGeom>
            <a:grpFill/>
          </p:spPr>
          <p:txBody>
            <a:bodyPr wrap="square" lIns="0" tIns="0" rIns="0" bIns="0" rtlCol="0" anchor="t">
              <a:spAutoFit/>
            </a:bodyPr>
            <a:lstStyle/>
            <a:p>
              <a:pPr marL="0" lvl="0" indent="0" algn="ctr">
                <a:lnSpc>
                  <a:spcPts val="4620"/>
                </a:lnSpc>
                <a:spcBef>
                  <a:spcPct val="0"/>
                </a:spcBef>
              </a:pPr>
              <a:r>
                <a:rPr lang="en-US" sz="2600" b="1" dirty="0">
                  <a:solidFill>
                    <a:schemeClr val="bg1">
                      <a:lumMod val="85000"/>
                    </a:schemeClr>
                  </a:solidFill>
                  <a:latin typeface="Canva Sans"/>
                  <a:ea typeface="Canva Sans"/>
                  <a:cs typeface="Canva Sans"/>
                  <a:sym typeface="Canva Sans"/>
                </a:rPr>
                <a:t>Pumps</a:t>
              </a:r>
            </a:p>
          </p:txBody>
        </p:sp>
      </p:grpSp>
      <p:grpSp>
        <p:nvGrpSpPr>
          <p:cNvPr id="53" name="Group 52">
            <a:extLst>
              <a:ext uri="{FF2B5EF4-FFF2-40B4-BE49-F238E27FC236}">
                <a16:creationId xmlns:a16="http://schemas.microsoft.com/office/drawing/2014/main" id="{9967253D-7F14-BDAA-EC63-CF9E897D981E}"/>
              </a:ext>
            </a:extLst>
          </p:cNvPr>
          <p:cNvGrpSpPr/>
          <p:nvPr/>
        </p:nvGrpSpPr>
        <p:grpSpPr>
          <a:xfrm>
            <a:off x="9551873" y="5624673"/>
            <a:ext cx="6019800" cy="880074"/>
            <a:chOff x="1295400" y="5558827"/>
            <a:chExt cx="6019800" cy="880074"/>
          </a:xfrm>
          <a:solidFill>
            <a:schemeClr val="bg1">
              <a:lumMod val="95000"/>
            </a:schemeClr>
          </a:solidFill>
        </p:grpSpPr>
        <p:grpSp>
          <p:nvGrpSpPr>
            <p:cNvPr id="54" name="Group 10">
              <a:extLst>
                <a:ext uri="{FF2B5EF4-FFF2-40B4-BE49-F238E27FC236}">
                  <a16:creationId xmlns:a16="http://schemas.microsoft.com/office/drawing/2014/main" id="{C96A262D-B635-2B46-8B25-B9A77B1CE23E}"/>
                </a:ext>
              </a:extLst>
            </p:cNvPr>
            <p:cNvGrpSpPr/>
            <p:nvPr/>
          </p:nvGrpSpPr>
          <p:grpSpPr>
            <a:xfrm>
              <a:off x="1295400" y="5558827"/>
              <a:ext cx="6019800" cy="880074"/>
              <a:chOff x="0" y="0"/>
              <a:chExt cx="3247348" cy="455698"/>
            </a:xfrm>
            <a:grpFill/>
          </p:grpSpPr>
          <p:sp>
            <p:nvSpPr>
              <p:cNvPr id="56" name="Freeform 11">
                <a:extLst>
                  <a:ext uri="{FF2B5EF4-FFF2-40B4-BE49-F238E27FC236}">
                    <a16:creationId xmlns:a16="http://schemas.microsoft.com/office/drawing/2014/main" id="{85910207-729B-9081-4FAE-94431A1F9AB9}"/>
                  </a:ext>
                </a:extLst>
              </p:cNvPr>
              <p:cNvSpPr/>
              <p:nvPr/>
            </p:nvSpPr>
            <p:spPr>
              <a:xfrm>
                <a:off x="0" y="0"/>
                <a:ext cx="3247348" cy="455698"/>
              </a:xfrm>
              <a:prstGeom prst="roundRect">
                <a:avLst/>
              </a:prstGeom>
              <a:grpFill/>
              <a:ln w="38100" cap="sq">
                <a:solidFill>
                  <a:srgbClr val="F1F2F2"/>
                </a:solidFill>
                <a:prstDash val="solid"/>
                <a:miter/>
              </a:ln>
            </p:spPr>
          </p:sp>
          <p:sp>
            <p:nvSpPr>
              <p:cNvPr id="57" name="TextBox 12">
                <a:extLst>
                  <a:ext uri="{FF2B5EF4-FFF2-40B4-BE49-F238E27FC236}">
                    <a16:creationId xmlns:a16="http://schemas.microsoft.com/office/drawing/2014/main" id="{4CC839D5-985A-6F63-968C-77E150D2A82E}"/>
                  </a:ext>
                </a:extLst>
              </p:cNvPr>
              <p:cNvSpPr txBox="1"/>
              <p:nvPr/>
            </p:nvSpPr>
            <p:spPr>
              <a:xfrm>
                <a:off x="0" y="-38100"/>
                <a:ext cx="3247348" cy="493798"/>
              </a:xfrm>
              <a:prstGeom prst="roundRect">
                <a:avLst/>
              </a:prstGeom>
              <a:grpFill/>
            </p:spPr>
            <p:txBody>
              <a:bodyPr lIns="50800" tIns="50800" rIns="50800" bIns="50800" rtlCol="0" anchor="ctr"/>
              <a:lstStyle/>
              <a:p>
                <a:pPr algn="ctr">
                  <a:lnSpc>
                    <a:spcPts val="2659"/>
                  </a:lnSpc>
                  <a:spcBef>
                    <a:spcPct val="0"/>
                  </a:spcBef>
                </a:pPr>
                <a:endParaRPr>
                  <a:solidFill>
                    <a:schemeClr val="bg1">
                      <a:lumMod val="85000"/>
                    </a:schemeClr>
                  </a:solidFill>
                </a:endParaRPr>
              </a:p>
            </p:txBody>
          </p:sp>
        </p:grpSp>
        <p:sp>
          <p:nvSpPr>
            <p:cNvPr id="55" name="TextBox 5">
              <a:extLst>
                <a:ext uri="{FF2B5EF4-FFF2-40B4-BE49-F238E27FC236}">
                  <a16:creationId xmlns:a16="http://schemas.microsoft.com/office/drawing/2014/main" id="{EA2A5B0E-6A24-FAC6-F72D-64416C891FC8}"/>
                </a:ext>
              </a:extLst>
            </p:cNvPr>
            <p:cNvSpPr txBox="1"/>
            <p:nvPr/>
          </p:nvSpPr>
          <p:spPr>
            <a:xfrm>
              <a:off x="2051882" y="5651100"/>
              <a:ext cx="4580058" cy="541751"/>
            </a:xfrm>
            <a:prstGeom prst="rect">
              <a:avLst/>
            </a:prstGeom>
            <a:grpFill/>
          </p:spPr>
          <p:txBody>
            <a:bodyPr lIns="0" tIns="0" rIns="0" bIns="0" rtlCol="0" anchor="t">
              <a:spAutoFit/>
            </a:bodyPr>
            <a:lstStyle/>
            <a:p>
              <a:pPr marL="0" lvl="0" indent="0" algn="ctr">
                <a:lnSpc>
                  <a:spcPts val="4620"/>
                </a:lnSpc>
                <a:spcBef>
                  <a:spcPct val="0"/>
                </a:spcBef>
              </a:pPr>
              <a:r>
                <a:rPr lang="en-US" sz="2600" b="1" dirty="0">
                  <a:solidFill>
                    <a:schemeClr val="bg1">
                      <a:lumMod val="85000"/>
                    </a:schemeClr>
                  </a:solidFill>
                  <a:latin typeface="Canva Sans"/>
                  <a:ea typeface="Canva Sans"/>
                  <a:cs typeface="Canva Sans"/>
                  <a:sym typeface="Canva Sans"/>
                </a:rPr>
                <a:t>Open Channel</a:t>
              </a:r>
            </a:p>
          </p:txBody>
        </p:sp>
      </p:grpSp>
      <p:grpSp>
        <p:nvGrpSpPr>
          <p:cNvPr id="58" name="Group 57">
            <a:extLst>
              <a:ext uri="{FF2B5EF4-FFF2-40B4-BE49-F238E27FC236}">
                <a16:creationId xmlns:a16="http://schemas.microsoft.com/office/drawing/2014/main" id="{BD0D2DA2-D2E3-EBF0-8A71-011371FEA52E}"/>
              </a:ext>
            </a:extLst>
          </p:cNvPr>
          <p:cNvGrpSpPr/>
          <p:nvPr/>
        </p:nvGrpSpPr>
        <p:grpSpPr>
          <a:xfrm>
            <a:off x="9551873" y="6765162"/>
            <a:ext cx="6019800" cy="880074"/>
            <a:chOff x="1295400" y="6709252"/>
            <a:chExt cx="6019800" cy="880074"/>
          </a:xfrm>
          <a:solidFill>
            <a:schemeClr val="bg1">
              <a:lumMod val="95000"/>
            </a:schemeClr>
          </a:solidFill>
        </p:grpSpPr>
        <p:grpSp>
          <p:nvGrpSpPr>
            <p:cNvPr id="59" name="Group 10">
              <a:extLst>
                <a:ext uri="{FF2B5EF4-FFF2-40B4-BE49-F238E27FC236}">
                  <a16:creationId xmlns:a16="http://schemas.microsoft.com/office/drawing/2014/main" id="{5030653E-C8DF-74DE-5FDE-9A969B0137B8}"/>
                </a:ext>
              </a:extLst>
            </p:cNvPr>
            <p:cNvGrpSpPr/>
            <p:nvPr/>
          </p:nvGrpSpPr>
          <p:grpSpPr>
            <a:xfrm>
              <a:off x="1295400" y="6709252"/>
              <a:ext cx="6019800" cy="880074"/>
              <a:chOff x="0" y="0"/>
              <a:chExt cx="3247348" cy="455698"/>
            </a:xfrm>
            <a:grpFill/>
          </p:grpSpPr>
          <p:sp>
            <p:nvSpPr>
              <p:cNvPr id="61" name="Freeform 11">
                <a:extLst>
                  <a:ext uri="{FF2B5EF4-FFF2-40B4-BE49-F238E27FC236}">
                    <a16:creationId xmlns:a16="http://schemas.microsoft.com/office/drawing/2014/main" id="{E1BAF6D3-DCFA-CF25-1FAD-147AD4C69B55}"/>
                  </a:ext>
                </a:extLst>
              </p:cNvPr>
              <p:cNvSpPr/>
              <p:nvPr/>
            </p:nvSpPr>
            <p:spPr>
              <a:xfrm>
                <a:off x="0" y="0"/>
                <a:ext cx="3247348" cy="455698"/>
              </a:xfrm>
              <a:prstGeom prst="roundRect">
                <a:avLst/>
              </a:prstGeom>
              <a:grpFill/>
              <a:ln w="38100" cap="sq">
                <a:solidFill>
                  <a:srgbClr val="F1F2F2"/>
                </a:solidFill>
                <a:prstDash val="solid"/>
                <a:miter/>
              </a:ln>
            </p:spPr>
          </p:sp>
          <p:sp>
            <p:nvSpPr>
              <p:cNvPr id="62" name="TextBox 12">
                <a:extLst>
                  <a:ext uri="{FF2B5EF4-FFF2-40B4-BE49-F238E27FC236}">
                    <a16:creationId xmlns:a16="http://schemas.microsoft.com/office/drawing/2014/main" id="{441E1205-2DF0-3FEE-602C-4768B34C0561}"/>
                  </a:ext>
                </a:extLst>
              </p:cNvPr>
              <p:cNvSpPr txBox="1"/>
              <p:nvPr/>
            </p:nvSpPr>
            <p:spPr>
              <a:xfrm>
                <a:off x="0" y="-38100"/>
                <a:ext cx="3247348" cy="493798"/>
              </a:xfrm>
              <a:prstGeom prst="roundRect">
                <a:avLst/>
              </a:prstGeom>
              <a:grpFill/>
            </p:spPr>
            <p:txBody>
              <a:bodyPr lIns="50800" tIns="50800" rIns="50800" bIns="50800" rtlCol="0" anchor="ctr"/>
              <a:lstStyle/>
              <a:p>
                <a:pPr algn="ctr">
                  <a:lnSpc>
                    <a:spcPts val="2659"/>
                  </a:lnSpc>
                  <a:spcBef>
                    <a:spcPct val="0"/>
                  </a:spcBef>
                </a:pPr>
                <a:endParaRPr>
                  <a:solidFill>
                    <a:schemeClr val="bg1">
                      <a:lumMod val="85000"/>
                    </a:schemeClr>
                  </a:solidFill>
                </a:endParaRPr>
              </a:p>
            </p:txBody>
          </p:sp>
        </p:grpSp>
        <p:sp>
          <p:nvSpPr>
            <p:cNvPr id="60" name="TextBox 6">
              <a:extLst>
                <a:ext uri="{FF2B5EF4-FFF2-40B4-BE49-F238E27FC236}">
                  <a16:creationId xmlns:a16="http://schemas.microsoft.com/office/drawing/2014/main" id="{FDB9BA84-1EDB-A3D1-698F-5FE4357ECC51}"/>
                </a:ext>
              </a:extLst>
            </p:cNvPr>
            <p:cNvSpPr txBox="1"/>
            <p:nvPr/>
          </p:nvSpPr>
          <p:spPr>
            <a:xfrm>
              <a:off x="1634797" y="6846154"/>
              <a:ext cx="5414229" cy="528478"/>
            </a:xfrm>
            <a:prstGeom prst="rect">
              <a:avLst/>
            </a:prstGeom>
            <a:grpFill/>
          </p:spPr>
          <p:txBody>
            <a:bodyPr wrap="square" lIns="0" tIns="0" rIns="0" bIns="0" rtlCol="0" anchor="t">
              <a:spAutoFit/>
            </a:bodyPr>
            <a:lstStyle/>
            <a:p>
              <a:pPr algn="ctr">
                <a:lnSpc>
                  <a:spcPts val="4620"/>
                </a:lnSpc>
              </a:pPr>
              <a:r>
                <a:rPr lang="en-US" sz="2600" b="1" dirty="0">
                  <a:solidFill>
                    <a:schemeClr val="bg1">
                      <a:lumMod val="85000"/>
                    </a:schemeClr>
                  </a:solidFill>
                  <a:latin typeface="Canva Sans"/>
                  <a:ea typeface="Canva Sans"/>
                  <a:cs typeface="Canva Sans"/>
                  <a:sym typeface="Canva Sans"/>
                </a:rPr>
                <a:t>Pressurized Irrigation Systems</a:t>
              </a:r>
            </a:p>
          </p:txBody>
        </p:sp>
      </p:grpSp>
      <p:grpSp>
        <p:nvGrpSpPr>
          <p:cNvPr id="7" name="Group 6">
            <a:extLst>
              <a:ext uri="{FF2B5EF4-FFF2-40B4-BE49-F238E27FC236}">
                <a16:creationId xmlns:a16="http://schemas.microsoft.com/office/drawing/2014/main" id="{7A9FFE63-CACD-73C1-4108-D15DB53B72E5}"/>
              </a:ext>
            </a:extLst>
          </p:cNvPr>
          <p:cNvGrpSpPr/>
          <p:nvPr/>
        </p:nvGrpSpPr>
        <p:grpSpPr>
          <a:xfrm>
            <a:off x="2673585" y="5624673"/>
            <a:ext cx="6019800" cy="880074"/>
            <a:chOff x="1295400" y="6709252"/>
            <a:chExt cx="6019800" cy="880074"/>
          </a:xfrm>
          <a:solidFill>
            <a:srgbClr val="F2F2F2"/>
          </a:solidFill>
        </p:grpSpPr>
        <p:grpSp>
          <p:nvGrpSpPr>
            <p:cNvPr id="8" name="Group 10">
              <a:extLst>
                <a:ext uri="{FF2B5EF4-FFF2-40B4-BE49-F238E27FC236}">
                  <a16:creationId xmlns:a16="http://schemas.microsoft.com/office/drawing/2014/main" id="{4C5BE64C-3115-B0A8-78CE-0AA37A024CAC}"/>
                </a:ext>
              </a:extLst>
            </p:cNvPr>
            <p:cNvGrpSpPr/>
            <p:nvPr/>
          </p:nvGrpSpPr>
          <p:grpSpPr>
            <a:xfrm>
              <a:off x="1295400" y="6709252"/>
              <a:ext cx="6019800" cy="880074"/>
              <a:chOff x="0" y="0"/>
              <a:chExt cx="3247348" cy="455698"/>
            </a:xfrm>
            <a:grpFill/>
          </p:grpSpPr>
          <p:sp>
            <p:nvSpPr>
              <p:cNvPr id="10" name="Freeform 11">
                <a:extLst>
                  <a:ext uri="{FF2B5EF4-FFF2-40B4-BE49-F238E27FC236}">
                    <a16:creationId xmlns:a16="http://schemas.microsoft.com/office/drawing/2014/main" id="{E698233B-DD10-A508-DB76-694B6925CFEA}"/>
                  </a:ext>
                </a:extLst>
              </p:cNvPr>
              <p:cNvSpPr/>
              <p:nvPr/>
            </p:nvSpPr>
            <p:spPr>
              <a:xfrm>
                <a:off x="0" y="0"/>
                <a:ext cx="3247348" cy="455698"/>
              </a:xfrm>
              <a:prstGeom prst="roundRect">
                <a:avLst/>
              </a:prstGeom>
              <a:grpFill/>
              <a:ln w="38100" cap="sq">
                <a:solidFill>
                  <a:srgbClr val="F1F2F2"/>
                </a:solidFill>
                <a:prstDash val="solid"/>
                <a:miter/>
              </a:ln>
            </p:spPr>
          </p:sp>
          <p:sp>
            <p:nvSpPr>
              <p:cNvPr id="11" name="TextBox 12">
                <a:extLst>
                  <a:ext uri="{FF2B5EF4-FFF2-40B4-BE49-F238E27FC236}">
                    <a16:creationId xmlns:a16="http://schemas.microsoft.com/office/drawing/2014/main" id="{FDFA629D-6A23-9365-285E-6605313CBA70}"/>
                  </a:ext>
                </a:extLst>
              </p:cNvPr>
              <p:cNvSpPr txBox="1"/>
              <p:nvPr/>
            </p:nvSpPr>
            <p:spPr>
              <a:xfrm>
                <a:off x="0" y="-38100"/>
                <a:ext cx="3247348" cy="493798"/>
              </a:xfrm>
              <a:prstGeom prst="roundRect">
                <a:avLst/>
              </a:prstGeom>
              <a:grpFill/>
            </p:spPr>
            <p:txBody>
              <a:bodyPr lIns="50800" tIns="50800" rIns="50800" bIns="50800" rtlCol="0" anchor="ctr"/>
              <a:lstStyle/>
              <a:p>
                <a:pPr algn="ctr">
                  <a:lnSpc>
                    <a:spcPts val="2659"/>
                  </a:lnSpc>
                  <a:spcBef>
                    <a:spcPct val="0"/>
                  </a:spcBef>
                </a:pPr>
                <a:endParaRPr>
                  <a:solidFill>
                    <a:schemeClr val="bg1">
                      <a:lumMod val="85000"/>
                    </a:schemeClr>
                  </a:solidFill>
                </a:endParaRPr>
              </a:p>
            </p:txBody>
          </p:sp>
        </p:grpSp>
        <p:sp>
          <p:nvSpPr>
            <p:cNvPr id="9" name="TextBox 6">
              <a:extLst>
                <a:ext uri="{FF2B5EF4-FFF2-40B4-BE49-F238E27FC236}">
                  <a16:creationId xmlns:a16="http://schemas.microsoft.com/office/drawing/2014/main" id="{ADE212DF-4171-0253-FA4F-1629ADE08E85}"/>
                </a:ext>
              </a:extLst>
            </p:cNvPr>
            <p:cNvSpPr txBox="1"/>
            <p:nvPr/>
          </p:nvSpPr>
          <p:spPr>
            <a:xfrm>
              <a:off x="1634797" y="6846154"/>
              <a:ext cx="5414229" cy="528478"/>
            </a:xfrm>
            <a:prstGeom prst="rect">
              <a:avLst/>
            </a:prstGeom>
            <a:grpFill/>
          </p:spPr>
          <p:txBody>
            <a:bodyPr wrap="square" lIns="0" tIns="0" rIns="0" bIns="0" rtlCol="0" anchor="t">
              <a:spAutoFit/>
            </a:bodyPr>
            <a:lstStyle/>
            <a:p>
              <a:pPr marL="0" lvl="0" indent="0" algn="ctr">
                <a:lnSpc>
                  <a:spcPts val="4620"/>
                </a:lnSpc>
                <a:spcBef>
                  <a:spcPct val="0"/>
                </a:spcBef>
              </a:pPr>
              <a:r>
                <a:rPr lang="en-US" sz="2600" b="1" dirty="0">
                  <a:solidFill>
                    <a:schemeClr val="bg1">
                      <a:lumMod val="85000"/>
                    </a:schemeClr>
                  </a:solidFill>
                  <a:latin typeface="Canva Sans"/>
                  <a:ea typeface="Canva Sans"/>
                  <a:cs typeface="Canva Sans"/>
                  <a:sym typeface="Canva Sans"/>
                </a:rPr>
                <a:t>Fluid Mechanics</a:t>
              </a:r>
            </a:p>
          </p:txBody>
        </p:sp>
      </p:grpSp>
      <p:grpSp>
        <p:nvGrpSpPr>
          <p:cNvPr id="12" name="Group 11">
            <a:extLst>
              <a:ext uri="{FF2B5EF4-FFF2-40B4-BE49-F238E27FC236}">
                <a16:creationId xmlns:a16="http://schemas.microsoft.com/office/drawing/2014/main" id="{91EDA205-F149-A3D2-DD34-0237814DBF58}"/>
              </a:ext>
            </a:extLst>
          </p:cNvPr>
          <p:cNvGrpSpPr/>
          <p:nvPr/>
        </p:nvGrpSpPr>
        <p:grpSpPr>
          <a:xfrm>
            <a:off x="2673585" y="4405473"/>
            <a:ext cx="6019800" cy="880074"/>
            <a:chOff x="1295400" y="5558827"/>
            <a:chExt cx="6019800" cy="880074"/>
          </a:xfrm>
          <a:solidFill>
            <a:schemeClr val="bg1">
              <a:lumMod val="95000"/>
            </a:schemeClr>
          </a:solidFill>
        </p:grpSpPr>
        <p:grpSp>
          <p:nvGrpSpPr>
            <p:cNvPr id="13" name="Group 10">
              <a:extLst>
                <a:ext uri="{FF2B5EF4-FFF2-40B4-BE49-F238E27FC236}">
                  <a16:creationId xmlns:a16="http://schemas.microsoft.com/office/drawing/2014/main" id="{30C52C17-80F8-F784-29FE-70AE2299DF12}"/>
                </a:ext>
              </a:extLst>
            </p:cNvPr>
            <p:cNvGrpSpPr/>
            <p:nvPr/>
          </p:nvGrpSpPr>
          <p:grpSpPr>
            <a:xfrm>
              <a:off x="1295400" y="5558827"/>
              <a:ext cx="6019800" cy="880074"/>
              <a:chOff x="0" y="0"/>
              <a:chExt cx="3247348" cy="455698"/>
            </a:xfrm>
            <a:grpFill/>
          </p:grpSpPr>
          <p:sp>
            <p:nvSpPr>
              <p:cNvPr id="27" name="Freeform 11">
                <a:extLst>
                  <a:ext uri="{FF2B5EF4-FFF2-40B4-BE49-F238E27FC236}">
                    <a16:creationId xmlns:a16="http://schemas.microsoft.com/office/drawing/2014/main" id="{741BC267-AD74-CFDB-105C-AA4CDD7307A2}"/>
                  </a:ext>
                </a:extLst>
              </p:cNvPr>
              <p:cNvSpPr/>
              <p:nvPr/>
            </p:nvSpPr>
            <p:spPr>
              <a:xfrm>
                <a:off x="0" y="0"/>
                <a:ext cx="3247348" cy="455698"/>
              </a:xfrm>
              <a:prstGeom prst="roundRect">
                <a:avLst/>
              </a:prstGeom>
              <a:grpFill/>
              <a:ln w="38100" cap="sq">
                <a:solidFill>
                  <a:srgbClr val="F1F2F2"/>
                </a:solidFill>
                <a:prstDash val="solid"/>
                <a:miter/>
              </a:ln>
            </p:spPr>
          </p:sp>
          <p:sp>
            <p:nvSpPr>
              <p:cNvPr id="28" name="TextBox 12">
                <a:extLst>
                  <a:ext uri="{FF2B5EF4-FFF2-40B4-BE49-F238E27FC236}">
                    <a16:creationId xmlns:a16="http://schemas.microsoft.com/office/drawing/2014/main" id="{F25C32DF-EA38-5F08-6D17-744F6C1CEC36}"/>
                  </a:ext>
                </a:extLst>
              </p:cNvPr>
              <p:cNvSpPr txBox="1"/>
              <p:nvPr/>
            </p:nvSpPr>
            <p:spPr>
              <a:xfrm>
                <a:off x="0" y="-38100"/>
                <a:ext cx="3247348" cy="493798"/>
              </a:xfrm>
              <a:prstGeom prst="roundRect">
                <a:avLst/>
              </a:prstGeom>
              <a:grpFill/>
            </p:spPr>
            <p:txBody>
              <a:bodyPr lIns="50800" tIns="50800" rIns="50800" bIns="50800" rtlCol="0" anchor="ctr"/>
              <a:lstStyle/>
              <a:p>
                <a:pPr algn="ctr">
                  <a:lnSpc>
                    <a:spcPts val="2659"/>
                  </a:lnSpc>
                  <a:spcBef>
                    <a:spcPct val="0"/>
                  </a:spcBef>
                </a:pPr>
                <a:endParaRPr>
                  <a:solidFill>
                    <a:schemeClr val="bg1">
                      <a:lumMod val="85000"/>
                    </a:schemeClr>
                  </a:solidFill>
                </a:endParaRPr>
              </a:p>
            </p:txBody>
          </p:sp>
        </p:grpSp>
        <p:sp>
          <p:nvSpPr>
            <p:cNvPr id="14" name="TextBox 5">
              <a:extLst>
                <a:ext uri="{FF2B5EF4-FFF2-40B4-BE49-F238E27FC236}">
                  <a16:creationId xmlns:a16="http://schemas.microsoft.com/office/drawing/2014/main" id="{D2D85E0D-60ED-23C4-A792-0409B9B925C7}"/>
                </a:ext>
              </a:extLst>
            </p:cNvPr>
            <p:cNvSpPr txBox="1"/>
            <p:nvPr/>
          </p:nvSpPr>
          <p:spPr>
            <a:xfrm>
              <a:off x="2015271" y="5659411"/>
              <a:ext cx="4580058" cy="541751"/>
            </a:xfrm>
            <a:prstGeom prst="rect">
              <a:avLst/>
            </a:prstGeom>
            <a:grpFill/>
          </p:spPr>
          <p:txBody>
            <a:bodyPr lIns="0" tIns="0" rIns="0" bIns="0" rtlCol="0" anchor="t">
              <a:spAutoFit/>
            </a:bodyPr>
            <a:lstStyle/>
            <a:p>
              <a:pPr algn="ctr">
                <a:lnSpc>
                  <a:spcPts val="4620"/>
                </a:lnSpc>
              </a:pPr>
              <a:r>
                <a:rPr lang="en-US" sz="2600" b="1" dirty="0">
                  <a:solidFill>
                    <a:schemeClr val="bg1">
                      <a:lumMod val="85000"/>
                    </a:schemeClr>
                  </a:solidFill>
                  <a:latin typeface="Canva Sans"/>
                  <a:ea typeface="Canva Sans"/>
                  <a:cs typeface="Canva Sans"/>
                  <a:sym typeface="Canva Sans"/>
                </a:rPr>
                <a:t>Surveying</a:t>
              </a:r>
            </a:p>
          </p:txBody>
        </p:sp>
      </p:grpSp>
      <p:grpSp>
        <p:nvGrpSpPr>
          <p:cNvPr id="5" name="Group 4">
            <a:extLst>
              <a:ext uri="{FF2B5EF4-FFF2-40B4-BE49-F238E27FC236}">
                <a16:creationId xmlns:a16="http://schemas.microsoft.com/office/drawing/2014/main" id="{F2CFEB87-235F-87F6-B797-EA0B0D2C75FE}"/>
              </a:ext>
            </a:extLst>
          </p:cNvPr>
          <p:cNvGrpSpPr/>
          <p:nvPr/>
        </p:nvGrpSpPr>
        <p:grpSpPr>
          <a:xfrm>
            <a:off x="2673585" y="6770292"/>
            <a:ext cx="6019800" cy="880074"/>
            <a:chOff x="1295400" y="6709252"/>
            <a:chExt cx="6019800" cy="880074"/>
          </a:xfrm>
        </p:grpSpPr>
        <p:grpSp>
          <p:nvGrpSpPr>
            <p:cNvPr id="6" name="Group 10">
              <a:extLst>
                <a:ext uri="{FF2B5EF4-FFF2-40B4-BE49-F238E27FC236}">
                  <a16:creationId xmlns:a16="http://schemas.microsoft.com/office/drawing/2014/main" id="{C8D450B4-8095-BB50-AEFD-85F0E135A530}"/>
                </a:ext>
              </a:extLst>
            </p:cNvPr>
            <p:cNvGrpSpPr/>
            <p:nvPr/>
          </p:nvGrpSpPr>
          <p:grpSpPr>
            <a:xfrm>
              <a:off x="1295400" y="6709252"/>
              <a:ext cx="6019800" cy="880074"/>
              <a:chOff x="0" y="0"/>
              <a:chExt cx="3247348" cy="455698"/>
            </a:xfrm>
          </p:grpSpPr>
          <p:sp>
            <p:nvSpPr>
              <p:cNvPr id="16" name="Freeform 11">
                <a:extLst>
                  <a:ext uri="{FF2B5EF4-FFF2-40B4-BE49-F238E27FC236}">
                    <a16:creationId xmlns:a16="http://schemas.microsoft.com/office/drawing/2014/main" id="{C7E6FF72-6C54-F568-6043-61ABDD367FB1}"/>
                  </a:ext>
                </a:extLst>
              </p:cNvPr>
              <p:cNvSpPr/>
              <p:nvPr/>
            </p:nvSpPr>
            <p:spPr>
              <a:xfrm>
                <a:off x="0" y="0"/>
                <a:ext cx="3247348" cy="455698"/>
              </a:xfrm>
              <a:prstGeom prst="roundRect">
                <a:avLst/>
              </a:prstGeom>
              <a:solidFill>
                <a:srgbClr val="DDDEDE"/>
              </a:solidFill>
              <a:ln w="38100" cap="sq">
                <a:solidFill>
                  <a:srgbClr val="F1F2F2"/>
                </a:solidFill>
                <a:prstDash val="solid"/>
                <a:miter/>
              </a:ln>
            </p:spPr>
          </p:sp>
          <p:sp>
            <p:nvSpPr>
              <p:cNvPr id="17" name="TextBox 12">
                <a:extLst>
                  <a:ext uri="{FF2B5EF4-FFF2-40B4-BE49-F238E27FC236}">
                    <a16:creationId xmlns:a16="http://schemas.microsoft.com/office/drawing/2014/main" id="{66F4B611-B6A0-0F8A-26D3-0AE212C28A0F}"/>
                  </a:ext>
                </a:extLst>
              </p:cNvPr>
              <p:cNvSpPr txBox="1"/>
              <p:nvPr/>
            </p:nvSpPr>
            <p:spPr>
              <a:xfrm>
                <a:off x="0" y="-38100"/>
                <a:ext cx="3247348" cy="493798"/>
              </a:xfrm>
              <a:prstGeom prst="roundRect">
                <a:avLst/>
              </a:prstGeom>
            </p:spPr>
            <p:txBody>
              <a:bodyPr lIns="50800" tIns="50800" rIns="50800" bIns="50800" rtlCol="0" anchor="ctr"/>
              <a:lstStyle/>
              <a:p>
                <a:pPr algn="ctr">
                  <a:lnSpc>
                    <a:spcPts val="2659"/>
                  </a:lnSpc>
                  <a:spcBef>
                    <a:spcPct val="0"/>
                  </a:spcBef>
                </a:pPr>
                <a:endParaRPr/>
              </a:p>
            </p:txBody>
          </p:sp>
        </p:grpSp>
        <p:sp>
          <p:nvSpPr>
            <p:cNvPr id="15" name="TextBox 6">
              <a:extLst>
                <a:ext uri="{FF2B5EF4-FFF2-40B4-BE49-F238E27FC236}">
                  <a16:creationId xmlns:a16="http://schemas.microsoft.com/office/drawing/2014/main" id="{142E7D95-FBD3-9B38-3F0C-5CFEE74A6DB0}"/>
                </a:ext>
              </a:extLst>
            </p:cNvPr>
            <p:cNvSpPr txBox="1"/>
            <p:nvPr/>
          </p:nvSpPr>
          <p:spPr>
            <a:xfrm>
              <a:off x="1634797" y="6846154"/>
              <a:ext cx="5414229" cy="528478"/>
            </a:xfrm>
            <a:prstGeom prst="rect">
              <a:avLst/>
            </a:prstGeom>
          </p:spPr>
          <p:txBody>
            <a:bodyPr wrap="square" lIns="0" tIns="0" rIns="0" bIns="0" rtlCol="0" anchor="t">
              <a:spAutoFit/>
            </a:bodyPr>
            <a:lstStyle/>
            <a:p>
              <a:pPr marL="0" lvl="0" indent="0" algn="ctr">
                <a:lnSpc>
                  <a:spcPts val="4620"/>
                </a:lnSpc>
                <a:spcBef>
                  <a:spcPct val="0"/>
                </a:spcBef>
              </a:pPr>
              <a:r>
                <a:rPr lang="en-US" sz="2600" b="1" dirty="0">
                  <a:solidFill>
                    <a:srgbClr val="000000"/>
                  </a:solidFill>
                  <a:latin typeface="Canva Sans"/>
                  <a:ea typeface="Canva Sans"/>
                  <a:cs typeface="Canva Sans"/>
                  <a:sym typeface="Canva Sans"/>
                </a:rPr>
                <a:t>Groundwater Hydrology</a:t>
              </a:r>
            </a:p>
          </p:txBody>
        </p:sp>
      </p:grpSp>
    </p:spTree>
    <p:extLst>
      <p:ext uri="{BB962C8B-B14F-4D97-AF65-F5344CB8AC3E}">
        <p14:creationId xmlns:p14="http://schemas.microsoft.com/office/powerpoint/2010/main" val="597433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6628E-9C91-CEB8-1D32-A8FF23299B5A}"/>
            </a:ext>
          </a:extLst>
        </p:cNvPr>
        <p:cNvGrpSpPr/>
        <p:nvPr/>
      </p:nvGrpSpPr>
      <p:grpSpPr>
        <a:xfrm>
          <a:off x="0" y="0"/>
          <a:ext cx="0" cy="0"/>
          <a:chOff x="0" y="0"/>
          <a:chExt cx="0" cy="0"/>
        </a:xfrm>
      </p:grpSpPr>
      <p:sp>
        <p:nvSpPr>
          <p:cNvPr id="2" name="Freeform 2" descr="Round Geometric Memphis Design">
            <a:extLst>
              <a:ext uri="{FF2B5EF4-FFF2-40B4-BE49-F238E27FC236}">
                <a16:creationId xmlns:a16="http://schemas.microsoft.com/office/drawing/2014/main" id="{65E63CDA-F4DA-9563-2630-B290CAAA05A7}"/>
              </a:ext>
            </a:extLst>
          </p:cNvPr>
          <p:cNvSpPr/>
          <p:nvPr/>
        </p:nvSpPr>
        <p:spPr>
          <a:xfrm>
            <a:off x="600877" y="559518"/>
            <a:ext cx="2942276" cy="2942276"/>
          </a:xfrm>
          <a:custGeom>
            <a:avLst/>
            <a:gdLst/>
            <a:ahLst/>
            <a:cxnLst/>
            <a:rect l="l" t="t" r="r" b="b"/>
            <a:pathLst>
              <a:path w="2942276" h="2942276">
                <a:moveTo>
                  <a:pt x="0" y="0"/>
                </a:moveTo>
                <a:lnTo>
                  <a:pt x="2942276" y="0"/>
                </a:lnTo>
                <a:lnTo>
                  <a:pt x="2942276" y="2942277"/>
                </a:lnTo>
                <a:lnTo>
                  <a:pt x="0" y="29422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descr="Round Geometric Memphis Design">
            <a:extLst>
              <a:ext uri="{FF2B5EF4-FFF2-40B4-BE49-F238E27FC236}">
                <a16:creationId xmlns:a16="http://schemas.microsoft.com/office/drawing/2014/main" id="{FD9F93E6-DF7F-4A7E-728B-388C6407FDDA}"/>
              </a:ext>
            </a:extLst>
          </p:cNvPr>
          <p:cNvSpPr/>
          <p:nvPr/>
        </p:nvSpPr>
        <p:spPr>
          <a:xfrm>
            <a:off x="17216912" y="0"/>
            <a:ext cx="1071088" cy="2030656"/>
          </a:xfrm>
          <a:custGeom>
            <a:avLst/>
            <a:gdLst/>
            <a:ahLst/>
            <a:cxnLst/>
            <a:rect l="l" t="t" r="r" b="b"/>
            <a:pathLst>
              <a:path w="2942276" h="2942276">
                <a:moveTo>
                  <a:pt x="0" y="0"/>
                </a:moveTo>
                <a:lnTo>
                  <a:pt x="2942276" y="0"/>
                </a:lnTo>
                <a:lnTo>
                  <a:pt x="2942276" y="2942276"/>
                </a:lnTo>
                <a:lnTo>
                  <a:pt x="0" y="2942276"/>
                </a:lnTo>
                <a:lnTo>
                  <a:pt x="0" y="0"/>
                </a:lnTo>
                <a:close/>
              </a:path>
            </a:pathLst>
          </a:custGeom>
          <a:blipFill>
            <a:blip r:embed="rId2">
              <a:extLst>
                <a:ext uri="{96DAC541-7B7A-43D3-8B79-37D633B846F1}">
                  <asvg:svgBlip xmlns:asvg="http://schemas.microsoft.com/office/drawing/2016/SVG/main" r:embed="rId3"/>
                </a:ext>
              </a:extLst>
            </a:blip>
            <a:stretch>
              <a:fillRect t="-44892" r="-174700"/>
            </a:stretch>
          </a:blipFill>
        </p:spPr>
      </p:sp>
      <p:grpSp>
        <p:nvGrpSpPr>
          <p:cNvPr id="29" name="Group 28">
            <a:extLst>
              <a:ext uri="{FF2B5EF4-FFF2-40B4-BE49-F238E27FC236}">
                <a16:creationId xmlns:a16="http://schemas.microsoft.com/office/drawing/2014/main" id="{97E7A700-51F5-ACC1-375F-992DD122E3A4}"/>
              </a:ext>
            </a:extLst>
          </p:cNvPr>
          <p:cNvGrpSpPr/>
          <p:nvPr/>
        </p:nvGrpSpPr>
        <p:grpSpPr>
          <a:xfrm>
            <a:off x="-6553200" y="4405473"/>
            <a:ext cx="6019800" cy="880074"/>
            <a:chOff x="1295400" y="6709252"/>
            <a:chExt cx="6019800" cy="880074"/>
          </a:xfrm>
          <a:solidFill>
            <a:schemeClr val="bg1">
              <a:lumMod val="95000"/>
            </a:schemeClr>
          </a:solidFill>
        </p:grpSpPr>
        <p:grpSp>
          <p:nvGrpSpPr>
            <p:cNvPr id="30" name="Group 10">
              <a:extLst>
                <a:ext uri="{FF2B5EF4-FFF2-40B4-BE49-F238E27FC236}">
                  <a16:creationId xmlns:a16="http://schemas.microsoft.com/office/drawing/2014/main" id="{A5351858-1547-4DFA-67A1-16BA094E5847}"/>
                </a:ext>
              </a:extLst>
            </p:cNvPr>
            <p:cNvGrpSpPr/>
            <p:nvPr/>
          </p:nvGrpSpPr>
          <p:grpSpPr>
            <a:xfrm>
              <a:off x="1295400" y="6709252"/>
              <a:ext cx="6019800" cy="880074"/>
              <a:chOff x="0" y="0"/>
              <a:chExt cx="3247348" cy="455698"/>
            </a:xfrm>
            <a:grpFill/>
          </p:grpSpPr>
          <p:sp>
            <p:nvSpPr>
              <p:cNvPr id="32" name="Freeform 11">
                <a:extLst>
                  <a:ext uri="{FF2B5EF4-FFF2-40B4-BE49-F238E27FC236}">
                    <a16:creationId xmlns:a16="http://schemas.microsoft.com/office/drawing/2014/main" id="{3FC93375-629B-FCF1-17ED-AA6BCEC64919}"/>
                  </a:ext>
                </a:extLst>
              </p:cNvPr>
              <p:cNvSpPr/>
              <p:nvPr/>
            </p:nvSpPr>
            <p:spPr>
              <a:xfrm>
                <a:off x="0" y="0"/>
                <a:ext cx="3247348" cy="455698"/>
              </a:xfrm>
              <a:prstGeom prst="roundRect">
                <a:avLst/>
              </a:prstGeom>
              <a:grpFill/>
              <a:ln w="38100" cap="sq">
                <a:solidFill>
                  <a:srgbClr val="F1F2F2"/>
                </a:solidFill>
                <a:prstDash val="solid"/>
                <a:miter/>
              </a:ln>
            </p:spPr>
          </p:sp>
          <p:sp>
            <p:nvSpPr>
              <p:cNvPr id="33" name="TextBox 12">
                <a:extLst>
                  <a:ext uri="{FF2B5EF4-FFF2-40B4-BE49-F238E27FC236}">
                    <a16:creationId xmlns:a16="http://schemas.microsoft.com/office/drawing/2014/main" id="{278B974E-68C1-9454-F4AF-7F88D5345809}"/>
                  </a:ext>
                </a:extLst>
              </p:cNvPr>
              <p:cNvSpPr txBox="1"/>
              <p:nvPr/>
            </p:nvSpPr>
            <p:spPr>
              <a:xfrm>
                <a:off x="0" y="-38100"/>
                <a:ext cx="3247348" cy="493798"/>
              </a:xfrm>
              <a:prstGeom prst="roundRect">
                <a:avLst/>
              </a:prstGeom>
              <a:grpFill/>
            </p:spPr>
            <p:txBody>
              <a:bodyPr lIns="50800" tIns="50800" rIns="50800" bIns="50800" rtlCol="0" anchor="ctr"/>
              <a:lstStyle/>
              <a:p>
                <a:pPr algn="ctr">
                  <a:lnSpc>
                    <a:spcPts val="2659"/>
                  </a:lnSpc>
                  <a:spcBef>
                    <a:spcPct val="0"/>
                  </a:spcBef>
                </a:pPr>
                <a:endParaRPr>
                  <a:solidFill>
                    <a:schemeClr val="bg1">
                      <a:lumMod val="85000"/>
                    </a:schemeClr>
                  </a:solidFill>
                </a:endParaRPr>
              </a:p>
            </p:txBody>
          </p:sp>
        </p:grpSp>
        <p:sp>
          <p:nvSpPr>
            <p:cNvPr id="31" name="TextBox 6">
              <a:extLst>
                <a:ext uri="{FF2B5EF4-FFF2-40B4-BE49-F238E27FC236}">
                  <a16:creationId xmlns:a16="http://schemas.microsoft.com/office/drawing/2014/main" id="{7D93370C-E623-1D8C-7C52-4C1FB2B3A5BD}"/>
                </a:ext>
              </a:extLst>
            </p:cNvPr>
            <p:cNvSpPr txBox="1"/>
            <p:nvPr/>
          </p:nvSpPr>
          <p:spPr>
            <a:xfrm>
              <a:off x="1634797" y="6846154"/>
              <a:ext cx="5414229" cy="528478"/>
            </a:xfrm>
            <a:prstGeom prst="rect">
              <a:avLst/>
            </a:prstGeom>
            <a:grpFill/>
          </p:spPr>
          <p:txBody>
            <a:bodyPr wrap="square" lIns="0" tIns="0" rIns="0" bIns="0" rtlCol="0" anchor="t">
              <a:spAutoFit/>
            </a:bodyPr>
            <a:lstStyle/>
            <a:p>
              <a:pPr marL="0" lvl="0" indent="0" algn="ctr">
                <a:lnSpc>
                  <a:spcPts val="4620"/>
                </a:lnSpc>
                <a:spcBef>
                  <a:spcPct val="0"/>
                </a:spcBef>
              </a:pPr>
              <a:r>
                <a:rPr lang="en-US" sz="2600" b="1" dirty="0">
                  <a:solidFill>
                    <a:schemeClr val="bg1">
                      <a:lumMod val="85000"/>
                    </a:schemeClr>
                  </a:solidFill>
                  <a:latin typeface="Canva Sans"/>
                  <a:ea typeface="Canva Sans"/>
                  <a:cs typeface="Canva Sans"/>
                  <a:sym typeface="Canva Sans"/>
                </a:rPr>
                <a:t>Pumps</a:t>
              </a:r>
            </a:p>
          </p:txBody>
        </p:sp>
      </p:grpSp>
      <p:grpSp>
        <p:nvGrpSpPr>
          <p:cNvPr id="53" name="Group 52">
            <a:extLst>
              <a:ext uri="{FF2B5EF4-FFF2-40B4-BE49-F238E27FC236}">
                <a16:creationId xmlns:a16="http://schemas.microsoft.com/office/drawing/2014/main" id="{DC45F01B-3C00-54E6-CEC8-307FA31EBE8E}"/>
              </a:ext>
            </a:extLst>
          </p:cNvPr>
          <p:cNvGrpSpPr/>
          <p:nvPr/>
        </p:nvGrpSpPr>
        <p:grpSpPr>
          <a:xfrm>
            <a:off x="-6553200" y="5624673"/>
            <a:ext cx="6019800" cy="880074"/>
            <a:chOff x="1295400" y="5558827"/>
            <a:chExt cx="6019800" cy="880074"/>
          </a:xfrm>
          <a:solidFill>
            <a:schemeClr val="bg1">
              <a:lumMod val="95000"/>
            </a:schemeClr>
          </a:solidFill>
        </p:grpSpPr>
        <p:grpSp>
          <p:nvGrpSpPr>
            <p:cNvPr id="54" name="Group 10">
              <a:extLst>
                <a:ext uri="{FF2B5EF4-FFF2-40B4-BE49-F238E27FC236}">
                  <a16:creationId xmlns:a16="http://schemas.microsoft.com/office/drawing/2014/main" id="{89E12461-70B7-07E4-D89F-C4798C25A156}"/>
                </a:ext>
              </a:extLst>
            </p:cNvPr>
            <p:cNvGrpSpPr/>
            <p:nvPr/>
          </p:nvGrpSpPr>
          <p:grpSpPr>
            <a:xfrm>
              <a:off x="1295400" y="5558827"/>
              <a:ext cx="6019800" cy="880074"/>
              <a:chOff x="0" y="0"/>
              <a:chExt cx="3247348" cy="455698"/>
            </a:xfrm>
            <a:grpFill/>
          </p:grpSpPr>
          <p:sp>
            <p:nvSpPr>
              <p:cNvPr id="56" name="Freeform 11">
                <a:extLst>
                  <a:ext uri="{FF2B5EF4-FFF2-40B4-BE49-F238E27FC236}">
                    <a16:creationId xmlns:a16="http://schemas.microsoft.com/office/drawing/2014/main" id="{83364CE5-0008-6247-F037-BB215C3EC564}"/>
                  </a:ext>
                </a:extLst>
              </p:cNvPr>
              <p:cNvSpPr/>
              <p:nvPr/>
            </p:nvSpPr>
            <p:spPr>
              <a:xfrm>
                <a:off x="0" y="0"/>
                <a:ext cx="3247348" cy="455698"/>
              </a:xfrm>
              <a:prstGeom prst="roundRect">
                <a:avLst/>
              </a:prstGeom>
              <a:grpFill/>
              <a:ln w="38100" cap="sq">
                <a:solidFill>
                  <a:srgbClr val="F1F2F2"/>
                </a:solidFill>
                <a:prstDash val="solid"/>
                <a:miter/>
              </a:ln>
            </p:spPr>
          </p:sp>
          <p:sp>
            <p:nvSpPr>
              <p:cNvPr id="57" name="TextBox 12">
                <a:extLst>
                  <a:ext uri="{FF2B5EF4-FFF2-40B4-BE49-F238E27FC236}">
                    <a16:creationId xmlns:a16="http://schemas.microsoft.com/office/drawing/2014/main" id="{F1947B0D-876A-F6E4-3266-ED94742E8BFE}"/>
                  </a:ext>
                </a:extLst>
              </p:cNvPr>
              <p:cNvSpPr txBox="1"/>
              <p:nvPr/>
            </p:nvSpPr>
            <p:spPr>
              <a:xfrm>
                <a:off x="0" y="-38100"/>
                <a:ext cx="3247348" cy="493798"/>
              </a:xfrm>
              <a:prstGeom prst="roundRect">
                <a:avLst/>
              </a:prstGeom>
              <a:grpFill/>
            </p:spPr>
            <p:txBody>
              <a:bodyPr lIns="50800" tIns="50800" rIns="50800" bIns="50800" rtlCol="0" anchor="ctr"/>
              <a:lstStyle/>
              <a:p>
                <a:pPr algn="ctr">
                  <a:lnSpc>
                    <a:spcPts val="2659"/>
                  </a:lnSpc>
                  <a:spcBef>
                    <a:spcPct val="0"/>
                  </a:spcBef>
                </a:pPr>
                <a:endParaRPr>
                  <a:solidFill>
                    <a:schemeClr val="bg1">
                      <a:lumMod val="85000"/>
                    </a:schemeClr>
                  </a:solidFill>
                </a:endParaRPr>
              </a:p>
            </p:txBody>
          </p:sp>
        </p:grpSp>
        <p:sp>
          <p:nvSpPr>
            <p:cNvPr id="55" name="TextBox 5">
              <a:extLst>
                <a:ext uri="{FF2B5EF4-FFF2-40B4-BE49-F238E27FC236}">
                  <a16:creationId xmlns:a16="http://schemas.microsoft.com/office/drawing/2014/main" id="{80E64928-6C77-DD80-71EA-2BB980C1B23E}"/>
                </a:ext>
              </a:extLst>
            </p:cNvPr>
            <p:cNvSpPr txBox="1"/>
            <p:nvPr/>
          </p:nvSpPr>
          <p:spPr>
            <a:xfrm>
              <a:off x="2051882" y="5651100"/>
              <a:ext cx="4580058" cy="541751"/>
            </a:xfrm>
            <a:prstGeom prst="rect">
              <a:avLst/>
            </a:prstGeom>
            <a:grpFill/>
          </p:spPr>
          <p:txBody>
            <a:bodyPr lIns="0" tIns="0" rIns="0" bIns="0" rtlCol="0" anchor="t">
              <a:spAutoFit/>
            </a:bodyPr>
            <a:lstStyle/>
            <a:p>
              <a:pPr marL="0" lvl="0" indent="0" algn="ctr">
                <a:lnSpc>
                  <a:spcPts val="4620"/>
                </a:lnSpc>
                <a:spcBef>
                  <a:spcPct val="0"/>
                </a:spcBef>
              </a:pPr>
              <a:r>
                <a:rPr lang="en-US" sz="2600" b="1" dirty="0">
                  <a:solidFill>
                    <a:schemeClr val="bg1">
                      <a:lumMod val="85000"/>
                    </a:schemeClr>
                  </a:solidFill>
                  <a:latin typeface="Canva Sans"/>
                  <a:ea typeface="Canva Sans"/>
                  <a:cs typeface="Canva Sans"/>
                  <a:sym typeface="Canva Sans"/>
                </a:rPr>
                <a:t>Open Channel</a:t>
              </a:r>
            </a:p>
          </p:txBody>
        </p:sp>
      </p:grpSp>
      <p:grpSp>
        <p:nvGrpSpPr>
          <p:cNvPr id="58" name="Group 57">
            <a:extLst>
              <a:ext uri="{FF2B5EF4-FFF2-40B4-BE49-F238E27FC236}">
                <a16:creationId xmlns:a16="http://schemas.microsoft.com/office/drawing/2014/main" id="{CF00DD5E-C478-9FA1-A443-9D5462D2948A}"/>
              </a:ext>
            </a:extLst>
          </p:cNvPr>
          <p:cNvGrpSpPr/>
          <p:nvPr/>
        </p:nvGrpSpPr>
        <p:grpSpPr>
          <a:xfrm>
            <a:off x="-6553200" y="6765162"/>
            <a:ext cx="6019800" cy="880074"/>
            <a:chOff x="1295400" y="6709252"/>
            <a:chExt cx="6019800" cy="880074"/>
          </a:xfrm>
          <a:solidFill>
            <a:schemeClr val="bg1">
              <a:lumMod val="95000"/>
            </a:schemeClr>
          </a:solidFill>
        </p:grpSpPr>
        <p:grpSp>
          <p:nvGrpSpPr>
            <p:cNvPr id="59" name="Group 10">
              <a:extLst>
                <a:ext uri="{FF2B5EF4-FFF2-40B4-BE49-F238E27FC236}">
                  <a16:creationId xmlns:a16="http://schemas.microsoft.com/office/drawing/2014/main" id="{A64AD1E1-1CC7-D147-D85F-981B9294BF2A}"/>
                </a:ext>
              </a:extLst>
            </p:cNvPr>
            <p:cNvGrpSpPr/>
            <p:nvPr/>
          </p:nvGrpSpPr>
          <p:grpSpPr>
            <a:xfrm>
              <a:off x="1295400" y="6709252"/>
              <a:ext cx="6019800" cy="880074"/>
              <a:chOff x="0" y="0"/>
              <a:chExt cx="3247348" cy="455698"/>
            </a:xfrm>
            <a:grpFill/>
          </p:grpSpPr>
          <p:sp>
            <p:nvSpPr>
              <p:cNvPr id="61" name="Freeform 11">
                <a:extLst>
                  <a:ext uri="{FF2B5EF4-FFF2-40B4-BE49-F238E27FC236}">
                    <a16:creationId xmlns:a16="http://schemas.microsoft.com/office/drawing/2014/main" id="{D8999E8E-755E-26D8-5526-0B755D45F40D}"/>
                  </a:ext>
                </a:extLst>
              </p:cNvPr>
              <p:cNvSpPr/>
              <p:nvPr/>
            </p:nvSpPr>
            <p:spPr>
              <a:xfrm>
                <a:off x="0" y="0"/>
                <a:ext cx="3247348" cy="455698"/>
              </a:xfrm>
              <a:prstGeom prst="roundRect">
                <a:avLst/>
              </a:prstGeom>
              <a:grpFill/>
              <a:ln w="38100" cap="sq">
                <a:solidFill>
                  <a:srgbClr val="F1F2F2"/>
                </a:solidFill>
                <a:prstDash val="solid"/>
                <a:miter/>
              </a:ln>
            </p:spPr>
          </p:sp>
          <p:sp>
            <p:nvSpPr>
              <p:cNvPr id="62" name="TextBox 12">
                <a:extLst>
                  <a:ext uri="{FF2B5EF4-FFF2-40B4-BE49-F238E27FC236}">
                    <a16:creationId xmlns:a16="http://schemas.microsoft.com/office/drawing/2014/main" id="{576BCBF2-CC13-6B16-6B65-02B0544F72E3}"/>
                  </a:ext>
                </a:extLst>
              </p:cNvPr>
              <p:cNvSpPr txBox="1"/>
              <p:nvPr/>
            </p:nvSpPr>
            <p:spPr>
              <a:xfrm>
                <a:off x="0" y="-38100"/>
                <a:ext cx="3247348" cy="493798"/>
              </a:xfrm>
              <a:prstGeom prst="roundRect">
                <a:avLst/>
              </a:prstGeom>
              <a:grpFill/>
            </p:spPr>
            <p:txBody>
              <a:bodyPr lIns="50800" tIns="50800" rIns="50800" bIns="50800" rtlCol="0" anchor="ctr"/>
              <a:lstStyle/>
              <a:p>
                <a:pPr algn="ctr">
                  <a:lnSpc>
                    <a:spcPts val="2659"/>
                  </a:lnSpc>
                  <a:spcBef>
                    <a:spcPct val="0"/>
                  </a:spcBef>
                </a:pPr>
                <a:endParaRPr>
                  <a:solidFill>
                    <a:schemeClr val="bg1">
                      <a:lumMod val="85000"/>
                    </a:schemeClr>
                  </a:solidFill>
                </a:endParaRPr>
              </a:p>
            </p:txBody>
          </p:sp>
        </p:grpSp>
        <p:sp>
          <p:nvSpPr>
            <p:cNvPr id="60" name="TextBox 6">
              <a:extLst>
                <a:ext uri="{FF2B5EF4-FFF2-40B4-BE49-F238E27FC236}">
                  <a16:creationId xmlns:a16="http://schemas.microsoft.com/office/drawing/2014/main" id="{5CE4A75C-3F02-6177-3229-FC71EAF84B48}"/>
                </a:ext>
              </a:extLst>
            </p:cNvPr>
            <p:cNvSpPr txBox="1"/>
            <p:nvPr/>
          </p:nvSpPr>
          <p:spPr>
            <a:xfrm>
              <a:off x="1634797" y="6846154"/>
              <a:ext cx="5414229" cy="528478"/>
            </a:xfrm>
            <a:prstGeom prst="rect">
              <a:avLst/>
            </a:prstGeom>
            <a:grpFill/>
          </p:spPr>
          <p:txBody>
            <a:bodyPr wrap="square" lIns="0" tIns="0" rIns="0" bIns="0" rtlCol="0" anchor="t">
              <a:spAutoFit/>
            </a:bodyPr>
            <a:lstStyle/>
            <a:p>
              <a:pPr algn="ctr">
                <a:lnSpc>
                  <a:spcPts val="4620"/>
                </a:lnSpc>
              </a:pPr>
              <a:r>
                <a:rPr lang="en-US" sz="2600" b="1" dirty="0">
                  <a:solidFill>
                    <a:schemeClr val="bg1">
                      <a:lumMod val="85000"/>
                    </a:schemeClr>
                  </a:solidFill>
                  <a:latin typeface="Canva Sans"/>
                  <a:ea typeface="Canva Sans"/>
                  <a:cs typeface="Canva Sans"/>
                  <a:sym typeface="Canva Sans"/>
                </a:rPr>
                <a:t>Pressurized Irrigation Systems</a:t>
              </a:r>
            </a:p>
          </p:txBody>
        </p:sp>
      </p:grpSp>
      <p:grpSp>
        <p:nvGrpSpPr>
          <p:cNvPr id="7" name="Group 6">
            <a:extLst>
              <a:ext uri="{FF2B5EF4-FFF2-40B4-BE49-F238E27FC236}">
                <a16:creationId xmlns:a16="http://schemas.microsoft.com/office/drawing/2014/main" id="{AFD8FF14-0C20-DB2C-A187-70433F86DCB9}"/>
              </a:ext>
            </a:extLst>
          </p:cNvPr>
          <p:cNvGrpSpPr/>
          <p:nvPr/>
        </p:nvGrpSpPr>
        <p:grpSpPr>
          <a:xfrm>
            <a:off x="-13431488" y="5624673"/>
            <a:ext cx="6019800" cy="880074"/>
            <a:chOff x="1295400" y="6709252"/>
            <a:chExt cx="6019800" cy="880074"/>
          </a:xfrm>
          <a:solidFill>
            <a:srgbClr val="F2F2F2"/>
          </a:solidFill>
        </p:grpSpPr>
        <p:grpSp>
          <p:nvGrpSpPr>
            <p:cNvPr id="8" name="Group 10">
              <a:extLst>
                <a:ext uri="{FF2B5EF4-FFF2-40B4-BE49-F238E27FC236}">
                  <a16:creationId xmlns:a16="http://schemas.microsoft.com/office/drawing/2014/main" id="{998DECFB-89DA-A221-DA3A-CD0F5BEF404B}"/>
                </a:ext>
              </a:extLst>
            </p:cNvPr>
            <p:cNvGrpSpPr/>
            <p:nvPr/>
          </p:nvGrpSpPr>
          <p:grpSpPr>
            <a:xfrm>
              <a:off x="1295400" y="6709252"/>
              <a:ext cx="6019800" cy="880074"/>
              <a:chOff x="0" y="0"/>
              <a:chExt cx="3247348" cy="455698"/>
            </a:xfrm>
            <a:grpFill/>
          </p:grpSpPr>
          <p:sp>
            <p:nvSpPr>
              <p:cNvPr id="10" name="Freeform 11">
                <a:extLst>
                  <a:ext uri="{FF2B5EF4-FFF2-40B4-BE49-F238E27FC236}">
                    <a16:creationId xmlns:a16="http://schemas.microsoft.com/office/drawing/2014/main" id="{E2784309-F00A-0C51-1A31-5E8CA239E9EB}"/>
                  </a:ext>
                </a:extLst>
              </p:cNvPr>
              <p:cNvSpPr/>
              <p:nvPr/>
            </p:nvSpPr>
            <p:spPr>
              <a:xfrm>
                <a:off x="0" y="0"/>
                <a:ext cx="3247348" cy="455698"/>
              </a:xfrm>
              <a:prstGeom prst="roundRect">
                <a:avLst/>
              </a:prstGeom>
              <a:grpFill/>
              <a:ln w="38100" cap="sq">
                <a:solidFill>
                  <a:srgbClr val="F1F2F2"/>
                </a:solidFill>
                <a:prstDash val="solid"/>
                <a:miter/>
              </a:ln>
            </p:spPr>
          </p:sp>
          <p:sp>
            <p:nvSpPr>
              <p:cNvPr id="11" name="TextBox 12">
                <a:extLst>
                  <a:ext uri="{FF2B5EF4-FFF2-40B4-BE49-F238E27FC236}">
                    <a16:creationId xmlns:a16="http://schemas.microsoft.com/office/drawing/2014/main" id="{78CE3763-D5C0-3602-8FCE-E39F6BD3F47A}"/>
                  </a:ext>
                </a:extLst>
              </p:cNvPr>
              <p:cNvSpPr txBox="1"/>
              <p:nvPr/>
            </p:nvSpPr>
            <p:spPr>
              <a:xfrm>
                <a:off x="0" y="-38100"/>
                <a:ext cx="3247348" cy="493798"/>
              </a:xfrm>
              <a:prstGeom prst="roundRect">
                <a:avLst/>
              </a:prstGeom>
              <a:grpFill/>
            </p:spPr>
            <p:txBody>
              <a:bodyPr lIns="50800" tIns="50800" rIns="50800" bIns="50800" rtlCol="0" anchor="ctr"/>
              <a:lstStyle/>
              <a:p>
                <a:pPr algn="ctr">
                  <a:lnSpc>
                    <a:spcPts val="2659"/>
                  </a:lnSpc>
                  <a:spcBef>
                    <a:spcPct val="0"/>
                  </a:spcBef>
                </a:pPr>
                <a:endParaRPr>
                  <a:solidFill>
                    <a:schemeClr val="bg1">
                      <a:lumMod val="85000"/>
                    </a:schemeClr>
                  </a:solidFill>
                </a:endParaRPr>
              </a:p>
            </p:txBody>
          </p:sp>
        </p:grpSp>
        <p:sp>
          <p:nvSpPr>
            <p:cNvPr id="9" name="TextBox 6">
              <a:extLst>
                <a:ext uri="{FF2B5EF4-FFF2-40B4-BE49-F238E27FC236}">
                  <a16:creationId xmlns:a16="http://schemas.microsoft.com/office/drawing/2014/main" id="{67C6C52C-F577-24D7-08AD-02E52F4EF4E2}"/>
                </a:ext>
              </a:extLst>
            </p:cNvPr>
            <p:cNvSpPr txBox="1"/>
            <p:nvPr/>
          </p:nvSpPr>
          <p:spPr>
            <a:xfrm>
              <a:off x="1634797" y="6846154"/>
              <a:ext cx="5414229" cy="528478"/>
            </a:xfrm>
            <a:prstGeom prst="rect">
              <a:avLst/>
            </a:prstGeom>
            <a:grpFill/>
          </p:spPr>
          <p:txBody>
            <a:bodyPr wrap="square" lIns="0" tIns="0" rIns="0" bIns="0" rtlCol="0" anchor="t">
              <a:spAutoFit/>
            </a:bodyPr>
            <a:lstStyle/>
            <a:p>
              <a:pPr marL="0" lvl="0" indent="0" algn="ctr">
                <a:lnSpc>
                  <a:spcPts val="4620"/>
                </a:lnSpc>
                <a:spcBef>
                  <a:spcPct val="0"/>
                </a:spcBef>
              </a:pPr>
              <a:r>
                <a:rPr lang="en-US" sz="2600" b="1" dirty="0">
                  <a:solidFill>
                    <a:schemeClr val="bg1">
                      <a:lumMod val="85000"/>
                    </a:schemeClr>
                  </a:solidFill>
                  <a:latin typeface="Canva Sans"/>
                  <a:ea typeface="Canva Sans"/>
                  <a:cs typeface="Canva Sans"/>
                  <a:sym typeface="Canva Sans"/>
                </a:rPr>
                <a:t>Fluid Mechanics</a:t>
              </a:r>
            </a:p>
          </p:txBody>
        </p:sp>
      </p:grpSp>
      <p:grpSp>
        <p:nvGrpSpPr>
          <p:cNvPr id="12" name="Group 11">
            <a:extLst>
              <a:ext uri="{FF2B5EF4-FFF2-40B4-BE49-F238E27FC236}">
                <a16:creationId xmlns:a16="http://schemas.microsoft.com/office/drawing/2014/main" id="{63D196C5-264C-FC2F-446C-9B2127EFDBF7}"/>
              </a:ext>
            </a:extLst>
          </p:cNvPr>
          <p:cNvGrpSpPr/>
          <p:nvPr/>
        </p:nvGrpSpPr>
        <p:grpSpPr>
          <a:xfrm>
            <a:off x="-13431488" y="4405473"/>
            <a:ext cx="6019800" cy="880074"/>
            <a:chOff x="1295400" y="5558827"/>
            <a:chExt cx="6019800" cy="880074"/>
          </a:xfrm>
          <a:solidFill>
            <a:schemeClr val="bg1">
              <a:lumMod val="95000"/>
            </a:schemeClr>
          </a:solidFill>
        </p:grpSpPr>
        <p:grpSp>
          <p:nvGrpSpPr>
            <p:cNvPr id="13" name="Group 10">
              <a:extLst>
                <a:ext uri="{FF2B5EF4-FFF2-40B4-BE49-F238E27FC236}">
                  <a16:creationId xmlns:a16="http://schemas.microsoft.com/office/drawing/2014/main" id="{DE6B8966-9F56-EA99-BCDD-37F2C83A6511}"/>
                </a:ext>
              </a:extLst>
            </p:cNvPr>
            <p:cNvGrpSpPr/>
            <p:nvPr/>
          </p:nvGrpSpPr>
          <p:grpSpPr>
            <a:xfrm>
              <a:off x="1295400" y="5558827"/>
              <a:ext cx="6019800" cy="880074"/>
              <a:chOff x="0" y="0"/>
              <a:chExt cx="3247348" cy="455698"/>
            </a:xfrm>
            <a:grpFill/>
          </p:grpSpPr>
          <p:sp>
            <p:nvSpPr>
              <p:cNvPr id="27" name="Freeform 11">
                <a:extLst>
                  <a:ext uri="{FF2B5EF4-FFF2-40B4-BE49-F238E27FC236}">
                    <a16:creationId xmlns:a16="http://schemas.microsoft.com/office/drawing/2014/main" id="{7DA71476-1D82-3875-CBB0-32FFC67704E9}"/>
                  </a:ext>
                </a:extLst>
              </p:cNvPr>
              <p:cNvSpPr/>
              <p:nvPr/>
            </p:nvSpPr>
            <p:spPr>
              <a:xfrm>
                <a:off x="0" y="0"/>
                <a:ext cx="3247348" cy="455698"/>
              </a:xfrm>
              <a:prstGeom prst="roundRect">
                <a:avLst/>
              </a:prstGeom>
              <a:grpFill/>
              <a:ln w="38100" cap="sq">
                <a:solidFill>
                  <a:srgbClr val="F1F2F2"/>
                </a:solidFill>
                <a:prstDash val="solid"/>
                <a:miter/>
              </a:ln>
            </p:spPr>
          </p:sp>
          <p:sp>
            <p:nvSpPr>
              <p:cNvPr id="28" name="TextBox 12">
                <a:extLst>
                  <a:ext uri="{FF2B5EF4-FFF2-40B4-BE49-F238E27FC236}">
                    <a16:creationId xmlns:a16="http://schemas.microsoft.com/office/drawing/2014/main" id="{4D812380-24DE-533B-80C7-DC0B0B0BEF7C}"/>
                  </a:ext>
                </a:extLst>
              </p:cNvPr>
              <p:cNvSpPr txBox="1"/>
              <p:nvPr/>
            </p:nvSpPr>
            <p:spPr>
              <a:xfrm>
                <a:off x="0" y="-38100"/>
                <a:ext cx="3247348" cy="493798"/>
              </a:xfrm>
              <a:prstGeom prst="roundRect">
                <a:avLst/>
              </a:prstGeom>
              <a:grpFill/>
            </p:spPr>
            <p:txBody>
              <a:bodyPr lIns="50800" tIns="50800" rIns="50800" bIns="50800" rtlCol="0" anchor="ctr"/>
              <a:lstStyle/>
              <a:p>
                <a:pPr algn="ctr">
                  <a:lnSpc>
                    <a:spcPts val="2659"/>
                  </a:lnSpc>
                  <a:spcBef>
                    <a:spcPct val="0"/>
                  </a:spcBef>
                </a:pPr>
                <a:endParaRPr>
                  <a:solidFill>
                    <a:schemeClr val="bg1">
                      <a:lumMod val="85000"/>
                    </a:schemeClr>
                  </a:solidFill>
                </a:endParaRPr>
              </a:p>
            </p:txBody>
          </p:sp>
        </p:grpSp>
        <p:sp>
          <p:nvSpPr>
            <p:cNvPr id="14" name="TextBox 5">
              <a:extLst>
                <a:ext uri="{FF2B5EF4-FFF2-40B4-BE49-F238E27FC236}">
                  <a16:creationId xmlns:a16="http://schemas.microsoft.com/office/drawing/2014/main" id="{82957426-B58C-0BD4-676A-AB14797332E1}"/>
                </a:ext>
              </a:extLst>
            </p:cNvPr>
            <p:cNvSpPr txBox="1"/>
            <p:nvPr/>
          </p:nvSpPr>
          <p:spPr>
            <a:xfrm>
              <a:off x="2015271" y="5659411"/>
              <a:ext cx="4580058" cy="541751"/>
            </a:xfrm>
            <a:prstGeom prst="rect">
              <a:avLst/>
            </a:prstGeom>
            <a:grpFill/>
          </p:spPr>
          <p:txBody>
            <a:bodyPr lIns="0" tIns="0" rIns="0" bIns="0" rtlCol="0" anchor="t">
              <a:spAutoFit/>
            </a:bodyPr>
            <a:lstStyle/>
            <a:p>
              <a:pPr algn="ctr">
                <a:lnSpc>
                  <a:spcPts val="4620"/>
                </a:lnSpc>
              </a:pPr>
              <a:r>
                <a:rPr lang="en-US" sz="2600" b="1" dirty="0">
                  <a:solidFill>
                    <a:schemeClr val="bg1">
                      <a:lumMod val="85000"/>
                    </a:schemeClr>
                  </a:solidFill>
                  <a:latin typeface="Canva Sans"/>
                  <a:ea typeface="Canva Sans"/>
                  <a:cs typeface="Canva Sans"/>
                  <a:sym typeface="Canva Sans"/>
                </a:rPr>
                <a:t>Surveying</a:t>
              </a:r>
            </a:p>
          </p:txBody>
        </p:sp>
      </p:grpSp>
      <p:grpSp>
        <p:nvGrpSpPr>
          <p:cNvPr id="18" name="Group 17">
            <a:extLst>
              <a:ext uri="{FF2B5EF4-FFF2-40B4-BE49-F238E27FC236}">
                <a16:creationId xmlns:a16="http://schemas.microsoft.com/office/drawing/2014/main" id="{D1ED0D2A-1D75-37AF-B980-35BDAB8FCA15}"/>
              </a:ext>
            </a:extLst>
          </p:cNvPr>
          <p:cNvGrpSpPr/>
          <p:nvPr/>
        </p:nvGrpSpPr>
        <p:grpSpPr>
          <a:xfrm>
            <a:off x="1931100" y="4247905"/>
            <a:ext cx="14375701" cy="2042145"/>
            <a:chOff x="948669" y="5485246"/>
            <a:chExt cx="6713263" cy="953655"/>
          </a:xfrm>
        </p:grpSpPr>
        <p:grpSp>
          <p:nvGrpSpPr>
            <p:cNvPr id="19" name="Group 10">
              <a:extLst>
                <a:ext uri="{FF2B5EF4-FFF2-40B4-BE49-F238E27FC236}">
                  <a16:creationId xmlns:a16="http://schemas.microsoft.com/office/drawing/2014/main" id="{D839AF9E-4487-4B2E-7CF7-AF10E3D1D988}"/>
                </a:ext>
              </a:extLst>
            </p:cNvPr>
            <p:cNvGrpSpPr/>
            <p:nvPr/>
          </p:nvGrpSpPr>
          <p:grpSpPr>
            <a:xfrm>
              <a:off x="948669" y="5485246"/>
              <a:ext cx="6713263" cy="953655"/>
              <a:chOff x="-187042" y="-38100"/>
              <a:chExt cx="3621433" cy="493798"/>
            </a:xfrm>
          </p:grpSpPr>
          <p:sp>
            <p:nvSpPr>
              <p:cNvPr id="21" name="Freeform 11">
                <a:extLst>
                  <a:ext uri="{FF2B5EF4-FFF2-40B4-BE49-F238E27FC236}">
                    <a16:creationId xmlns:a16="http://schemas.microsoft.com/office/drawing/2014/main" id="{629E4B97-AD4F-FCE7-E529-BAFE8950D4BD}"/>
                  </a:ext>
                </a:extLst>
              </p:cNvPr>
              <p:cNvSpPr/>
              <p:nvPr/>
            </p:nvSpPr>
            <p:spPr>
              <a:xfrm>
                <a:off x="-187042" y="0"/>
                <a:ext cx="3621433" cy="455698"/>
              </a:xfrm>
              <a:prstGeom prst="roundRect">
                <a:avLst/>
              </a:prstGeom>
              <a:solidFill>
                <a:srgbClr val="DDDEDE"/>
              </a:solidFill>
              <a:ln w="38100" cap="sq">
                <a:solidFill>
                  <a:srgbClr val="F1F2F2"/>
                </a:solidFill>
                <a:prstDash val="solid"/>
                <a:miter/>
              </a:ln>
            </p:spPr>
          </p:sp>
          <p:sp>
            <p:nvSpPr>
              <p:cNvPr id="22" name="TextBox 12">
                <a:extLst>
                  <a:ext uri="{FF2B5EF4-FFF2-40B4-BE49-F238E27FC236}">
                    <a16:creationId xmlns:a16="http://schemas.microsoft.com/office/drawing/2014/main" id="{7C7AB6DE-66E0-73B7-58FB-5EE77BDC408A}"/>
                  </a:ext>
                </a:extLst>
              </p:cNvPr>
              <p:cNvSpPr txBox="1"/>
              <p:nvPr/>
            </p:nvSpPr>
            <p:spPr>
              <a:xfrm>
                <a:off x="0" y="-38100"/>
                <a:ext cx="3247348" cy="493798"/>
              </a:xfrm>
              <a:prstGeom prst="roundRect">
                <a:avLst/>
              </a:prstGeom>
            </p:spPr>
            <p:txBody>
              <a:bodyPr lIns="50800" tIns="50800" rIns="50800" bIns="50800" rtlCol="0" anchor="ctr"/>
              <a:lstStyle/>
              <a:p>
                <a:pPr algn="ctr">
                  <a:lnSpc>
                    <a:spcPts val="2659"/>
                  </a:lnSpc>
                  <a:spcBef>
                    <a:spcPct val="0"/>
                  </a:spcBef>
                </a:pPr>
                <a:endParaRPr lang="en-PH" sz="4800" dirty="0"/>
              </a:p>
            </p:txBody>
          </p:sp>
        </p:grpSp>
        <p:sp>
          <p:nvSpPr>
            <p:cNvPr id="20" name="TextBox 5">
              <a:extLst>
                <a:ext uri="{FF2B5EF4-FFF2-40B4-BE49-F238E27FC236}">
                  <a16:creationId xmlns:a16="http://schemas.microsoft.com/office/drawing/2014/main" id="{4203BC74-A881-5826-7B79-283E4F8B77F0}"/>
                </a:ext>
              </a:extLst>
            </p:cNvPr>
            <p:cNvSpPr txBox="1"/>
            <p:nvPr/>
          </p:nvSpPr>
          <p:spPr>
            <a:xfrm>
              <a:off x="1055421" y="5984481"/>
              <a:ext cx="6499758" cy="320423"/>
            </a:xfrm>
            <a:prstGeom prst="rect">
              <a:avLst/>
            </a:prstGeom>
          </p:spPr>
          <p:txBody>
            <a:bodyPr wrap="square" lIns="0" tIns="0" rIns="0" bIns="0" rtlCol="0" anchor="t">
              <a:spAutoFit/>
            </a:bodyPr>
            <a:lstStyle/>
            <a:p>
              <a:pPr algn="ctr">
                <a:lnSpc>
                  <a:spcPts val="4620"/>
                </a:lnSpc>
              </a:pPr>
              <a:r>
                <a:rPr lang="en-US" sz="7200" b="1" dirty="0">
                  <a:solidFill>
                    <a:srgbClr val="000000"/>
                  </a:solidFill>
                  <a:latin typeface="Nunito 1 Bold" panose="020B0604020202020204"/>
                  <a:ea typeface="Canva Sans"/>
                  <a:cs typeface="Canva Sans"/>
                  <a:sym typeface="Canva Sans"/>
                </a:rPr>
                <a:t>GROUNDWATER HYDROLOGY</a:t>
              </a:r>
            </a:p>
          </p:txBody>
        </p:sp>
      </p:grpSp>
    </p:spTree>
    <p:extLst>
      <p:ext uri="{BB962C8B-B14F-4D97-AF65-F5344CB8AC3E}">
        <p14:creationId xmlns:p14="http://schemas.microsoft.com/office/powerpoint/2010/main" val="34925929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DC1F6-B00A-BA55-8A2F-E27D99691F1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790D522-357A-F643-3449-2830AD6A95F0}"/>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5B8A1D34-35E2-C2AB-C5CB-6B22B276FCC2}"/>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3915F33D-A177-28FD-C48F-81BB641A8621}"/>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23FDD5EE-BE32-953B-FEDC-F058A6BDC1FF}"/>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94913F3C-1EEE-3530-C771-D8A853E550D8}"/>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A2095CFB-5923-A6CE-B4A8-586CF9A67541}"/>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016251CD-8A6A-4C54-61F5-1ED0E03B3724}"/>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6E3F8D1D-EBE2-B57B-6177-50B800C767CB}"/>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D433B40E-ADF0-E9D5-5CBF-06AB9786E3A4}"/>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AC5FEFBD-C1CC-326A-7C4C-8E9D42EC6DC1}"/>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1</a:t>
            </a:r>
          </a:p>
        </p:txBody>
      </p:sp>
      <p:sp>
        <p:nvSpPr>
          <p:cNvPr id="15" name="TextBox 15">
            <a:extLst>
              <a:ext uri="{FF2B5EF4-FFF2-40B4-BE49-F238E27FC236}">
                <a16:creationId xmlns:a16="http://schemas.microsoft.com/office/drawing/2014/main" id="{48695B4A-D4E1-60C4-09E2-E18FB3A2388E}"/>
              </a:ext>
            </a:extLst>
          </p:cNvPr>
          <p:cNvSpPr txBox="1"/>
          <p:nvPr/>
        </p:nvSpPr>
        <p:spPr>
          <a:xfrm>
            <a:off x="2246041" y="2025065"/>
            <a:ext cx="13795916" cy="369332"/>
          </a:xfrm>
          <a:prstGeom prst="rect">
            <a:avLst/>
          </a:prstGeom>
        </p:spPr>
        <p:txBody>
          <a:bodyPr lIns="0" tIns="0" rIns="0" bIns="0" rtlCol="0" anchor="t">
            <a:spAutoFit/>
          </a:bodyPr>
          <a:lstStyle/>
          <a:p>
            <a:pPr algn="ctr"/>
            <a:r>
              <a:rPr lang="en-US" sz="2400" b="1" dirty="0">
                <a:solidFill>
                  <a:srgbClr val="000000"/>
                </a:solidFill>
                <a:latin typeface="Fredoka SemiBold" pitchFamily="2" charset="-79"/>
                <a:ea typeface="Nunito 1 Bold"/>
                <a:cs typeface="Fredoka SemiBold" pitchFamily="2" charset="-79"/>
                <a:sym typeface="Nunito 1 Bold"/>
              </a:rPr>
              <a:t>This refers to the water that exists underground in saturated zones beneath the land surface. </a:t>
            </a:r>
          </a:p>
        </p:txBody>
      </p:sp>
      <p:grpSp>
        <p:nvGrpSpPr>
          <p:cNvPr id="18" name="Group 17">
            <a:extLst>
              <a:ext uri="{FF2B5EF4-FFF2-40B4-BE49-F238E27FC236}">
                <a16:creationId xmlns:a16="http://schemas.microsoft.com/office/drawing/2014/main" id="{3299D7C5-AF3B-23C5-82F6-A9617AA24DB7}"/>
              </a:ext>
            </a:extLst>
          </p:cNvPr>
          <p:cNvGrpSpPr/>
          <p:nvPr/>
        </p:nvGrpSpPr>
        <p:grpSpPr>
          <a:xfrm>
            <a:off x="0" y="9599693"/>
            <a:ext cx="18287999" cy="687306"/>
            <a:chOff x="0" y="9599693"/>
            <a:chExt cx="18287999" cy="687306"/>
          </a:xfrm>
        </p:grpSpPr>
        <p:grpSp>
          <p:nvGrpSpPr>
            <p:cNvPr id="11" name="Group 11">
              <a:extLst>
                <a:ext uri="{FF2B5EF4-FFF2-40B4-BE49-F238E27FC236}">
                  <a16:creationId xmlns:a16="http://schemas.microsoft.com/office/drawing/2014/main" id="{824ED6BD-9F93-3FBA-ED40-94CE4FD6F337}"/>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A3F8600C-C29E-7585-6147-9606C4B7C19E}"/>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CC65F814-F0DA-6CFB-CC7F-7EBBE334BDE9}"/>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2">
              <a:extLst>
                <a:ext uri="{FF2B5EF4-FFF2-40B4-BE49-F238E27FC236}">
                  <a16:creationId xmlns:a16="http://schemas.microsoft.com/office/drawing/2014/main" id="{EA2D2076-BC63-6083-7897-2D040C89B926}"/>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0" name="TextBox 13">
              <a:extLst>
                <a:ext uri="{FF2B5EF4-FFF2-40B4-BE49-F238E27FC236}">
                  <a16:creationId xmlns:a16="http://schemas.microsoft.com/office/drawing/2014/main" id="{E0BF6769-663F-ADA8-AB9D-92F7A5998230}"/>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grpSp>
        <p:nvGrpSpPr>
          <p:cNvPr id="23" name="Group 5">
            <a:extLst>
              <a:ext uri="{FF2B5EF4-FFF2-40B4-BE49-F238E27FC236}">
                <a16:creationId xmlns:a16="http://schemas.microsoft.com/office/drawing/2014/main" id="{D4396DD4-31E7-1B57-E304-70C34501536A}"/>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3A2B536C-4931-24D7-8BA7-2052A6FFAB3D}"/>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1CB44029-6351-C87D-B771-B67B0F5E5B4B}"/>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97FE2910-FB40-9CB3-3F76-781E8603C32C}"/>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https://www.usgs.gov/faqs/what-groundwater</a:t>
            </a:r>
          </a:p>
        </p:txBody>
      </p:sp>
      <p:sp>
        <p:nvSpPr>
          <p:cNvPr id="16" name="TextBox 15">
            <a:extLst>
              <a:ext uri="{FF2B5EF4-FFF2-40B4-BE49-F238E27FC236}">
                <a16:creationId xmlns:a16="http://schemas.microsoft.com/office/drawing/2014/main" id="{4A2B2D5F-E896-2D4C-79F2-A51B7B33374E}"/>
              </a:ext>
            </a:extLst>
          </p:cNvPr>
          <p:cNvSpPr txBox="1"/>
          <p:nvPr/>
        </p:nvSpPr>
        <p:spPr>
          <a:xfrm>
            <a:off x="1676400" y="2941299"/>
            <a:ext cx="14935200" cy="2585323"/>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a:ea typeface="Nunito 1 Bold"/>
                <a:cs typeface="Nunito 1 Bold"/>
                <a:sym typeface="Nunito 1 Bold"/>
              </a:rPr>
              <a:t>Freshwater</a:t>
            </a:r>
          </a:p>
          <a:p>
            <a:pPr marL="514350" indent="-514350" algn="just">
              <a:buFont typeface="+mj-lt"/>
              <a:buAutoNum type="alphaLcPeriod"/>
            </a:pPr>
            <a:endParaRPr lang="en-US" sz="2400" dirty="0">
              <a:solidFill>
                <a:srgbClr val="000000"/>
              </a:solidFill>
              <a:latin typeface="Nunito 1" panose="020B0604020202020204"/>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a:ea typeface="Nunito 1 Bold"/>
                <a:cs typeface="Nunito 1 Bold"/>
                <a:sym typeface="Nunito 1 Bold"/>
              </a:rPr>
              <a:t>Groundwater</a:t>
            </a:r>
          </a:p>
          <a:p>
            <a:pPr marL="514350" indent="-514350" algn="just">
              <a:buFont typeface="+mj-lt"/>
              <a:buAutoNum type="alphaLcPeriod"/>
            </a:pPr>
            <a:endParaRPr lang="en-US" sz="2400" dirty="0">
              <a:solidFill>
                <a:srgbClr val="000000"/>
              </a:solidFill>
              <a:latin typeface="Nunito 1" panose="020B0604020202020204"/>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a:ea typeface="Nunito 1 Bold"/>
                <a:cs typeface="Nunito 1 Bold"/>
                <a:sym typeface="Nunito 1 Bold"/>
              </a:rPr>
              <a:t>Aquifer</a:t>
            </a:r>
          </a:p>
          <a:p>
            <a:pPr marL="514350" indent="-514350" algn="just">
              <a:buFont typeface="+mj-lt"/>
              <a:buAutoNum type="alphaLcPeriod"/>
            </a:pPr>
            <a:endParaRPr lang="en-US" sz="2400" dirty="0">
              <a:solidFill>
                <a:srgbClr val="000000"/>
              </a:solidFill>
              <a:latin typeface="Nunito 1" panose="020B0604020202020204"/>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a:ea typeface="Nunito 1 Bold"/>
                <a:cs typeface="Nunito 1 Bold"/>
                <a:sym typeface="Nunito 1 Bold"/>
              </a:rPr>
              <a:t>Surface water</a:t>
            </a:r>
          </a:p>
        </p:txBody>
      </p:sp>
      <p:sp>
        <p:nvSpPr>
          <p:cNvPr id="17" name="Oval 16">
            <a:extLst>
              <a:ext uri="{FF2B5EF4-FFF2-40B4-BE49-F238E27FC236}">
                <a16:creationId xmlns:a16="http://schemas.microsoft.com/office/drawing/2014/main" id="{72DCB576-5653-4001-7EEA-2482A694E67A}"/>
              </a:ext>
            </a:extLst>
          </p:cNvPr>
          <p:cNvSpPr/>
          <p:nvPr/>
        </p:nvSpPr>
        <p:spPr>
          <a:xfrm>
            <a:off x="1505640" y="3619500"/>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32814206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133BF-11A0-AD32-0985-4F282F5B960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9660610-C475-E016-8CB7-2977DD2121D0}"/>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F77211A2-DFEC-C88C-596C-B8A6357BE76B}"/>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8AED1380-28A6-2A2C-05AE-3FFF7943811E}"/>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4A32D8CE-3370-9D87-42A6-8AE197BF9751}"/>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FC61913E-915E-3F15-584A-409C097C1A88}"/>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4DABE243-ABC4-8548-FABB-A932BA769752}"/>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17FDBECB-B651-16B9-3251-DAE554D5296D}"/>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512F18ED-DFB1-4D50-7E0A-A5AD5119B03F}"/>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E9E79619-A55B-7E20-436A-BE1E5A41DC55}"/>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DC6587DF-B8E2-F613-2BEF-83492F1864BE}"/>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7E743FAF-755D-C418-CEC4-F3FAC997CD16}"/>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D7C4163E-DA2A-9D89-CE1A-8AE635F98E17}"/>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2">
            <a:extLst>
              <a:ext uri="{FF2B5EF4-FFF2-40B4-BE49-F238E27FC236}">
                <a16:creationId xmlns:a16="http://schemas.microsoft.com/office/drawing/2014/main" id="{C150ED61-F449-10EF-4FF3-1B29C55B4626}"/>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6A4419B5-7665-829F-E5CF-56B1329EB7B9}"/>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nvGrpSpPr>
          <p:cNvPr id="23" name="Group 5">
            <a:extLst>
              <a:ext uri="{FF2B5EF4-FFF2-40B4-BE49-F238E27FC236}">
                <a16:creationId xmlns:a16="http://schemas.microsoft.com/office/drawing/2014/main" id="{5B9A020E-93DF-4F72-FAD2-1B6F4BBA450B}"/>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0D908024-6794-D068-848F-B86F6371B61D}"/>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016CBCA1-8EAF-9568-B3D9-F2D19BA8FD14}"/>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D4BDD242-4EB6-FE79-A7DB-5D251AE8AA44}"/>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https://books.gw-project.org/hydrogeologic-properties-of-earth-materials-and-principles-of-groundwater-flow/part/defining-groundwater/</a:t>
            </a:r>
          </a:p>
        </p:txBody>
      </p:sp>
      <p:pic>
        <p:nvPicPr>
          <p:cNvPr id="1026" name="Picture 2" descr="Schematic of shallow water zones in the subsurface">
            <a:extLst>
              <a:ext uri="{FF2B5EF4-FFF2-40B4-BE49-F238E27FC236}">
                <a16:creationId xmlns:a16="http://schemas.microsoft.com/office/drawing/2014/main" id="{B3722678-FBDE-58E5-F29E-F2894559D4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11408" y="1876151"/>
            <a:ext cx="6685308" cy="6534700"/>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7DF3CE5E-97C2-26DF-C28B-9C8FBE07DA90}"/>
              </a:ext>
            </a:extLst>
          </p:cNvPr>
          <p:cNvSpPr txBox="1"/>
          <p:nvPr/>
        </p:nvSpPr>
        <p:spPr>
          <a:xfrm>
            <a:off x="1676400" y="2941299"/>
            <a:ext cx="7689921" cy="3831818"/>
          </a:xfrm>
          <a:prstGeom prst="rect">
            <a:avLst/>
          </a:prstGeom>
        </p:spPr>
        <p:txBody>
          <a:bodyPr wrap="square" lIns="0" tIns="0" rIns="0" bIns="0" rtlCol="0" anchor="t">
            <a:spAutoFit/>
          </a:bodyPr>
          <a:lstStyle/>
          <a:p>
            <a:pPr algn="just">
              <a:lnSpc>
                <a:spcPct val="150000"/>
              </a:lnSpc>
            </a:pPr>
            <a:r>
              <a:rPr lang="en-US" sz="2400" b="1" dirty="0">
                <a:solidFill>
                  <a:srgbClr val="000000"/>
                </a:solidFill>
                <a:latin typeface="Nunito 1" panose="020B0604020202020204" charset="0"/>
                <a:ea typeface="Nunito 1 Bold"/>
                <a:cs typeface="Nunito 1 Bold"/>
                <a:sym typeface="Nunito 1 Bold"/>
              </a:rPr>
              <a:t>Groundwater</a:t>
            </a:r>
            <a:r>
              <a:rPr lang="en-US" sz="2400" dirty="0">
                <a:solidFill>
                  <a:srgbClr val="000000"/>
                </a:solidFill>
                <a:latin typeface="Nunito 1" panose="020B0604020202020204" charset="0"/>
                <a:ea typeface="Nunito 1 Bold"/>
                <a:cs typeface="Nunito 1 Bold"/>
                <a:sym typeface="Nunito 1 Bold"/>
              </a:rPr>
              <a:t> is water that occurs below the ground surface in zones of porous materials where all the cracks (fractures) and pore spaces are filled with water and that water is at a pressure higher than the pressure of the atmosphere (Figure 1). This region or zone is referred to as the zone of saturation, </a:t>
            </a:r>
            <a:r>
              <a:rPr lang="en-US" sz="2400" i="1" dirty="0">
                <a:solidFill>
                  <a:srgbClr val="000000"/>
                </a:solidFill>
                <a:latin typeface="Nunito 1" panose="020B0604020202020204" charset="0"/>
                <a:ea typeface="Nunito 1 Bold"/>
                <a:cs typeface="Nunito 1 Bold"/>
                <a:sym typeface="Nunito 1 Bold"/>
              </a:rPr>
              <a:t>saturated zone</a:t>
            </a:r>
            <a:r>
              <a:rPr lang="en-US" sz="2400" dirty="0">
                <a:solidFill>
                  <a:srgbClr val="000000"/>
                </a:solidFill>
                <a:latin typeface="Nunito 1" panose="020B0604020202020204" charset="0"/>
                <a:ea typeface="Nunito 1 Bold"/>
                <a:cs typeface="Nunito 1 Bold"/>
                <a:sym typeface="Nunito 1 Bold"/>
              </a:rPr>
              <a:t>, </a:t>
            </a:r>
            <a:r>
              <a:rPr lang="en-US" sz="2400" i="1" dirty="0">
                <a:solidFill>
                  <a:srgbClr val="000000"/>
                </a:solidFill>
                <a:latin typeface="Nunito 1" panose="020B0604020202020204" charset="0"/>
                <a:ea typeface="Nunito 1 Bold"/>
                <a:cs typeface="Nunito 1 Bold"/>
                <a:sym typeface="Nunito 1 Bold"/>
              </a:rPr>
              <a:t>zone of phreatic water</a:t>
            </a:r>
            <a:r>
              <a:rPr lang="en-US" sz="2400" dirty="0">
                <a:solidFill>
                  <a:srgbClr val="000000"/>
                </a:solidFill>
                <a:latin typeface="Nunito 1" panose="020B0604020202020204" charset="0"/>
                <a:ea typeface="Nunito 1 Bold"/>
                <a:cs typeface="Nunito 1 Bold"/>
                <a:sym typeface="Nunito 1 Bold"/>
              </a:rPr>
              <a:t>, or </a:t>
            </a:r>
            <a:r>
              <a:rPr lang="en-US" sz="2400" i="1" dirty="0">
                <a:solidFill>
                  <a:srgbClr val="000000"/>
                </a:solidFill>
                <a:latin typeface="Nunito 1" panose="020B0604020202020204" charset="0"/>
                <a:ea typeface="Nunito 1 Bold"/>
                <a:cs typeface="Nunito 1 Bold"/>
                <a:sym typeface="Nunito 1 Bold"/>
              </a:rPr>
              <a:t>groundwater zone</a:t>
            </a:r>
            <a:r>
              <a:rPr lang="en-US" sz="2400" dirty="0">
                <a:solidFill>
                  <a:srgbClr val="000000"/>
                </a:solidFill>
                <a:latin typeface="Nunito 1" panose="020B0604020202020204" charset="0"/>
                <a:ea typeface="Nunito 1 Bold"/>
                <a:cs typeface="Nunito 1 Bold"/>
                <a:sym typeface="Nunito 1 Bold"/>
              </a:rPr>
              <a:t>.</a:t>
            </a:r>
          </a:p>
        </p:txBody>
      </p:sp>
      <p:grpSp>
        <p:nvGrpSpPr>
          <p:cNvPr id="14" name="Group 13">
            <a:extLst>
              <a:ext uri="{FF2B5EF4-FFF2-40B4-BE49-F238E27FC236}">
                <a16:creationId xmlns:a16="http://schemas.microsoft.com/office/drawing/2014/main" id="{27F2233A-1AD7-256E-C531-1698CDAB3935}"/>
              </a:ext>
            </a:extLst>
          </p:cNvPr>
          <p:cNvGrpSpPr/>
          <p:nvPr/>
        </p:nvGrpSpPr>
        <p:grpSpPr>
          <a:xfrm>
            <a:off x="0" y="9599693"/>
            <a:ext cx="18287999" cy="687306"/>
            <a:chOff x="0" y="9599693"/>
            <a:chExt cx="18287999" cy="687306"/>
          </a:xfrm>
        </p:grpSpPr>
        <p:grpSp>
          <p:nvGrpSpPr>
            <p:cNvPr id="15" name="Group 11">
              <a:extLst>
                <a:ext uri="{FF2B5EF4-FFF2-40B4-BE49-F238E27FC236}">
                  <a16:creationId xmlns:a16="http://schemas.microsoft.com/office/drawing/2014/main" id="{BF2768BE-0F08-5F43-1026-962F2F38F196}"/>
                </a:ext>
              </a:extLst>
            </p:cNvPr>
            <p:cNvGrpSpPr/>
            <p:nvPr/>
          </p:nvGrpSpPr>
          <p:grpSpPr>
            <a:xfrm>
              <a:off x="0" y="9599694"/>
              <a:ext cx="18287999" cy="687305"/>
              <a:chOff x="0" y="0"/>
              <a:chExt cx="5260714" cy="490218"/>
            </a:xfrm>
          </p:grpSpPr>
          <p:sp>
            <p:nvSpPr>
              <p:cNvPr id="21" name="Freeform 12">
                <a:extLst>
                  <a:ext uri="{FF2B5EF4-FFF2-40B4-BE49-F238E27FC236}">
                    <a16:creationId xmlns:a16="http://schemas.microsoft.com/office/drawing/2014/main" id="{A6045D63-FCC6-57EF-4483-2A3A5D518643}"/>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2" name="TextBox 13">
                <a:extLst>
                  <a:ext uri="{FF2B5EF4-FFF2-40B4-BE49-F238E27FC236}">
                    <a16:creationId xmlns:a16="http://schemas.microsoft.com/office/drawing/2014/main" id="{110B2ED8-996E-8827-BCA0-A5058CB5A29C}"/>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2">
              <a:extLst>
                <a:ext uri="{FF2B5EF4-FFF2-40B4-BE49-F238E27FC236}">
                  <a16:creationId xmlns:a16="http://schemas.microsoft.com/office/drawing/2014/main" id="{1822DB2F-B067-9782-E293-A62F7169473D}"/>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17" name="TextBox 13">
              <a:extLst>
                <a:ext uri="{FF2B5EF4-FFF2-40B4-BE49-F238E27FC236}">
                  <a16:creationId xmlns:a16="http://schemas.microsoft.com/office/drawing/2014/main" id="{2590424E-37C6-2648-2DE4-6E36EED1C1DA}"/>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spTree>
    <p:extLst>
      <p:ext uri="{BB962C8B-B14F-4D97-AF65-F5344CB8AC3E}">
        <p14:creationId xmlns:p14="http://schemas.microsoft.com/office/powerpoint/2010/main" val="2681850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861D1-545B-FD53-00C2-1EF505C2D9C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2526367-7FCD-A111-1374-88C8E4C031BE}"/>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8CF24372-AB79-7BA1-25D5-1ED24A97A95F}"/>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6997FE25-A233-B74A-B321-819CE85A2900}"/>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04E8D70D-9C6D-E87B-EE55-B933CCB94987}"/>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626476E6-4A8B-5C79-C475-9C779252437E}"/>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77D9299E-C6B5-75E4-DA42-0D36FE40F31F}"/>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5A922AFE-5D3F-476F-B6CD-CC1BDA5B4C46}"/>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A3BA3B69-FDE6-6A94-149D-AAB0216E4629}"/>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98526126-977E-D716-FF3D-6309EC144BC3}"/>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C8E9185C-09D0-0F52-2D3D-199FA592EC15}"/>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F5D5A652-5692-C650-75F3-021058D53AF8}"/>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55E169CE-51A4-018A-34AF-ED1C3804560D}"/>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2">
            <a:extLst>
              <a:ext uri="{FF2B5EF4-FFF2-40B4-BE49-F238E27FC236}">
                <a16:creationId xmlns:a16="http://schemas.microsoft.com/office/drawing/2014/main" id="{C84AF4E7-8683-8BD3-1693-3C9B30559C7B}"/>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D5C47196-587A-1277-4FB1-5E2DC276BDF1}"/>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nvGrpSpPr>
          <p:cNvPr id="23" name="Group 5">
            <a:extLst>
              <a:ext uri="{FF2B5EF4-FFF2-40B4-BE49-F238E27FC236}">
                <a16:creationId xmlns:a16="http://schemas.microsoft.com/office/drawing/2014/main" id="{2661D5A2-0449-A22B-F59C-1B955EADD851}"/>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30754855-1DBE-9240-487A-3BFC35EBC227}"/>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39B1E816-2B6E-803B-6D7D-5351915CC3B0}"/>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95AB1F48-E4CF-DB7D-4403-4466258612C9}"/>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https://books.gw-project.org/hydrogeologic-properties-of-earth-materials-and-principles-of-groundwater-flow/part/defining-groundwater/</a:t>
            </a:r>
          </a:p>
        </p:txBody>
      </p:sp>
      <p:pic>
        <p:nvPicPr>
          <p:cNvPr id="1026" name="Picture 2" descr="Schematic of shallow water zones in the subsurface">
            <a:extLst>
              <a:ext uri="{FF2B5EF4-FFF2-40B4-BE49-F238E27FC236}">
                <a16:creationId xmlns:a16="http://schemas.microsoft.com/office/drawing/2014/main" id="{D692C786-A67E-F651-04C7-2C1CB5C02A1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208588" y="4898075"/>
            <a:ext cx="502162" cy="490850"/>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CDF8AA62-9BCB-9E0B-7ADB-D8DC74669564}"/>
              </a:ext>
            </a:extLst>
          </p:cNvPr>
          <p:cNvSpPr txBox="1"/>
          <p:nvPr/>
        </p:nvSpPr>
        <p:spPr>
          <a:xfrm>
            <a:off x="1676400" y="2600181"/>
            <a:ext cx="7689921" cy="4939814"/>
          </a:xfrm>
          <a:prstGeom prst="rect">
            <a:avLst/>
          </a:prstGeom>
        </p:spPr>
        <p:txBody>
          <a:bodyPr wrap="square" lIns="0" tIns="0" rIns="0" bIns="0" rtlCol="0" anchor="t">
            <a:spAutoFit/>
          </a:bodyPr>
          <a:lstStyle/>
          <a:p>
            <a:pPr algn="just">
              <a:lnSpc>
                <a:spcPct val="150000"/>
              </a:lnSpc>
            </a:pPr>
            <a:r>
              <a:rPr lang="en-US" sz="2400" dirty="0">
                <a:latin typeface="Nunito 1" panose="020B0604020202020204" charset="0"/>
              </a:rPr>
              <a:t>The </a:t>
            </a:r>
            <a:r>
              <a:rPr lang="en-US" sz="2400" dirty="0">
                <a:latin typeface="Nunito 1 Bold" panose="020B0604020202020204" charset="0"/>
              </a:rPr>
              <a:t>capillary fringe </a:t>
            </a:r>
            <a:r>
              <a:rPr lang="en-US" sz="2400" dirty="0">
                <a:latin typeface="Nunito 1" panose="020B0604020202020204" charset="0"/>
              </a:rPr>
              <a:t>is a zone of soil just above the water table where water is drawn upwards due to capillary action, effectively saturating the pore spaces. This upward movement is caused by the adhesive and cohesive forces between water and soil particles, as well as the surface tension of water. The capillary fringe is a transition zone between the unsaturated zone above and the saturated groundwater zone below. </a:t>
            </a:r>
            <a:endParaRPr lang="en-US" sz="3200" dirty="0">
              <a:solidFill>
                <a:srgbClr val="000000"/>
              </a:solidFill>
              <a:latin typeface="Nunito 1" panose="020B0604020202020204" charset="0"/>
              <a:ea typeface="Nunito 1 Bold"/>
              <a:cs typeface="Nunito 1 Bold"/>
              <a:sym typeface="Nunito 1 Bold"/>
            </a:endParaRPr>
          </a:p>
        </p:txBody>
      </p:sp>
      <p:pic>
        <p:nvPicPr>
          <p:cNvPr id="2050" name="Picture 2" descr="1) Vertical variation of subsurface water. | Download Scientific Diagram">
            <a:extLst>
              <a:ext uri="{FF2B5EF4-FFF2-40B4-BE49-F238E27FC236}">
                <a16:creationId xmlns:a16="http://schemas.microsoft.com/office/drawing/2014/main" id="{B2953992-77B6-26D1-008A-561426F08D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18608" y="1956439"/>
            <a:ext cx="4959592" cy="6374122"/>
          </a:xfrm>
          <a:prstGeom prst="rect">
            <a:avLst/>
          </a:prstGeom>
          <a:noFill/>
          <a:extLst>
            <a:ext uri="{909E8E84-426E-40DD-AFC4-6F175D3DCCD1}">
              <a14:hiddenFill xmlns:a14="http://schemas.microsoft.com/office/drawing/2010/main">
                <a:solidFill>
                  <a:srgbClr val="FFFFFF"/>
                </a:solidFill>
              </a14:hiddenFill>
            </a:ext>
          </a:extLst>
        </p:spPr>
      </p:pic>
      <p:grpSp>
        <p:nvGrpSpPr>
          <p:cNvPr id="14" name="Group 13">
            <a:extLst>
              <a:ext uri="{FF2B5EF4-FFF2-40B4-BE49-F238E27FC236}">
                <a16:creationId xmlns:a16="http://schemas.microsoft.com/office/drawing/2014/main" id="{43AF1F96-9B71-82D8-C493-B2C372E3EB15}"/>
              </a:ext>
            </a:extLst>
          </p:cNvPr>
          <p:cNvGrpSpPr/>
          <p:nvPr/>
        </p:nvGrpSpPr>
        <p:grpSpPr>
          <a:xfrm>
            <a:off x="0" y="9599693"/>
            <a:ext cx="18287999" cy="687306"/>
            <a:chOff x="0" y="9599693"/>
            <a:chExt cx="18287999" cy="687306"/>
          </a:xfrm>
        </p:grpSpPr>
        <p:grpSp>
          <p:nvGrpSpPr>
            <p:cNvPr id="15" name="Group 11">
              <a:extLst>
                <a:ext uri="{FF2B5EF4-FFF2-40B4-BE49-F238E27FC236}">
                  <a16:creationId xmlns:a16="http://schemas.microsoft.com/office/drawing/2014/main" id="{0F1596B6-4EE9-719E-1D00-88D804FCE631}"/>
                </a:ext>
              </a:extLst>
            </p:cNvPr>
            <p:cNvGrpSpPr/>
            <p:nvPr/>
          </p:nvGrpSpPr>
          <p:grpSpPr>
            <a:xfrm>
              <a:off x="0" y="9599694"/>
              <a:ext cx="18287999" cy="687305"/>
              <a:chOff x="0" y="0"/>
              <a:chExt cx="5260714" cy="490218"/>
            </a:xfrm>
          </p:grpSpPr>
          <p:sp>
            <p:nvSpPr>
              <p:cNvPr id="21" name="Freeform 12">
                <a:extLst>
                  <a:ext uri="{FF2B5EF4-FFF2-40B4-BE49-F238E27FC236}">
                    <a16:creationId xmlns:a16="http://schemas.microsoft.com/office/drawing/2014/main" id="{F261BA70-2A1F-5D62-2AE8-ED2D02BF6BEE}"/>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2" name="TextBox 13">
                <a:extLst>
                  <a:ext uri="{FF2B5EF4-FFF2-40B4-BE49-F238E27FC236}">
                    <a16:creationId xmlns:a16="http://schemas.microsoft.com/office/drawing/2014/main" id="{CC9C2C1E-D383-BC33-EC43-ADA4C4850CF2}"/>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2">
              <a:extLst>
                <a:ext uri="{FF2B5EF4-FFF2-40B4-BE49-F238E27FC236}">
                  <a16:creationId xmlns:a16="http://schemas.microsoft.com/office/drawing/2014/main" id="{3905B245-1E9B-B8E8-68D5-EC2C7D2CE459}"/>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17" name="TextBox 13">
              <a:extLst>
                <a:ext uri="{FF2B5EF4-FFF2-40B4-BE49-F238E27FC236}">
                  <a16:creationId xmlns:a16="http://schemas.microsoft.com/office/drawing/2014/main" id="{AF6B04F5-7B96-33BE-F55F-8282888B5D0C}"/>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spTree>
    <p:extLst>
      <p:ext uri="{BB962C8B-B14F-4D97-AF65-F5344CB8AC3E}">
        <p14:creationId xmlns:p14="http://schemas.microsoft.com/office/powerpoint/2010/main" val="427908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374FC-5CF1-9B2B-CCD6-492D574A26E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1AF30E0-6D5A-F944-EED4-6AE52B64F523}"/>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07A8FF87-5300-F0FD-55A8-321D8949DE93}"/>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50BF9C5A-CAA8-BF7D-3603-2FEFC14153C9}"/>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15DF022A-896E-300A-D57E-AD8764BA6222}"/>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31838756-BD8B-B0D1-76A7-129326EB6FC2}"/>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89353D03-FCB0-76B6-F80E-5F2BE5611A41}"/>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4D2611A8-11DB-579A-42E8-41B431F3D0AF}"/>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D849A58C-E18D-604B-16FB-FD8EE1825AF0}"/>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CE8A3397-C3C2-AAB1-4CFF-40216B73727D}"/>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CB24029C-E0D0-759E-E8A7-199D8126A349}"/>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21D3450D-7A70-1F7B-C5D5-009EAF5D673F}"/>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6D6B4C56-C102-6155-FB78-890676AB5CC0}"/>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84D029F3-F0CB-D586-4B17-B4B4D90424E0}"/>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2</a:t>
            </a:r>
          </a:p>
        </p:txBody>
      </p:sp>
      <p:sp>
        <p:nvSpPr>
          <p:cNvPr id="15" name="TextBox 15">
            <a:extLst>
              <a:ext uri="{FF2B5EF4-FFF2-40B4-BE49-F238E27FC236}">
                <a16:creationId xmlns:a16="http://schemas.microsoft.com/office/drawing/2014/main" id="{16B69F06-F45C-23CA-0EE8-F249EC533EC9}"/>
              </a:ext>
            </a:extLst>
          </p:cNvPr>
          <p:cNvSpPr txBox="1"/>
          <p:nvPr/>
        </p:nvSpPr>
        <p:spPr>
          <a:xfrm>
            <a:off x="2246041" y="2025065"/>
            <a:ext cx="13795916" cy="369332"/>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What percentage of the global freshwater reserves is groundwater?</a:t>
            </a:r>
          </a:p>
        </p:txBody>
      </p:sp>
      <p:sp>
        <p:nvSpPr>
          <p:cNvPr id="19" name="TextBox 12">
            <a:extLst>
              <a:ext uri="{FF2B5EF4-FFF2-40B4-BE49-F238E27FC236}">
                <a16:creationId xmlns:a16="http://schemas.microsoft.com/office/drawing/2014/main" id="{255E1D99-A982-06AA-09B6-744AC67A47A0}"/>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3F894E4A-C73A-4AA7-CD2A-D72261516DC0}"/>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F698695F-DE6B-E8C2-4423-AA875178C96A}"/>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81740DA0-9865-6A6E-8894-31A47AF75156}"/>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CCABB547-7004-8960-C785-B4B47F941DEE}"/>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https://www.usgs.gov/special-topics/water-science-school/science/where-earths-water</a:t>
            </a:r>
          </a:p>
        </p:txBody>
      </p:sp>
      <p:sp>
        <p:nvSpPr>
          <p:cNvPr id="16" name="TextBox 15">
            <a:extLst>
              <a:ext uri="{FF2B5EF4-FFF2-40B4-BE49-F238E27FC236}">
                <a16:creationId xmlns:a16="http://schemas.microsoft.com/office/drawing/2014/main" id="{FBAF0262-53CE-1578-4D1F-860E9EC0D293}"/>
              </a:ext>
            </a:extLst>
          </p:cNvPr>
          <p:cNvSpPr txBox="1"/>
          <p:nvPr/>
        </p:nvSpPr>
        <p:spPr>
          <a:xfrm>
            <a:off x="1676400" y="2941299"/>
            <a:ext cx="14935200" cy="4431983"/>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0.3%</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3%</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30%</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69%</a:t>
            </a:r>
          </a:p>
          <a:p>
            <a:pPr algn="just"/>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p:txBody>
      </p:sp>
      <p:sp>
        <p:nvSpPr>
          <p:cNvPr id="17" name="Oval 16">
            <a:extLst>
              <a:ext uri="{FF2B5EF4-FFF2-40B4-BE49-F238E27FC236}">
                <a16:creationId xmlns:a16="http://schemas.microsoft.com/office/drawing/2014/main" id="{AE4579C8-BFC1-5F06-4CF9-5E3DCFB3328C}"/>
              </a:ext>
            </a:extLst>
          </p:cNvPr>
          <p:cNvSpPr/>
          <p:nvPr/>
        </p:nvSpPr>
        <p:spPr>
          <a:xfrm>
            <a:off x="1505640" y="4378018"/>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8" name="TextBox 13">
            <a:extLst>
              <a:ext uri="{FF2B5EF4-FFF2-40B4-BE49-F238E27FC236}">
                <a16:creationId xmlns:a16="http://schemas.microsoft.com/office/drawing/2014/main" id="{4B03C745-4154-204A-6F7E-4DFCA2607F94}"/>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nvGrpSpPr>
          <p:cNvPr id="20" name="Group 19">
            <a:extLst>
              <a:ext uri="{FF2B5EF4-FFF2-40B4-BE49-F238E27FC236}">
                <a16:creationId xmlns:a16="http://schemas.microsoft.com/office/drawing/2014/main" id="{D5521CBD-1A66-07C3-3692-A6778BEA8DE7}"/>
              </a:ext>
            </a:extLst>
          </p:cNvPr>
          <p:cNvGrpSpPr/>
          <p:nvPr/>
        </p:nvGrpSpPr>
        <p:grpSpPr>
          <a:xfrm>
            <a:off x="0" y="9599693"/>
            <a:ext cx="18287999" cy="687306"/>
            <a:chOff x="0" y="9599693"/>
            <a:chExt cx="18287999" cy="687306"/>
          </a:xfrm>
        </p:grpSpPr>
        <p:grpSp>
          <p:nvGrpSpPr>
            <p:cNvPr id="21" name="Group 11">
              <a:extLst>
                <a:ext uri="{FF2B5EF4-FFF2-40B4-BE49-F238E27FC236}">
                  <a16:creationId xmlns:a16="http://schemas.microsoft.com/office/drawing/2014/main" id="{744C8CDD-5DC8-DAC1-22BC-EFC9E7B12586}"/>
                </a:ext>
              </a:extLst>
            </p:cNvPr>
            <p:cNvGrpSpPr/>
            <p:nvPr/>
          </p:nvGrpSpPr>
          <p:grpSpPr>
            <a:xfrm>
              <a:off x="0" y="9599694"/>
              <a:ext cx="18287999" cy="687305"/>
              <a:chOff x="0" y="0"/>
              <a:chExt cx="5260714" cy="490218"/>
            </a:xfrm>
          </p:grpSpPr>
          <p:sp>
            <p:nvSpPr>
              <p:cNvPr id="28" name="Freeform 12">
                <a:extLst>
                  <a:ext uri="{FF2B5EF4-FFF2-40B4-BE49-F238E27FC236}">
                    <a16:creationId xmlns:a16="http://schemas.microsoft.com/office/drawing/2014/main" id="{9DC582AC-482E-913E-01CD-C2DAD9F85D72}"/>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9" name="TextBox 13">
                <a:extLst>
                  <a:ext uri="{FF2B5EF4-FFF2-40B4-BE49-F238E27FC236}">
                    <a16:creationId xmlns:a16="http://schemas.microsoft.com/office/drawing/2014/main" id="{8AACC878-61E0-D86D-1178-CC1C83C69379}"/>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12">
              <a:extLst>
                <a:ext uri="{FF2B5EF4-FFF2-40B4-BE49-F238E27FC236}">
                  <a16:creationId xmlns:a16="http://schemas.microsoft.com/office/drawing/2014/main" id="{ED2BD154-E921-07E4-E2E5-C19A3A9808CC}"/>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7" name="TextBox 13">
              <a:extLst>
                <a:ext uri="{FF2B5EF4-FFF2-40B4-BE49-F238E27FC236}">
                  <a16:creationId xmlns:a16="http://schemas.microsoft.com/office/drawing/2014/main" id="{3C37EB1F-8F4B-B7A5-000E-0E74F74B86D2}"/>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spTree>
    <p:extLst>
      <p:ext uri="{BB962C8B-B14F-4D97-AF65-F5344CB8AC3E}">
        <p14:creationId xmlns:p14="http://schemas.microsoft.com/office/powerpoint/2010/main" val="3257566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92384-1119-B3A1-F0BC-8D879C15144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3A5C0C3-926F-40B6-DE97-517937D51170}"/>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433950DE-F405-83FF-FD43-164F9DC968D1}"/>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2E3CF003-C7CC-E5E1-F3AC-195918A1A0CC}"/>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FDD65405-93ED-1EF1-B232-CB72BBC67E6B}"/>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B232A06B-E80C-F815-8D26-F1682875F6AF}"/>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4F6CC147-C77A-0402-98C3-B358408C96FC}"/>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3DE4DA38-8DE1-157D-F0FE-D26487D34BBE}"/>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2CBA1A90-D57E-B339-97E6-A0A03F4CBF12}"/>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8879FD97-B29B-7F73-6F62-8312C4E80FFB}"/>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B0F929A3-C11A-8E02-3B9F-EDD80B163115}"/>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2677C912-F454-F8B3-9025-53253C52B7E4}"/>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22B4F70E-0C60-6063-BAC9-2D3F4466455E}"/>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2">
            <a:extLst>
              <a:ext uri="{FF2B5EF4-FFF2-40B4-BE49-F238E27FC236}">
                <a16:creationId xmlns:a16="http://schemas.microsoft.com/office/drawing/2014/main" id="{546E93EF-B294-8F32-B81D-D35EE6009448}"/>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97C0C351-C978-A6AC-EB52-3C754AD0A80C}"/>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9DB9C905-394B-EB68-3DB6-9540BED3543E}"/>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6A26D2C9-7810-C415-C8F8-BB858A6CD0F3}"/>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08A78A2D-2F23-D5EE-29E5-EA9E204F76AC}"/>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https://www.usgs.gov/special-topics/water-science-school/science/where-earths-water</a:t>
            </a:r>
          </a:p>
        </p:txBody>
      </p:sp>
      <p:grpSp>
        <p:nvGrpSpPr>
          <p:cNvPr id="21" name="Group 20">
            <a:extLst>
              <a:ext uri="{FF2B5EF4-FFF2-40B4-BE49-F238E27FC236}">
                <a16:creationId xmlns:a16="http://schemas.microsoft.com/office/drawing/2014/main" id="{6EB403F2-3DA9-9BD6-17FD-8DB9F171F32D}"/>
              </a:ext>
            </a:extLst>
          </p:cNvPr>
          <p:cNvGrpSpPr/>
          <p:nvPr/>
        </p:nvGrpSpPr>
        <p:grpSpPr>
          <a:xfrm>
            <a:off x="4321580" y="1982209"/>
            <a:ext cx="9644837" cy="6364043"/>
            <a:chOff x="4321581" y="1982209"/>
            <a:chExt cx="9644837" cy="6364043"/>
          </a:xfrm>
        </p:grpSpPr>
        <p:pic>
          <p:nvPicPr>
            <p:cNvPr id="1026" name="Picture 2" descr="How much of the Earth's water is stored in glaciers? | U.S. Geological  Survey">
              <a:extLst>
                <a:ext uri="{FF2B5EF4-FFF2-40B4-BE49-F238E27FC236}">
                  <a16:creationId xmlns:a16="http://schemas.microsoft.com/office/drawing/2014/main" id="{255BC97B-1C42-E29B-4FC2-718FA524935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8842" b="9359"/>
            <a:stretch/>
          </p:blipFill>
          <p:spPr bwMode="auto">
            <a:xfrm>
              <a:off x="4321581" y="1982210"/>
              <a:ext cx="9644836" cy="6364042"/>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How much of the Earth's water is stored in glaciers? | U.S. Geological  Survey">
              <a:extLst>
                <a:ext uri="{FF2B5EF4-FFF2-40B4-BE49-F238E27FC236}">
                  <a16:creationId xmlns:a16="http://schemas.microsoft.com/office/drawing/2014/main" id="{C412ACFD-7A4C-D96E-49B3-445A6833FAD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90578" b="-402"/>
            <a:stretch/>
          </p:blipFill>
          <p:spPr bwMode="auto">
            <a:xfrm rot="16200000">
              <a:off x="10532222" y="4912056"/>
              <a:ext cx="6364043" cy="504349"/>
            </a:xfrm>
            <a:prstGeom prst="rect">
              <a:avLst/>
            </a:prstGeom>
            <a:noFill/>
            <a:extLst>
              <a:ext uri="{909E8E84-426E-40DD-AFC4-6F175D3DCCD1}">
                <a14:hiddenFill xmlns:a14="http://schemas.microsoft.com/office/drawing/2010/main">
                  <a:solidFill>
                    <a:srgbClr val="FFFFFF"/>
                  </a:solidFill>
                </a14:hiddenFill>
              </a:ext>
            </a:extLst>
          </p:spPr>
        </p:pic>
      </p:grpSp>
      <p:sp>
        <p:nvSpPr>
          <p:cNvPr id="22" name="TextBox 13">
            <a:extLst>
              <a:ext uri="{FF2B5EF4-FFF2-40B4-BE49-F238E27FC236}">
                <a16:creationId xmlns:a16="http://schemas.microsoft.com/office/drawing/2014/main" id="{CDE4B71E-5116-9321-8D4A-D4510F74A7DB}"/>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nvGrpSpPr>
          <p:cNvPr id="14" name="Group 13">
            <a:extLst>
              <a:ext uri="{FF2B5EF4-FFF2-40B4-BE49-F238E27FC236}">
                <a16:creationId xmlns:a16="http://schemas.microsoft.com/office/drawing/2014/main" id="{1A488389-E5BF-AEA9-DE30-DC23ACDE8748}"/>
              </a:ext>
            </a:extLst>
          </p:cNvPr>
          <p:cNvGrpSpPr/>
          <p:nvPr/>
        </p:nvGrpSpPr>
        <p:grpSpPr>
          <a:xfrm>
            <a:off x="0" y="9599693"/>
            <a:ext cx="18287999" cy="687306"/>
            <a:chOff x="0" y="9599693"/>
            <a:chExt cx="18287999" cy="687306"/>
          </a:xfrm>
        </p:grpSpPr>
        <p:grpSp>
          <p:nvGrpSpPr>
            <p:cNvPr id="15" name="Group 11">
              <a:extLst>
                <a:ext uri="{FF2B5EF4-FFF2-40B4-BE49-F238E27FC236}">
                  <a16:creationId xmlns:a16="http://schemas.microsoft.com/office/drawing/2014/main" id="{CE7C2C1C-BEAF-2BA4-EC3E-6C85E3078E61}"/>
                </a:ext>
              </a:extLst>
            </p:cNvPr>
            <p:cNvGrpSpPr/>
            <p:nvPr/>
          </p:nvGrpSpPr>
          <p:grpSpPr>
            <a:xfrm>
              <a:off x="0" y="9599694"/>
              <a:ext cx="18287999" cy="687305"/>
              <a:chOff x="0" y="0"/>
              <a:chExt cx="5260714" cy="490218"/>
            </a:xfrm>
          </p:grpSpPr>
          <p:sp>
            <p:nvSpPr>
              <p:cNvPr id="20" name="Freeform 12">
                <a:extLst>
                  <a:ext uri="{FF2B5EF4-FFF2-40B4-BE49-F238E27FC236}">
                    <a16:creationId xmlns:a16="http://schemas.microsoft.com/office/drawing/2014/main" id="{B0762D1E-0AE1-01A5-CB56-4AEB49EF4F11}"/>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7" name="TextBox 13">
                <a:extLst>
                  <a:ext uri="{FF2B5EF4-FFF2-40B4-BE49-F238E27FC236}">
                    <a16:creationId xmlns:a16="http://schemas.microsoft.com/office/drawing/2014/main" id="{ADC82B72-4B92-D43D-4EF4-B3440A2F8D39}"/>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2">
              <a:extLst>
                <a:ext uri="{FF2B5EF4-FFF2-40B4-BE49-F238E27FC236}">
                  <a16:creationId xmlns:a16="http://schemas.microsoft.com/office/drawing/2014/main" id="{85AC8A9E-B32A-36D5-BCC0-36B846387B1A}"/>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17" name="TextBox 13">
              <a:extLst>
                <a:ext uri="{FF2B5EF4-FFF2-40B4-BE49-F238E27FC236}">
                  <a16:creationId xmlns:a16="http://schemas.microsoft.com/office/drawing/2014/main" id="{A2FFCA8E-2796-9D39-AE1E-CD22844AF3AB}"/>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spTree>
    <p:extLst>
      <p:ext uri="{BB962C8B-B14F-4D97-AF65-F5344CB8AC3E}">
        <p14:creationId xmlns:p14="http://schemas.microsoft.com/office/powerpoint/2010/main" val="2397629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6BCA4-68EE-1279-BCD7-0161EA24689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B4BCCF8-5FE2-B3AF-5399-361D1C24C30E}"/>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B2674592-4191-E9AC-59B7-15D0CB5873C6}"/>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24B8C758-7C4B-4011-061A-C5E63B114F1A}"/>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3876636D-8FA1-9044-5328-A6C1DEA5E02D}"/>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D30FEB92-3C17-ADA9-A0CA-AB366FEA4517}"/>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C3B79D85-7C0E-DDC6-9DF0-B696CEE5F45C}"/>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E8681411-1E24-CC4A-2169-131DEDD36D6A}"/>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72066FC8-6B42-3693-B772-668D6DDCC2FD}"/>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E1C7928E-FD8E-DF43-D029-C5F688A8374A}"/>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695C12FB-6E2D-1BD5-5CC6-B75EA6936522}"/>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94679684-5D76-0C79-DC82-4DF564102C89}"/>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96E8D1EB-299C-EBA7-0F05-AB0EBBF07AC5}"/>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5987B040-8902-904C-8F38-1539256A9DB1}"/>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3</a:t>
            </a:r>
          </a:p>
        </p:txBody>
      </p:sp>
      <p:sp>
        <p:nvSpPr>
          <p:cNvPr id="15" name="TextBox 15">
            <a:extLst>
              <a:ext uri="{FF2B5EF4-FFF2-40B4-BE49-F238E27FC236}">
                <a16:creationId xmlns:a16="http://schemas.microsoft.com/office/drawing/2014/main" id="{95579304-846B-13B2-CA71-28F2408861EF}"/>
              </a:ext>
            </a:extLst>
          </p:cNvPr>
          <p:cNvSpPr txBox="1"/>
          <p:nvPr/>
        </p:nvSpPr>
        <p:spPr>
          <a:xfrm>
            <a:off x="2246041" y="2025065"/>
            <a:ext cx="13795916" cy="369332"/>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The following are applications of groundwater in ABE, except?</a:t>
            </a:r>
          </a:p>
        </p:txBody>
      </p:sp>
      <p:sp>
        <p:nvSpPr>
          <p:cNvPr id="19" name="TextBox 12">
            <a:extLst>
              <a:ext uri="{FF2B5EF4-FFF2-40B4-BE49-F238E27FC236}">
                <a16:creationId xmlns:a16="http://schemas.microsoft.com/office/drawing/2014/main" id="{8D12F90F-8098-AB20-B403-6E1BE2F79362}"/>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A6CF960D-5170-9673-F26F-BCD46FF157DA}"/>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361CACBF-6EBB-EA04-A7FB-52C3683F2418}"/>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3650C712-27D5-9EDF-471B-3D35DBB62707}"/>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F5AFE3FF-CF01-695B-1C21-9D9EB4B3E128}"/>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https://chem.libretexts.org/Courses/University_of_Arkansas_Little_Rock/Chem_1402%3A_General_Chemistry_1_(Kattoum)</a:t>
            </a:r>
          </a:p>
        </p:txBody>
      </p:sp>
      <p:sp>
        <p:nvSpPr>
          <p:cNvPr id="16" name="TextBox 15">
            <a:extLst>
              <a:ext uri="{FF2B5EF4-FFF2-40B4-BE49-F238E27FC236}">
                <a16:creationId xmlns:a16="http://schemas.microsoft.com/office/drawing/2014/main" id="{676A3FFB-6594-C143-2AB8-E000BB7AEC92}"/>
              </a:ext>
            </a:extLst>
          </p:cNvPr>
          <p:cNvSpPr txBox="1"/>
          <p:nvPr/>
        </p:nvSpPr>
        <p:spPr>
          <a:xfrm>
            <a:off x="1676400" y="2941299"/>
            <a:ext cx="14935200" cy="2585323"/>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Irrigation for crops</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Recharging aquifers to ensure long-term water availability</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Wastewater treatment through natural filtration processes</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Generating renewable energy through hydroelectric power</a:t>
            </a:r>
          </a:p>
        </p:txBody>
      </p:sp>
      <p:sp>
        <p:nvSpPr>
          <p:cNvPr id="17" name="Oval 16">
            <a:extLst>
              <a:ext uri="{FF2B5EF4-FFF2-40B4-BE49-F238E27FC236}">
                <a16:creationId xmlns:a16="http://schemas.microsoft.com/office/drawing/2014/main" id="{CD267EDC-3CCE-2C92-99AD-40FFD3980413}"/>
              </a:ext>
            </a:extLst>
          </p:cNvPr>
          <p:cNvSpPr/>
          <p:nvPr/>
        </p:nvSpPr>
        <p:spPr>
          <a:xfrm>
            <a:off x="1505640" y="5040578"/>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8" name="TextBox 13">
            <a:extLst>
              <a:ext uri="{FF2B5EF4-FFF2-40B4-BE49-F238E27FC236}">
                <a16:creationId xmlns:a16="http://schemas.microsoft.com/office/drawing/2014/main" id="{28F5A921-8A2E-DA34-D594-50B253FD45DF}"/>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nvGrpSpPr>
          <p:cNvPr id="20" name="Group 19">
            <a:extLst>
              <a:ext uri="{FF2B5EF4-FFF2-40B4-BE49-F238E27FC236}">
                <a16:creationId xmlns:a16="http://schemas.microsoft.com/office/drawing/2014/main" id="{1EFDD28D-5080-CF3C-4A43-7E67265DFAA3}"/>
              </a:ext>
            </a:extLst>
          </p:cNvPr>
          <p:cNvGrpSpPr/>
          <p:nvPr/>
        </p:nvGrpSpPr>
        <p:grpSpPr>
          <a:xfrm>
            <a:off x="0" y="9599693"/>
            <a:ext cx="18287999" cy="687306"/>
            <a:chOff x="0" y="9599693"/>
            <a:chExt cx="18287999" cy="687306"/>
          </a:xfrm>
        </p:grpSpPr>
        <p:grpSp>
          <p:nvGrpSpPr>
            <p:cNvPr id="21" name="Group 11">
              <a:extLst>
                <a:ext uri="{FF2B5EF4-FFF2-40B4-BE49-F238E27FC236}">
                  <a16:creationId xmlns:a16="http://schemas.microsoft.com/office/drawing/2014/main" id="{D511779A-E203-684E-17EC-70D788C1EEFF}"/>
                </a:ext>
              </a:extLst>
            </p:cNvPr>
            <p:cNvGrpSpPr/>
            <p:nvPr/>
          </p:nvGrpSpPr>
          <p:grpSpPr>
            <a:xfrm>
              <a:off x="0" y="9599694"/>
              <a:ext cx="18287999" cy="687305"/>
              <a:chOff x="0" y="0"/>
              <a:chExt cx="5260714" cy="490218"/>
            </a:xfrm>
          </p:grpSpPr>
          <p:sp>
            <p:nvSpPr>
              <p:cNvPr id="28" name="Freeform 12">
                <a:extLst>
                  <a:ext uri="{FF2B5EF4-FFF2-40B4-BE49-F238E27FC236}">
                    <a16:creationId xmlns:a16="http://schemas.microsoft.com/office/drawing/2014/main" id="{04E2C31D-8E9A-F3B9-76A5-887F45632693}"/>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9" name="TextBox 13">
                <a:extLst>
                  <a:ext uri="{FF2B5EF4-FFF2-40B4-BE49-F238E27FC236}">
                    <a16:creationId xmlns:a16="http://schemas.microsoft.com/office/drawing/2014/main" id="{A5ABB19A-9EAB-81E5-FC87-A11FE00B1EBB}"/>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12">
              <a:extLst>
                <a:ext uri="{FF2B5EF4-FFF2-40B4-BE49-F238E27FC236}">
                  <a16:creationId xmlns:a16="http://schemas.microsoft.com/office/drawing/2014/main" id="{33901918-0E16-5053-3D27-9423F5AD9F2E}"/>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7" name="TextBox 13">
              <a:extLst>
                <a:ext uri="{FF2B5EF4-FFF2-40B4-BE49-F238E27FC236}">
                  <a16:creationId xmlns:a16="http://schemas.microsoft.com/office/drawing/2014/main" id="{FEBF8C8E-87E3-1C13-F1E4-DED6EC7ECB51}"/>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spTree>
    <p:extLst>
      <p:ext uri="{BB962C8B-B14F-4D97-AF65-F5344CB8AC3E}">
        <p14:creationId xmlns:p14="http://schemas.microsoft.com/office/powerpoint/2010/main" val="9437420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E6622-8EB5-9C25-E3F3-5840C98BC5D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684DCEC-2BB0-385A-F0B0-3FF8EDFC6655}"/>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B7EC7D92-8732-7DE7-AFDD-6321D459A4A9}"/>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2156125A-CEE9-B739-F139-C2E785A686E6}"/>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BB122C60-654E-A1E1-067E-5C571C9B9971}"/>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C77D49D2-F361-9BEF-0FC9-37664E52E3FE}"/>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9874BDF3-8756-8A00-99A6-E159E894DA6F}"/>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351B550A-9FE4-21B5-9E4A-52CE9F8180BA}"/>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A9625D2E-864D-BEC4-B9F5-7224598CC176}"/>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498E9920-2279-8FAA-954E-68ECDD9A8BF9}"/>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979DBA35-46F1-96F6-6F7E-DE603339BB59}"/>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7400DB3B-1AEC-87EE-6688-8BD51FC0D967}"/>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AC75B513-5821-B8BD-3BDB-E8F1D845BCFB}"/>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22093243-696C-5102-3568-41BB0EAE5492}"/>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4</a:t>
            </a:r>
          </a:p>
        </p:txBody>
      </p:sp>
      <p:sp>
        <p:nvSpPr>
          <p:cNvPr id="15" name="TextBox 15">
            <a:extLst>
              <a:ext uri="{FF2B5EF4-FFF2-40B4-BE49-F238E27FC236}">
                <a16:creationId xmlns:a16="http://schemas.microsoft.com/office/drawing/2014/main" id="{6A85DF6E-3C8E-F3AB-95E7-1E504DE7CCC4}"/>
              </a:ext>
            </a:extLst>
          </p:cNvPr>
          <p:cNvSpPr txBox="1"/>
          <p:nvPr/>
        </p:nvSpPr>
        <p:spPr>
          <a:xfrm>
            <a:off x="2246041" y="2025065"/>
            <a:ext cx="13795916" cy="1107996"/>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This property is a measure of how easily water can pass through soil or rock, wherein high values indicate permeable material through which water can pass easily while low values indicate that the material is less permeable. It also has the same units as velocity.</a:t>
            </a:r>
          </a:p>
        </p:txBody>
      </p:sp>
      <p:sp>
        <p:nvSpPr>
          <p:cNvPr id="19" name="TextBox 12">
            <a:extLst>
              <a:ext uri="{FF2B5EF4-FFF2-40B4-BE49-F238E27FC236}">
                <a16:creationId xmlns:a16="http://schemas.microsoft.com/office/drawing/2014/main" id="{8DCC7F14-66F4-6EF5-3968-1DCAA0A7C4B5}"/>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646C4ADE-D4A4-E6F8-61C5-51CFEF36C948}"/>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A439BA3E-7B0F-C1B4-F03F-17A46996C683}"/>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07D20778-62B3-1C1F-A0F4-67048F5174D4}"/>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36CE67F2-BDF5-EC20-C49E-682F77D3D853}"/>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https://chem.libretexts.org/Courses/University_of_Arkansas_Little_Rock/Chem_1402%3A_General_Chemistry_1_(Kattoum)</a:t>
            </a:r>
          </a:p>
        </p:txBody>
      </p:sp>
      <p:sp>
        <p:nvSpPr>
          <p:cNvPr id="16" name="TextBox 15">
            <a:extLst>
              <a:ext uri="{FF2B5EF4-FFF2-40B4-BE49-F238E27FC236}">
                <a16:creationId xmlns:a16="http://schemas.microsoft.com/office/drawing/2014/main" id="{17D529AB-F11F-A196-8797-4906AE4F2AD6}"/>
              </a:ext>
            </a:extLst>
          </p:cNvPr>
          <p:cNvSpPr txBox="1"/>
          <p:nvPr/>
        </p:nvSpPr>
        <p:spPr>
          <a:xfrm>
            <a:off x="1676400" y="4378274"/>
            <a:ext cx="14935200" cy="2585323"/>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Porosity</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Transmissivity</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Infiltration rate</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Hydraulic conductivity</a:t>
            </a:r>
          </a:p>
        </p:txBody>
      </p:sp>
      <p:sp>
        <p:nvSpPr>
          <p:cNvPr id="17" name="Oval 16">
            <a:extLst>
              <a:ext uri="{FF2B5EF4-FFF2-40B4-BE49-F238E27FC236}">
                <a16:creationId xmlns:a16="http://schemas.microsoft.com/office/drawing/2014/main" id="{ABC77769-E65F-1536-5857-277B5C419E94}"/>
              </a:ext>
            </a:extLst>
          </p:cNvPr>
          <p:cNvSpPr/>
          <p:nvPr/>
        </p:nvSpPr>
        <p:spPr>
          <a:xfrm>
            <a:off x="1524000" y="6486347"/>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8" name="TextBox 13">
            <a:extLst>
              <a:ext uri="{FF2B5EF4-FFF2-40B4-BE49-F238E27FC236}">
                <a16:creationId xmlns:a16="http://schemas.microsoft.com/office/drawing/2014/main" id="{AA1DF100-5F8D-6073-4317-233CC3E42CF7}"/>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nvGrpSpPr>
          <p:cNvPr id="20" name="Group 19">
            <a:extLst>
              <a:ext uri="{FF2B5EF4-FFF2-40B4-BE49-F238E27FC236}">
                <a16:creationId xmlns:a16="http://schemas.microsoft.com/office/drawing/2014/main" id="{001935A6-F10C-38BC-9BB7-21481635D9B8}"/>
              </a:ext>
            </a:extLst>
          </p:cNvPr>
          <p:cNvGrpSpPr/>
          <p:nvPr/>
        </p:nvGrpSpPr>
        <p:grpSpPr>
          <a:xfrm>
            <a:off x="0" y="9599693"/>
            <a:ext cx="18287999" cy="687306"/>
            <a:chOff x="0" y="9599693"/>
            <a:chExt cx="18287999" cy="687306"/>
          </a:xfrm>
        </p:grpSpPr>
        <p:grpSp>
          <p:nvGrpSpPr>
            <p:cNvPr id="21" name="Group 11">
              <a:extLst>
                <a:ext uri="{FF2B5EF4-FFF2-40B4-BE49-F238E27FC236}">
                  <a16:creationId xmlns:a16="http://schemas.microsoft.com/office/drawing/2014/main" id="{7D33B152-F8D7-F672-77F7-5E70BF851F62}"/>
                </a:ext>
              </a:extLst>
            </p:cNvPr>
            <p:cNvGrpSpPr/>
            <p:nvPr/>
          </p:nvGrpSpPr>
          <p:grpSpPr>
            <a:xfrm>
              <a:off x="0" y="9599694"/>
              <a:ext cx="18287999" cy="687305"/>
              <a:chOff x="0" y="0"/>
              <a:chExt cx="5260714" cy="490218"/>
            </a:xfrm>
          </p:grpSpPr>
          <p:sp>
            <p:nvSpPr>
              <p:cNvPr id="28" name="Freeform 12">
                <a:extLst>
                  <a:ext uri="{FF2B5EF4-FFF2-40B4-BE49-F238E27FC236}">
                    <a16:creationId xmlns:a16="http://schemas.microsoft.com/office/drawing/2014/main" id="{7F89D5B7-B310-29E7-58C6-E26CAE021EDE}"/>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9" name="TextBox 13">
                <a:extLst>
                  <a:ext uri="{FF2B5EF4-FFF2-40B4-BE49-F238E27FC236}">
                    <a16:creationId xmlns:a16="http://schemas.microsoft.com/office/drawing/2014/main" id="{CA1BD0CD-4C21-EBD9-862F-934F48A0B83A}"/>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12">
              <a:extLst>
                <a:ext uri="{FF2B5EF4-FFF2-40B4-BE49-F238E27FC236}">
                  <a16:creationId xmlns:a16="http://schemas.microsoft.com/office/drawing/2014/main" id="{D301CFF8-5253-0C4D-5803-2D216F5DA908}"/>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7" name="TextBox 13">
              <a:extLst>
                <a:ext uri="{FF2B5EF4-FFF2-40B4-BE49-F238E27FC236}">
                  <a16:creationId xmlns:a16="http://schemas.microsoft.com/office/drawing/2014/main" id="{B54D05DF-D8DA-7C73-C35E-15671A9517EA}"/>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spTree>
    <p:extLst>
      <p:ext uri="{BB962C8B-B14F-4D97-AF65-F5344CB8AC3E}">
        <p14:creationId xmlns:p14="http://schemas.microsoft.com/office/powerpoint/2010/main" val="2527971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64166-3088-C423-E09B-B4ACC3996E1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999A116-C3D7-7426-B67C-F0E2510BE728}"/>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B2C89960-C421-B07F-5DE0-E33FD9D8E397}"/>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C5AF3C4E-9195-D854-B0AF-FC1A8C0CE322}"/>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4CC8C4F8-B0D4-E924-C237-83425233BAD9}"/>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8AADCCBF-FDC8-6AB4-ABB5-13E25C90DA00}"/>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E5A80116-583C-FFA8-43DF-5CE022676F64}"/>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DB117CA8-3C04-369A-F4C0-FF9D97642F8C}"/>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56D6BD91-257F-C347-88AA-DB210B48A2B4}"/>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D80B7F42-FBF8-F21F-4691-C992FF284F35}"/>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518BCD22-1325-2A64-8747-8DBEA091EEB5}"/>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81F5C187-73F4-9D04-EF6F-D39F9D732BA4}"/>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796B6F13-A4FE-B8A0-1CBD-E43A0A0E578D}"/>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2">
            <a:extLst>
              <a:ext uri="{FF2B5EF4-FFF2-40B4-BE49-F238E27FC236}">
                <a16:creationId xmlns:a16="http://schemas.microsoft.com/office/drawing/2014/main" id="{86D67179-8EFD-A269-61E3-195E187873CC}"/>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7AA69D0E-F5AC-762B-0F0F-395F212FF18E}"/>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24D121DD-641C-F5C1-4435-FC23D89DA2D7}"/>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843061B8-11DC-9232-0914-32EBAB53302A}"/>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A8B05F66-C95A-441E-427B-7A2C8560D57B}"/>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https://books.gw-project.org/hydrogeologic-properties-of-earth-materials-and-principles-of-groundwater-flow/chapter/hydraulic-conductivity-values-for-earth-materials/</a:t>
            </a:r>
          </a:p>
        </p:txBody>
      </p:sp>
      <p:sp>
        <p:nvSpPr>
          <p:cNvPr id="18" name="TextBox 13">
            <a:extLst>
              <a:ext uri="{FF2B5EF4-FFF2-40B4-BE49-F238E27FC236}">
                <a16:creationId xmlns:a16="http://schemas.microsoft.com/office/drawing/2014/main" id="{F52F8A16-25D0-2986-E91D-16F2DE0A469E}"/>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nvGrpSpPr>
          <p:cNvPr id="28" name="Group 27">
            <a:extLst>
              <a:ext uri="{FF2B5EF4-FFF2-40B4-BE49-F238E27FC236}">
                <a16:creationId xmlns:a16="http://schemas.microsoft.com/office/drawing/2014/main" id="{E6D81CA7-3008-44BC-E32C-EC6325C1894A}"/>
              </a:ext>
            </a:extLst>
          </p:cNvPr>
          <p:cNvGrpSpPr/>
          <p:nvPr/>
        </p:nvGrpSpPr>
        <p:grpSpPr>
          <a:xfrm>
            <a:off x="1918632" y="1852391"/>
            <a:ext cx="14450734" cy="6582218"/>
            <a:chOff x="2880438" y="1590179"/>
            <a:chExt cx="12527123" cy="5706025"/>
          </a:xfrm>
        </p:grpSpPr>
        <p:pic>
          <p:nvPicPr>
            <p:cNvPr id="22" name="Picture 21">
              <a:extLst>
                <a:ext uri="{FF2B5EF4-FFF2-40B4-BE49-F238E27FC236}">
                  <a16:creationId xmlns:a16="http://schemas.microsoft.com/office/drawing/2014/main" id="{AA7B3B14-E078-CD42-F2A3-79BFEAAA3ABE}"/>
                </a:ext>
              </a:extLst>
            </p:cNvPr>
            <p:cNvPicPr>
              <a:picLocks noChangeAspect="1"/>
            </p:cNvPicPr>
            <p:nvPr/>
          </p:nvPicPr>
          <p:blipFill>
            <a:blip r:embed="rId3"/>
            <a:srcRect b="30700"/>
            <a:stretch/>
          </p:blipFill>
          <p:spPr>
            <a:xfrm>
              <a:off x="2880438" y="1590179"/>
              <a:ext cx="12527123" cy="4924921"/>
            </a:xfrm>
            <a:prstGeom prst="rect">
              <a:avLst/>
            </a:prstGeom>
          </p:spPr>
        </p:pic>
        <p:pic>
          <p:nvPicPr>
            <p:cNvPr id="27" name="Picture 26">
              <a:extLst>
                <a:ext uri="{FF2B5EF4-FFF2-40B4-BE49-F238E27FC236}">
                  <a16:creationId xmlns:a16="http://schemas.microsoft.com/office/drawing/2014/main" id="{8DAD2F2A-CD2C-F569-4CA5-679E15313A08}"/>
                </a:ext>
              </a:extLst>
            </p:cNvPr>
            <p:cNvPicPr>
              <a:picLocks noChangeAspect="1"/>
            </p:cNvPicPr>
            <p:nvPr/>
          </p:nvPicPr>
          <p:blipFill>
            <a:blip r:embed="rId3"/>
            <a:srcRect t="88806" b="203"/>
            <a:stretch/>
          </p:blipFill>
          <p:spPr>
            <a:xfrm>
              <a:off x="2880438" y="6515100"/>
              <a:ext cx="12527123" cy="781104"/>
            </a:xfrm>
            <a:prstGeom prst="rect">
              <a:avLst/>
            </a:prstGeom>
          </p:spPr>
        </p:pic>
      </p:grpSp>
      <p:grpSp>
        <p:nvGrpSpPr>
          <p:cNvPr id="14" name="Group 13">
            <a:extLst>
              <a:ext uri="{FF2B5EF4-FFF2-40B4-BE49-F238E27FC236}">
                <a16:creationId xmlns:a16="http://schemas.microsoft.com/office/drawing/2014/main" id="{DFF69E22-61BE-3819-C5A5-77F8BB67CEC6}"/>
              </a:ext>
            </a:extLst>
          </p:cNvPr>
          <p:cNvGrpSpPr/>
          <p:nvPr/>
        </p:nvGrpSpPr>
        <p:grpSpPr>
          <a:xfrm>
            <a:off x="0" y="9599693"/>
            <a:ext cx="18287999" cy="687306"/>
            <a:chOff x="0" y="9599693"/>
            <a:chExt cx="18287999" cy="687306"/>
          </a:xfrm>
        </p:grpSpPr>
        <p:grpSp>
          <p:nvGrpSpPr>
            <p:cNvPr id="15" name="Group 11">
              <a:extLst>
                <a:ext uri="{FF2B5EF4-FFF2-40B4-BE49-F238E27FC236}">
                  <a16:creationId xmlns:a16="http://schemas.microsoft.com/office/drawing/2014/main" id="{A985C366-5EFD-68B5-C2E8-7CC521788845}"/>
                </a:ext>
              </a:extLst>
            </p:cNvPr>
            <p:cNvGrpSpPr/>
            <p:nvPr/>
          </p:nvGrpSpPr>
          <p:grpSpPr>
            <a:xfrm>
              <a:off x="0" y="9599694"/>
              <a:ext cx="18287999" cy="687305"/>
              <a:chOff x="0" y="0"/>
              <a:chExt cx="5260714" cy="490218"/>
            </a:xfrm>
          </p:grpSpPr>
          <p:sp>
            <p:nvSpPr>
              <p:cNvPr id="20" name="Freeform 12">
                <a:extLst>
                  <a:ext uri="{FF2B5EF4-FFF2-40B4-BE49-F238E27FC236}">
                    <a16:creationId xmlns:a16="http://schemas.microsoft.com/office/drawing/2014/main" id="{2351C30D-C041-8722-7B90-ACAC5AA63EE4}"/>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1" name="TextBox 13">
                <a:extLst>
                  <a:ext uri="{FF2B5EF4-FFF2-40B4-BE49-F238E27FC236}">
                    <a16:creationId xmlns:a16="http://schemas.microsoft.com/office/drawing/2014/main" id="{52DAA865-5C9F-8989-3321-925B8BA022BE}"/>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2">
              <a:extLst>
                <a:ext uri="{FF2B5EF4-FFF2-40B4-BE49-F238E27FC236}">
                  <a16:creationId xmlns:a16="http://schemas.microsoft.com/office/drawing/2014/main" id="{955242AE-611A-5B1B-606B-7B5DBC66A80F}"/>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17" name="TextBox 13">
              <a:extLst>
                <a:ext uri="{FF2B5EF4-FFF2-40B4-BE49-F238E27FC236}">
                  <a16:creationId xmlns:a16="http://schemas.microsoft.com/office/drawing/2014/main" id="{6E62DC09-EBBB-A5A5-672A-B02F9AE3E3E0}"/>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spTree>
    <p:extLst>
      <p:ext uri="{BB962C8B-B14F-4D97-AF65-F5344CB8AC3E}">
        <p14:creationId xmlns:p14="http://schemas.microsoft.com/office/powerpoint/2010/main" val="24119577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F201B-BA17-713D-2932-92699469645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7DE0407-9A79-7B71-D00A-074B4D79D9EE}"/>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3EAAFB7C-4889-9940-8612-59008D405AAF}"/>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CD73695D-5A73-E9F2-6AA5-3CD182829D9D}"/>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541B2F9F-C1D9-C6B2-9C1E-9A9D2EF31707}"/>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E54B5932-03E8-25C6-E28F-DBDF08341782}"/>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87EA6E37-A4BB-79C4-4139-8B88022F4189}"/>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B7ED8FDB-BF7A-F73B-48C7-D78E1F3AABD8}"/>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70145652-4C3A-3BE8-CCEE-C5FD7A5340CA}"/>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7939F0F2-CF34-CF62-C5BC-2BE7E38B4399}"/>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40F446DE-F629-D5DE-7DA3-10DD73BB4EB1}"/>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372157E8-BCA6-C83D-6F24-DF119B829D4A}"/>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76038F3C-E277-6C06-F9DB-7D0C0ABB371C}"/>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2">
            <a:extLst>
              <a:ext uri="{FF2B5EF4-FFF2-40B4-BE49-F238E27FC236}">
                <a16:creationId xmlns:a16="http://schemas.microsoft.com/office/drawing/2014/main" id="{DD533D98-A89D-9D40-8A39-B6C827D5BE59}"/>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F136D108-863F-9E95-E488-B95C3BE56DDD}"/>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FEE32211-1BAA-A878-5DCE-A7B54456C32D}"/>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72D14808-36B8-0449-E5DB-09DC260D9B03}"/>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713081D0-8EE9-888F-4FC2-D066CE1A1E8C}"/>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https://books.gw-project.org/hydrogeologic-properties-of-earth-materials-and-principles-of-groundwater-flow/chapter/hydraulic-conductivity-values-for-earth-materials/</a:t>
            </a:r>
          </a:p>
        </p:txBody>
      </p:sp>
      <p:sp>
        <p:nvSpPr>
          <p:cNvPr id="18" name="TextBox 13">
            <a:extLst>
              <a:ext uri="{FF2B5EF4-FFF2-40B4-BE49-F238E27FC236}">
                <a16:creationId xmlns:a16="http://schemas.microsoft.com/office/drawing/2014/main" id="{D376F25B-58F7-F5EA-BBF6-B4A0E3D2598B}"/>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nvGrpSpPr>
          <p:cNvPr id="28" name="Group 27">
            <a:extLst>
              <a:ext uri="{FF2B5EF4-FFF2-40B4-BE49-F238E27FC236}">
                <a16:creationId xmlns:a16="http://schemas.microsoft.com/office/drawing/2014/main" id="{5B55EA34-3585-2277-F134-61F4206D7053}"/>
              </a:ext>
            </a:extLst>
          </p:cNvPr>
          <p:cNvGrpSpPr/>
          <p:nvPr/>
        </p:nvGrpSpPr>
        <p:grpSpPr>
          <a:xfrm>
            <a:off x="1918632" y="1852391"/>
            <a:ext cx="14450734" cy="6582218"/>
            <a:chOff x="2880438" y="1590179"/>
            <a:chExt cx="12527123" cy="5706025"/>
          </a:xfrm>
        </p:grpSpPr>
        <p:pic>
          <p:nvPicPr>
            <p:cNvPr id="22" name="Picture 21">
              <a:extLst>
                <a:ext uri="{FF2B5EF4-FFF2-40B4-BE49-F238E27FC236}">
                  <a16:creationId xmlns:a16="http://schemas.microsoft.com/office/drawing/2014/main" id="{746CAE35-BE39-96D4-C235-85BC53C30BD0}"/>
                </a:ext>
              </a:extLst>
            </p:cNvPr>
            <p:cNvPicPr>
              <a:picLocks noChangeAspect="1"/>
            </p:cNvPicPr>
            <p:nvPr/>
          </p:nvPicPr>
          <p:blipFill>
            <a:blip r:embed="rId3"/>
            <a:srcRect b="30700"/>
            <a:stretch/>
          </p:blipFill>
          <p:spPr>
            <a:xfrm>
              <a:off x="2880438" y="1590179"/>
              <a:ext cx="12527123" cy="4924921"/>
            </a:xfrm>
            <a:prstGeom prst="rect">
              <a:avLst/>
            </a:prstGeom>
          </p:spPr>
        </p:pic>
        <p:pic>
          <p:nvPicPr>
            <p:cNvPr id="27" name="Picture 26">
              <a:extLst>
                <a:ext uri="{FF2B5EF4-FFF2-40B4-BE49-F238E27FC236}">
                  <a16:creationId xmlns:a16="http://schemas.microsoft.com/office/drawing/2014/main" id="{CFD8325F-0DA4-2471-BDE6-E7920284399C}"/>
                </a:ext>
              </a:extLst>
            </p:cNvPr>
            <p:cNvPicPr>
              <a:picLocks noChangeAspect="1"/>
            </p:cNvPicPr>
            <p:nvPr/>
          </p:nvPicPr>
          <p:blipFill>
            <a:blip r:embed="rId3"/>
            <a:srcRect t="88806" b="203"/>
            <a:stretch/>
          </p:blipFill>
          <p:spPr>
            <a:xfrm>
              <a:off x="2880438" y="6515100"/>
              <a:ext cx="12527123" cy="781104"/>
            </a:xfrm>
            <a:prstGeom prst="rect">
              <a:avLst/>
            </a:prstGeom>
          </p:spPr>
        </p:pic>
      </p:grpSp>
      <p:grpSp>
        <p:nvGrpSpPr>
          <p:cNvPr id="14" name="Group 13">
            <a:extLst>
              <a:ext uri="{FF2B5EF4-FFF2-40B4-BE49-F238E27FC236}">
                <a16:creationId xmlns:a16="http://schemas.microsoft.com/office/drawing/2014/main" id="{98CFF32C-E6C1-35B5-F316-F1B614044095}"/>
              </a:ext>
            </a:extLst>
          </p:cNvPr>
          <p:cNvGrpSpPr/>
          <p:nvPr/>
        </p:nvGrpSpPr>
        <p:grpSpPr>
          <a:xfrm>
            <a:off x="0" y="9599693"/>
            <a:ext cx="18287999" cy="687306"/>
            <a:chOff x="0" y="9599693"/>
            <a:chExt cx="18287999" cy="687306"/>
          </a:xfrm>
        </p:grpSpPr>
        <p:grpSp>
          <p:nvGrpSpPr>
            <p:cNvPr id="15" name="Group 11">
              <a:extLst>
                <a:ext uri="{FF2B5EF4-FFF2-40B4-BE49-F238E27FC236}">
                  <a16:creationId xmlns:a16="http://schemas.microsoft.com/office/drawing/2014/main" id="{068C093D-3D09-D705-A3B1-BEF0F6D7FB01}"/>
                </a:ext>
              </a:extLst>
            </p:cNvPr>
            <p:cNvGrpSpPr/>
            <p:nvPr/>
          </p:nvGrpSpPr>
          <p:grpSpPr>
            <a:xfrm>
              <a:off x="0" y="9599694"/>
              <a:ext cx="18287999" cy="687305"/>
              <a:chOff x="0" y="0"/>
              <a:chExt cx="5260714" cy="490218"/>
            </a:xfrm>
          </p:grpSpPr>
          <p:sp>
            <p:nvSpPr>
              <p:cNvPr id="20" name="Freeform 12">
                <a:extLst>
                  <a:ext uri="{FF2B5EF4-FFF2-40B4-BE49-F238E27FC236}">
                    <a16:creationId xmlns:a16="http://schemas.microsoft.com/office/drawing/2014/main" id="{5E097127-FC0D-9D33-4A36-3D0EE0C1A13D}"/>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1" name="TextBox 13">
                <a:extLst>
                  <a:ext uri="{FF2B5EF4-FFF2-40B4-BE49-F238E27FC236}">
                    <a16:creationId xmlns:a16="http://schemas.microsoft.com/office/drawing/2014/main" id="{34F29170-B617-92F3-324B-CF84CC28B65A}"/>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2">
              <a:extLst>
                <a:ext uri="{FF2B5EF4-FFF2-40B4-BE49-F238E27FC236}">
                  <a16:creationId xmlns:a16="http://schemas.microsoft.com/office/drawing/2014/main" id="{6FE330F3-222F-07DE-C28F-C69023D5662B}"/>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17" name="TextBox 13">
              <a:extLst>
                <a:ext uri="{FF2B5EF4-FFF2-40B4-BE49-F238E27FC236}">
                  <a16:creationId xmlns:a16="http://schemas.microsoft.com/office/drawing/2014/main" id="{12866B1F-E6CD-7311-8BD6-A74CCC09F6D1}"/>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spTree>
    <p:extLst>
      <p:ext uri="{BB962C8B-B14F-4D97-AF65-F5344CB8AC3E}">
        <p14:creationId xmlns:p14="http://schemas.microsoft.com/office/powerpoint/2010/main" val="1188536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77246-41CB-6F2A-97A5-8EDAB9FF83F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D8F11AE-7E23-D864-539B-BA2F1F091EC9}"/>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54EB95FD-C8F8-2414-7512-2FB6A55C7369}"/>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3CE3A978-3E76-A638-E3BB-E5B6769F1601}"/>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E7A76075-41B3-2868-65C0-339E97F38584}"/>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D7FDE4BD-4377-8777-9752-BB59A0C9BD34}"/>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362CB7ED-7A0D-386A-98FB-8F010C0529C9}"/>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14969A49-56E9-FCD7-DCFD-D1A6FCB38925}"/>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39FEE8F2-E27A-9B08-B75F-7F905E7032E4}"/>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1EB1995A-991A-C97B-5960-9462B31DD1EB}"/>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8CCE9BF1-6DF7-7EFD-0084-B89155E2B4E5}"/>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FF4C5A20-5987-088E-53E0-D10457EF470B}"/>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AF5E723B-F9D1-2DD4-4C68-504CAF93DF12}"/>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a:extLst>
              <a:ext uri="{FF2B5EF4-FFF2-40B4-BE49-F238E27FC236}">
                <a16:creationId xmlns:a16="http://schemas.microsoft.com/office/drawing/2014/main" id="{83AF204A-8602-90D6-FFEB-DDB8EFE61629}"/>
              </a:ext>
            </a:extLst>
          </p:cNvPr>
          <p:cNvSpPr txBox="1"/>
          <p:nvPr/>
        </p:nvSpPr>
        <p:spPr>
          <a:xfrm>
            <a:off x="2246041" y="2025065"/>
            <a:ext cx="13795916" cy="430887"/>
          </a:xfrm>
          <a:prstGeom prst="rect">
            <a:avLst/>
          </a:prstGeom>
        </p:spPr>
        <p:txBody>
          <a:bodyPr lIns="0" tIns="0" rIns="0" bIns="0" rtlCol="0" anchor="t">
            <a:spAutoFit/>
          </a:bodyPr>
          <a:lstStyle/>
          <a:p>
            <a:pPr algn="ctr"/>
            <a:r>
              <a:rPr lang="en-US" sz="2800" b="1" dirty="0">
                <a:solidFill>
                  <a:srgbClr val="000000"/>
                </a:solidFill>
                <a:latin typeface="Nunito 1" panose="020B0604020202020204" charset="0"/>
                <a:ea typeface="Nunito 1 Bold"/>
                <a:cs typeface="Nunito 1 Bold"/>
                <a:sym typeface="Nunito 1 Bold"/>
              </a:rPr>
              <a:t>Important Terminologies</a:t>
            </a:r>
            <a:endParaRPr lang="en-US" sz="2800" dirty="0">
              <a:solidFill>
                <a:srgbClr val="000000"/>
              </a:solidFill>
              <a:latin typeface="Nunito 1" panose="020B0604020202020204" charset="0"/>
              <a:ea typeface="Nunito 1 Bold"/>
              <a:cs typeface="Nunito 1 Bold"/>
              <a:sym typeface="Nunito 1 Bold"/>
            </a:endParaRPr>
          </a:p>
        </p:txBody>
      </p:sp>
      <p:sp>
        <p:nvSpPr>
          <p:cNvPr id="19" name="TextBox 12">
            <a:extLst>
              <a:ext uri="{FF2B5EF4-FFF2-40B4-BE49-F238E27FC236}">
                <a16:creationId xmlns:a16="http://schemas.microsoft.com/office/drawing/2014/main" id="{38FA49D5-E902-D86E-93F6-CAFEA09BAFB1}"/>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3CE739F7-A5D0-218E-F94C-B3E0DD5602C0}"/>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C734DF08-BFCD-E226-19BB-B6CC3575912C}"/>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210D0443-2AB2-1076-D9E1-66AFB2FF0C34}"/>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3">
            <a:extLst>
              <a:ext uri="{FF2B5EF4-FFF2-40B4-BE49-F238E27FC236}">
                <a16:creationId xmlns:a16="http://schemas.microsoft.com/office/drawing/2014/main" id="{33BF9EEF-C6CB-785A-AE3F-F5151FFA5E1A}"/>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sp>
        <p:nvSpPr>
          <p:cNvPr id="16" name="TextBox 15">
            <a:extLst>
              <a:ext uri="{FF2B5EF4-FFF2-40B4-BE49-F238E27FC236}">
                <a16:creationId xmlns:a16="http://schemas.microsoft.com/office/drawing/2014/main" id="{19BA99CE-A8CA-BD84-3B44-0F81B81BF8CA}"/>
              </a:ext>
            </a:extLst>
          </p:cNvPr>
          <p:cNvSpPr txBox="1"/>
          <p:nvPr/>
        </p:nvSpPr>
        <p:spPr>
          <a:xfrm>
            <a:off x="1676399" y="3050987"/>
            <a:ext cx="14935200" cy="3447098"/>
          </a:xfrm>
          <a:prstGeom prst="rect">
            <a:avLst/>
          </a:prstGeom>
        </p:spPr>
        <p:txBody>
          <a:bodyPr wrap="square" lIns="0" tIns="0" rIns="0" bIns="0" rtlCol="0" anchor="t">
            <a:spAutoFit/>
          </a:bodyPr>
          <a:lstStyle/>
          <a:p>
            <a:pPr algn="just"/>
            <a:r>
              <a:rPr lang="en-US" sz="2800" b="1" dirty="0">
                <a:solidFill>
                  <a:srgbClr val="000000"/>
                </a:solidFill>
                <a:latin typeface="Nunito 1" panose="020B0604020202020204" charset="0"/>
                <a:ea typeface="Nunito 1 Bold"/>
                <a:cs typeface="Nunito 1 Bold"/>
                <a:sym typeface="Nunito 1 Bold"/>
              </a:rPr>
              <a:t>Hydraulic head </a:t>
            </a:r>
            <a:r>
              <a:rPr lang="en-US" sz="2800" dirty="0">
                <a:solidFill>
                  <a:srgbClr val="000000"/>
                </a:solidFill>
                <a:latin typeface="Nunito 1" panose="020B0604020202020204" charset="0"/>
                <a:ea typeface="Nunito 1 Bold"/>
                <a:cs typeface="Nunito 1 Bold"/>
                <a:sym typeface="Nunito 1 Bold"/>
              </a:rPr>
              <a:t>- elevation of the water level in the piezometers</a:t>
            </a:r>
          </a:p>
          <a:p>
            <a:pPr algn="just"/>
            <a:endParaRPr lang="en-US" sz="2800" dirty="0">
              <a:solidFill>
                <a:srgbClr val="000000"/>
              </a:solidFill>
              <a:latin typeface="Nunito 1" panose="020B0604020202020204" charset="0"/>
              <a:ea typeface="Nunito 1 Bold"/>
              <a:cs typeface="Nunito 1 Bold"/>
              <a:sym typeface="Nunito 1 Bold"/>
            </a:endParaRPr>
          </a:p>
          <a:p>
            <a:pPr algn="just"/>
            <a:r>
              <a:rPr lang="en-US" sz="2800" b="1" dirty="0">
                <a:solidFill>
                  <a:srgbClr val="000000"/>
                </a:solidFill>
                <a:latin typeface="Nunito 1" panose="020B0604020202020204" charset="0"/>
                <a:ea typeface="Nunito 1 Bold"/>
                <a:cs typeface="Nunito 1 Bold"/>
                <a:sym typeface="Nunito 1 Bold"/>
              </a:rPr>
              <a:t>Hydraulic gradient</a:t>
            </a:r>
            <a:r>
              <a:rPr lang="en-US" sz="2800" dirty="0">
                <a:solidFill>
                  <a:srgbClr val="000000"/>
                </a:solidFill>
                <a:latin typeface="Nunito 1" panose="020B0604020202020204" charset="0"/>
                <a:ea typeface="Nunito 1 Bold"/>
                <a:cs typeface="Nunito 1 Bold"/>
                <a:sym typeface="Nunito 1 Bold"/>
              </a:rPr>
              <a:t> - difference in the hydraulic head over a distance along the flow path. It also refers to the locus of elevations to which water will rise in the Piezometer tube.</a:t>
            </a:r>
          </a:p>
          <a:p>
            <a:pPr algn="just"/>
            <a:endParaRPr lang="en-US" sz="2800" dirty="0">
              <a:solidFill>
                <a:srgbClr val="000000"/>
              </a:solidFill>
              <a:latin typeface="Nunito 1" panose="020B0604020202020204" charset="0"/>
              <a:ea typeface="Nunito 1 Bold"/>
              <a:cs typeface="Nunito 1 Bold"/>
              <a:sym typeface="Nunito 1 Bold"/>
            </a:endParaRPr>
          </a:p>
          <a:p>
            <a:pPr algn="just"/>
            <a:r>
              <a:rPr lang="en-US" sz="2800" b="1" dirty="0">
                <a:solidFill>
                  <a:srgbClr val="000000"/>
                </a:solidFill>
                <a:latin typeface="Nunito 1" panose="020B0604020202020204" charset="0"/>
                <a:ea typeface="Nunito 1 Bold"/>
                <a:cs typeface="Nunito 1 Bold"/>
                <a:sym typeface="Nunito 1 Bold"/>
              </a:rPr>
              <a:t>Hydraulic conductivity </a:t>
            </a:r>
            <a:r>
              <a:rPr lang="en-US" sz="2800" dirty="0">
                <a:solidFill>
                  <a:srgbClr val="000000"/>
                </a:solidFill>
                <a:latin typeface="Nunito 1" panose="020B0604020202020204" charset="0"/>
                <a:ea typeface="Nunito 1 Bold"/>
                <a:cs typeface="Nunito 1 Bold"/>
                <a:sym typeface="Nunito 1 Bold"/>
              </a:rPr>
              <a:t>- the relative ease of fluid passage through a porous material</a:t>
            </a:r>
          </a:p>
          <a:p>
            <a:pPr algn="just"/>
            <a:endParaRPr lang="en-US" sz="2800" dirty="0">
              <a:solidFill>
                <a:srgbClr val="000000"/>
              </a:solidFill>
              <a:latin typeface="Nunito 1" panose="020B0604020202020204" charset="0"/>
              <a:ea typeface="Nunito 1 Bold"/>
              <a:cs typeface="Nunito 1 Bold"/>
              <a:sym typeface="Nunito 1 Bold"/>
            </a:endParaRPr>
          </a:p>
          <a:p>
            <a:pPr algn="just"/>
            <a:r>
              <a:rPr lang="en-US" sz="2800" b="1" dirty="0">
                <a:solidFill>
                  <a:srgbClr val="000000"/>
                </a:solidFill>
                <a:latin typeface="Nunito 1 Bold"/>
                <a:ea typeface="Nunito 1 Bold"/>
                <a:cs typeface="Nunito 1 Bold"/>
                <a:sym typeface="Nunito 1 Bold"/>
              </a:rPr>
              <a:t>Drawdown</a:t>
            </a:r>
            <a:r>
              <a:rPr lang="en-US" sz="2800" dirty="0">
                <a:solidFill>
                  <a:srgbClr val="000000"/>
                </a:solidFill>
                <a:latin typeface="Nunito 1" panose="020B0604020202020204" charset="0"/>
                <a:ea typeface="Nunito 1 Bold"/>
                <a:cs typeface="Nunito 1 Bold"/>
                <a:sym typeface="Nunito 1 Bold"/>
              </a:rPr>
              <a:t> - localized lowering of the static or piezometric water level due to pumping</a:t>
            </a:r>
          </a:p>
        </p:txBody>
      </p:sp>
      <p:grpSp>
        <p:nvGrpSpPr>
          <p:cNvPr id="14" name="Group 13">
            <a:extLst>
              <a:ext uri="{FF2B5EF4-FFF2-40B4-BE49-F238E27FC236}">
                <a16:creationId xmlns:a16="http://schemas.microsoft.com/office/drawing/2014/main" id="{7AAB7BA9-7CE8-BB46-D0A7-99C715DFFB06}"/>
              </a:ext>
            </a:extLst>
          </p:cNvPr>
          <p:cNvGrpSpPr/>
          <p:nvPr/>
        </p:nvGrpSpPr>
        <p:grpSpPr>
          <a:xfrm>
            <a:off x="0" y="9599693"/>
            <a:ext cx="18287999" cy="687306"/>
            <a:chOff x="0" y="9599693"/>
            <a:chExt cx="18287999" cy="687306"/>
          </a:xfrm>
        </p:grpSpPr>
        <p:grpSp>
          <p:nvGrpSpPr>
            <p:cNvPr id="17" name="Group 11">
              <a:extLst>
                <a:ext uri="{FF2B5EF4-FFF2-40B4-BE49-F238E27FC236}">
                  <a16:creationId xmlns:a16="http://schemas.microsoft.com/office/drawing/2014/main" id="{CB04DA21-28CD-030B-F629-F8B8301748EA}"/>
                </a:ext>
              </a:extLst>
            </p:cNvPr>
            <p:cNvGrpSpPr/>
            <p:nvPr/>
          </p:nvGrpSpPr>
          <p:grpSpPr>
            <a:xfrm>
              <a:off x="0" y="9599694"/>
              <a:ext cx="18287999" cy="687305"/>
              <a:chOff x="0" y="0"/>
              <a:chExt cx="5260714" cy="490218"/>
            </a:xfrm>
          </p:grpSpPr>
          <p:sp>
            <p:nvSpPr>
              <p:cNvPr id="22" name="Freeform 12">
                <a:extLst>
                  <a:ext uri="{FF2B5EF4-FFF2-40B4-BE49-F238E27FC236}">
                    <a16:creationId xmlns:a16="http://schemas.microsoft.com/office/drawing/2014/main" id="{EF71DC05-BB01-7B5B-0B44-4ADBC8B7E7E4}"/>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6" name="TextBox 13">
                <a:extLst>
                  <a:ext uri="{FF2B5EF4-FFF2-40B4-BE49-F238E27FC236}">
                    <a16:creationId xmlns:a16="http://schemas.microsoft.com/office/drawing/2014/main" id="{113D1DC7-2C08-6BB4-60D6-CD124F943863}"/>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0" name="TextBox 12">
              <a:extLst>
                <a:ext uri="{FF2B5EF4-FFF2-40B4-BE49-F238E27FC236}">
                  <a16:creationId xmlns:a16="http://schemas.microsoft.com/office/drawing/2014/main" id="{90A6D6B1-6D79-6541-0D00-BB2139DEC945}"/>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1" name="TextBox 13">
              <a:extLst>
                <a:ext uri="{FF2B5EF4-FFF2-40B4-BE49-F238E27FC236}">
                  <a16:creationId xmlns:a16="http://schemas.microsoft.com/office/drawing/2014/main" id="{6C11B50B-086D-E559-8AC9-35D080FD6619}"/>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spTree>
    <p:extLst>
      <p:ext uri="{BB962C8B-B14F-4D97-AF65-F5344CB8AC3E}">
        <p14:creationId xmlns:p14="http://schemas.microsoft.com/office/powerpoint/2010/main" val="24050993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54D8A-AF01-F837-DA3D-27CE4DFFFB2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7329D4E-ECDE-099B-1501-7FF87F225F0A}"/>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E2208867-64B5-51B8-F32D-06896D50B33D}"/>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7FDDC9B4-4F53-A012-8FC3-CF517C6EC0C6}"/>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9F11CA50-AFD3-C07C-D589-0C0C5EA4DF2D}"/>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98E1B28E-3FE1-0BB0-F94D-5E14E07B1722}"/>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AF235C14-174B-C44A-DADF-EE23A85E9EEB}"/>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C27F8B3E-D6D3-AC8E-0A1C-23F0C9EF863D}"/>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B7711A56-D310-D0AA-8AF5-1F97217CCC73}"/>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0BE3B844-2680-3BF3-1A5B-E4CE6D78DE36}"/>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03DFEBAF-5AE1-AAF6-20A5-DF68DA33043B}"/>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7E8E6FE9-8521-91BA-0850-35F576B6A516}"/>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CBF7402F-FA8F-52FD-90A6-89CD06B46B13}"/>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2DC6A1D9-35B3-ADBB-1E4A-437E0ED6285D}"/>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5</a:t>
            </a:r>
          </a:p>
        </p:txBody>
      </p:sp>
      <p:sp>
        <p:nvSpPr>
          <p:cNvPr id="15" name="TextBox 15">
            <a:extLst>
              <a:ext uri="{FF2B5EF4-FFF2-40B4-BE49-F238E27FC236}">
                <a16:creationId xmlns:a16="http://schemas.microsoft.com/office/drawing/2014/main" id="{EFB870BC-34C0-888F-CA8C-9D8F7AE067CA}"/>
              </a:ext>
            </a:extLst>
          </p:cNvPr>
          <p:cNvSpPr txBox="1"/>
          <p:nvPr/>
        </p:nvSpPr>
        <p:spPr>
          <a:xfrm>
            <a:off x="2246041" y="2025065"/>
            <a:ext cx="13795916" cy="369332"/>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What does a piezometer do?</a:t>
            </a:r>
          </a:p>
        </p:txBody>
      </p:sp>
      <p:sp>
        <p:nvSpPr>
          <p:cNvPr id="19" name="TextBox 12">
            <a:extLst>
              <a:ext uri="{FF2B5EF4-FFF2-40B4-BE49-F238E27FC236}">
                <a16:creationId xmlns:a16="http://schemas.microsoft.com/office/drawing/2014/main" id="{ACCAC0FD-26AF-A5C7-1036-19503C657328}"/>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1A32BC92-476B-4327-832E-850883A45179}"/>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638B58D3-FD76-1E3C-90A9-68DD80739399}"/>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44E7B951-20BD-4BBC-F39D-ECDB11CDA33B}"/>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9F3BBC86-DD35-2966-9D2F-1AFBA7776E5A}"/>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https://books.gw-project.org/hydrogeologic-properties-of-earth-materials-and-principles-of-groundwater-flow/chapter/properties-of-aquifers-and-confining-units/)</a:t>
            </a:r>
          </a:p>
        </p:txBody>
      </p:sp>
      <p:sp>
        <p:nvSpPr>
          <p:cNvPr id="16" name="TextBox 15">
            <a:extLst>
              <a:ext uri="{FF2B5EF4-FFF2-40B4-BE49-F238E27FC236}">
                <a16:creationId xmlns:a16="http://schemas.microsoft.com/office/drawing/2014/main" id="{914C0A71-869A-A987-08A3-39B0B596DBAE}"/>
              </a:ext>
            </a:extLst>
          </p:cNvPr>
          <p:cNvSpPr txBox="1"/>
          <p:nvPr/>
        </p:nvSpPr>
        <p:spPr>
          <a:xfrm>
            <a:off x="1676400" y="2926340"/>
            <a:ext cx="14935200" cy="3323987"/>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Piezometers are instruments used to measure pore water pressure, which is the pressure of water within the voids of soil or rock.</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Piezometers are used to determine the chemical composition of groundwater.</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Piezometers are designed to monitor subsurface temperature variations in soil or rock layers to study geothermal gradients and thermal conductivity.</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Piezometers are tools designed to extract soil samples from deep underground.</a:t>
            </a:r>
          </a:p>
        </p:txBody>
      </p:sp>
      <p:sp>
        <p:nvSpPr>
          <p:cNvPr id="17" name="Oval 16">
            <a:extLst>
              <a:ext uri="{FF2B5EF4-FFF2-40B4-BE49-F238E27FC236}">
                <a16:creationId xmlns:a16="http://schemas.microsoft.com/office/drawing/2014/main" id="{D1E9F3AE-38DF-1A35-1A8B-5FDE21F8BD99}"/>
              </a:ext>
            </a:extLst>
          </p:cNvPr>
          <p:cNvSpPr/>
          <p:nvPr/>
        </p:nvSpPr>
        <p:spPr>
          <a:xfrm>
            <a:off x="1510720" y="2874783"/>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8" name="TextBox 13">
            <a:extLst>
              <a:ext uri="{FF2B5EF4-FFF2-40B4-BE49-F238E27FC236}">
                <a16:creationId xmlns:a16="http://schemas.microsoft.com/office/drawing/2014/main" id="{9C4BC3B7-C46F-E421-A4D3-D5CDB115B546}"/>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nvGrpSpPr>
          <p:cNvPr id="20" name="Group 19">
            <a:extLst>
              <a:ext uri="{FF2B5EF4-FFF2-40B4-BE49-F238E27FC236}">
                <a16:creationId xmlns:a16="http://schemas.microsoft.com/office/drawing/2014/main" id="{853A70D7-AFC3-A11A-B408-EF20F7198223}"/>
              </a:ext>
            </a:extLst>
          </p:cNvPr>
          <p:cNvGrpSpPr/>
          <p:nvPr/>
        </p:nvGrpSpPr>
        <p:grpSpPr>
          <a:xfrm>
            <a:off x="0" y="9599693"/>
            <a:ext cx="18287999" cy="687306"/>
            <a:chOff x="0" y="9599693"/>
            <a:chExt cx="18287999" cy="687306"/>
          </a:xfrm>
        </p:grpSpPr>
        <p:grpSp>
          <p:nvGrpSpPr>
            <p:cNvPr id="21" name="Group 11">
              <a:extLst>
                <a:ext uri="{FF2B5EF4-FFF2-40B4-BE49-F238E27FC236}">
                  <a16:creationId xmlns:a16="http://schemas.microsoft.com/office/drawing/2014/main" id="{53AD723F-2B02-6F1A-0F80-C3C33AE5FAA5}"/>
                </a:ext>
              </a:extLst>
            </p:cNvPr>
            <p:cNvGrpSpPr/>
            <p:nvPr/>
          </p:nvGrpSpPr>
          <p:grpSpPr>
            <a:xfrm>
              <a:off x="0" y="9599694"/>
              <a:ext cx="18287999" cy="687305"/>
              <a:chOff x="0" y="0"/>
              <a:chExt cx="5260714" cy="490218"/>
            </a:xfrm>
          </p:grpSpPr>
          <p:sp>
            <p:nvSpPr>
              <p:cNvPr id="28" name="Freeform 12">
                <a:extLst>
                  <a:ext uri="{FF2B5EF4-FFF2-40B4-BE49-F238E27FC236}">
                    <a16:creationId xmlns:a16="http://schemas.microsoft.com/office/drawing/2014/main" id="{F0F82460-EBE3-5D96-32D0-DD1CE2C64F26}"/>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9" name="TextBox 13">
                <a:extLst>
                  <a:ext uri="{FF2B5EF4-FFF2-40B4-BE49-F238E27FC236}">
                    <a16:creationId xmlns:a16="http://schemas.microsoft.com/office/drawing/2014/main" id="{F4C6E67C-AA8B-34D4-1E90-1DBA9BBA110B}"/>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12">
              <a:extLst>
                <a:ext uri="{FF2B5EF4-FFF2-40B4-BE49-F238E27FC236}">
                  <a16:creationId xmlns:a16="http://schemas.microsoft.com/office/drawing/2014/main" id="{9C1E3E0A-8FF8-6188-A76C-0518F9998FF7}"/>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7" name="TextBox 13">
              <a:extLst>
                <a:ext uri="{FF2B5EF4-FFF2-40B4-BE49-F238E27FC236}">
                  <a16:creationId xmlns:a16="http://schemas.microsoft.com/office/drawing/2014/main" id="{50FBA65C-5521-56DD-0918-714A2F687357}"/>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spTree>
    <p:extLst>
      <p:ext uri="{BB962C8B-B14F-4D97-AF65-F5344CB8AC3E}">
        <p14:creationId xmlns:p14="http://schemas.microsoft.com/office/powerpoint/2010/main" val="3898195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F7361-5B2E-8F73-69A9-EC6394AFCC7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A003D0C-C6DF-663B-4E21-F71F8810D4C7}"/>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B8ADC892-12D5-E0B1-8289-6CF64890F787}"/>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412AF16D-9ED0-71D7-785F-E74CAC97D7B5}"/>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F7B4D782-7066-C3FE-1C0B-834728E28032}"/>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B9D5ACC4-EAAA-035E-D871-CC802CBE7592}"/>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06653E3F-C4E0-51D8-47A6-4015EED6F4AB}"/>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8ED2886D-C4BB-F523-B454-A98FAC1B125E}"/>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2E31C021-BFD8-8525-D0B7-BC0390389739}"/>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BD1ACBC9-3CE0-451D-81C7-A28ABFAC9DF7}"/>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2">
            <a:extLst>
              <a:ext uri="{FF2B5EF4-FFF2-40B4-BE49-F238E27FC236}">
                <a16:creationId xmlns:a16="http://schemas.microsoft.com/office/drawing/2014/main" id="{94513864-9873-8615-50F8-9DF8242B6F49}"/>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7B00B055-AF47-1733-A24D-A6DF3CBE3429}"/>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D501FACF-F251-F23E-43F7-5210880AE7B9}"/>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208A2E68-2DD5-EC3E-B42D-A179148036FE}"/>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3">
            <a:extLst>
              <a:ext uri="{FF2B5EF4-FFF2-40B4-BE49-F238E27FC236}">
                <a16:creationId xmlns:a16="http://schemas.microsoft.com/office/drawing/2014/main" id="{208896DE-BA0B-E8E7-D4A1-84ED0A71DA2B}"/>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nvGrpSpPr>
          <p:cNvPr id="14" name="Group 13">
            <a:extLst>
              <a:ext uri="{FF2B5EF4-FFF2-40B4-BE49-F238E27FC236}">
                <a16:creationId xmlns:a16="http://schemas.microsoft.com/office/drawing/2014/main" id="{5EAE4231-60AF-F47E-EB27-D19F20A28761}"/>
              </a:ext>
            </a:extLst>
          </p:cNvPr>
          <p:cNvGrpSpPr/>
          <p:nvPr/>
        </p:nvGrpSpPr>
        <p:grpSpPr>
          <a:xfrm>
            <a:off x="0" y="9599693"/>
            <a:ext cx="18287999" cy="687306"/>
            <a:chOff x="0" y="9599693"/>
            <a:chExt cx="18287999" cy="687306"/>
          </a:xfrm>
        </p:grpSpPr>
        <p:grpSp>
          <p:nvGrpSpPr>
            <p:cNvPr id="16" name="Group 11">
              <a:extLst>
                <a:ext uri="{FF2B5EF4-FFF2-40B4-BE49-F238E27FC236}">
                  <a16:creationId xmlns:a16="http://schemas.microsoft.com/office/drawing/2014/main" id="{794580D5-274A-CB87-CC04-E7B4CF2664A9}"/>
                </a:ext>
              </a:extLst>
            </p:cNvPr>
            <p:cNvGrpSpPr/>
            <p:nvPr/>
          </p:nvGrpSpPr>
          <p:grpSpPr>
            <a:xfrm>
              <a:off x="0" y="9599694"/>
              <a:ext cx="18287999" cy="687305"/>
              <a:chOff x="0" y="0"/>
              <a:chExt cx="5260714" cy="490218"/>
            </a:xfrm>
          </p:grpSpPr>
          <p:sp>
            <p:nvSpPr>
              <p:cNvPr id="21" name="Freeform 12">
                <a:extLst>
                  <a:ext uri="{FF2B5EF4-FFF2-40B4-BE49-F238E27FC236}">
                    <a16:creationId xmlns:a16="http://schemas.microsoft.com/office/drawing/2014/main" id="{6E1883F0-56B8-7648-57A3-F3102D374D29}"/>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2" name="TextBox 13">
                <a:extLst>
                  <a:ext uri="{FF2B5EF4-FFF2-40B4-BE49-F238E27FC236}">
                    <a16:creationId xmlns:a16="http://schemas.microsoft.com/office/drawing/2014/main" id="{FD30898B-906C-6083-5CB9-28D8C171BE87}"/>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2">
              <a:extLst>
                <a:ext uri="{FF2B5EF4-FFF2-40B4-BE49-F238E27FC236}">
                  <a16:creationId xmlns:a16="http://schemas.microsoft.com/office/drawing/2014/main" id="{63C7E886-C351-EEEA-10EA-E8666A24D95E}"/>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0" name="TextBox 13">
              <a:extLst>
                <a:ext uri="{FF2B5EF4-FFF2-40B4-BE49-F238E27FC236}">
                  <a16:creationId xmlns:a16="http://schemas.microsoft.com/office/drawing/2014/main" id="{078A40F6-C7D7-D87A-8925-F4BF21484224}"/>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pic>
        <p:nvPicPr>
          <p:cNvPr id="26" name="Picture 2" descr="What Is Piezometer?- Types, Functions, And Working">
            <a:extLst>
              <a:ext uri="{FF2B5EF4-FFF2-40B4-BE49-F238E27FC236}">
                <a16:creationId xmlns:a16="http://schemas.microsoft.com/office/drawing/2014/main" id="{04DEDAE3-7182-67F7-1899-79F015BF9D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1481240"/>
            <a:ext cx="12360622" cy="69528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97994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DB40E-889F-D73E-4ABE-E5C83946E92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284C60C-528D-B4ED-2B31-A81C0CB2F161}"/>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59D7F884-CEF6-804D-5B52-166D8E9CA7D9}"/>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09572BAF-0339-B2EB-AE0E-60B691821CF4}"/>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85993551-D2DF-B532-A31D-BAF76D3AF607}"/>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5959E436-CB7E-E6A6-7680-C77B21441EB8}"/>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F5FA55D1-7350-3A89-105A-64CB2BA1A1F2}"/>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86976DAB-338A-0401-0682-1CC2D965F978}"/>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F4B0DF4A-FA7D-3BA6-E6F6-8020A027B467}"/>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A0303E46-8F98-E112-7E14-D931286BDEA2}"/>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820A68A0-250E-9BEC-3036-8C50045C7326}"/>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42872F04-C493-EDFD-49BF-0535EA8CC4A6}"/>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85282802-CB92-8E85-CD02-2A2220346795}"/>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27A9A6C1-E8C0-FAF9-DF66-8031D93D0E99}"/>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6</a:t>
            </a:r>
          </a:p>
        </p:txBody>
      </p:sp>
      <p:sp>
        <p:nvSpPr>
          <p:cNvPr id="15" name="TextBox 15">
            <a:extLst>
              <a:ext uri="{FF2B5EF4-FFF2-40B4-BE49-F238E27FC236}">
                <a16:creationId xmlns:a16="http://schemas.microsoft.com/office/drawing/2014/main" id="{633A219F-06E9-BB38-955A-53D8E10D565A}"/>
              </a:ext>
            </a:extLst>
          </p:cNvPr>
          <p:cNvSpPr txBox="1"/>
          <p:nvPr/>
        </p:nvSpPr>
        <p:spPr>
          <a:xfrm>
            <a:off x="2246041" y="2025065"/>
            <a:ext cx="13795916" cy="369332"/>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Which of the following best differentiate hydraulic conductivity and transmissivity?</a:t>
            </a:r>
          </a:p>
        </p:txBody>
      </p:sp>
      <p:sp>
        <p:nvSpPr>
          <p:cNvPr id="19" name="TextBox 12">
            <a:extLst>
              <a:ext uri="{FF2B5EF4-FFF2-40B4-BE49-F238E27FC236}">
                <a16:creationId xmlns:a16="http://schemas.microsoft.com/office/drawing/2014/main" id="{FE7801DA-C818-2F6A-C518-106FD99A09B6}"/>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CE374A53-553A-000E-53ED-57C266761B87}"/>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AE381E32-F6D5-9035-E749-E2CA34EC90F5}"/>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D58E7122-7A72-96FC-8412-7FE417A076AE}"/>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CABAD2CB-AB3C-B895-EFCD-7DBF695D64F7}"/>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https://books.gw-project.org/hydrogeologic-properties-of-earth-materials-and-principles-of-groundwater-flow/chapter/properties-of-aquifers-and-confining-units/)</a:t>
            </a:r>
          </a:p>
        </p:txBody>
      </p:sp>
      <p:sp>
        <p:nvSpPr>
          <p:cNvPr id="16" name="TextBox 15">
            <a:extLst>
              <a:ext uri="{FF2B5EF4-FFF2-40B4-BE49-F238E27FC236}">
                <a16:creationId xmlns:a16="http://schemas.microsoft.com/office/drawing/2014/main" id="{9DDA4CFE-11FE-B24F-05D8-BBAA6F8B60B7}"/>
              </a:ext>
            </a:extLst>
          </p:cNvPr>
          <p:cNvSpPr txBox="1"/>
          <p:nvPr/>
        </p:nvSpPr>
        <p:spPr>
          <a:xfrm>
            <a:off x="1676400" y="2926340"/>
            <a:ext cx="14935200" cy="4062651"/>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Hydraulic conductivity refers to the movement of water through soil, while transmissivity measures the rate at which water is transmitted horizontally through an entire aquifer thickness.</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Hydraulic conductivity measures the ease of water flow in unsaturated soils, while transmissivity is the vertical movement of water in saturated zones.</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Hydraulic conductivity represents the water-holding capacity of soil, and transmissivity measures the volume of water retained in the aquifer.</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Hydraulic conductivity measures how deep water can penetrate the soil, and transmissivity refers to the water table's fluctuation in an aquifer.</a:t>
            </a:r>
          </a:p>
        </p:txBody>
      </p:sp>
      <p:sp>
        <p:nvSpPr>
          <p:cNvPr id="17" name="Oval 16">
            <a:extLst>
              <a:ext uri="{FF2B5EF4-FFF2-40B4-BE49-F238E27FC236}">
                <a16:creationId xmlns:a16="http://schemas.microsoft.com/office/drawing/2014/main" id="{F157373B-B12B-097E-9DFF-2E0B838626F9}"/>
              </a:ext>
            </a:extLst>
          </p:cNvPr>
          <p:cNvSpPr/>
          <p:nvPr/>
        </p:nvSpPr>
        <p:spPr>
          <a:xfrm>
            <a:off x="1510720" y="2874783"/>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8" name="TextBox 13">
            <a:extLst>
              <a:ext uri="{FF2B5EF4-FFF2-40B4-BE49-F238E27FC236}">
                <a16:creationId xmlns:a16="http://schemas.microsoft.com/office/drawing/2014/main" id="{041822C8-FF2E-17DE-8BF2-120E802387EF}"/>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nvGrpSpPr>
          <p:cNvPr id="20" name="Group 19">
            <a:extLst>
              <a:ext uri="{FF2B5EF4-FFF2-40B4-BE49-F238E27FC236}">
                <a16:creationId xmlns:a16="http://schemas.microsoft.com/office/drawing/2014/main" id="{1D00AAEF-56F8-999B-7946-FC8A031F4AA0}"/>
              </a:ext>
            </a:extLst>
          </p:cNvPr>
          <p:cNvGrpSpPr/>
          <p:nvPr/>
        </p:nvGrpSpPr>
        <p:grpSpPr>
          <a:xfrm>
            <a:off x="0" y="9599693"/>
            <a:ext cx="18287999" cy="687306"/>
            <a:chOff x="0" y="9599693"/>
            <a:chExt cx="18287999" cy="687306"/>
          </a:xfrm>
        </p:grpSpPr>
        <p:grpSp>
          <p:nvGrpSpPr>
            <p:cNvPr id="21" name="Group 11">
              <a:extLst>
                <a:ext uri="{FF2B5EF4-FFF2-40B4-BE49-F238E27FC236}">
                  <a16:creationId xmlns:a16="http://schemas.microsoft.com/office/drawing/2014/main" id="{B8F956B5-CEE4-CE1D-C792-426E6661DF98}"/>
                </a:ext>
              </a:extLst>
            </p:cNvPr>
            <p:cNvGrpSpPr/>
            <p:nvPr/>
          </p:nvGrpSpPr>
          <p:grpSpPr>
            <a:xfrm>
              <a:off x="0" y="9599694"/>
              <a:ext cx="18287999" cy="687305"/>
              <a:chOff x="0" y="0"/>
              <a:chExt cx="5260714" cy="490218"/>
            </a:xfrm>
          </p:grpSpPr>
          <p:sp>
            <p:nvSpPr>
              <p:cNvPr id="28" name="Freeform 12">
                <a:extLst>
                  <a:ext uri="{FF2B5EF4-FFF2-40B4-BE49-F238E27FC236}">
                    <a16:creationId xmlns:a16="http://schemas.microsoft.com/office/drawing/2014/main" id="{7DCE2E6C-7A5E-267C-D660-7839563AE044}"/>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9" name="TextBox 13">
                <a:extLst>
                  <a:ext uri="{FF2B5EF4-FFF2-40B4-BE49-F238E27FC236}">
                    <a16:creationId xmlns:a16="http://schemas.microsoft.com/office/drawing/2014/main" id="{A9BFA09C-4EEC-3AA3-D52C-4696540EE246}"/>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12">
              <a:extLst>
                <a:ext uri="{FF2B5EF4-FFF2-40B4-BE49-F238E27FC236}">
                  <a16:creationId xmlns:a16="http://schemas.microsoft.com/office/drawing/2014/main" id="{57558895-123C-D600-57F5-8FBB73A26A61}"/>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7" name="TextBox 13">
              <a:extLst>
                <a:ext uri="{FF2B5EF4-FFF2-40B4-BE49-F238E27FC236}">
                  <a16:creationId xmlns:a16="http://schemas.microsoft.com/office/drawing/2014/main" id="{26C1BF1E-B345-6FA7-BD14-2828494F7C70}"/>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spTree>
    <p:extLst>
      <p:ext uri="{BB962C8B-B14F-4D97-AF65-F5344CB8AC3E}">
        <p14:creationId xmlns:p14="http://schemas.microsoft.com/office/powerpoint/2010/main" val="3801503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E17FF-E9FF-7649-751B-DF2516D5DE5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46B8D00-B2E6-D8FB-C39C-9E8D7D1A56D4}"/>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A42D4DE2-DE83-0008-0AC6-77134FBDAB17}"/>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E46F4984-F953-E363-83FD-5163C4BDC3F2}"/>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83A5020B-C504-F852-BD88-6912EBA40DE5}"/>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336BDD18-62D6-C1AC-FE2A-FB0743018EDA}"/>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5E525B7B-5240-E5B0-E246-9EF3FDDE9FC5}"/>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E02A4BF5-27FC-FFB6-2285-2C9FEC722020}"/>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5C87D75C-B710-23D0-2458-7560266981E2}"/>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9FBF2C4E-AC29-04EC-7738-F5F329A82E8E}"/>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AE6C4EFC-1D4F-8CEE-A47C-F41D80081AF4}"/>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C2FB8857-E4F7-CE61-C655-5C1197D31510}"/>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00AFC814-1BB5-59DA-B3E6-154D3494FDF7}"/>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F0C44DF0-EEC7-C658-066B-F780F4FB0B9B}"/>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7</a:t>
            </a:r>
          </a:p>
        </p:txBody>
      </p:sp>
      <p:sp>
        <p:nvSpPr>
          <p:cNvPr id="15" name="TextBox 15">
            <a:extLst>
              <a:ext uri="{FF2B5EF4-FFF2-40B4-BE49-F238E27FC236}">
                <a16:creationId xmlns:a16="http://schemas.microsoft.com/office/drawing/2014/main" id="{0AF88BEA-BEC1-DC3D-93F9-311AAA322A24}"/>
              </a:ext>
            </a:extLst>
          </p:cNvPr>
          <p:cNvSpPr txBox="1"/>
          <p:nvPr/>
        </p:nvSpPr>
        <p:spPr>
          <a:xfrm>
            <a:off x="2246041" y="2025065"/>
            <a:ext cx="13795916" cy="369332"/>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The arrangement of the four geologic formations based on decreasing economic considerations.</a:t>
            </a:r>
          </a:p>
        </p:txBody>
      </p:sp>
      <p:sp>
        <p:nvSpPr>
          <p:cNvPr id="19" name="TextBox 12">
            <a:extLst>
              <a:ext uri="{FF2B5EF4-FFF2-40B4-BE49-F238E27FC236}">
                <a16:creationId xmlns:a16="http://schemas.microsoft.com/office/drawing/2014/main" id="{40BF4858-C794-2561-6ED0-3037B0C55BFD}"/>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612A1634-31D1-B697-9AD8-1257F214F6A4}"/>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C8984CBD-D535-D244-4427-901DF529F1EE}"/>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520A3861-9F3E-AA07-DC62-6BFEA8F3192A}"/>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3B91AB0B-7FAF-9DFE-E64B-E65CE51F92C8}"/>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https://books.gw-project.org/hydrogeologic-properties-of-earth-materials-and-principles-of-groundwater-flow/chapter/properties-of-aquifers-and-confining-units/)</a:t>
            </a:r>
          </a:p>
        </p:txBody>
      </p:sp>
      <p:sp>
        <p:nvSpPr>
          <p:cNvPr id="16" name="TextBox 15">
            <a:extLst>
              <a:ext uri="{FF2B5EF4-FFF2-40B4-BE49-F238E27FC236}">
                <a16:creationId xmlns:a16="http://schemas.microsoft.com/office/drawing/2014/main" id="{41F0E4A0-F910-F87E-C360-0BB272085BA9}"/>
              </a:ext>
            </a:extLst>
          </p:cNvPr>
          <p:cNvSpPr txBox="1"/>
          <p:nvPr/>
        </p:nvSpPr>
        <p:spPr>
          <a:xfrm>
            <a:off x="1676400" y="2926340"/>
            <a:ext cx="14935200" cy="2954655"/>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Aquifer - Aquiclude - Aquitard - Aquifuge</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Aquifer - Aquitard - Aquiclude - Aquifuge</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Aquifer – Aquifuge - Aquiclude - Aquitard</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Aquiclude - Aquifer - Aquitard - Aquifuge</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p:txBody>
      </p:sp>
      <p:sp>
        <p:nvSpPr>
          <p:cNvPr id="17" name="Oval 16">
            <a:extLst>
              <a:ext uri="{FF2B5EF4-FFF2-40B4-BE49-F238E27FC236}">
                <a16:creationId xmlns:a16="http://schemas.microsoft.com/office/drawing/2014/main" id="{4BFFFD0F-31C6-CA03-2155-63B915DFE3BD}"/>
              </a:ext>
            </a:extLst>
          </p:cNvPr>
          <p:cNvSpPr/>
          <p:nvPr/>
        </p:nvSpPr>
        <p:spPr>
          <a:xfrm>
            <a:off x="1510720" y="2874783"/>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8" name="TextBox 13">
            <a:extLst>
              <a:ext uri="{FF2B5EF4-FFF2-40B4-BE49-F238E27FC236}">
                <a16:creationId xmlns:a16="http://schemas.microsoft.com/office/drawing/2014/main" id="{86F09F7B-4156-CF7A-ECA8-5DF57F7EF216}"/>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nvGrpSpPr>
          <p:cNvPr id="20" name="Group 19">
            <a:extLst>
              <a:ext uri="{FF2B5EF4-FFF2-40B4-BE49-F238E27FC236}">
                <a16:creationId xmlns:a16="http://schemas.microsoft.com/office/drawing/2014/main" id="{F2F770B8-8D9C-1B8F-C2B6-1FB5E2DC9023}"/>
              </a:ext>
            </a:extLst>
          </p:cNvPr>
          <p:cNvGrpSpPr/>
          <p:nvPr/>
        </p:nvGrpSpPr>
        <p:grpSpPr>
          <a:xfrm>
            <a:off x="0" y="9599693"/>
            <a:ext cx="18287999" cy="687306"/>
            <a:chOff x="0" y="9599693"/>
            <a:chExt cx="18287999" cy="687306"/>
          </a:xfrm>
        </p:grpSpPr>
        <p:grpSp>
          <p:nvGrpSpPr>
            <p:cNvPr id="21" name="Group 11">
              <a:extLst>
                <a:ext uri="{FF2B5EF4-FFF2-40B4-BE49-F238E27FC236}">
                  <a16:creationId xmlns:a16="http://schemas.microsoft.com/office/drawing/2014/main" id="{9D9F81DC-BE06-46C7-AF08-C733EEF91A7C}"/>
                </a:ext>
              </a:extLst>
            </p:cNvPr>
            <p:cNvGrpSpPr/>
            <p:nvPr/>
          </p:nvGrpSpPr>
          <p:grpSpPr>
            <a:xfrm>
              <a:off x="0" y="9599694"/>
              <a:ext cx="18287999" cy="687305"/>
              <a:chOff x="0" y="0"/>
              <a:chExt cx="5260714" cy="490218"/>
            </a:xfrm>
          </p:grpSpPr>
          <p:sp>
            <p:nvSpPr>
              <p:cNvPr id="28" name="Freeform 12">
                <a:extLst>
                  <a:ext uri="{FF2B5EF4-FFF2-40B4-BE49-F238E27FC236}">
                    <a16:creationId xmlns:a16="http://schemas.microsoft.com/office/drawing/2014/main" id="{941E23F9-80AA-29AF-13F3-318F9A97DF07}"/>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9" name="TextBox 13">
                <a:extLst>
                  <a:ext uri="{FF2B5EF4-FFF2-40B4-BE49-F238E27FC236}">
                    <a16:creationId xmlns:a16="http://schemas.microsoft.com/office/drawing/2014/main" id="{399FB026-0193-C939-4458-1FB4CF03ACD0}"/>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12">
              <a:extLst>
                <a:ext uri="{FF2B5EF4-FFF2-40B4-BE49-F238E27FC236}">
                  <a16:creationId xmlns:a16="http://schemas.microsoft.com/office/drawing/2014/main" id="{C147CE4D-5672-B7B5-6B84-CF665E22E083}"/>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7" name="TextBox 13">
              <a:extLst>
                <a:ext uri="{FF2B5EF4-FFF2-40B4-BE49-F238E27FC236}">
                  <a16:creationId xmlns:a16="http://schemas.microsoft.com/office/drawing/2014/main" id="{BD119B12-2E4E-F3E1-FF0B-CA1E3428C8FE}"/>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spTree>
    <p:extLst>
      <p:ext uri="{BB962C8B-B14F-4D97-AF65-F5344CB8AC3E}">
        <p14:creationId xmlns:p14="http://schemas.microsoft.com/office/powerpoint/2010/main" val="2759125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8F064-EAEF-84B8-D2CE-A4EAE9F381A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7175258-2842-8F15-5983-79876A6AF8D7}"/>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04B5F833-2D0A-5A31-DF48-133951E7847F}"/>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951038D5-BD41-BF1A-8BE0-FAB044EBF7EA}"/>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A2DC66B2-CFE6-A058-C004-7260A967D025}"/>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8BCE1FC4-B586-64C3-E8A7-39B9C7354DC6}"/>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6774B206-2080-C558-2444-561DB65409A7}"/>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28603AB0-22E1-C8B4-A93A-DA842CAFD3F5}"/>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E68A9B18-FFA2-0CFF-4B13-F50583C15CF8}"/>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C3DF0B5B-B90A-83AA-0BC8-CE1E368B09CD}"/>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A493933F-B6CB-7C3E-4074-01325F452F28}"/>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F209F721-258A-A190-DD77-13A6300C18AA}"/>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3FAC4D64-59A8-7631-61DA-D3675B322C3E}"/>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2">
            <a:extLst>
              <a:ext uri="{FF2B5EF4-FFF2-40B4-BE49-F238E27FC236}">
                <a16:creationId xmlns:a16="http://schemas.microsoft.com/office/drawing/2014/main" id="{7B1FD58F-D3AD-3EB9-374F-4F3E878B72BE}"/>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84B66D6A-EFD1-226F-79CD-C6F548EFA8FF}"/>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D03E8074-5444-AA2F-B9EF-99826D37E7B0}"/>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0C80ACDE-CBA3-B1B6-20F4-BA0857F6807C}"/>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E8B4ADD3-8CCD-07C3-4B40-CA328215FEAD}"/>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https://books.gw-project.org/hydrogeologic-properties-of-earth-materials-and-principles-of-groundwater-flow/chapter/properties-of-aquifers-and-confining-units/)</a:t>
            </a:r>
          </a:p>
        </p:txBody>
      </p:sp>
      <p:sp>
        <p:nvSpPr>
          <p:cNvPr id="16" name="TextBox 15">
            <a:extLst>
              <a:ext uri="{FF2B5EF4-FFF2-40B4-BE49-F238E27FC236}">
                <a16:creationId xmlns:a16="http://schemas.microsoft.com/office/drawing/2014/main" id="{885FE242-C31B-830F-9486-4B84A0595BBB}"/>
              </a:ext>
            </a:extLst>
          </p:cNvPr>
          <p:cNvSpPr txBox="1"/>
          <p:nvPr/>
        </p:nvSpPr>
        <p:spPr>
          <a:xfrm>
            <a:off x="1676400" y="2926340"/>
            <a:ext cx="14935200" cy="4431983"/>
          </a:xfrm>
          <a:prstGeom prst="rect">
            <a:avLst/>
          </a:prstGeom>
        </p:spPr>
        <p:txBody>
          <a:bodyPr wrap="square" lIns="0" tIns="0" rIns="0" bIns="0" rtlCol="0" anchor="t">
            <a:spAutoFit/>
          </a:bodyPr>
          <a:lstStyle/>
          <a:p>
            <a:pPr algn="just"/>
            <a:r>
              <a:rPr lang="en-US" sz="2400" b="1" dirty="0">
                <a:solidFill>
                  <a:srgbClr val="000000"/>
                </a:solidFill>
                <a:latin typeface="Nunito 1" panose="020B0604020202020204" charset="0"/>
                <a:ea typeface="Nunito 1 Bold"/>
                <a:cs typeface="Nunito 1 Bold"/>
                <a:sym typeface="Nunito 1 Bold"/>
              </a:rPr>
              <a:t>Aquifer</a:t>
            </a:r>
            <a:r>
              <a:rPr lang="en-US" sz="2400" dirty="0">
                <a:solidFill>
                  <a:srgbClr val="000000"/>
                </a:solidFill>
                <a:latin typeface="Nunito 1" panose="020B0604020202020204" charset="0"/>
                <a:ea typeface="Nunito 1 Bold"/>
                <a:cs typeface="Nunito 1 Bold"/>
                <a:sym typeface="Nunito 1 Bold"/>
              </a:rPr>
              <a:t> - A water bearing geologic formation or stratum capable of transmitting water through its pores at a </a:t>
            </a:r>
            <a:r>
              <a:rPr lang="en-US" sz="2400" u="sng" dirty="0">
                <a:solidFill>
                  <a:srgbClr val="000000"/>
                </a:solidFill>
                <a:latin typeface="Nunito 1" panose="020B0604020202020204" charset="0"/>
                <a:ea typeface="Nunito 1 Bold"/>
                <a:cs typeface="Nunito 1 Bold"/>
                <a:sym typeface="Nunito 1 Bold"/>
              </a:rPr>
              <a:t>rate sufficient for economic extraction by wells</a:t>
            </a:r>
            <a:r>
              <a:rPr lang="en-US" sz="2400" dirty="0">
                <a:solidFill>
                  <a:srgbClr val="000000"/>
                </a:solidFill>
                <a:latin typeface="Nunito 1" panose="020B0604020202020204" charset="0"/>
                <a:ea typeface="Nunito 1 Bold"/>
                <a:cs typeface="Nunito 1 Bold"/>
                <a:sym typeface="Nunito 1 Bold"/>
              </a:rPr>
              <a:t>. The ease transmission of water in due to its high permeability. Formations of good aquifers have unconsolidated sand and gravel.</a:t>
            </a:r>
          </a:p>
          <a:p>
            <a:pPr marL="514350" indent="-514350" algn="just">
              <a:buFont typeface="+mj-lt"/>
              <a:buAutoNum type="alphaLcPeriod"/>
            </a:pPr>
            <a:endParaRPr lang="en-US" sz="2400" b="1" dirty="0">
              <a:solidFill>
                <a:srgbClr val="000000"/>
              </a:solidFill>
              <a:latin typeface="Nunito 1" panose="020B0604020202020204" charset="0"/>
              <a:ea typeface="Nunito 1 Bold"/>
              <a:cs typeface="Nunito 1 Bold"/>
              <a:sym typeface="Nunito 1 Bold"/>
            </a:endParaRPr>
          </a:p>
          <a:p>
            <a:pPr algn="just"/>
            <a:r>
              <a:rPr lang="en-US" sz="2400" b="1" dirty="0">
                <a:solidFill>
                  <a:srgbClr val="000000"/>
                </a:solidFill>
                <a:latin typeface="Nunito 1" panose="020B0604020202020204" charset="0"/>
                <a:ea typeface="Nunito 1 Bold"/>
                <a:cs typeface="Nunito 1 Bold"/>
                <a:sym typeface="Nunito 1 Bold"/>
              </a:rPr>
              <a:t>Aquiclude </a:t>
            </a:r>
            <a:r>
              <a:rPr lang="en-US" sz="2400" dirty="0">
                <a:solidFill>
                  <a:srgbClr val="000000"/>
                </a:solidFill>
                <a:latin typeface="Nunito 1" panose="020B0604020202020204" charset="0"/>
                <a:ea typeface="Nunito 1 Bold"/>
                <a:cs typeface="Nunito 1 Bold"/>
                <a:sym typeface="Nunito 1 Bold"/>
              </a:rPr>
              <a:t>- A geologic formation, which </a:t>
            </a:r>
            <a:r>
              <a:rPr lang="en-US" sz="2400" u="sng" dirty="0">
                <a:solidFill>
                  <a:srgbClr val="000000"/>
                </a:solidFill>
                <a:latin typeface="Nunito 1" panose="020B0604020202020204" charset="0"/>
                <a:ea typeface="Nunito 1 Bold"/>
                <a:cs typeface="Nunito 1 Bold"/>
                <a:sym typeface="Nunito 1 Bold"/>
              </a:rPr>
              <a:t>can absorb </a:t>
            </a:r>
            <a:r>
              <a:rPr lang="en-US" sz="2400" dirty="0">
                <a:solidFill>
                  <a:srgbClr val="000000"/>
                </a:solidFill>
                <a:latin typeface="Nunito 1" panose="020B0604020202020204" charset="0"/>
                <a:ea typeface="Nunito 1 Bold"/>
                <a:cs typeface="Nunito 1 Bold"/>
                <a:sym typeface="Nunito 1 Bold"/>
              </a:rPr>
              <a:t>water but </a:t>
            </a:r>
            <a:r>
              <a:rPr lang="en-US" sz="2400" u="sng" dirty="0">
                <a:solidFill>
                  <a:srgbClr val="000000"/>
                </a:solidFill>
                <a:latin typeface="Nunito 1" panose="020B0604020202020204" charset="0"/>
                <a:ea typeface="Nunito 1 Bold"/>
                <a:cs typeface="Nunito 1 Bold"/>
                <a:sym typeface="Nunito 1 Bold"/>
              </a:rPr>
              <a:t>cannot transmit significant amounts</a:t>
            </a:r>
            <a:r>
              <a:rPr lang="en-US" sz="2400" dirty="0">
                <a:solidFill>
                  <a:srgbClr val="000000"/>
                </a:solidFill>
                <a:latin typeface="Nunito 1" panose="020B0604020202020204" charset="0"/>
                <a:ea typeface="Nunito 1 Bold"/>
                <a:cs typeface="Nunito 1 Bold"/>
                <a:sym typeface="Nunito 1 Bold"/>
              </a:rPr>
              <a:t>. Clay formations are example of an aquiclude.</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algn="just"/>
            <a:r>
              <a:rPr lang="en-US" sz="2400" b="1" dirty="0">
                <a:solidFill>
                  <a:srgbClr val="000000"/>
                </a:solidFill>
                <a:latin typeface="Nunito 1" panose="020B0604020202020204" charset="0"/>
                <a:ea typeface="Nunito 1 Bold"/>
                <a:cs typeface="Nunito 1 Bold"/>
                <a:sym typeface="Nunito 1 Bold"/>
              </a:rPr>
              <a:t>Aquitard</a:t>
            </a:r>
            <a:r>
              <a:rPr lang="en-US" sz="2400" dirty="0">
                <a:solidFill>
                  <a:srgbClr val="000000"/>
                </a:solidFill>
                <a:latin typeface="Nunito 1" panose="020B0604020202020204" charset="0"/>
                <a:ea typeface="Nunito 1 Bold"/>
                <a:cs typeface="Nunito 1 Bold"/>
                <a:sym typeface="Nunito 1 Bold"/>
              </a:rPr>
              <a:t> - A geologic formation of rather impervious nature, which </a:t>
            </a:r>
            <a:r>
              <a:rPr lang="en-US" sz="2400" u="sng" dirty="0">
                <a:solidFill>
                  <a:srgbClr val="000000"/>
                </a:solidFill>
                <a:latin typeface="Nunito 1" panose="020B0604020202020204" charset="0"/>
                <a:ea typeface="Nunito 1 Bold"/>
                <a:cs typeface="Nunito 1 Bold"/>
                <a:sym typeface="Nunito 1 Bold"/>
              </a:rPr>
              <a:t>transmits water at a slow rate </a:t>
            </a:r>
            <a:r>
              <a:rPr lang="en-US" sz="2400" dirty="0">
                <a:solidFill>
                  <a:srgbClr val="000000"/>
                </a:solidFill>
                <a:latin typeface="Nunito 1" panose="020B0604020202020204" charset="0"/>
                <a:ea typeface="Nunito 1 Bold"/>
                <a:cs typeface="Nunito 1 Bold"/>
                <a:sym typeface="Nunito 1 Bold"/>
              </a:rPr>
              <a:t>compared to an aquifer (</a:t>
            </a:r>
            <a:r>
              <a:rPr lang="en-US" sz="2400" u="sng" dirty="0">
                <a:solidFill>
                  <a:srgbClr val="000000"/>
                </a:solidFill>
                <a:latin typeface="Nunito 1" panose="020B0604020202020204" charset="0"/>
                <a:ea typeface="Nunito 1 Bold"/>
                <a:cs typeface="Nunito 1 Bold"/>
                <a:sym typeface="Nunito 1 Bold"/>
              </a:rPr>
              <a:t>insufficient for pumping from wells</a:t>
            </a:r>
            <a:r>
              <a:rPr lang="en-US" sz="2400" dirty="0">
                <a:solidFill>
                  <a:srgbClr val="000000"/>
                </a:solidFill>
                <a:latin typeface="Nunito 1" panose="020B0604020202020204" charset="0"/>
                <a:ea typeface="Nunito 1 Bold"/>
                <a:cs typeface="Nunito 1 Bold"/>
                <a:sym typeface="Nunito 1 Bold"/>
              </a:rPr>
              <a:t>) Aquitard formations are sandy clay.</a:t>
            </a:r>
          </a:p>
          <a:p>
            <a:pPr marL="514350" indent="-514350" algn="just">
              <a:buFont typeface="+mj-lt"/>
              <a:buAutoNum type="alphaLcPeriod"/>
            </a:pPr>
            <a:endParaRPr lang="en-US" sz="2400" b="1" dirty="0">
              <a:solidFill>
                <a:srgbClr val="000000"/>
              </a:solidFill>
              <a:latin typeface="Nunito 1" panose="020B0604020202020204" charset="0"/>
              <a:ea typeface="Nunito 1 Bold"/>
              <a:cs typeface="Nunito 1 Bold"/>
              <a:sym typeface="Nunito 1 Bold"/>
            </a:endParaRPr>
          </a:p>
          <a:p>
            <a:pPr algn="just"/>
            <a:r>
              <a:rPr lang="en-US" sz="2400" b="1" dirty="0">
                <a:solidFill>
                  <a:srgbClr val="000000"/>
                </a:solidFill>
                <a:latin typeface="Nunito 1" panose="020B0604020202020204" charset="0"/>
                <a:ea typeface="Nunito 1 Bold"/>
                <a:cs typeface="Nunito 1 Bold"/>
                <a:sym typeface="Nunito 1 Bold"/>
              </a:rPr>
              <a:t>Aquifuge </a:t>
            </a:r>
            <a:r>
              <a:rPr lang="en-US" sz="2400" dirty="0">
                <a:solidFill>
                  <a:srgbClr val="000000"/>
                </a:solidFill>
                <a:latin typeface="Nunito 1" panose="020B0604020202020204" charset="0"/>
                <a:ea typeface="Nunito 1 Bold"/>
                <a:cs typeface="Nunito 1 Bold"/>
                <a:sym typeface="Nunito 1 Bold"/>
              </a:rPr>
              <a:t>- A geologic formation with </a:t>
            </a:r>
            <a:r>
              <a:rPr lang="en-US" sz="2400" u="sng" dirty="0">
                <a:solidFill>
                  <a:srgbClr val="000000"/>
                </a:solidFill>
                <a:latin typeface="Nunito 1" panose="020B0604020202020204" charset="0"/>
                <a:ea typeface="Nunito 1 Bold"/>
                <a:cs typeface="Nunito 1 Bold"/>
                <a:sym typeface="Nunito 1 Bold"/>
              </a:rPr>
              <a:t>no interconnected pores </a:t>
            </a:r>
            <a:r>
              <a:rPr lang="en-US" sz="2400" dirty="0">
                <a:solidFill>
                  <a:srgbClr val="000000"/>
                </a:solidFill>
                <a:latin typeface="Nunito 1" panose="020B0604020202020204" charset="0"/>
                <a:ea typeface="Nunito 1 Bold"/>
                <a:cs typeface="Nunito 1 Bold"/>
                <a:sym typeface="Nunito 1 Bold"/>
              </a:rPr>
              <a:t>and hence can </a:t>
            </a:r>
            <a:r>
              <a:rPr lang="en-US" sz="2400" u="sng" dirty="0">
                <a:solidFill>
                  <a:srgbClr val="000000"/>
                </a:solidFill>
                <a:latin typeface="Nunito 1" panose="020B0604020202020204" charset="0"/>
                <a:ea typeface="Nunito 1 Bold"/>
                <a:cs typeface="Nunito 1 Bold"/>
                <a:sym typeface="Nunito 1 Bold"/>
              </a:rPr>
              <a:t>neither absorb nor transmit </a:t>
            </a:r>
            <a:r>
              <a:rPr lang="en-US" sz="2400" dirty="0">
                <a:solidFill>
                  <a:srgbClr val="000000"/>
                </a:solidFill>
                <a:latin typeface="Nunito 1" panose="020B0604020202020204" charset="0"/>
                <a:ea typeface="Nunito 1 Bold"/>
                <a:cs typeface="Nunito 1 Bold"/>
                <a:sym typeface="Nunito 1 Bold"/>
              </a:rPr>
              <a:t>water. These are formations made of massive compact rocks without any fractures.</a:t>
            </a:r>
          </a:p>
        </p:txBody>
      </p:sp>
      <p:sp>
        <p:nvSpPr>
          <p:cNvPr id="18" name="TextBox 13">
            <a:extLst>
              <a:ext uri="{FF2B5EF4-FFF2-40B4-BE49-F238E27FC236}">
                <a16:creationId xmlns:a16="http://schemas.microsoft.com/office/drawing/2014/main" id="{F287E229-EA2C-6477-A275-02866FB75072}"/>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nvGrpSpPr>
          <p:cNvPr id="14" name="Group 13">
            <a:extLst>
              <a:ext uri="{FF2B5EF4-FFF2-40B4-BE49-F238E27FC236}">
                <a16:creationId xmlns:a16="http://schemas.microsoft.com/office/drawing/2014/main" id="{746880E7-0B24-5D57-9A2C-FED827E9C23A}"/>
              </a:ext>
            </a:extLst>
          </p:cNvPr>
          <p:cNvGrpSpPr/>
          <p:nvPr/>
        </p:nvGrpSpPr>
        <p:grpSpPr>
          <a:xfrm>
            <a:off x="0" y="9599693"/>
            <a:ext cx="18287999" cy="687306"/>
            <a:chOff x="0" y="9599693"/>
            <a:chExt cx="18287999" cy="687306"/>
          </a:xfrm>
        </p:grpSpPr>
        <p:grpSp>
          <p:nvGrpSpPr>
            <p:cNvPr id="15" name="Group 11">
              <a:extLst>
                <a:ext uri="{FF2B5EF4-FFF2-40B4-BE49-F238E27FC236}">
                  <a16:creationId xmlns:a16="http://schemas.microsoft.com/office/drawing/2014/main" id="{52C54C7A-5402-A220-3713-E5A27A60B7DC}"/>
                </a:ext>
              </a:extLst>
            </p:cNvPr>
            <p:cNvGrpSpPr/>
            <p:nvPr/>
          </p:nvGrpSpPr>
          <p:grpSpPr>
            <a:xfrm>
              <a:off x="0" y="9599694"/>
              <a:ext cx="18287999" cy="687305"/>
              <a:chOff x="0" y="0"/>
              <a:chExt cx="5260714" cy="490218"/>
            </a:xfrm>
          </p:grpSpPr>
          <p:sp>
            <p:nvSpPr>
              <p:cNvPr id="21" name="Freeform 12">
                <a:extLst>
                  <a:ext uri="{FF2B5EF4-FFF2-40B4-BE49-F238E27FC236}">
                    <a16:creationId xmlns:a16="http://schemas.microsoft.com/office/drawing/2014/main" id="{4EC7FB37-92AE-2362-A5BF-2847536A3642}"/>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2" name="TextBox 13">
                <a:extLst>
                  <a:ext uri="{FF2B5EF4-FFF2-40B4-BE49-F238E27FC236}">
                    <a16:creationId xmlns:a16="http://schemas.microsoft.com/office/drawing/2014/main" id="{A5707597-73F2-A1D9-E089-9FB029F95C34}"/>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2">
              <a:extLst>
                <a:ext uri="{FF2B5EF4-FFF2-40B4-BE49-F238E27FC236}">
                  <a16:creationId xmlns:a16="http://schemas.microsoft.com/office/drawing/2014/main" id="{4E71E608-A8CC-F235-6A98-4BE66CEC74EA}"/>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0" name="TextBox 13">
              <a:extLst>
                <a:ext uri="{FF2B5EF4-FFF2-40B4-BE49-F238E27FC236}">
                  <a16:creationId xmlns:a16="http://schemas.microsoft.com/office/drawing/2014/main" id="{3F6C738F-54C0-635A-ECF8-A38D1BDBCE8F}"/>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spTree>
    <p:extLst>
      <p:ext uri="{BB962C8B-B14F-4D97-AF65-F5344CB8AC3E}">
        <p14:creationId xmlns:p14="http://schemas.microsoft.com/office/powerpoint/2010/main" val="4781353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20661-B21E-1C26-A92B-7CFEC13D3CE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34DC8E3-EAF3-4D1D-C5D7-A3909A99379B}"/>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E8D11FB9-E34C-3A32-16F2-68AE5356D846}"/>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134106B7-8817-521C-64C9-22FA1745E26F}"/>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50B8B0F5-C9A5-2E22-B1B5-EC06E7B69476}"/>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D799BC73-5210-FB5D-8933-8DFA2C4050EC}"/>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6B2C9FA5-0B92-8711-C99F-DBF8A176E150}"/>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095D6B1A-ACFE-6C9A-8103-D3EE53FBA247}"/>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A8D6FD63-5558-1AFD-F1CA-223988B1E184}"/>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89C6C78E-A1D4-0F32-EF79-89DAB484EB2F}"/>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CCB7B92F-F7F9-8720-6E49-B78293FC8F21}"/>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C5862C4B-9F70-07E9-C8AA-E847ECB60B30}"/>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6513C311-E34A-9E1C-0DEA-CC2DDFED8019}"/>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74B8713A-7966-DE57-E33A-7B6347766CEB}"/>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8</a:t>
            </a:r>
          </a:p>
        </p:txBody>
      </p:sp>
      <p:sp>
        <p:nvSpPr>
          <p:cNvPr id="15" name="TextBox 15">
            <a:extLst>
              <a:ext uri="{FF2B5EF4-FFF2-40B4-BE49-F238E27FC236}">
                <a16:creationId xmlns:a16="http://schemas.microsoft.com/office/drawing/2014/main" id="{3DF580A7-23BF-9E4C-99AC-8551DFD5FEE3}"/>
              </a:ext>
            </a:extLst>
          </p:cNvPr>
          <p:cNvSpPr txBox="1"/>
          <p:nvPr/>
        </p:nvSpPr>
        <p:spPr>
          <a:xfrm>
            <a:off x="2246041" y="2025065"/>
            <a:ext cx="13795916" cy="369332"/>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What are the two classifications of an aquifer?</a:t>
            </a:r>
          </a:p>
        </p:txBody>
      </p:sp>
      <p:sp>
        <p:nvSpPr>
          <p:cNvPr id="19" name="TextBox 12">
            <a:extLst>
              <a:ext uri="{FF2B5EF4-FFF2-40B4-BE49-F238E27FC236}">
                <a16:creationId xmlns:a16="http://schemas.microsoft.com/office/drawing/2014/main" id="{6F2764CF-A8E2-20D2-113B-5BFBEAC36830}"/>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031DAB4C-CC2A-2BFC-E708-A96DDD8D0B13}"/>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D183FE77-BF3F-7AA3-3B6C-D4C185E18C1B}"/>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7012B6AB-CCD4-38C2-B497-A8CC046D49D6}"/>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B37CDCDE-D72F-775B-E16D-3FFB1B449CCC}"/>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https://books.gw-project.org/hydrogeologic-properties-of-earth-materials-and-principles-of-groundwater-flow/chapter/properties-of-aquifers-and-confining-units/)</a:t>
            </a:r>
          </a:p>
        </p:txBody>
      </p:sp>
      <p:sp>
        <p:nvSpPr>
          <p:cNvPr id="16" name="TextBox 15">
            <a:extLst>
              <a:ext uri="{FF2B5EF4-FFF2-40B4-BE49-F238E27FC236}">
                <a16:creationId xmlns:a16="http://schemas.microsoft.com/office/drawing/2014/main" id="{E8924BC2-BC23-132A-7155-0E0B3803478F}"/>
              </a:ext>
            </a:extLst>
          </p:cNvPr>
          <p:cNvSpPr txBox="1"/>
          <p:nvPr/>
        </p:nvSpPr>
        <p:spPr>
          <a:xfrm>
            <a:off x="1676400" y="2926340"/>
            <a:ext cx="14935200" cy="2954655"/>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Open and closed</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Confined and unconfined</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Flowing and Non-flowing</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Perched and unperched</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p:txBody>
      </p:sp>
      <p:sp>
        <p:nvSpPr>
          <p:cNvPr id="17" name="Oval 16">
            <a:extLst>
              <a:ext uri="{FF2B5EF4-FFF2-40B4-BE49-F238E27FC236}">
                <a16:creationId xmlns:a16="http://schemas.microsoft.com/office/drawing/2014/main" id="{D2D2C75E-D949-2457-621E-F95F1BFD90E0}"/>
              </a:ext>
            </a:extLst>
          </p:cNvPr>
          <p:cNvSpPr/>
          <p:nvPr/>
        </p:nvSpPr>
        <p:spPr>
          <a:xfrm>
            <a:off x="1510720" y="3619500"/>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8" name="TextBox 13">
            <a:extLst>
              <a:ext uri="{FF2B5EF4-FFF2-40B4-BE49-F238E27FC236}">
                <a16:creationId xmlns:a16="http://schemas.microsoft.com/office/drawing/2014/main" id="{BB164630-8FE5-3756-2555-6453C449E7AD}"/>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nvGrpSpPr>
          <p:cNvPr id="20" name="Group 19">
            <a:extLst>
              <a:ext uri="{FF2B5EF4-FFF2-40B4-BE49-F238E27FC236}">
                <a16:creationId xmlns:a16="http://schemas.microsoft.com/office/drawing/2014/main" id="{D6C9892E-46B1-3455-E69D-B9331924BA14}"/>
              </a:ext>
            </a:extLst>
          </p:cNvPr>
          <p:cNvGrpSpPr/>
          <p:nvPr/>
        </p:nvGrpSpPr>
        <p:grpSpPr>
          <a:xfrm>
            <a:off x="0" y="9599693"/>
            <a:ext cx="18287999" cy="687306"/>
            <a:chOff x="0" y="9599693"/>
            <a:chExt cx="18287999" cy="687306"/>
          </a:xfrm>
        </p:grpSpPr>
        <p:grpSp>
          <p:nvGrpSpPr>
            <p:cNvPr id="21" name="Group 11">
              <a:extLst>
                <a:ext uri="{FF2B5EF4-FFF2-40B4-BE49-F238E27FC236}">
                  <a16:creationId xmlns:a16="http://schemas.microsoft.com/office/drawing/2014/main" id="{ADD0CFE7-58FB-4810-CF64-5919A6BF2D43}"/>
                </a:ext>
              </a:extLst>
            </p:cNvPr>
            <p:cNvGrpSpPr/>
            <p:nvPr/>
          </p:nvGrpSpPr>
          <p:grpSpPr>
            <a:xfrm>
              <a:off x="0" y="9599694"/>
              <a:ext cx="18287999" cy="687305"/>
              <a:chOff x="0" y="0"/>
              <a:chExt cx="5260714" cy="490218"/>
            </a:xfrm>
          </p:grpSpPr>
          <p:sp>
            <p:nvSpPr>
              <p:cNvPr id="28" name="Freeform 12">
                <a:extLst>
                  <a:ext uri="{FF2B5EF4-FFF2-40B4-BE49-F238E27FC236}">
                    <a16:creationId xmlns:a16="http://schemas.microsoft.com/office/drawing/2014/main" id="{4F733D56-DAF9-4CF6-F914-9C3CB81C85DE}"/>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9" name="TextBox 13">
                <a:extLst>
                  <a:ext uri="{FF2B5EF4-FFF2-40B4-BE49-F238E27FC236}">
                    <a16:creationId xmlns:a16="http://schemas.microsoft.com/office/drawing/2014/main" id="{824AD0E1-7140-7489-6D78-1808DB551245}"/>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12">
              <a:extLst>
                <a:ext uri="{FF2B5EF4-FFF2-40B4-BE49-F238E27FC236}">
                  <a16:creationId xmlns:a16="http://schemas.microsoft.com/office/drawing/2014/main" id="{AA5E33D1-52C8-CC7A-5F9F-06A4673C094B}"/>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7" name="TextBox 13">
              <a:extLst>
                <a:ext uri="{FF2B5EF4-FFF2-40B4-BE49-F238E27FC236}">
                  <a16:creationId xmlns:a16="http://schemas.microsoft.com/office/drawing/2014/main" id="{BFC955A2-16D8-ECD8-1F5C-166D3944675C}"/>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spTree>
    <p:extLst>
      <p:ext uri="{BB962C8B-B14F-4D97-AF65-F5344CB8AC3E}">
        <p14:creationId xmlns:p14="http://schemas.microsoft.com/office/powerpoint/2010/main" val="30028963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A6D05-452B-13AF-A0F7-7004521F7B1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8F2E4F3-B76C-EEA8-F9F8-D0E6E80C98A1}"/>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81EC82A3-2D9C-B315-055B-03EF3F0C9B12}"/>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E8A141A5-E818-763D-328A-030FC5A29EE5}"/>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DFF9050F-A48C-5460-B21E-039516163AD6}"/>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F7F97664-225B-1278-C65A-8C9376AE903F}"/>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E48516B9-2780-F6D9-AC12-E9CF4AE25E2F}"/>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9D50FACB-644F-224A-DF52-89AC6C6F6B27}"/>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1B879621-0F73-146F-D166-3AE754FF3B59}"/>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FD780967-740A-9545-3C15-4B8E91BC9765}"/>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28DF6D51-9EFC-0874-5E83-2945BB9FF237}"/>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3C96E2FB-A03F-81FD-7D36-4FD96B3DA474}"/>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B1165FA9-9173-2564-878C-F1D57740FDCA}"/>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2">
            <a:extLst>
              <a:ext uri="{FF2B5EF4-FFF2-40B4-BE49-F238E27FC236}">
                <a16:creationId xmlns:a16="http://schemas.microsoft.com/office/drawing/2014/main" id="{355376A9-7A35-877D-0920-671EFB3926C3}"/>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6D1E64FA-BC4E-24E8-CBFC-7B01E412824B}"/>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28338557-E30E-7CE0-E979-595B2C1025D3}"/>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B655DE8E-C98C-22C2-033C-01B838990AA9}"/>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F68533B0-B332-92D3-B1C6-9E890D39D131}"/>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https://www.usgs.gov/special-topics/water-science-school/science/aquifers-and-groundwater</a:t>
            </a:r>
          </a:p>
        </p:txBody>
      </p:sp>
      <p:sp>
        <p:nvSpPr>
          <p:cNvPr id="18" name="TextBox 13">
            <a:extLst>
              <a:ext uri="{FF2B5EF4-FFF2-40B4-BE49-F238E27FC236}">
                <a16:creationId xmlns:a16="http://schemas.microsoft.com/office/drawing/2014/main" id="{4A2B1439-B910-11AA-72A1-0C33B9FBA688}"/>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pic>
        <p:nvPicPr>
          <p:cNvPr id="3074" name="Picture 2" descr="Illustration depicting an artesian well and a flowing artesian well">
            <a:extLst>
              <a:ext uri="{FF2B5EF4-FFF2-40B4-BE49-F238E27FC236}">
                <a16:creationId xmlns:a16="http://schemas.microsoft.com/office/drawing/2014/main" id="{2F42AC8E-3058-B2CB-CF65-88C7728E60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37522" y="2224101"/>
            <a:ext cx="9389310" cy="5689922"/>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44232552-B055-264A-D485-CA91FE7F97C4}"/>
              </a:ext>
            </a:extLst>
          </p:cNvPr>
          <p:cNvSpPr txBox="1"/>
          <p:nvPr/>
        </p:nvSpPr>
        <p:spPr>
          <a:xfrm>
            <a:off x="1676400" y="2487005"/>
            <a:ext cx="5562600" cy="2585323"/>
          </a:xfrm>
          <a:prstGeom prst="rect">
            <a:avLst/>
          </a:prstGeom>
        </p:spPr>
        <p:txBody>
          <a:bodyPr wrap="square" lIns="0" tIns="0" rIns="0" bIns="0" rtlCol="0" anchor="t">
            <a:spAutoFit/>
          </a:bodyPr>
          <a:lstStyle/>
          <a:p>
            <a:pPr marL="457200" indent="-457200" algn="just">
              <a:buFont typeface="+mj-lt"/>
              <a:buAutoNum type="arabicPeriod"/>
            </a:pPr>
            <a:r>
              <a:rPr lang="en-US" sz="2400" b="1" dirty="0">
                <a:solidFill>
                  <a:srgbClr val="000000"/>
                </a:solidFill>
                <a:latin typeface="Nunito 1" panose="020B0604020202020204" charset="0"/>
                <a:ea typeface="Nunito 1 Bold"/>
                <a:cs typeface="Nunito 1 Bold"/>
                <a:sym typeface="Nunito 1 Bold"/>
              </a:rPr>
              <a:t>Confined aquifer </a:t>
            </a:r>
            <a:r>
              <a:rPr lang="en-US" sz="2400" dirty="0">
                <a:solidFill>
                  <a:srgbClr val="000000"/>
                </a:solidFill>
                <a:latin typeface="Nunito 1" panose="020B0604020202020204" charset="0"/>
                <a:ea typeface="Nunito 1 Bold"/>
                <a:cs typeface="Nunito 1 Bold"/>
                <a:sym typeface="Nunito 1 Bold"/>
              </a:rPr>
              <a:t>- aquifer below the land surface that is saturated with water. </a:t>
            </a:r>
          </a:p>
          <a:p>
            <a:pPr marL="800100" indent="-342900" algn="just">
              <a:lnSpc>
                <a:spcPct val="150000"/>
              </a:lnSpc>
              <a:buFont typeface="Arial" panose="020B0604020202020204" pitchFamily="34" charset="0"/>
              <a:buChar char="•"/>
            </a:pPr>
            <a:r>
              <a:rPr lang="en-US" sz="2400" dirty="0">
                <a:solidFill>
                  <a:srgbClr val="000000"/>
                </a:solidFill>
                <a:latin typeface="Nunito 1" panose="020B0604020202020204" charset="0"/>
                <a:ea typeface="Nunito 1 Bold"/>
                <a:cs typeface="Nunito 1 Bold"/>
                <a:sym typeface="Nunito 1 Bold"/>
              </a:rPr>
              <a:t>Flowing artesian well</a:t>
            </a:r>
          </a:p>
          <a:p>
            <a:pPr marL="800100" indent="-342900" algn="just">
              <a:lnSpc>
                <a:spcPct val="150000"/>
              </a:lnSpc>
              <a:buFont typeface="Arial" panose="020B0604020202020204" pitchFamily="34" charset="0"/>
              <a:buChar char="•"/>
            </a:pPr>
            <a:r>
              <a:rPr lang="en-US" sz="2400" dirty="0">
                <a:solidFill>
                  <a:srgbClr val="000000"/>
                </a:solidFill>
                <a:latin typeface="Nunito 1" panose="020B0604020202020204" charset="0"/>
                <a:ea typeface="Nunito 1 Bold"/>
                <a:cs typeface="Nunito 1 Bold"/>
                <a:sym typeface="Nunito 1 Bold"/>
              </a:rPr>
              <a:t>Non-flowing artesian well</a:t>
            </a:r>
          </a:p>
          <a:p>
            <a:pPr marL="457200" indent="-457200" algn="just">
              <a:buFont typeface="+mj-lt"/>
              <a:buAutoNum type="arabicPeriod"/>
            </a:pPr>
            <a:endParaRPr lang="en-US" sz="2400" dirty="0">
              <a:solidFill>
                <a:srgbClr val="000000"/>
              </a:solidFill>
              <a:latin typeface="Nunito 1" panose="020B0604020202020204" charset="0"/>
              <a:ea typeface="Nunito 1 Bold"/>
              <a:cs typeface="Nunito 1 Bold"/>
              <a:sym typeface="Nunito 1 Bold"/>
            </a:endParaRPr>
          </a:p>
        </p:txBody>
      </p:sp>
      <p:sp>
        <p:nvSpPr>
          <p:cNvPr id="15" name="TextBox 14">
            <a:extLst>
              <a:ext uri="{FF2B5EF4-FFF2-40B4-BE49-F238E27FC236}">
                <a16:creationId xmlns:a16="http://schemas.microsoft.com/office/drawing/2014/main" id="{8595624C-A93C-022C-DB24-9E75A35E63E5}"/>
              </a:ext>
            </a:extLst>
          </p:cNvPr>
          <p:cNvSpPr txBox="1"/>
          <p:nvPr/>
        </p:nvSpPr>
        <p:spPr>
          <a:xfrm>
            <a:off x="1676400" y="5075592"/>
            <a:ext cx="5562600" cy="3323987"/>
          </a:xfrm>
          <a:prstGeom prst="rect">
            <a:avLst/>
          </a:prstGeom>
        </p:spPr>
        <p:txBody>
          <a:bodyPr wrap="square" lIns="0" tIns="0" rIns="0" bIns="0" rtlCol="0" anchor="t">
            <a:spAutoFit/>
          </a:bodyPr>
          <a:lstStyle/>
          <a:p>
            <a:pPr marL="457200" indent="-457200" algn="just">
              <a:buFont typeface="+mj-lt"/>
              <a:buAutoNum type="arabicPeriod" startAt="2"/>
            </a:pPr>
            <a:r>
              <a:rPr lang="en-US" sz="2400" b="1" dirty="0">
                <a:solidFill>
                  <a:srgbClr val="000000"/>
                </a:solidFill>
                <a:latin typeface="Nunito 1" panose="020B0604020202020204" charset="0"/>
                <a:ea typeface="Nunito 1 Bold"/>
                <a:cs typeface="Nunito 1 Bold"/>
                <a:sym typeface="Nunito 1 Bold"/>
              </a:rPr>
              <a:t>Unconfined aquifer </a:t>
            </a:r>
            <a:r>
              <a:rPr lang="en-US" sz="2400" dirty="0">
                <a:solidFill>
                  <a:srgbClr val="000000"/>
                </a:solidFill>
                <a:latin typeface="Nunito 1" panose="020B0604020202020204" charset="0"/>
                <a:ea typeface="Nunito 1 Bold"/>
                <a:cs typeface="Nunito 1 Bold"/>
                <a:sym typeface="Nunito 1 Bold"/>
              </a:rPr>
              <a:t>- an aquifer whose upper water surface (water table) is at atmospheric pressure, and thus is able to rise and fall. </a:t>
            </a:r>
          </a:p>
          <a:p>
            <a:pPr marL="979488" indent="-457200" algn="just">
              <a:buFont typeface="+mj-lt"/>
              <a:buAutoNum type="arabicPeriod" startAt="2"/>
            </a:pPr>
            <a:endParaRPr lang="en-US" sz="2400" dirty="0">
              <a:solidFill>
                <a:srgbClr val="000000"/>
              </a:solidFill>
              <a:latin typeface="Nunito 1" panose="020B0604020202020204" charset="0"/>
              <a:ea typeface="Nunito 1 Bold"/>
              <a:cs typeface="Nunito 1 Bold"/>
              <a:sym typeface="Nunito 1 Bold"/>
            </a:endParaRPr>
          </a:p>
          <a:p>
            <a:pPr marL="979488" indent="-457200" algn="just">
              <a:lnSpc>
                <a:spcPct val="150000"/>
              </a:lnSpc>
              <a:buFont typeface="Arial" panose="020B0604020202020204" pitchFamily="34" charset="0"/>
              <a:buChar char="•"/>
            </a:pPr>
            <a:r>
              <a:rPr lang="en-US" sz="2400" dirty="0">
                <a:solidFill>
                  <a:srgbClr val="000000"/>
                </a:solidFill>
                <a:latin typeface="Nunito 1" panose="020B0604020202020204" charset="0"/>
                <a:ea typeface="Nunito 1 Bold"/>
                <a:cs typeface="Nunito 1 Bold"/>
                <a:sym typeface="Nunito 1 Bold"/>
              </a:rPr>
              <a:t>Water table well</a:t>
            </a:r>
          </a:p>
          <a:p>
            <a:pPr marL="979488" indent="-457200" algn="just">
              <a:lnSpc>
                <a:spcPct val="150000"/>
              </a:lnSpc>
              <a:buFont typeface="Arial" panose="020B0604020202020204" pitchFamily="34" charset="0"/>
              <a:buChar char="•"/>
            </a:pPr>
            <a:r>
              <a:rPr lang="en-US" sz="2400" dirty="0">
                <a:solidFill>
                  <a:srgbClr val="000000"/>
                </a:solidFill>
                <a:latin typeface="Nunito 1" panose="020B0604020202020204" charset="0"/>
                <a:ea typeface="Nunito 1 Bold"/>
                <a:cs typeface="Nunito 1 Bold"/>
                <a:sym typeface="Nunito 1 Bold"/>
              </a:rPr>
              <a:t>Perched Aquifer </a:t>
            </a:r>
          </a:p>
          <a:p>
            <a:pPr marL="457200" indent="-457200" algn="just">
              <a:buFont typeface="+mj-lt"/>
              <a:buAutoNum type="arabicPeriod"/>
            </a:pPr>
            <a:endParaRPr lang="en-US" sz="2400" dirty="0">
              <a:solidFill>
                <a:srgbClr val="000000"/>
              </a:solidFill>
              <a:latin typeface="Nunito 1" panose="020B0604020202020204" charset="0"/>
              <a:ea typeface="Nunito 1 Bold"/>
              <a:cs typeface="Nunito 1 Bold"/>
              <a:sym typeface="Nunito 1 Bold"/>
            </a:endParaRPr>
          </a:p>
        </p:txBody>
      </p:sp>
      <p:grpSp>
        <p:nvGrpSpPr>
          <p:cNvPr id="16" name="Group 15">
            <a:extLst>
              <a:ext uri="{FF2B5EF4-FFF2-40B4-BE49-F238E27FC236}">
                <a16:creationId xmlns:a16="http://schemas.microsoft.com/office/drawing/2014/main" id="{A0D8696A-420F-DAF0-4ECB-26E309EDE6A5}"/>
              </a:ext>
            </a:extLst>
          </p:cNvPr>
          <p:cNvGrpSpPr/>
          <p:nvPr/>
        </p:nvGrpSpPr>
        <p:grpSpPr>
          <a:xfrm>
            <a:off x="0" y="9599693"/>
            <a:ext cx="18287999" cy="687306"/>
            <a:chOff x="0" y="9599693"/>
            <a:chExt cx="18287999" cy="687306"/>
          </a:xfrm>
        </p:grpSpPr>
        <p:grpSp>
          <p:nvGrpSpPr>
            <p:cNvPr id="17" name="Group 11">
              <a:extLst>
                <a:ext uri="{FF2B5EF4-FFF2-40B4-BE49-F238E27FC236}">
                  <a16:creationId xmlns:a16="http://schemas.microsoft.com/office/drawing/2014/main" id="{2A61B242-61A0-1DE6-8FCD-A9C4A3C25517}"/>
                </a:ext>
              </a:extLst>
            </p:cNvPr>
            <p:cNvGrpSpPr/>
            <p:nvPr/>
          </p:nvGrpSpPr>
          <p:grpSpPr>
            <a:xfrm>
              <a:off x="0" y="9599694"/>
              <a:ext cx="18287999" cy="687305"/>
              <a:chOff x="0" y="0"/>
              <a:chExt cx="5260714" cy="490218"/>
            </a:xfrm>
          </p:grpSpPr>
          <p:sp>
            <p:nvSpPr>
              <p:cNvPr id="22" name="Freeform 12">
                <a:extLst>
                  <a:ext uri="{FF2B5EF4-FFF2-40B4-BE49-F238E27FC236}">
                    <a16:creationId xmlns:a16="http://schemas.microsoft.com/office/drawing/2014/main" id="{9C42EF0B-C4CB-D25C-F28E-7E97AAEDC536}"/>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7" name="TextBox 13">
                <a:extLst>
                  <a:ext uri="{FF2B5EF4-FFF2-40B4-BE49-F238E27FC236}">
                    <a16:creationId xmlns:a16="http://schemas.microsoft.com/office/drawing/2014/main" id="{53273AB5-4CBF-25D0-6DD6-3941108F59F1}"/>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0" name="TextBox 12">
              <a:extLst>
                <a:ext uri="{FF2B5EF4-FFF2-40B4-BE49-F238E27FC236}">
                  <a16:creationId xmlns:a16="http://schemas.microsoft.com/office/drawing/2014/main" id="{A2CC17A0-D4FF-D79E-FA23-51C2F45A7577}"/>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1" name="TextBox 13">
              <a:extLst>
                <a:ext uri="{FF2B5EF4-FFF2-40B4-BE49-F238E27FC236}">
                  <a16:creationId xmlns:a16="http://schemas.microsoft.com/office/drawing/2014/main" id="{44C626A4-9CB6-06C2-C22E-414486AED5C1}"/>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spTree>
    <p:extLst>
      <p:ext uri="{BB962C8B-B14F-4D97-AF65-F5344CB8AC3E}">
        <p14:creationId xmlns:p14="http://schemas.microsoft.com/office/powerpoint/2010/main" val="19497932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443BD-795E-4F10-9C97-2300339B714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AD25AE5-907E-F1CE-E790-AD8EBD483CD1}"/>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9873CFE0-15D7-60A8-7A94-AEB937C70471}"/>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4E84D476-D0C6-B092-17F4-2331F504BF83}"/>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C6B6782B-BF3C-DAF0-0B70-F85F5DE4119D}"/>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8C42922B-3992-F812-B106-1952FB1B96A7}"/>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95D78BE8-8890-93D2-6163-B5483B4317B3}"/>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4AFB2093-37AD-DBC8-B54E-A63D543AA1DD}"/>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B7E9AC4A-85DC-F9FC-45EC-001B7B2CDA56}"/>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C6B81208-84CA-33A6-0C02-75A472A75995}"/>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5F067423-A869-9E7D-A6B3-6650CFDB1CCD}"/>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0ECA86DF-01B8-D4ED-8BD3-0633CB0274C0}"/>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94D097A1-1527-F321-8CBF-4693232C81CD}"/>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2">
            <a:extLst>
              <a:ext uri="{FF2B5EF4-FFF2-40B4-BE49-F238E27FC236}">
                <a16:creationId xmlns:a16="http://schemas.microsoft.com/office/drawing/2014/main" id="{B8894AA6-174E-94A4-3194-CAB4C768353C}"/>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1A3211BA-4BD9-1295-F3F8-CDEB7B4897DC}"/>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87FBEA8F-4FB4-ED9E-DDD0-4A396E0EA54A}"/>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5E5F6BC4-B192-E587-2B33-BEDCAFDC9DA3}"/>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3">
            <a:extLst>
              <a:ext uri="{FF2B5EF4-FFF2-40B4-BE49-F238E27FC236}">
                <a16:creationId xmlns:a16="http://schemas.microsoft.com/office/drawing/2014/main" id="{7CC9DFDE-6856-21AE-CDA9-EAC44B81E9BB}"/>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sp>
        <p:nvSpPr>
          <p:cNvPr id="14" name="TextBox 13">
            <a:extLst>
              <a:ext uri="{FF2B5EF4-FFF2-40B4-BE49-F238E27FC236}">
                <a16:creationId xmlns:a16="http://schemas.microsoft.com/office/drawing/2014/main" id="{C427C505-154C-EC0B-2FD0-C06337FECDB5}"/>
              </a:ext>
            </a:extLst>
          </p:cNvPr>
          <p:cNvSpPr txBox="1"/>
          <p:nvPr/>
        </p:nvSpPr>
        <p:spPr>
          <a:xfrm>
            <a:off x="6362699" y="2045449"/>
            <a:ext cx="5562600" cy="369332"/>
          </a:xfrm>
          <a:prstGeom prst="rect">
            <a:avLst/>
          </a:prstGeom>
        </p:spPr>
        <p:txBody>
          <a:bodyPr wrap="square" lIns="0" tIns="0" rIns="0" bIns="0" rtlCol="0" anchor="t">
            <a:spAutoFit/>
          </a:bodyPr>
          <a:lstStyle/>
          <a:p>
            <a:pPr algn="ctr"/>
            <a:r>
              <a:rPr lang="en-US" sz="2400" b="1" dirty="0">
                <a:solidFill>
                  <a:srgbClr val="000000"/>
                </a:solidFill>
                <a:latin typeface="Nunito 1" panose="020B0604020202020204" charset="0"/>
                <a:ea typeface="Nunito 1 Bold"/>
                <a:cs typeface="Nunito 1 Bold"/>
                <a:sym typeface="Nunito 1 Bold"/>
              </a:rPr>
              <a:t>RELATED EQUATIONS</a:t>
            </a:r>
            <a:endParaRPr lang="en-US" sz="2400" dirty="0">
              <a:solidFill>
                <a:srgbClr val="000000"/>
              </a:solidFill>
              <a:latin typeface="Nunito 1" panose="020B0604020202020204" charset="0"/>
              <a:ea typeface="Nunito 1 Bold"/>
              <a:cs typeface="Nunito 1 Bold"/>
              <a:sym typeface="Nunito 1 Bold"/>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17BDB2D6-CB1B-481D-94BA-633AFEC6E9B0}"/>
                  </a:ext>
                </a:extLst>
              </p:cNvPr>
              <p:cNvSpPr txBox="1"/>
              <p:nvPr/>
            </p:nvSpPr>
            <p:spPr>
              <a:xfrm>
                <a:off x="1676399" y="2771040"/>
                <a:ext cx="14935200" cy="6371424"/>
              </a:xfrm>
              <a:prstGeom prst="rect">
                <a:avLst/>
              </a:prstGeom>
            </p:spPr>
            <p:txBody>
              <a:bodyPr wrap="square" lIns="0" tIns="0" rIns="0" bIns="0" rtlCol="0" anchor="t">
                <a:spAutoFit/>
              </a:bodyPr>
              <a:lstStyle/>
              <a:p>
                <a:pPr algn="just"/>
                <a:r>
                  <a:rPr lang="en-US" sz="2400" b="1" dirty="0">
                    <a:solidFill>
                      <a:srgbClr val="000000"/>
                    </a:solidFill>
                    <a:latin typeface="Nunito 1" panose="020B0604020202020204" charset="0"/>
                    <a:ea typeface="Nunito 1 Bold"/>
                    <a:cs typeface="Nunito 1 Bold"/>
                    <a:sym typeface="Nunito 1 Bold"/>
                  </a:rPr>
                  <a:t>1. Specific Yield</a:t>
                </a:r>
              </a:p>
              <a:p>
                <a:pPr algn="ctr"/>
                <a:r>
                  <a:rPr lang="en-US" sz="2400" dirty="0">
                    <a:solidFill>
                      <a:srgbClr val="000000"/>
                    </a:solidFill>
                    <a:latin typeface="Nunito 1" panose="020B0604020202020204" charset="0"/>
                    <a:ea typeface="Nunito 1 Bold"/>
                    <a:cs typeface="Nunito 1 Bold"/>
                    <a:sym typeface="Nunito 1 Bold"/>
                  </a:rPr>
                  <a:t>Sy = </a:t>
                </a:r>
                <a14:m>
                  <m:oMath xmlns:m="http://schemas.openxmlformats.org/officeDocument/2006/math">
                    <m:f>
                      <m:fPr>
                        <m:ctrlPr>
                          <a:rPr lang="en-US" sz="2400" i="1" smtClean="0">
                            <a:solidFill>
                              <a:srgbClr val="000000"/>
                            </a:solidFill>
                            <a:latin typeface="Cambria Math" panose="02040503050406030204" pitchFamily="18" charset="0"/>
                            <a:sym typeface="Nunito 1 Bold"/>
                          </a:rPr>
                        </m:ctrlPr>
                      </m:fPr>
                      <m:num>
                        <m:sSub>
                          <m:sSubPr>
                            <m:ctrlPr>
                              <a:rPr lang="en-US" sz="2400" i="1" smtClean="0">
                                <a:solidFill>
                                  <a:srgbClr val="000000"/>
                                </a:solidFill>
                                <a:latin typeface="Cambria Math" panose="02040503050406030204" pitchFamily="18" charset="0"/>
                                <a:sym typeface="Nunito 1 Bold"/>
                              </a:rPr>
                            </m:ctrlPr>
                          </m:sSubPr>
                          <m:e>
                            <m:r>
                              <m:rPr>
                                <m:nor/>
                              </m:rPr>
                              <a:rPr lang="en-PH" sz="2400" i="0" smtClean="0">
                                <a:solidFill>
                                  <a:srgbClr val="000000"/>
                                </a:solidFill>
                                <a:latin typeface="Nunito 1" panose="020B0604020202020204" charset="0"/>
                                <a:sym typeface="Nunito 1 Bold"/>
                              </a:rPr>
                              <m:t>w</m:t>
                            </m:r>
                          </m:e>
                          <m:sub>
                            <m:r>
                              <m:rPr>
                                <m:nor/>
                              </m:rPr>
                              <a:rPr lang="en-PH" sz="2400" i="0" smtClean="0">
                                <a:solidFill>
                                  <a:srgbClr val="000000"/>
                                </a:solidFill>
                                <a:latin typeface="Nunito 1" panose="020B0604020202020204" charset="0"/>
                                <a:sym typeface="Nunito 1 Bold"/>
                              </a:rPr>
                              <m:t>y</m:t>
                            </m:r>
                          </m:sub>
                        </m:sSub>
                      </m:num>
                      <m:den>
                        <m:sSub>
                          <m:sSubPr>
                            <m:ctrlPr>
                              <a:rPr lang="en-US" sz="2400" i="1" smtClean="0">
                                <a:solidFill>
                                  <a:srgbClr val="000000"/>
                                </a:solidFill>
                                <a:latin typeface="Cambria Math" panose="02040503050406030204" pitchFamily="18" charset="0"/>
                                <a:sym typeface="Nunito 1 Bold"/>
                              </a:rPr>
                            </m:ctrlPr>
                          </m:sSubPr>
                          <m:e>
                            <m:r>
                              <m:rPr>
                                <m:nor/>
                              </m:rPr>
                              <a:rPr lang="en-PH" sz="2400" i="0" smtClean="0">
                                <a:solidFill>
                                  <a:srgbClr val="000000"/>
                                </a:solidFill>
                                <a:latin typeface="Nunito 1" panose="020B0604020202020204" charset="0"/>
                                <a:sym typeface="Nunito 1 Bold"/>
                              </a:rPr>
                              <m:t>V</m:t>
                            </m:r>
                          </m:e>
                          <m:sub>
                            <m:r>
                              <m:rPr>
                                <m:nor/>
                              </m:rPr>
                              <a:rPr lang="en-PH" sz="2400" i="0" smtClean="0">
                                <a:solidFill>
                                  <a:srgbClr val="000000"/>
                                </a:solidFill>
                                <a:latin typeface="Nunito 1" panose="020B0604020202020204" charset="0"/>
                                <a:sym typeface="Nunito 1 Bold"/>
                              </a:rPr>
                              <m:t>T</m:t>
                            </m:r>
                          </m:sub>
                        </m:sSub>
                      </m:den>
                    </m:f>
                  </m:oMath>
                </a14:m>
                <a:endParaRPr lang="en-US" sz="2400" dirty="0">
                  <a:solidFill>
                    <a:srgbClr val="000000"/>
                  </a:solidFill>
                  <a:latin typeface="Nunito 1" panose="020B0604020202020204" charset="0"/>
                  <a:ea typeface="Nunito 1 Bold"/>
                  <a:cs typeface="Nunito 1 Bold"/>
                  <a:sym typeface="Nunito 1 Bold"/>
                </a:endParaRPr>
              </a:p>
              <a:p>
                <a:pPr algn="just"/>
                <a:r>
                  <a:rPr lang="en-US" sz="2400" b="1" dirty="0">
                    <a:solidFill>
                      <a:srgbClr val="000000"/>
                    </a:solidFill>
                    <a:latin typeface="Nunito 1" panose="020B0604020202020204" charset="0"/>
                    <a:ea typeface="Nunito 1 Bold"/>
                    <a:cs typeface="Nunito 1 Bold"/>
                    <a:sym typeface="Nunito 1 Bold"/>
                  </a:rPr>
                  <a:t>2. Specific Retention</a:t>
                </a:r>
              </a:p>
              <a:p>
                <a:pPr algn="ctr"/>
                <a:r>
                  <a:rPr lang="en-US" sz="2400" dirty="0">
                    <a:solidFill>
                      <a:srgbClr val="000000"/>
                    </a:solidFill>
                    <a:latin typeface="Nunito 1" panose="020B0604020202020204" charset="0"/>
                    <a:ea typeface="Nunito 1 Bold"/>
                    <a:cs typeface="Nunito 1 Bold"/>
                    <a:sym typeface="Nunito 1 Bold"/>
                  </a:rPr>
                  <a:t>Sr = </a:t>
                </a:r>
                <a14:m>
                  <m:oMath xmlns:m="http://schemas.openxmlformats.org/officeDocument/2006/math">
                    <m:f>
                      <m:fPr>
                        <m:ctrlPr>
                          <a:rPr lang="en-US" sz="2400" i="1" smtClean="0">
                            <a:solidFill>
                              <a:srgbClr val="000000"/>
                            </a:solidFill>
                            <a:latin typeface="Cambria Math" panose="02040503050406030204" pitchFamily="18" charset="0"/>
                            <a:sym typeface="Nunito 1 Bold"/>
                          </a:rPr>
                        </m:ctrlPr>
                      </m:fPr>
                      <m:num>
                        <m:sSub>
                          <m:sSubPr>
                            <m:ctrlPr>
                              <a:rPr lang="en-US" sz="2400" i="1" smtClean="0">
                                <a:solidFill>
                                  <a:srgbClr val="000000"/>
                                </a:solidFill>
                                <a:latin typeface="Cambria Math" panose="02040503050406030204" pitchFamily="18" charset="0"/>
                                <a:sym typeface="Nunito 1 Bold"/>
                              </a:rPr>
                            </m:ctrlPr>
                          </m:sSubPr>
                          <m:e>
                            <m:r>
                              <m:rPr>
                                <m:nor/>
                              </m:rPr>
                              <a:rPr lang="en-PH" sz="2400" i="0" smtClean="0">
                                <a:solidFill>
                                  <a:srgbClr val="000000"/>
                                </a:solidFill>
                                <a:latin typeface="Nunito 1" panose="020B0604020202020204" charset="0"/>
                                <a:sym typeface="Nunito 1 Bold"/>
                              </a:rPr>
                              <m:t>w</m:t>
                            </m:r>
                          </m:e>
                          <m:sub>
                            <m:r>
                              <m:rPr>
                                <m:nor/>
                              </m:rPr>
                              <a:rPr lang="en-PH" sz="2400" i="0" smtClean="0">
                                <a:solidFill>
                                  <a:srgbClr val="000000"/>
                                </a:solidFill>
                                <a:latin typeface="Nunito 1" panose="020B0604020202020204" charset="0"/>
                                <a:sym typeface="Nunito 1 Bold"/>
                              </a:rPr>
                              <m:t>r</m:t>
                            </m:r>
                          </m:sub>
                        </m:sSub>
                      </m:num>
                      <m:den>
                        <m:sSub>
                          <m:sSubPr>
                            <m:ctrlPr>
                              <a:rPr lang="en-US" sz="2400" i="1" smtClean="0">
                                <a:solidFill>
                                  <a:srgbClr val="000000"/>
                                </a:solidFill>
                                <a:latin typeface="Cambria Math" panose="02040503050406030204" pitchFamily="18" charset="0"/>
                                <a:sym typeface="Nunito 1 Bold"/>
                              </a:rPr>
                            </m:ctrlPr>
                          </m:sSubPr>
                          <m:e>
                            <m:r>
                              <m:rPr>
                                <m:nor/>
                              </m:rPr>
                              <a:rPr lang="en-PH" sz="2400" i="0" smtClean="0">
                                <a:solidFill>
                                  <a:srgbClr val="000000"/>
                                </a:solidFill>
                                <a:latin typeface="Nunito 1" panose="020B0604020202020204" charset="0"/>
                                <a:sym typeface="Nunito 1 Bold"/>
                              </a:rPr>
                              <m:t>V</m:t>
                            </m:r>
                          </m:e>
                          <m:sub>
                            <m:r>
                              <m:rPr>
                                <m:nor/>
                              </m:rPr>
                              <a:rPr lang="en-PH" sz="2400" i="0" smtClean="0">
                                <a:solidFill>
                                  <a:srgbClr val="000000"/>
                                </a:solidFill>
                                <a:latin typeface="Nunito 1" panose="020B0604020202020204" charset="0"/>
                                <a:sym typeface="Nunito 1 Bold"/>
                              </a:rPr>
                              <m:t>T</m:t>
                            </m:r>
                          </m:sub>
                        </m:sSub>
                      </m:den>
                    </m:f>
                  </m:oMath>
                </a14:m>
                <a:endParaRPr lang="en-US" sz="2400" b="1" dirty="0">
                  <a:solidFill>
                    <a:srgbClr val="000000"/>
                  </a:solidFill>
                  <a:latin typeface="Nunito 1" panose="020B0604020202020204" charset="0"/>
                  <a:ea typeface="Nunito 1 Bold"/>
                  <a:cs typeface="Nunito 1 Bold"/>
                  <a:sym typeface="Nunito 1 Bold"/>
                </a:endParaRPr>
              </a:p>
              <a:p>
                <a:pPr algn="just"/>
                <a:r>
                  <a:rPr lang="en-US" sz="2400" b="1" dirty="0">
                    <a:solidFill>
                      <a:srgbClr val="000000"/>
                    </a:solidFill>
                    <a:latin typeface="Nunito 1" panose="020B0604020202020204" charset="0"/>
                    <a:ea typeface="Nunito 1 Bold"/>
                    <a:cs typeface="Nunito 1 Bold"/>
                    <a:sym typeface="Nunito 1 Bold"/>
                  </a:rPr>
                  <a:t>3. Change in Groundwater Storage</a:t>
                </a:r>
              </a:p>
              <a:p>
                <a:pPr algn="just"/>
                <a:endParaRPr lang="en-US" sz="2400" b="1" dirty="0">
                  <a:solidFill>
                    <a:srgbClr val="000000"/>
                  </a:solidFill>
                  <a:latin typeface="Nunito 1" panose="020B0604020202020204" charset="0"/>
                  <a:ea typeface="Nunito 1 Bold"/>
                  <a:cs typeface="Nunito 1 Bold"/>
                  <a:sym typeface="Nunito 1 Bold"/>
                </a:endParaRPr>
              </a:p>
              <a:p>
                <a:pPr algn="ctr"/>
                <a14:m>
                  <m:oMath xmlns:m="http://schemas.openxmlformats.org/officeDocument/2006/math">
                    <m:r>
                      <m:rPr>
                        <m:nor/>
                      </m:rPr>
                      <a:rPr lang="en-US" sz="2400" i="0" smtClean="0">
                        <a:solidFill>
                          <a:srgbClr val="000000"/>
                        </a:solidFill>
                        <a:latin typeface="Cambria" panose="02040503050406030204" pitchFamily="18" charset="0"/>
                        <a:ea typeface="Cambria" panose="02040503050406030204" pitchFamily="18" charset="0"/>
                        <a:cs typeface="Nunito 1 Bold"/>
                        <a:sym typeface="Nunito 1 Bold"/>
                      </a:rPr>
                      <m:t>∆</m:t>
                    </m:r>
                    <m:r>
                      <m:rPr>
                        <m:nor/>
                      </m:rPr>
                      <a:rPr lang="en-PH" sz="2400" b="0" i="0" smtClean="0">
                        <a:solidFill>
                          <a:srgbClr val="000000"/>
                        </a:solidFill>
                        <a:latin typeface="Nunito 1" panose="020B0604020202020204" charset="0"/>
                        <a:ea typeface="Cambria Math" panose="02040503050406030204" pitchFamily="18" charset="0"/>
                        <a:cs typeface="Nunito 1 Bold"/>
                        <a:sym typeface="Nunito 1 Bold"/>
                      </a:rPr>
                      <m:t>GWS</m:t>
                    </m:r>
                    <m:r>
                      <m:rPr>
                        <m:nor/>
                      </m:rPr>
                      <a:rPr lang="en-PH" sz="2400" b="0" i="0" smtClean="0">
                        <a:solidFill>
                          <a:srgbClr val="000000"/>
                        </a:solidFill>
                        <a:latin typeface="Nunito 1" panose="020B0604020202020204" charset="0"/>
                        <a:ea typeface="Cambria Math" panose="02040503050406030204" pitchFamily="18" charset="0"/>
                        <a:cs typeface="Nunito 1 Bold"/>
                        <a:sym typeface="Nunito 1 Bold"/>
                      </a:rPr>
                      <m:t> = </m:t>
                    </m:r>
                    <m:sSub>
                      <m:sSubPr>
                        <m:ctrlPr>
                          <a:rPr lang="en-PH" sz="2400" b="0" i="1" smtClean="0">
                            <a:solidFill>
                              <a:srgbClr val="000000"/>
                            </a:solidFill>
                            <a:latin typeface="Cambria Math" panose="02040503050406030204" pitchFamily="18" charset="0"/>
                            <a:ea typeface="Cambria Math" panose="02040503050406030204" pitchFamily="18" charset="0"/>
                            <a:sym typeface="Nunito 1 Bold"/>
                          </a:rPr>
                        </m:ctrlPr>
                      </m:sSubPr>
                      <m:e>
                        <m:r>
                          <m:rPr>
                            <m:nor/>
                          </m:rPr>
                          <a:rPr lang="en-PH" sz="2400" b="0" i="0" smtClean="0">
                            <a:solidFill>
                              <a:srgbClr val="000000"/>
                            </a:solidFill>
                            <a:latin typeface="Nunito 1" panose="020B0604020202020204" charset="0"/>
                            <a:ea typeface="Cambria Math" panose="02040503050406030204" pitchFamily="18" charset="0"/>
                            <a:sym typeface="Nunito 1 Bold"/>
                          </a:rPr>
                          <m:t>A</m:t>
                        </m:r>
                      </m:e>
                      <m:sub>
                        <m:r>
                          <m:rPr>
                            <m:nor/>
                          </m:rPr>
                          <a:rPr lang="en-PH" sz="2400" b="0" i="0" smtClean="0">
                            <a:solidFill>
                              <a:srgbClr val="000000"/>
                            </a:solidFill>
                            <a:latin typeface="Nunito 1" panose="020B0604020202020204" charset="0"/>
                            <a:ea typeface="Cambria Math" panose="02040503050406030204" pitchFamily="18" charset="0"/>
                            <a:sym typeface="Nunito 1 Bold"/>
                          </a:rPr>
                          <m:t>aq</m:t>
                        </m:r>
                      </m:sub>
                    </m:sSub>
                    <m:r>
                      <m:rPr>
                        <m:nor/>
                      </m:rPr>
                      <a:rPr lang="en-PH" sz="2400" b="0" i="0" smtClean="0">
                        <a:solidFill>
                          <a:srgbClr val="000000"/>
                        </a:solidFill>
                        <a:latin typeface="Nunito 1" panose="020B0604020202020204" charset="0"/>
                        <a:ea typeface="Cambria Math" panose="02040503050406030204" pitchFamily="18" charset="0"/>
                        <a:sym typeface="Nunito 1 Bold"/>
                      </a:rPr>
                      <m:t> </m:t>
                    </m:r>
                    <m:r>
                      <m:rPr>
                        <m:nor/>
                      </m:rPr>
                      <a:rPr lang="en-PH" sz="2400" b="0" i="0" smtClean="0">
                        <a:solidFill>
                          <a:srgbClr val="000000"/>
                        </a:solidFill>
                        <a:latin typeface="Nunito 1" panose="020B0604020202020204" charset="0"/>
                        <a:ea typeface="Cambria Math" panose="02040503050406030204" pitchFamily="18" charset="0"/>
                        <a:sym typeface="Nunito 1 Bold"/>
                      </a:rPr>
                      <m:t>x</m:t>
                    </m:r>
                    <m:r>
                      <m:rPr>
                        <m:nor/>
                      </m:rPr>
                      <a:rPr lang="en-PH" sz="2400" b="0" i="0" smtClean="0">
                        <a:solidFill>
                          <a:srgbClr val="000000"/>
                        </a:solidFill>
                        <a:latin typeface="Nunito 1" panose="020B0604020202020204" charset="0"/>
                        <a:ea typeface="Cambria Math" panose="02040503050406030204" pitchFamily="18" charset="0"/>
                        <a:sym typeface="Nunito 1 Bold"/>
                      </a:rPr>
                      <m:t> </m:t>
                    </m:r>
                    <m:r>
                      <m:rPr>
                        <m:nor/>
                      </m:rPr>
                      <a:rPr lang="en-PH" sz="2400" b="0" i="0" smtClean="0">
                        <a:solidFill>
                          <a:srgbClr val="000000"/>
                        </a:solidFill>
                        <a:latin typeface="Cambria" panose="02040503050406030204" pitchFamily="18" charset="0"/>
                        <a:ea typeface="Cambria" panose="02040503050406030204" pitchFamily="18" charset="0"/>
                        <a:sym typeface="Nunito 1 Bold"/>
                      </a:rPr>
                      <m:t>∆</m:t>
                    </m:r>
                    <m:r>
                      <m:rPr>
                        <m:nor/>
                      </m:rPr>
                      <a:rPr lang="en-PH" sz="2400" b="0" i="0" smtClean="0">
                        <a:solidFill>
                          <a:srgbClr val="000000"/>
                        </a:solidFill>
                        <a:latin typeface="Nunito 1" panose="020B0604020202020204" charset="0"/>
                        <a:ea typeface="Cambria Math" panose="02040503050406030204" pitchFamily="18" charset="0"/>
                        <a:sym typeface="Nunito 1 Bold"/>
                      </a:rPr>
                      <m:t>GWT</m:t>
                    </m:r>
                    <m:r>
                      <m:rPr>
                        <m:nor/>
                      </m:rPr>
                      <a:rPr lang="en-PH" sz="2400" b="0" i="0" smtClean="0">
                        <a:solidFill>
                          <a:srgbClr val="000000"/>
                        </a:solidFill>
                        <a:latin typeface="Nunito 1" panose="020B0604020202020204" charset="0"/>
                        <a:ea typeface="Cambria Math" panose="02040503050406030204" pitchFamily="18" charset="0"/>
                        <a:sym typeface="Nunito 1 Bold"/>
                      </a:rPr>
                      <m:t> </m:t>
                    </m:r>
                    <m:r>
                      <m:rPr>
                        <m:nor/>
                      </m:rPr>
                      <a:rPr lang="en-PH" sz="2400" b="0" i="0" smtClean="0">
                        <a:solidFill>
                          <a:srgbClr val="000000"/>
                        </a:solidFill>
                        <a:latin typeface="Nunito 1" panose="020B0604020202020204" charset="0"/>
                        <a:ea typeface="Cambria Math" panose="02040503050406030204" pitchFamily="18" charset="0"/>
                        <a:sym typeface="Nunito 1 Bold"/>
                      </a:rPr>
                      <m:t>x</m:t>
                    </m:r>
                    <m:r>
                      <m:rPr>
                        <m:nor/>
                      </m:rPr>
                      <a:rPr lang="en-PH" sz="2400" b="0" i="0" smtClean="0">
                        <a:solidFill>
                          <a:srgbClr val="000000"/>
                        </a:solidFill>
                        <a:latin typeface="Nunito 1" panose="020B0604020202020204" charset="0"/>
                        <a:ea typeface="Cambria Math" panose="02040503050406030204" pitchFamily="18" charset="0"/>
                        <a:sym typeface="Nunito 1 Bold"/>
                      </a:rPr>
                      <m:t> </m:t>
                    </m:r>
                    <m:sSub>
                      <m:sSubPr>
                        <m:ctrlPr>
                          <a:rPr lang="en-PH" sz="2400" b="0" i="1" smtClean="0">
                            <a:solidFill>
                              <a:srgbClr val="000000"/>
                            </a:solidFill>
                            <a:latin typeface="Cambria Math" panose="02040503050406030204" pitchFamily="18" charset="0"/>
                            <a:ea typeface="Cambria Math" panose="02040503050406030204" pitchFamily="18" charset="0"/>
                            <a:sym typeface="Nunito 1 Bold"/>
                          </a:rPr>
                        </m:ctrlPr>
                      </m:sSubPr>
                      <m:e>
                        <m:r>
                          <m:rPr>
                            <m:nor/>
                          </m:rPr>
                          <a:rPr lang="en-PH" sz="2400" b="0" i="0" smtClean="0">
                            <a:solidFill>
                              <a:srgbClr val="000000"/>
                            </a:solidFill>
                            <a:latin typeface="Nunito 1" panose="020B0604020202020204" charset="0"/>
                            <a:ea typeface="Cambria Math" panose="02040503050406030204" pitchFamily="18" charset="0"/>
                            <a:sym typeface="Nunito 1 Bold"/>
                          </a:rPr>
                          <m:t>S</m:t>
                        </m:r>
                      </m:e>
                      <m:sub>
                        <m:r>
                          <m:rPr>
                            <m:nor/>
                          </m:rPr>
                          <a:rPr lang="en-PH" sz="2400" b="0" i="0" smtClean="0">
                            <a:solidFill>
                              <a:srgbClr val="000000"/>
                            </a:solidFill>
                            <a:latin typeface="Nunito 1" panose="020B0604020202020204" charset="0"/>
                            <a:ea typeface="Cambria Math" panose="02040503050406030204" pitchFamily="18" charset="0"/>
                            <a:sym typeface="Nunito 1 Bold"/>
                          </a:rPr>
                          <m:t>y</m:t>
                        </m:r>
                      </m:sub>
                    </m:sSub>
                  </m:oMath>
                </a14:m>
                <a:r>
                  <a:rPr lang="en-PH" sz="2400" b="0" dirty="0">
                    <a:solidFill>
                      <a:srgbClr val="000000"/>
                    </a:solidFill>
                    <a:latin typeface="Nunito 1" panose="020B0604020202020204" charset="0"/>
                    <a:ea typeface="Cambria Math" panose="02040503050406030204" pitchFamily="18" charset="0"/>
                    <a:sym typeface="Nunito 1 Bold"/>
                  </a:rPr>
                  <a:t>	(for unconfined aquifer)</a:t>
                </a:r>
              </a:p>
              <a:p>
                <a:pPr algn="ctr"/>
                <a14:m>
                  <m:oMath xmlns:m="http://schemas.openxmlformats.org/officeDocument/2006/math">
                    <m:r>
                      <m:rPr>
                        <m:nor/>
                      </m:rPr>
                      <a:rPr lang="en-US" sz="2400" i="0" smtClean="0">
                        <a:solidFill>
                          <a:srgbClr val="000000"/>
                        </a:solidFill>
                        <a:latin typeface="Cambria" panose="02040503050406030204" pitchFamily="18" charset="0"/>
                        <a:ea typeface="Cambria" panose="02040503050406030204" pitchFamily="18" charset="0"/>
                        <a:cs typeface="Nunito 1 Bold"/>
                        <a:sym typeface="Nunito 1 Bold"/>
                      </a:rPr>
                      <m:t>∆</m:t>
                    </m:r>
                    <m:r>
                      <m:rPr>
                        <m:nor/>
                      </m:rPr>
                      <a:rPr lang="en-PH" sz="2400" b="0" i="0" smtClean="0">
                        <a:solidFill>
                          <a:srgbClr val="000000"/>
                        </a:solidFill>
                        <a:latin typeface="Nunito 1" panose="020B0604020202020204" charset="0"/>
                        <a:ea typeface="Cambria Math" panose="02040503050406030204" pitchFamily="18" charset="0"/>
                        <a:cs typeface="Nunito 1 Bold"/>
                        <a:sym typeface="Nunito 1 Bold"/>
                      </a:rPr>
                      <m:t>GWS</m:t>
                    </m:r>
                    <m:r>
                      <m:rPr>
                        <m:nor/>
                      </m:rPr>
                      <a:rPr lang="en-PH" sz="2400" b="0" i="0" smtClean="0">
                        <a:solidFill>
                          <a:srgbClr val="000000"/>
                        </a:solidFill>
                        <a:latin typeface="Nunito 1" panose="020B0604020202020204" charset="0"/>
                        <a:ea typeface="Cambria Math" panose="02040503050406030204" pitchFamily="18" charset="0"/>
                        <a:cs typeface="Nunito 1 Bold"/>
                        <a:sym typeface="Nunito 1 Bold"/>
                      </a:rPr>
                      <m:t> = </m:t>
                    </m:r>
                    <m:sSub>
                      <m:sSubPr>
                        <m:ctrlPr>
                          <a:rPr lang="en-PH" sz="2400" b="0" i="1" smtClean="0">
                            <a:solidFill>
                              <a:srgbClr val="000000"/>
                            </a:solidFill>
                            <a:latin typeface="Cambria Math" panose="02040503050406030204" pitchFamily="18" charset="0"/>
                            <a:ea typeface="Cambria Math" panose="02040503050406030204" pitchFamily="18" charset="0"/>
                            <a:sym typeface="Nunito 1 Bold"/>
                          </a:rPr>
                        </m:ctrlPr>
                      </m:sSubPr>
                      <m:e>
                        <m:r>
                          <m:rPr>
                            <m:nor/>
                          </m:rPr>
                          <a:rPr lang="en-PH" sz="2400" b="0" i="0" smtClean="0">
                            <a:solidFill>
                              <a:srgbClr val="000000"/>
                            </a:solidFill>
                            <a:latin typeface="Nunito 1" panose="020B0604020202020204" charset="0"/>
                            <a:ea typeface="Cambria Math" panose="02040503050406030204" pitchFamily="18" charset="0"/>
                            <a:sym typeface="Nunito 1 Bold"/>
                          </a:rPr>
                          <m:t>A</m:t>
                        </m:r>
                      </m:e>
                      <m:sub>
                        <m:r>
                          <m:rPr>
                            <m:nor/>
                          </m:rPr>
                          <a:rPr lang="en-PH" sz="2400" b="0" i="0" smtClean="0">
                            <a:solidFill>
                              <a:srgbClr val="000000"/>
                            </a:solidFill>
                            <a:latin typeface="Nunito 1" panose="020B0604020202020204" charset="0"/>
                            <a:ea typeface="Cambria Math" panose="02040503050406030204" pitchFamily="18" charset="0"/>
                            <a:sym typeface="Nunito 1 Bold"/>
                          </a:rPr>
                          <m:t>aq</m:t>
                        </m:r>
                      </m:sub>
                    </m:sSub>
                    <m:r>
                      <m:rPr>
                        <m:nor/>
                      </m:rPr>
                      <a:rPr lang="en-PH" sz="2400" b="0" i="0" smtClean="0">
                        <a:solidFill>
                          <a:srgbClr val="000000"/>
                        </a:solidFill>
                        <a:latin typeface="Nunito 1" panose="020B0604020202020204" charset="0"/>
                        <a:ea typeface="Cambria Math" panose="02040503050406030204" pitchFamily="18" charset="0"/>
                        <a:sym typeface="Nunito 1 Bold"/>
                      </a:rPr>
                      <m:t> </m:t>
                    </m:r>
                    <m:r>
                      <m:rPr>
                        <m:nor/>
                      </m:rPr>
                      <a:rPr lang="en-PH" sz="2400" b="0" i="0" smtClean="0">
                        <a:solidFill>
                          <a:srgbClr val="000000"/>
                        </a:solidFill>
                        <a:latin typeface="Nunito 1" panose="020B0604020202020204" charset="0"/>
                        <a:ea typeface="Cambria Math" panose="02040503050406030204" pitchFamily="18" charset="0"/>
                        <a:sym typeface="Nunito 1 Bold"/>
                      </a:rPr>
                      <m:t>x</m:t>
                    </m:r>
                    <m:r>
                      <m:rPr>
                        <m:nor/>
                      </m:rPr>
                      <a:rPr lang="en-PH" sz="2400" b="0" i="0" smtClean="0">
                        <a:solidFill>
                          <a:srgbClr val="000000"/>
                        </a:solidFill>
                        <a:latin typeface="Nunito 1" panose="020B0604020202020204" charset="0"/>
                        <a:ea typeface="Cambria Math" panose="02040503050406030204" pitchFamily="18" charset="0"/>
                        <a:sym typeface="Nunito 1 Bold"/>
                      </a:rPr>
                      <m:t> </m:t>
                    </m:r>
                    <m:r>
                      <m:rPr>
                        <m:nor/>
                      </m:rPr>
                      <a:rPr lang="en-PH" sz="2400" b="0" i="0" smtClean="0">
                        <a:solidFill>
                          <a:srgbClr val="000000"/>
                        </a:solidFill>
                        <a:latin typeface="Nunito 1" panose="020B0604020202020204" charset="0"/>
                        <a:ea typeface="Cambria" panose="02040503050406030204" pitchFamily="18" charset="0"/>
                        <a:sym typeface="Nunito 1 Bold"/>
                      </a:rPr>
                      <m:t>ps</m:t>
                    </m:r>
                    <m:r>
                      <m:rPr>
                        <m:nor/>
                      </m:rPr>
                      <a:rPr lang="en-PH" sz="2400" b="0" i="0" smtClean="0">
                        <a:solidFill>
                          <a:srgbClr val="000000"/>
                        </a:solidFill>
                        <a:latin typeface="Nunito 1" panose="020B0604020202020204" charset="0"/>
                        <a:ea typeface="Cambria" panose="02040503050406030204" pitchFamily="18" charset="0"/>
                        <a:sym typeface="Nunito 1 Bold"/>
                      </a:rPr>
                      <m:t> </m:t>
                    </m:r>
                    <m:r>
                      <m:rPr>
                        <m:nor/>
                      </m:rPr>
                      <a:rPr lang="en-PH" sz="2400" b="0" i="0" smtClean="0">
                        <a:solidFill>
                          <a:srgbClr val="000000"/>
                        </a:solidFill>
                        <a:latin typeface="Nunito 1" panose="020B0604020202020204" charset="0"/>
                        <a:ea typeface="Cambria" panose="02040503050406030204" pitchFamily="18" charset="0"/>
                        <a:sym typeface="Nunito 1 Bold"/>
                      </a:rPr>
                      <m:t>x</m:t>
                    </m:r>
                    <m:r>
                      <m:rPr>
                        <m:nor/>
                      </m:rPr>
                      <a:rPr lang="en-PH" sz="2400" b="0" i="0" smtClean="0">
                        <a:solidFill>
                          <a:srgbClr val="000000"/>
                        </a:solidFill>
                        <a:latin typeface="Nunito 1" panose="020B0604020202020204" charset="0"/>
                        <a:ea typeface="Cambria" panose="02040503050406030204" pitchFamily="18" charset="0"/>
                        <a:sym typeface="Nunito 1 Bold"/>
                      </a:rPr>
                      <m:t> </m:t>
                    </m:r>
                    <m:r>
                      <m:rPr>
                        <m:nor/>
                      </m:rPr>
                      <a:rPr lang="en-PH" sz="2400" b="0" i="0" smtClean="0">
                        <a:solidFill>
                          <a:srgbClr val="000000"/>
                        </a:solidFill>
                        <a:latin typeface="Nunito 1" panose="020B0604020202020204" charset="0"/>
                        <a:ea typeface="Cambria" panose="02040503050406030204" pitchFamily="18" charset="0"/>
                        <a:sym typeface="Nunito 1 Bold"/>
                      </a:rPr>
                      <m:t>S</m:t>
                    </m:r>
                  </m:oMath>
                </a14:m>
                <a:r>
                  <a:rPr lang="en-US" sz="2400" dirty="0">
                    <a:solidFill>
                      <a:srgbClr val="000000"/>
                    </a:solidFill>
                    <a:latin typeface="Nunito 1" panose="020B0604020202020204" charset="0"/>
                    <a:ea typeface="Nunito 1 Bold"/>
                    <a:cs typeface="Nunito 1 Bold"/>
                    <a:sym typeface="Nunito 1 Bold"/>
                  </a:rPr>
                  <a:t>	             </a:t>
                </a:r>
                <a:r>
                  <a:rPr lang="en-PH" sz="2400" dirty="0">
                    <a:solidFill>
                      <a:srgbClr val="000000"/>
                    </a:solidFill>
                    <a:latin typeface="Nunito 1" panose="020B0604020202020204" charset="0"/>
                    <a:ea typeface="Cambria Math" panose="02040503050406030204" pitchFamily="18" charset="0"/>
                    <a:sym typeface="Nunito 1 Bold"/>
                  </a:rPr>
                  <a:t> (for confined aquifer)</a:t>
                </a:r>
              </a:p>
              <a:p>
                <a:pPr algn="ctr"/>
                <a:endParaRPr lang="en-PH" sz="2400" dirty="0">
                  <a:solidFill>
                    <a:srgbClr val="000000"/>
                  </a:solidFill>
                  <a:latin typeface="Nunito 1" panose="020B0604020202020204" charset="0"/>
                  <a:ea typeface="Cambria Math" panose="02040503050406030204" pitchFamily="18" charset="0"/>
                  <a:cs typeface="Nunito 1 Bold"/>
                  <a:sym typeface="Nunito 1 Bold"/>
                </a:endParaRPr>
              </a:p>
              <a:p>
                <a:pPr algn="just">
                  <a:tabLst>
                    <a:tab pos="4221163" algn="l"/>
                  </a:tabLst>
                </a:pPr>
                <a:r>
                  <a:rPr lang="en-PH" sz="2400" dirty="0">
                    <a:solidFill>
                      <a:srgbClr val="000000"/>
                    </a:solidFill>
                    <a:latin typeface="Nunito 1" panose="020B0604020202020204" charset="0"/>
                    <a:ea typeface="Cambria Math" panose="02040503050406030204" pitchFamily="18" charset="0"/>
                    <a:cs typeface="Nunito 1 Bold"/>
                    <a:sym typeface="Nunito 1 Bold"/>
                  </a:rPr>
                  <a:t>Where: 	</a:t>
                </a:r>
                <a14:m>
                  <m:oMath xmlns:m="http://schemas.openxmlformats.org/officeDocument/2006/math">
                    <m:r>
                      <m:rPr>
                        <m:nor/>
                      </m:rPr>
                      <a:rPr lang="en-US" i="0" smtClean="0">
                        <a:solidFill>
                          <a:srgbClr val="000000"/>
                        </a:solidFill>
                        <a:latin typeface="Cambria" panose="02040503050406030204" pitchFamily="18" charset="0"/>
                        <a:ea typeface="Cambria" panose="02040503050406030204" pitchFamily="18" charset="0"/>
                        <a:cs typeface="Nunito 1 Bold"/>
                        <a:sym typeface="Nunito 1 Bold"/>
                      </a:rPr>
                      <m:t>∆</m:t>
                    </m:r>
                    <m:r>
                      <m:rPr>
                        <m:nor/>
                      </m:rPr>
                      <a:rPr lang="en-PH" b="0" i="0" smtClean="0">
                        <a:solidFill>
                          <a:srgbClr val="000000"/>
                        </a:solidFill>
                        <a:latin typeface="Nunito 1" panose="020B0604020202020204" charset="0"/>
                        <a:ea typeface="Cambria Math" panose="02040503050406030204" pitchFamily="18" charset="0"/>
                        <a:cs typeface="Nunito 1 Bold"/>
                        <a:sym typeface="Nunito 1 Bold"/>
                      </a:rPr>
                      <m:t>GWS</m:t>
                    </m:r>
                  </m:oMath>
                </a14:m>
                <a:r>
                  <a:rPr lang="en-US" dirty="0">
                    <a:solidFill>
                      <a:srgbClr val="000000"/>
                    </a:solidFill>
                    <a:latin typeface="Nunito 1" panose="020B0604020202020204" charset="0"/>
                    <a:ea typeface="Nunito 1 Bold"/>
                    <a:cs typeface="Nunito 1 Bold"/>
                    <a:sym typeface="Nunito 1 Bold"/>
                  </a:rPr>
                  <a:t> – change in groundwater storage, m3</a:t>
                </a:r>
              </a:p>
              <a:p>
                <a:pPr marL="4221163" lvl="8">
                  <a:tabLst>
                    <a:tab pos="4572000" algn="l"/>
                  </a:tabLst>
                </a:pPr>
                <a:r>
                  <a:rPr lang="en-US" dirty="0" err="1">
                    <a:solidFill>
                      <a:srgbClr val="000000"/>
                    </a:solidFill>
                    <a:latin typeface="Nunito 1" panose="020B0604020202020204" charset="0"/>
                    <a:ea typeface="Nunito 1 Bold"/>
                    <a:cs typeface="Nunito 1 Bold"/>
                    <a:sym typeface="Nunito 1 Bold"/>
                  </a:rPr>
                  <a:t>Aaq</a:t>
                </a:r>
                <a:r>
                  <a:rPr lang="en-US" dirty="0">
                    <a:solidFill>
                      <a:srgbClr val="000000"/>
                    </a:solidFill>
                    <a:latin typeface="Nunito 1" panose="020B0604020202020204" charset="0"/>
                    <a:ea typeface="Nunito 1 Bold"/>
                    <a:cs typeface="Nunito 1 Bold"/>
                    <a:sym typeface="Nunito 1 Bold"/>
                  </a:rPr>
                  <a:t> – area of the aquifer, m2</a:t>
                </a:r>
              </a:p>
              <a:p>
                <a:pPr marL="4221163" lvl="8">
                  <a:tabLst>
                    <a:tab pos="4572000" algn="l"/>
                  </a:tabLst>
                </a:pPr>
                <a14:m>
                  <m:oMath xmlns:m="http://schemas.openxmlformats.org/officeDocument/2006/math">
                    <m:r>
                      <m:rPr>
                        <m:nor/>
                      </m:rPr>
                      <a:rPr lang="en-US" i="0" smtClean="0">
                        <a:solidFill>
                          <a:srgbClr val="000000"/>
                        </a:solidFill>
                        <a:latin typeface="Cambria" panose="02040503050406030204" pitchFamily="18" charset="0"/>
                        <a:ea typeface="Cambria" panose="02040503050406030204" pitchFamily="18" charset="0"/>
                        <a:cs typeface="Nunito 1 Bold"/>
                        <a:sym typeface="Nunito 1 Bold"/>
                      </a:rPr>
                      <m:t>∆</m:t>
                    </m:r>
                    <m:r>
                      <m:rPr>
                        <m:nor/>
                      </m:rPr>
                      <a:rPr lang="en-PH" b="0" i="0" smtClean="0">
                        <a:solidFill>
                          <a:srgbClr val="000000"/>
                        </a:solidFill>
                        <a:latin typeface="Nunito 1" panose="020B0604020202020204" charset="0"/>
                        <a:ea typeface="Cambria Math" panose="02040503050406030204" pitchFamily="18" charset="0"/>
                        <a:cs typeface="Nunito 1 Bold"/>
                        <a:sym typeface="Nunito 1 Bold"/>
                      </a:rPr>
                      <m:t>GWT</m:t>
                    </m:r>
                  </m:oMath>
                </a14:m>
                <a:r>
                  <a:rPr lang="en-US" dirty="0">
                    <a:solidFill>
                      <a:srgbClr val="000000"/>
                    </a:solidFill>
                    <a:latin typeface="Nunito 1" panose="020B0604020202020204" charset="0"/>
                    <a:ea typeface="Nunito 1 Bold"/>
                    <a:cs typeface="Nunito 1 Bold"/>
                    <a:sym typeface="Nunito 1 Bold"/>
                  </a:rPr>
                  <a:t> – groundwater table fluctuation or drawdown, m</a:t>
                </a:r>
              </a:p>
              <a:p>
                <a:pPr marL="4221163" lvl="8">
                  <a:tabLst>
                    <a:tab pos="4572000" algn="l"/>
                  </a:tabLst>
                </a:pPr>
                <a:r>
                  <a:rPr lang="en-US" dirty="0">
                    <a:solidFill>
                      <a:srgbClr val="000000"/>
                    </a:solidFill>
                    <a:latin typeface="Nunito 1" panose="020B0604020202020204" charset="0"/>
                    <a:ea typeface="Nunito 1 Bold"/>
                    <a:cs typeface="Nunito 1 Bold"/>
                    <a:sym typeface="Nunito 1 Bold"/>
                  </a:rPr>
                  <a:t>Ps – piezometric surface fluctuation</a:t>
                </a:r>
              </a:p>
              <a:p>
                <a:pPr marL="4221163" lvl="8">
                  <a:tabLst>
                    <a:tab pos="4572000" algn="l"/>
                  </a:tabLst>
                </a:pPr>
                <a:r>
                  <a:rPr lang="en-US" dirty="0">
                    <a:solidFill>
                      <a:srgbClr val="000000"/>
                    </a:solidFill>
                    <a:latin typeface="Nunito 1" panose="020B0604020202020204" charset="0"/>
                    <a:ea typeface="Nunito 1 Bold"/>
                    <a:cs typeface="Nunito 1 Bold"/>
                    <a:sym typeface="Nunito 1 Bold"/>
                  </a:rPr>
                  <a:t>Sy – specific yield</a:t>
                </a:r>
              </a:p>
              <a:p>
                <a:pPr marL="4221163" lvl="8">
                  <a:tabLst>
                    <a:tab pos="4572000" algn="l"/>
                  </a:tabLst>
                </a:pPr>
                <a:r>
                  <a:rPr lang="en-US" dirty="0">
                    <a:solidFill>
                      <a:srgbClr val="000000"/>
                    </a:solidFill>
                    <a:latin typeface="Nunito 1" panose="020B0604020202020204" charset="0"/>
                    <a:ea typeface="Nunito 1 Bold"/>
                    <a:cs typeface="Nunito 1 Bold"/>
                    <a:sym typeface="Nunito 1 Bold"/>
                  </a:rPr>
                  <a:t>S – storage coefficient</a:t>
                </a:r>
              </a:p>
              <a:p>
                <a:pPr algn="ctr"/>
                <a:endParaRPr lang="en-US" sz="2400" dirty="0">
                  <a:solidFill>
                    <a:srgbClr val="000000"/>
                  </a:solidFill>
                  <a:latin typeface="Nunito 1" panose="020B0604020202020204" charset="0"/>
                  <a:ea typeface="Nunito 1 Bold"/>
                  <a:cs typeface="Nunito 1 Bold"/>
                  <a:sym typeface="Nunito 1 Bold"/>
                </a:endParaRPr>
              </a:p>
            </p:txBody>
          </p:sp>
        </mc:Choice>
        <mc:Fallback xmlns="">
          <p:sp>
            <p:nvSpPr>
              <p:cNvPr id="15" name="TextBox 14">
                <a:extLst>
                  <a:ext uri="{FF2B5EF4-FFF2-40B4-BE49-F238E27FC236}">
                    <a16:creationId xmlns:a16="http://schemas.microsoft.com/office/drawing/2014/main" id="{17BDB2D6-CB1B-481D-94BA-633AFEC6E9B0}"/>
                  </a:ext>
                </a:extLst>
              </p:cNvPr>
              <p:cNvSpPr txBox="1">
                <a:spLocks noRot="1" noChangeAspect="1" noMove="1" noResize="1" noEditPoints="1" noAdjustHandles="1" noChangeArrowheads="1" noChangeShapeType="1" noTextEdit="1"/>
              </p:cNvSpPr>
              <p:nvPr/>
            </p:nvSpPr>
            <p:spPr>
              <a:xfrm>
                <a:off x="1676399" y="2771040"/>
                <a:ext cx="14935200" cy="6371424"/>
              </a:xfrm>
              <a:prstGeom prst="rect">
                <a:avLst/>
              </a:prstGeom>
              <a:blipFill>
                <a:blip r:embed="rId3"/>
                <a:stretch>
                  <a:fillRect l="-1224" t="-1531"/>
                </a:stretch>
              </a:blipFill>
            </p:spPr>
            <p:txBody>
              <a:bodyPr/>
              <a:lstStyle/>
              <a:p>
                <a:r>
                  <a:rPr lang="en-PH">
                    <a:noFill/>
                  </a:rPr>
                  <a:t> </a:t>
                </a:r>
              </a:p>
            </p:txBody>
          </p:sp>
        </mc:Fallback>
      </mc:AlternateContent>
      <p:grpSp>
        <p:nvGrpSpPr>
          <p:cNvPr id="22" name="Group 21">
            <a:extLst>
              <a:ext uri="{FF2B5EF4-FFF2-40B4-BE49-F238E27FC236}">
                <a16:creationId xmlns:a16="http://schemas.microsoft.com/office/drawing/2014/main" id="{B83B3977-C632-536B-040C-C70C38D4329D}"/>
              </a:ext>
            </a:extLst>
          </p:cNvPr>
          <p:cNvGrpSpPr/>
          <p:nvPr/>
        </p:nvGrpSpPr>
        <p:grpSpPr>
          <a:xfrm>
            <a:off x="9902952" y="3467100"/>
            <a:ext cx="5317998" cy="1277190"/>
            <a:chOff x="9902952" y="3467100"/>
            <a:chExt cx="5317998" cy="1277190"/>
          </a:xfrm>
        </p:grpSpPr>
        <p:sp>
          <p:nvSpPr>
            <p:cNvPr id="16" name="TextBox 15">
              <a:extLst>
                <a:ext uri="{FF2B5EF4-FFF2-40B4-BE49-F238E27FC236}">
                  <a16:creationId xmlns:a16="http://schemas.microsoft.com/office/drawing/2014/main" id="{3A08B74B-F011-5595-2375-6A21923932A9}"/>
                </a:ext>
              </a:extLst>
            </p:cNvPr>
            <p:cNvSpPr txBox="1"/>
            <p:nvPr/>
          </p:nvSpPr>
          <p:spPr>
            <a:xfrm>
              <a:off x="12172949" y="3924300"/>
              <a:ext cx="3048001" cy="369332"/>
            </a:xfrm>
            <a:prstGeom prst="rect">
              <a:avLst/>
            </a:prstGeom>
          </p:spPr>
          <p:txBody>
            <a:bodyPr wrap="square" lIns="0" tIns="0" rIns="0" bIns="0" rtlCol="0" anchor="t">
              <a:spAutoFit/>
            </a:bodyPr>
            <a:lstStyle/>
            <a:p>
              <a:pPr algn="ctr"/>
              <a:r>
                <a:rPr lang="en-US" sz="2400" dirty="0">
                  <a:solidFill>
                    <a:srgbClr val="000000"/>
                  </a:solidFill>
                  <a:latin typeface="Nunito 1" panose="020B0604020202020204" charset="0"/>
                  <a:ea typeface="Nunito 1 Bold"/>
                  <a:cs typeface="Nunito 1 Bold"/>
                  <a:sym typeface="Nunito 1 Bold"/>
                </a:rPr>
                <a:t>Porosity, n = Sy + Sr</a:t>
              </a:r>
            </a:p>
          </p:txBody>
        </p:sp>
        <p:cxnSp>
          <p:nvCxnSpPr>
            <p:cNvPr id="20" name="Straight Arrow Connector 19">
              <a:extLst>
                <a:ext uri="{FF2B5EF4-FFF2-40B4-BE49-F238E27FC236}">
                  <a16:creationId xmlns:a16="http://schemas.microsoft.com/office/drawing/2014/main" id="{5051EF17-6D49-F772-46A1-61F2E2975989}"/>
                </a:ext>
              </a:extLst>
            </p:cNvPr>
            <p:cNvCxnSpPr/>
            <p:nvPr/>
          </p:nvCxnSpPr>
          <p:spPr>
            <a:xfrm>
              <a:off x="9906000" y="3467100"/>
              <a:ext cx="2209800" cy="609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3AE2B118-55D0-3655-7A68-5F2FD0621FF2}"/>
                </a:ext>
              </a:extLst>
            </p:cNvPr>
            <p:cNvCxnSpPr>
              <a:cxnSpLocks/>
            </p:cNvCxnSpPr>
            <p:nvPr/>
          </p:nvCxnSpPr>
          <p:spPr>
            <a:xfrm rot="10800000" flipH="1">
              <a:off x="9902952" y="4134690"/>
              <a:ext cx="2209800" cy="609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67F87AD5-8AA3-0693-8AD7-FE58AF09A494}"/>
              </a:ext>
            </a:extLst>
          </p:cNvPr>
          <p:cNvGrpSpPr/>
          <p:nvPr/>
        </p:nvGrpSpPr>
        <p:grpSpPr>
          <a:xfrm>
            <a:off x="0" y="9599693"/>
            <a:ext cx="18287999" cy="687306"/>
            <a:chOff x="0" y="9599693"/>
            <a:chExt cx="18287999" cy="687306"/>
          </a:xfrm>
        </p:grpSpPr>
        <p:grpSp>
          <p:nvGrpSpPr>
            <p:cNvPr id="26" name="Group 11">
              <a:extLst>
                <a:ext uri="{FF2B5EF4-FFF2-40B4-BE49-F238E27FC236}">
                  <a16:creationId xmlns:a16="http://schemas.microsoft.com/office/drawing/2014/main" id="{455AEE3A-DFB3-BC3F-8730-D8E645347EAB}"/>
                </a:ext>
              </a:extLst>
            </p:cNvPr>
            <p:cNvGrpSpPr/>
            <p:nvPr/>
          </p:nvGrpSpPr>
          <p:grpSpPr>
            <a:xfrm>
              <a:off x="0" y="9599694"/>
              <a:ext cx="18287999" cy="687305"/>
              <a:chOff x="0" y="0"/>
              <a:chExt cx="5260714" cy="490218"/>
            </a:xfrm>
          </p:grpSpPr>
          <p:sp>
            <p:nvSpPr>
              <p:cNvPr id="29" name="Freeform 12">
                <a:extLst>
                  <a:ext uri="{FF2B5EF4-FFF2-40B4-BE49-F238E27FC236}">
                    <a16:creationId xmlns:a16="http://schemas.microsoft.com/office/drawing/2014/main" id="{D3D938B4-D55D-4539-8B9C-0EAF1FD8A6C9}"/>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30" name="TextBox 13">
                <a:extLst>
                  <a:ext uri="{FF2B5EF4-FFF2-40B4-BE49-F238E27FC236}">
                    <a16:creationId xmlns:a16="http://schemas.microsoft.com/office/drawing/2014/main" id="{0C73B05C-4D85-582F-5842-17E87C739CEA}"/>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7" name="TextBox 12">
              <a:extLst>
                <a:ext uri="{FF2B5EF4-FFF2-40B4-BE49-F238E27FC236}">
                  <a16:creationId xmlns:a16="http://schemas.microsoft.com/office/drawing/2014/main" id="{FA3AB7FB-A6CF-5260-68FB-6CA67D1F5594}"/>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8" name="TextBox 13">
              <a:extLst>
                <a:ext uri="{FF2B5EF4-FFF2-40B4-BE49-F238E27FC236}">
                  <a16:creationId xmlns:a16="http://schemas.microsoft.com/office/drawing/2014/main" id="{2316D792-9E48-4AA0-B2DE-4C2F08C1B78A}"/>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spTree>
    <p:extLst>
      <p:ext uri="{BB962C8B-B14F-4D97-AF65-F5344CB8AC3E}">
        <p14:creationId xmlns:p14="http://schemas.microsoft.com/office/powerpoint/2010/main" val="3807907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602B7-5E56-3108-B864-0877C66E95C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FBF8E40-E7F9-B866-414F-A382203AB258}"/>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7F55DBB6-8AE9-F7EA-EA25-3B36B4D31BBA}"/>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2B313857-1F6B-876F-C4E1-05EB65BE7AC7}"/>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39722632-50A1-1AA0-8460-D2338E2F1725}"/>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3A9BEF81-AD35-7AA0-E059-C849E7657C0D}"/>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20DB8CC9-454B-551B-BB1C-9F276F1BA9D6}"/>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FE98C077-3741-C5F5-165B-271D92C27D51}"/>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CD909E01-A58B-8052-C5C9-D02BA54C3013}"/>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929DB1AA-6D88-4E69-2CC7-CB692A0B9562}"/>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5000284D-C439-C71C-40D6-708841CDB2B7}"/>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59AF4E2B-B164-D419-A49B-D65529C4746C}"/>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9EB04380-96A8-0994-8DBF-AAD47100D625}"/>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2DF87C77-F076-8DE6-5941-CB07AD7E3D6A}"/>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9</a:t>
            </a:r>
          </a:p>
        </p:txBody>
      </p:sp>
      <p:sp>
        <p:nvSpPr>
          <p:cNvPr id="15" name="TextBox 15">
            <a:extLst>
              <a:ext uri="{FF2B5EF4-FFF2-40B4-BE49-F238E27FC236}">
                <a16:creationId xmlns:a16="http://schemas.microsoft.com/office/drawing/2014/main" id="{1187A73A-23DB-1CB0-F5ED-EB6B72A86016}"/>
              </a:ext>
            </a:extLst>
          </p:cNvPr>
          <p:cNvSpPr txBox="1"/>
          <p:nvPr/>
        </p:nvSpPr>
        <p:spPr>
          <a:xfrm>
            <a:off x="2057398" y="2025065"/>
            <a:ext cx="14173202" cy="1107996"/>
          </a:xfrm>
          <a:prstGeom prst="rect">
            <a:avLst/>
          </a:prstGeom>
        </p:spPr>
        <p:txBody>
          <a:bodyPr wrap="square" lIns="0" tIns="0" rIns="0" bIns="0" rtlCol="0" anchor="t">
            <a:spAutoFit/>
          </a:bodyPr>
          <a:lstStyle/>
          <a:p>
            <a:pPr algn="ctr"/>
            <a:r>
              <a:rPr lang="en-US" sz="2400" b="1" dirty="0">
                <a:solidFill>
                  <a:srgbClr val="000000"/>
                </a:solidFill>
                <a:latin typeface="Nunito 1 Bold"/>
                <a:ea typeface="Nunito 1 Bold"/>
                <a:cs typeface="Nunito 1 Bold"/>
                <a:sym typeface="Nunito 1 Bold"/>
              </a:rPr>
              <a:t>Estimate the average groundwater drawdown across an area of 100 km², where 20 million cubic meters of water have been pumped from a series of uniformly distributed wells. The specific yield of the unconfined aquifer is 20%.</a:t>
            </a:r>
          </a:p>
        </p:txBody>
      </p:sp>
      <p:sp>
        <p:nvSpPr>
          <p:cNvPr id="19" name="TextBox 12">
            <a:extLst>
              <a:ext uri="{FF2B5EF4-FFF2-40B4-BE49-F238E27FC236}">
                <a16:creationId xmlns:a16="http://schemas.microsoft.com/office/drawing/2014/main" id="{8B261564-5B0F-240C-A515-C42FA61A54E9}"/>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F55D88C0-962D-1053-8748-A67D1C53D88F}"/>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1DFADA09-58E3-1777-655D-12E1395E5CD8}"/>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7E8AA1BC-8AE0-ABB4-794B-221756649960}"/>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5">
            <a:extLst>
              <a:ext uri="{FF2B5EF4-FFF2-40B4-BE49-F238E27FC236}">
                <a16:creationId xmlns:a16="http://schemas.microsoft.com/office/drawing/2014/main" id="{AE3D8CE3-96BD-98D8-9931-84B41BF28881}"/>
              </a:ext>
            </a:extLst>
          </p:cNvPr>
          <p:cNvSpPr txBox="1"/>
          <p:nvPr/>
        </p:nvSpPr>
        <p:spPr>
          <a:xfrm>
            <a:off x="1676400" y="3606974"/>
            <a:ext cx="14935200" cy="369332"/>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Ans.: 1m</a:t>
            </a:r>
          </a:p>
        </p:txBody>
      </p:sp>
      <p:sp>
        <p:nvSpPr>
          <p:cNvPr id="18" name="TextBox 13">
            <a:extLst>
              <a:ext uri="{FF2B5EF4-FFF2-40B4-BE49-F238E27FC236}">
                <a16:creationId xmlns:a16="http://schemas.microsoft.com/office/drawing/2014/main" id="{D716C487-8A1F-415C-9C2F-71FE1EBEA55F}"/>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nvGrpSpPr>
          <p:cNvPr id="17" name="Group 16">
            <a:extLst>
              <a:ext uri="{FF2B5EF4-FFF2-40B4-BE49-F238E27FC236}">
                <a16:creationId xmlns:a16="http://schemas.microsoft.com/office/drawing/2014/main" id="{35874BA7-7C31-CDA5-7204-6A7489AC2014}"/>
              </a:ext>
            </a:extLst>
          </p:cNvPr>
          <p:cNvGrpSpPr/>
          <p:nvPr/>
        </p:nvGrpSpPr>
        <p:grpSpPr>
          <a:xfrm>
            <a:off x="0" y="9599693"/>
            <a:ext cx="18287999" cy="687306"/>
            <a:chOff x="0" y="9599693"/>
            <a:chExt cx="18287999" cy="687306"/>
          </a:xfrm>
        </p:grpSpPr>
        <p:grpSp>
          <p:nvGrpSpPr>
            <p:cNvPr id="20" name="Group 11">
              <a:extLst>
                <a:ext uri="{FF2B5EF4-FFF2-40B4-BE49-F238E27FC236}">
                  <a16:creationId xmlns:a16="http://schemas.microsoft.com/office/drawing/2014/main" id="{EC029726-1DE1-FD20-F132-4F6D647FBF31}"/>
                </a:ext>
              </a:extLst>
            </p:cNvPr>
            <p:cNvGrpSpPr/>
            <p:nvPr/>
          </p:nvGrpSpPr>
          <p:grpSpPr>
            <a:xfrm>
              <a:off x="0" y="9599694"/>
              <a:ext cx="18287999" cy="687305"/>
              <a:chOff x="0" y="0"/>
              <a:chExt cx="5260714" cy="490218"/>
            </a:xfrm>
          </p:grpSpPr>
          <p:sp>
            <p:nvSpPr>
              <p:cNvPr id="27" name="Freeform 12">
                <a:extLst>
                  <a:ext uri="{FF2B5EF4-FFF2-40B4-BE49-F238E27FC236}">
                    <a16:creationId xmlns:a16="http://schemas.microsoft.com/office/drawing/2014/main" id="{B0E798FB-78DB-E5CC-FF0B-1D3B5A671725}"/>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8" name="TextBox 13">
                <a:extLst>
                  <a:ext uri="{FF2B5EF4-FFF2-40B4-BE49-F238E27FC236}">
                    <a16:creationId xmlns:a16="http://schemas.microsoft.com/office/drawing/2014/main" id="{BEE23E03-55BA-F18C-D632-995385FC2EB3}"/>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12">
              <a:extLst>
                <a:ext uri="{FF2B5EF4-FFF2-40B4-BE49-F238E27FC236}">
                  <a16:creationId xmlns:a16="http://schemas.microsoft.com/office/drawing/2014/main" id="{8728C36A-6416-C572-D144-EEF382C82F7D}"/>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6" name="TextBox 13">
              <a:extLst>
                <a:ext uri="{FF2B5EF4-FFF2-40B4-BE49-F238E27FC236}">
                  <a16:creationId xmlns:a16="http://schemas.microsoft.com/office/drawing/2014/main" id="{ED6C9C47-AC29-E6EA-135F-1EE8B48DAFC0}"/>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B7B2A552-5E0D-EC99-4D3D-2EF6C1A3295A}"/>
                  </a:ext>
                </a:extLst>
              </p:cNvPr>
              <p:cNvSpPr txBox="1"/>
              <p:nvPr/>
            </p:nvSpPr>
            <p:spPr>
              <a:xfrm>
                <a:off x="1676399" y="4537057"/>
                <a:ext cx="14935200" cy="3686778"/>
              </a:xfrm>
              <a:prstGeom prst="rect">
                <a:avLst/>
              </a:prstGeom>
            </p:spPr>
            <p:txBody>
              <a:bodyPr wrap="square" lIns="0" tIns="0" rIns="0" bIns="0" rtlCol="0" anchor="t">
                <a:spAutoFit/>
              </a:bodyPr>
              <a:lstStyle/>
              <a:p>
                <a:pPr algn="just"/>
                <a:endParaRPr lang="en-US" sz="2400" b="1" dirty="0">
                  <a:solidFill>
                    <a:srgbClr val="000000"/>
                  </a:solidFill>
                  <a:latin typeface="Nunito 1" panose="020B0604020202020204" charset="0"/>
                  <a:ea typeface="Nunito 1 Bold"/>
                  <a:cs typeface="Nunito 1 Bold"/>
                  <a:sym typeface="Nunito 1 Bold"/>
                </a:endParaRPr>
              </a:p>
              <a:p>
                <a:pPr algn="ctr"/>
                <a14:m>
                  <m:oMath xmlns:m="http://schemas.openxmlformats.org/officeDocument/2006/math">
                    <m:r>
                      <m:rPr>
                        <m:nor/>
                      </m:rPr>
                      <a:rPr lang="en-US" sz="2400" i="0" smtClean="0">
                        <a:solidFill>
                          <a:srgbClr val="000000"/>
                        </a:solidFill>
                        <a:latin typeface="Cambria" panose="02040503050406030204" pitchFamily="18" charset="0"/>
                        <a:ea typeface="Cambria" panose="02040503050406030204" pitchFamily="18" charset="0"/>
                        <a:cs typeface="Nunito 1 Bold"/>
                        <a:sym typeface="Nunito 1 Bold"/>
                      </a:rPr>
                      <m:t>∆</m:t>
                    </m:r>
                    <m:r>
                      <m:rPr>
                        <m:nor/>
                      </m:rPr>
                      <a:rPr lang="en-PH" sz="2400" b="0" i="0" smtClean="0">
                        <a:solidFill>
                          <a:srgbClr val="000000"/>
                        </a:solidFill>
                        <a:latin typeface="Nunito 1" panose="020B0604020202020204" charset="0"/>
                        <a:ea typeface="Cambria Math" panose="02040503050406030204" pitchFamily="18" charset="0"/>
                        <a:cs typeface="Nunito 1 Bold"/>
                        <a:sym typeface="Nunito 1 Bold"/>
                      </a:rPr>
                      <m:t>GWS</m:t>
                    </m:r>
                    <m:r>
                      <m:rPr>
                        <m:nor/>
                      </m:rPr>
                      <a:rPr lang="en-PH" sz="2400" b="0" i="0" smtClean="0">
                        <a:solidFill>
                          <a:srgbClr val="000000"/>
                        </a:solidFill>
                        <a:latin typeface="Nunito 1" panose="020B0604020202020204" charset="0"/>
                        <a:ea typeface="Cambria Math" panose="02040503050406030204" pitchFamily="18" charset="0"/>
                        <a:cs typeface="Nunito 1 Bold"/>
                        <a:sym typeface="Nunito 1 Bold"/>
                      </a:rPr>
                      <m:t> = </m:t>
                    </m:r>
                    <m:sSub>
                      <m:sSubPr>
                        <m:ctrlPr>
                          <a:rPr lang="en-PH" sz="2400" b="0" i="1" smtClean="0">
                            <a:solidFill>
                              <a:srgbClr val="000000"/>
                            </a:solidFill>
                            <a:latin typeface="Cambria Math" panose="02040503050406030204" pitchFamily="18" charset="0"/>
                            <a:ea typeface="Cambria Math" panose="02040503050406030204" pitchFamily="18" charset="0"/>
                            <a:sym typeface="Nunito 1 Bold"/>
                          </a:rPr>
                        </m:ctrlPr>
                      </m:sSubPr>
                      <m:e>
                        <m:r>
                          <m:rPr>
                            <m:nor/>
                          </m:rPr>
                          <a:rPr lang="en-PH" sz="2400" b="0" i="0" smtClean="0">
                            <a:solidFill>
                              <a:srgbClr val="000000"/>
                            </a:solidFill>
                            <a:latin typeface="Nunito 1" panose="020B0604020202020204" charset="0"/>
                            <a:ea typeface="Cambria Math" panose="02040503050406030204" pitchFamily="18" charset="0"/>
                            <a:sym typeface="Nunito 1 Bold"/>
                          </a:rPr>
                          <m:t>A</m:t>
                        </m:r>
                      </m:e>
                      <m:sub>
                        <m:r>
                          <m:rPr>
                            <m:nor/>
                          </m:rPr>
                          <a:rPr lang="en-PH" sz="2400" b="0" i="0" smtClean="0">
                            <a:solidFill>
                              <a:srgbClr val="000000"/>
                            </a:solidFill>
                            <a:latin typeface="Nunito 1" panose="020B0604020202020204" charset="0"/>
                            <a:ea typeface="Cambria Math" panose="02040503050406030204" pitchFamily="18" charset="0"/>
                            <a:sym typeface="Nunito 1 Bold"/>
                          </a:rPr>
                          <m:t>aq</m:t>
                        </m:r>
                      </m:sub>
                    </m:sSub>
                    <m:r>
                      <m:rPr>
                        <m:nor/>
                      </m:rPr>
                      <a:rPr lang="en-PH" sz="2400" b="0" i="0" smtClean="0">
                        <a:solidFill>
                          <a:srgbClr val="000000"/>
                        </a:solidFill>
                        <a:latin typeface="Nunito 1" panose="020B0604020202020204" charset="0"/>
                        <a:ea typeface="Cambria Math" panose="02040503050406030204" pitchFamily="18" charset="0"/>
                        <a:sym typeface="Nunito 1 Bold"/>
                      </a:rPr>
                      <m:t> </m:t>
                    </m:r>
                    <m:r>
                      <m:rPr>
                        <m:nor/>
                      </m:rPr>
                      <a:rPr lang="en-PH" sz="2400" b="0" i="0" smtClean="0">
                        <a:solidFill>
                          <a:srgbClr val="000000"/>
                        </a:solidFill>
                        <a:latin typeface="Nunito 1" panose="020B0604020202020204" charset="0"/>
                        <a:ea typeface="Cambria Math" panose="02040503050406030204" pitchFamily="18" charset="0"/>
                        <a:sym typeface="Nunito 1 Bold"/>
                      </a:rPr>
                      <m:t>x</m:t>
                    </m:r>
                    <m:r>
                      <m:rPr>
                        <m:nor/>
                      </m:rPr>
                      <a:rPr lang="en-PH" sz="2400" b="0" i="0" smtClean="0">
                        <a:solidFill>
                          <a:srgbClr val="000000"/>
                        </a:solidFill>
                        <a:latin typeface="Nunito 1" panose="020B0604020202020204" charset="0"/>
                        <a:ea typeface="Cambria Math" panose="02040503050406030204" pitchFamily="18" charset="0"/>
                        <a:sym typeface="Nunito 1 Bold"/>
                      </a:rPr>
                      <m:t> </m:t>
                    </m:r>
                    <m:r>
                      <m:rPr>
                        <m:nor/>
                      </m:rPr>
                      <a:rPr lang="en-PH" sz="2400" b="0" i="0" smtClean="0">
                        <a:solidFill>
                          <a:srgbClr val="000000"/>
                        </a:solidFill>
                        <a:latin typeface="Cambria" panose="02040503050406030204" pitchFamily="18" charset="0"/>
                        <a:ea typeface="Cambria" panose="02040503050406030204" pitchFamily="18" charset="0"/>
                        <a:sym typeface="Nunito 1 Bold"/>
                      </a:rPr>
                      <m:t>∆</m:t>
                    </m:r>
                    <m:r>
                      <m:rPr>
                        <m:nor/>
                      </m:rPr>
                      <a:rPr lang="en-PH" sz="2400" b="0" i="0" smtClean="0">
                        <a:solidFill>
                          <a:srgbClr val="000000"/>
                        </a:solidFill>
                        <a:latin typeface="Nunito 1" panose="020B0604020202020204" charset="0"/>
                        <a:ea typeface="Cambria Math" panose="02040503050406030204" pitchFamily="18" charset="0"/>
                        <a:sym typeface="Nunito 1 Bold"/>
                      </a:rPr>
                      <m:t>GWT</m:t>
                    </m:r>
                    <m:r>
                      <m:rPr>
                        <m:nor/>
                      </m:rPr>
                      <a:rPr lang="en-PH" sz="2400" b="0" i="0" smtClean="0">
                        <a:solidFill>
                          <a:srgbClr val="000000"/>
                        </a:solidFill>
                        <a:latin typeface="Nunito 1" panose="020B0604020202020204" charset="0"/>
                        <a:ea typeface="Cambria Math" panose="02040503050406030204" pitchFamily="18" charset="0"/>
                        <a:sym typeface="Nunito 1 Bold"/>
                      </a:rPr>
                      <m:t> </m:t>
                    </m:r>
                    <m:r>
                      <m:rPr>
                        <m:nor/>
                      </m:rPr>
                      <a:rPr lang="en-PH" sz="2400" b="0" i="0" smtClean="0">
                        <a:solidFill>
                          <a:srgbClr val="000000"/>
                        </a:solidFill>
                        <a:latin typeface="Nunito 1" panose="020B0604020202020204" charset="0"/>
                        <a:ea typeface="Cambria Math" panose="02040503050406030204" pitchFamily="18" charset="0"/>
                        <a:sym typeface="Nunito 1 Bold"/>
                      </a:rPr>
                      <m:t>x</m:t>
                    </m:r>
                    <m:r>
                      <m:rPr>
                        <m:nor/>
                      </m:rPr>
                      <a:rPr lang="en-PH" sz="2400" b="0" i="0" smtClean="0">
                        <a:solidFill>
                          <a:srgbClr val="000000"/>
                        </a:solidFill>
                        <a:latin typeface="Nunito 1" panose="020B0604020202020204" charset="0"/>
                        <a:ea typeface="Cambria Math" panose="02040503050406030204" pitchFamily="18" charset="0"/>
                        <a:sym typeface="Nunito 1 Bold"/>
                      </a:rPr>
                      <m:t> </m:t>
                    </m:r>
                    <m:sSub>
                      <m:sSubPr>
                        <m:ctrlPr>
                          <a:rPr lang="en-PH" sz="2400" b="0" i="1" smtClean="0">
                            <a:solidFill>
                              <a:srgbClr val="000000"/>
                            </a:solidFill>
                            <a:latin typeface="Cambria Math" panose="02040503050406030204" pitchFamily="18" charset="0"/>
                            <a:ea typeface="Cambria Math" panose="02040503050406030204" pitchFamily="18" charset="0"/>
                            <a:sym typeface="Nunito 1 Bold"/>
                          </a:rPr>
                        </m:ctrlPr>
                      </m:sSubPr>
                      <m:e>
                        <m:r>
                          <m:rPr>
                            <m:nor/>
                          </m:rPr>
                          <a:rPr lang="en-PH" sz="2400" b="0" i="0" smtClean="0">
                            <a:solidFill>
                              <a:srgbClr val="000000"/>
                            </a:solidFill>
                            <a:latin typeface="Nunito 1" panose="020B0604020202020204" charset="0"/>
                            <a:ea typeface="Cambria Math" panose="02040503050406030204" pitchFamily="18" charset="0"/>
                            <a:sym typeface="Nunito 1 Bold"/>
                          </a:rPr>
                          <m:t>S</m:t>
                        </m:r>
                      </m:e>
                      <m:sub>
                        <m:r>
                          <m:rPr>
                            <m:nor/>
                          </m:rPr>
                          <a:rPr lang="en-PH" sz="2400" b="0" i="0" smtClean="0">
                            <a:solidFill>
                              <a:srgbClr val="000000"/>
                            </a:solidFill>
                            <a:latin typeface="Nunito 1" panose="020B0604020202020204" charset="0"/>
                            <a:ea typeface="Cambria Math" panose="02040503050406030204" pitchFamily="18" charset="0"/>
                            <a:sym typeface="Nunito 1 Bold"/>
                          </a:rPr>
                          <m:t>y</m:t>
                        </m:r>
                      </m:sub>
                    </m:sSub>
                  </m:oMath>
                </a14:m>
                <a:r>
                  <a:rPr lang="en-PH" sz="2400" b="0" dirty="0">
                    <a:solidFill>
                      <a:srgbClr val="000000"/>
                    </a:solidFill>
                    <a:latin typeface="Nunito 1" panose="020B0604020202020204" charset="0"/>
                    <a:ea typeface="Cambria Math" panose="02040503050406030204" pitchFamily="18" charset="0"/>
                    <a:sym typeface="Nunito 1 Bold"/>
                  </a:rPr>
                  <a:t>	(for unconfined aquifer)</a:t>
                </a:r>
              </a:p>
              <a:p>
                <a:pPr algn="ctr"/>
                <a14:m>
                  <m:oMath xmlns:m="http://schemas.openxmlformats.org/officeDocument/2006/math">
                    <m:r>
                      <m:rPr>
                        <m:nor/>
                      </m:rPr>
                      <a:rPr lang="en-US" sz="2400" i="0" smtClean="0">
                        <a:solidFill>
                          <a:srgbClr val="000000"/>
                        </a:solidFill>
                        <a:latin typeface="Cambria" panose="02040503050406030204" pitchFamily="18" charset="0"/>
                        <a:ea typeface="Cambria" panose="02040503050406030204" pitchFamily="18" charset="0"/>
                        <a:cs typeface="Nunito 1 Bold"/>
                        <a:sym typeface="Nunito 1 Bold"/>
                      </a:rPr>
                      <m:t>∆</m:t>
                    </m:r>
                    <m:r>
                      <m:rPr>
                        <m:nor/>
                      </m:rPr>
                      <a:rPr lang="en-PH" sz="2400" b="0" i="0" smtClean="0">
                        <a:solidFill>
                          <a:srgbClr val="000000"/>
                        </a:solidFill>
                        <a:latin typeface="Nunito 1" panose="020B0604020202020204" charset="0"/>
                        <a:ea typeface="Cambria Math" panose="02040503050406030204" pitchFamily="18" charset="0"/>
                        <a:cs typeface="Nunito 1 Bold"/>
                        <a:sym typeface="Nunito 1 Bold"/>
                      </a:rPr>
                      <m:t>GWS</m:t>
                    </m:r>
                    <m:r>
                      <m:rPr>
                        <m:nor/>
                      </m:rPr>
                      <a:rPr lang="en-PH" sz="2400" b="0" i="0" smtClean="0">
                        <a:solidFill>
                          <a:srgbClr val="000000"/>
                        </a:solidFill>
                        <a:latin typeface="Nunito 1" panose="020B0604020202020204" charset="0"/>
                        <a:ea typeface="Cambria Math" panose="02040503050406030204" pitchFamily="18" charset="0"/>
                        <a:cs typeface="Nunito 1 Bold"/>
                        <a:sym typeface="Nunito 1 Bold"/>
                      </a:rPr>
                      <m:t> = </m:t>
                    </m:r>
                    <m:sSub>
                      <m:sSubPr>
                        <m:ctrlPr>
                          <a:rPr lang="en-PH" sz="2400" b="0" i="1" smtClean="0">
                            <a:solidFill>
                              <a:srgbClr val="000000"/>
                            </a:solidFill>
                            <a:latin typeface="Cambria Math" panose="02040503050406030204" pitchFamily="18" charset="0"/>
                            <a:ea typeface="Cambria Math" panose="02040503050406030204" pitchFamily="18" charset="0"/>
                            <a:sym typeface="Nunito 1 Bold"/>
                          </a:rPr>
                        </m:ctrlPr>
                      </m:sSubPr>
                      <m:e>
                        <m:r>
                          <m:rPr>
                            <m:nor/>
                          </m:rPr>
                          <a:rPr lang="en-PH" sz="2400" b="0" i="0" smtClean="0">
                            <a:solidFill>
                              <a:srgbClr val="000000"/>
                            </a:solidFill>
                            <a:latin typeface="Nunito 1" panose="020B0604020202020204" charset="0"/>
                            <a:ea typeface="Cambria Math" panose="02040503050406030204" pitchFamily="18" charset="0"/>
                            <a:sym typeface="Nunito 1 Bold"/>
                          </a:rPr>
                          <m:t>A</m:t>
                        </m:r>
                      </m:e>
                      <m:sub>
                        <m:r>
                          <m:rPr>
                            <m:nor/>
                          </m:rPr>
                          <a:rPr lang="en-PH" sz="2400" b="0" i="0" smtClean="0">
                            <a:solidFill>
                              <a:srgbClr val="000000"/>
                            </a:solidFill>
                            <a:latin typeface="Nunito 1" panose="020B0604020202020204" charset="0"/>
                            <a:ea typeface="Cambria Math" panose="02040503050406030204" pitchFamily="18" charset="0"/>
                            <a:sym typeface="Nunito 1 Bold"/>
                          </a:rPr>
                          <m:t>aq</m:t>
                        </m:r>
                      </m:sub>
                    </m:sSub>
                    <m:r>
                      <m:rPr>
                        <m:nor/>
                      </m:rPr>
                      <a:rPr lang="en-PH" sz="2400" b="0" i="0" smtClean="0">
                        <a:solidFill>
                          <a:srgbClr val="000000"/>
                        </a:solidFill>
                        <a:latin typeface="Nunito 1" panose="020B0604020202020204" charset="0"/>
                        <a:ea typeface="Cambria Math" panose="02040503050406030204" pitchFamily="18" charset="0"/>
                        <a:sym typeface="Nunito 1 Bold"/>
                      </a:rPr>
                      <m:t> </m:t>
                    </m:r>
                    <m:r>
                      <m:rPr>
                        <m:nor/>
                      </m:rPr>
                      <a:rPr lang="en-PH" sz="2400" b="0" i="0" smtClean="0">
                        <a:solidFill>
                          <a:srgbClr val="000000"/>
                        </a:solidFill>
                        <a:latin typeface="Nunito 1" panose="020B0604020202020204" charset="0"/>
                        <a:ea typeface="Cambria Math" panose="02040503050406030204" pitchFamily="18" charset="0"/>
                        <a:sym typeface="Nunito 1 Bold"/>
                      </a:rPr>
                      <m:t>x</m:t>
                    </m:r>
                    <m:r>
                      <m:rPr>
                        <m:nor/>
                      </m:rPr>
                      <a:rPr lang="en-PH" sz="2400" b="0" i="0" smtClean="0">
                        <a:solidFill>
                          <a:srgbClr val="000000"/>
                        </a:solidFill>
                        <a:latin typeface="Nunito 1" panose="020B0604020202020204" charset="0"/>
                        <a:ea typeface="Cambria Math" panose="02040503050406030204" pitchFamily="18" charset="0"/>
                        <a:sym typeface="Nunito 1 Bold"/>
                      </a:rPr>
                      <m:t> </m:t>
                    </m:r>
                    <m:r>
                      <m:rPr>
                        <m:nor/>
                      </m:rPr>
                      <a:rPr lang="en-PH" sz="2400" b="0" i="0" smtClean="0">
                        <a:solidFill>
                          <a:srgbClr val="000000"/>
                        </a:solidFill>
                        <a:latin typeface="Nunito 1" panose="020B0604020202020204" charset="0"/>
                        <a:ea typeface="Cambria" panose="02040503050406030204" pitchFamily="18" charset="0"/>
                        <a:sym typeface="Nunito 1 Bold"/>
                      </a:rPr>
                      <m:t>ps</m:t>
                    </m:r>
                    <m:r>
                      <m:rPr>
                        <m:nor/>
                      </m:rPr>
                      <a:rPr lang="en-PH" sz="2400" b="0" i="0" smtClean="0">
                        <a:solidFill>
                          <a:srgbClr val="000000"/>
                        </a:solidFill>
                        <a:latin typeface="Nunito 1" panose="020B0604020202020204" charset="0"/>
                        <a:ea typeface="Cambria" panose="02040503050406030204" pitchFamily="18" charset="0"/>
                        <a:sym typeface="Nunito 1 Bold"/>
                      </a:rPr>
                      <m:t> </m:t>
                    </m:r>
                    <m:r>
                      <m:rPr>
                        <m:nor/>
                      </m:rPr>
                      <a:rPr lang="en-PH" sz="2400" b="0" i="0" smtClean="0">
                        <a:solidFill>
                          <a:srgbClr val="000000"/>
                        </a:solidFill>
                        <a:latin typeface="Nunito 1" panose="020B0604020202020204" charset="0"/>
                        <a:ea typeface="Cambria" panose="02040503050406030204" pitchFamily="18" charset="0"/>
                        <a:sym typeface="Nunito 1 Bold"/>
                      </a:rPr>
                      <m:t>x</m:t>
                    </m:r>
                    <m:r>
                      <m:rPr>
                        <m:nor/>
                      </m:rPr>
                      <a:rPr lang="en-PH" sz="2400" b="0" i="0" smtClean="0">
                        <a:solidFill>
                          <a:srgbClr val="000000"/>
                        </a:solidFill>
                        <a:latin typeface="Nunito 1" panose="020B0604020202020204" charset="0"/>
                        <a:ea typeface="Cambria" panose="02040503050406030204" pitchFamily="18" charset="0"/>
                        <a:sym typeface="Nunito 1 Bold"/>
                      </a:rPr>
                      <m:t> </m:t>
                    </m:r>
                    <m:r>
                      <m:rPr>
                        <m:nor/>
                      </m:rPr>
                      <a:rPr lang="en-PH" sz="2400" b="0" i="0" smtClean="0">
                        <a:solidFill>
                          <a:srgbClr val="000000"/>
                        </a:solidFill>
                        <a:latin typeface="Nunito 1" panose="020B0604020202020204" charset="0"/>
                        <a:ea typeface="Cambria" panose="02040503050406030204" pitchFamily="18" charset="0"/>
                        <a:sym typeface="Nunito 1 Bold"/>
                      </a:rPr>
                      <m:t>S</m:t>
                    </m:r>
                  </m:oMath>
                </a14:m>
                <a:r>
                  <a:rPr lang="en-US" sz="2400" dirty="0">
                    <a:solidFill>
                      <a:srgbClr val="000000"/>
                    </a:solidFill>
                    <a:latin typeface="Nunito 1" panose="020B0604020202020204" charset="0"/>
                    <a:ea typeface="Nunito 1 Bold"/>
                    <a:cs typeface="Nunito 1 Bold"/>
                    <a:sym typeface="Nunito 1 Bold"/>
                  </a:rPr>
                  <a:t>	             </a:t>
                </a:r>
                <a:r>
                  <a:rPr lang="en-PH" sz="2400" dirty="0">
                    <a:solidFill>
                      <a:srgbClr val="000000"/>
                    </a:solidFill>
                    <a:latin typeface="Nunito 1" panose="020B0604020202020204" charset="0"/>
                    <a:ea typeface="Cambria Math" panose="02040503050406030204" pitchFamily="18" charset="0"/>
                    <a:sym typeface="Nunito 1 Bold"/>
                  </a:rPr>
                  <a:t> (for confined aquifer)</a:t>
                </a:r>
              </a:p>
              <a:p>
                <a:pPr algn="ctr"/>
                <a:endParaRPr lang="en-PH" sz="2400" dirty="0">
                  <a:solidFill>
                    <a:srgbClr val="000000"/>
                  </a:solidFill>
                  <a:latin typeface="Nunito 1" panose="020B0604020202020204" charset="0"/>
                  <a:ea typeface="Cambria Math" panose="02040503050406030204" pitchFamily="18" charset="0"/>
                  <a:cs typeface="Nunito 1 Bold"/>
                  <a:sym typeface="Nunito 1 Bold"/>
                </a:endParaRPr>
              </a:p>
              <a:p>
                <a:pPr algn="just">
                  <a:tabLst>
                    <a:tab pos="4221163" algn="l"/>
                  </a:tabLst>
                </a:pPr>
                <a:r>
                  <a:rPr lang="en-PH" sz="2400" dirty="0">
                    <a:solidFill>
                      <a:srgbClr val="000000"/>
                    </a:solidFill>
                    <a:latin typeface="Nunito 1" panose="020B0604020202020204" charset="0"/>
                    <a:ea typeface="Cambria Math" panose="02040503050406030204" pitchFamily="18" charset="0"/>
                    <a:cs typeface="Nunito 1 Bold"/>
                    <a:sym typeface="Nunito 1 Bold"/>
                  </a:rPr>
                  <a:t>Where: 	</a:t>
                </a:r>
                <a14:m>
                  <m:oMath xmlns:m="http://schemas.openxmlformats.org/officeDocument/2006/math">
                    <m:r>
                      <m:rPr>
                        <m:nor/>
                      </m:rPr>
                      <a:rPr lang="en-US" i="0" smtClean="0">
                        <a:solidFill>
                          <a:srgbClr val="000000"/>
                        </a:solidFill>
                        <a:latin typeface="Cambria" panose="02040503050406030204" pitchFamily="18" charset="0"/>
                        <a:ea typeface="Cambria" panose="02040503050406030204" pitchFamily="18" charset="0"/>
                        <a:cs typeface="Nunito 1 Bold"/>
                        <a:sym typeface="Nunito 1 Bold"/>
                      </a:rPr>
                      <m:t>∆</m:t>
                    </m:r>
                    <m:r>
                      <m:rPr>
                        <m:nor/>
                      </m:rPr>
                      <a:rPr lang="en-PH" b="0" i="0" smtClean="0">
                        <a:solidFill>
                          <a:srgbClr val="000000"/>
                        </a:solidFill>
                        <a:latin typeface="Nunito 1" panose="020B0604020202020204" charset="0"/>
                        <a:ea typeface="Cambria Math" panose="02040503050406030204" pitchFamily="18" charset="0"/>
                        <a:cs typeface="Nunito 1 Bold"/>
                        <a:sym typeface="Nunito 1 Bold"/>
                      </a:rPr>
                      <m:t>GWS</m:t>
                    </m:r>
                  </m:oMath>
                </a14:m>
                <a:r>
                  <a:rPr lang="en-US" dirty="0">
                    <a:solidFill>
                      <a:srgbClr val="000000"/>
                    </a:solidFill>
                    <a:latin typeface="Nunito 1" panose="020B0604020202020204" charset="0"/>
                    <a:ea typeface="Nunito 1 Bold"/>
                    <a:cs typeface="Nunito 1 Bold"/>
                    <a:sym typeface="Nunito 1 Bold"/>
                  </a:rPr>
                  <a:t> – change in groundwater storage, m3</a:t>
                </a:r>
              </a:p>
              <a:p>
                <a:pPr marL="4221163" lvl="8">
                  <a:tabLst>
                    <a:tab pos="4572000" algn="l"/>
                  </a:tabLst>
                </a:pPr>
                <a:r>
                  <a:rPr lang="en-US" dirty="0" err="1">
                    <a:solidFill>
                      <a:srgbClr val="000000"/>
                    </a:solidFill>
                    <a:latin typeface="Nunito 1" panose="020B0604020202020204" charset="0"/>
                    <a:ea typeface="Nunito 1 Bold"/>
                    <a:cs typeface="Nunito 1 Bold"/>
                    <a:sym typeface="Nunito 1 Bold"/>
                  </a:rPr>
                  <a:t>Aaq</a:t>
                </a:r>
                <a:r>
                  <a:rPr lang="en-US" dirty="0">
                    <a:solidFill>
                      <a:srgbClr val="000000"/>
                    </a:solidFill>
                    <a:latin typeface="Nunito 1" panose="020B0604020202020204" charset="0"/>
                    <a:ea typeface="Nunito 1 Bold"/>
                    <a:cs typeface="Nunito 1 Bold"/>
                    <a:sym typeface="Nunito 1 Bold"/>
                  </a:rPr>
                  <a:t> – area of the aquifer, m2</a:t>
                </a:r>
              </a:p>
              <a:p>
                <a:pPr marL="4221163" lvl="8">
                  <a:tabLst>
                    <a:tab pos="4572000" algn="l"/>
                  </a:tabLst>
                </a:pPr>
                <a14:m>
                  <m:oMath xmlns:m="http://schemas.openxmlformats.org/officeDocument/2006/math">
                    <m:r>
                      <m:rPr>
                        <m:nor/>
                      </m:rPr>
                      <a:rPr lang="en-US" i="0" smtClean="0">
                        <a:solidFill>
                          <a:srgbClr val="000000"/>
                        </a:solidFill>
                        <a:latin typeface="Cambria" panose="02040503050406030204" pitchFamily="18" charset="0"/>
                        <a:ea typeface="Cambria" panose="02040503050406030204" pitchFamily="18" charset="0"/>
                        <a:cs typeface="Nunito 1 Bold"/>
                        <a:sym typeface="Nunito 1 Bold"/>
                      </a:rPr>
                      <m:t>∆</m:t>
                    </m:r>
                    <m:r>
                      <m:rPr>
                        <m:nor/>
                      </m:rPr>
                      <a:rPr lang="en-PH" b="0" i="0" smtClean="0">
                        <a:solidFill>
                          <a:srgbClr val="000000"/>
                        </a:solidFill>
                        <a:latin typeface="Nunito 1" panose="020B0604020202020204" charset="0"/>
                        <a:ea typeface="Cambria Math" panose="02040503050406030204" pitchFamily="18" charset="0"/>
                        <a:cs typeface="Nunito 1 Bold"/>
                        <a:sym typeface="Nunito 1 Bold"/>
                      </a:rPr>
                      <m:t>GWT</m:t>
                    </m:r>
                  </m:oMath>
                </a14:m>
                <a:r>
                  <a:rPr lang="en-US" dirty="0">
                    <a:solidFill>
                      <a:srgbClr val="000000"/>
                    </a:solidFill>
                    <a:latin typeface="Nunito 1" panose="020B0604020202020204" charset="0"/>
                    <a:ea typeface="Nunito 1 Bold"/>
                    <a:cs typeface="Nunito 1 Bold"/>
                    <a:sym typeface="Nunito 1 Bold"/>
                  </a:rPr>
                  <a:t> – groundwater table fluctuation or drawdown, m</a:t>
                </a:r>
              </a:p>
              <a:p>
                <a:pPr marL="4221163" lvl="8">
                  <a:tabLst>
                    <a:tab pos="4572000" algn="l"/>
                  </a:tabLst>
                </a:pPr>
                <a:r>
                  <a:rPr lang="en-US" dirty="0">
                    <a:solidFill>
                      <a:srgbClr val="000000"/>
                    </a:solidFill>
                    <a:latin typeface="Nunito 1" panose="020B0604020202020204" charset="0"/>
                    <a:ea typeface="Nunito 1 Bold"/>
                    <a:cs typeface="Nunito 1 Bold"/>
                    <a:sym typeface="Nunito 1 Bold"/>
                  </a:rPr>
                  <a:t>Ps – piezometric surface fluctuation</a:t>
                </a:r>
              </a:p>
              <a:p>
                <a:pPr marL="4221163" lvl="8">
                  <a:tabLst>
                    <a:tab pos="4572000" algn="l"/>
                  </a:tabLst>
                </a:pPr>
                <a:r>
                  <a:rPr lang="en-US" dirty="0">
                    <a:solidFill>
                      <a:srgbClr val="000000"/>
                    </a:solidFill>
                    <a:latin typeface="Nunito 1" panose="020B0604020202020204" charset="0"/>
                    <a:ea typeface="Nunito 1 Bold"/>
                    <a:cs typeface="Nunito 1 Bold"/>
                    <a:sym typeface="Nunito 1 Bold"/>
                  </a:rPr>
                  <a:t>Sy – specific yield</a:t>
                </a:r>
              </a:p>
              <a:p>
                <a:pPr marL="4221163" lvl="8">
                  <a:tabLst>
                    <a:tab pos="4572000" algn="l"/>
                  </a:tabLst>
                </a:pPr>
                <a:r>
                  <a:rPr lang="en-US" dirty="0">
                    <a:solidFill>
                      <a:srgbClr val="000000"/>
                    </a:solidFill>
                    <a:latin typeface="Nunito 1" panose="020B0604020202020204" charset="0"/>
                    <a:ea typeface="Nunito 1 Bold"/>
                    <a:cs typeface="Nunito 1 Bold"/>
                    <a:sym typeface="Nunito 1 Bold"/>
                  </a:rPr>
                  <a:t>S – storage coefficient</a:t>
                </a:r>
              </a:p>
              <a:p>
                <a:pPr algn="ctr"/>
                <a:endParaRPr lang="en-US" sz="2400" dirty="0">
                  <a:solidFill>
                    <a:srgbClr val="000000"/>
                  </a:solidFill>
                  <a:latin typeface="Nunito 1" panose="020B0604020202020204" charset="0"/>
                  <a:ea typeface="Nunito 1 Bold"/>
                  <a:cs typeface="Nunito 1 Bold"/>
                  <a:sym typeface="Nunito 1 Bold"/>
                </a:endParaRPr>
              </a:p>
            </p:txBody>
          </p:sp>
        </mc:Choice>
        <mc:Fallback xmlns="">
          <p:sp>
            <p:nvSpPr>
              <p:cNvPr id="29" name="TextBox 28">
                <a:extLst>
                  <a:ext uri="{FF2B5EF4-FFF2-40B4-BE49-F238E27FC236}">
                    <a16:creationId xmlns:a16="http://schemas.microsoft.com/office/drawing/2014/main" id="{B7B2A552-5E0D-EC99-4D3D-2EF6C1A3295A}"/>
                  </a:ext>
                </a:extLst>
              </p:cNvPr>
              <p:cNvSpPr txBox="1">
                <a:spLocks noRot="1" noChangeAspect="1" noMove="1" noResize="1" noEditPoints="1" noAdjustHandles="1" noChangeArrowheads="1" noChangeShapeType="1" noTextEdit="1"/>
              </p:cNvSpPr>
              <p:nvPr/>
            </p:nvSpPr>
            <p:spPr>
              <a:xfrm>
                <a:off x="1676399" y="4537057"/>
                <a:ext cx="14935200" cy="3686778"/>
              </a:xfrm>
              <a:prstGeom prst="rect">
                <a:avLst/>
              </a:prstGeom>
              <a:blipFill>
                <a:blip r:embed="rId3"/>
                <a:stretch>
                  <a:fillRect l="-1224"/>
                </a:stretch>
              </a:blipFill>
            </p:spPr>
            <p:txBody>
              <a:bodyPr/>
              <a:lstStyle/>
              <a:p>
                <a:r>
                  <a:rPr lang="en-PH">
                    <a:noFill/>
                  </a:rPr>
                  <a:t> </a:t>
                </a:r>
              </a:p>
            </p:txBody>
          </p:sp>
        </mc:Fallback>
      </mc:AlternateContent>
    </p:spTree>
    <p:extLst>
      <p:ext uri="{BB962C8B-B14F-4D97-AF65-F5344CB8AC3E}">
        <p14:creationId xmlns:p14="http://schemas.microsoft.com/office/powerpoint/2010/main" val="23306622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5C89F-F37B-AD22-365A-E5219FC64A1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F6274E6-CDAD-2862-7413-2A82294ADC85}"/>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17BEEED3-0A1D-EBB8-B57F-7CE744707478}"/>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72995504-68F6-3342-FEA4-38602EB27DC3}"/>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CFC12D5A-3370-22B3-D13A-91912D09F6F2}"/>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E9E12623-DAA0-6052-8EBB-34355D74C636}"/>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BE79BE42-7FD2-C060-03A7-6F72ECCF46DB}"/>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871BF6CB-8413-BDD7-D743-13D8B9F00EB3}"/>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AEFCEA4E-9064-94BA-69A1-FB5CDF443C0C}"/>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CBBAEE90-11CC-D2AA-6617-FC487A1B58AF}"/>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EB48FF25-7BF5-51C2-B707-0A6E27B243E6}"/>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137314C2-B8DC-B93A-EE0E-649CBDDACD0D}"/>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B335B0AA-CAAD-69DC-759F-87E035DB61BE}"/>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AE7FE52C-5AA5-4221-4E29-BE0778438269}"/>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10</a:t>
            </a:r>
          </a:p>
        </p:txBody>
      </p:sp>
      <p:sp>
        <p:nvSpPr>
          <p:cNvPr id="15" name="TextBox 15">
            <a:extLst>
              <a:ext uri="{FF2B5EF4-FFF2-40B4-BE49-F238E27FC236}">
                <a16:creationId xmlns:a16="http://schemas.microsoft.com/office/drawing/2014/main" id="{015F3108-D12B-AC57-70FB-B0A9B60B3A24}"/>
              </a:ext>
            </a:extLst>
          </p:cNvPr>
          <p:cNvSpPr txBox="1"/>
          <p:nvPr/>
        </p:nvSpPr>
        <p:spPr>
          <a:xfrm>
            <a:off x="2246041" y="2025065"/>
            <a:ext cx="13795916" cy="1107996"/>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Calculate the volume of water released from a confined aquifer when the piezometric surface is lowered by 6.5 meters over an area of 2 km². The aquifer is 30 meters thick, with a storage coefficient of 8.1 x 10⁻³.</a:t>
            </a:r>
          </a:p>
        </p:txBody>
      </p:sp>
      <p:sp>
        <p:nvSpPr>
          <p:cNvPr id="19" name="TextBox 12">
            <a:extLst>
              <a:ext uri="{FF2B5EF4-FFF2-40B4-BE49-F238E27FC236}">
                <a16:creationId xmlns:a16="http://schemas.microsoft.com/office/drawing/2014/main" id="{25CD6F07-0BE9-3480-C098-808AE51BD5B5}"/>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E888034C-59C8-01BA-6280-780102197752}"/>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6AABB87A-089D-DDFC-87D4-917D917D0D0D}"/>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12F10DC8-6367-B868-0011-C497A5BFE456}"/>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5">
            <a:extLst>
              <a:ext uri="{FF2B5EF4-FFF2-40B4-BE49-F238E27FC236}">
                <a16:creationId xmlns:a16="http://schemas.microsoft.com/office/drawing/2014/main" id="{2122A84A-9705-DC37-1EB4-912226355C74}"/>
              </a:ext>
            </a:extLst>
          </p:cNvPr>
          <p:cNvSpPr txBox="1"/>
          <p:nvPr/>
        </p:nvSpPr>
        <p:spPr>
          <a:xfrm>
            <a:off x="1676400" y="3606974"/>
            <a:ext cx="14935200" cy="369332"/>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Ans. 105,300m3 </a:t>
            </a:r>
          </a:p>
        </p:txBody>
      </p:sp>
      <p:sp>
        <p:nvSpPr>
          <p:cNvPr id="18" name="TextBox 13">
            <a:extLst>
              <a:ext uri="{FF2B5EF4-FFF2-40B4-BE49-F238E27FC236}">
                <a16:creationId xmlns:a16="http://schemas.microsoft.com/office/drawing/2014/main" id="{7CD3857A-EB38-8385-242B-4EEEA85AF3F2}"/>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D9E5497-58A9-1ED7-AE10-F1BB33CEA15F}"/>
                  </a:ext>
                </a:extLst>
              </p:cNvPr>
              <p:cNvSpPr txBox="1"/>
              <p:nvPr/>
            </p:nvSpPr>
            <p:spPr>
              <a:xfrm>
                <a:off x="4453759" y="4674175"/>
                <a:ext cx="9222826" cy="2340513"/>
              </a:xfrm>
              <a:prstGeom prst="rect">
                <a:avLst/>
              </a:prstGeom>
              <a:noFill/>
            </p:spPr>
            <p:txBody>
              <a:bodyPr wrap="square">
                <a:spAutoFit/>
              </a:bodyPr>
              <a:lstStyle/>
              <a:p>
                <a:pPr algn="ctr"/>
                <a14:m>
                  <m:oMath xmlns:m="http://schemas.openxmlformats.org/officeDocument/2006/math">
                    <m:r>
                      <m:rPr>
                        <m:nor/>
                      </m:rPr>
                      <a:rPr lang="en-US" sz="1800" b="1" i="0" smtClean="0">
                        <a:solidFill>
                          <a:srgbClr val="000000"/>
                        </a:solidFill>
                        <a:latin typeface="Cambria" panose="02040503050406030204" pitchFamily="18" charset="0"/>
                        <a:ea typeface="Cambria" panose="02040503050406030204" pitchFamily="18" charset="0"/>
                        <a:cs typeface="Nunito 1 Bold"/>
                        <a:sym typeface="Nunito 1 Bold"/>
                      </a:rPr>
                      <m:t>∆</m:t>
                    </m:r>
                    <m:r>
                      <m:rPr>
                        <m:nor/>
                      </m:rPr>
                      <a:rPr lang="en-PH" sz="1800" b="1" i="0" smtClean="0">
                        <a:solidFill>
                          <a:srgbClr val="000000"/>
                        </a:solidFill>
                        <a:latin typeface="Nunito 1" panose="020B0604020202020204" charset="0"/>
                        <a:ea typeface="Cambria Math" panose="02040503050406030204" pitchFamily="18" charset="0"/>
                        <a:cs typeface="Nunito 1 Bold"/>
                        <a:sym typeface="Nunito 1 Bold"/>
                      </a:rPr>
                      <m:t>GWS</m:t>
                    </m:r>
                    <m:r>
                      <m:rPr>
                        <m:nor/>
                      </m:rPr>
                      <a:rPr lang="en-PH" sz="1800" b="1" i="0" smtClean="0">
                        <a:solidFill>
                          <a:srgbClr val="000000"/>
                        </a:solidFill>
                        <a:latin typeface="Nunito 1" panose="020B0604020202020204" charset="0"/>
                        <a:ea typeface="Cambria Math" panose="02040503050406030204" pitchFamily="18" charset="0"/>
                        <a:cs typeface="Nunito 1 Bold"/>
                        <a:sym typeface="Nunito 1 Bold"/>
                      </a:rPr>
                      <m:t> = </m:t>
                    </m:r>
                    <m:sSub>
                      <m:sSubPr>
                        <m:ctrlPr>
                          <a:rPr lang="en-PH" sz="1800" b="1" i="1" smtClean="0">
                            <a:solidFill>
                              <a:srgbClr val="000000"/>
                            </a:solidFill>
                            <a:latin typeface="Cambria Math" panose="02040503050406030204" pitchFamily="18" charset="0"/>
                            <a:ea typeface="Cambria Math" panose="02040503050406030204" pitchFamily="18" charset="0"/>
                            <a:sym typeface="Nunito 1 Bold"/>
                          </a:rPr>
                        </m:ctrlPr>
                      </m:sSubPr>
                      <m:e>
                        <m:r>
                          <m:rPr>
                            <m:nor/>
                          </m:rPr>
                          <a:rPr lang="en-PH" sz="1800" b="1" i="0" smtClean="0">
                            <a:solidFill>
                              <a:srgbClr val="000000"/>
                            </a:solidFill>
                            <a:latin typeface="Nunito 1" panose="020B0604020202020204" charset="0"/>
                            <a:ea typeface="Cambria Math" panose="02040503050406030204" pitchFamily="18" charset="0"/>
                            <a:sym typeface="Nunito 1 Bold"/>
                          </a:rPr>
                          <m:t>A</m:t>
                        </m:r>
                      </m:e>
                      <m:sub>
                        <m:r>
                          <m:rPr>
                            <m:nor/>
                          </m:rPr>
                          <a:rPr lang="en-PH" sz="1800" b="1" i="0" smtClean="0">
                            <a:solidFill>
                              <a:srgbClr val="000000"/>
                            </a:solidFill>
                            <a:latin typeface="Nunito 1" panose="020B0604020202020204" charset="0"/>
                            <a:ea typeface="Cambria Math" panose="02040503050406030204" pitchFamily="18" charset="0"/>
                            <a:sym typeface="Nunito 1 Bold"/>
                          </a:rPr>
                          <m:t>aq</m:t>
                        </m:r>
                      </m:sub>
                    </m:sSub>
                    <m:r>
                      <m:rPr>
                        <m:nor/>
                      </m:rPr>
                      <a:rPr lang="en-PH" sz="1800" b="1" i="0" smtClean="0">
                        <a:solidFill>
                          <a:srgbClr val="000000"/>
                        </a:solidFill>
                        <a:latin typeface="Nunito 1" panose="020B0604020202020204" charset="0"/>
                        <a:ea typeface="Cambria Math" panose="02040503050406030204" pitchFamily="18" charset="0"/>
                        <a:sym typeface="Nunito 1 Bold"/>
                      </a:rPr>
                      <m:t> </m:t>
                    </m:r>
                    <m:r>
                      <m:rPr>
                        <m:nor/>
                      </m:rPr>
                      <a:rPr lang="en-PH" sz="1800" b="1" i="0" smtClean="0">
                        <a:solidFill>
                          <a:srgbClr val="000000"/>
                        </a:solidFill>
                        <a:latin typeface="Nunito 1" panose="020B0604020202020204" charset="0"/>
                        <a:ea typeface="Cambria Math" panose="02040503050406030204" pitchFamily="18" charset="0"/>
                        <a:sym typeface="Nunito 1 Bold"/>
                      </a:rPr>
                      <m:t>x</m:t>
                    </m:r>
                    <m:r>
                      <m:rPr>
                        <m:nor/>
                      </m:rPr>
                      <a:rPr lang="en-PH" sz="1800" b="1" i="0" smtClean="0">
                        <a:solidFill>
                          <a:srgbClr val="000000"/>
                        </a:solidFill>
                        <a:latin typeface="Nunito 1" panose="020B0604020202020204" charset="0"/>
                        <a:ea typeface="Cambria Math" panose="02040503050406030204" pitchFamily="18" charset="0"/>
                        <a:sym typeface="Nunito 1 Bold"/>
                      </a:rPr>
                      <m:t> </m:t>
                    </m:r>
                    <m:r>
                      <m:rPr>
                        <m:nor/>
                      </m:rPr>
                      <a:rPr lang="en-PH" sz="1800" b="1" i="0" smtClean="0">
                        <a:solidFill>
                          <a:srgbClr val="000000"/>
                        </a:solidFill>
                        <a:latin typeface="Nunito 1" panose="020B0604020202020204" charset="0"/>
                        <a:ea typeface="Cambria" panose="02040503050406030204" pitchFamily="18" charset="0"/>
                        <a:sym typeface="Nunito 1 Bold"/>
                      </a:rPr>
                      <m:t>ps</m:t>
                    </m:r>
                    <m:r>
                      <m:rPr>
                        <m:nor/>
                      </m:rPr>
                      <a:rPr lang="en-PH" sz="1800" b="1" i="0" smtClean="0">
                        <a:solidFill>
                          <a:srgbClr val="000000"/>
                        </a:solidFill>
                        <a:latin typeface="Nunito 1" panose="020B0604020202020204" charset="0"/>
                        <a:ea typeface="Cambria" panose="02040503050406030204" pitchFamily="18" charset="0"/>
                        <a:sym typeface="Nunito 1 Bold"/>
                      </a:rPr>
                      <m:t> </m:t>
                    </m:r>
                    <m:r>
                      <m:rPr>
                        <m:nor/>
                      </m:rPr>
                      <a:rPr lang="en-PH" sz="1800" b="1" i="0" smtClean="0">
                        <a:solidFill>
                          <a:srgbClr val="000000"/>
                        </a:solidFill>
                        <a:latin typeface="Nunito 1" panose="020B0604020202020204" charset="0"/>
                        <a:ea typeface="Cambria" panose="02040503050406030204" pitchFamily="18" charset="0"/>
                        <a:sym typeface="Nunito 1 Bold"/>
                      </a:rPr>
                      <m:t>x</m:t>
                    </m:r>
                    <m:r>
                      <m:rPr>
                        <m:nor/>
                      </m:rPr>
                      <a:rPr lang="en-PH" sz="1800" b="1" i="0" smtClean="0">
                        <a:solidFill>
                          <a:srgbClr val="000000"/>
                        </a:solidFill>
                        <a:latin typeface="Nunito 1" panose="020B0604020202020204" charset="0"/>
                        <a:ea typeface="Cambria" panose="02040503050406030204" pitchFamily="18" charset="0"/>
                        <a:sym typeface="Nunito 1 Bold"/>
                      </a:rPr>
                      <m:t> </m:t>
                    </m:r>
                    <m:r>
                      <m:rPr>
                        <m:nor/>
                      </m:rPr>
                      <a:rPr lang="en-PH" sz="1800" b="1" i="0" smtClean="0">
                        <a:solidFill>
                          <a:srgbClr val="000000"/>
                        </a:solidFill>
                        <a:latin typeface="Nunito 1" panose="020B0604020202020204" charset="0"/>
                        <a:ea typeface="Cambria" panose="02040503050406030204" pitchFamily="18" charset="0"/>
                        <a:sym typeface="Nunito 1 Bold"/>
                      </a:rPr>
                      <m:t>S</m:t>
                    </m:r>
                  </m:oMath>
                </a14:m>
                <a:r>
                  <a:rPr lang="en-US" sz="1800" b="1" dirty="0">
                    <a:solidFill>
                      <a:srgbClr val="000000"/>
                    </a:solidFill>
                    <a:latin typeface="Nunito 1" panose="020B0604020202020204" charset="0"/>
                    <a:ea typeface="Nunito 1 Bold"/>
                    <a:cs typeface="Nunito 1 Bold"/>
                    <a:sym typeface="Nunito 1 Bold"/>
                  </a:rPr>
                  <a:t>	</a:t>
                </a:r>
                <a:r>
                  <a:rPr lang="en-US" sz="1800" dirty="0">
                    <a:solidFill>
                      <a:srgbClr val="000000"/>
                    </a:solidFill>
                    <a:latin typeface="Nunito 1" panose="020B0604020202020204" charset="0"/>
                    <a:ea typeface="Nunito 1 Bold"/>
                    <a:cs typeface="Nunito 1 Bold"/>
                    <a:sym typeface="Nunito 1 Bold"/>
                  </a:rPr>
                  <a:t>             </a:t>
                </a:r>
                <a:r>
                  <a:rPr lang="en-PH" sz="1800" dirty="0">
                    <a:solidFill>
                      <a:srgbClr val="000000"/>
                    </a:solidFill>
                    <a:latin typeface="Nunito 1" panose="020B0604020202020204" charset="0"/>
                    <a:ea typeface="Cambria Math" panose="02040503050406030204" pitchFamily="18" charset="0"/>
                    <a:sym typeface="Nunito 1 Bold"/>
                  </a:rPr>
                  <a:t> (for confined aquifer)</a:t>
                </a:r>
              </a:p>
              <a:p>
                <a:pPr algn="ctr"/>
                <a:endParaRPr lang="en-PH" dirty="0">
                  <a:solidFill>
                    <a:srgbClr val="000000"/>
                  </a:solidFill>
                  <a:latin typeface="Nunito 1" panose="020B0604020202020204" charset="0"/>
                  <a:ea typeface="Cambria Math" panose="02040503050406030204" pitchFamily="18" charset="0"/>
                  <a:sym typeface="Nunito 1 Bold"/>
                </a:endParaRPr>
              </a:p>
              <a:p>
                <a:pPr marL="0" lvl="8">
                  <a:tabLst>
                    <a:tab pos="4572000" algn="l"/>
                  </a:tabLst>
                </a:pPr>
                <a:r>
                  <a:rPr lang="en-US" dirty="0">
                    <a:solidFill>
                      <a:srgbClr val="000000"/>
                    </a:solidFill>
                    <a:latin typeface="Nunito 1" panose="020B0604020202020204" charset="0"/>
                    <a:ea typeface="Nunito 1 Bold"/>
                    <a:cs typeface="Nunito 1 Bold"/>
                    <a:sym typeface="Nunito 1 Bold"/>
                  </a:rPr>
                  <a:t>Aaq – area of the aquifer, m2</a:t>
                </a:r>
              </a:p>
              <a:p>
                <a:pPr marL="0" lvl="8">
                  <a:tabLst>
                    <a:tab pos="4572000" algn="l"/>
                  </a:tabLst>
                </a:pPr>
                <a14:m>
                  <m:oMath xmlns:m="http://schemas.openxmlformats.org/officeDocument/2006/math">
                    <m:r>
                      <m:rPr>
                        <m:nor/>
                      </m:rPr>
                      <a:rPr lang="en-US">
                        <a:solidFill>
                          <a:srgbClr val="000000"/>
                        </a:solidFill>
                        <a:latin typeface="Cambria" panose="02040503050406030204" pitchFamily="18" charset="0"/>
                        <a:ea typeface="Cambria" panose="02040503050406030204" pitchFamily="18" charset="0"/>
                        <a:cs typeface="Nunito 1 Bold"/>
                        <a:sym typeface="Nunito 1 Bold"/>
                      </a:rPr>
                      <m:t>∆</m:t>
                    </m:r>
                    <m:r>
                      <m:rPr>
                        <m:nor/>
                      </m:rPr>
                      <a:rPr lang="en-PH">
                        <a:solidFill>
                          <a:srgbClr val="000000"/>
                        </a:solidFill>
                        <a:latin typeface="Nunito 1" panose="020B0604020202020204" charset="0"/>
                        <a:ea typeface="Cambria Math" panose="02040503050406030204" pitchFamily="18" charset="0"/>
                        <a:cs typeface="Nunito 1 Bold"/>
                        <a:sym typeface="Nunito 1 Bold"/>
                      </a:rPr>
                      <m:t>GWT</m:t>
                    </m:r>
                  </m:oMath>
                </a14:m>
                <a:r>
                  <a:rPr lang="en-US" dirty="0">
                    <a:solidFill>
                      <a:srgbClr val="000000"/>
                    </a:solidFill>
                    <a:latin typeface="Nunito 1" panose="020B0604020202020204" charset="0"/>
                    <a:ea typeface="Nunito 1 Bold"/>
                    <a:cs typeface="Nunito 1 Bold"/>
                    <a:sym typeface="Nunito 1 Bold"/>
                  </a:rPr>
                  <a:t> – groundwater table fluctuation or drawdown, m</a:t>
                </a:r>
              </a:p>
              <a:p>
                <a:pPr marL="0" lvl="8">
                  <a:tabLst>
                    <a:tab pos="4572000" algn="l"/>
                  </a:tabLst>
                </a:pPr>
                <a:r>
                  <a:rPr lang="en-US" dirty="0">
                    <a:solidFill>
                      <a:srgbClr val="000000"/>
                    </a:solidFill>
                    <a:latin typeface="Nunito 1" panose="020B0604020202020204" charset="0"/>
                    <a:ea typeface="Nunito 1 Bold"/>
                    <a:cs typeface="Nunito 1 Bold"/>
                    <a:sym typeface="Nunito 1 Bold"/>
                  </a:rPr>
                  <a:t>Ps – piezometric surface fluctuation</a:t>
                </a:r>
              </a:p>
              <a:p>
                <a:pPr marL="0" lvl="8">
                  <a:tabLst>
                    <a:tab pos="4572000" algn="l"/>
                  </a:tabLst>
                </a:pPr>
                <a:r>
                  <a:rPr lang="en-US" dirty="0">
                    <a:solidFill>
                      <a:srgbClr val="000000"/>
                    </a:solidFill>
                    <a:latin typeface="Nunito 1" panose="020B0604020202020204" charset="0"/>
                    <a:ea typeface="Nunito 1 Bold"/>
                    <a:cs typeface="Nunito 1 Bold"/>
                    <a:sym typeface="Nunito 1 Bold"/>
                  </a:rPr>
                  <a:t>S – storage coefficient</a:t>
                </a:r>
              </a:p>
              <a:p>
                <a:pPr algn="ctr"/>
                <a:endParaRPr lang="en-PH" sz="1800" dirty="0">
                  <a:solidFill>
                    <a:srgbClr val="000000"/>
                  </a:solidFill>
                  <a:latin typeface="Nunito 1" panose="020B0604020202020204" charset="0"/>
                  <a:ea typeface="Cambria Math" panose="02040503050406030204" pitchFamily="18" charset="0"/>
                  <a:sym typeface="Nunito 1 Bold"/>
                </a:endParaRPr>
              </a:p>
              <a:p>
                <a:pPr algn="ctr"/>
                <a:endParaRPr lang="en-PH" sz="1800" dirty="0">
                  <a:solidFill>
                    <a:srgbClr val="000000"/>
                  </a:solidFill>
                  <a:latin typeface="Nunito 1" panose="020B0604020202020204" charset="0"/>
                  <a:ea typeface="Cambria Math" panose="02040503050406030204" pitchFamily="18" charset="0"/>
                  <a:cs typeface="Nunito 1 Bold"/>
                  <a:sym typeface="Nunito 1 Bold"/>
                </a:endParaRPr>
              </a:p>
            </p:txBody>
          </p:sp>
        </mc:Choice>
        <mc:Fallback xmlns="">
          <p:sp>
            <p:nvSpPr>
              <p:cNvPr id="21" name="TextBox 20">
                <a:extLst>
                  <a:ext uri="{FF2B5EF4-FFF2-40B4-BE49-F238E27FC236}">
                    <a16:creationId xmlns:a16="http://schemas.microsoft.com/office/drawing/2014/main" id="{8D9E5497-58A9-1ED7-AE10-F1BB33CEA15F}"/>
                  </a:ext>
                </a:extLst>
              </p:cNvPr>
              <p:cNvSpPr txBox="1">
                <a:spLocks noRot="1" noChangeAspect="1" noMove="1" noResize="1" noEditPoints="1" noAdjustHandles="1" noChangeArrowheads="1" noChangeShapeType="1" noTextEdit="1"/>
              </p:cNvSpPr>
              <p:nvPr/>
            </p:nvSpPr>
            <p:spPr>
              <a:xfrm>
                <a:off x="4453759" y="4674175"/>
                <a:ext cx="9222826" cy="2340513"/>
              </a:xfrm>
              <a:prstGeom prst="rect">
                <a:avLst/>
              </a:prstGeom>
              <a:blipFill>
                <a:blip r:embed="rId3"/>
                <a:stretch>
                  <a:fillRect l="-595" t="-781"/>
                </a:stretch>
              </a:blipFill>
            </p:spPr>
            <p:txBody>
              <a:bodyPr/>
              <a:lstStyle/>
              <a:p>
                <a:r>
                  <a:rPr lang="en-PH">
                    <a:noFill/>
                  </a:rPr>
                  <a:t> </a:t>
                </a:r>
              </a:p>
            </p:txBody>
          </p:sp>
        </mc:Fallback>
      </mc:AlternateContent>
      <p:grpSp>
        <p:nvGrpSpPr>
          <p:cNvPr id="17" name="Group 16">
            <a:extLst>
              <a:ext uri="{FF2B5EF4-FFF2-40B4-BE49-F238E27FC236}">
                <a16:creationId xmlns:a16="http://schemas.microsoft.com/office/drawing/2014/main" id="{5E175028-E464-198D-BBD2-022C73A6C2D1}"/>
              </a:ext>
            </a:extLst>
          </p:cNvPr>
          <p:cNvGrpSpPr/>
          <p:nvPr/>
        </p:nvGrpSpPr>
        <p:grpSpPr>
          <a:xfrm>
            <a:off x="0" y="9599693"/>
            <a:ext cx="18287999" cy="687306"/>
            <a:chOff x="0" y="9599693"/>
            <a:chExt cx="18287999" cy="687306"/>
          </a:xfrm>
        </p:grpSpPr>
        <p:grpSp>
          <p:nvGrpSpPr>
            <p:cNvPr id="20" name="Group 11">
              <a:extLst>
                <a:ext uri="{FF2B5EF4-FFF2-40B4-BE49-F238E27FC236}">
                  <a16:creationId xmlns:a16="http://schemas.microsoft.com/office/drawing/2014/main" id="{AD23CDC9-B00C-FC09-A104-E9ACF2A80467}"/>
                </a:ext>
              </a:extLst>
            </p:cNvPr>
            <p:cNvGrpSpPr/>
            <p:nvPr/>
          </p:nvGrpSpPr>
          <p:grpSpPr>
            <a:xfrm>
              <a:off x="0" y="9599694"/>
              <a:ext cx="18287999" cy="687305"/>
              <a:chOff x="0" y="0"/>
              <a:chExt cx="5260714" cy="490218"/>
            </a:xfrm>
          </p:grpSpPr>
          <p:sp>
            <p:nvSpPr>
              <p:cNvPr id="27" name="Freeform 12">
                <a:extLst>
                  <a:ext uri="{FF2B5EF4-FFF2-40B4-BE49-F238E27FC236}">
                    <a16:creationId xmlns:a16="http://schemas.microsoft.com/office/drawing/2014/main" id="{1CBAA872-A88D-3BD2-8458-C6BB7F2801F0}"/>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8" name="TextBox 13">
                <a:extLst>
                  <a:ext uri="{FF2B5EF4-FFF2-40B4-BE49-F238E27FC236}">
                    <a16:creationId xmlns:a16="http://schemas.microsoft.com/office/drawing/2014/main" id="{C0A505D3-CE11-AB48-B706-5FBED1E4C0D8}"/>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12">
              <a:extLst>
                <a:ext uri="{FF2B5EF4-FFF2-40B4-BE49-F238E27FC236}">
                  <a16:creationId xmlns:a16="http://schemas.microsoft.com/office/drawing/2014/main" id="{96A77C98-330E-2682-6E8F-60AE3C0B8195}"/>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6" name="TextBox 13">
              <a:extLst>
                <a:ext uri="{FF2B5EF4-FFF2-40B4-BE49-F238E27FC236}">
                  <a16:creationId xmlns:a16="http://schemas.microsoft.com/office/drawing/2014/main" id="{8BBF2430-4FAB-AD9C-EB1F-E50803B47049}"/>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spTree>
    <p:extLst>
      <p:ext uri="{BB962C8B-B14F-4D97-AF65-F5344CB8AC3E}">
        <p14:creationId xmlns:p14="http://schemas.microsoft.com/office/powerpoint/2010/main" val="2558932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7415F-CEDB-0642-9EE5-D457EFC0266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DF820C9-809B-466C-6042-B030A7A989E4}"/>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89732F84-5A06-8BD8-3817-AF0C2F66027D}"/>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7C6F66E7-D47D-190B-0F05-F94119C5B47F}"/>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E924ACDF-6C8B-02A7-A44A-02D84AD26BDA}"/>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2981CD57-D59B-1AE4-6A07-E885402E2CD1}"/>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18C2D0FC-5264-1317-C083-4B894BBC0CAB}"/>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3FA878D1-B5D3-5C52-F673-8B98AF2CF950}"/>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1DF46BDB-4E96-A80D-4F0D-4C98B66DA46B}"/>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2671BD1B-58AC-8208-4C4A-6A4155B328DF}"/>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C1BD3482-6EEC-F702-55DE-6832DA8597FE}"/>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D07B2397-3D5E-EAF8-3475-B6B2F06ECC81}"/>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83130986-B87B-D945-0FDE-729217B4833E}"/>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F414B1E1-55DE-2331-4BAC-C351C98DDBEA}"/>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11</a:t>
            </a:r>
          </a:p>
        </p:txBody>
      </p:sp>
      <p:sp>
        <p:nvSpPr>
          <p:cNvPr id="15" name="TextBox 15">
            <a:extLst>
              <a:ext uri="{FF2B5EF4-FFF2-40B4-BE49-F238E27FC236}">
                <a16:creationId xmlns:a16="http://schemas.microsoft.com/office/drawing/2014/main" id="{A3A94C68-0DCF-1452-C49E-84C215DA5332}"/>
              </a:ext>
            </a:extLst>
          </p:cNvPr>
          <p:cNvSpPr txBox="1"/>
          <p:nvPr/>
        </p:nvSpPr>
        <p:spPr>
          <a:xfrm>
            <a:off x="2246041" y="2025065"/>
            <a:ext cx="13795916" cy="369332"/>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Darcy equation is used only to what type of flow?   </a:t>
            </a:r>
          </a:p>
        </p:txBody>
      </p:sp>
      <p:sp>
        <p:nvSpPr>
          <p:cNvPr id="19" name="TextBox 12">
            <a:extLst>
              <a:ext uri="{FF2B5EF4-FFF2-40B4-BE49-F238E27FC236}">
                <a16:creationId xmlns:a16="http://schemas.microsoft.com/office/drawing/2014/main" id="{DB74A839-6FC2-235E-A71A-73BD039B6BC4}"/>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2BCBF1AF-DF20-2518-B4E6-99340B2FE41E}"/>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30399AC4-B16D-7601-78C5-E2D008CB4D33}"/>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C487F315-BE69-5D54-E65A-665E00E9ECA8}"/>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5D017907-09B1-401B-0110-00EB08DBE085}"/>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https://chem.libretexts.org/Courses/University_of_Arkansas_Little_Rock/Chem_1402%3A_General_Chemistry_1_(Kattoum)</a:t>
            </a:r>
          </a:p>
        </p:txBody>
      </p:sp>
      <p:sp>
        <p:nvSpPr>
          <p:cNvPr id="16" name="TextBox 15">
            <a:extLst>
              <a:ext uri="{FF2B5EF4-FFF2-40B4-BE49-F238E27FC236}">
                <a16:creationId xmlns:a16="http://schemas.microsoft.com/office/drawing/2014/main" id="{BA381A10-BB01-EAD5-5FE7-C2DF6AB1A8A0}"/>
              </a:ext>
            </a:extLst>
          </p:cNvPr>
          <p:cNvSpPr txBox="1"/>
          <p:nvPr/>
        </p:nvSpPr>
        <p:spPr>
          <a:xfrm>
            <a:off x="1676400" y="2941299"/>
            <a:ext cx="14935200" cy="2585323"/>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Laminar</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Quasi-steady</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Steady</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Turbulent</a:t>
            </a:r>
          </a:p>
        </p:txBody>
      </p:sp>
      <p:sp>
        <p:nvSpPr>
          <p:cNvPr id="17" name="Oval 16">
            <a:extLst>
              <a:ext uri="{FF2B5EF4-FFF2-40B4-BE49-F238E27FC236}">
                <a16:creationId xmlns:a16="http://schemas.microsoft.com/office/drawing/2014/main" id="{42E3D3A0-595E-DB48-0619-D3CF5F57CDB5}"/>
              </a:ext>
            </a:extLst>
          </p:cNvPr>
          <p:cNvSpPr/>
          <p:nvPr/>
        </p:nvSpPr>
        <p:spPr>
          <a:xfrm>
            <a:off x="1524000" y="2895093"/>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8" name="TextBox 13">
            <a:extLst>
              <a:ext uri="{FF2B5EF4-FFF2-40B4-BE49-F238E27FC236}">
                <a16:creationId xmlns:a16="http://schemas.microsoft.com/office/drawing/2014/main" id="{9A6643A6-4797-1630-E2F4-8769DA5EF4F5}"/>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nvGrpSpPr>
          <p:cNvPr id="20" name="Group 19">
            <a:extLst>
              <a:ext uri="{FF2B5EF4-FFF2-40B4-BE49-F238E27FC236}">
                <a16:creationId xmlns:a16="http://schemas.microsoft.com/office/drawing/2014/main" id="{44474398-3776-548A-8550-386BA0B3B081}"/>
              </a:ext>
            </a:extLst>
          </p:cNvPr>
          <p:cNvGrpSpPr/>
          <p:nvPr/>
        </p:nvGrpSpPr>
        <p:grpSpPr>
          <a:xfrm>
            <a:off x="0" y="9599693"/>
            <a:ext cx="18287999" cy="687306"/>
            <a:chOff x="0" y="9599693"/>
            <a:chExt cx="18287999" cy="687306"/>
          </a:xfrm>
        </p:grpSpPr>
        <p:grpSp>
          <p:nvGrpSpPr>
            <p:cNvPr id="21" name="Group 11">
              <a:extLst>
                <a:ext uri="{FF2B5EF4-FFF2-40B4-BE49-F238E27FC236}">
                  <a16:creationId xmlns:a16="http://schemas.microsoft.com/office/drawing/2014/main" id="{5ACA9B34-EA63-4113-31C6-8FD7168A8ECD}"/>
                </a:ext>
              </a:extLst>
            </p:cNvPr>
            <p:cNvGrpSpPr/>
            <p:nvPr/>
          </p:nvGrpSpPr>
          <p:grpSpPr>
            <a:xfrm>
              <a:off x="0" y="9599694"/>
              <a:ext cx="18287999" cy="687305"/>
              <a:chOff x="0" y="0"/>
              <a:chExt cx="5260714" cy="490218"/>
            </a:xfrm>
          </p:grpSpPr>
          <p:sp>
            <p:nvSpPr>
              <p:cNvPr id="28" name="Freeform 12">
                <a:extLst>
                  <a:ext uri="{FF2B5EF4-FFF2-40B4-BE49-F238E27FC236}">
                    <a16:creationId xmlns:a16="http://schemas.microsoft.com/office/drawing/2014/main" id="{46FFD117-3146-7262-3CA6-AC201E9E03A4}"/>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9" name="TextBox 13">
                <a:extLst>
                  <a:ext uri="{FF2B5EF4-FFF2-40B4-BE49-F238E27FC236}">
                    <a16:creationId xmlns:a16="http://schemas.microsoft.com/office/drawing/2014/main" id="{2AA2E1C9-45A4-9149-6E45-C206E145F431}"/>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12">
              <a:extLst>
                <a:ext uri="{FF2B5EF4-FFF2-40B4-BE49-F238E27FC236}">
                  <a16:creationId xmlns:a16="http://schemas.microsoft.com/office/drawing/2014/main" id="{8DC2AFE9-251C-C572-8288-40BC7D0C8A35}"/>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7" name="TextBox 13">
              <a:extLst>
                <a:ext uri="{FF2B5EF4-FFF2-40B4-BE49-F238E27FC236}">
                  <a16:creationId xmlns:a16="http://schemas.microsoft.com/office/drawing/2014/main" id="{ED2F157A-3D38-1730-3253-3AF7C1EB9623}"/>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spTree>
    <p:extLst>
      <p:ext uri="{BB962C8B-B14F-4D97-AF65-F5344CB8AC3E}">
        <p14:creationId xmlns:p14="http://schemas.microsoft.com/office/powerpoint/2010/main" val="1968441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3856E-FD20-782F-7BFB-4E699FD4809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96478E4-4384-9F0C-71F3-B8CF616A414D}"/>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426EDC4D-6E2D-78CF-A877-22AECA135F6F}"/>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E593FF71-5A00-12FB-58D1-5823B9E66C4E}"/>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5E921126-BF32-0F60-D536-4393BECDD9F0}"/>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4398F0EA-4816-1EA1-8F37-3ACB6DE34463}"/>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B10925C6-4F12-DE1C-1AD6-5EE9DB4B1680}"/>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B79FB85D-776D-8510-9870-B8593EF90685}"/>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35238AF4-E325-1023-FA6E-2B8CB304C693}"/>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E3059EAA-572D-5865-0D82-494EB030E962}"/>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7F39B8BD-F5E7-DBE1-7EB4-EE7336329689}"/>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3D408B8D-E065-929D-0006-6D4028AF91D0}"/>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AA1B379E-41EB-D762-FB3C-EDCC547F3D12}"/>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61DDA9CA-711B-EB15-5B75-81244E34E9E2}"/>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RECALL</a:t>
            </a:r>
          </a:p>
        </p:txBody>
      </p:sp>
      <p:sp>
        <p:nvSpPr>
          <p:cNvPr id="15" name="TextBox 15">
            <a:extLst>
              <a:ext uri="{FF2B5EF4-FFF2-40B4-BE49-F238E27FC236}">
                <a16:creationId xmlns:a16="http://schemas.microsoft.com/office/drawing/2014/main" id="{A80FD688-7170-40AD-EC5C-46EBA8ED9316}"/>
              </a:ext>
            </a:extLst>
          </p:cNvPr>
          <p:cNvSpPr txBox="1"/>
          <p:nvPr/>
        </p:nvSpPr>
        <p:spPr>
          <a:xfrm>
            <a:off x="2246041" y="2025065"/>
            <a:ext cx="13795916" cy="1107996"/>
          </a:xfrm>
          <a:prstGeom prst="rect">
            <a:avLst/>
          </a:prstGeom>
        </p:spPr>
        <p:txBody>
          <a:bodyPr lIns="0" tIns="0" rIns="0" bIns="0" rtlCol="0" anchor="t">
            <a:spAutoFit/>
          </a:bodyPr>
          <a:lstStyle/>
          <a:p>
            <a:pPr algn="ctr"/>
            <a:r>
              <a:rPr lang="en-US" sz="2400" b="1" dirty="0">
                <a:solidFill>
                  <a:srgbClr val="000000"/>
                </a:solidFill>
                <a:latin typeface="Nunito 1" panose="020B0604020202020204" charset="0"/>
                <a:ea typeface="Nunito 1 Bold"/>
                <a:cs typeface="Courier New" panose="02070309020205020404" pitchFamily="49" charset="0"/>
                <a:sym typeface="Nunito 1 Bold"/>
              </a:rPr>
              <a:t>Darcy’s Law </a:t>
            </a:r>
            <a:r>
              <a:rPr lang="en-US" sz="2400" dirty="0">
                <a:solidFill>
                  <a:srgbClr val="000000"/>
                </a:solidFill>
                <a:latin typeface="Nunito 1" panose="020B0604020202020204" charset="0"/>
                <a:ea typeface="Nunito 1 Bold"/>
                <a:cs typeface="Courier New" panose="02070309020205020404" pitchFamily="49" charset="0"/>
                <a:sym typeface="Nunito 1 Bold"/>
              </a:rPr>
              <a:t>shows the mathematical relationship that indicated the steady-state flow rate through the circular sand filter. Darcy found that the flow rate was also directly proportional to the hydraulic conductivity or permeability.</a:t>
            </a:r>
          </a:p>
        </p:txBody>
      </p:sp>
      <p:sp>
        <p:nvSpPr>
          <p:cNvPr id="19" name="TextBox 12">
            <a:extLst>
              <a:ext uri="{FF2B5EF4-FFF2-40B4-BE49-F238E27FC236}">
                <a16:creationId xmlns:a16="http://schemas.microsoft.com/office/drawing/2014/main" id="{E0B96B8D-EC46-A96F-F05E-3F2CE47C4406}"/>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4302F281-13E4-501E-BBAB-C8FB2879FD6B}"/>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D8F32F3A-401D-1DD8-0F83-A48FF8C8F122}"/>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28B9356C-30B7-43A2-4A4A-67D1E4696A1E}"/>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3">
            <a:extLst>
              <a:ext uri="{FF2B5EF4-FFF2-40B4-BE49-F238E27FC236}">
                <a16:creationId xmlns:a16="http://schemas.microsoft.com/office/drawing/2014/main" id="{1F55DD9D-5D2C-BCAB-911A-97B83FF7713A}"/>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pic>
        <p:nvPicPr>
          <p:cNvPr id="21" name="Picture 20">
            <a:extLst>
              <a:ext uri="{FF2B5EF4-FFF2-40B4-BE49-F238E27FC236}">
                <a16:creationId xmlns:a16="http://schemas.microsoft.com/office/drawing/2014/main" id="{6E4A9792-6316-0041-B76F-C47B2C1F86A8}"/>
              </a:ext>
            </a:extLst>
          </p:cNvPr>
          <p:cNvPicPr>
            <a:picLocks noChangeAspect="1"/>
          </p:cNvPicPr>
          <p:nvPr/>
        </p:nvPicPr>
        <p:blipFill>
          <a:blip r:embed="rId3"/>
          <a:stretch>
            <a:fillRect/>
          </a:stretch>
        </p:blipFill>
        <p:spPr>
          <a:xfrm>
            <a:off x="3750863" y="4132291"/>
            <a:ext cx="3292004" cy="1392046"/>
          </a:xfrm>
          <a:prstGeom prst="rect">
            <a:avLst/>
          </a:prstGeom>
        </p:spPr>
      </p:pic>
      <p:pic>
        <p:nvPicPr>
          <p:cNvPr id="26" name="Picture 25">
            <a:extLst>
              <a:ext uri="{FF2B5EF4-FFF2-40B4-BE49-F238E27FC236}">
                <a16:creationId xmlns:a16="http://schemas.microsoft.com/office/drawing/2014/main" id="{A16D607A-20D9-ACE7-BDF5-7E60D06F4A00}"/>
              </a:ext>
            </a:extLst>
          </p:cNvPr>
          <p:cNvPicPr>
            <a:picLocks noChangeAspect="1"/>
          </p:cNvPicPr>
          <p:nvPr/>
        </p:nvPicPr>
        <p:blipFill>
          <a:blip r:embed="rId4"/>
          <a:stretch>
            <a:fillRect/>
          </a:stretch>
        </p:blipFill>
        <p:spPr>
          <a:xfrm>
            <a:off x="7987725" y="3331449"/>
            <a:ext cx="7584412" cy="3943000"/>
          </a:xfrm>
          <a:prstGeom prst="rect">
            <a:avLst/>
          </a:prstGeom>
        </p:spPr>
      </p:pic>
      <p:sp>
        <p:nvSpPr>
          <p:cNvPr id="28" name="TextBox 15">
            <a:extLst>
              <a:ext uri="{FF2B5EF4-FFF2-40B4-BE49-F238E27FC236}">
                <a16:creationId xmlns:a16="http://schemas.microsoft.com/office/drawing/2014/main" id="{24AA6E85-4355-EEEC-E389-84B9122E04FF}"/>
              </a:ext>
            </a:extLst>
          </p:cNvPr>
          <p:cNvSpPr txBox="1"/>
          <p:nvPr/>
        </p:nvSpPr>
        <p:spPr>
          <a:xfrm>
            <a:off x="2398441" y="7480854"/>
            <a:ext cx="13795916" cy="1107996"/>
          </a:xfrm>
          <a:prstGeom prst="rect">
            <a:avLst/>
          </a:prstGeom>
        </p:spPr>
        <p:txBody>
          <a:bodyPr lIns="0" tIns="0" rIns="0" bIns="0" rtlCol="0" anchor="t">
            <a:spAutoFit/>
          </a:bodyPr>
          <a:lstStyle/>
          <a:p>
            <a:pPr algn="just"/>
            <a:r>
              <a:rPr lang="en-US" sz="2400" b="1" dirty="0">
                <a:solidFill>
                  <a:srgbClr val="000000"/>
                </a:solidFill>
                <a:latin typeface="Nunito 1" panose="020B0604020202020204" charset="0"/>
                <a:ea typeface="Nunito 1 Bold"/>
                <a:cs typeface="Courier New" panose="02070309020205020404" pitchFamily="49" charset="0"/>
                <a:sym typeface="Nunito 1 Bold"/>
              </a:rPr>
              <a:t>Darcy Equation </a:t>
            </a:r>
            <a:r>
              <a:rPr lang="en-US" sz="2400" dirty="0">
                <a:solidFill>
                  <a:srgbClr val="000000"/>
                </a:solidFill>
                <a:latin typeface="Nunito 1" panose="020B0604020202020204" charset="0"/>
                <a:ea typeface="Nunito 1 Bold"/>
                <a:cs typeface="Courier New" panose="02070309020205020404" pitchFamily="49" charset="0"/>
                <a:sym typeface="Nunito 1 Bold"/>
              </a:rPr>
              <a:t>- basic form of energy loss in the flow equation. It states that the energy loss is directly proportional to  the some friction factor, the length of the system and the  kinetic energy level and inversely proportional to the  diameter of the conductor.</a:t>
            </a:r>
          </a:p>
        </p:txBody>
      </p:sp>
      <p:grpSp>
        <p:nvGrpSpPr>
          <p:cNvPr id="16" name="Group 15">
            <a:extLst>
              <a:ext uri="{FF2B5EF4-FFF2-40B4-BE49-F238E27FC236}">
                <a16:creationId xmlns:a16="http://schemas.microsoft.com/office/drawing/2014/main" id="{D2B1840D-BBC2-753F-939B-D1E9FD518D82}"/>
              </a:ext>
            </a:extLst>
          </p:cNvPr>
          <p:cNvGrpSpPr/>
          <p:nvPr/>
        </p:nvGrpSpPr>
        <p:grpSpPr>
          <a:xfrm>
            <a:off x="0" y="9599693"/>
            <a:ext cx="18287999" cy="687306"/>
            <a:chOff x="0" y="9599693"/>
            <a:chExt cx="18287999" cy="687306"/>
          </a:xfrm>
        </p:grpSpPr>
        <p:grpSp>
          <p:nvGrpSpPr>
            <p:cNvPr id="17" name="Group 11">
              <a:extLst>
                <a:ext uri="{FF2B5EF4-FFF2-40B4-BE49-F238E27FC236}">
                  <a16:creationId xmlns:a16="http://schemas.microsoft.com/office/drawing/2014/main" id="{70394E58-115C-727B-4F96-B7A2E581D249}"/>
                </a:ext>
              </a:extLst>
            </p:cNvPr>
            <p:cNvGrpSpPr/>
            <p:nvPr/>
          </p:nvGrpSpPr>
          <p:grpSpPr>
            <a:xfrm>
              <a:off x="0" y="9599694"/>
              <a:ext cx="18287999" cy="687305"/>
              <a:chOff x="0" y="0"/>
              <a:chExt cx="5260714" cy="490218"/>
            </a:xfrm>
          </p:grpSpPr>
          <p:sp>
            <p:nvSpPr>
              <p:cNvPr id="27" name="Freeform 12">
                <a:extLst>
                  <a:ext uri="{FF2B5EF4-FFF2-40B4-BE49-F238E27FC236}">
                    <a16:creationId xmlns:a16="http://schemas.microsoft.com/office/drawing/2014/main" id="{0CEEBF34-037E-6C05-7677-B38210EFAAF5}"/>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9" name="TextBox 13">
                <a:extLst>
                  <a:ext uri="{FF2B5EF4-FFF2-40B4-BE49-F238E27FC236}">
                    <a16:creationId xmlns:a16="http://schemas.microsoft.com/office/drawing/2014/main" id="{686DDFA0-08DE-E39D-7E51-3B902A17D1C6}"/>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0" name="TextBox 12">
              <a:extLst>
                <a:ext uri="{FF2B5EF4-FFF2-40B4-BE49-F238E27FC236}">
                  <a16:creationId xmlns:a16="http://schemas.microsoft.com/office/drawing/2014/main" id="{F79AF3C0-CFC7-B8F1-2B61-A21B0FF29C89}"/>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2" name="TextBox 13">
              <a:extLst>
                <a:ext uri="{FF2B5EF4-FFF2-40B4-BE49-F238E27FC236}">
                  <a16:creationId xmlns:a16="http://schemas.microsoft.com/office/drawing/2014/main" id="{40D90E84-315E-95E0-F66B-0DCDFABB76D4}"/>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spTree>
    <p:extLst>
      <p:ext uri="{BB962C8B-B14F-4D97-AF65-F5344CB8AC3E}">
        <p14:creationId xmlns:p14="http://schemas.microsoft.com/office/powerpoint/2010/main" val="1053127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38F11-4F9F-3934-580B-6034EC29723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3119789-0553-F32E-81D6-9D6F0F1E3779}"/>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75C30230-FCE4-48E2-ECF2-E3A147EB7B5B}"/>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90173B0D-552D-D4AE-F30B-94A8F6E30E10}"/>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C3B7B6B3-1F66-EC0E-86C6-4B5157C4A2FF}"/>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1163E1D4-7061-B3FC-0FEC-483FD37D4F89}"/>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C4A29362-455B-A48E-9EFC-35D66F355999}"/>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CD942839-2B6F-2D2F-B284-34286F13D0BA}"/>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C680B114-7225-27F3-F449-0DC39141D051}"/>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0E8F6589-748E-F3CC-9481-319301404595}"/>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68A8402E-B2C9-1B24-0099-EDF985A09CB3}"/>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2DF11911-F2E7-B136-72A7-6B2AE5B5D291}"/>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5BBFC0A2-3766-6819-40CF-307A8A7AC876}"/>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AFED92B9-78D2-281B-B6AD-DFDCBDF0F7F1}"/>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RECALL</a:t>
            </a:r>
          </a:p>
        </p:txBody>
      </p:sp>
      <p:sp>
        <p:nvSpPr>
          <p:cNvPr id="19" name="TextBox 12">
            <a:extLst>
              <a:ext uri="{FF2B5EF4-FFF2-40B4-BE49-F238E27FC236}">
                <a16:creationId xmlns:a16="http://schemas.microsoft.com/office/drawing/2014/main" id="{E6D3B54B-77AC-23AE-5E7B-5C96EA09CA79}"/>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85EF39CB-71C5-020F-9139-95F4C10BAAF4}"/>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A76F1CB6-01F1-64D1-D88F-62BFA138FF47}"/>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305CCB89-80CF-215F-CC8B-6384BE85242F}"/>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3">
            <a:extLst>
              <a:ext uri="{FF2B5EF4-FFF2-40B4-BE49-F238E27FC236}">
                <a16:creationId xmlns:a16="http://schemas.microsoft.com/office/drawing/2014/main" id="{4F48171A-A7B7-E414-CCC0-746BB207B4A3}"/>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pic>
        <p:nvPicPr>
          <p:cNvPr id="21" name="Picture 20">
            <a:extLst>
              <a:ext uri="{FF2B5EF4-FFF2-40B4-BE49-F238E27FC236}">
                <a16:creationId xmlns:a16="http://schemas.microsoft.com/office/drawing/2014/main" id="{0BE529F5-4E69-2CDC-F87B-BAC66C1B7946}"/>
              </a:ext>
            </a:extLst>
          </p:cNvPr>
          <p:cNvPicPr>
            <a:picLocks noChangeAspect="1"/>
          </p:cNvPicPr>
          <p:nvPr/>
        </p:nvPicPr>
        <p:blipFill>
          <a:blip r:embed="rId3"/>
          <a:stretch>
            <a:fillRect/>
          </a:stretch>
        </p:blipFill>
        <p:spPr>
          <a:xfrm>
            <a:off x="1332332" y="2148796"/>
            <a:ext cx="5337212" cy="2256876"/>
          </a:xfrm>
          <a:prstGeom prst="rect">
            <a:avLst/>
          </a:prstGeom>
        </p:spPr>
      </p:pic>
      <p:grpSp>
        <p:nvGrpSpPr>
          <p:cNvPr id="30" name="Group 29">
            <a:extLst>
              <a:ext uri="{FF2B5EF4-FFF2-40B4-BE49-F238E27FC236}">
                <a16:creationId xmlns:a16="http://schemas.microsoft.com/office/drawing/2014/main" id="{A0A66DCD-8F48-11D9-A4A9-DBD7493BEFF5}"/>
              </a:ext>
            </a:extLst>
          </p:cNvPr>
          <p:cNvGrpSpPr/>
          <p:nvPr/>
        </p:nvGrpSpPr>
        <p:grpSpPr>
          <a:xfrm>
            <a:off x="3733800" y="2297020"/>
            <a:ext cx="8230621" cy="1905000"/>
            <a:chOff x="3733800" y="3848100"/>
            <a:chExt cx="8230621" cy="1905000"/>
          </a:xfrm>
        </p:grpSpPr>
        <p:sp>
          <p:nvSpPr>
            <p:cNvPr id="16" name="Rectangle: Rounded Corners 15">
              <a:extLst>
                <a:ext uri="{FF2B5EF4-FFF2-40B4-BE49-F238E27FC236}">
                  <a16:creationId xmlns:a16="http://schemas.microsoft.com/office/drawing/2014/main" id="{A34589F7-34E5-F185-F2D6-2037C26C2D49}"/>
                </a:ext>
              </a:extLst>
            </p:cNvPr>
            <p:cNvSpPr/>
            <p:nvPr/>
          </p:nvSpPr>
          <p:spPr>
            <a:xfrm>
              <a:off x="3733800" y="3848100"/>
              <a:ext cx="1524000" cy="1905000"/>
            </a:xfrm>
            <a:prstGeom prst="round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7" name="Rectangle: Rounded Corners 16">
              <a:extLst>
                <a:ext uri="{FF2B5EF4-FFF2-40B4-BE49-F238E27FC236}">
                  <a16:creationId xmlns:a16="http://schemas.microsoft.com/office/drawing/2014/main" id="{B6E3DCB2-02A0-38F8-B854-59D6185D35A4}"/>
                </a:ext>
              </a:extLst>
            </p:cNvPr>
            <p:cNvSpPr/>
            <p:nvPr/>
          </p:nvSpPr>
          <p:spPr>
            <a:xfrm>
              <a:off x="8059608" y="4445051"/>
              <a:ext cx="3904813" cy="719180"/>
            </a:xfrm>
            <a:prstGeom prst="round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H" sz="2400" dirty="0">
                  <a:solidFill>
                    <a:sysClr val="windowText" lastClr="000000"/>
                  </a:solidFill>
                  <a:latin typeface="Nunito 1" panose="020B0604020202020204" charset="0"/>
                </a:rPr>
                <a:t>Equation for velocity</a:t>
              </a:r>
            </a:p>
          </p:txBody>
        </p:sp>
        <p:cxnSp>
          <p:nvCxnSpPr>
            <p:cNvPr id="22" name="Straight Connector 21">
              <a:extLst>
                <a:ext uri="{FF2B5EF4-FFF2-40B4-BE49-F238E27FC236}">
                  <a16:creationId xmlns:a16="http://schemas.microsoft.com/office/drawing/2014/main" id="{5256E697-2447-D657-96C6-55BCE352DCC7}"/>
                </a:ext>
              </a:extLst>
            </p:cNvPr>
            <p:cNvCxnSpPr>
              <a:stCxn id="16" idx="3"/>
              <a:endCxn id="17" idx="1"/>
            </p:cNvCxnSpPr>
            <p:nvPr/>
          </p:nvCxnSpPr>
          <p:spPr>
            <a:xfrm>
              <a:off x="5257800" y="4800600"/>
              <a:ext cx="2801808" cy="4041"/>
            </a:xfrm>
            <a:prstGeom prst="line">
              <a:avLst/>
            </a:prstGeom>
            <a:ln w="28575">
              <a:solidFill>
                <a:srgbClr val="FF0000"/>
              </a:solidFill>
              <a:prstDash val="dash"/>
            </a:ln>
          </p:spPr>
          <p:style>
            <a:lnRef idx="1">
              <a:schemeClr val="accent2"/>
            </a:lnRef>
            <a:fillRef idx="0">
              <a:schemeClr val="accent2"/>
            </a:fillRef>
            <a:effectRef idx="0">
              <a:schemeClr val="accent2"/>
            </a:effectRef>
            <a:fontRef idx="minor">
              <a:schemeClr val="tx1"/>
            </a:fontRef>
          </p:style>
        </p:cxnSp>
      </p:gr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D10F7635-D868-B0C2-BAB5-0639493B5A6E}"/>
                  </a:ext>
                </a:extLst>
              </p:cNvPr>
              <p:cNvSpPr txBox="1"/>
              <p:nvPr/>
            </p:nvSpPr>
            <p:spPr>
              <a:xfrm>
                <a:off x="1676400" y="4957666"/>
                <a:ext cx="14935200" cy="2811282"/>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Darcy’s law states that the velocity of flow in a porous medium is proportional to the hydraulic gradient.</a:t>
                </a:r>
              </a:p>
              <a:p>
                <a:pPr algn="just"/>
                <a:endParaRPr lang="en-US" sz="2400" dirty="0">
                  <a:solidFill>
                    <a:srgbClr val="000000"/>
                  </a:solidFill>
                  <a:latin typeface="Nunito 1" panose="020B0604020202020204" charset="0"/>
                  <a:ea typeface="Nunito 1 Bold"/>
                  <a:cs typeface="Nunito 1 Bold"/>
                  <a:sym typeface="Nunito 1 Bold"/>
                </a:endParaRPr>
              </a:p>
              <a:p>
                <a:pPr algn="ctr"/>
                <a:r>
                  <a:rPr lang="en-US" sz="2400" i="1" dirty="0">
                    <a:solidFill>
                      <a:srgbClr val="000000"/>
                    </a:solidFill>
                    <a:latin typeface="Nunito 1" panose="020B0604020202020204" charset="0"/>
                    <a:ea typeface="Nunito 1 Bold"/>
                    <a:cs typeface="Nunito 1 Bold"/>
                    <a:sym typeface="Nunito 1 Bold"/>
                  </a:rPr>
                  <a:t>V = Ki ;	 </a:t>
                </a:r>
                <a:r>
                  <a:rPr lang="en-US" sz="2400" i="1" dirty="0" err="1">
                    <a:solidFill>
                      <a:srgbClr val="000000"/>
                    </a:solidFill>
                    <a:latin typeface="Nunito 1" panose="020B0604020202020204" charset="0"/>
                    <a:ea typeface="Nunito 1 Bold"/>
                    <a:cs typeface="Nunito 1 Bold"/>
                    <a:sym typeface="Nunito 1 Bold"/>
                  </a:rPr>
                  <a:t>i</a:t>
                </a:r>
                <a:r>
                  <a:rPr lang="en-US" sz="2400" i="1" dirty="0">
                    <a:solidFill>
                      <a:srgbClr val="000000"/>
                    </a:solidFill>
                    <a:latin typeface="Nunito 1" panose="020B0604020202020204" charset="0"/>
                    <a:ea typeface="Nunito 1 Bold"/>
                    <a:cs typeface="Nunito 1 Bold"/>
                    <a:sym typeface="Nunito 1 Bold"/>
                  </a:rPr>
                  <a:t> = </a:t>
                </a:r>
                <a14:m>
                  <m:oMath xmlns:m="http://schemas.openxmlformats.org/officeDocument/2006/math">
                    <m:f>
                      <m:fPr>
                        <m:ctrlPr>
                          <a:rPr lang="en-US" sz="2400" i="1" smtClean="0">
                            <a:solidFill>
                              <a:srgbClr val="000000"/>
                            </a:solidFill>
                            <a:latin typeface="Cambria Math" panose="02040503050406030204" pitchFamily="18" charset="0"/>
                            <a:sym typeface="Nunito 1 Bold"/>
                          </a:rPr>
                        </m:ctrlPr>
                      </m:fPr>
                      <m:num>
                        <m:r>
                          <m:rPr>
                            <m:nor/>
                          </m:rPr>
                          <a:rPr lang="en-US" sz="2400" i="1" smtClean="0">
                            <a:solidFill>
                              <a:srgbClr val="000000"/>
                            </a:solidFill>
                            <a:latin typeface="Cambria Math" panose="02040503050406030204" pitchFamily="18" charset="0"/>
                            <a:ea typeface="Cambria Math" panose="02040503050406030204" pitchFamily="18" charset="0"/>
                            <a:sym typeface="Nunito 1 Bold"/>
                          </a:rPr>
                          <m:t>∆</m:t>
                        </m:r>
                        <m:r>
                          <m:rPr>
                            <m:nor/>
                          </m:rPr>
                          <a:rPr lang="en-PH" sz="2400" b="0" i="1" smtClean="0">
                            <a:solidFill>
                              <a:srgbClr val="000000"/>
                            </a:solidFill>
                            <a:latin typeface="Nunito 1" panose="020B0604020202020204" charset="0"/>
                            <a:ea typeface="Cambria Math" panose="02040503050406030204" pitchFamily="18" charset="0"/>
                            <a:sym typeface="Nunito 1 Bold"/>
                          </a:rPr>
                          <m:t>h</m:t>
                        </m:r>
                      </m:num>
                      <m:den>
                        <m:r>
                          <m:rPr>
                            <m:nor/>
                          </m:rPr>
                          <a:rPr lang="en-US" sz="2400" i="1" smtClean="0">
                            <a:solidFill>
                              <a:srgbClr val="000000"/>
                            </a:solidFill>
                            <a:latin typeface="Cambria Math" panose="02040503050406030204" pitchFamily="18" charset="0"/>
                            <a:ea typeface="Cambria Math" panose="02040503050406030204" pitchFamily="18" charset="0"/>
                            <a:sym typeface="Nunito 1 Bold"/>
                          </a:rPr>
                          <m:t>∆</m:t>
                        </m:r>
                        <m:r>
                          <m:rPr>
                            <m:nor/>
                          </m:rPr>
                          <a:rPr lang="en-PH" sz="2400" b="0" i="1" smtClean="0">
                            <a:solidFill>
                              <a:srgbClr val="000000"/>
                            </a:solidFill>
                            <a:latin typeface="Nunito 1" panose="020B0604020202020204" charset="0"/>
                            <a:ea typeface="Cambria Math" panose="02040503050406030204" pitchFamily="18" charset="0"/>
                            <a:sym typeface="Nunito 1 Bold"/>
                          </a:rPr>
                          <m:t>L</m:t>
                        </m:r>
                      </m:den>
                    </m:f>
                  </m:oMath>
                </a14:m>
                <a:endParaRPr lang="en-US" sz="2400" i="1" dirty="0">
                  <a:solidFill>
                    <a:srgbClr val="000000"/>
                  </a:solidFill>
                  <a:latin typeface="Nunito 1" panose="020B0604020202020204" charset="0"/>
                  <a:ea typeface="Nunito 1 Bold"/>
                  <a:cs typeface="Nunito 1 Bold"/>
                  <a:sym typeface="Nunito 1 Bold"/>
                </a:endParaRPr>
              </a:p>
              <a:p>
                <a:pPr algn="just"/>
                <a:endParaRPr lang="en-US" sz="2400" dirty="0">
                  <a:solidFill>
                    <a:srgbClr val="000000"/>
                  </a:solidFill>
                  <a:latin typeface="Nunito 1" panose="020B0604020202020204" charset="0"/>
                  <a:ea typeface="Nunito 1 Bold"/>
                  <a:cs typeface="Nunito 1 Bold"/>
                  <a:sym typeface="Nunito 1 Bold"/>
                </a:endParaRPr>
              </a:p>
              <a:p>
                <a:pPr algn="just"/>
                <a:r>
                  <a:rPr lang="en-US" sz="2400" dirty="0">
                    <a:solidFill>
                      <a:srgbClr val="000000"/>
                    </a:solidFill>
                    <a:latin typeface="Nunito 1" panose="020B0604020202020204" charset="0"/>
                    <a:ea typeface="Nunito 1 Bold"/>
                    <a:cs typeface="Nunito 1 Bold"/>
                    <a:sym typeface="Nunito 1 Bold"/>
                  </a:rPr>
                  <a:t>K – coefficient of permeability of the aquifer soil</a:t>
                </a:r>
              </a:p>
              <a:p>
                <a:pPr algn="just"/>
                <a:r>
                  <a:rPr lang="en-US" sz="2400" dirty="0">
                    <a:solidFill>
                      <a:srgbClr val="000000"/>
                    </a:solidFill>
                    <a:latin typeface="Nunito 1" panose="020B0604020202020204" charset="0"/>
                    <a:ea typeface="Nunito 1 Bold"/>
                    <a:cs typeface="Nunito 1 Bold"/>
                    <a:sym typeface="Nunito 1 Bold"/>
                  </a:rPr>
                  <a:t>i – hydraulic gradient</a:t>
                </a:r>
              </a:p>
              <a:p>
                <a:pPr algn="just"/>
                <a:endParaRPr lang="en-US" sz="2400" dirty="0">
                  <a:solidFill>
                    <a:srgbClr val="000000"/>
                  </a:solidFill>
                  <a:latin typeface="Nunito 1" panose="020B0604020202020204" charset="0"/>
                  <a:ea typeface="Nunito 1 Bold"/>
                  <a:cs typeface="Nunito 1 Bold"/>
                  <a:sym typeface="Nunito 1 Bold"/>
                </a:endParaRPr>
              </a:p>
            </p:txBody>
          </p:sp>
        </mc:Choice>
        <mc:Fallback xmlns="">
          <p:sp>
            <p:nvSpPr>
              <p:cNvPr id="31" name="TextBox 30">
                <a:extLst>
                  <a:ext uri="{FF2B5EF4-FFF2-40B4-BE49-F238E27FC236}">
                    <a16:creationId xmlns:a16="http://schemas.microsoft.com/office/drawing/2014/main" id="{D10F7635-D868-B0C2-BAB5-0639493B5A6E}"/>
                  </a:ext>
                </a:extLst>
              </p:cNvPr>
              <p:cNvSpPr txBox="1">
                <a:spLocks noRot="1" noChangeAspect="1" noMove="1" noResize="1" noEditPoints="1" noAdjustHandles="1" noChangeArrowheads="1" noChangeShapeType="1" noTextEdit="1"/>
              </p:cNvSpPr>
              <p:nvPr/>
            </p:nvSpPr>
            <p:spPr>
              <a:xfrm>
                <a:off x="1676400" y="4957666"/>
                <a:ext cx="14935200" cy="2811282"/>
              </a:xfrm>
              <a:prstGeom prst="rect">
                <a:avLst/>
              </a:prstGeom>
              <a:blipFill>
                <a:blip r:embed="rId4"/>
                <a:stretch>
                  <a:fillRect l="-1224" t="-3254"/>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EDFC7A96-2A13-23B6-19E4-777082B377C7}"/>
                  </a:ext>
                </a:extLst>
              </p:cNvPr>
              <p:cNvSpPr txBox="1"/>
              <p:nvPr/>
            </p:nvSpPr>
            <p:spPr>
              <a:xfrm>
                <a:off x="1737360" y="7804628"/>
                <a:ext cx="14935200" cy="600934"/>
              </a:xfrm>
              <a:prstGeom prst="rect">
                <a:avLst/>
              </a:prstGeom>
            </p:spPr>
            <p:txBody>
              <a:bodyPr wrap="square" lIns="0" tIns="0" rIns="0" bIns="0" rtlCol="0" anchor="t">
                <a:spAutoFit/>
              </a:bodyPr>
              <a:lstStyle/>
              <a:p>
                <a:pPr algn="ctr"/>
                <a:r>
                  <a:rPr lang="en-US" sz="2400" dirty="0">
                    <a:solidFill>
                      <a:srgbClr val="000000"/>
                    </a:solidFill>
                    <a:latin typeface="Nunito 1" panose="020B0604020202020204" charset="0"/>
                    <a:ea typeface="Nunito 1 Bold"/>
                    <a:cs typeface="Nunito 1 Bold"/>
                    <a:sym typeface="Nunito 1 Bold"/>
                  </a:rPr>
                  <a:t>V</a:t>
                </a:r>
                <a:r>
                  <a:rPr lang="en-US" sz="2400" baseline="-25000" dirty="0">
                    <a:solidFill>
                      <a:srgbClr val="000000"/>
                    </a:solidFill>
                    <a:latin typeface="Nunito 1" panose="020B0604020202020204" charset="0"/>
                    <a:ea typeface="Nunito 1 Bold"/>
                    <a:cs typeface="Nunito 1 Bold"/>
                    <a:sym typeface="Nunito 1 Bold"/>
                  </a:rPr>
                  <a:t>actual</a:t>
                </a:r>
                <a:r>
                  <a:rPr lang="en-US" sz="2400" dirty="0">
                    <a:solidFill>
                      <a:srgbClr val="000000"/>
                    </a:solidFill>
                    <a:latin typeface="Nunito 1" panose="020B0604020202020204" charset="0"/>
                    <a:ea typeface="Nunito 1 Bold"/>
                    <a:cs typeface="Nunito 1 Bold"/>
                    <a:sym typeface="Nunito 1 Bold"/>
                  </a:rPr>
                  <a:t> = </a:t>
                </a:r>
                <a14:m>
                  <m:oMath xmlns:m="http://schemas.openxmlformats.org/officeDocument/2006/math">
                    <m:f>
                      <m:fPr>
                        <m:ctrlPr>
                          <a:rPr lang="en-US" sz="2400" i="1" smtClean="0">
                            <a:solidFill>
                              <a:srgbClr val="000000"/>
                            </a:solidFill>
                            <a:latin typeface="Cambria Math" panose="02040503050406030204" pitchFamily="18" charset="0"/>
                            <a:sym typeface="Nunito 1 Bold"/>
                          </a:rPr>
                        </m:ctrlPr>
                      </m:fPr>
                      <m:num>
                        <m:r>
                          <m:rPr>
                            <m:nor/>
                          </m:rPr>
                          <a:rPr lang="en-PH" sz="2400" b="0" i="0" smtClean="0">
                            <a:solidFill>
                              <a:srgbClr val="000000"/>
                            </a:solidFill>
                            <a:latin typeface="Nunito 1" panose="020B0604020202020204" charset="0"/>
                            <a:sym typeface="Nunito 1 Bold"/>
                          </a:rPr>
                          <m:t>V</m:t>
                        </m:r>
                      </m:num>
                      <m:den>
                        <m:r>
                          <m:rPr>
                            <m:nor/>
                          </m:rPr>
                          <a:rPr lang="en-PH" sz="2400" b="0" i="0" smtClean="0">
                            <a:solidFill>
                              <a:srgbClr val="000000"/>
                            </a:solidFill>
                            <a:latin typeface="Nunito 1" panose="020B0604020202020204" charset="0"/>
                            <a:sym typeface="Nunito 1 Bold"/>
                          </a:rPr>
                          <m:t>n</m:t>
                        </m:r>
                      </m:den>
                    </m:f>
                  </m:oMath>
                </a14:m>
                <a:endParaRPr lang="en-US" sz="2400" dirty="0">
                  <a:solidFill>
                    <a:srgbClr val="000000"/>
                  </a:solidFill>
                  <a:latin typeface="Nunito 1" panose="020B0604020202020204" charset="0"/>
                  <a:ea typeface="Nunito 1 Bold"/>
                  <a:cs typeface="Nunito 1 Bold"/>
                  <a:sym typeface="Nunito 1 Bold"/>
                </a:endParaRPr>
              </a:p>
            </p:txBody>
          </p:sp>
        </mc:Choice>
        <mc:Fallback xmlns="">
          <p:sp>
            <p:nvSpPr>
              <p:cNvPr id="32" name="TextBox 31">
                <a:extLst>
                  <a:ext uri="{FF2B5EF4-FFF2-40B4-BE49-F238E27FC236}">
                    <a16:creationId xmlns:a16="http://schemas.microsoft.com/office/drawing/2014/main" id="{EDFC7A96-2A13-23B6-19E4-777082B377C7}"/>
                  </a:ext>
                </a:extLst>
              </p:cNvPr>
              <p:cNvSpPr txBox="1">
                <a:spLocks noRot="1" noChangeAspect="1" noMove="1" noResize="1" noEditPoints="1" noAdjustHandles="1" noChangeArrowheads="1" noChangeShapeType="1" noTextEdit="1"/>
              </p:cNvSpPr>
              <p:nvPr/>
            </p:nvSpPr>
            <p:spPr>
              <a:xfrm>
                <a:off x="1737360" y="7804628"/>
                <a:ext cx="14935200" cy="600934"/>
              </a:xfrm>
              <a:prstGeom prst="rect">
                <a:avLst/>
              </a:prstGeom>
              <a:blipFill>
                <a:blip r:embed="rId5"/>
                <a:stretch>
                  <a:fillRect b="-20202"/>
                </a:stretch>
              </a:blipFill>
            </p:spPr>
            <p:txBody>
              <a:bodyPr/>
              <a:lstStyle/>
              <a:p>
                <a:r>
                  <a:rPr lang="en-PH">
                    <a:noFill/>
                  </a:rPr>
                  <a:t> </a:t>
                </a:r>
              </a:p>
            </p:txBody>
          </p:sp>
        </mc:Fallback>
      </mc:AlternateContent>
      <p:grpSp>
        <p:nvGrpSpPr>
          <p:cNvPr id="15" name="Group 14">
            <a:extLst>
              <a:ext uri="{FF2B5EF4-FFF2-40B4-BE49-F238E27FC236}">
                <a16:creationId xmlns:a16="http://schemas.microsoft.com/office/drawing/2014/main" id="{254F5532-6BC7-2302-90BB-16861AC0128E}"/>
              </a:ext>
            </a:extLst>
          </p:cNvPr>
          <p:cNvGrpSpPr/>
          <p:nvPr/>
        </p:nvGrpSpPr>
        <p:grpSpPr>
          <a:xfrm>
            <a:off x="0" y="9599693"/>
            <a:ext cx="18287999" cy="687306"/>
            <a:chOff x="0" y="9599693"/>
            <a:chExt cx="18287999" cy="687306"/>
          </a:xfrm>
        </p:grpSpPr>
        <p:grpSp>
          <p:nvGrpSpPr>
            <p:cNvPr id="20" name="Group 11">
              <a:extLst>
                <a:ext uri="{FF2B5EF4-FFF2-40B4-BE49-F238E27FC236}">
                  <a16:creationId xmlns:a16="http://schemas.microsoft.com/office/drawing/2014/main" id="{668259C9-3F83-7CD7-2017-68EE08E64A14}"/>
                </a:ext>
              </a:extLst>
            </p:cNvPr>
            <p:cNvGrpSpPr/>
            <p:nvPr/>
          </p:nvGrpSpPr>
          <p:grpSpPr>
            <a:xfrm>
              <a:off x="0" y="9599694"/>
              <a:ext cx="18287999" cy="687305"/>
              <a:chOff x="0" y="0"/>
              <a:chExt cx="5260714" cy="490218"/>
            </a:xfrm>
          </p:grpSpPr>
          <p:sp>
            <p:nvSpPr>
              <p:cNvPr id="28" name="Freeform 12">
                <a:extLst>
                  <a:ext uri="{FF2B5EF4-FFF2-40B4-BE49-F238E27FC236}">
                    <a16:creationId xmlns:a16="http://schemas.microsoft.com/office/drawing/2014/main" id="{F05A738E-8077-2F29-1A16-44AEE5B277B3}"/>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9" name="TextBox 13">
                <a:extLst>
                  <a:ext uri="{FF2B5EF4-FFF2-40B4-BE49-F238E27FC236}">
                    <a16:creationId xmlns:a16="http://schemas.microsoft.com/office/drawing/2014/main" id="{20841EDC-E211-A233-E69A-650092ADD185}"/>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2">
              <a:extLst>
                <a:ext uri="{FF2B5EF4-FFF2-40B4-BE49-F238E27FC236}">
                  <a16:creationId xmlns:a16="http://schemas.microsoft.com/office/drawing/2014/main" id="{551A2FF8-507D-A115-A103-D5D200B34229}"/>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7" name="TextBox 13">
              <a:extLst>
                <a:ext uri="{FF2B5EF4-FFF2-40B4-BE49-F238E27FC236}">
                  <a16:creationId xmlns:a16="http://schemas.microsoft.com/office/drawing/2014/main" id="{D9FF14F5-124A-AF49-3005-08AD3A756CD8}"/>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spTree>
    <p:extLst>
      <p:ext uri="{BB962C8B-B14F-4D97-AF65-F5344CB8AC3E}">
        <p14:creationId xmlns:p14="http://schemas.microsoft.com/office/powerpoint/2010/main" val="14579358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DB7A9-0475-BCD5-7C63-AC765E03A32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97C0855-7FBB-98B3-5557-EC6767C42F0E}"/>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44546B52-0FCD-1A7B-9DA7-9140498FDE38}"/>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B078719D-52FC-3A70-4625-82B35B2B5D62}"/>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6699EAD1-64AE-0F65-ED02-742E45531A5C}"/>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CF512606-CE7C-7471-3AFC-0499897B35AE}"/>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4D0D2090-2CEB-6839-30B0-E7874B9D6331}"/>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C6D419F3-6A5A-C10B-5164-A164E0A84907}"/>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B89CC1A5-EB35-C116-CAF2-120C6C81433C}"/>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2B1ABF08-A228-36F0-9DD5-043B988A3A1C}"/>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E177A178-030E-2D9D-2AD1-1D32FD86A2EA}"/>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0B495FF5-3528-AE42-E322-44D80E3FAEFD}"/>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3078850C-2B6E-3337-30E9-6F7F1B4A1450}"/>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0B66032B-DD2B-4CAE-0C15-56461C474136}"/>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11</a:t>
            </a:r>
          </a:p>
        </p:txBody>
      </p:sp>
      <p:sp>
        <p:nvSpPr>
          <p:cNvPr id="15" name="TextBox 15">
            <a:extLst>
              <a:ext uri="{FF2B5EF4-FFF2-40B4-BE49-F238E27FC236}">
                <a16:creationId xmlns:a16="http://schemas.microsoft.com/office/drawing/2014/main" id="{D6BD2547-6DD8-BF40-51CB-8EA56C685D84}"/>
              </a:ext>
            </a:extLst>
          </p:cNvPr>
          <p:cNvSpPr txBox="1"/>
          <p:nvPr/>
        </p:nvSpPr>
        <p:spPr>
          <a:xfrm>
            <a:off x="2246041" y="2025065"/>
            <a:ext cx="13795916" cy="738664"/>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Which property describes the flow capacity of an aquifer per unit width under unit hydraulic gradient, and is equal to the product of permeability multiplied by the saturated thickness of the aquifer?</a:t>
            </a:r>
          </a:p>
        </p:txBody>
      </p:sp>
      <p:sp>
        <p:nvSpPr>
          <p:cNvPr id="19" name="TextBox 12">
            <a:extLst>
              <a:ext uri="{FF2B5EF4-FFF2-40B4-BE49-F238E27FC236}">
                <a16:creationId xmlns:a16="http://schemas.microsoft.com/office/drawing/2014/main" id="{2D51902C-ED20-1FC4-DE63-6713C0D07875}"/>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167FA2C1-8DE4-135A-E7C4-056D72711955}"/>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DBFB5A29-4800-2104-1113-63071628C008}"/>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8CB12082-F56B-5C82-8AD8-C9AF3A885842}"/>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1CA334EF-08C9-520A-2FA4-CF15049D54E0}"/>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https://chem.libretexts.org/Courses/University_of_Arkansas_Little_Rock/Chem_1402%3A_General_Chemistry_1_(Kattoum)</a:t>
            </a:r>
          </a:p>
        </p:txBody>
      </p:sp>
      <p:sp>
        <p:nvSpPr>
          <p:cNvPr id="16" name="TextBox 15">
            <a:extLst>
              <a:ext uri="{FF2B5EF4-FFF2-40B4-BE49-F238E27FC236}">
                <a16:creationId xmlns:a16="http://schemas.microsoft.com/office/drawing/2014/main" id="{C825CEE4-7636-EF2D-DB35-46C29E0CFFF5}"/>
              </a:ext>
            </a:extLst>
          </p:cNvPr>
          <p:cNvSpPr txBox="1"/>
          <p:nvPr/>
        </p:nvSpPr>
        <p:spPr>
          <a:xfrm>
            <a:off x="1676400" y="3607642"/>
            <a:ext cx="14935200" cy="2585323"/>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Transmissivity</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Conductivity</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Permeability</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err="1">
                <a:solidFill>
                  <a:srgbClr val="000000"/>
                </a:solidFill>
                <a:latin typeface="Nunito 1" panose="020B0604020202020204" charset="0"/>
                <a:ea typeface="Nunito 1 Bold"/>
                <a:cs typeface="Nunito 1 Bold"/>
                <a:sym typeface="Nunito 1 Bold"/>
              </a:rPr>
              <a:t>Transitionability</a:t>
            </a:r>
            <a:endParaRPr lang="en-US" sz="2400" dirty="0">
              <a:solidFill>
                <a:srgbClr val="000000"/>
              </a:solidFill>
              <a:latin typeface="Nunito 1" panose="020B0604020202020204" charset="0"/>
              <a:ea typeface="Nunito 1 Bold"/>
              <a:cs typeface="Nunito 1 Bold"/>
              <a:sym typeface="Nunito 1 Bold"/>
            </a:endParaRPr>
          </a:p>
        </p:txBody>
      </p:sp>
      <p:sp>
        <p:nvSpPr>
          <p:cNvPr id="17" name="Oval 16">
            <a:extLst>
              <a:ext uri="{FF2B5EF4-FFF2-40B4-BE49-F238E27FC236}">
                <a16:creationId xmlns:a16="http://schemas.microsoft.com/office/drawing/2014/main" id="{E4FEE8AA-C26E-02A1-4AF6-B1FE919B9897}"/>
              </a:ext>
            </a:extLst>
          </p:cNvPr>
          <p:cNvSpPr/>
          <p:nvPr/>
        </p:nvSpPr>
        <p:spPr>
          <a:xfrm>
            <a:off x="1524000" y="3561436"/>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8" name="TextBox 13">
            <a:extLst>
              <a:ext uri="{FF2B5EF4-FFF2-40B4-BE49-F238E27FC236}">
                <a16:creationId xmlns:a16="http://schemas.microsoft.com/office/drawing/2014/main" id="{FB867483-81B8-B333-1947-21ACDC8C7D2E}"/>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sp>
        <p:nvSpPr>
          <p:cNvPr id="20" name="TextBox 19">
            <a:extLst>
              <a:ext uri="{FF2B5EF4-FFF2-40B4-BE49-F238E27FC236}">
                <a16:creationId xmlns:a16="http://schemas.microsoft.com/office/drawing/2014/main" id="{80EA63FB-3033-465A-9745-D1BFF58A782E}"/>
              </a:ext>
            </a:extLst>
          </p:cNvPr>
          <p:cNvSpPr txBox="1"/>
          <p:nvPr/>
        </p:nvSpPr>
        <p:spPr>
          <a:xfrm>
            <a:off x="7280240" y="4044139"/>
            <a:ext cx="9067800" cy="3693319"/>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Transmissivity is given by:</a:t>
            </a:r>
          </a:p>
          <a:p>
            <a:pPr algn="just"/>
            <a:endParaRPr lang="en-US" sz="2400" dirty="0">
              <a:solidFill>
                <a:srgbClr val="000000"/>
              </a:solidFill>
              <a:latin typeface="Nunito 1" panose="020B0604020202020204" charset="0"/>
              <a:ea typeface="Nunito 1 Bold"/>
              <a:cs typeface="Nunito 1 Bold"/>
              <a:sym typeface="Nunito 1 Bold"/>
            </a:endParaRPr>
          </a:p>
          <a:p>
            <a:pPr algn="ctr"/>
            <a:r>
              <a:rPr lang="en-US" sz="2400" b="1" dirty="0">
                <a:solidFill>
                  <a:srgbClr val="000000"/>
                </a:solidFill>
                <a:latin typeface="Nunito 1" panose="020B0604020202020204" charset="0"/>
                <a:ea typeface="Nunito 1 Bold"/>
                <a:cs typeface="Nunito 1 Bold"/>
                <a:sym typeface="Nunito 1 Bold"/>
              </a:rPr>
              <a:t>T = </a:t>
            </a:r>
            <a:r>
              <a:rPr lang="en-US" sz="2400" b="1" dirty="0" err="1">
                <a:solidFill>
                  <a:srgbClr val="000000"/>
                </a:solidFill>
                <a:latin typeface="Nunito 1" panose="020B0604020202020204" charset="0"/>
                <a:ea typeface="Nunito 1 Bold"/>
                <a:cs typeface="Nunito 1 Bold"/>
                <a:sym typeface="Nunito 1 Bold"/>
              </a:rPr>
              <a:t>Kb</a:t>
            </a:r>
            <a:r>
              <a:rPr lang="en-US" sz="2400" b="1" dirty="0">
                <a:solidFill>
                  <a:srgbClr val="000000"/>
                </a:solidFill>
                <a:latin typeface="Nunito 1" panose="020B0604020202020204" charset="0"/>
                <a:ea typeface="Nunito 1 Bold"/>
                <a:cs typeface="Nunito 1 Bold"/>
                <a:sym typeface="Nunito 1 Bold"/>
              </a:rPr>
              <a:t>	</a:t>
            </a:r>
            <a:r>
              <a:rPr lang="en-US" sz="2400" dirty="0">
                <a:solidFill>
                  <a:srgbClr val="000000"/>
                </a:solidFill>
                <a:latin typeface="Nunito 1" panose="020B0604020202020204" charset="0"/>
                <a:ea typeface="Nunito 1 Bold"/>
                <a:cs typeface="Nunito 1 Bold"/>
                <a:sym typeface="Nunito 1 Bold"/>
              </a:rPr>
              <a:t>	(for confined aquifer)</a:t>
            </a:r>
          </a:p>
          <a:p>
            <a:pPr algn="ctr"/>
            <a:endParaRPr lang="en-US" sz="2400" dirty="0">
              <a:solidFill>
                <a:srgbClr val="000000"/>
              </a:solidFill>
              <a:latin typeface="Nunito 1" panose="020B0604020202020204" charset="0"/>
              <a:ea typeface="Nunito 1 Bold"/>
              <a:cs typeface="Nunito 1 Bold"/>
              <a:sym typeface="Nunito 1 Bold"/>
            </a:endParaRPr>
          </a:p>
          <a:p>
            <a:pPr algn="ctr"/>
            <a:r>
              <a:rPr lang="en-US" sz="2400" b="1" dirty="0">
                <a:solidFill>
                  <a:srgbClr val="000000"/>
                </a:solidFill>
                <a:latin typeface="Nunito 1" panose="020B0604020202020204" charset="0"/>
                <a:ea typeface="Nunito 1 Bold"/>
                <a:cs typeface="Nunito 1 Bold"/>
                <a:sym typeface="Nunito 1 Bold"/>
              </a:rPr>
              <a:t>  T = KH</a:t>
            </a:r>
            <a:r>
              <a:rPr lang="en-US" sz="2400" dirty="0">
                <a:solidFill>
                  <a:srgbClr val="000000"/>
                </a:solidFill>
                <a:latin typeface="Nunito 1" panose="020B0604020202020204" charset="0"/>
                <a:ea typeface="Nunito 1 Bold"/>
                <a:cs typeface="Nunito 1 Bold"/>
                <a:sym typeface="Nunito 1 Bold"/>
              </a:rPr>
              <a:t>	(for unconfined aquifer)</a:t>
            </a:r>
          </a:p>
          <a:p>
            <a:pPr algn="just"/>
            <a:endParaRPr lang="en-US" sz="2400" dirty="0">
              <a:solidFill>
                <a:srgbClr val="000000"/>
              </a:solidFill>
              <a:latin typeface="Nunito 1" panose="020B0604020202020204" charset="0"/>
              <a:ea typeface="Nunito 1 Bold"/>
              <a:cs typeface="Nunito 1 Bold"/>
              <a:sym typeface="Nunito 1 Bold"/>
            </a:endParaRPr>
          </a:p>
          <a:p>
            <a:pPr algn="just"/>
            <a:r>
              <a:rPr lang="en-US" sz="2400" dirty="0">
                <a:solidFill>
                  <a:srgbClr val="000000"/>
                </a:solidFill>
                <a:latin typeface="Nunito 1" panose="020B0604020202020204" charset="0"/>
                <a:ea typeface="Nunito 1 Bold"/>
                <a:cs typeface="Nunito 1 Bold"/>
                <a:sym typeface="Nunito 1 Bold"/>
              </a:rPr>
              <a:t>Where: k – permeability</a:t>
            </a:r>
          </a:p>
          <a:p>
            <a:pPr marL="1082675" algn="just"/>
            <a:r>
              <a:rPr lang="en-US" sz="2400" dirty="0">
                <a:solidFill>
                  <a:srgbClr val="000000"/>
                </a:solidFill>
                <a:latin typeface="Nunito 1" panose="020B0604020202020204" charset="0"/>
                <a:ea typeface="Nunito 1 Bold"/>
                <a:cs typeface="Nunito 1 Bold"/>
                <a:sym typeface="Nunito 1 Bold"/>
              </a:rPr>
              <a:t>b – thickness of the confined aquifer</a:t>
            </a:r>
          </a:p>
          <a:p>
            <a:pPr marL="1082675" algn="just"/>
            <a:r>
              <a:rPr lang="en-US" sz="2400" dirty="0">
                <a:solidFill>
                  <a:srgbClr val="000000"/>
                </a:solidFill>
                <a:latin typeface="Nunito 1" panose="020B0604020202020204" charset="0"/>
                <a:ea typeface="Nunito 1 Bold"/>
                <a:cs typeface="Nunito 1 Bold"/>
                <a:sym typeface="Nunito 1 Bold"/>
              </a:rPr>
              <a:t>H – height of static water level above the bottom of water bearing formation</a:t>
            </a:r>
          </a:p>
        </p:txBody>
      </p:sp>
      <p:grpSp>
        <p:nvGrpSpPr>
          <p:cNvPr id="21" name="Group 20">
            <a:extLst>
              <a:ext uri="{FF2B5EF4-FFF2-40B4-BE49-F238E27FC236}">
                <a16:creationId xmlns:a16="http://schemas.microsoft.com/office/drawing/2014/main" id="{FD3E6516-F0C1-96A8-17D7-85D8B0FEE44F}"/>
              </a:ext>
            </a:extLst>
          </p:cNvPr>
          <p:cNvGrpSpPr/>
          <p:nvPr/>
        </p:nvGrpSpPr>
        <p:grpSpPr>
          <a:xfrm>
            <a:off x="0" y="9599693"/>
            <a:ext cx="18287999" cy="687306"/>
            <a:chOff x="0" y="9599693"/>
            <a:chExt cx="18287999" cy="687306"/>
          </a:xfrm>
        </p:grpSpPr>
        <p:grpSp>
          <p:nvGrpSpPr>
            <p:cNvPr id="22" name="Group 11">
              <a:extLst>
                <a:ext uri="{FF2B5EF4-FFF2-40B4-BE49-F238E27FC236}">
                  <a16:creationId xmlns:a16="http://schemas.microsoft.com/office/drawing/2014/main" id="{6C6D2259-4750-5239-C140-B5FAF6E64139}"/>
                </a:ext>
              </a:extLst>
            </p:cNvPr>
            <p:cNvGrpSpPr/>
            <p:nvPr/>
          </p:nvGrpSpPr>
          <p:grpSpPr>
            <a:xfrm>
              <a:off x="0" y="9599694"/>
              <a:ext cx="18287999" cy="687305"/>
              <a:chOff x="0" y="0"/>
              <a:chExt cx="5260714" cy="490218"/>
            </a:xfrm>
          </p:grpSpPr>
          <p:sp>
            <p:nvSpPr>
              <p:cNvPr id="29" name="Freeform 12">
                <a:extLst>
                  <a:ext uri="{FF2B5EF4-FFF2-40B4-BE49-F238E27FC236}">
                    <a16:creationId xmlns:a16="http://schemas.microsoft.com/office/drawing/2014/main" id="{A64E684D-6018-04EB-5898-A1C9E8ECE895}"/>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30" name="TextBox 13">
                <a:extLst>
                  <a:ext uri="{FF2B5EF4-FFF2-40B4-BE49-F238E27FC236}">
                    <a16:creationId xmlns:a16="http://schemas.microsoft.com/office/drawing/2014/main" id="{B090812D-9503-7B31-727E-8D202AE96412}"/>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7" name="TextBox 12">
              <a:extLst>
                <a:ext uri="{FF2B5EF4-FFF2-40B4-BE49-F238E27FC236}">
                  <a16:creationId xmlns:a16="http://schemas.microsoft.com/office/drawing/2014/main" id="{0724693F-A81D-8A19-8A9D-FD5EE4407B2F}"/>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8" name="TextBox 13">
              <a:extLst>
                <a:ext uri="{FF2B5EF4-FFF2-40B4-BE49-F238E27FC236}">
                  <a16:creationId xmlns:a16="http://schemas.microsoft.com/office/drawing/2014/main" id="{036A422C-12A0-E270-4FEA-FDB9685D770F}"/>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spTree>
    <p:extLst>
      <p:ext uri="{BB962C8B-B14F-4D97-AF65-F5344CB8AC3E}">
        <p14:creationId xmlns:p14="http://schemas.microsoft.com/office/powerpoint/2010/main" val="633804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1A0DE-B5B7-3356-35F1-D09B71A40DB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8E23E88-29A9-0292-8C1E-D2EC15E8717C}"/>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3F3183D4-A163-0420-FF38-66B3E1DB64E3}"/>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CF1A3032-3C6F-575B-20D8-9F2BB902FD92}"/>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A328DDC2-B6E1-9207-5772-618DC3382F4D}"/>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7847953E-141F-422F-D6B9-AB76144C9469}"/>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07CC9130-C372-C81A-420B-33ABE180D36A}"/>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D8EE9875-5174-5CF8-05A2-AEB926D1788E}"/>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6DF32EA9-34CE-297E-7997-6FEE4B35342B}"/>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506F32DF-0210-C52B-8D96-0E44B36D79D7}"/>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6F7150DA-ACCD-932F-CCE9-87E8C2FA99D2}"/>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EC2DB6BF-2B76-1291-89F4-278979F25C8E}"/>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4384D209-7378-4B9C-F78C-B592AEF36AB9}"/>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a:extLst>
              <a:ext uri="{FF2B5EF4-FFF2-40B4-BE49-F238E27FC236}">
                <a16:creationId xmlns:a16="http://schemas.microsoft.com/office/drawing/2014/main" id="{DFE84601-2475-5C10-11EA-B54F2D731F7E}"/>
              </a:ext>
            </a:extLst>
          </p:cNvPr>
          <p:cNvSpPr txBox="1"/>
          <p:nvPr/>
        </p:nvSpPr>
        <p:spPr>
          <a:xfrm>
            <a:off x="2246041" y="2025065"/>
            <a:ext cx="13795916" cy="369332"/>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Important Formulas in Well Hydraulics</a:t>
            </a:r>
          </a:p>
        </p:txBody>
      </p:sp>
      <p:sp>
        <p:nvSpPr>
          <p:cNvPr id="19" name="TextBox 12">
            <a:extLst>
              <a:ext uri="{FF2B5EF4-FFF2-40B4-BE49-F238E27FC236}">
                <a16:creationId xmlns:a16="http://schemas.microsoft.com/office/drawing/2014/main" id="{AD0DE82D-1512-4C52-28E3-C4144D3592D1}"/>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5E062EEC-B669-27E7-6162-D0701CB9D4A6}"/>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4E21A774-2997-CFA2-237F-FECA24639526}"/>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81D856B7-A2AE-D322-3867-7C9AF6DAD9DF}"/>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610ABBF0-A6F8-CE86-7D50-266DBC608840}"/>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https://chem.libretexts.org/Courses/University_of_Arkansas_Little_Rock/Chem_1402%3A_General_Chemistry_1_(Kattoum)</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220B126-9911-0F71-7D2D-5238E1BA68EB}"/>
                  </a:ext>
                </a:extLst>
              </p:cNvPr>
              <p:cNvSpPr txBox="1"/>
              <p:nvPr/>
            </p:nvSpPr>
            <p:spPr>
              <a:xfrm>
                <a:off x="1676399" y="2594593"/>
                <a:ext cx="14935200" cy="5477782"/>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Formula for water yield (Q) given drawdown in two observation wells</a:t>
                </a:r>
              </a:p>
              <a:p>
                <a:pPr algn="just"/>
                <a:endParaRPr lang="en-US" sz="2400" dirty="0">
                  <a:solidFill>
                    <a:srgbClr val="000000"/>
                  </a:solidFill>
                  <a:latin typeface="Nunito 1" panose="020B0604020202020204" charset="0"/>
                  <a:ea typeface="Nunito 1 Bold"/>
                  <a:cs typeface="Nunito 1 Bold"/>
                  <a:sym typeface="Nunito 1 Bold"/>
                </a:endParaRPr>
              </a:p>
              <a:p>
                <a:pPr algn="ctr"/>
                <a:r>
                  <a:rPr lang="en-US" sz="2400" dirty="0">
                    <a:solidFill>
                      <a:srgbClr val="000000"/>
                    </a:solidFill>
                    <a:latin typeface="Nunito 1" panose="020B0604020202020204" charset="0"/>
                    <a:ea typeface="Nunito 1 Bold"/>
                    <a:cs typeface="Nunito 1 Bold"/>
                    <a:sym typeface="Nunito 1 Bold"/>
                  </a:rPr>
                  <a:t>Q = </a:t>
                </a:r>
                <a14:m>
                  <m:oMath xmlns:m="http://schemas.openxmlformats.org/officeDocument/2006/math">
                    <m:f>
                      <m:fPr>
                        <m:ctrlPr>
                          <a:rPr lang="en-US" sz="3000" i="1" smtClean="0">
                            <a:solidFill>
                              <a:srgbClr val="000000"/>
                            </a:solidFill>
                            <a:latin typeface="Cambria Math" panose="02040503050406030204" pitchFamily="18" charset="0"/>
                            <a:sym typeface="Nunito 1 Bold"/>
                          </a:rPr>
                        </m:ctrlPr>
                      </m:fPr>
                      <m:num>
                        <m:r>
                          <a:rPr lang="en-US" sz="3000" i="1" smtClean="0">
                            <a:solidFill>
                              <a:srgbClr val="000000"/>
                            </a:solidFill>
                            <a:latin typeface="Cambria Math" panose="02040503050406030204" pitchFamily="18" charset="0"/>
                            <a:ea typeface="Cambria Math" panose="02040503050406030204" pitchFamily="18" charset="0"/>
                            <a:sym typeface="Nunito 1 Bold"/>
                          </a:rPr>
                          <m:t>𝜋</m:t>
                        </m:r>
                        <m:r>
                          <a:rPr lang="en-PH" sz="3000" b="0" i="1" smtClean="0">
                            <a:solidFill>
                              <a:srgbClr val="000000"/>
                            </a:solidFill>
                            <a:latin typeface="Cambria Math" panose="02040503050406030204" pitchFamily="18" charset="0"/>
                            <a:ea typeface="Cambria Math" panose="02040503050406030204" pitchFamily="18" charset="0"/>
                            <a:sym typeface="Nunito 1 Bold"/>
                          </a:rPr>
                          <m:t>𝐾</m:t>
                        </m:r>
                        <m:r>
                          <a:rPr lang="en-PH" sz="3000" b="0" i="1" smtClean="0">
                            <a:solidFill>
                              <a:srgbClr val="000000"/>
                            </a:solidFill>
                            <a:latin typeface="Cambria Math" panose="02040503050406030204" pitchFamily="18" charset="0"/>
                            <a:ea typeface="Cambria Math" panose="02040503050406030204" pitchFamily="18" charset="0"/>
                            <a:sym typeface="Nunito 1 Bold"/>
                          </a:rPr>
                          <m:t>(</m:t>
                        </m:r>
                        <m:sSubSup>
                          <m:sSubSupPr>
                            <m:ctrlPr>
                              <a:rPr lang="en-PH" sz="3000" b="0" i="1" smtClean="0">
                                <a:solidFill>
                                  <a:srgbClr val="000000"/>
                                </a:solidFill>
                                <a:latin typeface="Cambria Math" panose="02040503050406030204" pitchFamily="18" charset="0"/>
                                <a:ea typeface="Cambria Math" panose="02040503050406030204" pitchFamily="18" charset="0"/>
                                <a:sym typeface="Nunito 1 Bold"/>
                              </a:rPr>
                            </m:ctrlPr>
                          </m:sSubSupPr>
                          <m:e>
                            <m:r>
                              <a:rPr lang="en-PH" sz="3000" b="0" i="1" smtClean="0">
                                <a:solidFill>
                                  <a:srgbClr val="000000"/>
                                </a:solidFill>
                                <a:latin typeface="Cambria Math" panose="02040503050406030204" pitchFamily="18" charset="0"/>
                                <a:ea typeface="Cambria Math" panose="02040503050406030204" pitchFamily="18" charset="0"/>
                                <a:sym typeface="Nunito 1 Bold"/>
                              </a:rPr>
                              <m:t>h</m:t>
                            </m:r>
                          </m:e>
                          <m:sub>
                            <m:r>
                              <a:rPr lang="en-PH" sz="3000" b="0" i="1" smtClean="0">
                                <a:solidFill>
                                  <a:srgbClr val="000000"/>
                                </a:solidFill>
                                <a:latin typeface="Cambria Math" panose="02040503050406030204" pitchFamily="18" charset="0"/>
                                <a:ea typeface="Cambria Math" panose="02040503050406030204" pitchFamily="18" charset="0"/>
                                <a:sym typeface="Nunito 1 Bold"/>
                              </a:rPr>
                              <m:t>2</m:t>
                            </m:r>
                          </m:sub>
                          <m:sup>
                            <m:r>
                              <a:rPr lang="en-PH" sz="3000" b="0" i="1" smtClean="0">
                                <a:solidFill>
                                  <a:srgbClr val="000000"/>
                                </a:solidFill>
                                <a:latin typeface="Cambria Math" panose="02040503050406030204" pitchFamily="18" charset="0"/>
                                <a:ea typeface="Cambria Math" panose="02040503050406030204" pitchFamily="18" charset="0"/>
                                <a:sym typeface="Nunito 1 Bold"/>
                              </a:rPr>
                              <m:t>2</m:t>
                            </m:r>
                          </m:sup>
                        </m:sSubSup>
                        <m:r>
                          <a:rPr lang="en-PH" sz="3000" b="0" i="1" smtClean="0">
                            <a:solidFill>
                              <a:srgbClr val="000000"/>
                            </a:solidFill>
                            <a:latin typeface="Cambria Math" panose="02040503050406030204" pitchFamily="18" charset="0"/>
                            <a:ea typeface="Cambria Math" panose="02040503050406030204" pitchFamily="18" charset="0"/>
                            <a:sym typeface="Nunito 1 Bold"/>
                          </a:rPr>
                          <m:t>−</m:t>
                        </m:r>
                        <m:sSubSup>
                          <m:sSubSupPr>
                            <m:ctrlPr>
                              <a:rPr lang="en-PH" sz="3000" i="1">
                                <a:solidFill>
                                  <a:srgbClr val="000000"/>
                                </a:solidFill>
                                <a:latin typeface="Cambria Math" panose="02040503050406030204" pitchFamily="18" charset="0"/>
                                <a:ea typeface="Cambria Math" panose="02040503050406030204" pitchFamily="18" charset="0"/>
                                <a:sym typeface="Nunito 1 Bold"/>
                              </a:rPr>
                            </m:ctrlPr>
                          </m:sSubSupPr>
                          <m:e>
                            <m:r>
                              <a:rPr lang="en-PH" sz="3000" i="1" smtClean="0">
                                <a:solidFill>
                                  <a:srgbClr val="000000"/>
                                </a:solidFill>
                                <a:latin typeface="Cambria Math" panose="02040503050406030204" pitchFamily="18" charset="0"/>
                                <a:ea typeface="Cambria Math" panose="02040503050406030204" pitchFamily="18" charset="0"/>
                                <a:sym typeface="Nunito 1 Bold"/>
                              </a:rPr>
                              <m:t>h</m:t>
                            </m:r>
                          </m:e>
                          <m:sub>
                            <m:r>
                              <a:rPr lang="en-PH" sz="3000" b="0" i="1" smtClean="0">
                                <a:solidFill>
                                  <a:srgbClr val="000000"/>
                                </a:solidFill>
                                <a:latin typeface="Cambria Math" panose="02040503050406030204" pitchFamily="18" charset="0"/>
                                <a:ea typeface="Cambria Math" panose="02040503050406030204" pitchFamily="18" charset="0"/>
                                <a:sym typeface="Nunito 1 Bold"/>
                              </a:rPr>
                              <m:t>1</m:t>
                            </m:r>
                          </m:sub>
                          <m:sup>
                            <m:r>
                              <a:rPr lang="en-PH" sz="3000" i="1" smtClean="0">
                                <a:solidFill>
                                  <a:srgbClr val="000000"/>
                                </a:solidFill>
                                <a:latin typeface="Cambria Math" panose="02040503050406030204" pitchFamily="18" charset="0"/>
                                <a:ea typeface="Cambria Math" panose="02040503050406030204" pitchFamily="18" charset="0"/>
                                <a:sym typeface="Nunito 1 Bold"/>
                              </a:rPr>
                              <m:t>2</m:t>
                            </m:r>
                          </m:sup>
                        </m:sSubSup>
                        <m:r>
                          <a:rPr lang="en-PH" sz="3000" b="0" i="1" smtClean="0">
                            <a:solidFill>
                              <a:srgbClr val="000000"/>
                            </a:solidFill>
                            <a:latin typeface="Cambria Math" panose="02040503050406030204" pitchFamily="18" charset="0"/>
                            <a:ea typeface="Cambria Math" panose="02040503050406030204" pitchFamily="18" charset="0"/>
                            <a:sym typeface="Nunito 1 Bold"/>
                          </a:rPr>
                          <m:t>)</m:t>
                        </m:r>
                      </m:num>
                      <m:den>
                        <m:r>
                          <a:rPr lang="en-PH" sz="3000" b="0" i="1" smtClean="0">
                            <a:solidFill>
                              <a:srgbClr val="000000"/>
                            </a:solidFill>
                            <a:latin typeface="Cambria Math" panose="02040503050406030204" pitchFamily="18" charset="0"/>
                            <a:sym typeface="Nunito 1 Bold"/>
                          </a:rPr>
                          <m:t>𝑙𝑛</m:t>
                        </m:r>
                        <m:d>
                          <m:dPr>
                            <m:ctrlPr>
                              <a:rPr lang="en-PH" sz="3000" b="0" i="1" smtClean="0">
                                <a:solidFill>
                                  <a:srgbClr val="000000"/>
                                </a:solidFill>
                                <a:latin typeface="Cambria Math" panose="02040503050406030204" pitchFamily="18" charset="0"/>
                                <a:sym typeface="Nunito 1 Bold"/>
                              </a:rPr>
                            </m:ctrlPr>
                          </m:dPr>
                          <m:e>
                            <m:f>
                              <m:fPr>
                                <m:ctrlPr>
                                  <a:rPr lang="en-PH" sz="3000" b="0" i="1" smtClean="0">
                                    <a:solidFill>
                                      <a:srgbClr val="000000"/>
                                    </a:solidFill>
                                    <a:latin typeface="Cambria Math" panose="02040503050406030204" pitchFamily="18" charset="0"/>
                                    <a:sym typeface="Nunito 1 Bold"/>
                                  </a:rPr>
                                </m:ctrlPr>
                              </m:fPr>
                              <m:num>
                                <m:sSub>
                                  <m:sSubPr>
                                    <m:ctrlPr>
                                      <a:rPr lang="en-PH" sz="3000" i="1">
                                        <a:solidFill>
                                          <a:srgbClr val="000000"/>
                                        </a:solidFill>
                                        <a:latin typeface="Cambria Math" panose="02040503050406030204" pitchFamily="18" charset="0"/>
                                        <a:sym typeface="Nunito 1 Bold"/>
                                      </a:rPr>
                                    </m:ctrlPr>
                                  </m:sSubPr>
                                  <m:e>
                                    <m:r>
                                      <a:rPr lang="en-PH" sz="3000" i="1" smtClean="0">
                                        <a:solidFill>
                                          <a:srgbClr val="000000"/>
                                        </a:solidFill>
                                        <a:latin typeface="Cambria Math" panose="02040503050406030204" pitchFamily="18" charset="0"/>
                                        <a:sym typeface="Nunito 1 Bold"/>
                                      </a:rPr>
                                      <m:t>𝑟</m:t>
                                    </m:r>
                                  </m:e>
                                  <m:sub>
                                    <m:r>
                                      <a:rPr lang="en-PH" sz="3000" b="0" i="1" smtClean="0">
                                        <a:solidFill>
                                          <a:srgbClr val="000000"/>
                                        </a:solidFill>
                                        <a:latin typeface="Cambria Math" panose="02040503050406030204" pitchFamily="18" charset="0"/>
                                        <a:sym typeface="Nunito 1 Bold"/>
                                      </a:rPr>
                                      <m:t>2</m:t>
                                    </m:r>
                                  </m:sub>
                                </m:sSub>
                              </m:num>
                              <m:den>
                                <m:sSub>
                                  <m:sSubPr>
                                    <m:ctrlPr>
                                      <a:rPr lang="en-PH" sz="3000" b="0" i="1" smtClean="0">
                                        <a:solidFill>
                                          <a:srgbClr val="000000"/>
                                        </a:solidFill>
                                        <a:latin typeface="Cambria Math" panose="02040503050406030204" pitchFamily="18" charset="0"/>
                                        <a:sym typeface="Nunito 1 Bold"/>
                                      </a:rPr>
                                    </m:ctrlPr>
                                  </m:sSubPr>
                                  <m:e>
                                    <m:r>
                                      <a:rPr lang="en-PH" sz="3000" b="0" i="1" smtClean="0">
                                        <a:solidFill>
                                          <a:srgbClr val="000000"/>
                                        </a:solidFill>
                                        <a:latin typeface="Cambria Math" panose="02040503050406030204" pitchFamily="18" charset="0"/>
                                        <a:sym typeface="Nunito 1 Bold"/>
                                      </a:rPr>
                                      <m:t>𝑟</m:t>
                                    </m:r>
                                  </m:e>
                                  <m:sub>
                                    <m:r>
                                      <a:rPr lang="en-PH" sz="3000" b="0" i="1" smtClean="0">
                                        <a:solidFill>
                                          <a:srgbClr val="000000"/>
                                        </a:solidFill>
                                        <a:latin typeface="Cambria Math" panose="02040503050406030204" pitchFamily="18" charset="0"/>
                                        <a:sym typeface="Nunito 1 Bold"/>
                                      </a:rPr>
                                      <m:t>1</m:t>
                                    </m:r>
                                  </m:sub>
                                </m:sSub>
                              </m:den>
                            </m:f>
                          </m:e>
                        </m:d>
                      </m:den>
                    </m:f>
                  </m:oMath>
                </a14:m>
                <a:endParaRPr lang="en-US" sz="3000" dirty="0">
                  <a:solidFill>
                    <a:srgbClr val="000000"/>
                  </a:solidFill>
                  <a:latin typeface="Nunito 1" panose="020B0604020202020204" charset="0"/>
                  <a:ea typeface="Nunito 1 Bold"/>
                  <a:cs typeface="Nunito 1 Bold"/>
                  <a:sym typeface="Nunito 1 Bold"/>
                </a:endParaRPr>
              </a:p>
              <a:p>
                <a:pPr algn="just"/>
                <a:endParaRPr lang="en-US" sz="2400" dirty="0">
                  <a:solidFill>
                    <a:srgbClr val="000000"/>
                  </a:solidFill>
                  <a:latin typeface="Nunito 1" panose="020B0604020202020204" charset="0"/>
                  <a:ea typeface="Nunito 1 Bold"/>
                  <a:cs typeface="Nunito 1 Bold"/>
                  <a:sym typeface="Nunito 1 Bold"/>
                </a:endParaRPr>
              </a:p>
              <a:p>
                <a:pPr algn="just"/>
                <a:r>
                  <a:rPr lang="en-US" sz="2400" dirty="0">
                    <a:solidFill>
                      <a:srgbClr val="000000"/>
                    </a:solidFill>
                    <a:latin typeface="Nunito 1" panose="020B0604020202020204" charset="0"/>
                    <a:ea typeface="Nunito 1 Bold"/>
                    <a:cs typeface="Nunito 1 Bold"/>
                    <a:sym typeface="Nunito 1 Bold"/>
                  </a:rPr>
                  <a:t>Formula for water yield (Q), assuming very small drawdowns</a:t>
                </a:r>
              </a:p>
              <a:p>
                <a:pPr algn="just"/>
                <a:endParaRPr lang="en-US" sz="2400" dirty="0">
                  <a:solidFill>
                    <a:srgbClr val="000000"/>
                  </a:solidFill>
                  <a:latin typeface="Nunito 1" panose="020B0604020202020204" charset="0"/>
                  <a:ea typeface="Nunito 1 Bold"/>
                  <a:cs typeface="Nunito 1 Bold"/>
                  <a:sym typeface="Nunito 1 Bold"/>
                </a:endParaRPr>
              </a:p>
              <a:p>
                <a:r>
                  <a:rPr lang="en-US" sz="2400" dirty="0">
                    <a:solidFill>
                      <a:srgbClr val="000000"/>
                    </a:solidFill>
                    <a:latin typeface="Nunito 1" panose="020B0604020202020204" charset="0"/>
                    <a:ea typeface="Nunito 1 Bold"/>
                    <a:cs typeface="Nunito 1 Bold"/>
                    <a:sym typeface="Nunito 1 Bold"/>
                  </a:rPr>
                  <a:t>					Q =</a:t>
                </a:r>
                <a:r>
                  <a:rPr lang="en-US" sz="3000" dirty="0">
                    <a:solidFill>
                      <a:srgbClr val="000000"/>
                    </a:solidFill>
                    <a:latin typeface="Nunito 1" panose="020B0604020202020204" charset="0"/>
                    <a:ea typeface="Nunito 1 Bold"/>
                    <a:cs typeface="Nunito 1 Bold"/>
                    <a:sym typeface="Nunito 1 Bold"/>
                  </a:rPr>
                  <a:t> </a:t>
                </a:r>
                <a14:m>
                  <m:oMath xmlns:m="http://schemas.openxmlformats.org/officeDocument/2006/math">
                    <m:f>
                      <m:fPr>
                        <m:ctrlPr>
                          <a:rPr lang="en-US" sz="3000" i="1" smtClean="0">
                            <a:solidFill>
                              <a:srgbClr val="000000"/>
                            </a:solidFill>
                            <a:latin typeface="Cambria Math" panose="02040503050406030204" pitchFamily="18" charset="0"/>
                            <a:sym typeface="Nunito 1 Bold"/>
                          </a:rPr>
                        </m:ctrlPr>
                      </m:fPr>
                      <m:num>
                        <m:r>
                          <a:rPr lang="en-PH" sz="3000" b="0" i="1" smtClean="0">
                            <a:solidFill>
                              <a:srgbClr val="000000"/>
                            </a:solidFill>
                            <a:latin typeface="Cambria Math" panose="02040503050406030204" pitchFamily="18" charset="0"/>
                            <a:sym typeface="Nunito 1 Bold"/>
                          </a:rPr>
                          <m:t>2</m:t>
                        </m:r>
                        <m:r>
                          <a:rPr lang="en-US" sz="3000" i="1" smtClean="0">
                            <a:solidFill>
                              <a:srgbClr val="000000"/>
                            </a:solidFill>
                            <a:latin typeface="Cambria Math" panose="02040503050406030204" pitchFamily="18" charset="0"/>
                            <a:ea typeface="Cambria Math" panose="02040503050406030204" pitchFamily="18" charset="0"/>
                            <a:sym typeface="Nunito 1 Bold"/>
                          </a:rPr>
                          <m:t>𝜋</m:t>
                        </m:r>
                        <m:r>
                          <a:rPr lang="en-PH" sz="3000" b="0" i="1" smtClean="0">
                            <a:solidFill>
                              <a:srgbClr val="000000"/>
                            </a:solidFill>
                            <a:latin typeface="Cambria Math" panose="02040503050406030204" pitchFamily="18" charset="0"/>
                            <a:ea typeface="Cambria Math" panose="02040503050406030204" pitchFamily="18" charset="0"/>
                            <a:sym typeface="Nunito 1 Bold"/>
                          </a:rPr>
                          <m:t>𝑇</m:t>
                        </m:r>
                        <m:r>
                          <a:rPr lang="en-PH" sz="3000" b="0" i="1" smtClean="0">
                            <a:solidFill>
                              <a:srgbClr val="000000"/>
                            </a:solidFill>
                            <a:latin typeface="Cambria Math" panose="02040503050406030204" pitchFamily="18" charset="0"/>
                            <a:ea typeface="Cambria Math" panose="02040503050406030204" pitchFamily="18" charset="0"/>
                            <a:sym typeface="Nunito 1 Bold"/>
                          </a:rPr>
                          <m:t>(</m:t>
                        </m:r>
                        <m:r>
                          <a:rPr lang="en-PH" sz="3000" b="0" i="1" smtClean="0">
                            <a:solidFill>
                              <a:srgbClr val="000000"/>
                            </a:solidFill>
                            <a:latin typeface="Cambria Math" panose="02040503050406030204" pitchFamily="18" charset="0"/>
                            <a:ea typeface="Cambria Math" panose="02040503050406030204" pitchFamily="18" charset="0"/>
                            <a:sym typeface="Nunito 1 Bold"/>
                          </a:rPr>
                          <m:t>𝐻</m:t>
                        </m:r>
                        <m:r>
                          <a:rPr lang="en-PH" sz="3000" b="0" i="1" smtClean="0">
                            <a:solidFill>
                              <a:srgbClr val="000000"/>
                            </a:solidFill>
                            <a:latin typeface="Cambria Math" panose="02040503050406030204" pitchFamily="18" charset="0"/>
                            <a:ea typeface="Cambria Math" panose="02040503050406030204" pitchFamily="18" charset="0"/>
                            <a:sym typeface="Nunito 1 Bold"/>
                          </a:rPr>
                          <m:t>−</m:t>
                        </m:r>
                        <m:r>
                          <a:rPr lang="en-PH" sz="3000" b="0" i="1" smtClean="0">
                            <a:solidFill>
                              <a:srgbClr val="000000"/>
                            </a:solidFill>
                            <a:latin typeface="Cambria Math" panose="02040503050406030204" pitchFamily="18" charset="0"/>
                            <a:ea typeface="Cambria Math" panose="02040503050406030204" pitchFamily="18" charset="0"/>
                            <a:sym typeface="Nunito 1 Bold"/>
                          </a:rPr>
                          <m:t>h𝑤</m:t>
                        </m:r>
                        <m:r>
                          <a:rPr lang="en-PH" sz="3000" b="0" i="1" smtClean="0">
                            <a:solidFill>
                              <a:srgbClr val="000000"/>
                            </a:solidFill>
                            <a:latin typeface="Cambria Math" panose="02040503050406030204" pitchFamily="18" charset="0"/>
                            <a:ea typeface="Cambria Math" panose="02040503050406030204" pitchFamily="18" charset="0"/>
                            <a:sym typeface="Nunito 1 Bold"/>
                          </a:rPr>
                          <m:t>)</m:t>
                        </m:r>
                      </m:num>
                      <m:den>
                        <m:r>
                          <a:rPr lang="en-PH" sz="3000" b="0" i="1" smtClean="0">
                            <a:solidFill>
                              <a:srgbClr val="000000"/>
                            </a:solidFill>
                            <a:latin typeface="Cambria Math" panose="02040503050406030204" pitchFamily="18" charset="0"/>
                            <a:sym typeface="Nunito 1 Bold"/>
                          </a:rPr>
                          <m:t>𝑙𝑛</m:t>
                        </m:r>
                        <m:d>
                          <m:dPr>
                            <m:ctrlPr>
                              <a:rPr lang="en-PH" sz="3000" b="0" i="1" smtClean="0">
                                <a:solidFill>
                                  <a:srgbClr val="000000"/>
                                </a:solidFill>
                                <a:latin typeface="Cambria Math" panose="02040503050406030204" pitchFamily="18" charset="0"/>
                                <a:sym typeface="Nunito 1 Bold"/>
                              </a:rPr>
                            </m:ctrlPr>
                          </m:dPr>
                          <m:e>
                            <m:f>
                              <m:fPr>
                                <m:ctrlPr>
                                  <a:rPr lang="en-PH" sz="3000" b="0" i="1" smtClean="0">
                                    <a:solidFill>
                                      <a:srgbClr val="000000"/>
                                    </a:solidFill>
                                    <a:latin typeface="Cambria Math" panose="02040503050406030204" pitchFamily="18" charset="0"/>
                                    <a:sym typeface="Nunito 1 Bold"/>
                                  </a:rPr>
                                </m:ctrlPr>
                              </m:fPr>
                              <m:num>
                                <m:r>
                                  <a:rPr lang="en-PH" sz="3000" i="1" smtClean="0">
                                    <a:solidFill>
                                      <a:srgbClr val="000000"/>
                                    </a:solidFill>
                                    <a:latin typeface="Cambria Math" panose="02040503050406030204" pitchFamily="18" charset="0"/>
                                    <a:sym typeface="Nunito 1 Bold"/>
                                  </a:rPr>
                                  <m:t>𝑅</m:t>
                                </m:r>
                              </m:num>
                              <m:den>
                                <m:sSub>
                                  <m:sSubPr>
                                    <m:ctrlPr>
                                      <a:rPr lang="en-PH" sz="3000" b="0" i="1" smtClean="0">
                                        <a:solidFill>
                                          <a:srgbClr val="000000"/>
                                        </a:solidFill>
                                        <a:latin typeface="Cambria Math" panose="02040503050406030204" pitchFamily="18" charset="0"/>
                                        <a:sym typeface="Nunito 1 Bold"/>
                                      </a:rPr>
                                    </m:ctrlPr>
                                  </m:sSubPr>
                                  <m:e>
                                    <m:r>
                                      <a:rPr lang="en-PH" sz="3000" b="0" i="1" smtClean="0">
                                        <a:solidFill>
                                          <a:srgbClr val="000000"/>
                                        </a:solidFill>
                                        <a:latin typeface="Cambria Math" panose="02040503050406030204" pitchFamily="18" charset="0"/>
                                        <a:sym typeface="Nunito 1 Bold"/>
                                      </a:rPr>
                                      <m:t>𝑟</m:t>
                                    </m:r>
                                  </m:e>
                                  <m:sub>
                                    <m:r>
                                      <a:rPr lang="en-PH" sz="3000" b="0" i="1" smtClean="0">
                                        <a:solidFill>
                                          <a:srgbClr val="000000"/>
                                        </a:solidFill>
                                        <a:latin typeface="Cambria Math" panose="02040503050406030204" pitchFamily="18" charset="0"/>
                                        <a:sym typeface="Nunito 1 Bold"/>
                                      </a:rPr>
                                      <m:t>𝑤</m:t>
                                    </m:r>
                                  </m:sub>
                                </m:sSub>
                              </m:den>
                            </m:f>
                          </m:e>
                        </m:d>
                      </m:den>
                    </m:f>
                  </m:oMath>
                </a14:m>
                <a:endParaRPr lang="en-US" sz="3000" dirty="0">
                  <a:solidFill>
                    <a:srgbClr val="000000"/>
                  </a:solidFill>
                  <a:latin typeface="Nunito 1" panose="020B0604020202020204" charset="0"/>
                  <a:ea typeface="Nunito 1 Bold"/>
                  <a:cs typeface="Nunito 1 Bold"/>
                  <a:sym typeface="Nunito 1 Bold"/>
                </a:endParaRPr>
              </a:p>
              <a:p>
                <a:endParaRPr lang="en-US" sz="3000" dirty="0">
                  <a:solidFill>
                    <a:srgbClr val="000000"/>
                  </a:solidFill>
                  <a:latin typeface="Nunito 1" panose="020B0604020202020204" charset="0"/>
                  <a:ea typeface="Nunito 1 Bold"/>
                  <a:cs typeface="Nunito 1 Bold"/>
                  <a:sym typeface="Nunito 1 Bold"/>
                </a:endParaRPr>
              </a:p>
              <a:p>
                <a:r>
                  <a:rPr lang="en-US" sz="2400" dirty="0">
                    <a:solidFill>
                      <a:srgbClr val="000000"/>
                    </a:solidFill>
                    <a:latin typeface="Nunito 1" panose="020B0604020202020204" charset="0"/>
                    <a:ea typeface="Nunito 1 Bold"/>
                    <a:cs typeface="Nunito 1 Bold"/>
                    <a:sym typeface="Nunito 1 Bold"/>
                  </a:rPr>
                  <a:t>For confined aquifer:	Q =</a:t>
                </a:r>
                <a:r>
                  <a:rPr lang="en-US" sz="3000" dirty="0">
                    <a:solidFill>
                      <a:srgbClr val="000000"/>
                    </a:solidFill>
                    <a:latin typeface="Nunito 1" panose="020B0604020202020204" charset="0"/>
                    <a:ea typeface="Nunito 1 Bold"/>
                    <a:cs typeface="Nunito 1 Bold"/>
                    <a:sym typeface="Nunito 1 Bold"/>
                  </a:rPr>
                  <a:t> </a:t>
                </a:r>
                <a14:m>
                  <m:oMath xmlns:m="http://schemas.openxmlformats.org/officeDocument/2006/math">
                    <m:f>
                      <m:fPr>
                        <m:ctrlPr>
                          <a:rPr lang="en-US" sz="3000" i="1" smtClean="0">
                            <a:solidFill>
                              <a:srgbClr val="000000"/>
                            </a:solidFill>
                            <a:latin typeface="Cambria Math" panose="02040503050406030204" pitchFamily="18" charset="0"/>
                            <a:sym typeface="Nunito 1 Bold"/>
                          </a:rPr>
                        </m:ctrlPr>
                      </m:fPr>
                      <m:num>
                        <m:r>
                          <a:rPr lang="en-PH" sz="3000" b="0" i="1" smtClean="0">
                            <a:solidFill>
                              <a:srgbClr val="000000"/>
                            </a:solidFill>
                            <a:latin typeface="Cambria Math" panose="02040503050406030204" pitchFamily="18" charset="0"/>
                            <a:sym typeface="Nunito 1 Bold"/>
                          </a:rPr>
                          <m:t>2</m:t>
                        </m:r>
                        <m:r>
                          <a:rPr lang="en-US" sz="3000" i="1" smtClean="0">
                            <a:solidFill>
                              <a:srgbClr val="000000"/>
                            </a:solidFill>
                            <a:latin typeface="Cambria Math" panose="02040503050406030204" pitchFamily="18" charset="0"/>
                            <a:ea typeface="Cambria Math" panose="02040503050406030204" pitchFamily="18" charset="0"/>
                            <a:sym typeface="Nunito 1 Bold"/>
                          </a:rPr>
                          <m:t>𝜋</m:t>
                        </m:r>
                        <m:r>
                          <a:rPr lang="en-PH" sz="3000" b="0" i="1" smtClean="0">
                            <a:solidFill>
                              <a:srgbClr val="000000"/>
                            </a:solidFill>
                            <a:latin typeface="Cambria Math" panose="02040503050406030204" pitchFamily="18" charset="0"/>
                            <a:ea typeface="Cambria Math" panose="02040503050406030204" pitchFamily="18" charset="0"/>
                            <a:sym typeface="Nunito 1 Bold"/>
                          </a:rPr>
                          <m:t>𝐾𝑏</m:t>
                        </m:r>
                        <m:r>
                          <a:rPr lang="en-PH" sz="3000" b="0" i="1" smtClean="0">
                            <a:solidFill>
                              <a:srgbClr val="000000"/>
                            </a:solidFill>
                            <a:latin typeface="Cambria Math" panose="02040503050406030204" pitchFamily="18" charset="0"/>
                            <a:ea typeface="Cambria Math" panose="02040503050406030204" pitchFamily="18" charset="0"/>
                            <a:sym typeface="Nunito 1 Bold"/>
                          </a:rPr>
                          <m:t>(</m:t>
                        </m:r>
                        <m:r>
                          <a:rPr lang="en-PH" sz="3000" b="0" i="1" smtClean="0">
                            <a:solidFill>
                              <a:srgbClr val="000000"/>
                            </a:solidFill>
                            <a:latin typeface="Cambria Math" panose="02040503050406030204" pitchFamily="18" charset="0"/>
                            <a:ea typeface="Cambria Math" panose="02040503050406030204" pitchFamily="18" charset="0"/>
                            <a:sym typeface="Nunito 1 Bold"/>
                          </a:rPr>
                          <m:t>𝐻</m:t>
                        </m:r>
                        <m:r>
                          <a:rPr lang="en-PH" sz="3000" b="0" i="1" smtClean="0">
                            <a:solidFill>
                              <a:srgbClr val="000000"/>
                            </a:solidFill>
                            <a:latin typeface="Cambria Math" panose="02040503050406030204" pitchFamily="18" charset="0"/>
                            <a:ea typeface="Cambria Math" panose="02040503050406030204" pitchFamily="18" charset="0"/>
                            <a:sym typeface="Nunito 1 Bold"/>
                          </a:rPr>
                          <m:t>−</m:t>
                        </m:r>
                        <m:r>
                          <a:rPr lang="en-PH" sz="3000" b="0" i="1" smtClean="0">
                            <a:solidFill>
                              <a:srgbClr val="000000"/>
                            </a:solidFill>
                            <a:latin typeface="Cambria Math" panose="02040503050406030204" pitchFamily="18" charset="0"/>
                            <a:ea typeface="Cambria Math" panose="02040503050406030204" pitchFamily="18" charset="0"/>
                            <a:sym typeface="Nunito 1 Bold"/>
                          </a:rPr>
                          <m:t>h𝑤</m:t>
                        </m:r>
                        <m:r>
                          <a:rPr lang="en-PH" sz="3000" b="0" i="1" smtClean="0">
                            <a:solidFill>
                              <a:srgbClr val="000000"/>
                            </a:solidFill>
                            <a:latin typeface="Cambria Math" panose="02040503050406030204" pitchFamily="18" charset="0"/>
                            <a:ea typeface="Cambria Math" panose="02040503050406030204" pitchFamily="18" charset="0"/>
                            <a:sym typeface="Nunito 1 Bold"/>
                          </a:rPr>
                          <m:t>)</m:t>
                        </m:r>
                      </m:num>
                      <m:den>
                        <m:r>
                          <a:rPr lang="en-PH" sz="3000" b="0" i="1" smtClean="0">
                            <a:solidFill>
                              <a:srgbClr val="000000"/>
                            </a:solidFill>
                            <a:latin typeface="Cambria Math" panose="02040503050406030204" pitchFamily="18" charset="0"/>
                            <a:sym typeface="Nunito 1 Bold"/>
                          </a:rPr>
                          <m:t>𝑙𝑛</m:t>
                        </m:r>
                        <m:d>
                          <m:dPr>
                            <m:ctrlPr>
                              <a:rPr lang="en-PH" sz="3000" b="0" i="1" smtClean="0">
                                <a:solidFill>
                                  <a:srgbClr val="000000"/>
                                </a:solidFill>
                                <a:latin typeface="Cambria Math" panose="02040503050406030204" pitchFamily="18" charset="0"/>
                                <a:sym typeface="Nunito 1 Bold"/>
                              </a:rPr>
                            </m:ctrlPr>
                          </m:dPr>
                          <m:e>
                            <m:f>
                              <m:fPr>
                                <m:ctrlPr>
                                  <a:rPr lang="en-PH" sz="3000" b="0" i="1" smtClean="0">
                                    <a:solidFill>
                                      <a:srgbClr val="000000"/>
                                    </a:solidFill>
                                    <a:latin typeface="Cambria Math" panose="02040503050406030204" pitchFamily="18" charset="0"/>
                                    <a:sym typeface="Nunito 1 Bold"/>
                                  </a:rPr>
                                </m:ctrlPr>
                              </m:fPr>
                              <m:num>
                                <m:r>
                                  <a:rPr lang="en-PH" sz="3000" i="1" smtClean="0">
                                    <a:solidFill>
                                      <a:srgbClr val="000000"/>
                                    </a:solidFill>
                                    <a:latin typeface="Cambria Math" panose="02040503050406030204" pitchFamily="18" charset="0"/>
                                    <a:sym typeface="Nunito 1 Bold"/>
                                  </a:rPr>
                                  <m:t>𝑅</m:t>
                                </m:r>
                              </m:num>
                              <m:den>
                                <m:sSub>
                                  <m:sSubPr>
                                    <m:ctrlPr>
                                      <a:rPr lang="en-PH" sz="3000" b="0" i="1" smtClean="0">
                                        <a:solidFill>
                                          <a:srgbClr val="000000"/>
                                        </a:solidFill>
                                        <a:latin typeface="Cambria Math" panose="02040503050406030204" pitchFamily="18" charset="0"/>
                                        <a:sym typeface="Nunito 1 Bold"/>
                                      </a:rPr>
                                    </m:ctrlPr>
                                  </m:sSubPr>
                                  <m:e>
                                    <m:r>
                                      <a:rPr lang="en-PH" sz="3000" b="0" i="1" smtClean="0">
                                        <a:solidFill>
                                          <a:srgbClr val="000000"/>
                                        </a:solidFill>
                                        <a:latin typeface="Cambria Math" panose="02040503050406030204" pitchFamily="18" charset="0"/>
                                        <a:sym typeface="Nunito 1 Bold"/>
                                      </a:rPr>
                                      <m:t>𝑟</m:t>
                                    </m:r>
                                  </m:e>
                                  <m:sub>
                                    <m:r>
                                      <a:rPr lang="en-PH" sz="3000" b="0" i="1" smtClean="0">
                                        <a:solidFill>
                                          <a:srgbClr val="000000"/>
                                        </a:solidFill>
                                        <a:latin typeface="Cambria Math" panose="02040503050406030204" pitchFamily="18" charset="0"/>
                                        <a:sym typeface="Nunito 1 Bold"/>
                                      </a:rPr>
                                      <m:t>𝑤</m:t>
                                    </m:r>
                                  </m:sub>
                                </m:sSub>
                              </m:den>
                            </m:f>
                          </m:e>
                        </m:d>
                      </m:den>
                    </m:f>
                  </m:oMath>
                </a14:m>
                <a:r>
                  <a:rPr lang="en-US" sz="3000" dirty="0">
                    <a:solidFill>
                      <a:srgbClr val="000000"/>
                    </a:solidFill>
                    <a:latin typeface="Nunito 1" panose="020B0604020202020204" charset="0"/>
                    <a:ea typeface="Nunito 1 Bold"/>
                    <a:cs typeface="Nunito 1 Bold"/>
                    <a:sym typeface="Nunito 1 Bold"/>
                  </a:rPr>
                  <a:t>		</a:t>
                </a:r>
                <a:r>
                  <a:rPr lang="en-US" sz="2400" dirty="0">
                    <a:solidFill>
                      <a:srgbClr val="000000"/>
                    </a:solidFill>
                    <a:latin typeface="Nunito 1" panose="020B0604020202020204" charset="0"/>
                    <a:ea typeface="Nunito 1 Bold"/>
                    <a:cs typeface="Nunito 1 Bold"/>
                    <a:sym typeface="Nunito 1 Bold"/>
                  </a:rPr>
                  <a:t> For unconfined aquifer:		Q =</a:t>
                </a:r>
                <a:r>
                  <a:rPr lang="en-US" sz="3000" dirty="0">
                    <a:solidFill>
                      <a:srgbClr val="000000"/>
                    </a:solidFill>
                    <a:latin typeface="Nunito 1" panose="020B0604020202020204" charset="0"/>
                    <a:ea typeface="Nunito 1 Bold"/>
                    <a:cs typeface="Nunito 1 Bold"/>
                    <a:sym typeface="Nunito 1 Bold"/>
                  </a:rPr>
                  <a:t> </a:t>
                </a:r>
                <a14:m>
                  <m:oMath xmlns:m="http://schemas.openxmlformats.org/officeDocument/2006/math">
                    <m:f>
                      <m:fPr>
                        <m:ctrlPr>
                          <a:rPr lang="en-US" sz="3000" i="1">
                            <a:solidFill>
                              <a:srgbClr val="000000"/>
                            </a:solidFill>
                            <a:latin typeface="Cambria Math" panose="02040503050406030204" pitchFamily="18" charset="0"/>
                            <a:sym typeface="Nunito 1 Bold"/>
                          </a:rPr>
                        </m:ctrlPr>
                      </m:fPr>
                      <m:num>
                        <m:r>
                          <a:rPr lang="en-PH" sz="3000" i="1">
                            <a:solidFill>
                              <a:srgbClr val="000000"/>
                            </a:solidFill>
                            <a:latin typeface="Cambria Math" panose="02040503050406030204" pitchFamily="18" charset="0"/>
                            <a:sym typeface="Nunito 1 Bold"/>
                          </a:rPr>
                          <m:t>2</m:t>
                        </m:r>
                        <m:r>
                          <a:rPr lang="en-US" sz="3000" i="1">
                            <a:solidFill>
                              <a:srgbClr val="000000"/>
                            </a:solidFill>
                            <a:latin typeface="Cambria Math" panose="02040503050406030204" pitchFamily="18" charset="0"/>
                            <a:ea typeface="Cambria Math" panose="02040503050406030204" pitchFamily="18" charset="0"/>
                            <a:sym typeface="Nunito 1 Bold"/>
                          </a:rPr>
                          <m:t>𝜋</m:t>
                        </m:r>
                        <m:r>
                          <a:rPr lang="en-PH" sz="3000" b="0" i="1" smtClean="0">
                            <a:solidFill>
                              <a:srgbClr val="000000"/>
                            </a:solidFill>
                            <a:latin typeface="Cambria Math" panose="02040503050406030204" pitchFamily="18" charset="0"/>
                            <a:sym typeface="Nunito 1 Bold"/>
                          </a:rPr>
                          <m:t>𝐾𝐻</m:t>
                        </m:r>
                        <m:r>
                          <a:rPr lang="en-PH" sz="3000" i="1">
                            <a:solidFill>
                              <a:srgbClr val="000000"/>
                            </a:solidFill>
                            <a:latin typeface="Cambria Math" panose="02040503050406030204" pitchFamily="18" charset="0"/>
                            <a:ea typeface="Cambria Math" panose="02040503050406030204" pitchFamily="18" charset="0"/>
                            <a:sym typeface="Nunito 1 Bold"/>
                          </a:rPr>
                          <m:t>(</m:t>
                        </m:r>
                        <m:r>
                          <a:rPr lang="en-PH" sz="3000" i="1">
                            <a:solidFill>
                              <a:srgbClr val="000000"/>
                            </a:solidFill>
                            <a:latin typeface="Cambria Math" panose="02040503050406030204" pitchFamily="18" charset="0"/>
                            <a:ea typeface="Cambria Math" panose="02040503050406030204" pitchFamily="18" charset="0"/>
                            <a:sym typeface="Nunito 1 Bold"/>
                          </a:rPr>
                          <m:t>𝐻</m:t>
                        </m:r>
                        <m:r>
                          <a:rPr lang="en-PH" sz="3000" i="1">
                            <a:solidFill>
                              <a:srgbClr val="000000"/>
                            </a:solidFill>
                            <a:latin typeface="Cambria Math" panose="02040503050406030204" pitchFamily="18" charset="0"/>
                            <a:ea typeface="Cambria Math" panose="02040503050406030204" pitchFamily="18" charset="0"/>
                            <a:sym typeface="Nunito 1 Bold"/>
                          </a:rPr>
                          <m:t>−</m:t>
                        </m:r>
                        <m:r>
                          <a:rPr lang="en-PH" sz="3000" i="1">
                            <a:solidFill>
                              <a:srgbClr val="000000"/>
                            </a:solidFill>
                            <a:latin typeface="Cambria Math" panose="02040503050406030204" pitchFamily="18" charset="0"/>
                            <a:ea typeface="Cambria Math" panose="02040503050406030204" pitchFamily="18" charset="0"/>
                            <a:sym typeface="Nunito 1 Bold"/>
                          </a:rPr>
                          <m:t>h𝑤</m:t>
                        </m:r>
                        <m:r>
                          <a:rPr lang="en-PH" sz="3000" i="1">
                            <a:solidFill>
                              <a:srgbClr val="000000"/>
                            </a:solidFill>
                            <a:latin typeface="Cambria Math" panose="02040503050406030204" pitchFamily="18" charset="0"/>
                            <a:ea typeface="Cambria Math" panose="02040503050406030204" pitchFamily="18" charset="0"/>
                            <a:sym typeface="Nunito 1 Bold"/>
                          </a:rPr>
                          <m:t>)</m:t>
                        </m:r>
                      </m:num>
                      <m:den>
                        <m:r>
                          <a:rPr lang="en-PH" sz="3000" i="1">
                            <a:solidFill>
                              <a:srgbClr val="000000"/>
                            </a:solidFill>
                            <a:latin typeface="Cambria Math" panose="02040503050406030204" pitchFamily="18" charset="0"/>
                            <a:sym typeface="Nunito 1 Bold"/>
                          </a:rPr>
                          <m:t>𝑙𝑛</m:t>
                        </m:r>
                        <m:d>
                          <m:dPr>
                            <m:ctrlPr>
                              <a:rPr lang="en-PH" sz="3000" i="1">
                                <a:solidFill>
                                  <a:srgbClr val="000000"/>
                                </a:solidFill>
                                <a:latin typeface="Cambria Math" panose="02040503050406030204" pitchFamily="18" charset="0"/>
                                <a:sym typeface="Nunito 1 Bold"/>
                              </a:rPr>
                            </m:ctrlPr>
                          </m:dPr>
                          <m:e>
                            <m:f>
                              <m:fPr>
                                <m:ctrlPr>
                                  <a:rPr lang="en-PH" sz="3000" i="1">
                                    <a:solidFill>
                                      <a:srgbClr val="000000"/>
                                    </a:solidFill>
                                    <a:latin typeface="Cambria Math" panose="02040503050406030204" pitchFamily="18" charset="0"/>
                                    <a:sym typeface="Nunito 1 Bold"/>
                                  </a:rPr>
                                </m:ctrlPr>
                              </m:fPr>
                              <m:num>
                                <m:r>
                                  <a:rPr lang="en-PH" sz="3000" i="1">
                                    <a:solidFill>
                                      <a:srgbClr val="000000"/>
                                    </a:solidFill>
                                    <a:latin typeface="Cambria Math" panose="02040503050406030204" pitchFamily="18" charset="0"/>
                                    <a:sym typeface="Nunito 1 Bold"/>
                                  </a:rPr>
                                  <m:t>𝑅</m:t>
                                </m:r>
                              </m:num>
                              <m:den>
                                <m:sSub>
                                  <m:sSubPr>
                                    <m:ctrlPr>
                                      <a:rPr lang="en-PH" sz="3000" i="1">
                                        <a:solidFill>
                                          <a:srgbClr val="000000"/>
                                        </a:solidFill>
                                        <a:latin typeface="Cambria Math" panose="02040503050406030204" pitchFamily="18" charset="0"/>
                                        <a:sym typeface="Nunito 1 Bold"/>
                                      </a:rPr>
                                    </m:ctrlPr>
                                  </m:sSubPr>
                                  <m:e>
                                    <m:r>
                                      <a:rPr lang="en-PH" sz="3000" i="1">
                                        <a:solidFill>
                                          <a:srgbClr val="000000"/>
                                        </a:solidFill>
                                        <a:latin typeface="Cambria Math" panose="02040503050406030204" pitchFamily="18" charset="0"/>
                                        <a:sym typeface="Nunito 1 Bold"/>
                                      </a:rPr>
                                      <m:t>𝑟</m:t>
                                    </m:r>
                                  </m:e>
                                  <m:sub>
                                    <m:r>
                                      <a:rPr lang="en-PH" sz="3000" i="1">
                                        <a:solidFill>
                                          <a:srgbClr val="000000"/>
                                        </a:solidFill>
                                        <a:latin typeface="Cambria Math" panose="02040503050406030204" pitchFamily="18" charset="0"/>
                                        <a:sym typeface="Nunito 1 Bold"/>
                                      </a:rPr>
                                      <m:t>𝑤</m:t>
                                    </m:r>
                                  </m:sub>
                                </m:sSub>
                              </m:den>
                            </m:f>
                          </m:e>
                        </m:d>
                      </m:den>
                    </m:f>
                  </m:oMath>
                </a14:m>
                <a:endParaRPr lang="en-US" sz="3000" dirty="0">
                  <a:solidFill>
                    <a:srgbClr val="000000"/>
                  </a:solidFill>
                  <a:latin typeface="Nunito 1" panose="020B0604020202020204" charset="0"/>
                  <a:ea typeface="Nunito 1 Bold"/>
                  <a:cs typeface="Nunito 1 Bold"/>
                  <a:sym typeface="Nunito 1 Bold"/>
                </a:endParaRPr>
              </a:p>
              <a:p>
                <a:pPr algn="just"/>
                <a:endParaRPr lang="en-US" sz="2400" dirty="0">
                  <a:solidFill>
                    <a:srgbClr val="000000"/>
                  </a:solidFill>
                  <a:latin typeface="Nunito 1" panose="020B0604020202020204" charset="0"/>
                  <a:ea typeface="Nunito 1 Bold"/>
                  <a:cs typeface="Nunito 1 Bold"/>
                  <a:sym typeface="Nunito 1 Bold"/>
                </a:endParaRPr>
              </a:p>
            </p:txBody>
          </p:sp>
        </mc:Choice>
        <mc:Fallback xmlns="">
          <p:sp>
            <p:nvSpPr>
              <p:cNvPr id="16" name="TextBox 15">
                <a:extLst>
                  <a:ext uri="{FF2B5EF4-FFF2-40B4-BE49-F238E27FC236}">
                    <a16:creationId xmlns:a16="http://schemas.microsoft.com/office/drawing/2014/main" id="{F220B126-9911-0F71-7D2D-5238E1BA68EB}"/>
                  </a:ext>
                </a:extLst>
              </p:cNvPr>
              <p:cNvSpPr txBox="1">
                <a:spLocks noRot="1" noChangeAspect="1" noMove="1" noResize="1" noEditPoints="1" noAdjustHandles="1" noChangeArrowheads="1" noChangeShapeType="1" noTextEdit="1"/>
              </p:cNvSpPr>
              <p:nvPr/>
            </p:nvSpPr>
            <p:spPr>
              <a:xfrm>
                <a:off x="1676399" y="2594593"/>
                <a:ext cx="14935200" cy="5477782"/>
              </a:xfrm>
              <a:prstGeom prst="rect">
                <a:avLst/>
              </a:prstGeom>
              <a:blipFill>
                <a:blip r:embed="rId2"/>
                <a:stretch>
                  <a:fillRect l="-1224" t="-1782"/>
                </a:stretch>
              </a:blipFill>
            </p:spPr>
            <p:txBody>
              <a:bodyPr/>
              <a:lstStyle/>
              <a:p>
                <a:r>
                  <a:rPr lang="en-PH">
                    <a:noFill/>
                  </a:rPr>
                  <a:t> </a:t>
                </a:r>
              </a:p>
            </p:txBody>
          </p:sp>
        </mc:Fallback>
      </mc:AlternateContent>
      <p:sp>
        <p:nvSpPr>
          <p:cNvPr id="18" name="TextBox 13">
            <a:extLst>
              <a:ext uri="{FF2B5EF4-FFF2-40B4-BE49-F238E27FC236}">
                <a16:creationId xmlns:a16="http://schemas.microsoft.com/office/drawing/2014/main" id="{B02DFCE5-243F-750B-4259-B9E64CBE1713}"/>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pic>
        <p:nvPicPr>
          <p:cNvPr id="22" name="Picture 21">
            <a:extLst>
              <a:ext uri="{FF2B5EF4-FFF2-40B4-BE49-F238E27FC236}">
                <a16:creationId xmlns:a16="http://schemas.microsoft.com/office/drawing/2014/main" id="{06989B7C-E433-E065-C833-AEB2D822D61C}"/>
              </a:ext>
            </a:extLst>
          </p:cNvPr>
          <p:cNvPicPr>
            <a:picLocks noChangeAspect="1"/>
          </p:cNvPicPr>
          <p:nvPr/>
        </p:nvPicPr>
        <p:blipFill>
          <a:blip r:embed="rId3"/>
          <a:stretch>
            <a:fillRect/>
          </a:stretch>
        </p:blipFill>
        <p:spPr>
          <a:xfrm>
            <a:off x="9601199" y="5354590"/>
            <a:ext cx="3334215" cy="962159"/>
          </a:xfrm>
          <a:prstGeom prst="rect">
            <a:avLst/>
          </a:prstGeom>
        </p:spPr>
      </p:pic>
      <p:sp>
        <p:nvSpPr>
          <p:cNvPr id="14" name="TextBox 13">
            <a:extLst>
              <a:ext uri="{FF2B5EF4-FFF2-40B4-BE49-F238E27FC236}">
                <a16:creationId xmlns:a16="http://schemas.microsoft.com/office/drawing/2014/main" id="{51351513-8332-3BC0-F42F-07E03332F2C1}"/>
              </a:ext>
            </a:extLst>
          </p:cNvPr>
          <p:cNvSpPr txBox="1"/>
          <p:nvPr/>
        </p:nvSpPr>
        <p:spPr>
          <a:xfrm>
            <a:off x="11490289" y="2643099"/>
            <a:ext cx="4968911" cy="2215991"/>
          </a:xfrm>
          <a:prstGeom prst="rect">
            <a:avLst/>
          </a:prstGeom>
        </p:spPr>
        <p:txBody>
          <a:bodyPr wrap="square" lIns="0" tIns="0" rIns="0" bIns="0" rtlCol="0" anchor="t">
            <a:spAutoFit/>
          </a:bodyPr>
          <a:lstStyle/>
          <a:p>
            <a:pPr algn="just"/>
            <a:r>
              <a:rPr lang="en-US" dirty="0">
                <a:solidFill>
                  <a:srgbClr val="000000"/>
                </a:solidFill>
                <a:latin typeface="Nunito 1" panose="020B0604020202020204" charset="0"/>
                <a:ea typeface="Nunito 1 Bold"/>
                <a:cs typeface="Nunito 1 Bold"/>
                <a:sym typeface="Nunito 1 Bold"/>
              </a:rPr>
              <a:t>Where: k: permeability</a:t>
            </a:r>
          </a:p>
          <a:p>
            <a:pPr marL="1082675" algn="just"/>
            <a:r>
              <a:rPr lang="en-US" dirty="0">
                <a:solidFill>
                  <a:srgbClr val="000000"/>
                </a:solidFill>
                <a:latin typeface="Nunito 1" panose="020B0604020202020204" charset="0"/>
                <a:ea typeface="Nunito 1 Bold"/>
                <a:cs typeface="Nunito 1 Bold"/>
                <a:sym typeface="Nunito 1 Bold"/>
              </a:rPr>
              <a:t>b: thickness of the confined aquifer</a:t>
            </a:r>
          </a:p>
          <a:p>
            <a:pPr marL="1082675" algn="just"/>
            <a:r>
              <a:rPr lang="en-US" dirty="0">
                <a:solidFill>
                  <a:srgbClr val="000000"/>
                </a:solidFill>
                <a:latin typeface="Nunito 1" panose="020B0604020202020204" charset="0"/>
                <a:ea typeface="Nunito 1 Bold"/>
                <a:cs typeface="Nunito 1 Bold"/>
                <a:sym typeface="Nunito 1 Bold"/>
              </a:rPr>
              <a:t>H: height of static water level above the bottom of water bearing formation</a:t>
            </a:r>
          </a:p>
          <a:p>
            <a:pPr marL="1082675" algn="just"/>
            <a:r>
              <a:rPr lang="en-US" dirty="0">
                <a:solidFill>
                  <a:srgbClr val="000000"/>
                </a:solidFill>
                <a:latin typeface="Nunito 1" panose="020B0604020202020204" charset="0"/>
                <a:ea typeface="Nunito 1 Bold"/>
                <a:cs typeface="Nunito 1 Bold"/>
                <a:sym typeface="Nunito 1 Bold"/>
              </a:rPr>
              <a:t>s:  drawdown in observation well</a:t>
            </a:r>
          </a:p>
          <a:p>
            <a:pPr marL="1082675" algn="just"/>
            <a:r>
              <a:rPr lang="en-US" dirty="0">
                <a:solidFill>
                  <a:srgbClr val="000000"/>
                </a:solidFill>
                <a:latin typeface="Nunito 1" panose="020B0604020202020204" charset="0"/>
                <a:ea typeface="Nunito 1 Bold"/>
                <a:cs typeface="Nunito 1 Bold"/>
                <a:sym typeface="Nunito 1 Bold"/>
              </a:rPr>
              <a:t>h: H – s</a:t>
            </a:r>
          </a:p>
          <a:p>
            <a:pPr marL="1082675" algn="just"/>
            <a:r>
              <a:rPr lang="en-US" dirty="0">
                <a:solidFill>
                  <a:srgbClr val="000000"/>
                </a:solidFill>
                <a:latin typeface="Nunito 1" panose="020B0604020202020204" charset="0"/>
                <a:ea typeface="Nunito 1 Bold"/>
                <a:cs typeface="Nunito 1 Bold"/>
                <a:sym typeface="Nunito 1 Bold"/>
              </a:rPr>
              <a:t>r: center-to-center distance of well to observation wells</a:t>
            </a:r>
          </a:p>
        </p:txBody>
      </p:sp>
      <p:sp>
        <p:nvSpPr>
          <p:cNvPr id="17" name="TextBox 16">
            <a:extLst>
              <a:ext uri="{FF2B5EF4-FFF2-40B4-BE49-F238E27FC236}">
                <a16:creationId xmlns:a16="http://schemas.microsoft.com/office/drawing/2014/main" id="{C99C4E6C-DF3E-601A-AEDE-D25ACE8F94B3}"/>
              </a:ext>
            </a:extLst>
          </p:cNvPr>
          <p:cNvSpPr txBox="1"/>
          <p:nvPr/>
        </p:nvSpPr>
        <p:spPr>
          <a:xfrm>
            <a:off x="7650144" y="7822912"/>
            <a:ext cx="4968911" cy="553998"/>
          </a:xfrm>
          <a:prstGeom prst="rect">
            <a:avLst/>
          </a:prstGeom>
        </p:spPr>
        <p:txBody>
          <a:bodyPr wrap="square" lIns="0" tIns="0" rIns="0" bIns="0" rtlCol="0" anchor="t">
            <a:spAutoFit/>
          </a:bodyPr>
          <a:lstStyle/>
          <a:p>
            <a:pPr algn="just"/>
            <a:r>
              <a:rPr lang="en-US" dirty="0">
                <a:solidFill>
                  <a:srgbClr val="000000"/>
                </a:solidFill>
                <a:latin typeface="Nunito 1" panose="020B0604020202020204" charset="0"/>
                <a:ea typeface="Nunito 1 Bold"/>
                <a:cs typeface="Nunito 1 Bold"/>
                <a:sym typeface="Nunito 1 Bold"/>
              </a:rPr>
              <a:t>Where: R: radius of influence</a:t>
            </a:r>
          </a:p>
          <a:p>
            <a:pPr algn="just"/>
            <a:r>
              <a:rPr lang="en-US" dirty="0">
                <a:solidFill>
                  <a:srgbClr val="000000"/>
                </a:solidFill>
                <a:latin typeface="Nunito 1" panose="020B0604020202020204" charset="0"/>
                <a:ea typeface="Nunito 1 Bold"/>
                <a:cs typeface="Nunito 1 Bold"/>
                <a:sym typeface="Nunito 1 Bold"/>
              </a:rPr>
              <a:t>	r: radius of the well</a:t>
            </a:r>
          </a:p>
        </p:txBody>
      </p:sp>
      <p:grpSp>
        <p:nvGrpSpPr>
          <p:cNvPr id="20" name="Group 19">
            <a:extLst>
              <a:ext uri="{FF2B5EF4-FFF2-40B4-BE49-F238E27FC236}">
                <a16:creationId xmlns:a16="http://schemas.microsoft.com/office/drawing/2014/main" id="{461CC7CF-48BE-E21A-E61B-8ED1B97F0DEB}"/>
              </a:ext>
            </a:extLst>
          </p:cNvPr>
          <p:cNvGrpSpPr/>
          <p:nvPr/>
        </p:nvGrpSpPr>
        <p:grpSpPr>
          <a:xfrm>
            <a:off x="0" y="9599693"/>
            <a:ext cx="18287999" cy="687306"/>
            <a:chOff x="0" y="9599693"/>
            <a:chExt cx="18287999" cy="687306"/>
          </a:xfrm>
        </p:grpSpPr>
        <p:grpSp>
          <p:nvGrpSpPr>
            <p:cNvPr id="21" name="Group 11">
              <a:extLst>
                <a:ext uri="{FF2B5EF4-FFF2-40B4-BE49-F238E27FC236}">
                  <a16:creationId xmlns:a16="http://schemas.microsoft.com/office/drawing/2014/main" id="{31939B5C-AB6D-28AA-5CCA-045262785FA8}"/>
                </a:ext>
              </a:extLst>
            </p:cNvPr>
            <p:cNvGrpSpPr/>
            <p:nvPr/>
          </p:nvGrpSpPr>
          <p:grpSpPr>
            <a:xfrm>
              <a:off x="0" y="9599694"/>
              <a:ext cx="18287999" cy="687305"/>
              <a:chOff x="0" y="0"/>
              <a:chExt cx="5260714" cy="490218"/>
            </a:xfrm>
          </p:grpSpPr>
          <p:sp>
            <p:nvSpPr>
              <p:cNvPr id="29" name="Freeform 12">
                <a:extLst>
                  <a:ext uri="{FF2B5EF4-FFF2-40B4-BE49-F238E27FC236}">
                    <a16:creationId xmlns:a16="http://schemas.microsoft.com/office/drawing/2014/main" id="{485BA2CD-16C2-D0F0-DAC2-2CEBC75C6A7F}"/>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30" name="TextBox 13">
                <a:extLst>
                  <a:ext uri="{FF2B5EF4-FFF2-40B4-BE49-F238E27FC236}">
                    <a16:creationId xmlns:a16="http://schemas.microsoft.com/office/drawing/2014/main" id="{58627E02-A0AF-1AF9-0CC7-FCBA522A0C9E}"/>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7" name="TextBox 12">
              <a:extLst>
                <a:ext uri="{FF2B5EF4-FFF2-40B4-BE49-F238E27FC236}">
                  <a16:creationId xmlns:a16="http://schemas.microsoft.com/office/drawing/2014/main" id="{ED65C917-3654-C309-1DA9-D321CF3B6A53}"/>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8" name="TextBox 13">
              <a:extLst>
                <a:ext uri="{FF2B5EF4-FFF2-40B4-BE49-F238E27FC236}">
                  <a16:creationId xmlns:a16="http://schemas.microsoft.com/office/drawing/2014/main" id="{398B3830-9176-36AB-755F-0B6E04EE433B}"/>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spTree>
    <p:extLst>
      <p:ext uri="{BB962C8B-B14F-4D97-AF65-F5344CB8AC3E}">
        <p14:creationId xmlns:p14="http://schemas.microsoft.com/office/powerpoint/2010/main" val="28430839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E8C8B-08CF-A63E-45B7-A618809D633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0D5ABBB-5555-0A0E-3815-3F57275775BC}"/>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1FFE97AF-D435-523D-7A40-20CEE2F81180}"/>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34AD277A-36FB-AB6D-22B9-83E20A05A05F}"/>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B8ECBF7F-60E6-FAFD-8343-4DB01CCE1FE7}"/>
              </a:ext>
            </a:extLst>
          </p:cNvPr>
          <p:cNvGrpSpPr/>
          <p:nvPr/>
        </p:nvGrpSpPr>
        <p:grpSpPr>
          <a:xfrm>
            <a:off x="228599" y="1244210"/>
            <a:ext cx="16230600" cy="7447557"/>
            <a:chOff x="0" y="0"/>
            <a:chExt cx="4274726" cy="1718953"/>
          </a:xfrm>
        </p:grpSpPr>
        <p:sp>
          <p:nvSpPr>
            <p:cNvPr id="6" name="Freeform 6">
              <a:extLst>
                <a:ext uri="{FF2B5EF4-FFF2-40B4-BE49-F238E27FC236}">
                  <a16:creationId xmlns:a16="http://schemas.microsoft.com/office/drawing/2014/main" id="{BDDC7517-C7DF-DAAD-CAE8-FA570579B847}"/>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134B774B-2BA1-3C02-E193-C9395D82016A}"/>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AC01C139-3553-2A39-23EB-FE01E4BF778B}"/>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A2CC2EB1-1F6F-26AC-BBD5-A5F104B60BB2}"/>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947C6037-CA27-ACBB-8E57-B54195855C21}"/>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B5898161-ED3C-1E78-6DC5-0B16845B4CA6}"/>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5A5D4877-255A-611D-3C80-CAF231224EE7}"/>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C41A5421-DFD1-7D0B-E975-A9A100DB4DA9}"/>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2">
            <a:extLst>
              <a:ext uri="{FF2B5EF4-FFF2-40B4-BE49-F238E27FC236}">
                <a16:creationId xmlns:a16="http://schemas.microsoft.com/office/drawing/2014/main" id="{EE70731F-836B-21A3-DD7D-F1E13AC59C42}"/>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4024531D-95CC-FE14-E803-D2031596C8CD}"/>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F3AD0C0C-126E-A783-7746-4F9B559269C8}"/>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94699341-ACB8-C133-CC13-D215CD5FEC97}"/>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5AF3DC2-E8CA-97C0-F391-ED3EED08E83A}"/>
                  </a:ext>
                </a:extLst>
              </p:cNvPr>
              <p:cNvSpPr txBox="1"/>
              <p:nvPr/>
            </p:nvSpPr>
            <p:spPr>
              <a:xfrm>
                <a:off x="1676399" y="2594593"/>
                <a:ext cx="5486401" cy="3553280"/>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Formula for water yield (Q) using drawdown in two observation wells</a:t>
                </a:r>
              </a:p>
              <a:p>
                <a:pPr algn="just"/>
                <a:endParaRPr lang="en-US" sz="2400" dirty="0">
                  <a:solidFill>
                    <a:srgbClr val="000000"/>
                  </a:solidFill>
                  <a:latin typeface="Nunito 1" panose="020B0604020202020204" charset="0"/>
                  <a:ea typeface="Nunito 1 Bold"/>
                  <a:cs typeface="Nunito 1 Bold"/>
                  <a:sym typeface="Nunito 1 Bold"/>
                </a:endParaRPr>
              </a:p>
              <a:p>
                <a:pPr algn="ctr"/>
                <a:r>
                  <a:rPr lang="en-US" sz="2400" dirty="0">
                    <a:solidFill>
                      <a:srgbClr val="000000"/>
                    </a:solidFill>
                    <a:latin typeface="Nunito 1" panose="020B0604020202020204" charset="0"/>
                    <a:ea typeface="Nunito 1 Bold"/>
                    <a:cs typeface="Nunito 1 Bold"/>
                    <a:sym typeface="Nunito 1 Bold"/>
                  </a:rPr>
                  <a:t>Q = </a:t>
                </a:r>
                <a14:m>
                  <m:oMath xmlns:m="http://schemas.openxmlformats.org/officeDocument/2006/math">
                    <m:f>
                      <m:fPr>
                        <m:ctrlPr>
                          <a:rPr lang="en-US" sz="3000" i="1" smtClean="0">
                            <a:solidFill>
                              <a:srgbClr val="000000"/>
                            </a:solidFill>
                            <a:latin typeface="Cambria Math" panose="02040503050406030204" pitchFamily="18" charset="0"/>
                            <a:sym typeface="Nunito 1 Bold"/>
                          </a:rPr>
                        </m:ctrlPr>
                      </m:fPr>
                      <m:num>
                        <m:r>
                          <a:rPr lang="en-US" sz="3000" i="1" smtClean="0">
                            <a:solidFill>
                              <a:srgbClr val="000000"/>
                            </a:solidFill>
                            <a:latin typeface="Cambria Math" panose="02040503050406030204" pitchFamily="18" charset="0"/>
                            <a:ea typeface="Cambria Math" panose="02040503050406030204" pitchFamily="18" charset="0"/>
                            <a:sym typeface="Nunito 1 Bold"/>
                          </a:rPr>
                          <m:t>𝜋</m:t>
                        </m:r>
                        <m:r>
                          <a:rPr lang="en-PH" sz="3000" b="0" i="1" smtClean="0">
                            <a:solidFill>
                              <a:srgbClr val="000000"/>
                            </a:solidFill>
                            <a:latin typeface="Cambria Math" panose="02040503050406030204" pitchFamily="18" charset="0"/>
                            <a:ea typeface="Cambria Math" panose="02040503050406030204" pitchFamily="18" charset="0"/>
                            <a:sym typeface="Nunito 1 Bold"/>
                          </a:rPr>
                          <m:t>𝐾</m:t>
                        </m:r>
                        <m:r>
                          <a:rPr lang="en-PH" sz="3000" b="0" i="1" smtClean="0">
                            <a:solidFill>
                              <a:srgbClr val="000000"/>
                            </a:solidFill>
                            <a:latin typeface="Cambria Math" panose="02040503050406030204" pitchFamily="18" charset="0"/>
                            <a:ea typeface="Cambria Math" panose="02040503050406030204" pitchFamily="18" charset="0"/>
                            <a:sym typeface="Nunito 1 Bold"/>
                          </a:rPr>
                          <m:t>(</m:t>
                        </m:r>
                        <m:sSubSup>
                          <m:sSubSupPr>
                            <m:ctrlPr>
                              <a:rPr lang="en-PH" sz="3000" b="0" i="1" smtClean="0">
                                <a:solidFill>
                                  <a:srgbClr val="000000"/>
                                </a:solidFill>
                                <a:latin typeface="Cambria Math" panose="02040503050406030204" pitchFamily="18" charset="0"/>
                                <a:ea typeface="Cambria Math" panose="02040503050406030204" pitchFamily="18" charset="0"/>
                                <a:sym typeface="Nunito 1 Bold"/>
                              </a:rPr>
                            </m:ctrlPr>
                          </m:sSubSupPr>
                          <m:e>
                            <m:r>
                              <a:rPr lang="en-PH" sz="3000" b="0" i="1" smtClean="0">
                                <a:solidFill>
                                  <a:srgbClr val="000000"/>
                                </a:solidFill>
                                <a:latin typeface="Cambria Math" panose="02040503050406030204" pitchFamily="18" charset="0"/>
                                <a:ea typeface="Cambria Math" panose="02040503050406030204" pitchFamily="18" charset="0"/>
                                <a:sym typeface="Nunito 1 Bold"/>
                              </a:rPr>
                              <m:t>h</m:t>
                            </m:r>
                          </m:e>
                          <m:sub>
                            <m:r>
                              <a:rPr lang="en-PH" sz="3000" b="0" i="1" smtClean="0">
                                <a:solidFill>
                                  <a:srgbClr val="000000"/>
                                </a:solidFill>
                                <a:latin typeface="Cambria Math" panose="02040503050406030204" pitchFamily="18" charset="0"/>
                                <a:ea typeface="Cambria Math" panose="02040503050406030204" pitchFamily="18" charset="0"/>
                                <a:sym typeface="Nunito 1 Bold"/>
                              </a:rPr>
                              <m:t>2</m:t>
                            </m:r>
                          </m:sub>
                          <m:sup>
                            <m:r>
                              <a:rPr lang="en-PH" sz="3000" b="0" i="1" smtClean="0">
                                <a:solidFill>
                                  <a:srgbClr val="000000"/>
                                </a:solidFill>
                                <a:latin typeface="Cambria Math" panose="02040503050406030204" pitchFamily="18" charset="0"/>
                                <a:ea typeface="Cambria Math" panose="02040503050406030204" pitchFamily="18" charset="0"/>
                                <a:sym typeface="Nunito 1 Bold"/>
                              </a:rPr>
                              <m:t>2</m:t>
                            </m:r>
                          </m:sup>
                        </m:sSubSup>
                        <m:r>
                          <a:rPr lang="en-PH" sz="3000" b="0" i="1" smtClean="0">
                            <a:solidFill>
                              <a:srgbClr val="000000"/>
                            </a:solidFill>
                            <a:latin typeface="Cambria Math" panose="02040503050406030204" pitchFamily="18" charset="0"/>
                            <a:ea typeface="Cambria Math" panose="02040503050406030204" pitchFamily="18" charset="0"/>
                            <a:sym typeface="Nunito 1 Bold"/>
                          </a:rPr>
                          <m:t>−</m:t>
                        </m:r>
                        <m:sSubSup>
                          <m:sSubSupPr>
                            <m:ctrlPr>
                              <a:rPr lang="en-PH" sz="3000" i="1">
                                <a:solidFill>
                                  <a:srgbClr val="000000"/>
                                </a:solidFill>
                                <a:latin typeface="Cambria Math" panose="02040503050406030204" pitchFamily="18" charset="0"/>
                                <a:ea typeface="Cambria Math" panose="02040503050406030204" pitchFamily="18" charset="0"/>
                                <a:sym typeface="Nunito 1 Bold"/>
                              </a:rPr>
                            </m:ctrlPr>
                          </m:sSubSupPr>
                          <m:e>
                            <m:r>
                              <a:rPr lang="en-PH" sz="3000" i="1" smtClean="0">
                                <a:solidFill>
                                  <a:srgbClr val="000000"/>
                                </a:solidFill>
                                <a:latin typeface="Cambria Math" panose="02040503050406030204" pitchFamily="18" charset="0"/>
                                <a:ea typeface="Cambria Math" panose="02040503050406030204" pitchFamily="18" charset="0"/>
                                <a:sym typeface="Nunito 1 Bold"/>
                              </a:rPr>
                              <m:t>h</m:t>
                            </m:r>
                          </m:e>
                          <m:sub>
                            <m:r>
                              <a:rPr lang="en-PH" sz="3000" b="0" i="1" smtClean="0">
                                <a:solidFill>
                                  <a:srgbClr val="000000"/>
                                </a:solidFill>
                                <a:latin typeface="Cambria Math" panose="02040503050406030204" pitchFamily="18" charset="0"/>
                                <a:ea typeface="Cambria Math" panose="02040503050406030204" pitchFamily="18" charset="0"/>
                                <a:sym typeface="Nunito 1 Bold"/>
                              </a:rPr>
                              <m:t>1</m:t>
                            </m:r>
                          </m:sub>
                          <m:sup>
                            <m:r>
                              <a:rPr lang="en-PH" sz="3000" i="1" smtClean="0">
                                <a:solidFill>
                                  <a:srgbClr val="000000"/>
                                </a:solidFill>
                                <a:latin typeface="Cambria Math" panose="02040503050406030204" pitchFamily="18" charset="0"/>
                                <a:ea typeface="Cambria Math" panose="02040503050406030204" pitchFamily="18" charset="0"/>
                                <a:sym typeface="Nunito 1 Bold"/>
                              </a:rPr>
                              <m:t>2</m:t>
                            </m:r>
                          </m:sup>
                        </m:sSubSup>
                        <m:r>
                          <a:rPr lang="en-PH" sz="3000" b="0" i="1" smtClean="0">
                            <a:solidFill>
                              <a:srgbClr val="000000"/>
                            </a:solidFill>
                            <a:latin typeface="Cambria Math" panose="02040503050406030204" pitchFamily="18" charset="0"/>
                            <a:ea typeface="Cambria Math" panose="02040503050406030204" pitchFamily="18" charset="0"/>
                            <a:sym typeface="Nunito 1 Bold"/>
                          </a:rPr>
                          <m:t>)</m:t>
                        </m:r>
                      </m:num>
                      <m:den>
                        <m:r>
                          <a:rPr lang="en-PH" sz="3000" b="0" i="1" smtClean="0">
                            <a:solidFill>
                              <a:srgbClr val="000000"/>
                            </a:solidFill>
                            <a:latin typeface="Cambria Math" panose="02040503050406030204" pitchFamily="18" charset="0"/>
                            <a:sym typeface="Nunito 1 Bold"/>
                          </a:rPr>
                          <m:t>𝑙𝑛</m:t>
                        </m:r>
                        <m:d>
                          <m:dPr>
                            <m:ctrlPr>
                              <a:rPr lang="en-PH" sz="3000" b="0" i="1" smtClean="0">
                                <a:solidFill>
                                  <a:srgbClr val="000000"/>
                                </a:solidFill>
                                <a:latin typeface="Cambria Math" panose="02040503050406030204" pitchFamily="18" charset="0"/>
                                <a:sym typeface="Nunito 1 Bold"/>
                              </a:rPr>
                            </m:ctrlPr>
                          </m:dPr>
                          <m:e>
                            <m:f>
                              <m:fPr>
                                <m:ctrlPr>
                                  <a:rPr lang="en-PH" sz="3000" b="0" i="1" smtClean="0">
                                    <a:solidFill>
                                      <a:srgbClr val="000000"/>
                                    </a:solidFill>
                                    <a:latin typeface="Cambria Math" panose="02040503050406030204" pitchFamily="18" charset="0"/>
                                    <a:sym typeface="Nunito 1 Bold"/>
                                  </a:rPr>
                                </m:ctrlPr>
                              </m:fPr>
                              <m:num>
                                <m:sSub>
                                  <m:sSubPr>
                                    <m:ctrlPr>
                                      <a:rPr lang="en-PH" sz="3000" i="1">
                                        <a:solidFill>
                                          <a:srgbClr val="000000"/>
                                        </a:solidFill>
                                        <a:latin typeface="Cambria Math" panose="02040503050406030204" pitchFamily="18" charset="0"/>
                                        <a:sym typeface="Nunito 1 Bold"/>
                                      </a:rPr>
                                    </m:ctrlPr>
                                  </m:sSubPr>
                                  <m:e>
                                    <m:r>
                                      <a:rPr lang="en-PH" sz="3000" i="1" smtClean="0">
                                        <a:solidFill>
                                          <a:srgbClr val="000000"/>
                                        </a:solidFill>
                                        <a:latin typeface="Cambria Math" panose="02040503050406030204" pitchFamily="18" charset="0"/>
                                        <a:sym typeface="Nunito 1 Bold"/>
                                      </a:rPr>
                                      <m:t>𝑟</m:t>
                                    </m:r>
                                  </m:e>
                                  <m:sub>
                                    <m:r>
                                      <a:rPr lang="en-PH" sz="3000" b="0" i="1" smtClean="0">
                                        <a:solidFill>
                                          <a:srgbClr val="000000"/>
                                        </a:solidFill>
                                        <a:latin typeface="Cambria Math" panose="02040503050406030204" pitchFamily="18" charset="0"/>
                                        <a:sym typeface="Nunito 1 Bold"/>
                                      </a:rPr>
                                      <m:t>2</m:t>
                                    </m:r>
                                  </m:sub>
                                </m:sSub>
                              </m:num>
                              <m:den>
                                <m:sSub>
                                  <m:sSubPr>
                                    <m:ctrlPr>
                                      <a:rPr lang="en-PH" sz="3000" b="0" i="1" smtClean="0">
                                        <a:solidFill>
                                          <a:srgbClr val="000000"/>
                                        </a:solidFill>
                                        <a:latin typeface="Cambria Math" panose="02040503050406030204" pitchFamily="18" charset="0"/>
                                        <a:sym typeface="Nunito 1 Bold"/>
                                      </a:rPr>
                                    </m:ctrlPr>
                                  </m:sSubPr>
                                  <m:e>
                                    <m:r>
                                      <a:rPr lang="en-PH" sz="3000" b="0" i="1" smtClean="0">
                                        <a:solidFill>
                                          <a:srgbClr val="000000"/>
                                        </a:solidFill>
                                        <a:latin typeface="Cambria Math" panose="02040503050406030204" pitchFamily="18" charset="0"/>
                                        <a:sym typeface="Nunito 1 Bold"/>
                                      </a:rPr>
                                      <m:t>𝑟</m:t>
                                    </m:r>
                                  </m:e>
                                  <m:sub>
                                    <m:r>
                                      <a:rPr lang="en-PH" sz="3000" b="0" i="1" smtClean="0">
                                        <a:solidFill>
                                          <a:srgbClr val="000000"/>
                                        </a:solidFill>
                                        <a:latin typeface="Cambria Math" panose="02040503050406030204" pitchFamily="18" charset="0"/>
                                        <a:sym typeface="Nunito 1 Bold"/>
                                      </a:rPr>
                                      <m:t>1</m:t>
                                    </m:r>
                                  </m:sub>
                                </m:sSub>
                              </m:den>
                            </m:f>
                          </m:e>
                        </m:d>
                      </m:den>
                    </m:f>
                  </m:oMath>
                </a14:m>
                <a:endParaRPr lang="en-US" sz="3000" dirty="0">
                  <a:solidFill>
                    <a:srgbClr val="000000"/>
                  </a:solidFill>
                  <a:latin typeface="Nunito 1" panose="020B0604020202020204" charset="0"/>
                  <a:ea typeface="Nunito 1 Bold"/>
                  <a:cs typeface="Nunito 1 Bold"/>
                  <a:sym typeface="Nunito 1 Bold"/>
                </a:endParaRPr>
              </a:p>
              <a:p>
                <a:pPr algn="ctr"/>
                <a:endParaRPr lang="en-US" sz="2400" dirty="0">
                  <a:solidFill>
                    <a:srgbClr val="000000"/>
                  </a:solidFill>
                  <a:latin typeface="Nunito 1" panose="020B0604020202020204" charset="0"/>
                  <a:ea typeface="Nunito 1 Bold"/>
                  <a:cs typeface="Nunito 1 Bold"/>
                  <a:sym typeface="Nunito 1 Bold"/>
                </a:endParaRPr>
              </a:p>
              <a:p>
                <a:pPr algn="ctr"/>
                <a:r>
                  <a:rPr lang="en-US" sz="2400" dirty="0">
                    <a:solidFill>
                      <a:srgbClr val="000000"/>
                    </a:solidFill>
                    <a:latin typeface="Nunito 1" panose="020B0604020202020204" charset="0"/>
                    <a:ea typeface="Nunito 1 Bold"/>
                    <a:cs typeface="Nunito 1 Bold"/>
                    <a:sym typeface="Nunito 1 Bold"/>
                  </a:rPr>
                  <a:t>h = H-z</a:t>
                </a:r>
              </a:p>
              <a:p>
                <a:pPr algn="just"/>
                <a:endParaRPr lang="en-US" sz="2400" dirty="0">
                  <a:solidFill>
                    <a:srgbClr val="000000"/>
                  </a:solidFill>
                  <a:latin typeface="Nunito 1" panose="020B0604020202020204" charset="0"/>
                  <a:ea typeface="Nunito 1 Bold"/>
                  <a:cs typeface="Nunito 1 Bold"/>
                  <a:sym typeface="Nunito 1 Bold"/>
                </a:endParaRPr>
              </a:p>
              <a:p>
                <a:pPr algn="just"/>
                <a:endParaRPr lang="en-US" sz="2400" dirty="0">
                  <a:solidFill>
                    <a:srgbClr val="000000"/>
                  </a:solidFill>
                  <a:latin typeface="Nunito 1" panose="020B0604020202020204" charset="0"/>
                  <a:ea typeface="Nunito 1 Bold"/>
                  <a:cs typeface="Nunito 1 Bold"/>
                  <a:sym typeface="Nunito 1 Bold"/>
                </a:endParaRPr>
              </a:p>
            </p:txBody>
          </p:sp>
        </mc:Choice>
        <mc:Fallback xmlns="">
          <p:sp>
            <p:nvSpPr>
              <p:cNvPr id="16" name="TextBox 15">
                <a:extLst>
                  <a:ext uri="{FF2B5EF4-FFF2-40B4-BE49-F238E27FC236}">
                    <a16:creationId xmlns:a16="http://schemas.microsoft.com/office/drawing/2014/main" id="{95AF3DC2-E8CA-97C0-F391-ED3EED08E83A}"/>
                  </a:ext>
                </a:extLst>
              </p:cNvPr>
              <p:cNvSpPr txBox="1">
                <a:spLocks noRot="1" noChangeAspect="1" noMove="1" noResize="1" noEditPoints="1" noAdjustHandles="1" noChangeArrowheads="1" noChangeShapeType="1" noTextEdit="1"/>
              </p:cNvSpPr>
              <p:nvPr/>
            </p:nvSpPr>
            <p:spPr>
              <a:xfrm>
                <a:off x="1676399" y="2594593"/>
                <a:ext cx="5486401" cy="3553280"/>
              </a:xfrm>
              <a:prstGeom prst="rect">
                <a:avLst/>
              </a:prstGeom>
              <a:blipFill>
                <a:blip r:embed="rId3"/>
                <a:stretch>
                  <a:fillRect l="-3333" t="-2744" r="-3333"/>
                </a:stretch>
              </a:blipFill>
            </p:spPr>
            <p:txBody>
              <a:bodyPr/>
              <a:lstStyle/>
              <a:p>
                <a:r>
                  <a:rPr lang="en-PH">
                    <a:noFill/>
                  </a:rPr>
                  <a:t> </a:t>
                </a:r>
              </a:p>
            </p:txBody>
          </p:sp>
        </mc:Fallback>
      </mc:AlternateContent>
      <p:sp>
        <p:nvSpPr>
          <p:cNvPr id="18" name="TextBox 13">
            <a:extLst>
              <a:ext uri="{FF2B5EF4-FFF2-40B4-BE49-F238E27FC236}">
                <a16:creationId xmlns:a16="http://schemas.microsoft.com/office/drawing/2014/main" id="{A6EF1448-1844-CFE8-662C-36DA08AE6CBC}"/>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pic>
        <p:nvPicPr>
          <p:cNvPr id="1026" name="Picture 2" descr="Solved Pumping well Observation wells 9 W Z2 Original GWT K | Chegg.com">
            <a:extLst>
              <a:ext uri="{FF2B5EF4-FFF2-40B4-BE49-F238E27FC236}">
                <a16:creationId xmlns:a16="http://schemas.microsoft.com/office/drawing/2014/main" id="{55B8DABF-05E7-904D-AC97-AD244B21EF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43899" y="2591795"/>
            <a:ext cx="8457122" cy="5480643"/>
          </a:xfrm>
          <a:prstGeom prst="rect">
            <a:avLst/>
          </a:prstGeom>
          <a:noFill/>
          <a:extLst>
            <a:ext uri="{909E8E84-426E-40DD-AFC4-6F175D3DCCD1}">
              <a14:hiddenFill xmlns:a14="http://schemas.microsoft.com/office/drawing/2010/main">
                <a:solidFill>
                  <a:srgbClr val="FFFFFF"/>
                </a:solidFill>
              </a14:hiddenFill>
            </a:ext>
          </a:extLst>
        </p:spPr>
      </p:pic>
      <p:grpSp>
        <p:nvGrpSpPr>
          <p:cNvPr id="14" name="Group 13">
            <a:extLst>
              <a:ext uri="{FF2B5EF4-FFF2-40B4-BE49-F238E27FC236}">
                <a16:creationId xmlns:a16="http://schemas.microsoft.com/office/drawing/2014/main" id="{30FAAE8D-6F8E-20D3-64EA-06E615141F9E}"/>
              </a:ext>
            </a:extLst>
          </p:cNvPr>
          <p:cNvGrpSpPr/>
          <p:nvPr/>
        </p:nvGrpSpPr>
        <p:grpSpPr>
          <a:xfrm>
            <a:off x="0" y="9599693"/>
            <a:ext cx="18287999" cy="687306"/>
            <a:chOff x="0" y="9599693"/>
            <a:chExt cx="18287999" cy="687306"/>
          </a:xfrm>
        </p:grpSpPr>
        <p:grpSp>
          <p:nvGrpSpPr>
            <p:cNvPr id="15" name="Group 11">
              <a:extLst>
                <a:ext uri="{FF2B5EF4-FFF2-40B4-BE49-F238E27FC236}">
                  <a16:creationId xmlns:a16="http://schemas.microsoft.com/office/drawing/2014/main" id="{1E788A74-3DFC-0464-3270-B4F4A8A2533E}"/>
                </a:ext>
              </a:extLst>
            </p:cNvPr>
            <p:cNvGrpSpPr/>
            <p:nvPr/>
          </p:nvGrpSpPr>
          <p:grpSpPr>
            <a:xfrm>
              <a:off x="0" y="9599694"/>
              <a:ext cx="18287999" cy="687305"/>
              <a:chOff x="0" y="0"/>
              <a:chExt cx="5260714" cy="490218"/>
            </a:xfrm>
          </p:grpSpPr>
          <p:sp>
            <p:nvSpPr>
              <p:cNvPr id="21" name="Freeform 12">
                <a:extLst>
                  <a:ext uri="{FF2B5EF4-FFF2-40B4-BE49-F238E27FC236}">
                    <a16:creationId xmlns:a16="http://schemas.microsoft.com/office/drawing/2014/main" id="{F031E9AF-DA6E-92C9-DE2E-947B318F2DCE}"/>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2" name="TextBox 13">
                <a:extLst>
                  <a:ext uri="{FF2B5EF4-FFF2-40B4-BE49-F238E27FC236}">
                    <a16:creationId xmlns:a16="http://schemas.microsoft.com/office/drawing/2014/main" id="{395CD4F1-7F29-EA81-1240-42B19F7FA639}"/>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2">
              <a:extLst>
                <a:ext uri="{FF2B5EF4-FFF2-40B4-BE49-F238E27FC236}">
                  <a16:creationId xmlns:a16="http://schemas.microsoft.com/office/drawing/2014/main" id="{09FA019A-4E9C-E006-359F-C893DFD3D79D}"/>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0" name="TextBox 13">
              <a:extLst>
                <a:ext uri="{FF2B5EF4-FFF2-40B4-BE49-F238E27FC236}">
                  <a16:creationId xmlns:a16="http://schemas.microsoft.com/office/drawing/2014/main" id="{0EA0CD66-8140-A729-FDA1-8757A5D06652}"/>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spTree>
    <p:extLst>
      <p:ext uri="{BB962C8B-B14F-4D97-AF65-F5344CB8AC3E}">
        <p14:creationId xmlns:p14="http://schemas.microsoft.com/office/powerpoint/2010/main" val="41261479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CA5B7-4D38-1768-AF94-90FCB35B748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74F2FE9-CCC1-4011-BEE7-DE95F8954376}"/>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ED51AB76-EE85-E12D-E8F3-900BDC327F04}"/>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86399FAC-F97F-FD14-BFC7-2108898B872A}"/>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01212E88-DB7D-EE7B-C9B9-1908A80B57B1}"/>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7BA8DC73-AEDB-6460-11DD-3144DAD1FBA3}"/>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581D355C-2063-9F29-C163-05D7C885680A}"/>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857B632B-0740-E3B5-FB1A-C207D21AC19A}"/>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115CA4A2-F655-606E-28DA-CC454DA3D8CD}"/>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285121AA-377F-DE3C-639B-6C250A7F34AD}"/>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D5800710-3F6B-467F-80FA-770820AA696F}"/>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9852E278-5ACE-49C8-4A27-84D07FCA9C7C}"/>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3ED06A61-4686-A16A-5862-9E84489BE04E}"/>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2">
            <a:extLst>
              <a:ext uri="{FF2B5EF4-FFF2-40B4-BE49-F238E27FC236}">
                <a16:creationId xmlns:a16="http://schemas.microsoft.com/office/drawing/2014/main" id="{2C108575-8E93-DE7F-77D9-8E07CD87E8CB}"/>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EF209109-6FF7-F03D-7EEA-F7B99D090A0D}"/>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D72D3D5F-A222-A001-456F-3AC6A2722080}"/>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70BF7190-29F4-967A-9BE7-3E5C2D167F8E}"/>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3">
            <a:extLst>
              <a:ext uri="{FF2B5EF4-FFF2-40B4-BE49-F238E27FC236}">
                <a16:creationId xmlns:a16="http://schemas.microsoft.com/office/drawing/2014/main" id="{F40A1E57-FFDC-3DC4-5BD6-139F89B3856E}"/>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976C59A-25CC-28CD-FA36-55532001CBCE}"/>
                  </a:ext>
                </a:extLst>
              </p:cNvPr>
              <p:cNvSpPr txBox="1"/>
              <p:nvPr/>
            </p:nvSpPr>
            <p:spPr>
              <a:xfrm>
                <a:off x="1676400" y="2594593"/>
                <a:ext cx="6209221" cy="5053948"/>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Formula for water yield (Q), single well</a:t>
                </a:r>
              </a:p>
              <a:p>
                <a:pPr algn="just"/>
                <a:endParaRPr lang="en-US" sz="2400" dirty="0">
                  <a:solidFill>
                    <a:srgbClr val="000000"/>
                  </a:solidFill>
                  <a:latin typeface="Nunito 1" panose="020B0604020202020204" charset="0"/>
                  <a:ea typeface="Nunito 1 Bold"/>
                  <a:cs typeface="Nunito 1 Bold"/>
                  <a:sym typeface="Nunito 1 Bold"/>
                </a:endParaRPr>
              </a:p>
              <a:p>
                <a:pPr algn="ctr"/>
                <a:r>
                  <a:rPr lang="en-US" sz="2400" dirty="0">
                    <a:solidFill>
                      <a:srgbClr val="000000"/>
                    </a:solidFill>
                    <a:latin typeface="Nunito 1" panose="020B0604020202020204" charset="0"/>
                    <a:ea typeface="Nunito 1 Bold"/>
                    <a:cs typeface="Nunito 1 Bold"/>
                    <a:sym typeface="Nunito 1 Bold"/>
                  </a:rPr>
                  <a:t>Q =</a:t>
                </a:r>
                <a:r>
                  <a:rPr lang="en-US" sz="3000" dirty="0">
                    <a:solidFill>
                      <a:srgbClr val="000000"/>
                    </a:solidFill>
                    <a:latin typeface="Nunito 1" panose="020B0604020202020204" charset="0"/>
                    <a:ea typeface="Nunito 1 Bold"/>
                    <a:cs typeface="Nunito 1 Bold"/>
                    <a:sym typeface="Nunito 1 Bold"/>
                  </a:rPr>
                  <a:t> </a:t>
                </a:r>
                <a14:m>
                  <m:oMath xmlns:m="http://schemas.openxmlformats.org/officeDocument/2006/math">
                    <m:f>
                      <m:fPr>
                        <m:ctrlPr>
                          <a:rPr lang="en-US" sz="3000" i="1" smtClean="0">
                            <a:solidFill>
                              <a:srgbClr val="000000"/>
                            </a:solidFill>
                            <a:latin typeface="Cambria Math" panose="02040503050406030204" pitchFamily="18" charset="0"/>
                            <a:sym typeface="Nunito 1 Bold"/>
                          </a:rPr>
                        </m:ctrlPr>
                      </m:fPr>
                      <m:num>
                        <m:r>
                          <a:rPr lang="en-PH" sz="3000" b="0" i="1" smtClean="0">
                            <a:solidFill>
                              <a:srgbClr val="000000"/>
                            </a:solidFill>
                            <a:latin typeface="Cambria Math" panose="02040503050406030204" pitchFamily="18" charset="0"/>
                            <a:sym typeface="Nunito 1 Bold"/>
                          </a:rPr>
                          <m:t>2</m:t>
                        </m:r>
                        <m:r>
                          <a:rPr lang="en-US" sz="3000" i="1" smtClean="0">
                            <a:solidFill>
                              <a:srgbClr val="000000"/>
                            </a:solidFill>
                            <a:latin typeface="Cambria Math" panose="02040503050406030204" pitchFamily="18" charset="0"/>
                            <a:ea typeface="Cambria Math" panose="02040503050406030204" pitchFamily="18" charset="0"/>
                            <a:sym typeface="Nunito 1 Bold"/>
                          </a:rPr>
                          <m:t>𝜋</m:t>
                        </m:r>
                        <m:r>
                          <a:rPr lang="en-PH" sz="3000" b="0" i="1" smtClean="0">
                            <a:solidFill>
                              <a:srgbClr val="000000"/>
                            </a:solidFill>
                            <a:latin typeface="Cambria Math" panose="02040503050406030204" pitchFamily="18" charset="0"/>
                            <a:ea typeface="Cambria Math" panose="02040503050406030204" pitchFamily="18" charset="0"/>
                            <a:sym typeface="Nunito 1 Bold"/>
                          </a:rPr>
                          <m:t>𝑇</m:t>
                        </m:r>
                        <m:r>
                          <a:rPr lang="en-PH" sz="3000" b="0" i="1" smtClean="0">
                            <a:solidFill>
                              <a:srgbClr val="000000"/>
                            </a:solidFill>
                            <a:latin typeface="Cambria Math" panose="02040503050406030204" pitchFamily="18" charset="0"/>
                            <a:ea typeface="Cambria Math" panose="02040503050406030204" pitchFamily="18" charset="0"/>
                            <a:sym typeface="Nunito 1 Bold"/>
                          </a:rPr>
                          <m:t>(</m:t>
                        </m:r>
                        <m:r>
                          <a:rPr lang="en-PH" sz="3000" b="0" i="1" smtClean="0">
                            <a:solidFill>
                              <a:srgbClr val="000000"/>
                            </a:solidFill>
                            <a:latin typeface="Cambria Math" panose="02040503050406030204" pitchFamily="18" charset="0"/>
                            <a:ea typeface="Cambria Math" panose="02040503050406030204" pitchFamily="18" charset="0"/>
                            <a:sym typeface="Nunito 1 Bold"/>
                          </a:rPr>
                          <m:t>𝐻</m:t>
                        </m:r>
                        <m:r>
                          <a:rPr lang="en-PH" sz="3000" b="0" i="1" smtClean="0">
                            <a:solidFill>
                              <a:srgbClr val="000000"/>
                            </a:solidFill>
                            <a:latin typeface="Cambria Math" panose="02040503050406030204" pitchFamily="18" charset="0"/>
                            <a:ea typeface="Cambria Math" panose="02040503050406030204" pitchFamily="18" charset="0"/>
                            <a:sym typeface="Nunito 1 Bold"/>
                          </a:rPr>
                          <m:t>−</m:t>
                        </m:r>
                        <m:r>
                          <a:rPr lang="en-PH" sz="3000" b="0" i="1" smtClean="0">
                            <a:solidFill>
                              <a:srgbClr val="000000"/>
                            </a:solidFill>
                            <a:latin typeface="Cambria Math" panose="02040503050406030204" pitchFamily="18" charset="0"/>
                            <a:ea typeface="Cambria Math" panose="02040503050406030204" pitchFamily="18" charset="0"/>
                            <a:sym typeface="Nunito 1 Bold"/>
                          </a:rPr>
                          <m:t>h𝑤</m:t>
                        </m:r>
                        <m:r>
                          <a:rPr lang="en-PH" sz="3000" b="0" i="1" smtClean="0">
                            <a:solidFill>
                              <a:srgbClr val="000000"/>
                            </a:solidFill>
                            <a:latin typeface="Cambria Math" panose="02040503050406030204" pitchFamily="18" charset="0"/>
                            <a:ea typeface="Cambria Math" panose="02040503050406030204" pitchFamily="18" charset="0"/>
                            <a:sym typeface="Nunito 1 Bold"/>
                          </a:rPr>
                          <m:t>)</m:t>
                        </m:r>
                      </m:num>
                      <m:den>
                        <m:r>
                          <a:rPr lang="en-PH" sz="3000" b="0" i="1" smtClean="0">
                            <a:solidFill>
                              <a:srgbClr val="000000"/>
                            </a:solidFill>
                            <a:latin typeface="Cambria Math" panose="02040503050406030204" pitchFamily="18" charset="0"/>
                            <a:sym typeface="Nunito 1 Bold"/>
                          </a:rPr>
                          <m:t>𝑙𝑛</m:t>
                        </m:r>
                        <m:d>
                          <m:dPr>
                            <m:ctrlPr>
                              <a:rPr lang="en-PH" sz="3000" b="0" i="1" smtClean="0">
                                <a:solidFill>
                                  <a:srgbClr val="000000"/>
                                </a:solidFill>
                                <a:latin typeface="Cambria Math" panose="02040503050406030204" pitchFamily="18" charset="0"/>
                                <a:sym typeface="Nunito 1 Bold"/>
                              </a:rPr>
                            </m:ctrlPr>
                          </m:dPr>
                          <m:e>
                            <m:f>
                              <m:fPr>
                                <m:ctrlPr>
                                  <a:rPr lang="en-PH" sz="3000" b="0" i="1" smtClean="0">
                                    <a:solidFill>
                                      <a:srgbClr val="000000"/>
                                    </a:solidFill>
                                    <a:latin typeface="Cambria Math" panose="02040503050406030204" pitchFamily="18" charset="0"/>
                                    <a:sym typeface="Nunito 1 Bold"/>
                                  </a:rPr>
                                </m:ctrlPr>
                              </m:fPr>
                              <m:num>
                                <m:sSub>
                                  <m:sSubPr>
                                    <m:ctrlPr>
                                      <a:rPr lang="en-PH" sz="3000" i="1">
                                        <a:solidFill>
                                          <a:srgbClr val="000000"/>
                                        </a:solidFill>
                                        <a:latin typeface="Cambria Math" panose="02040503050406030204" pitchFamily="18" charset="0"/>
                                        <a:sym typeface="Nunito 1 Bold"/>
                                      </a:rPr>
                                    </m:ctrlPr>
                                  </m:sSubPr>
                                  <m:e>
                                    <m:r>
                                      <a:rPr lang="en-PH" sz="3000" i="1">
                                        <a:solidFill>
                                          <a:srgbClr val="000000"/>
                                        </a:solidFill>
                                        <a:latin typeface="Cambria Math" panose="02040503050406030204" pitchFamily="18" charset="0"/>
                                        <a:sym typeface="Nunito 1 Bold"/>
                                      </a:rPr>
                                      <m:t>𝑟</m:t>
                                    </m:r>
                                  </m:e>
                                  <m:sub>
                                    <m:r>
                                      <a:rPr lang="en-PH" sz="3000" b="0" i="1" smtClean="0">
                                        <a:solidFill>
                                          <a:srgbClr val="000000"/>
                                        </a:solidFill>
                                        <a:latin typeface="Cambria Math" panose="02040503050406030204" pitchFamily="18" charset="0"/>
                                        <a:sym typeface="Nunito 1 Bold"/>
                                      </a:rPr>
                                      <m:t>2</m:t>
                                    </m:r>
                                  </m:sub>
                                </m:sSub>
                              </m:num>
                              <m:den>
                                <m:sSub>
                                  <m:sSubPr>
                                    <m:ctrlPr>
                                      <a:rPr lang="en-PH" sz="3000" b="0" i="1" smtClean="0">
                                        <a:solidFill>
                                          <a:srgbClr val="000000"/>
                                        </a:solidFill>
                                        <a:latin typeface="Cambria Math" panose="02040503050406030204" pitchFamily="18" charset="0"/>
                                        <a:sym typeface="Nunito 1 Bold"/>
                                      </a:rPr>
                                    </m:ctrlPr>
                                  </m:sSubPr>
                                  <m:e>
                                    <m:r>
                                      <a:rPr lang="en-PH" sz="3000" b="0" i="1" smtClean="0">
                                        <a:solidFill>
                                          <a:srgbClr val="000000"/>
                                        </a:solidFill>
                                        <a:latin typeface="Cambria Math" panose="02040503050406030204" pitchFamily="18" charset="0"/>
                                        <a:sym typeface="Nunito 1 Bold"/>
                                      </a:rPr>
                                      <m:t>𝑟</m:t>
                                    </m:r>
                                  </m:e>
                                  <m:sub>
                                    <m:r>
                                      <a:rPr lang="en-PH" sz="3000" b="0" i="1" smtClean="0">
                                        <a:solidFill>
                                          <a:srgbClr val="000000"/>
                                        </a:solidFill>
                                        <a:latin typeface="Cambria Math" panose="02040503050406030204" pitchFamily="18" charset="0"/>
                                        <a:sym typeface="Nunito 1 Bold"/>
                                      </a:rPr>
                                      <m:t>1</m:t>
                                    </m:r>
                                  </m:sub>
                                </m:sSub>
                              </m:den>
                            </m:f>
                          </m:e>
                        </m:d>
                      </m:den>
                    </m:f>
                  </m:oMath>
                </a14:m>
                <a:endParaRPr lang="en-US" sz="3000" dirty="0">
                  <a:solidFill>
                    <a:srgbClr val="000000"/>
                  </a:solidFill>
                  <a:latin typeface="Nunito 1" panose="020B0604020202020204" charset="0"/>
                  <a:ea typeface="Nunito 1 Bold"/>
                  <a:cs typeface="Nunito 1 Bold"/>
                  <a:sym typeface="Nunito 1 Bold"/>
                </a:endParaRPr>
              </a:p>
              <a:p>
                <a:endParaRPr lang="en-US" sz="3000" dirty="0">
                  <a:solidFill>
                    <a:srgbClr val="000000"/>
                  </a:solidFill>
                  <a:latin typeface="Nunito 1" panose="020B0604020202020204" charset="0"/>
                  <a:ea typeface="Nunito 1 Bold"/>
                  <a:cs typeface="Nunito 1 Bold"/>
                  <a:sym typeface="Nunito 1 Bold"/>
                </a:endParaRPr>
              </a:p>
              <a:p>
                <a:r>
                  <a:rPr lang="en-US" sz="2400" dirty="0">
                    <a:solidFill>
                      <a:srgbClr val="000000"/>
                    </a:solidFill>
                    <a:latin typeface="Nunito 1" panose="020B0604020202020204" charset="0"/>
                    <a:ea typeface="Nunito 1 Bold"/>
                    <a:cs typeface="Nunito 1 Bold"/>
                    <a:sym typeface="Nunito 1 Bold"/>
                  </a:rPr>
                  <a:t>For confined aquifer:	</a:t>
                </a:r>
              </a:p>
              <a:p>
                <a:pPr algn="ctr"/>
                <a:r>
                  <a:rPr lang="en-US" sz="2400" dirty="0">
                    <a:solidFill>
                      <a:srgbClr val="000000"/>
                    </a:solidFill>
                    <a:latin typeface="Nunito 1" panose="020B0604020202020204" charset="0"/>
                    <a:ea typeface="Nunito 1 Bold"/>
                    <a:cs typeface="Nunito 1 Bold"/>
                    <a:sym typeface="Nunito 1 Bold"/>
                  </a:rPr>
                  <a:t>Q =</a:t>
                </a:r>
                <a:r>
                  <a:rPr lang="en-US" sz="3000" dirty="0">
                    <a:solidFill>
                      <a:srgbClr val="000000"/>
                    </a:solidFill>
                    <a:latin typeface="Nunito 1" panose="020B0604020202020204" charset="0"/>
                    <a:ea typeface="Nunito 1 Bold"/>
                    <a:cs typeface="Nunito 1 Bold"/>
                    <a:sym typeface="Nunito 1 Bold"/>
                  </a:rPr>
                  <a:t> </a:t>
                </a:r>
                <a14:m>
                  <m:oMath xmlns:m="http://schemas.openxmlformats.org/officeDocument/2006/math">
                    <m:f>
                      <m:fPr>
                        <m:ctrlPr>
                          <a:rPr lang="en-US" sz="3000" i="1" smtClean="0">
                            <a:solidFill>
                              <a:srgbClr val="000000"/>
                            </a:solidFill>
                            <a:latin typeface="Cambria Math" panose="02040503050406030204" pitchFamily="18" charset="0"/>
                            <a:sym typeface="Nunito 1 Bold"/>
                          </a:rPr>
                        </m:ctrlPr>
                      </m:fPr>
                      <m:num>
                        <m:r>
                          <a:rPr lang="en-PH" sz="3000" b="0" i="1" smtClean="0">
                            <a:solidFill>
                              <a:srgbClr val="000000"/>
                            </a:solidFill>
                            <a:latin typeface="Cambria Math" panose="02040503050406030204" pitchFamily="18" charset="0"/>
                            <a:sym typeface="Nunito 1 Bold"/>
                          </a:rPr>
                          <m:t>2</m:t>
                        </m:r>
                        <m:r>
                          <a:rPr lang="en-US" sz="3000" i="1" smtClean="0">
                            <a:solidFill>
                              <a:srgbClr val="000000"/>
                            </a:solidFill>
                            <a:latin typeface="Cambria Math" panose="02040503050406030204" pitchFamily="18" charset="0"/>
                            <a:ea typeface="Cambria Math" panose="02040503050406030204" pitchFamily="18" charset="0"/>
                            <a:sym typeface="Nunito 1 Bold"/>
                          </a:rPr>
                          <m:t>𝜋</m:t>
                        </m:r>
                        <m:r>
                          <a:rPr lang="en-PH" sz="3000" b="0" i="1" smtClean="0">
                            <a:solidFill>
                              <a:srgbClr val="000000"/>
                            </a:solidFill>
                            <a:latin typeface="Cambria Math" panose="02040503050406030204" pitchFamily="18" charset="0"/>
                            <a:ea typeface="Cambria Math" panose="02040503050406030204" pitchFamily="18" charset="0"/>
                            <a:sym typeface="Nunito 1 Bold"/>
                          </a:rPr>
                          <m:t>𝐾𝑏</m:t>
                        </m:r>
                        <m:r>
                          <a:rPr lang="en-PH" sz="3000" b="0" i="1" smtClean="0">
                            <a:solidFill>
                              <a:srgbClr val="000000"/>
                            </a:solidFill>
                            <a:latin typeface="Cambria Math" panose="02040503050406030204" pitchFamily="18" charset="0"/>
                            <a:ea typeface="Cambria Math" panose="02040503050406030204" pitchFamily="18" charset="0"/>
                            <a:sym typeface="Nunito 1 Bold"/>
                          </a:rPr>
                          <m:t>(</m:t>
                        </m:r>
                        <m:r>
                          <a:rPr lang="en-PH" sz="3000" b="0" i="1" smtClean="0">
                            <a:solidFill>
                              <a:srgbClr val="000000"/>
                            </a:solidFill>
                            <a:latin typeface="Cambria Math" panose="02040503050406030204" pitchFamily="18" charset="0"/>
                            <a:ea typeface="Cambria Math" panose="02040503050406030204" pitchFamily="18" charset="0"/>
                            <a:sym typeface="Nunito 1 Bold"/>
                          </a:rPr>
                          <m:t>𝐻</m:t>
                        </m:r>
                        <m:r>
                          <a:rPr lang="en-PH" sz="3000" b="0" i="1" smtClean="0">
                            <a:solidFill>
                              <a:srgbClr val="000000"/>
                            </a:solidFill>
                            <a:latin typeface="Cambria Math" panose="02040503050406030204" pitchFamily="18" charset="0"/>
                            <a:ea typeface="Cambria Math" panose="02040503050406030204" pitchFamily="18" charset="0"/>
                            <a:sym typeface="Nunito 1 Bold"/>
                          </a:rPr>
                          <m:t>−</m:t>
                        </m:r>
                        <m:r>
                          <a:rPr lang="en-PH" sz="3000" b="0" i="1" smtClean="0">
                            <a:solidFill>
                              <a:srgbClr val="000000"/>
                            </a:solidFill>
                            <a:latin typeface="Cambria Math" panose="02040503050406030204" pitchFamily="18" charset="0"/>
                            <a:ea typeface="Cambria Math" panose="02040503050406030204" pitchFamily="18" charset="0"/>
                            <a:sym typeface="Nunito 1 Bold"/>
                          </a:rPr>
                          <m:t>h𝑤</m:t>
                        </m:r>
                        <m:r>
                          <a:rPr lang="en-PH" sz="3000" b="0" i="1" smtClean="0">
                            <a:solidFill>
                              <a:srgbClr val="000000"/>
                            </a:solidFill>
                            <a:latin typeface="Cambria Math" panose="02040503050406030204" pitchFamily="18" charset="0"/>
                            <a:ea typeface="Cambria Math" panose="02040503050406030204" pitchFamily="18" charset="0"/>
                            <a:sym typeface="Nunito 1 Bold"/>
                          </a:rPr>
                          <m:t>)</m:t>
                        </m:r>
                      </m:num>
                      <m:den>
                        <m:r>
                          <a:rPr lang="en-PH" sz="3000" b="0" i="1" smtClean="0">
                            <a:solidFill>
                              <a:srgbClr val="000000"/>
                            </a:solidFill>
                            <a:latin typeface="Cambria Math" panose="02040503050406030204" pitchFamily="18" charset="0"/>
                            <a:sym typeface="Nunito 1 Bold"/>
                          </a:rPr>
                          <m:t>𝑙𝑛</m:t>
                        </m:r>
                        <m:d>
                          <m:dPr>
                            <m:ctrlPr>
                              <a:rPr lang="en-PH" sz="3000" b="0" i="1" smtClean="0">
                                <a:solidFill>
                                  <a:srgbClr val="000000"/>
                                </a:solidFill>
                                <a:latin typeface="Cambria Math" panose="02040503050406030204" pitchFamily="18" charset="0"/>
                                <a:sym typeface="Nunito 1 Bold"/>
                              </a:rPr>
                            </m:ctrlPr>
                          </m:dPr>
                          <m:e>
                            <m:f>
                              <m:fPr>
                                <m:ctrlPr>
                                  <a:rPr lang="en-PH" sz="3000" b="0" i="1" smtClean="0">
                                    <a:solidFill>
                                      <a:srgbClr val="000000"/>
                                    </a:solidFill>
                                    <a:latin typeface="Cambria Math" panose="02040503050406030204" pitchFamily="18" charset="0"/>
                                    <a:sym typeface="Nunito 1 Bold"/>
                                  </a:rPr>
                                </m:ctrlPr>
                              </m:fPr>
                              <m:num>
                                <m:r>
                                  <a:rPr lang="en-PH" sz="3000" i="1" smtClean="0">
                                    <a:solidFill>
                                      <a:srgbClr val="000000"/>
                                    </a:solidFill>
                                    <a:latin typeface="Cambria Math" panose="02040503050406030204" pitchFamily="18" charset="0"/>
                                    <a:sym typeface="Nunito 1 Bold"/>
                                  </a:rPr>
                                  <m:t>𝑅</m:t>
                                </m:r>
                              </m:num>
                              <m:den>
                                <m:sSub>
                                  <m:sSubPr>
                                    <m:ctrlPr>
                                      <a:rPr lang="en-PH" sz="3000" b="0" i="1" smtClean="0">
                                        <a:solidFill>
                                          <a:srgbClr val="000000"/>
                                        </a:solidFill>
                                        <a:latin typeface="Cambria Math" panose="02040503050406030204" pitchFamily="18" charset="0"/>
                                        <a:sym typeface="Nunito 1 Bold"/>
                                      </a:rPr>
                                    </m:ctrlPr>
                                  </m:sSubPr>
                                  <m:e>
                                    <m:r>
                                      <a:rPr lang="en-PH" sz="3000" b="0" i="1" smtClean="0">
                                        <a:solidFill>
                                          <a:srgbClr val="000000"/>
                                        </a:solidFill>
                                        <a:latin typeface="Cambria Math" panose="02040503050406030204" pitchFamily="18" charset="0"/>
                                        <a:sym typeface="Nunito 1 Bold"/>
                                      </a:rPr>
                                      <m:t>𝑟</m:t>
                                    </m:r>
                                  </m:e>
                                  <m:sub>
                                    <m:r>
                                      <a:rPr lang="en-PH" sz="3000" b="0" i="1" smtClean="0">
                                        <a:solidFill>
                                          <a:srgbClr val="000000"/>
                                        </a:solidFill>
                                        <a:latin typeface="Cambria Math" panose="02040503050406030204" pitchFamily="18" charset="0"/>
                                        <a:sym typeface="Nunito 1 Bold"/>
                                      </a:rPr>
                                      <m:t>𝑤</m:t>
                                    </m:r>
                                  </m:sub>
                                </m:sSub>
                              </m:den>
                            </m:f>
                          </m:e>
                        </m:d>
                      </m:den>
                    </m:f>
                  </m:oMath>
                </a14:m>
                <a:endParaRPr lang="en-PH" sz="3000" b="0" dirty="0">
                  <a:solidFill>
                    <a:srgbClr val="000000"/>
                  </a:solidFill>
                  <a:latin typeface="Nunito 1" panose="020B0604020202020204" charset="0"/>
                  <a:sym typeface="Nunito 1 Bold"/>
                </a:endParaRPr>
              </a:p>
              <a:p>
                <a:r>
                  <a:rPr lang="en-US" sz="2400" dirty="0">
                    <a:solidFill>
                      <a:srgbClr val="000000"/>
                    </a:solidFill>
                    <a:latin typeface="Nunito 1" panose="020B0604020202020204" charset="0"/>
                    <a:ea typeface="Nunito 1 Bold"/>
                    <a:cs typeface="Nunito 1 Bold"/>
                    <a:sym typeface="Nunito 1 Bold"/>
                  </a:rPr>
                  <a:t>For unconfined aquifer:		</a:t>
                </a:r>
              </a:p>
              <a:p>
                <a:pPr algn="ctr"/>
                <a:r>
                  <a:rPr lang="en-US" sz="2400" dirty="0">
                    <a:solidFill>
                      <a:srgbClr val="000000"/>
                    </a:solidFill>
                    <a:latin typeface="Nunito 1" panose="020B0604020202020204" charset="0"/>
                    <a:ea typeface="Nunito 1 Bold"/>
                    <a:cs typeface="Nunito 1 Bold"/>
                    <a:sym typeface="Nunito 1 Bold"/>
                  </a:rPr>
                  <a:t>Q =</a:t>
                </a:r>
                <a:r>
                  <a:rPr lang="en-US" sz="3000" dirty="0">
                    <a:solidFill>
                      <a:srgbClr val="000000"/>
                    </a:solidFill>
                    <a:latin typeface="Nunito 1" panose="020B0604020202020204" charset="0"/>
                    <a:ea typeface="Nunito 1 Bold"/>
                    <a:cs typeface="Nunito 1 Bold"/>
                    <a:sym typeface="Nunito 1 Bold"/>
                  </a:rPr>
                  <a:t> </a:t>
                </a:r>
                <a14:m>
                  <m:oMath xmlns:m="http://schemas.openxmlformats.org/officeDocument/2006/math">
                    <m:f>
                      <m:fPr>
                        <m:ctrlPr>
                          <a:rPr lang="en-US" sz="3000" i="1">
                            <a:solidFill>
                              <a:srgbClr val="000000"/>
                            </a:solidFill>
                            <a:latin typeface="Cambria Math" panose="02040503050406030204" pitchFamily="18" charset="0"/>
                            <a:sym typeface="Nunito 1 Bold"/>
                          </a:rPr>
                        </m:ctrlPr>
                      </m:fPr>
                      <m:num>
                        <m:r>
                          <a:rPr lang="en-PH" sz="3000" i="1">
                            <a:solidFill>
                              <a:srgbClr val="000000"/>
                            </a:solidFill>
                            <a:latin typeface="Cambria Math" panose="02040503050406030204" pitchFamily="18" charset="0"/>
                            <a:sym typeface="Nunito 1 Bold"/>
                          </a:rPr>
                          <m:t>2</m:t>
                        </m:r>
                        <m:r>
                          <a:rPr lang="en-US" sz="3000" i="1">
                            <a:solidFill>
                              <a:srgbClr val="000000"/>
                            </a:solidFill>
                            <a:latin typeface="Cambria Math" panose="02040503050406030204" pitchFamily="18" charset="0"/>
                            <a:ea typeface="Cambria Math" panose="02040503050406030204" pitchFamily="18" charset="0"/>
                            <a:sym typeface="Nunito 1 Bold"/>
                          </a:rPr>
                          <m:t>𝜋</m:t>
                        </m:r>
                        <m:r>
                          <a:rPr lang="en-PH" sz="3000" b="0" i="1" smtClean="0">
                            <a:solidFill>
                              <a:srgbClr val="000000"/>
                            </a:solidFill>
                            <a:latin typeface="Cambria Math" panose="02040503050406030204" pitchFamily="18" charset="0"/>
                            <a:sym typeface="Nunito 1 Bold"/>
                          </a:rPr>
                          <m:t>𝐾𝐻</m:t>
                        </m:r>
                        <m:r>
                          <a:rPr lang="en-PH" sz="3000" i="1">
                            <a:solidFill>
                              <a:srgbClr val="000000"/>
                            </a:solidFill>
                            <a:latin typeface="Cambria Math" panose="02040503050406030204" pitchFamily="18" charset="0"/>
                            <a:ea typeface="Cambria Math" panose="02040503050406030204" pitchFamily="18" charset="0"/>
                            <a:sym typeface="Nunito 1 Bold"/>
                          </a:rPr>
                          <m:t>(</m:t>
                        </m:r>
                        <m:r>
                          <a:rPr lang="en-PH" sz="3000" i="1">
                            <a:solidFill>
                              <a:srgbClr val="000000"/>
                            </a:solidFill>
                            <a:latin typeface="Cambria Math" panose="02040503050406030204" pitchFamily="18" charset="0"/>
                            <a:ea typeface="Cambria Math" panose="02040503050406030204" pitchFamily="18" charset="0"/>
                            <a:sym typeface="Nunito 1 Bold"/>
                          </a:rPr>
                          <m:t>𝐻</m:t>
                        </m:r>
                        <m:r>
                          <a:rPr lang="en-PH" sz="3000" i="1">
                            <a:solidFill>
                              <a:srgbClr val="000000"/>
                            </a:solidFill>
                            <a:latin typeface="Cambria Math" panose="02040503050406030204" pitchFamily="18" charset="0"/>
                            <a:ea typeface="Cambria Math" panose="02040503050406030204" pitchFamily="18" charset="0"/>
                            <a:sym typeface="Nunito 1 Bold"/>
                          </a:rPr>
                          <m:t>−</m:t>
                        </m:r>
                        <m:r>
                          <a:rPr lang="en-PH" sz="3000" i="1">
                            <a:solidFill>
                              <a:srgbClr val="000000"/>
                            </a:solidFill>
                            <a:latin typeface="Cambria Math" panose="02040503050406030204" pitchFamily="18" charset="0"/>
                            <a:ea typeface="Cambria Math" panose="02040503050406030204" pitchFamily="18" charset="0"/>
                            <a:sym typeface="Nunito 1 Bold"/>
                          </a:rPr>
                          <m:t>h𝑤</m:t>
                        </m:r>
                        <m:r>
                          <a:rPr lang="en-PH" sz="3000" i="1">
                            <a:solidFill>
                              <a:srgbClr val="000000"/>
                            </a:solidFill>
                            <a:latin typeface="Cambria Math" panose="02040503050406030204" pitchFamily="18" charset="0"/>
                            <a:ea typeface="Cambria Math" panose="02040503050406030204" pitchFamily="18" charset="0"/>
                            <a:sym typeface="Nunito 1 Bold"/>
                          </a:rPr>
                          <m:t>)</m:t>
                        </m:r>
                      </m:num>
                      <m:den>
                        <m:r>
                          <a:rPr lang="en-PH" sz="3000" i="1">
                            <a:solidFill>
                              <a:srgbClr val="000000"/>
                            </a:solidFill>
                            <a:latin typeface="Cambria Math" panose="02040503050406030204" pitchFamily="18" charset="0"/>
                            <a:sym typeface="Nunito 1 Bold"/>
                          </a:rPr>
                          <m:t>𝑙𝑛</m:t>
                        </m:r>
                        <m:d>
                          <m:dPr>
                            <m:ctrlPr>
                              <a:rPr lang="en-PH" sz="3000" i="1">
                                <a:solidFill>
                                  <a:srgbClr val="000000"/>
                                </a:solidFill>
                                <a:latin typeface="Cambria Math" panose="02040503050406030204" pitchFamily="18" charset="0"/>
                                <a:sym typeface="Nunito 1 Bold"/>
                              </a:rPr>
                            </m:ctrlPr>
                          </m:dPr>
                          <m:e>
                            <m:f>
                              <m:fPr>
                                <m:ctrlPr>
                                  <a:rPr lang="en-PH" sz="3000" i="1">
                                    <a:solidFill>
                                      <a:srgbClr val="000000"/>
                                    </a:solidFill>
                                    <a:latin typeface="Cambria Math" panose="02040503050406030204" pitchFamily="18" charset="0"/>
                                    <a:sym typeface="Nunito 1 Bold"/>
                                  </a:rPr>
                                </m:ctrlPr>
                              </m:fPr>
                              <m:num>
                                <m:r>
                                  <a:rPr lang="en-PH" sz="3000" i="1">
                                    <a:solidFill>
                                      <a:srgbClr val="000000"/>
                                    </a:solidFill>
                                    <a:latin typeface="Cambria Math" panose="02040503050406030204" pitchFamily="18" charset="0"/>
                                    <a:sym typeface="Nunito 1 Bold"/>
                                  </a:rPr>
                                  <m:t>𝑅</m:t>
                                </m:r>
                              </m:num>
                              <m:den>
                                <m:sSub>
                                  <m:sSubPr>
                                    <m:ctrlPr>
                                      <a:rPr lang="en-PH" sz="3000" i="1">
                                        <a:solidFill>
                                          <a:srgbClr val="000000"/>
                                        </a:solidFill>
                                        <a:latin typeface="Cambria Math" panose="02040503050406030204" pitchFamily="18" charset="0"/>
                                        <a:sym typeface="Nunito 1 Bold"/>
                                      </a:rPr>
                                    </m:ctrlPr>
                                  </m:sSubPr>
                                  <m:e>
                                    <m:r>
                                      <a:rPr lang="en-PH" sz="3000" i="1">
                                        <a:solidFill>
                                          <a:srgbClr val="000000"/>
                                        </a:solidFill>
                                        <a:latin typeface="Cambria Math" panose="02040503050406030204" pitchFamily="18" charset="0"/>
                                        <a:sym typeface="Nunito 1 Bold"/>
                                      </a:rPr>
                                      <m:t>𝑟</m:t>
                                    </m:r>
                                  </m:e>
                                  <m:sub>
                                    <m:r>
                                      <a:rPr lang="en-PH" sz="3000" i="1">
                                        <a:solidFill>
                                          <a:srgbClr val="000000"/>
                                        </a:solidFill>
                                        <a:latin typeface="Cambria Math" panose="02040503050406030204" pitchFamily="18" charset="0"/>
                                        <a:sym typeface="Nunito 1 Bold"/>
                                      </a:rPr>
                                      <m:t>𝑤</m:t>
                                    </m:r>
                                  </m:sub>
                                </m:sSub>
                              </m:den>
                            </m:f>
                          </m:e>
                        </m:d>
                      </m:den>
                    </m:f>
                  </m:oMath>
                </a14:m>
                <a:endParaRPr lang="en-US" sz="3000" dirty="0">
                  <a:solidFill>
                    <a:srgbClr val="000000"/>
                  </a:solidFill>
                  <a:latin typeface="Nunito 1" panose="020B0604020202020204" charset="0"/>
                  <a:ea typeface="Nunito 1 Bold"/>
                  <a:cs typeface="Nunito 1 Bold"/>
                  <a:sym typeface="Nunito 1 Bold"/>
                </a:endParaRPr>
              </a:p>
              <a:p>
                <a:pPr algn="just"/>
                <a:endParaRPr lang="en-US" sz="2400" dirty="0">
                  <a:solidFill>
                    <a:srgbClr val="000000"/>
                  </a:solidFill>
                  <a:latin typeface="Nunito 1" panose="020B0604020202020204" charset="0"/>
                  <a:ea typeface="Nunito 1 Bold"/>
                  <a:cs typeface="Nunito 1 Bold"/>
                  <a:sym typeface="Nunito 1 Bold"/>
                </a:endParaRPr>
              </a:p>
            </p:txBody>
          </p:sp>
        </mc:Choice>
        <mc:Fallback xmlns="">
          <p:sp>
            <p:nvSpPr>
              <p:cNvPr id="17" name="TextBox 16">
                <a:extLst>
                  <a:ext uri="{FF2B5EF4-FFF2-40B4-BE49-F238E27FC236}">
                    <a16:creationId xmlns:a16="http://schemas.microsoft.com/office/drawing/2014/main" id="{C976C59A-25CC-28CD-FA36-55532001CBCE}"/>
                  </a:ext>
                </a:extLst>
              </p:cNvPr>
              <p:cNvSpPr txBox="1">
                <a:spLocks noRot="1" noChangeAspect="1" noMove="1" noResize="1" noEditPoints="1" noAdjustHandles="1" noChangeArrowheads="1" noChangeShapeType="1" noTextEdit="1"/>
              </p:cNvSpPr>
              <p:nvPr/>
            </p:nvSpPr>
            <p:spPr>
              <a:xfrm>
                <a:off x="1676400" y="2594593"/>
                <a:ext cx="6209221" cy="5053948"/>
              </a:xfrm>
              <a:prstGeom prst="rect">
                <a:avLst/>
              </a:prstGeom>
              <a:blipFill>
                <a:blip r:embed="rId3"/>
                <a:stretch>
                  <a:fillRect l="-2944" t="-1930"/>
                </a:stretch>
              </a:blipFill>
            </p:spPr>
            <p:txBody>
              <a:bodyPr/>
              <a:lstStyle/>
              <a:p>
                <a:r>
                  <a:rPr lang="en-PH">
                    <a:noFill/>
                  </a:rPr>
                  <a:t> </a:t>
                </a:r>
              </a:p>
            </p:txBody>
          </p:sp>
        </mc:Fallback>
      </mc:AlternateContent>
      <p:pic>
        <p:nvPicPr>
          <p:cNvPr id="1028" name="Picture 4" descr="Well Hydraulics: Steady State Radial Flow - YouTube">
            <a:extLst>
              <a:ext uri="{FF2B5EF4-FFF2-40B4-BE49-F238E27FC236}">
                <a16:creationId xmlns:a16="http://schemas.microsoft.com/office/drawing/2014/main" id="{0D7E7B5C-A48E-C45E-2D5E-D146CFC82B2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189" t="11667" r="5189" b="8333"/>
          <a:stretch/>
        </p:blipFill>
        <p:spPr bwMode="auto">
          <a:xfrm>
            <a:off x="8481613" y="2591794"/>
            <a:ext cx="8181694" cy="54774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BD670991-A951-1457-2A80-24042105020C}"/>
              </a:ext>
            </a:extLst>
          </p:cNvPr>
          <p:cNvSpPr txBox="1"/>
          <p:nvPr/>
        </p:nvSpPr>
        <p:spPr>
          <a:xfrm>
            <a:off x="3157100" y="8051083"/>
            <a:ext cx="6209221" cy="369332"/>
          </a:xfrm>
          <a:prstGeom prst="rect">
            <a:avLst/>
          </a:prstGeom>
        </p:spPr>
        <p:txBody>
          <a:bodyPr wrap="square" lIns="0" tIns="0" rIns="0" bIns="0" rtlCol="0" anchor="t">
            <a:spAutoFit/>
          </a:bodyPr>
          <a:lstStyle/>
          <a:p>
            <a:pPr algn="just"/>
            <a:r>
              <a:rPr lang="en-PH" sz="2400" i="1" dirty="0">
                <a:solidFill>
                  <a:srgbClr val="000000"/>
                </a:solidFill>
                <a:latin typeface="Nunito 1" panose="020B0604020202020204" charset="0"/>
                <a:ea typeface="Nunito 1 Bold"/>
                <a:cs typeface="Nunito 1 Bold"/>
                <a:sym typeface="Nunito 1 Bold"/>
              </a:rPr>
              <a:t>drawdown (</a:t>
            </a:r>
            <a:r>
              <a:rPr lang="en-PH" sz="2400" i="1" dirty="0" err="1">
                <a:solidFill>
                  <a:srgbClr val="000000"/>
                </a:solidFill>
                <a:latin typeface="Nunito 1" panose="020B0604020202020204" charset="0"/>
                <a:ea typeface="Nunito 1 Bold"/>
                <a:cs typeface="Nunito 1 Bold"/>
                <a:sym typeface="Nunito 1 Bold"/>
              </a:rPr>
              <a:t>sw</a:t>
            </a:r>
            <a:r>
              <a:rPr lang="en-PH" sz="2400" i="1" dirty="0">
                <a:solidFill>
                  <a:srgbClr val="000000"/>
                </a:solidFill>
                <a:latin typeface="Nunito 1" panose="020B0604020202020204" charset="0"/>
                <a:ea typeface="Nunito 1 Bold"/>
                <a:cs typeface="Nunito 1 Bold"/>
                <a:sym typeface="Nunito 1 Bold"/>
              </a:rPr>
              <a:t>) = H - </a:t>
            </a:r>
            <a:r>
              <a:rPr lang="en-PH" sz="2400" i="1" dirty="0" err="1">
                <a:solidFill>
                  <a:srgbClr val="000000"/>
                </a:solidFill>
                <a:latin typeface="Nunito 1" panose="020B0604020202020204" charset="0"/>
                <a:ea typeface="Nunito 1 Bold"/>
                <a:cs typeface="Nunito 1 Bold"/>
                <a:sym typeface="Nunito 1 Bold"/>
              </a:rPr>
              <a:t>hw</a:t>
            </a:r>
            <a:endParaRPr lang="en-US" sz="2400" i="1" dirty="0">
              <a:solidFill>
                <a:srgbClr val="000000"/>
              </a:solidFill>
              <a:latin typeface="Nunito 1" panose="020B0604020202020204" charset="0"/>
              <a:ea typeface="Nunito 1 Bold"/>
              <a:cs typeface="Nunito 1 Bold"/>
              <a:sym typeface="Nunito 1 Bold"/>
            </a:endParaRPr>
          </a:p>
        </p:txBody>
      </p:sp>
      <p:grpSp>
        <p:nvGrpSpPr>
          <p:cNvPr id="14" name="Group 13">
            <a:extLst>
              <a:ext uri="{FF2B5EF4-FFF2-40B4-BE49-F238E27FC236}">
                <a16:creationId xmlns:a16="http://schemas.microsoft.com/office/drawing/2014/main" id="{70BBE134-8282-A0FD-8E39-6787B00F78A0}"/>
              </a:ext>
            </a:extLst>
          </p:cNvPr>
          <p:cNvGrpSpPr/>
          <p:nvPr/>
        </p:nvGrpSpPr>
        <p:grpSpPr>
          <a:xfrm>
            <a:off x="0" y="9599693"/>
            <a:ext cx="18287999" cy="687306"/>
            <a:chOff x="0" y="9599693"/>
            <a:chExt cx="18287999" cy="687306"/>
          </a:xfrm>
        </p:grpSpPr>
        <p:grpSp>
          <p:nvGrpSpPr>
            <p:cNvPr id="15" name="Group 11">
              <a:extLst>
                <a:ext uri="{FF2B5EF4-FFF2-40B4-BE49-F238E27FC236}">
                  <a16:creationId xmlns:a16="http://schemas.microsoft.com/office/drawing/2014/main" id="{CEDEED75-0C51-DE6B-7DE0-8EFC6D9A44B8}"/>
                </a:ext>
              </a:extLst>
            </p:cNvPr>
            <p:cNvGrpSpPr/>
            <p:nvPr/>
          </p:nvGrpSpPr>
          <p:grpSpPr>
            <a:xfrm>
              <a:off x="0" y="9599694"/>
              <a:ext cx="18287999" cy="687305"/>
              <a:chOff x="0" y="0"/>
              <a:chExt cx="5260714" cy="490218"/>
            </a:xfrm>
          </p:grpSpPr>
          <p:sp>
            <p:nvSpPr>
              <p:cNvPr id="22" name="Freeform 12">
                <a:extLst>
                  <a:ext uri="{FF2B5EF4-FFF2-40B4-BE49-F238E27FC236}">
                    <a16:creationId xmlns:a16="http://schemas.microsoft.com/office/drawing/2014/main" id="{9FF8AA26-EF6B-8285-3505-75D4EE0EC0A0}"/>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6" name="TextBox 13">
                <a:extLst>
                  <a:ext uri="{FF2B5EF4-FFF2-40B4-BE49-F238E27FC236}">
                    <a16:creationId xmlns:a16="http://schemas.microsoft.com/office/drawing/2014/main" id="{42382C2E-75D4-B2F4-FD49-CF4C0F886D32}"/>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2">
              <a:extLst>
                <a:ext uri="{FF2B5EF4-FFF2-40B4-BE49-F238E27FC236}">
                  <a16:creationId xmlns:a16="http://schemas.microsoft.com/office/drawing/2014/main" id="{B8DBB824-A4C9-FDC6-6756-7B3D9AE994C2}"/>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0" name="TextBox 13">
              <a:extLst>
                <a:ext uri="{FF2B5EF4-FFF2-40B4-BE49-F238E27FC236}">
                  <a16:creationId xmlns:a16="http://schemas.microsoft.com/office/drawing/2014/main" id="{DF162B01-4CEF-9813-06EB-EEA94195E9A0}"/>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spTree>
    <p:extLst>
      <p:ext uri="{BB962C8B-B14F-4D97-AF65-F5344CB8AC3E}">
        <p14:creationId xmlns:p14="http://schemas.microsoft.com/office/powerpoint/2010/main" val="9882231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C835F-8224-9B2F-32B8-A9A065F6723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9E47884-A832-72A1-2BFE-C526902689E4}"/>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181B5401-5F36-C76C-D886-8F67E8D80E70}"/>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593CCB1B-DEB1-D2A3-42F4-BCD867B04658}"/>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F5D35869-AF91-4A5D-462E-D1A79EEAD769}"/>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304CDC4D-C57F-CA9F-8126-BA75460D231D}"/>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C8C5203B-3553-C984-2EB1-F3B5842CAF9B}"/>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58D6AA84-32D7-8A6C-879E-BE97BF980A05}"/>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7F160EAB-DAE3-C6E2-0037-3BA8BDD7C943}"/>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1EDEC6D1-247E-C964-B96D-1B47E5C68711}"/>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9D11E769-E932-8DAE-FD5C-4640A4FE54F6}"/>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DB3183FB-5535-FE5B-9C5F-3713F2595549}"/>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43779686-1371-569E-BC48-8B0D373BF0D6}"/>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8C2CA7DF-7F63-FB94-8F8C-2937B7D81934}"/>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12</a:t>
            </a:r>
          </a:p>
        </p:txBody>
      </p:sp>
      <p:sp>
        <p:nvSpPr>
          <p:cNvPr id="15" name="TextBox 15">
            <a:extLst>
              <a:ext uri="{FF2B5EF4-FFF2-40B4-BE49-F238E27FC236}">
                <a16:creationId xmlns:a16="http://schemas.microsoft.com/office/drawing/2014/main" id="{477B5D90-E45E-0E00-124E-C81CC3AFE19D}"/>
              </a:ext>
            </a:extLst>
          </p:cNvPr>
          <p:cNvSpPr txBox="1"/>
          <p:nvPr/>
        </p:nvSpPr>
        <p:spPr>
          <a:xfrm>
            <a:off x="2246041" y="2025065"/>
            <a:ext cx="13795916" cy="369332"/>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Which of the following best defines what ‘radius of influence’ is?</a:t>
            </a:r>
          </a:p>
        </p:txBody>
      </p:sp>
      <p:sp>
        <p:nvSpPr>
          <p:cNvPr id="19" name="TextBox 12">
            <a:extLst>
              <a:ext uri="{FF2B5EF4-FFF2-40B4-BE49-F238E27FC236}">
                <a16:creationId xmlns:a16="http://schemas.microsoft.com/office/drawing/2014/main" id="{261EFD1F-770E-4993-E9E9-C6B8DC094B99}"/>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4D521F7E-5C1F-6D92-FEF5-DE434F7A3F61}"/>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831AD018-5D45-58DE-2405-5A086EBE2D3C}"/>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86446289-A9CB-4720-2E26-BD313AE3DF87}"/>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3">
            <a:extLst>
              <a:ext uri="{FF2B5EF4-FFF2-40B4-BE49-F238E27FC236}">
                <a16:creationId xmlns:a16="http://schemas.microsoft.com/office/drawing/2014/main" id="{F66F0BE0-2E6C-E089-F2C5-DE52F48DED65}"/>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sp>
        <p:nvSpPr>
          <p:cNvPr id="21" name="TextBox 20">
            <a:extLst>
              <a:ext uri="{FF2B5EF4-FFF2-40B4-BE49-F238E27FC236}">
                <a16:creationId xmlns:a16="http://schemas.microsoft.com/office/drawing/2014/main" id="{0CDBB93F-A786-9F38-43FF-31E44F7BF615}"/>
              </a:ext>
            </a:extLst>
          </p:cNvPr>
          <p:cNvSpPr txBox="1"/>
          <p:nvPr/>
        </p:nvSpPr>
        <p:spPr>
          <a:xfrm>
            <a:off x="1676400" y="2941299"/>
            <a:ext cx="14935200" cy="3323987"/>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Minimum distance from the center of the lone pumped well wherein no drawdown will be observed.</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The distance from the well where water flow velocity is the highest during pumping.</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Average distance from the water table to the bottom of the well during pumping.</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The depth of the well from which the water is being pumped.</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p:txBody>
      </p:sp>
      <p:sp>
        <p:nvSpPr>
          <p:cNvPr id="22" name="Oval 21">
            <a:extLst>
              <a:ext uri="{FF2B5EF4-FFF2-40B4-BE49-F238E27FC236}">
                <a16:creationId xmlns:a16="http://schemas.microsoft.com/office/drawing/2014/main" id="{2EE8C164-5BDD-2B32-3A93-D853CBD8E059}"/>
              </a:ext>
            </a:extLst>
          </p:cNvPr>
          <p:cNvSpPr/>
          <p:nvPr/>
        </p:nvSpPr>
        <p:spPr>
          <a:xfrm>
            <a:off x="1524000" y="2870984"/>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6" name="Group 15">
            <a:extLst>
              <a:ext uri="{FF2B5EF4-FFF2-40B4-BE49-F238E27FC236}">
                <a16:creationId xmlns:a16="http://schemas.microsoft.com/office/drawing/2014/main" id="{9D6B3940-4AA1-92FE-3E33-8857B0C8B4AA}"/>
              </a:ext>
            </a:extLst>
          </p:cNvPr>
          <p:cNvGrpSpPr/>
          <p:nvPr/>
        </p:nvGrpSpPr>
        <p:grpSpPr>
          <a:xfrm>
            <a:off x="0" y="9599693"/>
            <a:ext cx="18287999" cy="687306"/>
            <a:chOff x="0" y="9599693"/>
            <a:chExt cx="18287999" cy="687306"/>
          </a:xfrm>
        </p:grpSpPr>
        <p:grpSp>
          <p:nvGrpSpPr>
            <p:cNvPr id="17" name="Group 11">
              <a:extLst>
                <a:ext uri="{FF2B5EF4-FFF2-40B4-BE49-F238E27FC236}">
                  <a16:creationId xmlns:a16="http://schemas.microsoft.com/office/drawing/2014/main" id="{B6FFEDCE-85EA-C999-BC9B-4EE94D33E83C}"/>
                </a:ext>
              </a:extLst>
            </p:cNvPr>
            <p:cNvGrpSpPr/>
            <p:nvPr/>
          </p:nvGrpSpPr>
          <p:grpSpPr>
            <a:xfrm>
              <a:off x="0" y="9599694"/>
              <a:ext cx="18287999" cy="687305"/>
              <a:chOff x="0" y="0"/>
              <a:chExt cx="5260714" cy="490218"/>
            </a:xfrm>
          </p:grpSpPr>
          <p:sp>
            <p:nvSpPr>
              <p:cNvPr id="27" name="Freeform 12">
                <a:extLst>
                  <a:ext uri="{FF2B5EF4-FFF2-40B4-BE49-F238E27FC236}">
                    <a16:creationId xmlns:a16="http://schemas.microsoft.com/office/drawing/2014/main" id="{A0972058-54A6-599D-6320-CF5978A472AC}"/>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8" name="TextBox 13">
                <a:extLst>
                  <a:ext uri="{FF2B5EF4-FFF2-40B4-BE49-F238E27FC236}">
                    <a16:creationId xmlns:a16="http://schemas.microsoft.com/office/drawing/2014/main" id="{99F201D3-622E-449C-DEAC-E77187A3753F}"/>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0" name="TextBox 12">
              <a:extLst>
                <a:ext uri="{FF2B5EF4-FFF2-40B4-BE49-F238E27FC236}">
                  <a16:creationId xmlns:a16="http://schemas.microsoft.com/office/drawing/2014/main" id="{BCB67584-8427-8344-FCB4-A489046EE534}"/>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6" name="TextBox 13">
              <a:extLst>
                <a:ext uri="{FF2B5EF4-FFF2-40B4-BE49-F238E27FC236}">
                  <a16:creationId xmlns:a16="http://schemas.microsoft.com/office/drawing/2014/main" id="{C6638C3A-B4EE-84A7-B73B-214ABF44D3BF}"/>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spTree>
    <p:extLst>
      <p:ext uri="{BB962C8B-B14F-4D97-AF65-F5344CB8AC3E}">
        <p14:creationId xmlns:p14="http://schemas.microsoft.com/office/powerpoint/2010/main" val="2669335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7727B-B6D5-2179-B27C-CB5FC1AD07B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80C9E22-3E5C-9CAD-EC5B-AD268D3BF685}"/>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6F749164-7888-FECF-A667-03C89D0CF884}"/>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DE45DF95-9B0C-B610-3921-42ECCDD8DADA}"/>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9D513327-AEC9-3DF2-7FB0-183BB8EAC555}"/>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FD538F00-1615-F282-FD7E-DF5FEDE4D9BF}"/>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C8602955-8D76-1F28-A2A8-82CAD5CF89E8}"/>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3C24F38E-B300-8F48-7CB3-434F9CA3ABFD}"/>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D25FB8EE-D800-3CD3-F7B1-E64104FEA1CA}"/>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DC584608-2435-8C34-F693-13319ED1E037}"/>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8E673015-CD87-429A-B49F-1610FFC8515C}"/>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55749394-A38B-5F44-8E05-86219C572C81}"/>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6390CDC1-3249-EC80-915B-D02383BCDD77}"/>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a:extLst>
              <a:ext uri="{FF2B5EF4-FFF2-40B4-BE49-F238E27FC236}">
                <a16:creationId xmlns:a16="http://schemas.microsoft.com/office/drawing/2014/main" id="{99C3426A-EB15-2176-68EE-28D9F23C291D}"/>
              </a:ext>
            </a:extLst>
          </p:cNvPr>
          <p:cNvSpPr txBox="1"/>
          <p:nvPr/>
        </p:nvSpPr>
        <p:spPr>
          <a:xfrm>
            <a:off x="2246041" y="2025065"/>
            <a:ext cx="13795916" cy="1846659"/>
          </a:xfrm>
          <a:prstGeom prst="rect">
            <a:avLst/>
          </a:prstGeom>
        </p:spPr>
        <p:txBody>
          <a:bodyPr lIns="0" tIns="0" rIns="0" bIns="0" rtlCol="0" anchor="t">
            <a:spAutoFit/>
          </a:bodyPr>
          <a:lstStyle/>
          <a:p>
            <a:pPr algn="ctr"/>
            <a:r>
              <a:rPr lang="en-US" sz="2400" b="1" dirty="0">
                <a:solidFill>
                  <a:srgbClr val="000000"/>
                </a:solidFill>
                <a:latin typeface="Nunito 1" panose="020B0604020202020204" charset="0"/>
                <a:ea typeface="Nunito 1 Bold"/>
                <a:cs typeface="Nunito 1 Bold"/>
                <a:sym typeface="Nunito 1 Bold"/>
              </a:rPr>
              <a:t>Radius of Influence</a:t>
            </a:r>
          </a:p>
          <a:p>
            <a:pPr algn="ctr"/>
            <a:endParaRPr lang="en-US" sz="2400" dirty="0">
              <a:solidFill>
                <a:srgbClr val="000000"/>
              </a:solidFill>
              <a:latin typeface="Nunito 1" panose="020B0604020202020204" charset="0"/>
              <a:ea typeface="Nunito 1 Bold"/>
              <a:cs typeface="Nunito 1 Bold"/>
              <a:sym typeface="Nunito 1 Bold"/>
            </a:endParaRPr>
          </a:p>
          <a:p>
            <a:pPr algn="ctr"/>
            <a:r>
              <a:rPr lang="en-US" sz="2400" dirty="0">
                <a:solidFill>
                  <a:srgbClr val="000000"/>
                </a:solidFill>
                <a:latin typeface="Nunito 1" panose="020B0604020202020204" charset="0"/>
                <a:ea typeface="Nunito 1 Bold"/>
                <a:cs typeface="Nunito 1 Bold"/>
                <a:sym typeface="Nunito 1 Bold"/>
              </a:rPr>
              <a:t>Minimum distance from the center of the lone pumped well wherein no drawdown will be observe.</a:t>
            </a:r>
          </a:p>
          <a:p>
            <a:pPr algn="ctr"/>
            <a:endParaRPr lang="en-US" sz="2400" dirty="0">
              <a:solidFill>
                <a:srgbClr val="000000"/>
              </a:solidFill>
              <a:latin typeface="Nunito 1" panose="020B0604020202020204" charset="0"/>
              <a:ea typeface="Nunito 1 Bold"/>
              <a:cs typeface="Nunito 1 Bold"/>
              <a:sym typeface="Nunito 1 Bold"/>
            </a:endParaRPr>
          </a:p>
          <a:p>
            <a:pPr marL="514350" indent="-514350" algn="ctr">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p:txBody>
      </p:sp>
      <p:sp>
        <p:nvSpPr>
          <p:cNvPr id="19" name="TextBox 12">
            <a:extLst>
              <a:ext uri="{FF2B5EF4-FFF2-40B4-BE49-F238E27FC236}">
                <a16:creationId xmlns:a16="http://schemas.microsoft.com/office/drawing/2014/main" id="{3059EB87-3C27-8EDB-B9B3-B16B31FF7576}"/>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8E76442F-D8A1-269D-72EE-EFB49B11784E}"/>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C42E3354-0FC7-7EC7-36F7-AEFD58C3E6EE}"/>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83472A4E-429E-9DD0-6DE5-BFCB3860E77D}"/>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3">
            <a:extLst>
              <a:ext uri="{FF2B5EF4-FFF2-40B4-BE49-F238E27FC236}">
                <a16:creationId xmlns:a16="http://schemas.microsoft.com/office/drawing/2014/main" id="{22B55501-5813-BCB4-5167-B93EC27A9326}"/>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pic>
        <p:nvPicPr>
          <p:cNvPr id="3074" name="Picture 2">
            <a:extLst>
              <a:ext uri="{FF2B5EF4-FFF2-40B4-BE49-F238E27FC236}">
                <a16:creationId xmlns:a16="http://schemas.microsoft.com/office/drawing/2014/main" id="{0B36C18F-C96A-3BD6-E6A6-84D71B7F544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2057"/>
          <a:stretch/>
        </p:blipFill>
        <p:spPr bwMode="auto">
          <a:xfrm>
            <a:off x="5251997" y="3363323"/>
            <a:ext cx="7784004" cy="5196294"/>
          </a:xfrm>
          <a:prstGeom prst="rect">
            <a:avLst/>
          </a:prstGeom>
          <a:noFill/>
          <a:ln w="76200">
            <a:solidFill>
              <a:schemeClr val="bg1"/>
            </a:solidFill>
          </a:ln>
          <a:extLst>
            <a:ext uri="{909E8E84-426E-40DD-AFC4-6F175D3DCCD1}">
              <a14:hiddenFill xmlns:a14="http://schemas.microsoft.com/office/drawing/2010/main">
                <a:solidFill>
                  <a:srgbClr val="FFFFFF"/>
                </a:solidFill>
              </a14:hiddenFill>
            </a:ext>
          </a:extLst>
        </p:spPr>
      </p:pic>
      <p:sp>
        <p:nvSpPr>
          <p:cNvPr id="27" name="TextBox 15">
            <a:extLst>
              <a:ext uri="{FF2B5EF4-FFF2-40B4-BE49-F238E27FC236}">
                <a16:creationId xmlns:a16="http://schemas.microsoft.com/office/drawing/2014/main" id="{2462EFA3-6934-B8BA-5315-C9A62ED9F926}"/>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https://www.sciencedirect.com/science/article/pii/S0022169420301062</a:t>
            </a:r>
          </a:p>
        </p:txBody>
      </p:sp>
      <p:grpSp>
        <p:nvGrpSpPr>
          <p:cNvPr id="14" name="Group 13">
            <a:extLst>
              <a:ext uri="{FF2B5EF4-FFF2-40B4-BE49-F238E27FC236}">
                <a16:creationId xmlns:a16="http://schemas.microsoft.com/office/drawing/2014/main" id="{EA4463BD-964A-912B-ED09-C5DC8B4A0C3C}"/>
              </a:ext>
            </a:extLst>
          </p:cNvPr>
          <p:cNvGrpSpPr/>
          <p:nvPr/>
        </p:nvGrpSpPr>
        <p:grpSpPr>
          <a:xfrm>
            <a:off x="0" y="9599693"/>
            <a:ext cx="18287999" cy="687306"/>
            <a:chOff x="0" y="9599693"/>
            <a:chExt cx="18287999" cy="687306"/>
          </a:xfrm>
        </p:grpSpPr>
        <p:grpSp>
          <p:nvGrpSpPr>
            <p:cNvPr id="16" name="Group 11">
              <a:extLst>
                <a:ext uri="{FF2B5EF4-FFF2-40B4-BE49-F238E27FC236}">
                  <a16:creationId xmlns:a16="http://schemas.microsoft.com/office/drawing/2014/main" id="{8C216337-5652-D280-96B3-89916A71A24C}"/>
                </a:ext>
              </a:extLst>
            </p:cNvPr>
            <p:cNvGrpSpPr/>
            <p:nvPr/>
          </p:nvGrpSpPr>
          <p:grpSpPr>
            <a:xfrm>
              <a:off x="0" y="9599694"/>
              <a:ext cx="18287999" cy="687305"/>
              <a:chOff x="0" y="0"/>
              <a:chExt cx="5260714" cy="490218"/>
            </a:xfrm>
          </p:grpSpPr>
          <p:sp>
            <p:nvSpPr>
              <p:cNvPr id="21" name="Freeform 12">
                <a:extLst>
                  <a:ext uri="{FF2B5EF4-FFF2-40B4-BE49-F238E27FC236}">
                    <a16:creationId xmlns:a16="http://schemas.microsoft.com/office/drawing/2014/main" id="{ECFB0A21-C3D5-0463-BCE5-454CAADF8CEA}"/>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2" name="TextBox 13">
                <a:extLst>
                  <a:ext uri="{FF2B5EF4-FFF2-40B4-BE49-F238E27FC236}">
                    <a16:creationId xmlns:a16="http://schemas.microsoft.com/office/drawing/2014/main" id="{F1FADC6C-E71F-E2F9-B2D5-2D62C698D019}"/>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2">
              <a:extLst>
                <a:ext uri="{FF2B5EF4-FFF2-40B4-BE49-F238E27FC236}">
                  <a16:creationId xmlns:a16="http://schemas.microsoft.com/office/drawing/2014/main" id="{71772D5A-6D67-3F1C-4912-1198150EA49C}"/>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0" name="TextBox 13">
              <a:extLst>
                <a:ext uri="{FF2B5EF4-FFF2-40B4-BE49-F238E27FC236}">
                  <a16:creationId xmlns:a16="http://schemas.microsoft.com/office/drawing/2014/main" id="{95A71AD6-25DE-FC17-C2CD-2A8649E65C8F}"/>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spTree>
    <p:extLst>
      <p:ext uri="{BB962C8B-B14F-4D97-AF65-F5344CB8AC3E}">
        <p14:creationId xmlns:p14="http://schemas.microsoft.com/office/powerpoint/2010/main" val="16810320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E841A-51EE-D22C-DA2D-5234C0A9EF8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ECD0457-2AD2-8A48-0D62-2C071E24FF65}"/>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E72E2607-D6E8-F0F0-C645-602CE3A22A64}"/>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CFA70284-882E-5CDF-8EFC-624EAC9FBC8F}"/>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03E35E99-3A38-5D53-0BD0-42DB2ED3D7AD}"/>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1729CFF7-EB83-054E-ED7C-D13E22CCA0BD}"/>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DCFF8FE3-42EC-9953-B9DC-4CB794EABDE8}"/>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A97FF6C3-1163-79D3-78AF-8148A965B70D}"/>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5358D71A-8909-9277-A145-18C1F20D9102}"/>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A7F6E35F-0889-048F-3D7E-F8800039271F}"/>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6FE542DA-BBE4-0304-BBB4-581FF4060EED}"/>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C159BE2B-391D-1CFB-22D5-21052ED6C0F9}"/>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08DE05D3-2414-17A3-E400-8B24F64B3C03}"/>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8298BCA4-600B-207C-6C2B-97DFD7BAB814}"/>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13</a:t>
            </a:r>
          </a:p>
        </p:txBody>
      </p:sp>
      <p:sp>
        <p:nvSpPr>
          <p:cNvPr id="15" name="TextBox 15">
            <a:extLst>
              <a:ext uri="{FF2B5EF4-FFF2-40B4-BE49-F238E27FC236}">
                <a16:creationId xmlns:a16="http://schemas.microsoft.com/office/drawing/2014/main" id="{72137E80-2D35-A09F-D569-8DFA36EE8A75}"/>
              </a:ext>
            </a:extLst>
          </p:cNvPr>
          <p:cNvSpPr txBox="1"/>
          <p:nvPr/>
        </p:nvSpPr>
        <p:spPr>
          <a:xfrm>
            <a:off x="2246041" y="2025065"/>
            <a:ext cx="13795916" cy="369332"/>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What occurs when the cones of depression of two or more nearby pumping wells overlap?</a:t>
            </a:r>
          </a:p>
        </p:txBody>
      </p:sp>
      <p:sp>
        <p:nvSpPr>
          <p:cNvPr id="19" name="TextBox 12">
            <a:extLst>
              <a:ext uri="{FF2B5EF4-FFF2-40B4-BE49-F238E27FC236}">
                <a16:creationId xmlns:a16="http://schemas.microsoft.com/office/drawing/2014/main" id="{036C4F52-24A2-2FC9-5DD3-5C09CD7E2B85}"/>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E79A9587-90CE-CAA3-E8F5-AE62147E4648}"/>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775EB840-386D-B461-26C8-59FE0536B37F}"/>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50912D0C-A4B0-E656-506F-F91E8FACF060}"/>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2F796B75-7FAF-1F7E-F6E4-4849D631F451}"/>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http://ecoursesonline.iasri.res.in/mod/page/view.php?id=1838</a:t>
            </a:r>
          </a:p>
        </p:txBody>
      </p:sp>
      <p:sp>
        <p:nvSpPr>
          <p:cNvPr id="18" name="TextBox 13">
            <a:extLst>
              <a:ext uri="{FF2B5EF4-FFF2-40B4-BE49-F238E27FC236}">
                <a16:creationId xmlns:a16="http://schemas.microsoft.com/office/drawing/2014/main" id="{36057A00-1825-5FE1-D819-AFCBEC995DC3}"/>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sp>
        <p:nvSpPr>
          <p:cNvPr id="21" name="TextBox 20">
            <a:extLst>
              <a:ext uri="{FF2B5EF4-FFF2-40B4-BE49-F238E27FC236}">
                <a16:creationId xmlns:a16="http://schemas.microsoft.com/office/drawing/2014/main" id="{A58521C0-1E1A-8CC5-D7D5-D06B4D98CFB7}"/>
              </a:ext>
            </a:extLst>
          </p:cNvPr>
          <p:cNvSpPr txBox="1"/>
          <p:nvPr/>
        </p:nvSpPr>
        <p:spPr>
          <a:xfrm>
            <a:off x="1676400" y="2941299"/>
            <a:ext cx="14935200" cy="2585323"/>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Drawdown</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Groundwater decline</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Well interference</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Drawdown curve</a:t>
            </a:r>
          </a:p>
        </p:txBody>
      </p:sp>
      <p:sp>
        <p:nvSpPr>
          <p:cNvPr id="22" name="Oval 21">
            <a:extLst>
              <a:ext uri="{FF2B5EF4-FFF2-40B4-BE49-F238E27FC236}">
                <a16:creationId xmlns:a16="http://schemas.microsoft.com/office/drawing/2014/main" id="{30E5D966-CC89-4997-8EC9-67433C139433}"/>
              </a:ext>
            </a:extLst>
          </p:cNvPr>
          <p:cNvSpPr/>
          <p:nvPr/>
        </p:nvSpPr>
        <p:spPr>
          <a:xfrm>
            <a:off x="1524000" y="4378018"/>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2050" name="Picture 2" descr="151">
            <a:extLst>
              <a:ext uri="{FF2B5EF4-FFF2-40B4-BE49-F238E27FC236}">
                <a16:creationId xmlns:a16="http://schemas.microsoft.com/office/drawing/2014/main" id="{B3B9EB53-C4DC-E924-E93A-41AFBA2C2C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96386" y="2859873"/>
            <a:ext cx="8880250" cy="518160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95EFFBBC-25EB-FD56-5256-72DBEE4BC40D}"/>
              </a:ext>
            </a:extLst>
          </p:cNvPr>
          <p:cNvGrpSpPr/>
          <p:nvPr/>
        </p:nvGrpSpPr>
        <p:grpSpPr>
          <a:xfrm>
            <a:off x="0" y="9599693"/>
            <a:ext cx="18287999" cy="687306"/>
            <a:chOff x="0" y="9599693"/>
            <a:chExt cx="18287999" cy="687306"/>
          </a:xfrm>
        </p:grpSpPr>
        <p:grpSp>
          <p:nvGrpSpPr>
            <p:cNvPr id="17" name="Group 11">
              <a:extLst>
                <a:ext uri="{FF2B5EF4-FFF2-40B4-BE49-F238E27FC236}">
                  <a16:creationId xmlns:a16="http://schemas.microsoft.com/office/drawing/2014/main" id="{FB863F20-6AEE-DD09-8DD2-7B530187C0C7}"/>
                </a:ext>
              </a:extLst>
            </p:cNvPr>
            <p:cNvGrpSpPr/>
            <p:nvPr/>
          </p:nvGrpSpPr>
          <p:grpSpPr>
            <a:xfrm>
              <a:off x="0" y="9599694"/>
              <a:ext cx="18287999" cy="687305"/>
              <a:chOff x="0" y="0"/>
              <a:chExt cx="5260714" cy="490218"/>
            </a:xfrm>
          </p:grpSpPr>
          <p:sp>
            <p:nvSpPr>
              <p:cNvPr id="28" name="Freeform 12">
                <a:extLst>
                  <a:ext uri="{FF2B5EF4-FFF2-40B4-BE49-F238E27FC236}">
                    <a16:creationId xmlns:a16="http://schemas.microsoft.com/office/drawing/2014/main" id="{3275900E-9CE2-9F32-689A-B45CA75025C1}"/>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9" name="TextBox 13">
                <a:extLst>
                  <a:ext uri="{FF2B5EF4-FFF2-40B4-BE49-F238E27FC236}">
                    <a16:creationId xmlns:a16="http://schemas.microsoft.com/office/drawing/2014/main" id="{D5A30864-BDC8-DAC5-E87F-973068C84EB3}"/>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0" name="TextBox 12">
              <a:extLst>
                <a:ext uri="{FF2B5EF4-FFF2-40B4-BE49-F238E27FC236}">
                  <a16:creationId xmlns:a16="http://schemas.microsoft.com/office/drawing/2014/main" id="{F4EB747F-7956-0F9C-9E3B-7EE4993C94A9}"/>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7" name="TextBox 13">
              <a:extLst>
                <a:ext uri="{FF2B5EF4-FFF2-40B4-BE49-F238E27FC236}">
                  <a16:creationId xmlns:a16="http://schemas.microsoft.com/office/drawing/2014/main" id="{A2F4DDDB-4C8B-80E7-2B03-0D3126E36C59}"/>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spTree>
    <p:extLst>
      <p:ext uri="{BB962C8B-B14F-4D97-AF65-F5344CB8AC3E}">
        <p14:creationId xmlns:p14="http://schemas.microsoft.com/office/powerpoint/2010/main" val="1989458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50"/>
                                        </p:tgtEl>
                                        <p:attrNameLst>
                                          <p:attrName>style.visibility</p:attrName>
                                        </p:attrNameLst>
                                      </p:cBhvr>
                                      <p:to>
                                        <p:strVal val="visible"/>
                                      </p:to>
                                    </p:set>
                                    <p:animEffect transition="in" filter="fade">
                                      <p:cBhvr>
                                        <p:cTn id="12"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FD021-8688-14E4-4872-29DE3BEA0BD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33F1339-5909-544C-E378-6FEDBA9BDA72}"/>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5168792C-840C-646F-285C-C04EDD970523}"/>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A7460F12-BE74-A37A-9D41-DA0186D15B20}"/>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2C62B942-55A7-7D40-2DD8-3C2FB20C252E}"/>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7D65F104-2CA2-FA27-9648-397EE3C1E00E}"/>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32B3C6FF-EFEB-892A-5828-38541E4C590C}"/>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07D246E8-2ABD-286C-7034-2DEFB6B158E2}"/>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43FCD7AD-F8A3-460F-0F00-1E0001C1D730}"/>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DAED2136-0B94-5B54-887E-2C38F8CD5D4E}"/>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1339B178-2DBE-8A5A-4091-BD79322F254E}"/>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02CDE590-0F88-B962-3F8D-4D648069240D}"/>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6DBD59CD-BBE5-3258-4FC2-33C800D72CAE}"/>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7B54DD6A-61B5-A5C8-7F31-35F7564C08F1}"/>
              </a:ext>
            </a:extLst>
          </p:cNvPr>
          <p:cNvSpPr txBox="1"/>
          <p:nvPr/>
        </p:nvSpPr>
        <p:spPr>
          <a:xfrm>
            <a:off x="4572000"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14</a:t>
            </a:r>
          </a:p>
        </p:txBody>
      </p:sp>
      <p:sp>
        <p:nvSpPr>
          <p:cNvPr id="15" name="TextBox 15">
            <a:extLst>
              <a:ext uri="{FF2B5EF4-FFF2-40B4-BE49-F238E27FC236}">
                <a16:creationId xmlns:a16="http://schemas.microsoft.com/office/drawing/2014/main" id="{825D9432-78A7-AA98-8867-4D70B4CF141E}"/>
              </a:ext>
            </a:extLst>
          </p:cNvPr>
          <p:cNvSpPr txBox="1"/>
          <p:nvPr/>
        </p:nvSpPr>
        <p:spPr>
          <a:xfrm>
            <a:off x="2246041" y="2025065"/>
            <a:ext cx="13795916" cy="1107996"/>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A 16-ft thick confined aquifer with hydraulic conductivity of 500ft/day was tapped  by a 4” diameter shallow tubewell. With a radius of influence of 2000 ft, determine the maximum discharge of the STW in liters per second. Assume an allowable drawdown of 10ft. </a:t>
            </a:r>
          </a:p>
        </p:txBody>
      </p:sp>
      <p:sp>
        <p:nvSpPr>
          <p:cNvPr id="19" name="TextBox 12">
            <a:extLst>
              <a:ext uri="{FF2B5EF4-FFF2-40B4-BE49-F238E27FC236}">
                <a16:creationId xmlns:a16="http://schemas.microsoft.com/office/drawing/2014/main" id="{904BDF12-55F3-8848-2BBE-5669847A88E4}"/>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ED5B5377-FBB5-AD78-4A1E-C710242EC14F}"/>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6481FAA8-9B4B-021E-777C-B5874A3F426C}"/>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A59F7E0F-90DF-F79D-F58B-DF170447079B}"/>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5B568C06-A444-30CD-8E76-8BB9C93C7A34}"/>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https://chem.libretexts.org/Courses/University_of_Arkansas_Little_Rock/Chem_1402%3A_General_Chemistry_1_(Kattoum)</a:t>
            </a:r>
          </a:p>
        </p:txBody>
      </p:sp>
      <p:sp>
        <p:nvSpPr>
          <p:cNvPr id="16" name="TextBox 15">
            <a:extLst>
              <a:ext uri="{FF2B5EF4-FFF2-40B4-BE49-F238E27FC236}">
                <a16:creationId xmlns:a16="http://schemas.microsoft.com/office/drawing/2014/main" id="{11E45C1F-C80F-6831-4A5D-D7FD4C1D135A}"/>
              </a:ext>
            </a:extLst>
          </p:cNvPr>
          <p:cNvSpPr txBox="1"/>
          <p:nvPr/>
        </p:nvSpPr>
        <p:spPr>
          <a:xfrm>
            <a:off x="1676400" y="4641126"/>
            <a:ext cx="14935200" cy="369332"/>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Ans. 17.55lps</a:t>
            </a:r>
          </a:p>
        </p:txBody>
      </p:sp>
      <p:sp>
        <p:nvSpPr>
          <p:cNvPr id="18" name="TextBox 13">
            <a:extLst>
              <a:ext uri="{FF2B5EF4-FFF2-40B4-BE49-F238E27FC236}">
                <a16:creationId xmlns:a16="http://schemas.microsoft.com/office/drawing/2014/main" id="{B385690A-6924-0BC7-56D1-8DD5CADB82A9}"/>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512EDE3-A6E0-BB53-33E6-F817964F160B}"/>
                  </a:ext>
                </a:extLst>
              </p:cNvPr>
              <p:cNvSpPr txBox="1"/>
              <p:nvPr/>
            </p:nvSpPr>
            <p:spPr>
              <a:xfrm>
                <a:off x="1676399" y="5504742"/>
                <a:ext cx="14935200" cy="3176703"/>
              </a:xfrm>
              <a:prstGeom prst="rect">
                <a:avLst/>
              </a:prstGeom>
            </p:spPr>
            <p:txBody>
              <a:bodyPr wrap="square" lIns="0" tIns="0" rIns="0" bIns="0" rtlCol="0" anchor="t">
                <a:spAutoFit/>
              </a:bodyPr>
              <a:lstStyle/>
              <a:p>
                <a:pPr algn="ctr"/>
                <a:r>
                  <a:rPr lang="en-US" sz="2400" dirty="0">
                    <a:solidFill>
                      <a:srgbClr val="000000"/>
                    </a:solidFill>
                    <a:latin typeface="Nunito 1" panose="020B0604020202020204" charset="0"/>
                    <a:ea typeface="Nunito 1 Bold"/>
                    <a:cs typeface="Nunito 1 Bold"/>
                    <a:sym typeface="Nunito 1 Bold"/>
                  </a:rPr>
                  <a:t>Q = </a:t>
                </a:r>
                <a14:m>
                  <m:oMath xmlns:m="http://schemas.openxmlformats.org/officeDocument/2006/math">
                    <m:f>
                      <m:fPr>
                        <m:ctrlPr>
                          <a:rPr lang="en-US" sz="3000" i="1" smtClean="0">
                            <a:solidFill>
                              <a:srgbClr val="000000"/>
                            </a:solidFill>
                            <a:latin typeface="Cambria Math" panose="02040503050406030204" pitchFamily="18" charset="0"/>
                            <a:sym typeface="Nunito 1 Bold"/>
                          </a:rPr>
                        </m:ctrlPr>
                      </m:fPr>
                      <m:num>
                        <m:r>
                          <a:rPr lang="en-US" sz="3000" i="1" smtClean="0">
                            <a:solidFill>
                              <a:srgbClr val="000000"/>
                            </a:solidFill>
                            <a:latin typeface="Cambria Math" panose="02040503050406030204" pitchFamily="18" charset="0"/>
                            <a:ea typeface="Cambria Math" panose="02040503050406030204" pitchFamily="18" charset="0"/>
                            <a:sym typeface="Nunito 1 Bold"/>
                          </a:rPr>
                          <m:t>𝜋</m:t>
                        </m:r>
                        <m:r>
                          <a:rPr lang="en-PH" sz="3000" b="0" i="1" smtClean="0">
                            <a:solidFill>
                              <a:srgbClr val="000000"/>
                            </a:solidFill>
                            <a:latin typeface="Cambria Math" panose="02040503050406030204" pitchFamily="18" charset="0"/>
                            <a:ea typeface="Cambria Math" panose="02040503050406030204" pitchFamily="18" charset="0"/>
                            <a:sym typeface="Nunito 1 Bold"/>
                          </a:rPr>
                          <m:t>𝐾</m:t>
                        </m:r>
                        <m:r>
                          <a:rPr lang="en-PH" sz="3000" b="0" i="1" smtClean="0">
                            <a:solidFill>
                              <a:srgbClr val="000000"/>
                            </a:solidFill>
                            <a:latin typeface="Cambria Math" panose="02040503050406030204" pitchFamily="18" charset="0"/>
                            <a:ea typeface="Cambria Math" panose="02040503050406030204" pitchFamily="18" charset="0"/>
                            <a:sym typeface="Nunito 1 Bold"/>
                          </a:rPr>
                          <m:t>(</m:t>
                        </m:r>
                        <m:sSubSup>
                          <m:sSubSupPr>
                            <m:ctrlPr>
                              <a:rPr lang="en-PH" sz="3000" b="0" i="1" smtClean="0">
                                <a:solidFill>
                                  <a:srgbClr val="000000"/>
                                </a:solidFill>
                                <a:latin typeface="Cambria Math" panose="02040503050406030204" pitchFamily="18" charset="0"/>
                                <a:ea typeface="Cambria Math" panose="02040503050406030204" pitchFamily="18" charset="0"/>
                                <a:sym typeface="Nunito 1 Bold"/>
                              </a:rPr>
                            </m:ctrlPr>
                          </m:sSubSupPr>
                          <m:e>
                            <m:r>
                              <a:rPr lang="en-PH" sz="3000" b="0" i="1" smtClean="0">
                                <a:solidFill>
                                  <a:srgbClr val="000000"/>
                                </a:solidFill>
                                <a:latin typeface="Cambria Math" panose="02040503050406030204" pitchFamily="18" charset="0"/>
                                <a:ea typeface="Cambria Math" panose="02040503050406030204" pitchFamily="18" charset="0"/>
                                <a:sym typeface="Nunito 1 Bold"/>
                              </a:rPr>
                              <m:t>h</m:t>
                            </m:r>
                          </m:e>
                          <m:sub>
                            <m:r>
                              <a:rPr lang="en-PH" sz="3000" b="0" i="1" smtClean="0">
                                <a:solidFill>
                                  <a:srgbClr val="000000"/>
                                </a:solidFill>
                                <a:latin typeface="Cambria Math" panose="02040503050406030204" pitchFamily="18" charset="0"/>
                                <a:ea typeface="Cambria Math" panose="02040503050406030204" pitchFamily="18" charset="0"/>
                                <a:sym typeface="Nunito 1 Bold"/>
                              </a:rPr>
                              <m:t>2</m:t>
                            </m:r>
                          </m:sub>
                          <m:sup>
                            <m:r>
                              <a:rPr lang="en-PH" sz="3000" b="0" i="1" smtClean="0">
                                <a:solidFill>
                                  <a:srgbClr val="000000"/>
                                </a:solidFill>
                                <a:latin typeface="Cambria Math" panose="02040503050406030204" pitchFamily="18" charset="0"/>
                                <a:ea typeface="Cambria Math" panose="02040503050406030204" pitchFamily="18" charset="0"/>
                                <a:sym typeface="Nunito 1 Bold"/>
                              </a:rPr>
                              <m:t>2</m:t>
                            </m:r>
                          </m:sup>
                        </m:sSubSup>
                        <m:r>
                          <a:rPr lang="en-PH" sz="3000" b="0" i="1" smtClean="0">
                            <a:solidFill>
                              <a:srgbClr val="000000"/>
                            </a:solidFill>
                            <a:latin typeface="Cambria Math" panose="02040503050406030204" pitchFamily="18" charset="0"/>
                            <a:ea typeface="Cambria Math" panose="02040503050406030204" pitchFamily="18" charset="0"/>
                            <a:sym typeface="Nunito 1 Bold"/>
                          </a:rPr>
                          <m:t>−</m:t>
                        </m:r>
                        <m:sSubSup>
                          <m:sSubSupPr>
                            <m:ctrlPr>
                              <a:rPr lang="en-PH" sz="3000" i="1">
                                <a:solidFill>
                                  <a:srgbClr val="000000"/>
                                </a:solidFill>
                                <a:latin typeface="Cambria Math" panose="02040503050406030204" pitchFamily="18" charset="0"/>
                                <a:ea typeface="Cambria Math" panose="02040503050406030204" pitchFamily="18" charset="0"/>
                                <a:sym typeface="Nunito 1 Bold"/>
                              </a:rPr>
                            </m:ctrlPr>
                          </m:sSubSupPr>
                          <m:e>
                            <m:r>
                              <a:rPr lang="en-PH" sz="3000" i="1" smtClean="0">
                                <a:solidFill>
                                  <a:srgbClr val="000000"/>
                                </a:solidFill>
                                <a:latin typeface="Cambria Math" panose="02040503050406030204" pitchFamily="18" charset="0"/>
                                <a:ea typeface="Cambria Math" panose="02040503050406030204" pitchFamily="18" charset="0"/>
                                <a:sym typeface="Nunito 1 Bold"/>
                              </a:rPr>
                              <m:t>h</m:t>
                            </m:r>
                          </m:e>
                          <m:sub>
                            <m:r>
                              <a:rPr lang="en-PH" sz="3000" b="0" i="1" smtClean="0">
                                <a:solidFill>
                                  <a:srgbClr val="000000"/>
                                </a:solidFill>
                                <a:latin typeface="Cambria Math" panose="02040503050406030204" pitchFamily="18" charset="0"/>
                                <a:ea typeface="Cambria Math" panose="02040503050406030204" pitchFamily="18" charset="0"/>
                                <a:sym typeface="Nunito 1 Bold"/>
                              </a:rPr>
                              <m:t>1</m:t>
                            </m:r>
                          </m:sub>
                          <m:sup>
                            <m:r>
                              <a:rPr lang="en-PH" sz="3000" i="1" smtClean="0">
                                <a:solidFill>
                                  <a:srgbClr val="000000"/>
                                </a:solidFill>
                                <a:latin typeface="Cambria Math" panose="02040503050406030204" pitchFamily="18" charset="0"/>
                                <a:ea typeface="Cambria Math" panose="02040503050406030204" pitchFamily="18" charset="0"/>
                                <a:sym typeface="Nunito 1 Bold"/>
                              </a:rPr>
                              <m:t>2</m:t>
                            </m:r>
                          </m:sup>
                        </m:sSubSup>
                        <m:r>
                          <a:rPr lang="en-PH" sz="3000" b="0" i="1" smtClean="0">
                            <a:solidFill>
                              <a:srgbClr val="000000"/>
                            </a:solidFill>
                            <a:latin typeface="Cambria Math" panose="02040503050406030204" pitchFamily="18" charset="0"/>
                            <a:ea typeface="Cambria Math" panose="02040503050406030204" pitchFamily="18" charset="0"/>
                            <a:sym typeface="Nunito 1 Bold"/>
                          </a:rPr>
                          <m:t>)</m:t>
                        </m:r>
                      </m:num>
                      <m:den>
                        <m:r>
                          <a:rPr lang="en-PH" sz="3000" b="0" i="1" smtClean="0">
                            <a:solidFill>
                              <a:srgbClr val="000000"/>
                            </a:solidFill>
                            <a:latin typeface="Cambria Math" panose="02040503050406030204" pitchFamily="18" charset="0"/>
                            <a:sym typeface="Nunito 1 Bold"/>
                          </a:rPr>
                          <m:t>𝑙𝑛</m:t>
                        </m:r>
                        <m:d>
                          <m:dPr>
                            <m:ctrlPr>
                              <a:rPr lang="en-PH" sz="3000" b="0" i="1" smtClean="0">
                                <a:solidFill>
                                  <a:srgbClr val="000000"/>
                                </a:solidFill>
                                <a:latin typeface="Cambria Math" panose="02040503050406030204" pitchFamily="18" charset="0"/>
                                <a:sym typeface="Nunito 1 Bold"/>
                              </a:rPr>
                            </m:ctrlPr>
                          </m:dPr>
                          <m:e>
                            <m:f>
                              <m:fPr>
                                <m:ctrlPr>
                                  <a:rPr lang="en-PH" sz="3000" b="0" i="1" smtClean="0">
                                    <a:solidFill>
                                      <a:srgbClr val="000000"/>
                                    </a:solidFill>
                                    <a:latin typeface="Cambria Math" panose="02040503050406030204" pitchFamily="18" charset="0"/>
                                    <a:sym typeface="Nunito 1 Bold"/>
                                  </a:rPr>
                                </m:ctrlPr>
                              </m:fPr>
                              <m:num>
                                <m:sSub>
                                  <m:sSubPr>
                                    <m:ctrlPr>
                                      <a:rPr lang="en-PH" sz="3000" i="1">
                                        <a:solidFill>
                                          <a:srgbClr val="000000"/>
                                        </a:solidFill>
                                        <a:latin typeface="Cambria Math" panose="02040503050406030204" pitchFamily="18" charset="0"/>
                                        <a:sym typeface="Nunito 1 Bold"/>
                                      </a:rPr>
                                    </m:ctrlPr>
                                  </m:sSubPr>
                                  <m:e>
                                    <m:r>
                                      <a:rPr lang="en-PH" sz="3000" i="1" smtClean="0">
                                        <a:solidFill>
                                          <a:srgbClr val="000000"/>
                                        </a:solidFill>
                                        <a:latin typeface="Cambria Math" panose="02040503050406030204" pitchFamily="18" charset="0"/>
                                        <a:sym typeface="Nunito 1 Bold"/>
                                      </a:rPr>
                                      <m:t>𝑟</m:t>
                                    </m:r>
                                  </m:e>
                                  <m:sub>
                                    <m:r>
                                      <a:rPr lang="en-PH" sz="3000" b="0" i="1" smtClean="0">
                                        <a:solidFill>
                                          <a:srgbClr val="000000"/>
                                        </a:solidFill>
                                        <a:latin typeface="Cambria Math" panose="02040503050406030204" pitchFamily="18" charset="0"/>
                                        <a:sym typeface="Nunito 1 Bold"/>
                                      </a:rPr>
                                      <m:t>2</m:t>
                                    </m:r>
                                  </m:sub>
                                </m:sSub>
                              </m:num>
                              <m:den>
                                <m:sSub>
                                  <m:sSubPr>
                                    <m:ctrlPr>
                                      <a:rPr lang="en-PH" sz="3000" b="0" i="1" smtClean="0">
                                        <a:solidFill>
                                          <a:srgbClr val="000000"/>
                                        </a:solidFill>
                                        <a:latin typeface="Cambria Math" panose="02040503050406030204" pitchFamily="18" charset="0"/>
                                        <a:sym typeface="Nunito 1 Bold"/>
                                      </a:rPr>
                                    </m:ctrlPr>
                                  </m:sSubPr>
                                  <m:e>
                                    <m:r>
                                      <a:rPr lang="en-PH" sz="3000" b="0" i="1" smtClean="0">
                                        <a:solidFill>
                                          <a:srgbClr val="000000"/>
                                        </a:solidFill>
                                        <a:latin typeface="Cambria Math" panose="02040503050406030204" pitchFamily="18" charset="0"/>
                                        <a:sym typeface="Nunito 1 Bold"/>
                                      </a:rPr>
                                      <m:t>𝑟</m:t>
                                    </m:r>
                                  </m:e>
                                  <m:sub>
                                    <m:r>
                                      <a:rPr lang="en-PH" sz="3000" b="0" i="1" smtClean="0">
                                        <a:solidFill>
                                          <a:srgbClr val="000000"/>
                                        </a:solidFill>
                                        <a:latin typeface="Cambria Math" panose="02040503050406030204" pitchFamily="18" charset="0"/>
                                        <a:sym typeface="Nunito 1 Bold"/>
                                      </a:rPr>
                                      <m:t>1</m:t>
                                    </m:r>
                                  </m:sub>
                                </m:sSub>
                              </m:den>
                            </m:f>
                          </m:e>
                        </m:d>
                      </m:den>
                    </m:f>
                  </m:oMath>
                </a14:m>
                <a:endParaRPr lang="en-US" sz="3000" dirty="0">
                  <a:solidFill>
                    <a:srgbClr val="000000"/>
                  </a:solidFill>
                  <a:latin typeface="Nunito 1" panose="020B0604020202020204" charset="0"/>
                  <a:ea typeface="Nunito 1 Bold"/>
                  <a:cs typeface="Nunito 1 Bold"/>
                  <a:sym typeface="Nunito 1 Bold"/>
                </a:endParaRPr>
              </a:p>
              <a:p>
                <a:pPr algn="just"/>
                <a:endParaRPr lang="en-US" sz="3000" dirty="0">
                  <a:solidFill>
                    <a:srgbClr val="000000"/>
                  </a:solidFill>
                  <a:latin typeface="Nunito 1" panose="020B0604020202020204" charset="0"/>
                  <a:ea typeface="Nunito 1 Bold"/>
                  <a:cs typeface="Nunito 1 Bold"/>
                  <a:sym typeface="Nunito 1 Bold"/>
                </a:endParaRPr>
              </a:p>
              <a:p>
                <a:endParaRPr lang="en-US" sz="3000" dirty="0">
                  <a:solidFill>
                    <a:srgbClr val="000000"/>
                  </a:solidFill>
                  <a:latin typeface="Nunito 1" panose="020B0604020202020204" charset="0"/>
                  <a:ea typeface="Nunito 1 Bold"/>
                  <a:cs typeface="Nunito 1 Bold"/>
                  <a:sym typeface="Nunito 1 Bold"/>
                </a:endParaRPr>
              </a:p>
              <a:p>
                <a:r>
                  <a:rPr lang="en-US" sz="2400" dirty="0">
                    <a:solidFill>
                      <a:srgbClr val="000000"/>
                    </a:solidFill>
                    <a:latin typeface="Nunito 1" panose="020B0604020202020204" charset="0"/>
                    <a:ea typeface="Nunito 1 Bold"/>
                    <a:cs typeface="Nunito 1 Bold"/>
                    <a:sym typeface="Nunito 1 Bold"/>
                  </a:rPr>
                  <a:t>For confined aquifer:	Q =</a:t>
                </a:r>
                <a:r>
                  <a:rPr lang="en-US" sz="3000" dirty="0">
                    <a:solidFill>
                      <a:srgbClr val="000000"/>
                    </a:solidFill>
                    <a:latin typeface="Nunito 1" panose="020B0604020202020204" charset="0"/>
                    <a:ea typeface="Nunito 1 Bold"/>
                    <a:cs typeface="Nunito 1 Bold"/>
                    <a:sym typeface="Nunito 1 Bold"/>
                  </a:rPr>
                  <a:t> </a:t>
                </a:r>
                <a14:m>
                  <m:oMath xmlns:m="http://schemas.openxmlformats.org/officeDocument/2006/math">
                    <m:f>
                      <m:fPr>
                        <m:ctrlPr>
                          <a:rPr lang="en-US" sz="3000" i="1" smtClean="0">
                            <a:solidFill>
                              <a:srgbClr val="000000"/>
                            </a:solidFill>
                            <a:latin typeface="Cambria Math" panose="02040503050406030204" pitchFamily="18" charset="0"/>
                            <a:sym typeface="Nunito 1 Bold"/>
                          </a:rPr>
                        </m:ctrlPr>
                      </m:fPr>
                      <m:num>
                        <m:r>
                          <a:rPr lang="en-PH" sz="3000" b="0" i="1" smtClean="0">
                            <a:solidFill>
                              <a:srgbClr val="000000"/>
                            </a:solidFill>
                            <a:latin typeface="Cambria Math" panose="02040503050406030204" pitchFamily="18" charset="0"/>
                            <a:sym typeface="Nunito 1 Bold"/>
                          </a:rPr>
                          <m:t>2</m:t>
                        </m:r>
                        <m:r>
                          <a:rPr lang="en-US" sz="3000" i="1" smtClean="0">
                            <a:solidFill>
                              <a:srgbClr val="000000"/>
                            </a:solidFill>
                            <a:latin typeface="Cambria Math" panose="02040503050406030204" pitchFamily="18" charset="0"/>
                            <a:ea typeface="Cambria Math" panose="02040503050406030204" pitchFamily="18" charset="0"/>
                            <a:sym typeface="Nunito 1 Bold"/>
                          </a:rPr>
                          <m:t>𝜋</m:t>
                        </m:r>
                        <m:r>
                          <a:rPr lang="en-PH" sz="3000" b="0" i="1" smtClean="0">
                            <a:solidFill>
                              <a:srgbClr val="000000"/>
                            </a:solidFill>
                            <a:latin typeface="Cambria Math" panose="02040503050406030204" pitchFamily="18" charset="0"/>
                            <a:ea typeface="Cambria Math" panose="02040503050406030204" pitchFamily="18" charset="0"/>
                            <a:sym typeface="Nunito 1 Bold"/>
                          </a:rPr>
                          <m:t>𝐾𝑏</m:t>
                        </m:r>
                        <m:r>
                          <a:rPr lang="en-PH" sz="3000" b="0" i="1" smtClean="0">
                            <a:solidFill>
                              <a:srgbClr val="000000"/>
                            </a:solidFill>
                            <a:latin typeface="Cambria Math" panose="02040503050406030204" pitchFamily="18" charset="0"/>
                            <a:ea typeface="Cambria Math" panose="02040503050406030204" pitchFamily="18" charset="0"/>
                            <a:sym typeface="Nunito 1 Bold"/>
                          </a:rPr>
                          <m:t>(</m:t>
                        </m:r>
                        <m:r>
                          <a:rPr lang="en-PH" sz="3000" b="0" i="1" smtClean="0">
                            <a:solidFill>
                              <a:srgbClr val="000000"/>
                            </a:solidFill>
                            <a:latin typeface="Cambria Math" panose="02040503050406030204" pitchFamily="18" charset="0"/>
                            <a:ea typeface="Cambria Math" panose="02040503050406030204" pitchFamily="18" charset="0"/>
                            <a:sym typeface="Nunito 1 Bold"/>
                          </a:rPr>
                          <m:t>𝐻</m:t>
                        </m:r>
                        <m:r>
                          <a:rPr lang="en-PH" sz="3000" b="0" i="1" smtClean="0">
                            <a:solidFill>
                              <a:srgbClr val="000000"/>
                            </a:solidFill>
                            <a:latin typeface="Cambria Math" panose="02040503050406030204" pitchFamily="18" charset="0"/>
                            <a:ea typeface="Cambria Math" panose="02040503050406030204" pitchFamily="18" charset="0"/>
                            <a:sym typeface="Nunito 1 Bold"/>
                          </a:rPr>
                          <m:t>−</m:t>
                        </m:r>
                        <m:r>
                          <a:rPr lang="en-PH" sz="3000" b="0" i="1" smtClean="0">
                            <a:solidFill>
                              <a:srgbClr val="000000"/>
                            </a:solidFill>
                            <a:latin typeface="Cambria Math" panose="02040503050406030204" pitchFamily="18" charset="0"/>
                            <a:ea typeface="Cambria Math" panose="02040503050406030204" pitchFamily="18" charset="0"/>
                            <a:sym typeface="Nunito 1 Bold"/>
                          </a:rPr>
                          <m:t>h𝑤</m:t>
                        </m:r>
                        <m:r>
                          <a:rPr lang="en-PH" sz="3000" b="0" i="1" smtClean="0">
                            <a:solidFill>
                              <a:srgbClr val="000000"/>
                            </a:solidFill>
                            <a:latin typeface="Cambria Math" panose="02040503050406030204" pitchFamily="18" charset="0"/>
                            <a:ea typeface="Cambria Math" panose="02040503050406030204" pitchFamily="18" charset="0"/>
                            <a:sym typeface="Nunito 1 Bold"/>
                          </a:rPr>
                          <m:t>)</m:t>
                        </m:r>
                      </m:num>
                      <m:den>
                        <m:r>
                          <a:rPr lang="en-PH" sz="3000" b="0" i="1" smtClean="0">
                            <a:solidFill>
                              <a:srgbClr val="000000"/>
                            </a:solidFill>
                            <a:latin typeface="Cambria Math" panose="02040503050406030204" pitchFamily="18" charset="0"/>
                            <a:sym typeface="Nunito 1 Bold"/>
                          </a:rPr>
                          <m:t>𝑙𝑛</m:t>
                        </m:r>
                        <m:d>
                          <m:dPr>
                            <m:ctrlPr>
                              <a:rPr lang="en-PH" sz="3000" b="0" i="1" smtClean="0">
                                <a:solidFill>
                                  <a:srgbClr val="000000"/>
                                </a:solidFill>
                                <a:latin typeface="Cambria Math" panose="02040503050406030204" pitchFamily="18" charset="0"/>
                                <a:sym typeface="Nunito 1 Bold"/>
                              </a:rPr>
                            </m:ctrlPr>
                          </m:dPr>
                          <m:e>
                            <m:f>
                              <m:fPr>
                                <m:ctrlPr>
                                  <a:rPr lang="en-PH" sz="3000" b="0" i="1" smtClean="0">
                                    <a:solidFill>
                                      <a:srgbClr val="000000"/>
                                    </a:solidFill>
                                    <a:latin typeface="Cambria Math" panose="02040503050406030204" pitchFamily="18" charset="0"/>
                                    <a:sym typeface="Nunito 1 Bold"/>
                                  </a:rPr>
                                </m:ctrlPr>
                              </m:fPr>
                              <m:num>
                                <m:r>
                                  <a:rPr lang="en-PH" sz="3000" i="1" smtClean="0">
                                    <a:solidFill>
                                      <a:srgbClr val="000000"/>
                                    </a:solidFill>
                                    <a:latin typeface="Cambria Math" panose="02040503050406030204" pitchFamily="18" charset="0"/>
                                    <a:sym typeface="Nunito 1 Bold"/>
                                  </a:rPr>
                                  <m:t>𝑅</m:t>
                                </m:r>
                              </m:num>
                              <m:den>
                                <m:sSub>
                                  <m:sSubPr>
                                    <m:ctrlPr>
                                      <a:rPr lang="en-PH" sz="3000" b="0" i="1" smtClean="0">
                                        <a:solidFill>
                                          <a:srgbClr val="000000"/>
                                        </a:solidFill>
                                        <a:latin typeface="Cambria Math" panose="02040503050406030204" pitchFamily="18" charset="0"/>
                                        <a:sym typeface="Nunito 1 Bold"/>
                                      </a:rPr>
                                    </m:ctrlPr>
                                  </m:sSubPr>
                                  <m:e>
                                    <m:r>
                                      <a:rPr lang="en-PH" sz="3000" b="0" i="1" smtClean="0">
                                        <a:solidFill>
                                          <a:srgbClr val="000000"/>
                                        </a:solidFill>
                                        <a:latin typeface="Cambria Math" panose="02040503050406030204" pitchFamily="18" charset="0"/>
                                        <a:sym typeface="Nunito 1 Bold"/>
                                      </a:rPr>
                                      <m:t>𝑟</m:t>
                                    </m:r>
                                  </m:e>
                                  <m:sub>
                                    <m:r>
                                      <a:rPr lang="en-PH" sz="3000" b="0" i="1" smtClean="0">
                                        <a:solidFill>
                                          <a:srgbClr val="000000"/>
                                        </a:solidFill>
                                        <a:latin typeface="Cambria Math" panose="02040503050406030204" pitchFamily="18" charset="0"/>
                                        <a:sym typeface="Nunito 1 Bold"/>
                                      </a:rPr>
                                      <m:t>𝑤</m:t>
                                    </m:r>
                                  </m:sub>
                                </m:sSub>
                              </m:den>
                            </m:f>
                          </m:e>
                        </m:d>
                      </m:den>
                    </m:f>
                  </m:oMath>
                </a14:m>
                <a:r>
                  <a:rPr lang="en-US" sz="3000" dirty="0">
                    <a:solidFill>
                      <a:srgbClr val="000000"/>
                    </a:solidFill>
                    <a:latin typeface="Nunito 1" panose="020B0604020202020204" charset="0"/>
                    <a:ea typeface="Nunito 1 Bold"/>
                    <a:cs typeface="Nunito 1 Bold"/>
                    <a:sym typeface="Nunito 1 Bold"/>
                  </a:rPr>
                  <a:t>		</a:t>
                </a:r>
                <a:r>
                  <a:rPr lang="en-US" sz="2400" dirty="0">
                    <a:solidFill>
                      <a:srgbClr val="000000"/>
                    </a:solidFill>
                    <a:latin typeface="Nunito 1" panose="020B0604020202020204" charset="0"/>
                    <a:ea typeface="Nunito 1 Bold"/>
                    <a:cs typeface="Nunito 1 Bold"/>
                    <a:sym typeface="Nunito 1 Bold"/>
                  </a:rPr>
                  <a:t> For unconfined aquifer:		Q =</a:t>
                </a:r>
                <a:r>
                  <a:rPr lang="en-US" sz="3000" dirty="0">
                    <a:solidFill>
                      <a:srgbClr val="000000"/>
                    </a:solidFill>
                    <a:latin typeface="Nunito 1" panose="020B0604020202020204" charset="0"/>
                    <a:ea typeface="Nunito 1 Bold"/>
                    <a:cs typeface="Nunito 1 Bold"/>
                    <a:sym typeface="Nunito 1 Bold"/>
                  </a:rPr>
                  <a:t> </a:t>
                </a:r>
                <a14:m>
                  <m:oMath xmlns:m="http://schemas.openxmlformats.org/officeDocument/2006/math">
                    <m:f>
                      <m:fPr>
                        <m:ctrlPr>
                          <a:rPr lang="en-US" sz="3000" i="1">
                            <a:solidFill>
                              <a:srgbClr val="000000"/>
                            </a:solidFill>
                            <a:latin typeface="Cambria Math" panose="02040503050406030204" pitchFamily="18" charset="0"/>
                            <a:sym typeface="Nunito 1 Bold"/>
                          </a:rPr>
                        </m:ctrlPr>
                      </m:fPr>
                      <m:num>
                        <m:r>
                          <a:rPr lang="en-PH" sz="3000" i="1">
                            <a:solidFill>
                              <a:srgbClr val="000000"/>
                            </a:solidFill>
                            <a:latin typeface="Cambria Math" panose="02040503050406030204" pitchFamily="18" charset="0"/>
                            <a:sym typeface="Nunito 1 Bold"/>
                          </a:rPr>
                          <m:t>2</m:t>
                        </m:r>
                        <m:r>
                          <a:rPr lang="en-US" sz="3000" i="1">
                            <a:solidFill>
                              <a:srgbClr val="000000"/>
                            </a:solidFill>
                            <a:latin typeface="Cambria Math" panose="02040503050406030204" pitchFamily="18" charset="0"/>
                            <a:ea typeface="Cambria Math" panose="02040503050406030204" pitchFamily="18" charset="0"/>
                            <a:sym typeface="Nunito 1 Bold"/>
                          </a:rPr>
                          <m:t>𝜋</m:t>
                        </m:r>
                        <m:r>
                          <a:rPr lang="en-PH" sz="3000" b="0" i="1" smtClean="0">
                            <a:solidFill>
                              <a:srgbClr val="000000"/>
                            </a:solidFill>
                            <a:latin typeface="Cambria Math" panose="02040503050406030204" pitchFamily="18" charset="0"/>
                            <a:sym typeface="Nunito 1 Bold"/>
                          </a:rPr>
                          <m:t>𝐾𝐻</m:t>
                        </m:r>
                        <m:r>
                          <a:rPr lang="en-PH" sz="3000" i="1">
                            <a:solidFill>
                              <a:srgbClr val="000000"/>
                            </a:solidFill>
                            <a:latin typeface="Cambria Math" panose="02040503050406030204" pitchFamily="18" charset="0"/>
                            <a:ea typeface="Cambria Math" panose="02040503050406030204" pitchFamily="18" charset="0"/>
                            <a:sym typeface="Nunito 1 Bold"/>
                          </a:rPr>
                          <m:t>(</m:t>
                        </m:r>
                        <m:r>
                          <a:rPr lang="en-PH" sz="3000" i="1">
                            <a:solidFill>
                              <a:srgbClr val="000000"/>
                            </a:solidFill>
                            <a:latin typeface="Cambria Math" panose="02040503050406030204" pitchFamily="18" charset="0"/>
                            <a:ea typeface="Cambria Math" panose="02040503050406030204" pitchFamily="18" charset="0"/>
                            <a:sym typeface="Nunito 1 Bold"/>
                          </a:rPr>
                          <m:t>𝐻</m:t>
                        </m:r>
                        <m:r>
                          <a:rPr lang="en-PH" sz="3000" i="1">
                            <a:solidFill>
                              <a:srgbClr val="000000"/>
                            </a:solidFill>
                            <a:latin typeface="Cambria Math" panose="02040503050406030204" pitchFamily="18" charset="0"/>
                            <a:ea typeface="Cambria Math" panose="02040503050406030204" pitchFamily="18" charset="0"/>
                            <a:sym typeface="Nunito 1 Bold"/>
                          </a:rPr>
                          <m:t>−</m:t>
                        </m:r>
                        <m:r>
                          <a:rPr lang="en-PH" sz="3000" i="1">
                            <a:solidFill>
                              <a:srgbClr val="000000"/>
                            </a:solidFill>
                            <a:latin typeface="Cambria Math" panose="02040503050406030204" pitchFamily="18" charset="0"/>
                            <a:ea typeface="Cambria Math" panose="02040503050406030204" pitchFamily="18" charset="0"/>
                            <a:sym typeface="Nunito 1 Bold"/>
                          </a:rPr>
                          <m:t>h𝑤</m:t>
                        </m:r>
                        <m:r>
                          <a:rPr lang="en-PH" sz="3000" i="1">
                            <a:solidFill>
                              <a:srgbClr val="000000"/>
                            </a:solidFill>
                            <a:latin typeface="Cambria Math" panose="02040503050406030204" pitchFamily="18" charset="0"/>
                            <a:ea typeface="Cambria Math" panose="02040503050406030204" pitchFamily="18" charset="0"/>
                            <a:sym typeface="Nunito 1 Bold"/>
                          </a:rPr>
                          <m:t>)</m:t>
                        </m:r>
                      </m:num>
                      <m:den>
                        <m:r>
                          <a:rPr lang="en-PH" sz="3000" i="1">
                            <a:solidFill>
                              <a:srgbClr val="000000"/>
                            </a:solidFill>
                            <a:latin typeface="Cambria Math" panose="02040503050406030204" pitchFamily="18" charset="0"/>
                            <a:sym typeface="Nunito 1 Bold"/>
                          </a:rPr>
                          <m:t>𝑙𝑛</m:t>
                        </m:r>
                        <m:d>
                          <m:dPr>
                            <m:ctrlPr>
                              <a:rPr lang="en-PH" sz="3000" i="1">
                                <a:solidFill>
                                  <a:srgbClr val="000000"/>
                                </a:solidFill>
                                <a:latin typeface="Cambria Math" panose="02040503050406030204" pitchFamily="18" charset="0"/>
                                <a:sym typeface="Nunito 1 Bold"/>
                              </a:rPr>
                            </m:ctrlPr>
                          </m:dPr>
                          <m:e>
                            <m:f>
                              <m:fPr>
                                <m:ctrlPr>
                                  <a:rPr lang="en-PH" sz="3000" i="1">
                                    <a:solidFill>
                                      <a:srgbClr val="000000"/>
                                    </a:solidFill>
                                    <a:latin typeface="Cambria Math" panose="02040503050406030204" pitchFamily="18" charset="0"/>
                                    <a:sym typeface="Nunito 1 Bold"/>
                                  </a:rPr>
                                </m:ctrlPr>
                              </m:fPr>
                              <m:num>
                                <m:r>
                                  <a:rPr lang="en-PH" sz="3000" i="1">
                                    <a:solidFill>
                                      <a:srgbClr val="000000"/>
                                    </a:solidFill>
                                    <a:latin typeface="Cambria Math" panose="02040503050406030204" pitchFamily="18" charset="0"/>
                                    <a:sym typeface="Nunito 1 Bold"/>
                                  </a:rPr>
                                  <m:t>𝑅</m:t>
                                </m:r>
                              </m:num>
                              <m:den>
                                <m:sSub>
                                  <m:sSubPr>
                                    <m:ctrlPr>
                                      <a:rPr lang="en-PH" sz="3000" i="1">
                                        <a:solidFill>
                                          <a:srgbClr val="000000"/>
                                        </a:solidFill>
                                        <a:latin typeface="Cambria Math" panose="02040503050406030204" pitchFamily="18" charset="0"/>
                                        <a:sym typeface="Nunito 1 Bold"/>
                                      </a:rPr>
                                    </m:ctrlPr>
                                  </m:sSubPr>
                                  <m:e>
                                    <m:r>
                                      <a:rPr lang="en-PH" sz="3000" i="1">
                                        <a:solidFill>
                                          <a:srgbClr val="000000"/>
                                        </a:solidFill>
                                        <a:latin typeface="Cambria Math" panose="02040503050406030204" pitchFamily="18" charset="0"/>
                                        <a:sym typeface="Nunito 1 Bold"/>
                                      </a:rPr>
                                      <m:t>𝑟</m:t>
                                    </m:r>
                                  </m:e>
                                  <m:sub>
                                    <m:r>
                                      <a:rPr lang="en-PH" sz="3000" i="1">
                                        <a:solidFill>
                                          <a:srgbClr val="000000"/>
                                        </a:solidFill>
                                        <a:latin typeface="Cambria Math" panose="02040503050406030204" pitchFamily="18" charset="0"/>
                                        <a:sym typeface="Nunito 1 Bold"/>
                                      </a:rPr>
                                      <m:t>𝑤</m:t>
                                    </m:r>
                                  </m:sub>
                                </m:sSub>
                              </m:den>
                            </m:f>
                          </m:e>
                        </m:d>
                      </m:den>
                    </m:f>
                  </m:oMath>
                </a14:m>
                <a:endParaRPr lang="en-US" sz="3000" dirty="0">
                  <a:solidFill>
                    <a:srgbClr val="000000"/>
                  </a:solidFill>
                  <a:latin typeface="Nunito 1" panose="020B0604020202020204" charset="0"/>
                  <a:ea typeface="Nunito 1 Bold"/>
                  <a:cs typeface="Nunito 1 Bold"/>
                  <a:sym typeface="Nunito 1 Bold"/>
                </a:endParaRPr>
              </a:p>
              <a:p>
                <a:pPr algn="just"/>
                <a:endParaRPr lang="en-US" sz="2400" dirty="0">
                  <a:solidFill>
                    <a:srgbClr val="000000"/>
                  </a:solidFill>
                  <a:latin typeface="Nunito 1" panose="020B0604020202020204" charset="0"/>
                  <a:ea typeface="Nunito 1 Bold"/>
                  <a:cs typeface="Nunito 1 Bold"/>
                  <a:sym typeface="Nunito 1 Bold"/>
                </a:endParaRPr>
              </a:p>
            </p:txBody>
          </p:sp>
        </mc:Choice>
        <mc:Fallback xmlns="">
          <p:sp>
            <p:nvSpPr>
              <p:cNvPr id="17" name="TextBox 16">
                <a:extLst>
                  <a:ext uri="{FF2B5EF4-FFF2-40B4-BE49-F238E27FC236}">
                    <a16:creationId xmlns:a16="http://schemas.microsoft.com/office/drawing/2014/main" id="{E512EDE3-A6E0-BB53-33E6-F817964F160B}"/>
                  </a:ext>
                </a:extLst>
              </p:cNvPr>
              <p:cNvSpPr txBox="1">
                <a:spLocks noRot="1" noChangeAspect="1" noMove="1" noResize="1" noEditPoints="1" noAdjustHandles="1" noChangeArrowheads="1" noChangeShapeType="1" noTextEdit="1"/>
              </p:cNvSpPr>
              <p:nvPr/>
            </p:nvSpPr>
            <p:spPr>
              <a:xfrm>
                <a:off x="1676399" y="5504742"/>
                <a:ext cx="14935200" cy="3176703"/>
              </a:xfrm>
              <a:prstGeom prst="rect">
                <a:avLst/>
              </a:prstGeom>
              <a:blipFill>
                <a:blip r:embed="rId2"/>
                <a:stretch>
                  <a:fillRect l="-1224"/>
                </a:stretch>
              </a:blipFill>
            </p:spPr>
            <p:txBody>
              <a:bodyPr/>
              <a:lstStyle/>
              <a:p>
                <a:r>
                  <a:rPr lang="en-PH">
                    <a:noFill/>
                  </a:rPr>
                  <a:t> </a:t>
                </a:r>
              </a:p>
            </p:txBody>
          </p:sp>
        </mc:Fallback>
      </mc:AlternateContent>
      <p:grpSp>
        <p:nvGrpSpPr>
          <p:cNvPr id="20" name="Group 19">
            <a:extLst>
              <a:ext uri="{FF2B5EF4-FFF2-40B4-BE49-F238E27FC236}">
                <a16:creationId xmlns:a16="http://schemas.microsoft.com/office/drawing/2014/main" id="{99C8437D-A0B0-AA06-E2DB-BF16F17095D2}"/>
              </a:ext>
            </a:extLst>
          </p:cNvPr>
          <p:cNvGrpSpPr/>
          <p:nvPr/>
        </p:nvGrpSpPr>
        <p:grpSpPr>
          <a:xfrm>
            <a:off x="0" y="9599693"/>
            <a:ext cx="18287999" cy="687306"/>
            <a:chOff x="0" y="9599693"/>
            <a:chExt cx="18287999" cy="687306"/>
          </a:xfrm>
        </p:grpSpPr>
        <p:grpSp>
          <p:nvGrpSpPr>
            <p:cNvPr id="21" name="Group 11">
              <a:extLst>
                <a:ext uri="{FF2B5EF4-FFF2-40B4-BE49-F238E27FC236}">
                  <a16:creationId xmlns:a16="http://schemas.microsoft.com/office/drawing/2014/main" id="{A741F4E4-899F-E780-A19C-E308A6F6FCF9}"/>
                </a:ext>
              </a:extLst>
            </p:cNvPr>
            <p:cNvGrpSpPr/>
            <p:nvPr/>
          </p:nvGrpSpPr>
          <p:grpSpPr>
            <a:xfrm>
              <a:off x="0" y="9599694"/>
              <a:ext cx="18287999" cy="687305"/>
              <a:chOff x="0" y="0"/>
              <a:chExt cx="5260714" cy="490218"/>
            </a:xfrm>
          </p:grpSpPr>
          <p:sp>
            <p:nvSpPr>
              <p:cNvPr id="28" name="Freeform 12">
                <a:extLst>
                  <a:ext uri="{FF2B5EF4-FFF2-40B4-BE49-F238E27FC236}">
                    <a16:creationId xmlns:a16="http://schemas.microsoft.com/office/drawing/2014/main" id="{44F939FB-F197-6400-EFA5-2AD99F9F8DD2}"/>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9" name="TextBox 13">
                <a:extLst>
                  <a:ext uri="{FF2B5EF4-FFF2-40B4-BE49-F238E27FC236}">
                    <a16:creationId xmlns:a16="http://schemas.microsoft.com/office/drawing/2014/main" id="{DF21FDDD-F5DF-5EB7-A11A-183F97E16E8A}"/>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12">
              <a:extLst>
                <a:ext uri="{FF2B5EF4-FFF2-40B4-BE49-F238E27FC236}">
                  <a16:creationId xmlns:a16="http://schemas.microsoft.com/office/drawing/2014/main" id="{39713915-3F59-6B1A-73FF-4830709F3E00}"/>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7" name="TextBox 13">
              <a:extLst>
                <a:ext uri="{FF2B5EF4-FFF2-40B4-BE49-F238E27FC236}">
                  <a16:creationId xmlns:a16="http://schemas.microsoft.com/office/drawing/2014/main" id="{65728363-F3E8-68E9-0CFD-2C51FCF0DEEF}"/>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spTree>
    <p:extLst>
      <p:ext uri="{BB962C8B-B14F-4D97-AF65-F5344CB8AC3E}">
        <p14:creationId xmlns:p14="http://schemas.microsoft.com/office/powerpoint/2010/main" val="1991579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A6E87-1969-5E79-A553-880A55E1949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3756814-48D7-EA89-7566-E8C2426BC159}"/>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6BB1C53C-C226-5D78-585D-6AEA473A34EC}"/>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0041279E-A904-F449-0C94-B0692342C0E3}"/>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76710822-12D5-5F73-88BA-7C95BA5D9E53}"/>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5BFC099E-4E83-D254-3C0B-02360FF1A640}"/>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64B66DD3-3FE5-3EEF-850B-9DE4CB81DA54}"/>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E3592F30-06B7-13C7-72C3-03AE32D0E371}"/>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327C4390-9B41-58AA-A90A-83CCDE635D1A}"/>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5F48D932-76E2-9ACD-9E3C-97B8C0AA60FF}"/>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C0A8E25A-724B-6385-4716-0D1651D5C2BF}"/>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782EBA5E-2675-F5F3-F735-6D6F1AE4BF03}"/>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D1EB2876-3824-6DCA-6598-F29681301D4A}"/>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88667C1A-49A0-CD42-BFC1-7618906E24FE}"/>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15</a:t>
            </a:r>
          </a:p>
        </p:txBody>
      </p:sp>
      <p:sp>
        <p:nvSpPr>
          <p:cNvPr id="15" name="TextBox 15">
            <a:extLst>
              <a:ext uri="{FF2B5EF4-FFF2-40B4-BE49-F238E27FC236}">
                <a16:creationId xmlns:a16="http://schemas.microsoft.com/office/drawing/2014/main" id="{4F56A39B-55F8-51FB-20A1-BA5B898CCFCF}"/>
              </a:ext>
            </a:extLst>
          </p:cNvPr>
          <p:cNvSpPr txBox="1"/>
          <p:nvPr/>
        </p:nvSpPr>
        <p:spPr>
          <a:xfrm>
            <a:off x="2246041" y="2025065"/>
            <a:ext cx="13795916" cy="1477328"/>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A 20-cm well penetrates 30-m below static water level (ground water table level). After a long period of pumping at a rate of 1800 </a:t>
            </a:r>
            <a:r>
              <a:rPr lang="en-US" sz="2400" b="1" dirty="0" err="1">
                <a:solidFill>
                  <a:srgbClr val="000000"/>
                </a:solidFill>
                <a:latin typeface="Nunito 1 Bold"/>
                <a:ea typeface="Nunito 1 Bold"/>
                <a:cs typeface="Nunito 1 Bold"/>
                <a:sym typeface="Nunito 1 Bold"/>
              </a:rPr>
              <a:t>Ipm</a:t>
            </a:r>
            <a:r>
              <a:rPr lang="en-US" sz="2400" b="1" dirty="0">
                <a:solidFill>
                  <a:srgbClr val="000000"/>
                </a:solidFill>
                <a:latin typeface="Nunito 1 Bold"/>
                <a:ea typeface="Nunito 1 Bold"/>
                <a:cs typeface="Nunito 1 Bold"/>
                <a:sym typeface="Nunito 1 Bold"/>
              </a:rPr>
              <a:t>, the drawdowns in the observation wells at 12m and 36 m from the pumped well are 1.2m and 0.5m, respectively. Calculate the transmissibility of the aquifer.</a:t>
            </a:r>
          </a:p>
        </p:txBody>
      </p:sp>
      <p:sp>
        <p:nvSpPr>
          <p:cNvPr id="19" name="TextBox 12">
            <a:extLst>
              <a:ext uri="{FF2B5EF4-FFF2-40B4-BE49-F238E27FC236}">
                <a16:creationId xmlns:a16="http://schemas.microsoft.com/office/drawing/2014/main" id="{A2A66A92-6F17-0580-F63D-49DE1775E95C}"/>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6C733466-DF74-9BBE-E007-5F2F5CF7D14A}"/>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9B30B128-0C40-FF90-AFF2-B4D9DDA88501}"/>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183109D1-EFC6-A82C-E7C0-F4FAA446ACD3}"/>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FD77F3AF-08E5-72A1-3820-A482589A9687}"/>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https://chem.libretexts.org/Courses/University_of_Arkansas_Little_Rock/Chem_1402%3A_General_Chemistry_1_(Kattoum)</a:t>
            </a:r>
          </a:p>
        </p:txBody>
      </p:sp>
      <p:sp>
        <p:nvSpPr>
          <p:cNvPr id="16" name="TextBox 15">
            <a:extLst>
              <a:ext uri="{FF2B5EF4-FFF2-40B4-BE49-F238E27FC236}">
                <a16:creationId xmlns:a16="http://schemas.microsoft.com/office/drawing/2014/main" id="{EFC145AD-DD92-B055-8CBE-F45A459DFEFF}"/>
              </a:ext>
            </a:extLst>
          </p:cNvPr>
          <p:cNvSpPr txBox="1"/>
          <p:nvPr/>
        </p:nvSpPr>
        <p:spPr>
          <a:xfrm>
            <a:off x="1676400" y="4641126"/>
            <a:ext cx="14935200" cy="369332"/>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Ans.: 666.3m</a:t>
            </a:r>
            <a:r>
              <a:rPr lang="en-US" sz="2400" baseline="30000" dirty="0">
                <a:solidFill>
                  <a:srgbClr val="000000"/>
                </a:solidFill>
                <a:latin typeface="Nunito 1" panose="020B0604020202020204" charset="0"/>
                <a:ea typeface="Nunito 1 Bold"/>
                <a:cs typeface="Nunito 1 Bold"/>
                <a:sym typeface="Nunito 1 Bold"/>
              </a:rPr>
              <a:t>2</a:t>
            </a:r>
            <a:r>
              <a:rPr lang="en-US" sz="2400" dirty="0">
                <a:solidFill>
                  <a:srgbClr val="000000"/>
                </a:solidFill>
                <a:latin typeface="Nunito 1" panose="020B0604020202020204" charset="0"/>
                <a:ea typeface="Nunito 1 Bold"/>
                <a:cs typeface="Nunito 1 Bold"/>
                <a:sym typeface="Nunito 1 Bold"/>
              </a:rPr>
              <a:t>/day</a:t>
            </a:r>
          </a:p>
        </p:txBody>
      </p:sp>
      <p:sp>
        <p:nvSpPr>
          <p:cNvPr id="18" name="TextBox 13">
            <a:extLst>
              <a:ext uri="{FF2B5EF4-FFF2-40B4-BE49-F238E27FC236}">
                <a16:creationId xmlns:a16="http://schemas.microsoft.com/office/drawing/2014/main" id="{66F0968C-C7DF-DCEF-C6FF-0424471A901B}"/>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5F0808DD-B62E-6739-59F8-D8159FAC59C8}"/>
                  </a:ext>
                </a:extLst>
              </p:cNvPr>
              <p:cNvSpPr txBox="1"/>
              <p:nvPr/>
            </p:nvSpPr>
            <p:spPr>
              <a:xfrm>
                <a:off x="1676400" y="5504742"/>
                <a:ext cx="14935200" cy="3176703"/>
              </a:xfrm>
              <a:prstGeom prst="rect">
                <a:avLst/>
              </a:prstGeom>
            </p:spPr>
            <p:txBody>
              <a:bodyPr wrap="square" lIns="0" tIns="0" rIns="0" bIns="0" rtlCol="0" anchor="t">
                <a:spAutoFit/>
              </a:bodyPr>
              <a:lstStyle/>
              <a:p>
                <a:pPr algn="ctr"/>
                <a:r>
                  <a:rPr lang="en-US" sz="2400" dirty="0">
                    <a:solidFill>
                      <a:srgbClr val="000000"/>
                    </a:solidFill>
                    <a:latin typeface="Nunito 1" panose="020B0604020202020204" charset="0"/>
                    <a:ea typeface="Nunito 1 Bold"/>
                    <a:cs typeface="Nunito 1 Bold"/>
                    <a:sym typeface="Nunito 1 Bold"/>
                  </a:rPr>
                  <a:t>Q = </a:t>
                </a:r>
                <a14:m>
                  <m:oMath xmlns:m="http://schemas.openxmlformats.org/officeDocument/2006/math">
                    <m:f>
                      <m:fPr>
                        <m:ctrlPr>
                          <a:rPr lang="en-US" sz="3000" i="1" smtClean="0">
                            <a:solidFill>
                              <a:srgbClr val="000000"/>
                            </a:solidFill>
                            <a:latin typeface="Cambria Math" panose="02040503050406030204" pitchFamily="18" charset="0"/>
                            <a:sym typeface="Nunito 1 Bold"/>
                          </a:rPr>
                        </m:ctrlPr>
                      </m:fPr>
                      <m:num>
                        <m:r>
                          <a:rPr lang="en-US" sz="3000" i="1" smtClean="0">
                            <a:solidFill>
                              <a:srgbClr val="000000"/>
                            </a:solidFill>
                            <a:latin typeface="Cambria Math" panose="02040503050406030204" pitchFamily="18" charset="0"/>
                            <a:ea typeface="Cambria Math" panose="02040503050406030204" pitchFamily="18" charset="0"/>
                            <a:sym typeface="Nunito 1 Bold"/>
                          </a:rPr>
                          <m:t>𝜋</m:t>
                        </m:r>
                        <m:r>
                          <a:rPr lang="en-PH" sz="3000" b="0" i="1" smtClean="0">
                            <a:solidFill>
                              <a:srgbClr val="000000"/>
                            </a:solidFill>
                            <a:latin typeface="Cambria Math" panose="02040503050406030204" pitchFamily="18" charset="0"/>
                            <a:ea typeface="Cambria Math" panose="02040503050406030204" pitchFamily="18" charset="0"/>
                            <a:sym typeface="Nunito 1 Bold"/>
                          </a:rPr>
                          <m:t>𝐾</m:t>
                        </m:r>
                        <m:r>
                          <a:rPr lang="en-PH" sz="3000" b="0" i="1" smtClean="0">
                            <a:solidFill>
                              <a:srgbClr val="000000"/>
                            </a:solidFill>
                            <a:latin typeface="Cambria Math" panose="02040503050406030204" pitchFamily="18" charset="0"/>
                            <a:ea typeface="Cambria Math" panose="02040503050406030204" pitchFamily="18" charset="0"/>
                            <a:sym typeface="Nunito 1 Bold"/>
                          </a:rPr>
                          <m:t>(</m:t>
                        </m:r>
                        <m:sSubSup>
                          <m:sSubSupPr>
                            <m:ctrlPr>
                              <a:rPr lang="en-PH" sz="3000" b="0" i="1" smtClean="0">
                                <a:solidFill>
                                  <a:srgbClr val="000000"/>
                                </a:solidFill>
                                <a:latin typeface="Cambria Math" panose="02040503050406030204" pitchFamily="18" charset="0"/>
                                <a:ea typeface="Cambria Math" panose="02040503050406030204" pitchFamily="18" charset="0"/>
                                <a:sym typeface="Nunito 1 Bold"/>
                              </a:rPr>
                            </m:ctrlPr>
                          </m:sSubSupPr>
                          <m:e>
                            <m:r>
                              <a:rPr lang="en-PH" sz="3000" b="0" i="1" smtClean="0">
                                <a:solidFill>
                                  <a:srgbClr val="000000"/>
                                </a:solidFill>
                                <a:latin typeface="Cambria Math" panose="02040503050406030204" pitchFamily="18" charset="0"/>
                                <a:ea typeface="Cambria Math" panose="02040503050406030204" pitchFamily="18" charset="0"/>
                                <a:sym typeface="Nunito 1 Bold"/>
                              </a:rPr>
                              <m:t>h</m:t>
                            </m:r>
                          </m:e>
                          <m:sub>
                            <m:r>
                              <a:rPr lang="en-PH" sz="3000" b="0" i="1" smtClean="0">
                                <a:solidFill>
                                  <a:srgbClr val="000000"/>
                                </a:solidFill>
                                <a:latin typeface="Cambria Math" panose="02040503050406030204" pitchFamily="18" charset="0"/>
                                <a:ea typeface="Cambria Math" panose="02040503050406030204" pitchFamily="18" charset="0"/>
                                <a:sym typeface="Nunito 1 Bold"/>
                              </a:rPr>
                              <m:t>2</m:t>
                            </m:r>
                          </m:sub>
                          <m:sup>
                            <m:r>
                              <a:rPr lang="en-PH" sz="3000" b="0" i="1" smtClean="0">
                                <a:solidFill>
                                  <a:srgbClr val="000000"/>
                                </a:solidFill>
                                <a:latin typeface="Cambria Math" panose="02040503050406030204" pitchFamily="18" charset="0"/>
                                <a:ea typeface="Cambria Math" panose="02040503050406030204" pitchFamily="18" charset="0"/>
                                <a:sym typeface="Nunito 1 Bold"/>
                              </a:rPr>
                              <m:t>2</m:t>
                            </m:r>
                          </m:sup>
                        </m:sSubSup>
                        <m:r>
                          <a:rPr lang="en-PH" sz="3000" b="0" i="1" smtClean="0">
                            <a:solidFill>
                              <a:srgbClr val="000000"/>
                            </a:solidFill>
                            <a:latin typeface="Cambria Math" panose="02040503050406030204" pitchFamily="18" charset="0"/>
                            <a:ea typeface="Cambria Math" panose="02040503050406030204" pitchFamily="18" charset="0"/>
                            <a:sym typeface="Nunito 1 Bold"/>
                          </a:rPr>
                          <m:t>−</m:t>
                        </m:r>
                        <m:sSubSup>
                          <m:sSubSupPr>
                            <m:ctrlPr>
                              <a:rPr lang="en-PH" sz="3000" i="1">
                                <a:solidFill>
                                  <a:srgbClr val="000000"/>
                                </a:solidFill>
                                <a:latin typeface="Cambria Math" panose="02040503050406030204" pitchFamily="18" charset="0"/>
                                <a:ea typeface="Cambria Math" panose="02040503050406030204" pitchFamily="18" charset="0"/>
                                <a:sym typeface="Nunito 1 Bold"/>
                              </a:rPr>
                            </m:ctrlPr>
                          </m:sSubSupPr>
                          <m:e>
                            <m:r>
                              <a:rPr lang="en-PH" sz="3000" i="1" smtClean="0">
                                <a:solidFill>
                                  <a:srgbClr val="000000"/>
                                </a:solidFill>
                                <a:latin typeface="Cambria Math" panose="02040503050406030204" pitchFamily="18" charset="0"/>
                                <a:ea typeface="Cambria Math" panose="02040503050406030204" pitchFamily="18" charset="0"/>
                                <a:sym typeface="Nunito 1 Bold"/>
                              </a:rPr>
                              <m:t>h</m:t>
                            </m:r>
                          </m:e>
                          <m:sub>
                            <m:r>
                              <a:rPr lang="en-PH" sz="3000" b="0" i="1" smtClean="0">
                                <a:solidFill>
                                  <a:srgbClr val="000000"/>
                                </a:solidFill>
                                <a:latin typeface="Cambria Math" panose="02040503050406030204" pitchFamily="18" charset="0"/>
                                <a:ea typeface="Cambria Math" panose="02040503050406030204" pitchFamily="18" charset="0"/>
                                <a:sym typeface="Nunito 1 Bold"/>
                              </a:rPr>
                              <m:t>1</m:t>
                            </m:r>
                          </m:sub>
                          <m:sup>
                            <m:r>
                              <a:rPr lang="en-PH" sz="3000" i="1" smtClean="0">
                                <a:solidFill>
                                  <a:srgbClr val="000000"/>
                                </a:solidFill>
                                <a:latin typeface="Cambria Math" panose="02040503050406030204" pitchFamily="18" charset="0"/>
                                <a:ea typeface="Cambria Math" panose="02040503050406030204" pitchFamily="18" charset="0"/>
                                <a:sym typeface="Nunito 1 Bold"/>
                              </a:rPr>
                              <m:t>2</m:t>
                            </m:r>
                          </m:sup>
                        </m:sSubSup>
                        <m:r>
                          <a:rPr lang="en-PH" sz="3000" b="0" i="1" smtClean="0">
                            <a:solidFill>
                              <a:srgbClr val="000000"/>
                            </a:solidFill>
                            <a:latin typeface="Cambria Math" panose="02040503050406030204" pitchFamily="18" charset="0"/>
                            <a:ea typeface="Cambria Math" panose="02040503050406030204" pitchFamily="18" charset="0"/>
                            <a:sym typeface="Nunito 1 Bold"/>
                          </a:rPr>
                          <m:t>)</m:t>
                        </m:r>
                      </m:num>
                      <m:den>
                        <m:r>
                          <a:rPr lang="en-PH" sz="3000" b="0" i="1" smtClean="0">
                            <a:solidFill>
                              <a:srgbClr val="000000"/>
                            </a:solidFill>
                            <a:latin typeface="Cambria Math" panose="02040503050406030204" pitchFamily="18" charset="0"/>
                            <a:sym typeface="Nunito 1 Bold"/>
                          </a:rPr>
                          <m:t>𝑙𝑛</m:t>
                        </m:r>
                        <m:d>
                          <m:dPr>
                            <m:ctrlPr>
                              <a:rPr lang="en-PH" sz="3000" b="0" i="1" smtClean="0">
                                <a:solidFill>
                                  <a:srgbClr val="000000"/>
                                </a:solidFill>
                                <a:latin typeface="Cambria Math" panose="02040503050406030204" pitchFamily="18" charset="0"/>
                                <a:sym typeface="Nunito 1 Bold"/>
                              </a:rPr>
                            </m:ctrlPr>
                          </m:dPr>
                          <m:e>
                            <m:f>
                              <m:fPr>
                                <m:ctrlPr>
                                  <a:rPr lang="en-PH" sz="3000" b="0" i="1" smtClean="0">
                                    <a:solidFill>
                                      <a:srgbClr val="000000"/>
                                    </a:solidFill>
                                    <a:latin typeface="Cambria Math" panose="02040503050406030204" pitchFamily="18" charset="0"/>
                                    <a:sym typeface="Nunito 1 Bold"/>
                                  </a:rPr>
                                </m:ctrlPr>
                              </m:fPr>
                              <m:num>
                                <m:sSub>
                                  <m:sSubPr>
                                    <m:ctrlPr>
                                      <a:rPr lang="en-PH" sz="3000" i="1">
                                        <a:solidFill>
                                          <a:srgbClr val="000000"/>
                                        </a:solidFill>
                                        <a:latin typeface="Cambria Math" panose="02040503050406030204" pitchFamily="18" charset="0"/>
                                        <a:sym typeface="Nunito 1 Bold"/>
                                      </a:rPr>
                                    </m:ctrlPr>
                                  </m:sSubPr>
                                  <m:e>
                                    <m:r>
                                      <a:rPr lang="en-PH" sz="3000" i="1" smtClean="0">
                                        <a:solidFill>
                                          <a:srgbClr val="000000"/>
                                        </a:solidFill>
                                        <a:latin typeface="Cambria Math" panose="02040503050406030204" pitchFamily="18" charset="0"/>
                                        <a:sym typeface="Nunito 1 Bold"/>
                                      </a:rPr>
                                      <m:t>𝑟</m:t>
                                    </m:r>
                                  </m:e>
                                  <m:sub>
                                    <m:r>
                                      <a:rPr lang="en-PH" sz="3000" b="0" i="1" smtClean="0">
                                        <a:solidFill>
                                          <a:srgbClr val="000000"/>
                                        </a:solidFill>
                                        <a:latin typeface="Cambria Math" panose="02040503050406030204" pitchFamily="18" charset="0"/>
                                        <a:sym typeface="Nunito 1 Bold"/>
                                      </a:rPr>
                                      <m:t>2</m:t>
                                    </m:r>
                                  </m:sub>
                                </m:sSub>
                              </m:num>
                              <m:den>
                                <m:sSub>
                                  <m:sSubPr>
                                    <m:ctrlPr>
                                      <a:rPr lang="en-PH" sz="3000" b="0" i="1" smtClean="0">
                                        <a:solidFill>
                                          <a:srgbClr val="000000"/>
                                        </a:solidFill>
                                        <a:latin typeface="Cambria Math" panose="02040503050406030204" pitchFamily="18" charset="0"/>
                                        <a:sym typeface="Nunito 1 Bold"/>
                                      </a:rPr>
                                    </m:ctrlPr>
                                  </m:sSubPr>
                                  <m:e>
                                    <m:r>
                                      <a:rPr lang="en-PH" sz="3000" b="0" i="1" smtClean="0">
                                        <a:solidFill>
                                          <a:srgbClr val="000000"/>
                                        </a:solidFill>
                                        <a:latin typeface="Cambria Math" panose="02040503050406030204" pitchFamily="18" charset="0"/>
                                        <a:sym typeface="Nunito 1 Bold"/>
                                      </a:rPr>
                                      <m:t>𝑟</m:t>
                                    </m:r>
                                  </m:e>
                                  <m:sub>
                                    <m:r>
                                      <a:rPr lang="en-PH" sz="3000" b="0" i="1" smtClean="0">
                                        <a:solidFill>
                                          <a:srgbClr val="000000"/>
                                        </a:solidFill>
                                        <a:latin typeface="Cambria Math" panose="02040503050406030204" pitchFamily="18" charset="0"/>
                                        <a:sym typeface="Nunito 1 Bold"/>
                                      </a:rPr>
                                      <m:t>1</m:t>
                                    </m:r>
                                  </m:sub>
                                </m:sSub>
                              </m:den>
                            </m:f>
                          </m:e>
                        </m:d>
                      </m:den>
                    </m:f>
                  </m:oMath>
                </a14:m>
                <a:endParaRPr lang="en-US" sz="3000" dirty="0">
                  <a:solidFill>
                    <a:srgbClr val="000000"/>
                  </a:solidFill>
                  <a:latin typeface="Nunito 1" panose="020B0604020202020204" charset="0"/>
                  <a:ea typeface="Nunito 1 Bold"/>
                  <a:cs typeface="Nunito 1 Bold"/>
                  <a:sym typeface="Nunito 1 Bold"/>
                </a:endParaRPr>
              </a:p>
              <a:p>
                <a:pPr algn="just"/>
                <a:endParaRPr lang="en-US" sz="3000" dirty="0">
                  <a:solidFill>
                    <a:srgbClr val="000000"/>
                  </a:solidFill>
                  <a:latin typeface="Nunito 1" panose="020B0604020202020204" charset="0"/>
                  <a:ea typeface="Nunito 1 Bold"/>
                  <a:cs typeface="Nunito 1 Bold"/>
                  <a:sym typeface="Nunito 1 Bold"/>
                </a:endParaRPr>
              </a:p>
              <a:p>
                <a:endParaRPr lang="en-US" sz="3000" dirty="0">
                  <a:solidFill>
                    <a:srgbClr val="000000"/>
                  </a:solidFill>
                  <a:latin typeface="Nunito 1" panose="020B0604020202020204" charset="0"/>
                  <a:ea typeface="Nunito 1 Bold"/>
                  <a:cs typeface="Nunito 1 Bold"/>
                  <a:sym typeface="Nunito 1 Bold"/>
                </a:endParaRPr>
              </a:p>
              <a:p>
                <a:r>
                  <a:rPr lang="en-US" sz="2400" dirty="0">
                    <a:solidFill>
                      <a:srgbClr val="000000"/>
                    </a:solidFill>
                    <a:latin typeface="Nunito 1" panose="020B0604020202020204" charset="0"/>
                    <a:ea typeface="Nunito 1 Bold"/>
                    <a:cs typeface="Nunito 1 Bold"/>
                    <a:sym typeface="Nunito 1 Bold"/>
                  </a:rPr>
                  <a:t>For confined aquifer:	Q =</a:t>
                </a:r>
                <a:r>
                  <a:rPr lang="en-US" sz="3000" dirty="0">
                    <a:solidFill>
                      <a:srgbClr val="000000"/>
                    </a:solidFill>
                    <a:latin typeface="Nunito 1" panose="020B0604020202020204" charset="0"/>
                    <a:ea typeface="Nunito 1 Bold"/>
                    <a:cs typeface="Nunito 1 Bold"/>
                    <a:sym typeface="Nunito 1 Bold"/>
                  </a:rPr>
                  <a:t> </a:t>
                </a:r>
                <a14:m>
                  <m:oMath xmlns:m="http://schemas.openxmlformats.org/officeDocument/2006/math">
                    <m:f>
                      <m:fPr>
                        <m:ctrlPr>
                          <a:rPr lang="en-US" sz="3000" i="1" smtClean="0">
                            <a:solidFill>
                              <a:srgbClr val="000000"/>
                            </a:solidFill>
                            <a:latin typeface="Cambria Math" panose="02040503050406030204" pitchFamily="18" charset="0"/>
                            <a:sym typeface="Nunito 1 Bold"/>
                          </a:rPr>
                        </m:ctrlPr>
                      </m:fPr>
                      <m:num>
                        <m:r>
                          <a:rPr lang="en-PH" sz="3000" b="0" i="1" smtClean="0">
                            <a:solidFill>
                              <a:srgbClr val="000000"/>
                            </a:solidFill>
                            <a:latin typeface="Cambria Math" panose="02040503050406030204" pitchFamily="18" charset="0"/>
                            <a:sym typeface="Nunito 1 Bold"/>
                          </a:rPr>
                          <m:t>2</m:t>
                        </m:r>
                        <m:r>
                          <a:rPr lang="en-US" sz="3000" i="1" smtClean="0">
                            <a:solidFill>
                              <a:srgbClr val="000000"/>
                            </a:solidFill>
                            <a:latin typeface="Cambria Math" panose="02040503050406030204" pitchFamily="18" charset="0"/>
                            <a:ea typeface="Cambria Math" panose="02040503050406030204" pitchFamily="18" charset="0"/>
                            <a:sym typeface="Nunito 1 Bold"/>
                          </a:rPr>
                          <m:t>𝜋</m:t>
                        </m:r>
                        <m:r>
                          <a:rPr lang="en-PH" sz="3000" b="0" i="1" smtClean="0">
                            <a:solidFill>
                              <a:srgbClr val="000000"/>
                            </a:solidFill>
                            <a:latin typeface="Cambria Math" panose="02040503050406030204" pitchFamily="18" charset="0"/>
                            <a:ea typeface="Cambria Math" panose="02040503050406030204" pitchFamily="18" charset="0"/>
                            <a:sym typeface="Nunito 1 Bold"/>
                          </a:rPr>
                          <m:t>𝐾𝑏</m:t>
                        </m:r>
                        <m:r>
                          <a:rPr lang="en-PH" sz="3000" b="0" i="1" smtClean="0">
                            <a:solidFill>
                              <a:srgbClr val="000000"/>
                            </a:solidFill>
                            <a:latin typeface="Cambria Math" panose="02040503050406030204" pitchFamily="18" charset="0"/>
                            <a:ea typeface="Cambria Math" panose="02040503050406030204" pitchFamily="18" charset="0"/>
                            <a:sym typeface="Nunito 1 Bold"/>
                          </a:rPr>
                          <m:t>(</m:t>
                        </m:r>
                        <m:r>
                          <a:rPr lang="en-PH" sz="3000" b="0" i="1" smtClean="0">
                            <a:solidFill>
                              <a:srgbClr val="000000"/>
                            </a:solidFill>
                            <a:latin typeface="Cambria Math" panose="02040503050406030204" pitchFamily="18" charset="0"/>
                            <a:ea typeface="Cambria Math" panose="02040503050406030204" pitchFamily="18" charset="0"/>
                            <a:sym typeface="Nunito 1 Bold"/>
                          </a:rPr>
                          <m:t>𝐻</m:t>
                        </m:r>
                        <m:r>
                          <a:rPr lang="en-PH" sz="3000" b="0" i="1" smtClean="0">
                            <a:solidFill>
                              <a:srgbClr val="000000"/>
                            </a:solidFill>
                            <a:latin typeface="Cambria Math" panose="02040503050406030204" pitchFamily="18" charset="0"/>
                            <a:ea typeface="Cambria Math" panose="02040503050406030204" pitchFamily="18" charset="0"/>
                            <a:sym typeface="Nunito 1 Bold"/>
                          </a:rPr>
                          <m:t>−</m:t>
                        </m:r>
                        <m:r>
                          <a:rPr lang="en-PH" sz="3000" b="0" i="1" smtClean="0">
                            <a:solidFill>
                              <a:srgbClr val="000000"/>
                            </a:solidFill>
                            <a:latin typeface="Cambria Math" panose="02040503050406030204" pitchFamily="18" charset="0"/>
                            <a:ea typeface="Cambria Math" panose="02040503050406030204" pitchFamily="18" charset="0"/>
                            <a:sym typeface="Nunito 1 Bold"/>
                          </a:rPr>
                          <m:t>h𝑤</m:t>
                        </m:r>
                        <m:r>
                          <a:rPr lang="en-PH" sz="3000" b="0" i="1" smtClean="0">
                            <a:solidFill>
                              <a:srgbClr val="000000"/>
                            </a:solidFill>
                            <a:latin typeface="Cambria Math" panose="02040503050406030204" pitchFamily="18" charset="0"/>
                            <a:ea typeface="Cambria Math" panose="02040503050406030204" pitchFamily="18" charset="0"/>
                            <a:sym typeface="Nunito 1 Bold"/>
                          </a:rPr>
                          <m:t>)</m:t>
                        </m:r>
                      </m:num>
                      <m:den>
                        <m:r>
                          <a:rPr lang="en-PH" sz="3000" b="0" i="1" smtClean="0">
                            <a:solidFill>
                              <a:srgbClr val="000000"/>
                            </a:solidFill>
                            <a:latin typeface="Cambria Math" panose="02040503050406030204" pitchFamily="18" charset="0"/>
                            <a:sym typeface="Nunito 1 Bold"/>
                          </a:rPr>
                          <m:t>𝑙𝑛</m:t>
                        </m:r>
                        <m:d>
                          <m:dPr>
                            <m:ctrlPr>
                              <a:rPr lang="en-PH" sz="3000" b="0" i="1" smtClean="0">
                                <a:solidFill>
                                  <a:srgbClr val="000000"/>
                                </a:solidFill>
                                <a:latin typeface="Cambria Math" panose="02040503050406030204" pitchFamily="18" charset="0"/>
                                <a:sym typeface="Nunito 1 Bold"/>
                              </a:rPr>
                            </m:ctrlPr>
                          </m:dPr>
                          <m:e>
                            <m:f>
                              <m:fPr>
                                <m:ctrlPr>
                                  <a:rPr lang="en-PH" sz="3000" b="0" i="1" smtClean="0">
                                    <a:solidFill>
                                      <a:srgbClr val="000000"/>
                                    </a:solidFill>
                                    <a:latin typeface="Cambria Math" panose="02040503050406030204" pitchFamily="18" charset="0"/>
                                    <a:sym typeface="Nunito 1 Bold"/>
                                  </a:rPr>
                                </m:ctrlPr>
                              </m:fPr>
                              <m:num>
                                <m:r>
                                  <a:rPr lang="en-PH" sz="3000" i="1" smtClean="0">
                                    <a:solidFill>
                                      <a:srgbClr val="000000"/>
                                    </a:solidFill>
                                    <a:latin typeface="Cambria Math" panose="02040503050406030204" pitchFamily="18" charset="0"/>
                                    <a:sym typeface="Nunito 1 Bold"/>
                                  </a:rPr>
                                  <m:t>𝑅</m:t>
                                </m:r>
                              </m:num>
                              <m:den>
                                <m:sSub>
                                  <m:sSubPr>
                                    <m:ctrlPr>
                                      <a:rPr lang="en-PH" sz="3000" b="0" i="1" smtClean="0">
                                        <a:solidFill>
                                          <a:srgbClr val="000000"/>
                                        </a:solidFill>
                                        <a:latin typeface="Cambria Math" panose="02040503050406030204" pitchFamily="18" charset="0"/>
                                        <a:sym typeface="Nunito 1 Bold"/>
                                      </a:rPr>
                                    </m:ctrlPr>
                                  </m:sSubPr>
                                  <m:e>
                                    <m:r>
                                      <a:rPr lang="en-PH" sz="3000" b="0" i="1" smtClean="0">
                                        <a:solidFill>
                                          <a:srgbClr val="000000"/>
                                        </a:solidFill>
                                        <a:latin typeface="Cambria Math" panose="02040503050406030204" pitchFamily="18" charset="0"/>
                                        <a:sym typeface="Nunito 1 Bold"/>
                                      </a:rPr>
                                      <m:t>𝑟</m:t>
                                    </m:r>
                                  </m:e>
                                  <m:sub>
                                    <m:r>
                                      <a:rPr lang="en-PH" sz="3000" b="0" i="1" smtClean="0">
                                        <a:solidFill>
                                          <a:srgbClr val="000000"/>
                                        </a:solidFill>
                                        <a:latin typeface="Cambria Math" panose="02040503050406030204" pitchFamily="18" charset="0"/>
                                        <a:sym typeface="Nunito 1 Bold"/>
                                      </a:rPr>
                                      <m:t>𝑤</m:t>
                                    </m:r>
                                  </m:sub>
                                </m:sSub>
                              </m:den>
                            </m:f>
                          </m:e>
                        </m:d>
                      </m:den>
                    </m:f>
                  </m:oMath>
                </a14:m>
                <a:r>
                  <a:rPr lang="en-US" sz="3000" dirty="0">
                    <a:solidFill>
                      <a:srgbClr val="000000"/>
                    </a:solidFill>
                    <a:latin typeface="Nunito 1" panose="020B0604020202020204" charset="0"/>
                    <a:ea typeface="Nunito 1 Bold"/>
                    <a:cs typeface="Nunito 1 Bold"/>
                    <a:sym typeface="Nunito 1 Bold"/>
                  </a:rPr>
                  <a:t>		</a:t>
                </a:r>
                <a:r>
                  <a:rPr lang="en-US" sz="2400" dirty="0">
                    <a:solidFill>
                      <a:srgbClr val="000000"/>
                    </a:solidFill>
                    <a:latin typeface="Nunito 1" panose="020B0604020202020204" charset="0"/>
                    <a:ea typeface="Nunito 1 Bold"/>
                    <a:cs typeface="Nunito 1 Bold"/>
                    <a:sym typeface="Nunito 1 Bold"/>
                  </a:rPr>
                  <a:t> For unconfined aquifer:		Q =</a:t>
                </a:r>
                <a:r>
                  <a:rPr lang="en-US" sz="3000" dirty="0">
                    <a:solidFill>
                      <a:srgbClr val="000000"/>
                    </a:solidFill>
                    <a:latin typeface="Nunito 1" panose="020B0604020202020204" charset="0"/>
                    <a:ea typeface="Nunito 1 Bold"/>
                    <a:cs typeface="Nunito 1 Bold"/>
                    <a:sym typeface="Nunito 1 Bold"/>
                  </a:rPr>
                  <a:t> </a:t>
                </a:r>
                <a14:m>
                  <m:oMath xmlns:m="http://schemas.openxmlformats.org/officeDocument/2006/math">
                    <m:f>
                      <m:fPr>
                        <m:ctrlPr>
                          <a:rPr lang="en-US" sz="3000" i="1">
                            <a:solidFill>
                              <a:srgbClr val="000000"/>
                            </a:solidFill>
                            <a:latin typeface="Cambria Math" panose="02040503050406030204" pitchFamily="18" charset="0"/>
                            <a:sym typeface="Nunito 1 Bold"/>
                          </a:rPr>
                        </m:ctrlPr>
                      </m:fPr>
                      <m:num>
                        <m:r>
                          <a:rPr lang="en-PH" sz="3000" i="1">
                            <a:solidFill>
                              <a:srgbClr val="000000"/>
                            </a:solidFill>
                            <a:latin typeface="Cambria Math" panose="02040503050406030204" pitchFamily="18" charset="0"/>
                            <a:sym typeface="Nunito 1 Bold"/>
                          </a:rPr>
                          <m:t>2</m:t>
                        </m:r>
                        <m:r>
                          <a:rPr lang="en-US" sz="3000" i="1">
                            <a:solidFill>
                              <a:srgbClr val="000000"/>
                            </a:solidFill>
                            <a:latin typeface="Cambria Math" panose="02040503050406030204" pitchFamily="18" charset="0"/>
                            <a:ea typeface="Cambria Math" panose="02040503050406030204" pitchFamily="18" charset="0"/>
                            <a:sym typeface="Nunito 1 Bold"/>
                          </a:rPr>
                          <m:t>𝜋</m:t>
                        </m:r>
                        <m:r>
                          <a:rPr lang="en-PH" sz="3000" b="0" i="1" smtClean="0">
                            <a:solidFill>
                              <a:srgbClr val="000000"/>
                            </a:solidFill>
                            <a:latin typeface="Cambria Math" panose="02040503050406030204" pitchFamily="18" charset="0"/>
                            <a:sym typeface="Nunito 1 Bold"/>
                          </a:rPr>
                          <m:t>𝐾𝐻</m:t>
                        </m:r>
                        <m:r>
                          <a:rPr lang="en-PH" sz="3000" i="1">
                            <a:solidFill>
                              <a:srgbClr val="000000"/>
                            </a:solidFill>
                            <a:latin typeface="Cambria Math" panose="02040503050406030204" pitchFamily="18" charset="0"/>
                            <a:ea typeface="Cambria Math" panose="02040503050406030204" pitchFamily="18" charset="0"/>
                            <a:sym typeface="Nunito 1 Bold"/>
                          </a:rPr>
                          <m:t>(</m:t>
                        </m:r>
                        <m:r>
                          <a:rPr lang="en-PH" sz="3000" i="1">
                            <a:solidFill>
                              <a:srgbClr val="000000"/>
                            </a:solidFill>
                            <a:latin typeface="Cambria Math" panose="02040503050406030204" pitchFamily="18" charset="0"/>
                            <a:ea typeface="Cambria Math" panose="02040503050406030204" pitchFamily="18" charset="0"/>
                            <a:sym typeface="Nunito 1 Bold"/>
                          </a:rPr>
                          <m:t>𝐻</m:t>
                        </m:r>
                        <m:r>
                          <a:rPr lang="en-PH" sz="3000" i="1">
                            <a:solidFill>
                              <a:srgbClr val="000000"/>
                            </a:solidFill>
                            <a:latin typeface="Cambria Math" panose="02040503050406030204" pitchFamily="18" charset="0"/>
                            <a:ea typeface="Cambria Math" panose="02040503050406030204" pitchFamily="18" charset="0"/>
                            <a:sym typeface="Nunito 1 Bold"/>
                          </a:rPr>
                          <m:t>−</m:t>
                        </m:r>
                        <m:r>
                          <a:rPr lang="en-PH" sz="3000" i="1">
                            <a:solidFill>
                              <a:srgbClr val="000000"/>
                            </a:solidFill>
                            <a:latin typeface="Cambria Math" panose="02040503050406030204" pitchFamily="18" charset="0"/>
                            <a:ea typeface="Cambria Math" panose="02040503050406030204" pitchFamily="18" charset="0"/>
                            <a:sym typeface="Nunito 1 Bold"/>
                          </a:rPr>
                          <m:t>h𝑤</m:t>
                        </m:r>
                        <m:r>
                          <a:rPr lang="en-PH" sz="3000" i="1">
                            <a:solidFill>
                              <a:srgbClr val="000000"/>
                            </a:solidFill>
                            <a:latin typeface="Cambria Math" panose="02040503050406030204" pitchFamily="18" charset="0"/>
                            <a:ea typeface="Cambria Math" panose="02040503050406030204" pitchFamily="18" charset="0"/>
                            <a:sym typeface="Nunito 1 Bold"/>
                          </a:rPr>
                          <m:t>)</m:t>
                        </m:r>
                      </m:num>
                      <m:den>
                        <m:r>
                          <a:rPr lang="en-PH" sz="3000" i="1">
                            <a:solidFill>
                              <a:srgbClr val="000000"/>
                            </a:solidFill>
                            <a:latin typeface="Cambria Math" panose="02040503050406030204" pitchFamily="18" charset="0"/>
                            <a:sym typeface="Nunito 1 Bold"/>
                          </a:rPr>
                          <m:t>𝑙𝑛</m:t>
                        </m:r>
                        <m:d>
                          <m:dPr>
                            <m:ctrlPr>
                              <a:rPr lang="en-PH" sz="3000" i="1">
                                <a:solidFill>
                                  <a:srgbClr val="000000"/>
                                </a:solidFill>
                                <a:latin typeface="Cambria Math" panose="02040503050406030204" pitchFamily="18" charset="0"/>
                                <a:sym typeface="Nunito 1 Bold"/>
                              </a:rPr>
                            </m:ctrlPr>
                          </m:dPr>
                          <m:e>
                            <m:f>
                              <m:fPr>
                                <m:ctrlPr>
                                  <a:rPr lang="en-PH" sz="3000" i="1">
                                    <a:solidFill>
                                      <a:srgbClr val="000000"/>
                                    </a:solidFill>
                                    <a:latin typeface="Cambria Math" panose="02040503050406030204" pitchFamily="18" charset="0"/>
                                    <a:sym typeface="Nunito 1 Bold"/>
                                  </a:rPr>
                                </m:ctrlPr>
                              </m:fPr>
                              <m:num>
                                <m:r>
                                  <a:rPr lang="en-PH" sz="3000" i="1">
                                    <a:solidFill>
                                      <a:srgbClr val="000000"/>
                                    </a:solidFill>
                                    <a:latin typeface="Cambria Math" panose="02040503050406030204" pitchFamily="18" charset="0"/>
                                    <a:sym typeface="Nunito 1 Bold"/>
                                  </a:rPr>
                                  <m:t>𝑅</m:t>
                                </m:r>
                              </m:num>
                              <m:den>
                                <m:sSub>
                                  <m:sSubPr>
                                    <m:ctrlPr>
                                      <a:rPr lang="en-PH" sz="3000" i="1">
                                        <a:solidFill>
                                          <a:srgbClr val="000000"/>
                                        </a:solidFill>
                                        <a:latin typeface="Cambria Math" panose="02040503050406030204" pitchFamily="18" charset="0"/>
                                        <a:sym typeface="Nunito 1 Bold"/>
                                      </a:rPr>
                                    </m:ctrlPr>
                                  </m:sSubPr>
                                  <m:e>
                                    <m:r>
                                      <a:rPr lang="en-PH" sz="3000" i="1">
                                        <a:solidFill>
                                          <a:srgbClr val="000000"/>
                                        </a:solidFill>
                                        <a:latin typeface="Cambria Math" panose="02040503050406030204" pitchFamily="18" charset="0"/>
                                        <a:sym typeface="Nunito 1 Bold"/>
                                      </a:rPr>
                                      <m:t>𝑟</m:t>
                                    </m:r>
                                  </m:e>
                                  <m:sub>
                                    <m:r>
                                      <a:rPr lang="en-PH" sz="3000" i="1">
                                        <a:solidFill>
                                          <a:srgbClr val="000000"/>
                                        </a:solidFill>
                                        <a:latin typeface="Cambria Math" panose="02040503050406030204" pitchFamily="18" charset="0"/>
                                        <a:sym typeface="Nunito 1 Bold"/>
                                      </a:rPr>
                                      <m:t>𝑤</m:t>
                                    </m:r>
                                  </m:sub>
                                </m:sSub>
                              </m:den>
                            </m:f>
                          </m:e>
                        </m:d>
                      </m:den>
                    </m:f>
                  </m:oMath>
                </a14:m>
                <a:endParaRPr lang="en-US" sz="3000" dirty="0">
                  <a:solidFill>
                    <a:srgbClr val="000000"/>
                  </a:solidFill>
                  <a:latin typeface="Nunito 1" panose="020B0604020202020204" charset="0"/>
                  <a:ea typeface="Nunito 1 Bold"/>
                  <a:cs typeface="Nunito 1 Bold"/>
                  <a:sym typeface="Nunito 1 Bold"/>
                </a:endParaRPr>
              </a:p>
              <a:p>
                <a:pPr algn="just"/>
                <a:endParaRPr lang="en-US" sz="2400" dirty="0">
                  <a:solidFill>
                    <a:srgbClr val="000000"/>
                  </a:solidFill>
                  <a:latin typeface="Nunito 1" panose="020B0604020202020204" charset="0"/>
                  <a:ea typeface="Nunito 1 Bold"/>
                  <a:cs typeface="Nunito 1 Bold"/>
                  <a:sym typeface="Nunito 1 Bold"/>
                </a:endParaRPr>
              </a:p>
            </p:txBody>
          </p:sp>
        </mc:Choice>
        <mc:Fallback xmlns="">
          <p:sp>
            <p:nvSpPr>
              <p:cNvPr id="20" name="TextBox 19">
                <a:extLst>
                  <a:ext uri="{FF2B5EF4-FFF2-40B4-BE49-F238E27FC236}">
                    <a16:creationId xmlns:a16="http://schemas.microsoft.com/office/drawing/2014/main" id="{5F0808DD-B62E-6739-59F8-D8159FAC59C8}"/>
                  </a:ext>
                </a:extLst>
              </p:cNvPr>
              <p:cNvSpPr txBox="1">
                <a:spLocks noRot="1" noChangeAspect="1" noMove="1" noResize="1" noEditPoints="1" noAdjustHandles="1" noChangeArrowheads="1" noChangeShapeType="1" noTextEdit="1"/>
              </p:cNvSpPr>
              <p:nvPr/>
            </p:nvSpPr>
            <p:spPr>
              <a:xfrm>
                <a:off x="1676400" y="5504742"/>
                <a:ext cx="14935200" cy="3176703"/>
              </a:xfrm>
              <a:prstGeom prst="rect">
                <a:avLst/>
              </a:prstGeom>
              <a:blipFill>
                <a:blip r:embed="rId2"/>
                <a:stretch>
                  <a:fillRect l="-1224"/>
                </a:stretch>
              </a:blipFill>
            </p:spPr>
            <p:txBody>
              <a:bodyPr/>
              <a:lstStyle/>
              <a:p>
                <a:r>
                  <a:rPr lang="en-PH">
                    <a:noFill/>
                  </a:rPr>
                  <a:t> </a:t>
                </a:r>
              </a:p>
            </p:txBody>
          </p:sp>
        </mc:Fallback>
      </mc:AlternateContent>
      <p:grpSp>
        <p:nvGrpSpPr>
          <p:cNvPr id="17" name="Group 16">
            <a:extLst>
              <a:ext uri="{FF2B5EF4-FFF2-40B4-BE49-F238E27FC236}">
                <a16:creationId xmlns:a16="http://schemas.microsoft.com/office/drawing/2014/main" id="{E3FAA13A-31A1-775A-A3DC-6644372D9CC5}"/>
              </a:ext>
            </a:extLst>
          </p:cNvPr>
          <p:cNvGrpSpPr/>
          <p:nvPr/>
        </p:nvGrpSpPr>
        <p:grpSpPr>
          <a:xfrm>
            <a:off x="0" y="9599693"/>
            <a:ext cx="18287999" cy="687306"/>
            <a:chOff x="0" y="9599693"/>
            <a:chExt cx="18287999" cy="687306"/>
          </a:xfrm>
        </p:grpSpPr>
        <p:grpSp>
          <p:nvGrpSpPr>
            <p:cNvPr id="21" name="Group 11">
              <a:extLst>
                <a:ext uri="{FF2B5EF4-FFF2-40B4-BE49-F238E27FC236}">
                  <a16:creationId xmlns:a16="http://schemas.microsoft.com/office/drawing/2014/main" id="{6FF0E831-1D65-7315-2FA2-0B69E0347E82}"/>
                </a:ext>
              </a:extLst>
            </p:cNvPr>
            <p:cNvGrpSpPr/>
            <p:nvPr/>
          </p:nvGrpSpPr>
          <p:grpSpPr>
            <a:xfrm>
              <a:off x="0" y="9599694"/>
              <a:ext cx="18287999" cy="687305"/>
              <a:chOff x="0" y="0"/>
              <a:chExt cx="5260714" cy="490218"/>
            </a:xfrm>
          </p:grpSpPr>
          <p:sp>
            <p:nvSpPr>
              <p:cNvPr id="28" name="Freeform 12">
                <a:extLst>
                  <a:ext uri="{FF2B5EF4-FFF2-40B4-BE49-F238E27FC236}">
                    <a16:creationId xmlns:a16="http://schemas.microsoft.com/office/drawing/2014/main" id="{09F3C385-1EED-CEF6-1489-F145196E7F23}"/>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9" name="TextBox 13">
                <a:extLst>
                  <a:ext uri="{FF2B5EF4-FFF2-40B4-BE49-F238E27FC236}">
                    <a16:creationId xmlns:a16="http://schemas.microsoft.com/office/drawing/2014/main" id="{BD9964F1-5660-B2B9-7DF6-C8F0B1CA458C}"/>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12">
              <a:extLst>
                <a:ext uri="{FF2B5EF4-FFF2-40B4-BE49-F238E27FC236}">
                  <a16:creationId xmlns:a16="http://schemas.microsoft.com/office/drawing/2014/main" id="{027F12CF-449D-1467-095A-241F1003FAE0}"/>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7" name="TextBox 13">
              <a:extLst>
                <a:ext uri="{FF2B5EF4-FFF2-40B4-BE49-F238E27FC236}">
                  <a16:creationId xmlns:a16="http://schemas.microsoft.com/office/drawing/2014/main" id="{7EB40E46-2D50-9975-D86B-CE029E01E6C5}"/>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spTree>
    <p:extLst>
      <p:ext uri="{BB962C8B-B14F-4D97-AF65-F5344CB8AC3E}">
        <p14:creationId xmlns:p14="http://schemas.microsoft.com/office/powerpoint/2010/main" val="329668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B8733-123A-7E6B-9DE7-AE00B016294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19C5C55-61AB-222F-2BF5-24F4EA68A727}"/>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864362DF-7FE0-9A86-F298-1D80AFBCDB87}"/>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5CF0BB23-D49D-58F5-1CC2-F3DDA0B767F1}"/>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FF35EFD6-0DB1-8AA9-6280-21A181BADF57}"/>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DECCC651-CA5A-E93C-0593-A0DD9732A129}"/>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414EC547-926F-AA74-FCEE-A2A4F3C95B19}"/>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A50258DB-BB66-DE5C-22A7-A414AB5380D0}"/>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A7F69C42-7AA5-A204-7808-6E7BA9021BC4}"/>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443AE806-BD28-F9AA-EB4D-994BF60555EA}"/>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778FA42C-8155-5D09-162F-2C5E9C5638C3}"/>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ED5F74D3-FA74-A036-9CCE-7942A4EEFD46}"/>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3603F30E-8DEF-0BA4-A723-10A83BDDA4EC}"/>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BE5B275A-E2EC-F177-FF40-D697460E3F80}"/>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16</a:t>
            </a:r>
          </a:p>
        </p:txBody>
      </p:sp>
      <p:sp>
        <p:nvSpPr>
          <p:cNvPr id="15" name="TextBox 15">
            <a:extLst>
              <a:ext uri="{FF2B5EF4-FFF2-40B4-BE49-F238E27FC236}">
                <a16:creationId xmlns:a16="http://schemas.microsoft.com/office/drawing/2014/main" id="{C4C0337B-F092-1FB2-20E4-52D9E081EA3C}"/>
              </a:ext>
            </a:extLst>
          </p:cNvPr>
          <p:cNvSpPr txBox="1"/>
          <p:nvPr/>
        </p:nvSpPr>
        <p:spPr>
          <a:xfrm>
            <a:off x="2246041" y="2025065"/>
            <a:ext cx="13795916" cy="1107996"/>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An  artesian  well  has  a  diameter  of  10  cm.   Under  steady  state  condition, what  is  the  expected  discharge  (</a:t>
            </a:r>
            <a:r>
              <a:rPr lang="en-US" sz="2400" b="1" dirty="0" err="1">
                <a:solidFill>
                  <a:srgbClr val="000000"/>
                </a:solidFill>
                <a:latin typeface="Nunito 1 Bold"/>
                <a:ea typeface="Nunito 1 Bold"/>
                <a:cs typeface="Nunito 1 Bold"/>
                <a:sym typeface="Nunito 1 Bold"/>
              </a:rPr>
              <a:t>lps</a:t>
            </a:r>
            <a:r>
              <a:rPr lang="en-US" sz="2400" b="1" dirty="0">
                <a:solidFill>
                  <a:srgbClr val="000000"/>
                </a:solidFill>
                <a:latin typeface="Nunito 1 Bold"/>
                <a:ea typeface="Nunito 1 Bold"/>
                <a:cs typeface="Nunito 1 Bold"/>
                <a:sym typeface="Nunito 1 Bold"/>
              </a:rPr>
              <a:t>)  if  the  drawdown  is  2.5  m  and  the  radius of  influence  is  120  m?  The  aquifer’s  hydraulic  conductivity  and  thickness  are 75  m/day  and  4  m,  respectively. </a:t>
            </a:r>
          </a:p>
        </p:txBody>
      </p:sp>
      <p:sp>
        <p:nvSpPr>
          <p:cNvPr id="19" name="TextBox 12">
            <a:extLst>
              <a:ext uri="{FF2B5EF4-FFF2-40B4-BE49-F238E27FC236}">
                <a16:creationId xmlns:a16="http://schemas.microsoft.com/office/drawing/2014/main" id="{3F5E284D-033C-E91F-1646-D55F05B8EAD6}"/>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1D7F0387-A524-0742-4EB2-1ED1CE23A7B0}"/>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46DF08C0-A2E1-F2C6-76A2-683A9CF57F3F}"/>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4E56F71A-D719-C924-C46E-382F139A9217}"/>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0A745571-7795-F753-ADB9-E5E7ADCFDA41}"/>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https://chem.libretexts.org/Courses/University_of_Arkansas_Little_Rock/Chem_1402%3A_General_Chemistry_1_(Kattoum)</a:t>
            </a:r>
          </a:p>
        </p:txBody>
      </p:sp>
      <p:sp>
        <p:nvSpPr>
          <p:cNvPr id="16" name="TextBox 15">
            <a:extLst>
              <a:ext uri="{FF2B5EF4-FFF2-40B4-BE49-F238E27FC236}">
                <a16:creationId xmlns:a16="http://schemas.microsoft.com/office/drawing/2014/main" id="{5148FCCF-FB7F-CDE7-E9EC-19671C80611D}"/>
              </a:ext>
            </a:extLst>
          </p:cNvPr>
          <p:cNvSpPr txBox="1"/>
          <p:nvPr/>
        </p:nvSpPr>
        <p:spPr>
          <a:xfrm>
            <a:off x="1676400" y="4641126"/>
            <a:ext cx="14935200" cy="369332"/>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Ans</a:t>
            </a:r>
            <a:r>
              <a:rPr lang="en-US" sz="2400">
                <a:solidFill>
                  <a:srgbClr val="000000"/>
                </a:solidFill>
                <a:latin typeface="Nunito 1" panose="020B0604020202020204" charset="0"/>
                <a:ea typeface="Nunito 1 Bold"/>
                <a:cs typeface="Nunito 1 Bold"/>
                <a:sym typeface="Nunito 1 Bold"/>
              </a:rPr>
              <a:t>.: 7.01lps</a:t>
            </a:r>
            <a:endParaRPr lang="en-US" sz="2400" dirty="0">
              <a:solidFill>
                <a:srgbClr val="000000"/>
              </a:solidFill>
              <a:latin typeface="Nunito 1" panose="020B0604020202020204" charset="0"/>
              <a:ea typeface="Nunito 1 Bold"/>
              <a:cs typeface="Nunito 1 Bold"/>
              <a:sym typeface="Nunito 1 Bold"/>
            </a:endParaRPr>
          </a:p>
        </p:txBody>
      </p:sp>
      <p:sp>
        <p:nvSpPr>
          <p:cNvPr id="18" name="TextBox 13">
            <a:extLst>
              <a:ext uri="{FF2B5EF4-FFF2-40B4-BE49-F238E27FC236}">
                <a16:creationId xmlns:a16="http://schemas.microsoft.com/office/drawing/2014/main" id="{D27E2A64-EAB0-51C0-EA5E-82CF0DD60DF2}"/>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4598445-695E-31A6-2106-3D63845F6569}"/>
                  </a:ext>
                </a:extLst>
              </p:cNvPr>
              <p:cNvSpPr txBox="1"/>
              <p:nvPr/>
            </p:nvSpPr>
            <p:spPr>
              <a:xfrm>
                <a:off x="1676399" y="5504742"/>
                <a:ext cx="14935200" cy="3176703"/>
              </a:xfrm>
              <a:prstGeom prst="rect">
                <a:avLst/>
              </a:prstGeom>
            </p:spPr>
            <p:txBody>
              <a:bodyPr wrap="square" lIns="0" tIns="0" rIns="0" bIns="0" rtlCol="0" anchor="t">
                <a:spAutoFit/>
              </a:bodyPr>
              <a:lstStyle/>
              <a:p>
                <a:pPr algn="ctr"/>
                <a:r>
                  <a:rPr lang="en-US" sz="2400" dirty="0">
                    <a:solidFill>
                      <a:srgbClr val="000000"/>
                    </a:solidFill>
                    <a:latin typeface="Nunito 1" panose="020B0604020202020204" charset="0"/>
                    <a:ea typeface="Nunito 1 Bold"/>
                    <a:cs typeface="Nunito 1 Bold"/>
                    <a:sym typeface="Nunito 1 Bold"/>
                  </a:rPr>
                  <a:t>Q = </a:t>
                </a:r>
                <a14:m>
                  <m:oMath xmlns:m="http://schemas.openxmlformats.org/officeDocument/2006/math">
                    <m:f>
                      <m:fPr>
                        <m:ctrlPr>
                          <a:rPr lang="en-US" sz="3000" i="1" smtClean="0">
                            <a:solidFill>
                              <a:srgbClr val="000000"/>
                            </a:solidFill>
                            <a:latin typeface="Cambria Math" panose="02040503050406030204" pitchFamily="18" charset="0"/>
                            <a:sym typeface="Nunito 1 Bold"/>
                          </a:rPr>
                        </m:ctrlPr>
                      </m:fPr>
                      <m:num>
                        <m:r>
                          <a:rPr lang="en-US" sz="3000" i="1" smtClean="0">
                            <a:solidFill>
                              <a:srgbClr val="000000"/>
                            </a:solidFill>
                            <a:latin typeface="Cambria Math" panose="02040503050406030204" pitchFamily="18" charset="0"/>
                            <a:ea typeface="Cambria Math" panose="02040503050406030204" pitchFamily="18" charset="0"/>
                            <a:sym typeface="Nunito 1 Bold"/>
                          </a:rPr>
                          <m:t>𝜋</m:t>
                        </m:r>
                        <m:r>
                          <a:rPr lang="en-PH" sz="3000" b="0" i="1" smtClean="0">
                            <a:solidFill>
                              <a:srgbClr val="000000"/>
                            </a:solidFill>
                            <a:latin typeface="Cambria Math" panose="02040503050406030204" pitchFamily="18" charset="0"/>
                            <a:ea typeface="Cambria Math" panose="02040503050406030204" pitchFamily="18" charset="0"/>
                            <a:sym typeface="Nunito 1 Bold"/>
                          </a:rPr>
                          <m:t>𝐾</m:t>
                        </m:r>
                        <m:r>
                          <a:rPr lang="en-PH" sz="3000" b="0" i="1" smtClean="0">
                            <a:solidFill>
                              <a:srgbClr val="000000"/>
                            </a:solidFill>
                            <a:latin typeface="Cambria Math" panose="02040503050406030204" pitchFamily="18" charset="0"/>
                            <a:ea typeface="Cambria Math" panose="02040503050406030204" pitchFamily="18" charset="0"/>
                            <a:sym typeface="Nunito 1 Bold"/>
                          </a:rPr>
                          <m:t>(</m:t>
                        </m:r>
                        <m:sSubSup>
                          <m:sSubSupPr>
                            <m:ctrlPr>
                              <a:rPr lang="en-PH" sz="3000" b="0" i="1" smtClean="0">
                                <a:solidFill>
                                  <a:srgbClr val="000000"/>
                                </a:solidFill>
                                <a:latin typeface="Cambria Math" panose="02040503050406030204" pitchFamily="18" charset="0"/>
                                <a:ea typeface="Cambria Math" panose="02040503050406030204" pitchFamily="18" charset="0"/>
                                <a:sym typeface="Nunito 1 Bold"/>
                              </a:rPr>
                            </m:ctrlPr>
                          </m:sSubSupPr>
                          <m:e>
                            <m:r>
                              <a:rPr lang="en-PH" sz="3000" b="0" i="1" smtClean="0">
                                <a:solidFill>
                                  <a:srgbClr val="000000"/>
                                </a:solidFill>
                                <a:latin typeface="Cambria Math" panose="02040503050406030204" pitchFamily="18" charset="0"/>
                                <a:ea typeface="Cambria Math" panose="02040503050406030204" pitchFamily="18" charset="0"/>
                                <a:sym typeface="Nunito 1 Bold"/>
                              </a:rPr>
                              <m:t>h</m:t>
                            </m:r>
                          </m:e>
                          <m:sub>
                            <m:r>
                              <a:rPr lang="en-PH" sz="3000" b="0" i="1" smtClean="0">
                                <a:solidFill>
                                  <a:srgbClr val="000000"/>
                                </a:solidFill>
                                <a:latin typeface="Cambria Math" panose="02040503050406030204" pitchFamily="18" charset="0"/>
                                <a:ea typeface="Cambria Math" panose="02040503050406030204" pitchFamily="18" charset="0"/>
                                <a:sym typeface="Nunito 1 Bold"/>
                              </a:rPr>
                              <m:t>2</m:t>
                            </m:r>
                          </m:sub>
                          <m:sup>
                            <m:r>
                              <a:rPr lang="en-PH" sz="3000" b="0" i="1" smtClean="0">
                                <a:solidFill>
                                  <a:srgbClr val="000000"/>
                                </a:solidFill>
                                <a:latin typeface="Cambria Math" panose="02040503050406030204" pitchFamily="18" charset="0"/>
                                <a:ea typeface="Cambria Math" panose="02040503050406030204" pitchFamily="18" charset="0"/>
                                <a:sym typeface="Nunito 1 Bold"/>
                              </a:rPr>
                              <m:t>2</m:t>
                            </m:r>
                          </m:sup>
                        </m:sSubSup>
                        <m:r>
                          <a:rPr lang="en-PH" sz="3000" b="0" i="1" smtClean="0">
                            <a:solidFill>
                              <a:srgbClr val="000000"/>
                            </a:solidFill>
                            <a:latin typeface="Cambria Math" panose="02040503050406030204" pitchFamily="18" charset="0"/>
                            <a:ea typeface="Cambria Math" panose="02040503050406030204" pitchFamily="18" charset="0"/>
                            <a:sym typeface="Nunito 1 Bold"/>
                          </a:rPr>
                          <m:t>−</m:t>
                        </m:r>
                        <m:sSubSup>
                          <m:sSubSupPr>
                            <m:ctrlPr>
                              <a:rPr lang="en-PH" sz="3000" i="1">
                                <a:solidFill>
                                  <a:srgbClr val="000000"/>
                                </a:solidFill>
                                <a:latin typeface="Cambria Math" panose="02040503050406030204" pitchFamily="18" charset="0"/>
                                <a:ea typeface="Cambria Math" panose="02040503050406030204" pitchFamily="18" charset="0"/>
                                <a:sym typeface="Nunito 1 Bold"/>
                              </a:rPr>
                            </m:ctrlPr>
                          </m:sSubSupPr>
                          <m:e>
                            <m:r>
                              <a:rPr lang="en-PH" sz="3000" i="1" smtClean="0">
                                <a:solidFill>
                                  <a:srgbClr val="000000"/>
                                </a:solidFill>
                                <a:latin typeface="Cambria Math" panose="02040503050406030204" pitchFamily="18" charset="0"/>
                                <a:ea typeface="Cambria Math" panose="02040503050406030204" pitchFamily="18" charset="0"/>
                                <a:sym typeface="Nunito 1 Bold"/>
                              </a:rPr>
                              <m:t>h</m:t>
                            </m:r>
                          </m:e>
                          <m:sub>
                            <m:r>
                              <a:rPr lang="en-PH" sz="3000" b="0" i="1" smtClean="0">
                                <a:solidFill>
                                  <a:srgbClr val="000000"/>
                                </a:solidFill>
                                <a:latin typeface="Cambria Math" panose="02040503050406030204" pitchFamily="18" charset="0"/>
                                <a:ea typeface="Cambria Math" panose="02040503050406030204" pitchFamily="18" charset="0"/>
                                <a:sym typeface="Nunito 1 Bold"/>
                              </a:rPr>
                              <m:t>1</m:t>
                            </m:r>
                          </m:sub>
                          <m:sup>
                            <m:r>
                              <a:rPr lang="en-PH" sz="3000" i="1" smtClean="0">
                                <a:solidFill>
                                  <a:srgbClr val="000000"/>
                                </a:solidFill>
                                <a:latin typeface="Cambria Math" panose="02040503050406030204" pitchFamily="18" charset="0"/>
                                <a:ea typeface="Cambria Math" panose="02040503050406030204" pitchFamily="18" charset="0"/>
                                <a:sym typeface="Nunito 1 Bold"/>
                              </a:rPr>
                              <m:t>2</m:t>
                            </m:r>
                          </m:sup>
                        </m:sSubSup>
                        <m:r>
                          <a:rPr lang="en-PH" sz="3000" b="0" i="1" smtClean="0">
                            <a:solidFill>
                              <a:srgbClr val="000000"/>
                            </a:solidFill>
                            <a:latin typeface="Cambria Math" panose="02040503050406030204" pitchFamily="18" charset="0"/>
                            <a:ea typeface="Cambria Math" panose="02040503050406030204" pitchFamily="18" charset="0"/>
                            <a:sym typeface="Nunito 1 Bold"/>
                          </a:rPr>
                          <m:t>)</m:t>
                        </m:r>
                      </m:num>
                      <m:den>
                        <m:r>
                          <a:rPr lang="en-PH" sz="3000" b="0" i="1" smtClean="0">
                            <a:solidFill>
                              <a:srgbClr val="000000"/>
                            </a:solidFill>
                            <a:latin typeface="Cambria Math" panose="02040503050406030204" pitchFamily="18" charset="0"/>
                            <a:sym typeface="Nunito 1 Bold"/>
                          </a:rPr>
                          <m:t>𝑙𝑛</m:t>
                        </m:r>
                        <m:d>
                          <m:dPr>
                            <m:ctrlPr>
                              <a:rPr lang="en-PH" sz="3000" b="0" i="1" smtClean="0">
                                <a:solidFill>
                                  <a:srgbClr val="000000"/>
                                </a:solidFill>
                                <a:latin typeface="Cambria Math" panose="02040503050406030204" pitchFamily="18" charset="0"/>
                                <a:sym typeface="Nunito 1 Bold"/>
                              </a:rPr>
                            </m:ctrlPr>
                          </m:dPr>
                          <m:e>
                            <m:f>
                              <m:fPr>
                                <m:ctrlPr>
                                  <a:rPr lang="en-PH" sz="3000" b="0" i="1" smtClean="0">
                                    <a:solidFill>
                                      <a:srgbClr val="000000"/>
                                    </a:solidFill>
                                    <a:latin typeface="Cambria Math" panose="02040503050406030204" pitchFamily="18" charset="0"/>
                                    <a:sym typeface="Nunito 1 Bold"/>
                                  </a:rPr>
                                </m:ctrlPr>
                              </m:fPr>
                              <m:num>
                                <m:sSub>
                                  <m:sSubPr>
                                    <m:ctrlPr>
                                      <a:rPr lang="en-PH" sz="3000" i="1">
                                        <a:solidFill>
                                          <a:srgbClr val="000000"/>
                                        </a:solidFill>
                                        <a:latin typeface="Cambria Math" panose="02040503050406030204" pitchFamily="18" charset="0"/>
                                        <a:sym typeface="Nunito 1 Bold"/>
                                      </a:rPr>
                                    </m:ctrlPr>
                                  </m:sSubPr>
                                  <m:e>
                                    <m:r>
                                      <a:rPr lang="en-PH" sz="3000" i="1" smtClean="0">
                                        <a:solidFill>
                                          <a:srgbClr val="000000"/>
                                        </a:solidFill>
                                        <a:latin typeface="Cambria Math" panose="02040503050406030204" pitchFamily="18" charset="0"/>
                                        <a:sym typeface="Nunito 1 Bold"/>
                                      </a:rPr>
                                      <m:t>𝑟</m:t>
                                    </m:r>
                                  </m:e>
                                  <m:sub>
                                    <m:r>
                                      <a:rPr lang="en-PH" sz="3000" b="0" i="1" smtClean="0">
                                        <a:solidFill>
                                          <a:srgbClr val="000000"/>
                                        </a:solidFill>
                                        <a:latin typeface="Cambria Math" panose="02040503050406030204" pitchFamily="18" charset="0"/>
                                        <a:sym typeface="Nunito 1 Bold"/>
                                      </a:rPr>
                                      <m:t>2</m:t>
                                    </m:r>
                                  </m:sub>
                                </m:sSub>
                              </m:num>
                              <m:den>
                                <m:sSub>
                                  <m:sSubPr>
                                    <m:ctrlPr>
                                      <a:rPr lang="en-PH" sz="3000" b="0" i="1" smtClean="0">
                                        <a:solidFill>
                                          <a:srgbClr val="000000"/>
                                        </a:solidFill>
                                        <a:latin typeface="Cambria Math" panose="02040503050406030204" pitchFamily="18" charset="0"/>
                                        <a:sym typeface="Nunito 1 Bold"/>
                                      </a:rPr>
                                    </m:ctrlPr>
                                  </m:sSubPr>
                                  <m:e>
                                    <m:r>
                                      <a:rPr lang="en-PH" sz="3000" b="0" i="1" smtClean="0">
                                        <a:solidFill>
                                          <a:srgbClr val="000000"/>
                                        </a:solidFill>
                                        <a:latin typeface="Cambria Math" panose="02040503050406030204" pitchFamily="18" charset="0"/>
                                        <a:sym typeface="Nunito 1 Bold"/>
                                      </a:rPr>
                                      <m:t>𝑟</m:t>
                                    </m:r>
                                  </m:e>
                                  <m:sub>
                                    <m:r>
                                      <a:rPr lang="en-PH" sz="3000" b="0" i="1" smtClean="0">
                                        <a:solidFill>
                                          <a:srgbClr val="000000"/>
                                        </a:solidFill>
                                        <a:latin typeface="Cambria Math" panose="02040503050406030204" pitchFamily="18" charset="0"/>
                                        <a:sym typeface="Nunito 1 Bold"/>
                                      </a:rPr>
                                      <m:t>1</m:t>
                                    </m:r>
                                  </m:sub>
                                </m:sSub>
                              </m:den>
                            </m:f>
                          </m:e>
                        </m:d>
                      </m:den>
                    </m:f>
                  </m:oMath>
                </a14:m>
                <a:endParaRPr lang="en-US" sz="3000" dirty="0">
                  <a:solidFill>
                    <a:srgbClr val="000000"/>
                  </a:solidFill>
                  <a:latin typeface="Nunito 1" panose="020B0604020202020204" charset="0"/>
                  <a:ea typeface="Nunito 1 Bold"/>
                  <a:cs typeface="Nunito 1 Bold"/>
                  <a:sym typeface="Nunito 1 Bold"/>
                </a:endParaRPr>
              </a:p>
              <a:p>
                <a:pPr algn="just"/>
                <a:endParaRPr lang="en-US" sz="3000" dirty="0">
                  <a:solidFill>
                    <a:srgbClr val="000000"/>
                  </a:solidFill>
                  <a:latin typeface="Nunito 1" panose="020B0604020202020204" charset="0"/>
                  <a:ea typeface="Nunito 1 Bold"/>
                  <a:cs typeface="Nunito 1 Bold"/>
                  <a:sym typeface="Nunito 1 Bold"/>
                </a:endParaRPr>
              </a:p>
              <a:p>
                <a:endParaRPr lang="en-US" sz="3000" dirty="0">
                  <a:solidFill>
                    <a:srgbClr val="000000"/>
                  </a:solidFill>
                  <a:latin typeface="Nunito 1" panose="020B0604020202020204" charset="0"/>
                  <a:ea typeface="Nunito 1 Bold"/>
                  <a:cs typeface="Nunito 1 Bold"/>
                  <a:sym typeface="Nunito 1 Bold"/>
                </a:endParaRPr>
              </a:p>
              <a:p>
                <a:r>
                  <a:rPr lang="en-US" sz="2400" dirty="0">
                    <a:solidFill>
                      <a:srgbClr val="000000"/>
                    </a:solidFill>
                    <a:latin typeface="Nunito 1" panose="020B0604020202020204" charset="0"/>
                    <a:ea typeface="Nunito 1 Bold"/>
                    <a:cs typeface="Nunito 1 Bold"/>
                    <a:sym typeface="Nunito 1 Bold"/>
                  </a:rPr>
                  <a:t>For confined aquifer:	Q =</a:t>
                </a:r>
                <a:r>
                  <a:rPr lang="en-US" sz="3000" dirty="0">
                    <a:solidFill>
                      <a:srgbClr val="000000"/>
                    </a:solidFill>
                    <a:latin typeface="Nunito 1" panose="020B0604020202020204" charset="0"/>
                    <a:ea typeface="Nunito 1 Bold"/>
                    <a:cs typeface="Nunito 1 Bold"/>
                    <a:sym typeface="Nunito 1 Bold"/>
                  </a:rPr>
                  <a:t> </a:t>
                </a:r>
                <a14:m>
                  <m:oMath xmlns:m="http://schemas.openxmlformats.org/officeDocument/2006/math">
                    <m:f>
                      <m:fPr>
                        <m:ctrlPr>
                          <a:rPr lang="en-US" sz="3000" i="1" smtClean="0">
                            <a:solidFill>
                              <a:srgbClr val="000000"/>
                            </a:solidFill>
                            <a:latin typeface="Cambria Math" panose="02040503050406030204" pitchFamily="18" charset="0"/>
                            <a:sym typeface="Nunito 1 Bold"/>
                          </a:rPr>
                        </m:ctrlPr>
                      </m:fPr>
                      <m:num>
                        <m:r>
                          <a:rPr lang="en-PH" sz="3000" b="0" i="1" smtClean="0">
                            <a:solidFill>
                              <a:srgbClr val="000000"/>
                            </a:solidFill>
                            <a:latin typeface="Cambria Math" panose="02040503050406030204" pitchFamily="18" charset="0"/>
                            <a:sym typeface="Nunito 1 Bold"/>
                          </a:rPr>
                          <m:t>2</m:t>
                        </m:r>
                        <m:r>
                          <a:rPr lang="en-US" sz="3000" i="1" smtClean="0">
                            <a:solidFill>
                              <a:srgbClr val="000000"/>
                            </a:solidFill>
                            <a:latin typeface="Cambria Math" panose="02040503050406030204" pitchFamily="18" charset="0"/>
                            <a:ea typeface="Cambria Math" panose="02040503050406030204" pitchFamily="18" charset="0"/>
                            <a:sym typeface="Nunito 1 Bold"/>
                          </a:rPr>
                          <m:t>𝜋</m:t>
                        </m:r>
                        <m:r>
                          <a:rPr lang="en-PH" sz="3000" b="0" i="1" smtClean="0">
                            <a:solidFill>
                              <a:srgbClr val="000000"/>
                            </a:solidFill>
                            <a:latin typeface="Cambria Math" panose="02040503050406030204" pitchFamily="18" charset="0"/>
                            <a:ea typeface="Cambria Math" panose="02040503050406030204" pitchFamily="18" charset="0"/>
                            <a:sym typeface="Nunito 1 Bold"/>
                          </a:rPr>
                          <m:t>𝐾𝑏</m:t>
                        </m:r>
                        <m:r>
                          <a:rPr lang="en-PH" sz="3000" b="0" i="1" smtClean="0">
                            <a:solidFill>
                              <a:srgbClr val="000000"/>
                            </a:solidFill>
                            <a:latin typeface="Cambria Math" panose="02040503050406030204" pitchFamily="18" charset="0"/>
                            <a:ea typeface="Cambria Math" panose="02040503050406030204" pitchFamily="18" charset="0"/>
                            <a:sym typeface="Nunito 1 Bold"/>
                          </a:rPr>
                          <m:t>(</m:t>
                        </m:r>
                        <m:r>
                          <a:rPr lang="en-PH" sz="3000" b="0" i="1" smtClean="0">
                            <a:solidFill>
                              <a:srgbClr val="000000"/>
                            </a:solidFill>
                            <a:latin typeface="Cambria Math" panose="02040503050406030204" pitchFamily="18" charset="0"/>
                            <a:ea typeface="Cambria Math" panose="02040503050406030204" pitchFamily="18" charset="0"/>
                            <a:sym typeface="Nunito 1 Bold"/>
                          </a:rPr>
                          <m:t>𝐻</m:t>
                        </m:r>
                        <m:r>
                          <a:rPr lang="en-PH" sz="3000" b="0" i="1" smtClean="0">
                            <a:solidFill>
                              <a:srgbClr val="000000"/>
                            </a:solidFill>
                            <a:latin typeface="Cambria Math" panose="02040503050406030204" pitchFamily="18" charset="0"/>
                            <a:ea typeface="Cambria Math" panose="02040503050406030204" pitchFamily="18" charset="0"/>
                            <a:sym typeface="Nunito 1 Bold"/>
                          </a:rPr>
                          <m:t>−</m:t>
                        </m:r>
                        <m:r>
                          <a:rPr lang="en-PH" sz="3000" b="0" i="1" smtClean="0">
                            <a:solidFill>
                              <a:srgbClr val="000000"/>
                            </a:solidFill>
                            <a:latin typeface="Cambria Math" panose="02040503050406030204" pitchFamily="18" charset="0"/>
                            <a:ea typeface="Cambria Math" panose="02040503050406030204" pitchFamily="18" charset="0"/>
                            <a:sym typeface="Nunito 1 Bold"/>
                          </a:rPr>
                          <m:t>h𝑤</m:t>
                        </m:r>
                        <m:r>
                          <a:rPr lang="en-PH" sz="3000" b="0" i="1" smtClean="0">
                            <a:solidFill>
                              <a:srgbClr val="000000"/>
                            </a:solidFill>
                            <a:latin typeface="Cambria Math" panose="02040503050406030204" pitchFamily="18" charset="0"/>
                            <a:ea typeface="Cambria Math" panose="02040503050406030204" pitchFamily="18" charset="0"/>
                            <a:sym typeface="Nunito 1 Bold"/>
                          </a:rPr>
                          <m:t>)</m:t>
                        </m:r>
                      </m:num>
                      <m:den>
                        <m:r>
                          <a:rPr lang="en-PH" sz="3000" b="0" i="1" smtClean="0">
                            <a:solidFill>
                              <a:srgbClr val="000000"/>
                            </a:solidFill>
                            <a:latin typeface="Cambria Math" panose="02040503050406030204" pitchFamily="18" charset="0"/>
                            <a:sym typeface="Nunito 1 Bold"/>
                          </a:rPr>
                          <m:t>𝑙𝑛</m:t>
                        </m:r>
                        <m:d>
                          <m:dPr>
                            <m:ctrlPr>
                              <a:rPr lang="en-PH" sz="3000" b="0" i="1" smtClean="0">
                                <a:solidFill>
                                  <a:srgbClr val="000000"/>
                                </a:solidFill>
                                <a:latin typeface="Cambria Math" panose="02040503050406030204" pitchFamily="18" charset="0"/>
                                <a:sym typeface="Nunito 1 Bold"/>
                              </a:rPr>
                            </m:ctrlPr>
                          </m:dPr>
                          <m:e>
                            <m:f>
                              <m:fPr>
                                <m:ctrlPr>
                                  <a:rPr lang="en-PH" sz="3000" b="0" i="1" smtClean="0">
                                    <a:solidFill>
                                      <a:srgbClr val="000000"/>
                                    </a:solidFill>
                                    <a:latin typeface="Cambria Math" panose="02040503050406030204" pitchFamily="18" charset="0"/>
                                    <a:sym typeface="Nunito 1 Bold"/>
                                  </a:rPr>
                                </m:ctrlPr>
                              </m:fPr>
                              <m:num>
                                <m:r>
                                  <a:rPr lang="en-PH" sz="3000" i="1" smtClean="0">
                                    <a:solidFill>
                                      <a:srgbClr val="000000"/>
                                    </a:solidFill>
                                    <a:latin typeface="Cambria Math" panose="02040503050406030204" pitchFamily="18" charset="0"/>
                                    <a:sym typeface="Nunito 1 Bold"/>
                                  </a:rPr>
                                  <m:t>𝑅</m:t>
                                </m:r>
                              </m:num>
                              <m:den>
                                <m:sSub>
                                  <m:sSubPr>
                                    <m:ctrlPr>
                                      <a:rPr lang="en-PH" sz="3000" b="0" i="1" smtClean="0">
                                        <a:solidFill>
                                          <a:srgbClr val="000000"/>
                                        </a:solidFill>
                                        <a:latin typeface="Cambria Math" panose="02040503050406030204" pitchFamily="18" charset="0"/>
                                        <a:sym typeface="Nunito 1 Bold"/>
                                      </a:rPr>
                                    </m:ctrlPr>
                                  </m:sSubPr>
                                  <m:e>
                                    <m:r>
                                      <a:rPr lang="en-PH" sz="3000" b="0" i="1" smtClean="0">
                                        <a:solidFill>
                                          <a:srgbClr val="000000"/>
                                        </a:solidFill>
                                        <a:latin typeface="Cambria Math" panose="02040503050406030204" pitchFamily="18" charset="0"/>
                                        <a:sym typeface="Nunito 1 Bold"/>
                                      </a:rPr>
                                      <m:t>𝑟</m:t>
                                    </m:r>
                                  </m:e>
                                  <m:sub>
                                    <m:r>
                                      <a:rPr lang="en-PH" sz="3000" b="0" i="1" smtClean="0">
                                        <a:solidFill>
                                          <a:srgbClr val="000000"/>
                                        </a:solidFill>
                                        <a:latin typeface="Cambria Math" panose="02040503050406030204" pitchFamily="18" charset="0"/>
                                        <a:sym typeface="Nunito 1 Bold"/>
                                      </a:rPr>
                                      <m:t>𝑤</m:t>
                                    </m:r>
                                  </m:sub>
                                </m:sSub>
                              </m:den>
                            </m:f>
                          </m:e>
                        </m:d>
                      </m:den>
                    </m:f>
                  </m:oMath>
                </a14:m>
                <a:r>
                  <a:rPr lang="en-US" sz="3000" dirty="0">
                    <a:solidFill>
                      <a:srgbClr val="000000"/>
                    </a:solidFill>
                    <a:latin typeface="Nunito 1" panose="020B0604020202020204" charset="0"/>
                    <a:ea typeface="Nunito 1 Bold"/>
                    <a:cs typeface="Nunito 1 Bold"/>
                    <a:sym typeface="Nunito 1 Bold"/>
                  </a:rPr>
                  <a:t>		</a:t>
                </a:r>
                <a:r>
                  <a:rPr lang="en-US" sz="2400" dirty="0">
                    <a:solidFill>
                      <a:srgbClr val="000000"/>
                    </a:solidFill>
                    <a:latin typeface="Nunito 1" panose="020B0604020202020204" charset="0"/>
                    <a:ea typeface="Nunito 1 Bold"/>
                    <a:cs typeface="Nunito 1 Bold"/>
                    <a:sym typeface="Nunito 1 Bold"/>
                  </a:rPr>
                  <a:t> For unconfined aquifer:		Q =</a:t>
                </a:r>
                <a:r>
                  <a:rPr lang="en-US" sz="3000" dirty="0">
                    <a:solidFill>
                      <a:srgbClr val="000000"/>
                    </a:solidFill>
                    <a:latin typeface="Nunito 1" panose="020B0604020202020204" charset="0"/>
                    <a:ea typeface="Nunito 1 Bold"/>
                    <a:cs typeface="Nunito 1 Bold"/>
                    <a:sym typeface="Nunito 1 Bold"/>
                  </a:rPr>
                  <a:t> </a:t>
                </a:r>
                <a14:m>
                  <m:oMath xmlns:m="http://schemas.openxmlformats.org/officeDocument/2006/math">
                    <m:f>
                      <m:fPr>
                        <m:ctrlPr>
                          <a:rPr lang="en-US" sz="3000" i="1">
                            <a:solidFill>
                              <a:srgbClr val="000000"/>
                            </a:solidFill>
                            <a:latin typeface="Cambria Math" panose="02040503050406030204" pitchFamily="18" charset="0"/>
                            <a:sym typeface="Nunito 1 Bold"/>
                          </a:rPr>
                        </m:ctrlPr>
                      </m:fPr>
                      <m:num>
                        <m:r>
                          <a:rPr lang="en-PH" sz="3000" i="1">
                            <a:solidFill>
                              <a:srgbClr val="000000"/>
                            </a:solidFill>
                            <a:latin typeface="Cambria Math" panose="02040503050406030204" pitchFamily="18" charset="0"/>
                            <a:sym typeface="Nunito 1 Bold"/>
                          </a:rPr>
                          <m:t>2</m:t>
                        </m:r>
                        <m:r>
                          <a:rPr lang="en-US" sz="3000" i="1">
                            <a:solidFill>
                              <a:srgbClr val="000000"/>
                            </a:solidFill>
                            <a:latin typeface="Cambria Math" panose="02040503050406030204" pitchFamily="18" charset="0"/>
                            <a:ea typeface="Cambria Math" panose="02040503050406030204" pitchFamily="18" charset="0"/>
                            <a:sym typeface="Nunito 1 Bold"/>
                          </a:rPr>
                          <m:t>𝜋</m:t>
                        </m:r>
                        <m:r>
                          <a:rPr lang="en-PH" sz="3000" b="0" i="1" smtClean="0">
                            <a:solidFill>
                              <a:srgbClr val="000000"/>
                            </a:solidFill>
                            <a:latin typeface="Cambria Math" panose="02040503050406030204" pitchFamily="18" charset="0"/>
                            <a:sym typeface="Nunito 1 Bold"/>
                          </a:rPr>
                          <m:t>𝐾𝐻</m:t>
                        </m:r>
                        <m:r>
                          <a:rPr lang="en-PH" sz="3000" i="1">
                            <a:solidFill>
                              <a:srgbClr val="000000"/>
                            </a:solidFill>
                            <a:latin typeface="Cambria Math" panose="02040503050406030204" pitchFamily="18" charset="0"/>
                            <a:ea typeface="Cambria Math" panose="02040503050406030204" pitchFamily="18" charset="0"/>
                            <a:sym typeface="Nunito 1 Bold"/>
                          </a:rPr>
                          <m:t>(</m:t>
                        </m:r>
                        <m:r>
                          <a:rPr lang="en-PH" sz="3000" i="1">
                            <a:solidFill>
                              <a:srgbClr val="000000"/>
                            </a:solidFill>
                            <a:latin typeface="Cambria Math" panose="02040503050406030204" pitchFamily="18" charset="0"/>
                            <a:ea typeface="Cambria Math" panose="02040503050406030204" pitchFamily="18" charset="0"/>
                            <a:sym typeface="Nunito 1 Bold"/>
                          </a:rPr>
                          <m:t>𝐻</m:t>
                        </m:r>
                        <m:r>
                          <a:rPr lang="en-PH" sz="3000" i="1">
                            <a:solidFill>
                              <a:srgbClr val="000000"/>
                            </a:solidFill>
                            <a:latin typeface="Cambria Math" panose="02040503050406030204" pitchFamily="18" charset="0"/>
                            <a:ea typeface="Cambria Math" panose="02040503050406030204" pitchFamily="18" charset="0"/>
                            <a:sym typeface="Nunito 1 Bold"/>
                          </a:rPr>
                          <m:t>−</m:t>
                        </m:r>
                        <m:r>
                          <a:rPr lang="en-PH" sz="3000" i="1">
                            <a:solidFill>
                              <a:srgbClr val="000000"/>
                            </a:solidFill>
                            <a:latin typeface="Cambria Math" panose="02040503050406030204" pitchFamily="18" charset="0"/>
                            <a:ea typeface="Cambria Math" panose="02040503050406030204" pitchFamily="18" charset="0"/>
                            <a:sym typeface="Nunito 1 Bold"/>
                          </a:rPr>
                          <m:t>h𝑤</m:t>
                        </m:r>
                        <m:r>
                          <a:rPr lang="en-PH" sz="3000" i="1">
                            <a:solidFill>
                              <a:srgbClr val="000000"/>
                            </a:solidFill>
                            <a:latin typeface="Cambria Math" panose="02040503050406030204" pitchFamily="18" charset="0"/>
                            <a:ea typeface="Cambria Math" panose="02040503050406030204" pitchFamily="18" charset="0"/>
                            <a:sym typeface="Nunito 1 Bold"/>
                          </a:rPr>
                          <m:t>)</m:t>
                        </m:r>
                      </m:num>
                      <m:den>
                        <m:r>
                          <a:rPr lang="en-PH" sz="3000" i="1">
                            <a:solidFill>
                              <a:srgbClr val="000000"/>
                            </a:solidFill>
                            <a:latin typeface="Cambria Math" panose="02040503050406030204" pitchFamily="18" charset="0"/>
                            <a:sym typeface="Nunito 1 Bold"/>
                          </a:rPr>
                          <m:t>𝑙𝑛</m:t>
                        </m:r>
                        <m:d>
                          <m:dPr>
                            <m:ctrlPr>
                              <a:rPr lang="en-PH" sz="3000" i="1">
                                <a:solidFill>
                                  <a:srgbClr val="000000"/>
                                </a:solidFill>
                                <a:latin typeface="Cambria Math" panose="02040503050406030204" pitchFamily="18" charset="0"/>
                                <a:sym typeface="Nunito 1 Bold"/>
                              </a:rPr>
                            </m:ctrlPr>
                          </m:dPr>
                          <m:e>
                            <m:f>
                              <m:fPr>
                                <m:ctrlPr>
                                  <a:rPr lang="en-PH" sz="3000" i="1">
                                    <a:solidFill>
                                      <a:srgbClr val="000000"/>
                                    </a:solidFill>
                                    <a:latin typeface="Cambria Math" panose="02040503050406030204" pitchFamily="18" charset="0"/>
                                    <a:sym typeface="Nunito 1 Bold"/>
                                  </a:rPr>
                                </m:ctrlPr>
                              </m:fPr>
                              <m:num>
                                <m:r>
                                  <a:rPr lang="en-PH" sz="3000" i="1">
                                    <a:solidFill>
                                      <a:srgbClr val="000000"/>
                                    </a:solidFill>
                                    <a:latin typeface="Cambria Math" panose="02040503050406030204" pitchFamily="18" charset="0"/>
                                    <a:sym typeface="Nunito 1 Bold"/>
                                  </a:rPr>
                                  <m:t>𝑅</m:t>
                                </m:r>
                              </m:num>
                              <m:den>
                                <m:sSub>
                                  <m:sSubPr>
                                    <m:ctrlPr>
                                      <a:rPr lang="en-PH" sz="3000" i="1">
                                        <a:solidFill>
                                          <a:srgbClr val="000000"/>
                                        </a:solidFill>
                                        <a:latin typeface="Cambria Math" panose="02040503050406030204" pitchFamily="18" charset="0"/>
                                        <a:sym typeface="Nunito 1 Bold"/>
                                      </a:rPr>
                                    </m:ctrlPr>
                                  </m:sSubPr>
                                  <m:e>
                                    <m:r>
                                      <a:rPr lang="en-PH" sz="3000" i="1">
                                        <a:solidFill>
                                          <a:srgbClr val="000000"/>
                                        </a:solidFill>
                                        <a:latin typeface="Cambria Math" panose="02040503050406030204" pitchFamily="18" charset="0"/>
                                        <a:sym typeface="Nunito 1 Bold"/>
                                      </a:rPr>
                                      <m:t>𝑟</m:t>
                                    </m:r>
                                  </m:e>
                                  <m:sub>
                                    <m:r>
                                      <a:rPr lang="en-PH" sz="3000" i="1">
                                        <a:solidFill>
                                          <a:srgbClr val="000000"/>
                                        </a:solidFill>
                                        <a:latin typeface="Cambria Math" panose="02040503050406030204" pitchFamily="18" charset="0"/>
                                        <a:sym typeface="Nunito 1 Bold"/>
                                      </a:rPr>
                                      <m:t>𝑤</m:t>
                                    </m:r>
                                  </m:sub>
                                </m:sSub>
                              </m:den>
                            </m:f>
                          </m:e>
                        </m:d>
                      </m:den>
                    </m:f>
                  </m:oMath>
                </a14:m>
                <a:endParaRPr lang="en-US" sz="3000" dirty="0">
                  <a:solidFill>
                    <a:srgbClr val="000000"/>
                  </a:solidFill>
                  <a:latin typeface="Nunito 1" panose="020B0604020202020204" charset="0"/>
                  <a:ea typeface="Nunito 1 Bold"/>
                  <a:cs typeface="Nunito 1 Bold"/>
                  <a:sym typeface="Nunito 1 Bold"/>
                </a:endParaRPr>
              </a:p>
              <a:p>
                <a:pPr algn="just"/>
                <a:endParaRPr lang="en-US" sz="2400" dirty="0">
                  <a:solidFill>
                    <a:srgbClr val="000000"/>
                  </a:solidFill>
                  <a:latin typeface="Nunito 1" panose="020B0604020202020204" charset="0"/>
                  <a:ea typeface="Nunito 1 Bold"/>
                  <a:cs typeface="Nunito 1 Bold"/>
                  <a:sym typeface="Nunito 1 Bold"/>
                </a:endParaRPr>
              </a:p>
            </p:txBody>
          </p:sp>
        </mc:Choice>
        <mc:Fallback xmlns="">
          <p:sp>
            <p:nvSpPr>
              <p:cNvPr id="20" name="TextBox 19">
                <a:extLst>
                  <a:ext uri="{FF2B5EF4-FFF2-40B4-BE49-F238E27FC236}">
                    <a16:creationId xmlns:a16="http://schemas.microsoft.com/office/drawing/2014/main" id="{D4598445-695E-31A6-2106-3D63845F6569}"/>
                  </a:ext>
                </a:extLst>
              </p:cNvPr>
              <p:cNvSpPr txBox="1">
                <a:spLocks noRot="1" noChangeAspect="1" noMove="1" noResize="1" noEditPoints="1" noAdjustHandles="1" noChangeArrowheads="1" noChangeShapeType="1" noTextEdit="1"/>
              </p:cNvSpPr>
              <p:nvPr/>
            </p:nvSpPr>
            <p:spPr>
              <a:xfrm>
                <a:off x="1676399" y="5504742"/>
                <a:ext cx="14935200" cy="3176703"/>
              </a:xfrm>
              <a:prstGeom prst="rect">
                <a:avLst/>
              </a:prstGeom>
              <a:blipFill>
                <a:blip r:embed="rId2"/>
                <a:stretch>
                  <a:fillRect l="-1224"/>
                </a:stretch>
              </a:blipFill>
            </p:spPr>
            <p:txBody>
              <a:bodyPr/>
              <a:lstStyle/>
              <a:p>
                <a:r>
                  <a:rPr lang="en-PH">
                    <a:noFill/>
                  </a:rPr>
                  <a:t> </a:t>
                </a:r>
              </a:p>
            </p:txBody>
          </p:sp>
        </mc:Fallback>
      </mc:AlternateContent>
      <p:grpSp>
        <p:nvGrpSpPr>
          <p:cNvPr id="17" name="Group 16">
            <a:extLst>
              <a:ext uri="{FF2B5EF4-FFF2-40B4-BE49-F238E27FC236}">
                <a16:creationId xmlns:a16="http://schemas.microsoft.com/office/drawing/2014/main" id="{6FB074CF-6125-D7C3-1FC9-4C4CB0801DFF}"/>
              </a:ext>
            </a:extLst>
          </p:cNvPr>
          <p:cNvGrpSpPr/>
          <p:nvPr/>
        </p:nvGrpSpPr>
        <p:grpSpPr>
          <a:xfrm>
            <a:off x="0" y="9599693"/>
            <a:ext cx="18287999" cy="687306"/>
            <a:chOff x="0" y="9599693"/>
            <a:chExt cx="18287999" cy="687306"/>
          </a:xfrm>
        </p:grpSpPr>
        <p:grpSp>
          <p:nvGrpSpPr>
            <p:cNvPr id="21" name="Group 11">
              <a:extLst>
                <a:ext uri="{FF2B5EF4-FFF2-40B4-BE49-F238E27FC236}">
                  <a16:creationId xmlns:a16="http://schemas.microsoft.com/office/drawing/2014/main" id="{F97CFBA3-0FD9-D7E0-36FC-B30B9ED41C8D}"/>
                </a:ext>
              </a:extLst>
            </p:cNvPr>
            <p:cNvGrpSpPr/>
            <p:nvPr/>
          </p:nvGrpSpPr>
          <p:grpSpPr>
            <a:xfrm>
              <a:off x="0" y="9599694"/>
              <a:ext cx="18287999" cy="687305"/>
              <a:chOff x="0" y="0"/>
              <a:chExt cx="5260714" cy="490218"/>
            </a:xfrm>
          </p:grpSpPr>
          <p:sp>
            <p:nvSpPr>
              <p:cNvPr id="28" name="Freeform 12">
                <a:extLst>
                  <a:ext uri="{FF2B5EF4-FFF2-40B4-BE49-F238E27FC236}">
                    <a16:creationId xmlns:a16="http://schemas.microsoft.com/office/drawing/2014/main" id="{1B637EA3-A4B4-7938-312C-0E6B553A0279}"/>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9" name="TextBox 13">
                <a:extLst>
                  <a:ext uri="{FF2B5EF4-FFF2-40B4-BE49-F238E27FC236}">
                    <a16:creationId xmlns:a16="http://schemas.microsoft.com/office/drawing/2014/main" id="{8492D0EE-3631-8EEC-45EC-D075071B7DB4}"/>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12">
              <a:extLst>
                <a:ext uri="{FF2B5EF4-FFF2-40B4-BE49-F238E27FC236}">
                  <a16:creationId xmlns:a16="http://schemas.microsoft.com/office/drawing/2014/main" id="{80B088DC-AECF-E025-75D5-48E6A8C0752B}"/>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7" name="TextBox 13">
              <a:extLst>
                <a:ext uri="{FF2B5EF4-FFF2-40B4-BE49-F238E27FC236}">
                  <a16:creationId xmlns:a16="http://schemas.microsoft.com/office/drawing/2014/main" id="{CBC5E8C1-B380-F7F3-EDDF-AC0DACB3B825}"/>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spTree>
    <p:extLst>
      <p:ext uri="{BB962C8B-B14F-4D97-AF65-F5344CB8AC3E}">
        <p14:creationId xmlns:p14="http://schemas.microsoft.com/office/powerpoint/2010/main" val="3576624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6E21D-C40D-2C3D-B620-2B1F9D3B9D7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98A8B01-A3F8-FA87-5AA4-288F1E6E4172}"/>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230A0BDE-FF7A-B407-4DD0-0DBD53CC93E4}"/>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B93306F8-C487-19BE-217C-4DA5618794CC}"/>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12863B7B-CE13-9688-C0F2-85F77D616138}"/>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6C8BE9CC-ECE8-669A-2F99-714AAA4EB723}"/>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D88DA679-7A41-6C7B-83DC-74A026CDB203}"/>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A18141CB-2663-96A3-D86E-2FE665B9DC52}"/>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0A130B97-B038-6ADB-CDE7-F6BEF156AD6F}"/>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B1B1D39F-5398-430A-8D35-8CE9593381B0}"/>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AFECFA61-BA51-B837-788A-9838FD5B0CA5}"/>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D0185033-0EA1-F483-2850-A3B6080CAD37}"/>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381E1AA0-C9B9-3849-5DDB-386EB1999F74}"/>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E2CF0945-7D22-6F0A-ED5C-D22FC523BBB1}"/>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17</a:t>
            </a:r>
          </a:p>
        </p:txBody>
      </p:sp>
      <p:sp>
        <p:nvSpPr>
          <p:cNvPr id="15" name="TextBox 15">
            <a:extLst>
              <a:ext uri="{FF2B5EF4-FFF2-40B4-BE49-F238E27FC236}">
                <a16:creationId xmlns:a16="http://schemas.microsoft.com/office/drawing/2014/main" id="{A1BEFB4C-BCF8-FC7D-55CE-1594A6AEEB1E}"/>
              </a:ext>
            </a:extLst>
          </p:cNvPr>
          <p:cNvSpPr txBox="1"/>
          <p:nvPr/>
        </p:nvSpPr>
        <p:spPr>
          <a:xfrm>
            <a:off x="2246041" y="2025065"/>
            <a:ext cx="13795916" cy="738664"/>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This refers to a system consisting of a tube of pipe that is vertically set on the ground and is designed to lift water from shallow aquifer for irrigation using pump and other prime movers.</a:t>
            </a:r>
          </a:p>
        </p:txBody>
      </p:sp>
      <p:sp>
        <p:nvSpPr>
          <p:cNvPr id="19" name="TextBox 12">
            <a:extLst>
              <a:ext uri="{FF2B5EF4-FFF2-40B4-BE49-F238E27FC236}">
                <a16:creationId xmlns:a16="http://schemas.microsoft.com/office/drawing/2014/main" id="{E84362CA-A03D-8F33-2D0E-B225E33CAC36}"/>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42470D21-3F81-286A-925F-E842C721342B}"/>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2956E5CC-EFFD-6617-7FA2-E83E26842DF8}"/>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EEDF2C21-2126-D6E1-554D-C1DCA3075FBB}"/>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3">
            <a:extLst>
              <a:ext uri="{FF2B5EF4-FFF2-40B4-BE49-F238E27FC236}">
                <a16:creationId xmlns:a16="http://schemas.microsoft.com/office/drawing/2014/main" id="{7A1AA4E8-C29F-59A6-7DC9-1465E71D0463}"/>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sp>
        <p:nvSpPr>
          <p:cNvPr id="21" name="TextBox 20">
            <a:extLst>
              <a:ext uri="{FF2B5EF4-FFF2-40B4-BE49-F238E27FC236}">
                <a16:creationId xmlns:a16="http://schemas.microsoft.com/office/drawing/2014/main" id="{2996D510-E961-9CE1-7013-024B71818C7F}"/>
              </a:ext>
            </a:extLst>
          </p:cNvPr>
          <p:cNvSpPr txBox="1"/>
          <p:nvPr/>
        </p:nvSpPr>
        <p:spPr>
          <a:xfrm>
            <a:off x="1676399" y="3693587"/>
            <a:ext cx="14935200" cy="3323987"/>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Shallow tubewell</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Deep well</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Aquifer well</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Perched well</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p:txBody>
      </p:sp>
      <p:sp>
        <p:nvSpPr>
          <p:cNvPr id="22" name="Oval 21">
            <a:extLst>
              <a:ext uri="{FF2B5EF4-FFF2-40B4-BE49-F238E27FC236}">
                <a16:creationId xmlns:a16="http://schemas.microsoft.com/office/drawing/2014/main" id="{93F96399-DE5E-DC24-5029-AE36A677C706}"/>
              </a:ext>
            </a:extLst>
          </p:cNvPr>
          <p:cNvSpPr/>
          <p:nvPr/>
        </p:nvSpPr>
        <p:spPr>
          <a:xfrm>
            <a:off x="1523999" y="3623272"/>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6" name="TextBox 15">
            <a:extLst>
              <a:ext uri="{FF2B5EF4-FFF2-40B4-BE49-F238E27FC236}">
                <a16:creationId xmlns:a16="http://schemas.microsoft.com/office/drawing/2014/main" id="{1C96BDE3-ADC7-EB28-2909-BD8EC052BE0C}"/>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https://www.da.gov.ph/wp-content/uploads/2018/07/mo19_s2018.pdf</a:t>
            </a:r>
          </a:p>
        </p:txBody>
      </p:sp>
      <p:pic>
        <p:nvPicPr>
          <p:cNvPr id="26" name="Picture 25">
            <a:extLst>
              <a:ext uri="{FF2B5EF4-FFF2-40B4-BE49-F238E27FC236}">
                <a16:creationId xmlns:a16="http://schemas.microsoft.com/office/drawing/2014/main" id="{4B89B2AC-1542-6817-291D-8972A2966BE7}"/>
              </a:ext>
            </a:extLst>
          </p:cNvPr>
          <p:cNvPicPr>
            <a:picLocks noChangeAspect="1"/>
          </p:cNvPicPr>
          <p:nvPr/>
        </p:nvPicPr>
        <p:blipFill>
          <a:blip r:embed="rId3"/>
          <a:stretch>
            <a:fillRect/>
          </a:stretch>
        </p:blipFill>
        <p:spPr>
          <a:xfrm>
            <a:off x="5961754" y="3918313"/>
            <a:ext cx="10515602" cy="1656158"/>
          </a:xfrm>
          <a:prstGeom prst="rect">
            <a:avLst/>
          </a:prstGeom>
        </p:spPr>
      </p:pic>
      <p:grpSp>
        <p:nvGrpSpPr>
          <p:cNvPr id="17" name="Group 16">
            <a:extLst>
              <a:ext uri="{FF2B5EF4-FFF2-40B4-BE49-F238E27FC236}">
                <a16:creationId xmlns:a16="http://schemas.microsoft.com/office/drawing/2014/main" id="{7567C77D-C416-A1D8-AB6E-6BE5A3800003}"/>
              </a:ext>
            </a:extLst>
          </p:cNvPr>
          <p:cNvGrpSpPr/>
          <p:nvPr/>
        </p:nvGrpSpPr>
        <p:grpSpPr>
          <a:xfrm>
            <a:off x="0" y="9599693"/>
            <a:ext cx="18287999" cy="687306"/>
            <a:chOff x="0" y="9599693"/>
            <a:chExt cx="18287999" cy="687306"/>
          </a:xfrm>
        </p:grpSpPr>
        <p:grpSp>
          <p:nvGrpSpPr>
            <p:cNvPr id="20" name="Group 11">
              <a:extLst>
                <a:ext uri="{FF2B5EF4-FFF2-40B4-BE49-F238E27FC236}">
                  <a16:creationId xmlns:a16="http://schemas.microsoft.com/office/drawing/2014/main" id="{C71604E3-F54B-169D-F89A-AAC55CF70BD4}"/>
                </a:ext>
              </a:extLst>
            </p:cNvPr>
            <p:cNvGrpSpPr/>
            <p:nvPr/>
          </p:nvGrpSpPr>
          <p:grpSpPr>
            <a:xfrm>
              <a:off x="0" y="9599694"/>
              <a:ext cx="18287999" cy="687305"/>
              <a:chOff x="0" y="0"/>
              <a:chExt cx="5260714" cy="490218"/>
            </a:xfrm>
          </p:grpSpPr>
          <p:sp>
            <p:nvSpPr>
              <p:cNvPr id="29" name="Freeform 12">
                <a:extLst>
                  <a:ext uri="{FF2B5EF4-FFF2-40B4-BE49-F238E27FC236}">
                    <a16:creationId xmlns:a16="http://schemas.microsoft.com/office/drawing/2014/main" id="{047F1063-3222-4170-9311-4952A7C3420C}"/>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30" name="TextBox 13">
                <a:extLst>
                  <a:ext uri="{FF2B5EF4-FFF2-40B4-BE49-F238E27FC236}">
                    <a16:creationId xmlns:a16="http://schemas.microsoft.com/office/drawing/2014/main" id="{DECA7355-5412-BE2C-1579-E57949484336}"/>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7" name="TextBox 12">
              <a:extLst>
                <a:ext uri="{FF2B5EF4-FFF2-40B4-BE49-F238E27FC236}">
                  <a16:creationId xmlns:a16="http://schemas.microsoft.com/office/drawing/2014/main" id="{1A60BD33-9653-9789-CE8D-820D808CD467}"/>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8" name="TextBox 13">
              <a:extLst>
                <a:ext uri="{FF2B5EF4-FFF2-40B4-BE49-F238E27FC236}">
                  <a16:creationId xmlns:a16="http://schemas.microsoft.com/office/drawing/2014/main" id="{96362B27-C4A7-E1C6-6BF4-8DB80137797A}"/>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spTree>
    <p:extLst>
      <p:ext uri="{BB962C8B-B14F-4D97-AF65-F5344CB8AC3E}">
        <p14:creationId xmlns:p14="http://schemas.microsoft.com/office/powerpoint/2010/main" val="3197734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9B6B2-53F7-6540-7C47-3A9CA9E55D1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2DC2EE9-8DEF-A629-8E96-46C3C492FDDF}"/>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35F144A8-0294-41D9-6A70-FEAEF35ED6C8}"/>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8423F06C-A3D6-8724-73A1-AB0094BD0C37}"/>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6E3CFAF2-105B-1DCD-6A32-AEC023DEDCA7}"/>
              </a:ext>
            </a:extLst>
          </p:cNvPr>
          <p:cNvGrpSpPr/>
          <p:nvPr/>
        </p:nvGrpSpPr>
        <p:grpSpPr>
          <a:xfrm>
            <a:off x="1028699" y="1230939"/>
            <a:ext cx="16230600" cy="7447557"/>
            <a:chOff x="0" y="0"/>
            <a:chExt cx="4274726" cy="1718953"/>
          </a:xfrm>
        </p:grpSpPr>
        <p:sp>
          <p:nvSpPr>
            <p:cNvPr id="6" name="Freeform 6">
              <a:extLst>
                <a:ext uri="{FF2B5EF4-FFF2-40B4-BE49-F238E27FC236}">
                  <a16:creationId xmlns:a16="http://schemas.microsoft.com/office/drawing/2014/main" id="{BF4CB4A7-426C-4A60-2C98-624173DCB77A}"/>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B30E8150-9EB9-62C4-830D-0542B558BA9B}"/>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81D13F69-CC62-C0E7-497B-CA8F1C600C91}"/>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34A8D3F6-6814-8F83-746F-E389540E582F}"/>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6C1527AF-A5CF-5DCC-C401-C2EDB4C25210}"/>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6D003100-6200-2E3E-5B67-96ED347865BF}"/>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C6600044-1DDE-DBC8-1636-DBE12A00D9B3}"/>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6C210743-26E7-1A46-CE37-274175485AE7}"/>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B3716CF5-89F7-53BD-C8C8-0A38D84D272A}"/>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18</a:t>
            </a:r>
          </a:p>
        </p:txBody>
      </p:sp>
      <p:sp>
        <p:nvSpPr>
          <p:cNvPr id="15" name="TextBox 15">
            <a:extLst>
              <a:ext uri="{FF2B5EF4-FFF2-40B4-BE49-F238E27FC236}">
                <a16:creationId xmlns:a16="http://schemas.microsoft.com/office/drawing/2014/main" id="{DEB3A318-D103-2DBF-3155-17A151C2A770}"/>
              </a:ext>
            </a:extLst>
          </p:cNvPr>
          <p:cNvSpPr txBox="1"/>
          <p:nvPr/>
        </p:nvSpPr>
        <p:spPr>
          <a:xfrm>
            <a:off x="2246041" y="2025065"/>
            <a:ext cx="13795916" cy="738664"/>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According to PAES 615:2016, there are four types of shallow well. Which type is used in unconsolidated formations with shallow water tables that contain not too many rocks?</a:t>
            </a:r>
          </a:p>
        </p:txBody>
      </p:sp>
      <p:sp>
        <p:nvSpPr>
          <p:cNvPr id="19" name="TextBox 12">
            <a:extLst>
              <a:ext uri="{FF2B5EF4-FFF2-40B4-BE49-F238E27FC236}">
                <a16:creationId xmlns:a16="http://schemas.microsoft.com/office/drawing/2014/main" id="{6300A154-5A8B-0575-D41F-2BB9A4AADCC5}"/>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CC42CB02-974B-D004-4977-10FD5A875A14}"/>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A0EBCE21-7FA5-F101-9888-69B9AB0E8800}"/>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7C0ABBDA-EEE2-636C-34A6-B146C1F67E30}"/>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3">
            <a:extLst>
              <a:ext uri="{FF2B5EF4-FFF2-40B4-BE49-F238E27FC236}">
                <a16:creationId xmlns:a16="http://schemas.microsoft.com/office/drawing/2014/main" id="{BE6FD5AB-13C9-AD97-4593-441F477E3AEA}"/>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sp>
        <p:nvSpPr>
          <p:cNvPr id="21" name="TextBox 20">
            <a:extLst>
              <a:ext uri="{FF2B5EF4-FFF2-40B4-BE49-F238E27FC236}">
                <a16:creationId xmlns:a16="http://schemas.microsoft.com/office/drawing/2014/main" id="{84AEAAE5-741B-83AC-0187-0A89151548C3}"/>
              </a:ext>
            </a:extLst>
          </p:cNvPr>
          <p:cNvSpPr txBox="1"/>
          <p:nvPr/>
        </p:nvSpPr>
        <p:spPr>
          <a:xfrm>
            <a:off x="1676399" y="3693587"/>
            <a:ext cx="14935200" cy="2585323"/>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Dug well</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Bored/</a:t>
            </a:r>
            <a:r>
              <a:rPr lang="en-US" sz="2400" dirty="0" err="1">
                <a:solidFill>
                  <a:srgbClr val="000000"/>
                </a:solidFill>
                <a:latin typeface="Nunito 1" panose="020B0604020202020204" charset="0"/>
                <a:ea typeface="Nunito 1 Bold"/>
                <a:cs typeface="Nunito 1 Bold"/>
                <a:sym typeface="Nunito 1 Bold"/>
              </a:rPr>
              <a:t>Augered</a:t>
            </a:r>
            <a:r>
              <a:rPr lang="en-US" sz="2400" dirty="0">
                <a:solidFill>
                  <a:srgbClr val="000000"/>
                </a:solidFill>
                <a:latin typeface="Nunito 1" panose="020B0604020202020204" charset="0"/>
                <a:ea typeface="Nunito 1 Bold"/>
                <a:cs typeface="Nunito 1 Bold"/>
                <a:sym typeface="Nunito 1 Bold"/>
              </a:rPr>
              <a:t> well</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Driven well</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Jetted well</a:t>
            </a:r>
          </a:p>
        </p:txBody>
      </p:sp>
      <p:sp>
        <p:nvSpPr>
          <p:cNvPr id="22" name="Oval 21">
            <a:extLst>
              <a:ext uri="{FF2B5EF4-FFF2-40B4-BE49-F238E27FC236}">
                <a16:creationId xmlns:a16="http://schemas.microsoft.com/office/drawing/2014/main" id="{4C9EDC45-CCE1-C1CA-327B-6CE5474D3E9A}"/>
              </a:ext>
            </a:extLst>
          </p:cNvPr>
          <p:cNvSpPr/>
          <p:nvPr/>
        </p:nvSpPr>
        <p:spPr>
          <a:xfrm>
            <a:off x="1524000" y="5067300"/>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6" name="TextBox 15">
            <a:extLst>
              <a:ext uri="{FF2B5EF4-FFF2-40B4-BE49-F238E27FC236}">
                <a16:creationId xmlns:a16="http://schemas.microsoft.com/office/drawing/2014/main" id="{8C5763DB-97BB-50B2-581F-32A8C415780C}"/>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https://www.da.gov.ph/wp-content/uploads/2018/07/mo19_s2018.pdf</a:t>
            </a:r>
          </a:p>
        </p:txBody>
      </p:sp>
      <p:grpSp>
        <p:nvGrpSpPr>
          <p:cNvPr id="17" name="Group 16">
            <a:extLst>
              <a:ext uri="{FF2B5EF4-FFF2-40B4-BE49-F238E27FC236}">
                <a16:creationId xmlns:a16="http://schemas.microsoft.com/office/drawing/2014/main" id="{97B8E8F3-CDE6-E83C-B7ED-594096F65B2B}"/>
              </a:ext>
            </a:extLst>
          </p:cNvPr>
          <p:cNvGrpSpPr/>
          <p:nvPr/>
        </p:nvGrpSpPr>
        <p:grpSpPr>
          <a:xfrm>
            <a:off x="0" y="9599693"/>
            <a:ext cx="18287999" cy="687306"/>
            <a:chOff x="0" y="9599693"/>
            <a:chExt cx="18287999" cy="687306"/>
          </a:xfrm>
        </p:grpSpPr>
        <p:grpSp>
          <p:nvGrpSpPr>
            <p:cNvPr id="20" name="Group 11">
              <a:extLst>
                <a:ext uri="{FF2B5EF4-FFF2-40B4-BE49-F238E27FC236}">
                  <a16:creationId xmlns:a16="http://schemas.microsoft.com/office/drawing/2014/main" id="{3A8EE6F8-9C03-4391-1B16-B9B8CCC0C878}"/>
                </a:ext>
              </a:extLst>
            </p:cNvPr>
            <p:cNvGrpSpPr/>
            <p:nvPr/>
          </p:nvGrpSpPr>
          <p:grpSpPr>
            <a:xfrm>
              <a:off x="0" y="9599694"/>
              <a:ext cx="18287999" cy="687305"/>
              <a:chOff x="0" y="0"/>
              <a:chExt cx="5260714" cy="490218"/>
            </a:xfrm>
          </p:grpSpPr>
          <p:sp>
            <p:nvSpPr>
              <p:cNvPr id="28" name="Freeform 12">
                <a:extLst>
                  <a:ext uri="{FF2B5EF4-FFF2-40B4-BE49-F238E27FC236}">
                    <a16:creationId xmlns:a16="http://schemas.microsoft.com/office/drawing/2014/main" id="{EBBE3F04-12F3-64DB-AE29-5FA77CA5C636}"/>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9" name="TextBox 13">
                <a:extLst>
                  <a:ext uri="{FF2B5EF4-FFF2-40B4-BE49-F238E27FC236}">
                    <a16:creationId xmlns:a16="http://schemas.microsoft.com/office/drawing/2014/main" id="{D6C9BFF8-38BD-CBDC-4E67-D7230D13173E}"/>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2">
              <a:extLst>
                <a:ext uri="{FF2B5EF4-FFF2-40B4-BE49-F238E27FC236}">
                  <a16:creationId xmlns:a16="http://schemas.microsoft.com/office/drawing/2014/main" id="{91DDA42D-3A45-34AD-FC43-A43C43935232}"/>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7" name="TextBox 13">
              <a:extLst>
                <a:ext uri="{FF2B5EF4-FFF2-40B4-BE49-F238E27FC236}">
                  <a16:creationId xmlns:a16="http://schemas.microsoft.com/office/drawing/2014/main" id="{8621001B-7433-233C-6F67-E901512DD676}"/>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spTree>
    <p:extLst>
      <p:ext uri="{BB962C8B-B14F-4D97-AF65-F5344CB8AC3E}">
        <p14:creationId xmlns:p14="http://schemas.microsoft.com/office/powerpoint/2010/main" val="2356721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18C2B-3EE6-3590-8A8E-873EF1E1C18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781E2D6-27AB-CF02-4ACD-1962CD6E40B0}"/>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FB3DD254-66F8-5FDA-007B-F1293AA9FA18}"/>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14010B24-B353-19CF-772E-0ECFC337C93D}"/>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282C61C9-F3FA-7C0C-CF56-49CCFF17B992}"/>
              </a:ext>
            </a:extLst>
          </p:cNvPr>
          <p:cNvGrpSpPr/>
          <p:nvPr/>
        </p:nvGrpSpPr>
        <p:grpSpPr>
          <a:xfrm>
            <a:off x="1028700" y="1248739"/>
            <a:ext cx="16230600" cy="7447557"/>
            <a:chOff x="0" y="0"/>
            <a:chExt cx="4274726" cy="1718953"/>
          </a:xfrm>
        </p:grpSpPr>
        <p:sp>
          <p:nvSpPr>
            <p:cNvPr id="6" name="Freeform 6">
              <a:extLst>
                <a:ext uri="{FF2B5EF4-FFF2-40B4-BE49-F238E27FC236}">
                  <a16:creationId xmlns:a16="http://schemas.microsoft.com/office/drawing/2014/main" id="{237EF7B7-FB17-CD90-6D17-B79FE8C881B1}"/>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A8E08B48-CB07-17AC-BD6D-30782428007F}"/>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69177832-DCA0-D93D-9019-43B81AA6DED6}"/>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F59ACFE5-1FE2-5E66-7C95-C1D78E333ECB}"/>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CD6AC36E-1DCE-11D4-22AB-A8655771A9AA}"/>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84D85243-76CA-6EA2-0A13-4D2E6FDC0C3F}"/>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F7958539-C52A-A99D-4F57-585B686FF612}"/>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77E797AA-0723-6853-1C8B-536A1D5D5B43}"/>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2">
            <a:extLst>
              <a:ext uri="{FF2B5EF4-FFF2-40B4-BE49-F238E27FC236}">
                <a16:creationId xmlns:a16="http://schemas.microsoft.com/office/drawing/2014/main" id="{EB256920-D3E3-204C-FA88-0E8EF011A217}"/>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3792DA0A-931D-6274-636F-D577258C7086}"/>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1D4E05D2-A8AC-9172-DBBA-D23457F4DAB6}"/>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06EB526B-799E-C2F8-E61E-752ECFC6F711}"/>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3">
            <a:extLst>
              <a:ext uri="{FF2B5EF4-FFF2-40B4-BE49-F238E27FC236}">
                <a16:creationId xmlns:a16="http://schemas.microsoft.com/office/drawing/2014/main" id="{19AD67B1-07D8-3579-5241-5B834E5403FE}"/>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sp>
        <p:nvSpPr>
          <p:cNvPr id="21" name="TextBox 20">
            <a:extLst>
              <a:ext uri="{FF2B5EF4-FFF2-40B4-BE49-F238E27FC236}">
                <a16:creationId xmlns:a16="http://schemas.microsoft.com/office/drawing/2014/main" id="{1F3F7439-886F-98C0-6B95-54C0A6A04381}"/>
              </a:ext>
            </a:extLst>
          </p:cNvPr>
          <p:cNvSpPr txBox="1"/>
          <p:nvPr/>
        </p:nvSpPr>
        <p:spPr>
          <a:xfrm>
            <a:off x="1676399" y="2936227"/>
            <a:ext cx="14935200" cy="4062651"/>
          </a:xfrm>
          <a:prstGeom prst="rect">
            <a:avLst/>
          </a:prstGeom>
        </p:spPr>
        <p:txBody>
          <a:bodyPr wrap="square" lIns="0" tIns="0" rIns="0" bIns="0" rtlCol="0" anchor="t">
            <a:spAutoFit/>
          </a:bodyPr>
          <a:lstStyle/>
          <a:p>
            <a:pPr marL="514350" indent="-514350" algn="just">
              <a:buFont typeface="+mj-lt"/>
              <a:buAutoNum type="arabicPeriod"/>
            </a:pPr>
            <a:r>
              <a:rPr lang="en-US" sz="2400" b="1" dirty="0">
                <a:solidFill>
                  <a:srgbClr val="000000"/>
                </a:solidFill>
                <a:latin typeface="Nunito 1" panose="020B0604020202020204" charset="0"/>
                <a:ea typeface="Nunito 1 Bold"/>
                <a:cs typeface="Nunito 1 Bold"/>
                <a:sym typeface="Nunito 1 Bold"/>
              </a:rPr>
              <a:t>Dug well </a:t>
            </a:r>
            <a:r>
              <a:rPr lang="en-US" sz="2400" dirty="0">
                <a:solidFill>
                  <a:srgbClr val="000000"/>
                </a:solidFill>
                <a:latin typeface="Nunito 1" panose="020B0604020202020204" charset="0"/>
                <a:ea typeface="Nunito 1 Bold"/>
                <a:cs typeface="Nunito 1 Bold"/>
                <a:sym typeface="Nunito 1 Bold"/>
              </a:rPr>
              <a:t>- used in </a:t>
            </a:r>
            <a:r>
              <a:rPr lang="en-US" sz="2400" u="sng" dirty="0">
                <a:solidFill>
                  <a:srgbClr val="000000"/>
                </a:solidFill>
                <a:latin typeface="Nunito 1" panose="020B0604020202020204" charset="0"/>
                <a:ea typeface="Nunito 1 Bold"/>
                <a:cs typeface="Nunito 1 Bold"/>
                <a:sym typeface="Nunito 1 Bold"/>
              </a:rPr>
              <a:t>unconsolidated formations with large diameters</a:t>
            </a:r>
            <a:r>
              <a:rPr lang="en-US" sz="2400" dirty="0">
                <a:solidFill>
                  <a:srgbClr val="000000"/>
                </a:solidFill>
                <a:latin typeface="Nunito 1" panose="020B0604020202020204" charset="0"/>
                <a:ea typeface="Nunito 1 Bold"/>
                <a:cs typeface="Nunito 1 Bold"/>
                <a:sym typeface="Nunito 1 Bold"/>
              </a:rPr>
              <a:t> which  permit considerable water storage.</a:t>
            </a:r>
          </a:p>
          <a:p>
            <a:pPr marL="514350" indent="-514350" algn="just">
              <a:buFont typeface="+mj-lt"/>
              <a:buAutoNum type="arabi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rabicPeriod"/>
            </a:pPr>
            <a:r>
              <a:rPr lang="en-US" sz="2400" b="1" dirty="0">
                <a:solidFill>
                  <a:srgbClr val="000000"/>
                </a:solidFill>
                <a:latin typeface="Nunito 1" panose="020B0604020202020204" charset="0"/>
                <a:ea typeface="Nunito 1 Bold"/>
                <a:cs typeface="Nunito 1 Bold"/>
                <a:sym typeface="Nunito 1 Bold"/>
              </a:rPr>
              <a:t>Bored/</a:t>
            </a:r>
            <a:r>
              <a:rPr lang="en-US" sz="2400" b="1" dirty="0" err="1">
                <a:solidFill>
                  <a:srgbClr val="000000"/>
                </a:solidFill>
                <a:latin typeface="Nunito 1" panose="020B0604020202020204" charset="0"/>
                <a:ea typeface="Nunito 1 Bold"/>
                <a:cs typeface="Nunito 1 Bold"/>
                <a:sym typeface="Nunito 1 Bold"/>
              </a:rPr>
              <a:t>Augered</a:t>
            </a:r>
            <a:r>
              <a:rPr lang="en-US" sz="2400" b="1" dirty="0">
                <a:solidFill>
                  <a:srgbClr val="000000"/>
                </a:solidFill>
                <a:latin typeface="Nunito 1" panose="020B0604020202020204" charset="0"/>
                <a:ea typeface="Nunito 1 Bold"/>
                <a:cs typeface="Nunito 1 Bold"/>
                <a:sym typeface="Nunito 1 Bold"/>
              </a:rPr>
              <a:t> well </a:t>
            </a:r>
            <a:r>
              <a:rPr lang="en-US" sz="2400" dirty="0">
                <a:solidFill>
                  <a:srgbClr val="000000"/>
                </a:solidFill>
                <a:latin typeface="Nunito 1" panose="020B0604020202020204" charset="0"/>
                <a:ea typeface="Nunito 1 Bold"/>
                <a:cs typeface="Nunito 1 Bold"/>
                <a:sym typeface="Nunito 1 Bold"/>
              </a:rPr>
              <a:t>- used in formations with </a:t>
            </a:r>
            <a:r>
              <a:rPr lang="en-US" sz="2400" u="sng" dirty="0">
                <a:solidFill>
                  <a:srgbClr val="000000"/>
                </a:solidFill>
                <a:latin typeface="Nunito 1" panose="020B0604020202020204" charset="0"/>
                <a:ea typeface="Nunito 1 Bold"/>
                <a:cs typeface="Nunito 1 Bold"/>
                <a:sym typeface="Nunito 1 Bold"/>
              </a:rPr>
              <a:t>very shallow water depths</a:t>
            </a:r>
          </a:p>
          <a:p>
            <a:pPr marL="514350" indent="-514350" algn="just">
              <a:buFont typeface="+mj-lt"/>
              <a:buAutoNum type="arabi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rabicPeriod"/>
            </a:pPr>
            <a:r>
              <a:rPr lang="en-US" sz="2400" b="1" dirty="0">
                <a:solidFill>
                  <a:srgbClr val="000000"/>
                </a:solidFill>
                <a:latin typeface="Nunito 1" panose="020B0604020202020204" charset="0"/>
                <a:ea typeface="Nunito 1 Bold"/>
                <a:cs typeface="Nunito 1 Bold"/>
                <a:sym typeface="Nunito 1 Bold"/>
              </a:rPr>
              <a:t>Driven well </a:t>
            </a:r>
            <a:r>
              <a:rPr lang="en-US" sz="2400" dirty="0">
                <a:solidFill>
                  <a:srgbClr val="000000"/>
                </a:solidFill>
                <a:latin typeface="Nunito 1" panose="020B0604020202020204" charset="0"/>
                <a:ea typeface="Nunito 1 Bold"/>
                <a:cs typeface="Nunito 1 Bold"/>
                <a:sym typeface="Nunito 1 Bold"/>
              </a:rPr>
              <a:t>- used in </a:t>
            </a:r>
            <a:r>
              <a:rPr lang="en-US" sz="2400" u="sng" dirty="0">
                <a:solidFill>
                  <a:srgbClr val="000000"/>
                </a:solidFill>
                <a:latin typeface="Nunito 1" panose="020B0604020202020204" charset="0"/>
                <a:ea typeface="Nunito 1 Bold"/>
                <a:cs typeface="Nunito 1 Bold"/>
                <a:sym typeface="Nunito 1 Bold"/>
              </a:rPr>
              <a:t>unconsolidated formations with shallow water tables  </a:t>
            </a:r>
            <a:r>
              <a:rPr lang="en-US" sz="2400" dirty="0">
                <a:solidFill>
                  <a:srgbClr val="000000"/>
                </a:solidFill>
                <a:latin typeface="Nunito 1" panose="020B0604020202020204" charset="0"/>
                <a:ea typeface="Nunito 1 Bold"/>
                <a:cs typeface="Nunito 1 Bold"/>
                <a:sym typeface="Nunito 1 Bold"/>
              </a:rPr>
              <a:t>that contain not too many rocks</a:t>
            </a:r>
          </a:p>
          <a:p>
            <a:pPr marL="514350" indent="-514350" algn="just">
              <a:buFont typeface="+mj-lt"/>
              <a:buAutoNum type="arabi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rabicPeriod"/>
            </a:pPr>
            <a:r>
              <a:rPr lang="en-US" sz="2400" b="1" dirty="0">
                <a:solidFill>
                  <a:srgbClr val="000000"/>
                </a:solidFill>
                <a:latin typeface="Nunito 1" panose="020B0604020202020204" charset="0"/>
                <a:ea typeface="Nunito 1 Bold"/>
                <a:cs typeface="Nunito 1 Bold"/>
                <a:sym typeface="Nunito 1 Bold"/>
              </a:rPr>
              <a:t>Jetted well </a:t>
            </a:r>
            <a:r>
              <a:rPr lang="en-US" sz="2400" dirty="0">
                <a:solidFill>
                  <a:srgbClr val="000000"/>
                </a:solidFill>
                <a:latin typeface="Nunito 1" panose="020B0604020202020204" charset="0"/>
                <a:ea typeface="Nunito 1 Bold"/>
                <a:cs typeface="Nunito 1 Bold"/>
                <a:sym typeface="Nunito 1 Bold"/>
              </a:rPr>
              <a:t>- constructed by the cutting action of a downward-directed steam  of water to excavate the hole and carry the excavated materials out of the hole.</a:t>
            </a:r>
          </a:p>
          <a:p>
            <a:pPr marL="514350" indent="-514350" algn="just">
              <a:buFont typeface="+mj-lt"/>
              <a:buAutoNum type="arabicPeriod"/>
            </a:pPr>
            <a:endParaRPr lang="en-US" sz="2400" dirty="0">
              <a:solidFill>
                <a:srgbClr val="000000"/>
              </a:solidFill>
              <a:latin typeface="Nunito 1" panose="020B0604020202020204" charset="0"/>
              <a:ea typeface="Nunito 1 Bold"/>
              <a:cs typeface="Nunito 1 Bold"/>
              <a:sym typeface="Nunito 1 Bold"/>
            </a:endParaRPr>
          </a:p>
        </p:txBody>
      </p:sp>
      <p:sp>
        <p:nvSpPr>
          <p:cNvPr id="16" name="TextBox 15">
            <a:extLst>
              <a:ext uri="{FF2B5EF4-FFF2-40B4-BE49-F238E27FC236}">
                <a16:creationId xmlns:a16="http://schemas.microsoft.com/office/drawing/2014/main" id="{D0BA27F7-C8CD-0193-2C9C-0AB3678367E7}"/>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https://www.da.gov.ph/wp-content/uploads/2018/07/mo19_s2018.pdf</a:t>
            </a:r>
          </a:p>
        </p:txBody>
      </p:sp>
      <p:sp>
        <p:nvSpPr>
          <p:cNvPr id="17" name="TextBox 15">
            <a:extLst>
              <a:ext uri="{FF2B5EF4-FFF2-40B4-BE49-F238E27FC236}">
                <a16:creationId xmlns:a16="http://schemas.microsoft.com/office/drawing/2014/main" id="{BCF07E6F-544E-4FD4-6006-0798A87029A6}"/>
              </a:ext>
            </a:extLst>
          </p:cNvPr>
          <p:cNvSpPr txBox="1"/>
          <p:nvPr/>
        </p:nvSpPr>
        <p:spPr>
          <a:xfrm>
            <a:off x="2246041" y="2025065"/>
            <a:ext cx="13795916" cy="369332"/>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Types of Shallow Well</a:t>
            </a:r>
          </a:p>
        </p:txBody>
      </p:sp>
      <p:grpSp>
        <p:nvGrpSpPr>
          <p:cNvPr id="14" name="Group 13">
            <a:extLst>
              <a:ext uri="{FF2B5EF4-FFF2-40B4-BE49-F238E27FC236}">
                <a16:creationId xmlns:a16="http://schemas.microsoft.com/office/drawing/2014/main" id="{CE970430-1987-E09D-AAC1-15E7B76C9902}"/>
              </a:ext>
            </a:extLst>
          </p:cNvPr>
          <p:cNvGrpSpPr/>
          <p:nvPr/>
        </p:nvGrpSpPr>
        <p:grpSpPr>
          <a:xfrm>
            <a:off x="0" y="9599693"/>
            <a:ext cx="18287999" cy="687306"/>
            <a:chOff x="0" y="9599693"/>
            <a:chExt cx="18287999" cy="687306"/>
          </a:xfrm>
        </p:grpSpPr>
        <p:grpSp>
          <p:nvGrpSpPr>
            <p:cNvPr id="15" name="Group 11">
              <a:extLst>
                <a:ext uri="{FF2B5EF4-FFF2-40B4-BE49-F238E27FC236}">
                  <a16:creationId xmlns:a16="http://schemas.microsoft.com/office/drawing/2014/main" id="{14E519B6-F8D3-88DD-57EB-5AF3698BCE6F}"/>
                </a:ext>
              </a:extLst>
            </p:cNvPr>
            <p:cNvGrpSpPr/>
            <p:nvPr/>
          </p:nvGrpSpPr>
          <p:grpSpPr>
            <a:xfrm>
              <a:off x="0" y="9599694"/>
              <a:ext cx="18287999" cy="687305"/>
              <a:chOff x="0" y="0"/>
              <a:chExt cx="5260714" cy="490218"/>
            </a:xfrm>
          </p:grpSpPr>
          <p:sp>
            <p:nvSpPr>
              <p:cNvPr id="26" name="Freeform 12">
                <a:extLst>
                  <a:ext uri="{FF2B5EF4-FFF2-40B4-BE49-F238E27FC236}">
                    <a16:creationId xmlns:a16="http://schemas.microsoft.com/office/drawing/2014/main" id="{D3495D09-9421-2BBB-0DFF-5A507EC27AE4}"/>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7" name="TextBox 13">
                <a:extLst>
                  <a:ext uri="{FF2B5EF4-FFF2-40B4-BE49-F238E27FC236}">
                    <a16:creationId xmlns:a16="http://schemas.microsoft.com/office/drawing/2014/main" id="{53F17194-3700-33C7-5E08-6DFB53B07D5D}"/>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0" name="TextBox 12">
              <a:extLst>
                <a:ext uri="{FF2B5EF4-FFF2-40B4-BE49-F238E27FC236}">
                  <a16:creationId xmlns:a16="http://schemas.microsoft.com/office/drawing/2014/main" id="{7734D3EE-C240-665E-039F-27CE3683C519}"/>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2" name="TextBox 13">
              <a:extLst>
                <a:ext uri="{FF2B5EF4-FFF2-40B4-BE49-F238E27FC236}">
                  <a16:creationId xmlns:a16="http://schemas.microsoft.com/office/drawing/2014/main" id="{D97797E8-ABEA-34FA-60F0-BE8EE835769D}"/>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spTree>
    <p:extLst>
      <p:ext uri="{BB962C8B-B14F-4D97-AF65-F5344CB8AC3E}">
        <p14:creationId xmlns:p14="http://schemas.microsoft.com/office/powerpoint/2010/main" val="36478312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39668-5065-B6B1-79F6-417940A9808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B41EBD2-5843-E385-C41F-B9ED50123294}"/>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4B7F0ED4-1268-232E-9A1A-C40558AF62EA}"/>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64316B60-E3CE-80FC-F098-566D850709B6}"/>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AF08D0EB-E76C-2123-0235-28005654B2AC}"/>
              </a:ext>
            </a:extLst>
          </p:cNvPr>
          <p:cNvGrpSpPr/>
          <p:nvPr/>
        </p:nvGrpSpPr>
        <p:grpSpPr>
          <a:xfrm>
            <a:off x="1028699" y="1230939"/>
            <a:ext cx="16230600" cy="7447557"/>
            <a:chOff x="0" y="0"/>
            <a:chExt cx="4274726" cy="1718953"/>
          </a:xfrm>
        </p:grpSpPr>
        <p:sp>
          <p:nvSpPr>
            <p:cNvPr id="6" name="Freeform 6">
              <a:extLst>
                <a:ext uri="{FF2B5EF4-FFF2-40B4-BE49-F238E27FC236}">
                  <a16:creationId xmlns:a16="http://schemas.microsoft.com/office/drawing/2014/main" id="{9370FF72-70FE-7709-C1CD-677CE77DC8C6}"/>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002DBCDF-AA9C-B7F1-D923-D72B849C26B1}"/>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6C7B8192-4787-3EC8-851E-3F4CCD23A90B}"/>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827237ED-E874-8513-0452-8451D44559C6}"/>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20A0924B-7B81-B8A2-368D-D0327E9CF16C}"/>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0B8B3D92-461B-8DF5-8855-951760E10627}"/>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A89E02AF-1856-7EC2-77D5-1D462A389A9F}"/>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CF208FE6-BA51-FC71-A11F-356841D5B9A7}"/>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36C5D6E3-15FC-0E8D-BABB-521E44835B0E}"/>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19</a:t>
            </a:r>
          </a:p>
        </p:txBody>
      </p:sp>
      <p:sp>
        <p:nvSpPr>
          <p:cNvPr id="15" name="TextBox 15">
            <a:extLst>
              <a:ext uri="{FF2B5EF4-FFF2-40B4-BE49-F238E27FC236}">
                <a16:creationId xmlns:a16="http://schemas.microsoft.com/office/drawing/2014/main" id="{85E9C1D2-EFB2-C6CA-D87F-27EA0D8798DA}"/>
              </a:ext>
            </a:extLst>
          </p:cNvPr>
          <p:cNvSpPr txBox="1"/>
          <p:nvPr/>
        </p:nvSpPr>
        <p:spPr>
          <a:xfrm>
            <a:off x="2246041" y="2025065"/>
            <a:ext cx="13795916" cy="738664"/>
          </a:xfrm>
          <a:prstGeom prst="rect">
            <a:avLst/>
          </a:prstGeom>
        </p:spPr>
        <p:txBody>
          <a:bodyPr lIns="0" tIns="0" rIns="0" bIns="0" rtlCol="0" anchor="t">
            <a:spAutoFit/>
          </a:bodyPr>
          <a:lstStyle/>
          <a:p>
            <a:pPr algn="ctr"/>
            <a:r>
              <a:rPr lang="en-US" sz="2400" b="1" dirty="0">
                <a:solidFill>
                  <a:srgbClr val="000000"/>
                </a:solidFill>
                <a:latin typeface="Nunito 1 Bold" panose="020B0604020202020204" charset="0"/>
                <a:ea typeface="Nunito 1 Bold"/>
                <a:cs typeface="Nunito 1 Bold"/>
                <a:sym typeface="Nunito 1 Bold"/>
              </a:rPr>
              <a:t>(PNS/BAFS/PAES 231:2017) This refers to </a:t>
            </a:r>
            <a:r>
              <a:rPr lang="en-US" sz="2400" dirty="0">
                <a:latin typeface="Nunito 1 Bold" panose="020B0604020202020204" charset="0"/>
              </a:rPr>
              <a:t>a record of formation stratification of an aquifer showing the depth, thickness, lithology and other aquifer physical characteristics</a:t>
            </a:r>
            <a:endParaRPr lang="en-US" sz="2400" b="1" dirty="0">
              <a:solidFill>
                <a:srgbClr val="000000"/>
              </a:solidFill>
              <a:latin typeface="Nunito 1 Bold" panose="020B0604020202020204" charset="0"/>
              <a:ea typeface="Nunito 1 Bold"/>
              <a:cs typeface="Nunito 1 Bold"/>
              <a:sym typeface="Nunito 1 Bold"/>
            </a:endParaRPr>
          </a:p>
        </p:txBody>
      </p:sp>
      <p:sp>
        <p:nvSpPr>
          <p:cNvPr id="19" name="TextBox 12">
            <a:extLst>
              <a:ext uri="{FF2B5EF4-FFF2-40B4-BE49-F238E27FC236}">
                <a16:creationId xmlns:a16="http://schemas.microsoft.com/office/drawing/2014/main" id="{F332FB3E-BEF2-EE2A-EEB6-670401098E7F}"/>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F2D8B3B6-625E-2215-DC37-1952AD952B3E}"/>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E6C70646-61D1-A372-DC56-4088E543BC67}"/>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D08CCACC-C283-670D-AFBC-74908936F33A}"/>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3">
            <a:extLst>
              <a:ext uri="{FF2B5EF4-FFF2-40B4-BE49-F238E27FC236}">
                <a16:creationId xmlns:a16="http://schemas.microsoft.com/office/drawing/2014/main" id="{AF7E2DA2-912F-F4A0-E34B-2424B9ABF499}"/>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sp>
        <p:nvSpPr>
          <p:cNvPr id="21" name="TextBox 20">
            <a:extLst>
              <a:ext uri="{FF2B5EF4-FFF2-40B4-BE49-F238E27FC236}">
                <a16:creationId xmlns:a16="http://schemas.microsoft.com/office/drawing/2014/main" id="{779CBD6F-4A2A-8A2A-539E-A86C31A975C5}"/>
              </a:ext>
            </a:extLst>
          </p:cNvPr>
          <p:cNvSpPr txBox="1"/>
          <p:nvPr/>
        </p:nvSpPr>
        <p:spPr>
          <a:xfrm>
            <a:off x="1676399" y="3693587"/>
            <a:ext cx="14935200" cy="2585323"/>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Strata</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Aquifer log</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Well log</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Well profile</a:t>
            </a:r>
          </a:p>
        </p:txBody>
      </p:sp>
      <p:sp>
        <p:nvSpPr>
          <p:cNvPr id="22" name="Oval 21">
            <a:extLst>
              <a:ext uri="{FF2B5EF4-FFF2-40B4-BE49-F238E27FC236}">
                <a16:creationId xmlns:a16="http://schemas.microsoft.com/office/drawing/2014/main" id="{1AB3FB21-8C33-0210-F9F5-5B814E74D4D5}"/>
              </a:ext>
            </a:extLst>
          </p:cNvPr>
          <p:cNvSpPr/>
          <p:nvPr/>
        </p:nvSpPr>
        <p:spPr>
          <a:xfrm>
            <a:off x="1523999" y="5122429"/>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6" name="TextBox 15">
            <a:extLst>
              <a:ext uri="{FF2B5EF4-FFF2-40B4-BE49-F238E27FC236}">
                <a16:creationId xmlns:a16="http://schemas.microsoft.com/office/drawing/2014/main" id="{F7E9632A-A341-2835-5A9F-55545D965DE8}"/>
              </a:ext>
            </a:extLst>
          </p:cNvPr>
          <p:cNvSpPr txBox="1"/>
          <p:nvPr/>
        </p:nvSpPr>
        <p:spPr>
          <a:xfrm>
            <a:off x="1219200"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(PNS/BAFS/PAES 231:2017)</a:t>
            </a:r>
          </a:p>
        </p:txBody>
      </p:sp>
      <p:grpSp>
        <p:nvGrpSpPr>
          <p:cNvPr id="17" name="Group 16">
            <a:extLst>
              <a:ext uri="{FF2B5EF4-FFF2-40B4-BE49-F238E27FC236}">
                <a16:creationId xmlns:a16="http://schemas.microsoft.com/office/drawing/2014/main" id="{16D87919-1CAE-4C21-7F0D-CAC49EA033FD}"/>
              </a:ext>
            </a:extLst>
          </p:cNvPr>
          <p:cNvGrpSpPr/>
          <p:nvPr/>
        </p:nvGrpSpPr>
        <p:grpSpPr>
          <a:xfrm>
            <a:off x="0" y="9599693"/>
            <a:ext cx="18287999" cy="687306"/>
            <a:chOff x="0" y="9599693"/>
            <a:chExt cx="18287999" cy="687306"/>
          </a:xfrm>
        </p:grpSpPr>
        <p:grpSp>
          <p:nvGrpSpPr>
            <p:cNvPr id="20" name="Group 11">
              <a:extLst>
                <a:ext uri="{FF2B5EF4-FFF2-40B4-BE49-F238E27FC236}">
                  <a16:creationId xmlns:a16="http://schemas.microsoft.com/office/drawing/2014/main" id="{5705323A-B20F-3623-4EA6-876552265964}"/>
                </a:ext>
              </a:extLst>
            </p:cNvPr>
            <p:cNvGrpSpPr/>
            <p:nvPr/>
          </p:nvGrpSpPr>
          <p:grpSpPr>
            <a:xfrm>
              <a:off x="0" y="9599694"/>
              <a:ext cx="18287999" cy="687305"/>
              <a:chOff x="0" y="0"/>
              <a:chExt cx="5260714" cy="490218"/>
            </a:xfrm>
          </p:grpSpPr>
          <p:sp>
            <p:nvSpPr>
              <p:cNvPr id="28" name="Freeform 12">
                <a:extLst>
                  <a:ext uri="{FF2B5EF4-FFF2-40B4-BE49-F238E27FC236}">
                    <a16:creationId xmlns:a16="http://schemas.microsoft.com/office/drawing/2014/main" id="{3B38E526-1335-C3AE-752B-D1AB3AF88F41}"/>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9" name="TextBox 13">
                <a:extLst>
                  <a:ext uri="{FF2B5EF4-FFF2-40B4-BE49-F238E27FC236}">
                    <a16:creationId xmlns:a16="http://schemas.microsoft.com/office/drawing/2014/main" id="{190D1997-23E9-8EB1-1EE6-AA7358C48AAD}"/>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2">
              <a:extLst>
                <a:ext uri="{FF2B5EF4-FFF2-40B4-BE49-F238E27FC236}">
                  <a16:creationId xmlns:a16="http://schemas.microsoft.com/office/drawing/2014/main" id="{87090B05-6D33-9ABD-C1C2-C34EFD879C2B}"/>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7" name="TextBox 13">
              <a:extLst>
                <a:ext uri="{FF2B5EF4-FFF2-40B4-BE49-F238E27FC236}">
                  <a16:creationId xmlns:a16="http://schemas.microsoft.com/office/drawing/2014/main" id="{01D06C16-830C-409D-CB08-0E7D610AAC2B}"/>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pic>
        <p:nvPicPr>
          <p:cNvPr id="31" name="Picture 30">
            <a:extLst>
              <a:ext uri="{FF2B5EF4-FFF2-40B4-BE49-F238E27FC236}">
                <a16:creationId xmlns:a16="http://schemas.microsoft.com/office/drawing/2014/main" id="{E5C682C1-5326-CFD5-A139-4BC5EA976009}"/>
              </a:ext>
            </a:extLst>
          </p:cNvPr>
          <p:cNvPicPr>
            <a:picLocks noChangeAspect="1"/>
          </p:cNvPicPr>
          <p:nvPr/>
        </p:nvPicPr>
        <p:blipFill>
          <a:blip r:embed="rId3"/>
          <a:stretch>
            <a:fillRect/>
          </a:stretch>
        </p:blipFill>
        <p:spPr>
          <a:xfrm>
            <a:off x="11228108" y="2702741"/>
            <a:ext cx="2841184" cy="6108948"/>
          </a:xfrm>
          <a:prstGeom prst="rect">
            <a:avLst/>
          </a:prstGeom>
        </p:spPr>
      </p:pic>
    </p:spTree>
    <p:extLst>
      <p:ext uri="{BB962C8B-B14F-4D97-AF65-F5344CB8AC3E}">
        <p14:creationId xmlns:p14="http://schemas.microsoft.com/office/powerpoint/2010/main" val="17650929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2ED67-81DE-57FA-B0BC-C4B99DF7ABA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C1E5319-6797-2DBF-A80C-A377E014D5CB}"/>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45B126E6-4733-A84E-F6A1-71A714A241DA}"/>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C3641E31-EA32-B4EE-EAE2-ADA2A5EB846F}"/>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015A4F2C-8D83-A06C-6964-0AB0CF36DB49}"/>
              </a:ext>
            </a:extLst>
          </p:cNvPr>
          <p:cNvGrpSpPr/>
          <p:nvPr/>
        </p:nvGrpSpPr>
        <p:grpSpPr>
          <a:xfrm>
            <a:off x="1028699" y="1230939"/>
            <a:ext cx="16230600" cy="7447557"/>
            <a:chOff x="0" y="0"/>
            <a:chExt cx="4274726" cy="1718953"/>
          </a:xfrm>
        </p:grpSpPr>
        <p:sp>
          <p:nvSpPr>
            <p:cNvPr id="6" name="Freeform 6">
              <a:extLst>
                <a:ext uri="{FF2B5EF4-FFF2-40B4-BE49-F238E27FC236}">
                  <a16:creationId xmlns:a16="http://schemas.microsoft.com/office/drawing/2014/main" id="{ABDE83A2-11CC-A3DB-D8CE-E624FE3D5303}"/>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A1A5CFA0-750C-E42B-AE80-393DA4EC69E4}"/>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822DE3AA-9DC5-2D3D-DFD0-BCDCE8640C86}"/>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3230A9C0-CF4E-9269-05F8-0C573207A27D}"/>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447CFA73-CA43-D463-08A5-4102E50592C8}"/>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0D0D7382-DA3D-351D-5E39-75E48EC03855}"/>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ADCBAC45-5C90-F691-05C2-76B196226D46}"/>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6BC53ABD-12B5-D9DD-094E-A3113AB0D8B4}"/>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42317907-2F80-A88C-160B-6D3E63DC2983}"/>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20</a:t>
            </a:r>
          </a:p>
        </p:txBody>
      </p:sp>
      <p:sp>
        <p:nvSpPr>
          <p:cNvPr id="15" name="TextBox 15">
            <a:extLst>
              <a:ext uri="{FF2B5EF4-FFF2-40B4-BE49-F238E27FC236}">
                <a16:creationId xmlns:a16="http://schemas.microsoft.com/office/drawing/2014/main" id="{8EC74ED0-FFE5-95D7-805B-FB1F166CF618}"/>
              </a:ext>
            </a:extLst>
          </p:cNvPr>
          <p:cNvSpPr txBox="1"/>
          <p:nvPr/>
        </p:nvSpPr>
        <p:spPr>
          <a:xfrm>
            <a:off x="2246041" y="2025065"/>
            <a:ext cx="13795916" cy="738664"/>
          </a:xfrm>
          <a:prstGeom prst="rect">
            <a:avLst/>
          </a:prstGeom>
        </p:spPr>
        <p:txBody>
          <a:bodyPr lIns="0" tIns="0" rIns="0" bIns="0" rtlCol="0" anchor="t">
            <a:spAutoFit/>
          </a:bodyPr>
          <a:lstStyle/>
          <a:p>
            <a:pPr algn="ctr"/>
            <a:r>
              <a:rPr lang="en-US" sz="2400" b="1" dirty="0">
                <a:solidFill>
                  <a:srgbClr val="000000"/>
                </a:solidFill>
                <a:latin typeface="Nunito 1 Bold" panose="020B0604020202020204" charset="0"/>
                <a:ea typeface="Nunito 1 Bold"/>
                <a:cs typeface="Nunito 1 Bold"/>
                <a:sym typeface="Nunito 1 Bold"/>
              </a:rPr>
              <a:t>(PNS/BAFS/PAES 231:2017) Which of the following lists all important aquifer properties to be considered in well design, drilling and development, and in selection of pumping units?</a:t>
            </a:r>
          </a:p>
        </p:txBody>
      </p:sp>
      <p:sp>
        <p:nvSpPr>
          <p:cNvPr id="19" name="TextBox 12">
            <a:extLst>
              <a:ext uri="{FF2B5EF4-FFF2-40B4-BE49-F238E27FC236}">
                <a16:creationId xmlns:a16="http://schemas.microsoft.com/office/drawing/2014/main" id="{29CF09E6-0EFA-CECC-72D7-573CF5916E64}"/>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3CBD713A-79E5-CBAF-2199-B155A09137B7}"/>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54E2EA08-362F-3356-B941-594FD7074CFA}"/>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FC54DB39-9CA4-8A1B-2677-56B6898DFD81}"/>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3">
            <a:extLst>
              <a:ext uri="{FF2B5EF4-FFF2-40B4-BE49-F238E27FC236}">
                <a16:creationId xmlns:a16="http://schemas.microsoft.com/office/drawing/2014/main" id="{71790312-F8B7-A506-921D-E9CB023FEC15}"/>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sp>
        <p:nvSpPr>
          <p:cNvPr id="21" name="TextBox 20">
            <a:extLst>
              <a:ext uri="{FF2B5EF4-FFF2-40B4-BE49-F238E27FC236}">
                <a16:creationId xmlns:a16="http://schemas.microsoft.com/office/drawing/2014/main" id="{3C0BD9D1-B321-0882-CFEA-D7FDD56AD9E9}"/>
              </a:ext>
            </a:extLst>
          </p:cNvPr>
          <p:cNvSpPr txBox="1"/>
          <p:nvPr/>
        </p:nvSpPr>
        <p:spPr>
          <a:xfrm>
            <a:off x="1676399" y="3693587"/>
            <a:ext cx="14935200" cy="2954655"/>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Lithological properties, soil properties, hydraulic properties, and recharge-discharge properties</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Lithological properties, water properties, hydraulic properties, and recharge-discharge properties</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Lithological properties, soil water properties, geologic properties, and recharge-discharge properties</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Lithological properties, soil water properties, hydraulic properties, and recharge-discharge properties</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p:txBody>
      </p:sp>
      <p:sp>
        <p:nvSpPr>
          <p:cNvPr id="22" name="Oval 21">
            <a:extLst>
              <a:ext uri="{FF2B5EF4-FFF2-40B4-BE49-F238E27FC236}">
                <a16:creationId xmlns:a16="http://schemas.microsoft.com/office/drawing/2014/main" id="{B949F0BB-A138-D25F-6231-81631F156323}"/>
              </a:ext>
            </a:extLst>
          </p:cNvPr>
          <p:cNvSpPr/>
          <p:nvPr/>
        </p:nvSpPr>
        <p:spPr>
          <a:xfrm>
            <a:off x="1523999" y="5829300"/>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6" name="TextBox 15">
            <a:extLst>
              <a:ext uri="{FF2B5EF4-FFF2-40B4-BE49-F238E27FC236}">
                <a16:creationId xmlns:a16="http://schemas.microsoft.com/office/drawing/2014/main" id="{17D9FBFD-EDB1-BCED-43D8-AE64F3DDC470}"/>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(PNS/BAFS/PAES 231:2017)</a:t>
            </a:r>
          </a:p>
        </p:txBody>
      </p:sp>
      <p:grpSp>
        <p:nvGrpSpPr>
          <p:cNvPr id="17" name="Group 16">
            <a:extLst>
              <a:ext uri="{FF2B5EF4-FFF2-40B4-BE49-F238E27FC236}">
                <a16:creationId xmlns:a16="http://schemas.microsoft.com/office/drawing/2014/main" id="{351ECDB5-2CE5-367E-EBC8-AFDAA33280DA}"/>
              </a:ext>
            </a:extLst>
          </p:cNvPr>
          <p:cNvGrpSpPr/>
          <p:nvPr/>
        </p:nvGrpSpPr>
        <p:grpSpPr>
          <a:xfrm>
            <a:off x="0" y="9599693"/>
            <a:ext cx="18287999" cy="687306"/>
            <a:chOff x="0" y="9599693"/>
            <a:chExt cx="18287999" cy="687306"/>
          </a:xfrm>
        </p:grpSpPr>
        <p:grpSp>
          <p:nvGrpSpPr>
            <p:cNvPr id="20" name="Group 11">
              <a:extLst>
                <a:ext uri="{FF2B5EF4-FFF2-40B4-BE49-F238E27FC236}">
                  <a16:creationId xmlns:a16="http://schemas.microsoft.com/office/drawing/2014/main" id="{A41D8926-559A-C851-5E0F-EFA5906141F6}"/>
                </a:ext>
              </a:extLst>
            </p:cNvPr>
            <p:cNvGrpSpPr/>
            <p:nvPr/>
          </p:nvGrpSpPr>
          <p:grpSpPr>
            <a:xfrm>
              <a:off x="0" y="9599694"/>
              <a:ext cx="18287999" cy="687305"/>
              <a:chOff x="0" y="0"/>
              <a:chExt cx="5260714" cy="490218"/>
            </a:xfrm>
          </p:grpSpPr>
          <p:sp>
            <p:nvSpPr>
              <p:cNvPr id="28" name="Freeform 12">
                <a:extLst>
                  <a:ext uri="{FF2B5EF4-FFF2-40B4-BE49-F238E27FC236}">
                    <a16:creationId xmlns:a16="http://schemas.microsoft.com/office/drawing/2014/main" id="{805B1D94-385E-40A1-3617-587B75C40744}"/>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9" name="TextBox 13">
                <a:extLst>
                  <a:ext uri="{FF2B5EF4-FFF2-40B4-BE49-F238E27FC236}">
                    <a16:creationId xmlns:a16="http://schemas.microsoft.com/office/drawing/2014/main" id="{4127791A-E5F1-1A17-5398-FEEA144C1E9A}"/>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2">
              <a:extLst>
                <a:ext uri="{FF2B5EF4-FFF2-40B4-BE49-F238E27FC236}">
                  <a16:creationId xmlns:a16="http://schemas.microsoft.com/office/drawing/2014/main" id="{F8F0E498-C789-C9E9-A7CB-0CEA789030C4}"/>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7" name="TextBox 13">
              <a:extLst>
                <a:ext uri="{FF2B5EF4-FFF2-40B4-BE49-F238E27FC236}">
                  <a16:creationId xmlns:a16="http://schemas.microsoft.com/office/drawing/2014/main" id="{3CA04552-E80B-9B5D-3895-B50793903322}"/>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spTree>
    <p:extLst>
      <p:ext uri="{BB962C8B-B14F-4D97-AF65-F5344CB8AC3E}">
        <p14:creationId xmlns:p14="http://schemas.microsoft.com/office/powerpoint/2010/main" val="1047831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CECF6-FBFD-DC25-24B0-C132C031EB1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2CDE326-0719-02AA-DD23-3674B8A6F3AF}"/>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CDCF62F8-0451-D74A-64A6-C4F30ED2F531}"/>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16903806-5AF0-047A-B631-5348F18849CD}"/>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B8CAF17E-2445-F9F1-1092-38C5EF661E2F}"/>
              </a:ext>
            </a:extLst>
          </p:cNvPr>
          <p:cNvGrpSpPr/>
          <p:nvPr/>
        </p:nvGrpSpPr>
        <p:grpSpPr>
          <a:xfrm>
            <a:off x="1028699" y="1230939"/>
            <a:ext cx="16230600" cy="7447557"/>
            <a:chOff x="0" y="0"/>
            <a:chExt cx="4274726" cy="1718953"/>
          </a:xfrm>
        </p:grpSpPr>
        <p:sp>
          <p:nvSpPr>
            <p:cNvPr id="6" name="Freeform 6">
              <a:extLst>
                <a:ext uri="{FF2B5EF4-FFF2-40B4-BE49-F238E27FC236}">
                  <a16:creationId xmlns:a16="http://schemas.microsoft.com/office/drawing/2014/main" id="{BFDD577A-452B-0ED3-5DF5-F7A903836D86}"/>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0FCA1A2E-79FD-FDFB-B76D-BAD13D3EEAB2}"/>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2473B467-A8A5-A2B2-8783-B13F70EAB13B}"/>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6BAA5478-9729-6F00-96E2-7480F553D63D}"/>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48F521B6-7964-AF5C-D936-0880EA9589EC}"/>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9A8B9C46-E81B-B71A-02B0-8062E6EAAA61}"/>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3C943188-796D-EFAB-7865-4EE525369049}"/>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3311F2A9-4E50-D612-C8B2-A8DC3CB2CE27}"/>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2C1A31DD-22CB-D676-6EC5-7340E75D1F36}"/>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21</a:t>
            </a:r>
          </a:p>
        </p:txBody>
      </p:sp>
      <p:sp>
        <p:nvSpPr>
          <p:cNvPr id="15" name="TextBox 15">
            <a:extLst>
              <a:ext uri="{FF2B5EF4-FFF2-40B4-BE49-F238E27FC236}">
                <a16:creationId xmlns:a16="http://schemas.microsoft.com/office/drawing/2014/main" id="{F0ED3265-A2C4-9564-3513-802DD4FB0F86}"/>
              </a:ext>
            </a:extLst>
          </p:cNvPr>
          <p:cNvSpPr txBox="1"/>
          <p:nvPr/>
        </p:nvSpPr>
        <p:spPr>
          <a:xfrm>
            <a:off x="2246041" y="2025065"/>
            <a:ext cx="13795916" cy="738664"/>
          </a:xfrm>
          <a:prstGeom prst="rect">
            <a:avLst/>
          </a:prstGeom>
        </p:spPr>
        <p:txBody>
          <a:bodyPr lIns="0" tIns="0" rIns="0" bIns="0" rtlCol="0" anchor="t">
            <a:spAutoFit/>
          </a:bodyPr>
          <a:lstStyle/>
          <a:p>
            <a:pPr algn="ctr"/>
            <a:r>
              <a:rPr lang="en-US" sz="2400" b="1" dirty="0">
                <a:solidFill>
                  <a:srgbClr val="000000"/>
                </a:solidFill>
                <a:latin typeface="Nunito 1 Bold" panose="020B0604020202020204" charset="0"/>
                <a:ea typeface="Nunito 1 Bold"/>
                <a:cs typeface="Nunito 1 Bold"/>
                <a:sym typeface="Nunito 1 Bold"/>
              </a:rPr>
              <a:t>(PNS/BAFS/PAES 231:2017) Which of the following are the recharge-discharge properties of an aquifer?</a:t>
            </a:r>
          </a:p>
        </p:txBody>
      </p:sp>
      <p:sp>
        <p:nvSpPr>
          <p:cNvPr id="19" name="TextBox 12">
            <a:extLst>
              <a:ext uri="{FF2B5EF4-FFF2-40B4-BE49-F238E27FC236}">
                <a16:creationId xmlns:a16="http://schemas.microsoft.com/office/drawing/2014/main" id="{DBCB32D9-BBD0-DAE2-EAAC-A19C0542EFDE}"/>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D5E9CE3F-3682-FED4-E024-A119D3C1A56B}"/>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38CA0960-4AAE-B410-C05F-5263EF5966E1}"/>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D8F43CB1-FA2E-6160-585F-7F4E1B330155}"/>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3">
            <a:extLst>
              <a:ext uri="{FF2B5EF4-FFF2-40B4-BE49-F238E27FC236}">
                <a16:creationId xmlns:a16="http://schemas.microsoft.com/office/drawing/2014/main" id="{B04215ED-D741-B2AB-B1A7-BEF7DADF4453}"/>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sp>
        <p:nvSpPr>
          <p:cNvPr id="21" name="TextBox 20">
            <a:extLst>
              <a:ext uri="{FF2B5EF4-FFF2-40B4-BE49-F238E27FC236}">
                <a16:creationId xmlns:a16="http://schemas.microsoft.com/office/drawing/2014/main" id="{2BEBFDAD-611B-D6CB-1F10-F6C13B2C863A}"/>
              </a:ext>
            </a:extLst>
          </p:cNvPr>
          <p:cNvSpPr txBox="1"/>
          <p:nvPr/>
        </p:nvSpPr>
        <p:spPr>
          <a:xfrm>
            <a:off x="1676399" y="3693587"/>
            <a:ext cx="14935200" cy="2585323"/>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Probable recharge, usable recharge, groundwater discharge, safe yield</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Probable discharge, usable discharge, groundwater discharge, safe yield</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Probable recharge, usable discharge, groundwater discharge, safe retention</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Probable discharge, usable discharge, groundwater discharge, safe retention</a:t>
            </a:r>
          </a:p>
        </p:txBody>
      </p:sp>
      <p:sp>
        <p:nvSpPr>
          <p:cNvPr id="22" name="Oval 21">
            <a:extLst>
              <a:ext uri="{FF2B5EF4-FFF2-40B4-BE49-F238E27FC236}">
                <a16:creationId xmlns:a16="http://schemas.microsoft.com/office/drawing/2014/main" id="{8021EA69-C183-FFE5-4076-DED22087749D}"/>
              </a:ext>
            </a:extLst>
          </p:cNvPr>
          <p:cNvSpPr/>
          <p:nvPr/>
        </p:nvSpPr>
        <p:spPr>
          <a:xfrm>
            <a:off x="1505640" y="3683565"/>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6" name="TextBox 15">
            <a:extLst>
              <a:ext uri="{FF2B5EF4-FFF2-40B4-BE49-F238E27FC236}">
                <a16:creationId xmlns:a16="http://schemas.microsoft.com/office/drawing/2014/main" id="{A0776CC0-4D02-7ECE-83B8-8020E43CB4EC}"/>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https://www.da.gov.ph/wp-content/uploads/2018/07/mo19_s2018.pdf</a:t>
            </a:r>
          </a:p>
        </p:txBody>
      </p:sp>
      <p:grpSp>
        <p:nvGrpSpPr>
          <p:cNvPr id="17" name="Group 16">
            <a:extLst>
              <a:ext uri="{FF2B5EF4-FFF2-40B4-BE49-F238E27FC236}">
                <a16:creationId xmlns:a16="http://schemas.microsoft.com/office/drawing/2014/main" id="{4A764B63-CF1D-3A7F-C48E-EAB8D98EF676}"/>
              </a:ext>
            </a:extLst>
          </p:cNvPr>
          <p:cNvGrpSpPr/>
          <p:nvPr/>
        </p:nvGrpSpPr>
        <p:grpSpPr>
          <a:xfrm>
            <a:off x="0" y="9599693"/>
            <a:ext cx="18287999" cy="687306"/>
            <a:chOff x="0" y="9599693"/>
            <a:chExt cx="18287999" cy="687306"/>
          </a:xfrm>
        </p:grpSpPr>
        <p:grpSp>
          <p:nvGrpSpPr>
            <p:cNvPr id="20" name="Group 11">
              <a:extLst>
                <a:ext uri="{FF2B5EF4-FFF2-40B4-BE49-F238E27FC236}">
                  <a16:creationId xmlns:a16="http://schemas.microsoft.com/office/drawing/2014/main" id="{C2EBFA03-5800-1A83-6623-B381F85934AA}"/>
                </a:ext>
              </a:extLst>
            </p:cNvPr>
            <p:cNvGrpSpPr/>
            <p:nvPr/>
          </p:nvGrpSpPr>
          <p:grpSpPr>
            <a:xfrm>
              <a:off x="0" y="9599694"/>
              <a:ext cx="18287999" cy="687305"/>
              <a:chOff x="0" y="0"/>
              <a:chExt cx="5260714" cy="490218"/>
            </a:xfrm>
          </p:grpSpPr>
          <p:sp>
            <p:nvSpPr>
              <p:cNvPr id="28" name="Freeform 12">
                <a:extLst>
                  <a:ext uri="{FF2B5EF4-FFF2-40B4-BE49-F238E27FC236}">
                    <a16:creationId xmlns:a16="http://schemas.microsoft.com/office/drawing/2014/main" id="{66030800-256F-A02A-B4D5-5CC93FABB4B5}"/>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9" name="TextBox 13">
                <a:extLst>
                  <a:ext uri="{FF2B5EF4-FFF2-40B4-BE49-F238E27FC236}">
                    <a16:creationId xmlns:a16="http://schemas.microsoft.com/office/drawing/2014/main" id="{CA2BA021-8B08-634B-D030-BB07B1481690}"/>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2">
              <a:extLst>
                <a:ext uri="{FF2B5EF4-FFF2-40B4-BE49-F238E27FC236}">
                  <a16:creationId xmlns:a16="http://schemas.microsoft.com/office/drawing/2014/main" id="{CE794A63-8486-6FCC-1E25-11F73927DCE9}"/>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7" name="TextBox 13">
              <a:extLst>
                <a:ext uri="{FF2B5EF4-FFF2-40B4-BE49-F238E27FC236}">
                  <a16:creationId xmlns:a16="http://schemas.microsoft.com/office/drawing/2014/main" id="{2E116EA1-B5A0-9EDB-A0BE-1C2FA9A4F27B}"/>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spTree>
    <p:extLst>
      <p:ext uri="{BB962C8B-B14F-4D97-AF65-F5344CB8AC3E}">
        <p14:creationId xmlns:p14="http://schemas.microsoft.com/office/powerpoint/2010/main" val="25447898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4D523-F4CC-77B5-F0BE-C4419EB4C47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AD80D49-43FD-B9DF-7B23-D9F83BD666F3}"/>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E8EE46D8-6A14-6621-463D-7D6E1267363C}"/>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E76E611C-4A85-A0A4-BA9F-3B9AC8F541EE}"/>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11" name="Group 11">
            <a:extLst>
              <a:ext uri="{FF2B5EF4-FFF2-40B4-BE49-F238E27FC236}">
                <a16:creationId xmlns:a16="http://schemas.microsoft.com/office/drawing/2014/main" id="{DAF6EF4C-2586-75C0-B907-1DEED14B3E23}"/>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13E65D5D-6779-D656-7C15-0BDA1BC2D1C6}"/>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CC809149-99B3-1F6D-F3BA-7069E2EECC8E}"/>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2">
            <a:extLst>
              <a:ext uri="{FF2B5EF4-FFF2-40B4-BE49-F238E27FC236}">
                <a16:creationId xmlns:a16="http://schemas.microsoft.com/office/drawing/2014/main" id="{E8B6248F-6230-E50E-60BE-4117171965BA}"/>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824F489F-8AFB-8088-CC7B-93AE0DEE31BA}"/>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74EFE8CC-799C-0299-1B3F-2A9B9BC328B9}"/>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27AFA9E0-F7D3-6D20-34DA-A6A4F0EA8B26}"/>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3">
            <a:extLst>
              <a:ext uri="{FF2B5EF4-FFF2-40B4-BE49-F238E27FC236}">
                <a16:creationId xmlns:a16="http://schemas.microsoft.com/office/drawing/2014/main" id="{EEEF499D-5852-13AF-279A-E83770307CF2}"/>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sp>
        <p:nvSpPr>
          <p:cNvPr id="16" name="TextBox 15">
            <a:extLst>
              <a:ext uri="{FF2B5EF4-FFF2-40B4-BE49-F238E27FC236}">
                <a16:creationId xmlns:a16="http://schemas.microsoft.com/office/drawing/2014/main" id="{3F8006FC-E2E1-D3B0-8D8E-FDC2794D4840}"/>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(PNS/BAFS/PAES 231:2017)</a:t>
            </a:r>
          </a:p>
        </p:txBody>
      </p:sp>
      <p:grpSp>
        <p:nvGrpSpPr>
          <p:cNvPr id="17" name="Group 16">
            <a:extLst>
              <a:ext uri="{FF2B5EF4-FFF2-40B4-BE49-F238E27FC236}">
                <a16:creationId xmlns:a16="http://schemas.microsoft.com/office/drawing/2014/main" id="{E7CB0565-7FD2-52B3-81B3-23C0FF0CC1D8}"/>
              </a:ext>
            </a:extLst>
          </p:cNvPr>
          <p:cNvGrpSpPr/>
          <p:nvPr/>
        </p:nvGrpSpPr>
        <p:grpSpPr>
          <a:xfrm>
            <a:off x="0" y="9599693"/>
            <a:ext cx="18287999" cy="687306"/>
            <a:chOff x="0" y="9599693"/>
            <a:chExt cx="18287999" cy="687306"/>
          </a:xfrm>
        </p:grpSpPr>
        <p:grpSp>
          <p:nvGrpSpPr>
            <p:cNvPr id="20" name="Group 11">
              <a:extLst>
                <a:ext uri="{FF2B5EF4-FFF2-40B4-BE49-F238E27FC236}">
                  <a16:creationId xmlns:a16="http://schemas.microsoft.com/office/drawing/2014/main" id="{D464045F-AA8D-523B-AF74-920B36AEE0D5}"/>
                </a:ext>
              </a:extLst>
            </p:cNvPr>
            <p:cNvGrpSpPr/>
            <p:nvPr/>
          </p:nvGrpSpPr>
          <p:grpSpPr>
            <a:xfrm>
              <a:off x="0" y="9599694"/>
              <a:ext cx="18287999" cy="687305"/>
              <a:chOff x="0" y="0"/>
              <a:chExt cx="5260714" cy="490218"/>
            </a:xfrm>
          </p:grpSpPr>
          <p:sp>
            <p:nvSpPr>
              <p:cNvPr id="28" name="Freeform 12">
                <a:extLst>
                  <a:ext uri="{FF2B5EF4-FFF2-40B4-BE49-F238E27FC236}">
                    <a16:creationId xmlns:a16="http://schemas.microsoft.com/office/drawing/2014/main" id="{10CF2CDA-3927-A389-B84A-442A4A5F98FD}"/>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9" name="TextBox 13">
                <a:extLst>
                  <a:ext uri="{FF2B5EF4-FFF2-40B4-BE49-F238E27FC236}">
                    <a16:creationId xmlns:a16="http://schemas.microsoft.com/office/drawing/2014/main" id="{4CA71835-938D-C28C-60E9-95AEFDDF4697}"/>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2">
              <a:extLst>
                <a:ext uri="{FF2B5EF4-FFF2-40B4-BE49-F238E27FC236}">
                  <a16:creationId xmlns:a16="http://schemas.microsoft.com/office/drawing/2014/main" id="{F533FA87-AA75-F8A8-4D05-76592BCBA3DC}"/>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7" name="TextBox 13">
              <a:extLst>
                <a:ext uri="{FF2B5EF4-FFF2-40B4-BE49-F238E27FC236}">
                  <a16:creationId xmlns:a16="http://schemas.microsoft.com/office/drawing/2014/main" id="{D532D1E6-1E8F-F304-AE0B-82CBAEFE7A21}"/>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pic>
        <p:nvPicPr>
          <p:cNvPr id="31" name="Picture 30">
            <a:extLst>
              <a:ext uri="{FF2B5EF4-FFF2-40B4-BE49-F238E27FC236}">
                <a16:creationId xmlns:a16="http://schemas.microsoft.com/office/drawing/2014/main" id="{34530B5B-8634-BE23-6021-D18927CE4D40}"/>
              </a:ext>
            </a:extLst>
          </p:cNvPr>
          <p:cNvPicPr>
            <a:picLocks noChangeAspect="1"/>
          </p:cNvPicPr>
          <p:nvPr/>
        </p:nvPicPr>
        <p:blipFill>
          <a:blip r:embed="rId3"/>
          <a:stretch>
            <a:fillRect/>
          </a:stretch>
        </p:blipFill>
        <p:spPr>
          <a:xfrm>
            <a:off x="4404651" y="702766"/>
            <a:ext cx="9478698" cy="857370"/>
          </a:xfrm>
          <a:prstGeom prst="rect">
            <a:avLst/>
          </a:prstGeom>
        </p:spPr>
      </p:pic>
      <p:pic>
        <p:nvPicPr>
          <p:cNvPr id="33" name="Picture 32">
            <a:extLst>
              <a:ext uri="{FF2B5EF4-FFF2-40B4-BE49-F238E27FC236}">
                <a16:creationId xmlns:a16="http://schemas.microsoft.com/office/drawing/2014/main" id="{FF4A3A3C-9435-5E21-8F33-A35AEE99F267}"/>
              </a:ext>
            </a:extLst>
          </p:cNvPr>
          <p:cNvPicPr>
            <a:picLocks noChangeAspect="1"/>
          </p:cNvPicPr>
          <p:nvPr/>
        </p:nvPicPr>
        <p:blipFill>
          <a:blip r:embed="rId4"/>
          <a:stretch>
            <a:fillRect/>
          </a:stretch>
        </p:blipFill>
        <p:spPr>
          <a:xfrm>
            <a:off x="1028699" y="1645792"/>
            <a:ext cx="8073622" cy="6725174"/>
          </a:xfrm>
          <a:prstGeom prst="rect">
            <a:avLst/>
          </a:prstGeom>
        </p:spPr>
      </p:pic>
      <p:pic>
        <p:nvPicPr>
          <p:cNvPr id="35" name="Picture 34">
            <a:extLst>
              <a:ext uri="{FF2B5EF4-FFF2-40B4-BE49-F238E27FC236}">
                <a16:creationId xmlns:a16="http://schemas.microsoft.com/office/drawing/2014/main" id="{F398CFAF-5168-9DF6-99F1-9807E53A1D55}"/>
              </a:ext>
            </a:extLst>
          </p:cNvPr>
          <p:cNvPicPr>
            <a:picLocks noChangeAspect="1"/>
          </p:cNvPicPr>
          <p:nvPr/>
        </p:nvPicPr>
        <p:blipFill>
          <a:blip r:embed="rId5"/>
          <a:stretch>
            <a:fillRect/>
          </a:stretch>
        </p:blipFill>
        <p:spPr>
          <a:xfrm>
            <a:off x="9366321" y="2476515"/>
            <a:ext cx="8073623" cy="5334053"/>
          </a:xfrm>
          <a:prstGeom prst="rect">
            <a:avLst/>
          </a:prstGeom>
        </p:spPr>
      </p:pic>
    </p:spTree>
    <p:extLst>
      <p:ext uri="{BB962C8B-B14F-4D97-AF65-F5344CB8AC3E}">
        <p14:creationId xmlns:p14="http://schemas.microsoft.com/office/powerpoint/2010/main" val="13679867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F0107-8FE3-6F98-01F7-014A65E9275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6CCF0FE-0699-FCC0-5746-82798A72DDD9}"/>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D86C63C1-A450-1BFD-E625-1154C2645460}"/>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C89BBC40-A928-55B6-3104-771BC27F82E7}"/>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E0201A02-0E2B-EC6A-E629-836BE6A8C999}"/>
              </a:ext>
            </a:extLst>
          </p:cNvPr>
          <p:cNvGrpSpPr/>
          <p:nvPr/>
        </p:nvGrpSpPr>
        <p:grpSpPr>
          <a:xfrm>
            <a:off x="1028700" y="1245808"/>
            <a:ext cx="16230600" cy="7447557"/>
            <a:chOff x="0" y="0"/>
            <a:chExt cx="4274726" cy="1718953"/>
          </a:xfrm>
        </p:grpSpPr>
        <p:sp>
          <p:nvSpPr>
            <p:cNvPr id="6" name="Freeform 6">
              <a:extLst>
                <a:ext uri="{FF2B5EF4-FFF2-40B4-BE49-F238E27FC236}">
                  <a16:creationId xmlns:a16="http://schemas.microsoft.com/office/drawing/2014/main" id="{E30ECEDA-F4A7-4B9E-9D98-3DE6DF3A1C1D}"/>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0B36456D-0C7B-9243-838A-57A05AB3679D}"/>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6E2633AA-AF16-3F9A-DA8E-55EF1D3E5385}"/>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78305C50-4D35-16BF-E111-49E40E8D59EF}"/>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2B62222E-A965-D62E-F37A-1642F97495C2}"/>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71C2EE8D-E994-B1B0-72C0-67E452606867}"/>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68E5730D-4416-239F-66AB-6441C5A2AA15}"/>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EF9FEE0B-9857-198F-4417-3DEB3365D0BD}"/>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2">
            <a:extLst>
              <a:ext uri="{FF2B5EF4-FFF2-40B4-BE49-F238E27FC236}">
                <a16:creationId xmlns:a16="http://schemas.microsoft.com/office/drawing/2014/main" id="{B58EFB51-11B3-12AA-D016-7D4E81066697}"/>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5EB7780F-2AED-CEA9-3700-835B950A4411}"/>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4E1693C3-E377-E3C1-B5BE-C3A2E287D54D}"/>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DB468E6A-7BEC-AE3C-624A-09902F2F5813}"/>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3">
            <a:extLst>
              <a:ext uri="{FF2B5EF4-FFF2-40B4-BE49-F238E27FC236}">
                <a16:creationId xmlns:a16="http://schemas.microsoft.com/office/drawing/2014/main" id="{8C9AF30A-87C8-82B0-BC94-1A44775D8767}"/>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sp>
        <p:nvSpPr>
          <p:cNvPr id="21" name="TextBox 20">
            <a:extLst>
              <a:ext uri="{FF2B5EF4-FFF2-40B4-BE49-F238E27FC236}">
                <a16:creationId xmlns:a16="http://schemas.microsoft.com/office/drawing/2014/main" id="{B5952889-744A-011A-984B-2A27A809B561}"/>
              </a:ext>
            </a:extLst>
          </p:cNvPr>
          <p:cNvSpPr txBox="1"/>
          <p:nvPr/>
        </p:nvSpPr>
        <p:spPr>
          <a:xfrm>
            <a:off x="1676399" y="4565138"/>
            <a:ext cx="14935200" cy="3323987"/>
          </a:xfrm>
          <a:prstGeom prst="rect">
            <a:avLst/>
          </a:prstGeom>
        </p:spPr>
        <p:txBody>
          <a:bodyPr wrap="square" lIns="0" tIns="0" rIns="0" bIns="0" rtlCol="0" anchor="t">
            <a:spAutoFit/>
          </a:bodyPr>
          <a:lstStyle/>
          <a:p>
            <a:pPr marL="457200" indent="-457200" algn="just">
              <a:buAutoNum type="arabicPeriod"/>
            </a:pPr>
            <a:r>
              <a:rPr lang="en-US" sz="2400" dirty="0">
                <a:solidFill>
                  <a:srgbClr val="000000"/>
                </a:solidFill>
                <a:latin typeface="Nunito 1" panose="020B0604020202020204" charset="0"/>
                <a:ea typeface="Nunito 1 Bold"/>
                <a:cs typeface="Nunito 1 Bold"/>
                <a:sym typeface="Nunito 1 Bold"/>
              </a:rPr>
              <a:t>Steady-State Flow to Drains - that the drain discharge equals the recharge to the groundwater, and hence, the water table does not change with time. It only describes a simplified, constant relationship between the water table and the drain discharge.</a:t>
            </a:r>
          </a:p>
          <a:p>
            <a:pPr marL="457200" indent="-457200" algn="just">
              <a:buAutoNum type="arabicPeriod"/>
            </a:pPr>
            <a:endParaRPr lang="en-US" sz="2400" dirty="0">
              <a:solidFill>
                <a:srgbClr val="000000"/>
              </a:solidFill>
              <a:latin typeface="Nunito 1" panose="020B0604020202020204" charset="0"/>
              <a:ea typeface="Nunito 1 Bold"/>
              <a:cs typeface="Nunito 1 Bold"/>
              <a:sym typeface="Nunito 1 Bold"/>
            </a:endParaRPr>
          </a:p>
          <a:p>
            <a:pPr marL="719138" indent="-342900" algn="just">
              <a:buFont typeface="Arial" panose="020B0604020202020204" pitchFamily="34" charset="0"/>
              <a:buChar char="•"/>
            </a:pPr>
            <a:r>
              <a:rPr lang="en-US" sz="2400" dirty="0" err="1">
                <a:solidFill>
                  <a:srgbClr val="000000"/>
                </a:solidFill>
                <a:latin typeface="Nunito 1" panose="020B0604020202020204" charset="0"/>
                <a:ea typeface="Nunito 1 Bold"/>
                <a:cs typeface="Nunito 1 Bold"/>
                <a:sym typeface="Nunito 1 Bold"/>
              </a:rPr>
              <a:t>Hooghoudt</a:t>
            </a:r>
            <a:r>
              <a:rPr lang="en-US" sz="2400" dirty="0">
                <a:solidFill>
                  <a:srgbClr val="000000"/>
                </a:solidFill>
                <a:latin typeface="Nunito 1" panose="020B0604020202020204" charset="0"/>
                <a:ea typeface="Nunito 1 Bold"/>
                <a:cs typeface="Nunito 1 Bold"/>
                <a:sym typeface="Nunito 1 Bold"/>
              </a:rPr>
              <a:t> Equation</a:t>
            </a:r>
          </a:p>
          <a:p>
            <a:pPr marL="719138" indent="-342900" algn="just">
              <a:buFont typeface="Arial" panose="020B0604020202020204" pitchFamily="34" charset="0"/>
              <a:buChar char="•"/>
            </a:pPr>
            <a:r>
              <a:rPr lang="en-US" sz="2400" dirty="0">
                <a:solidFill>
                  <a:srgbClr val="000000"/>
                </a:solidFill>
                <a:latin typeface="Nunito 1" panose="020B0604020202020204" charset="0"/>
                <a:ea typeface="Nunito 1 Bold"/>
                <a:cs typeface="Nunito 1 Bold"/>
                <a:sym typeface="Nunito 1 Bold"/>
              </a:rPr>
              <a:t>Ernst Equation</a:t>
            </a:r>
          </a:p>
          <a:p>
            <a:pPr algn="just"/>
            <a:endParaRPr lang="en-US" sz="2400" dirty="0">
              <a:solidFill>
                <a:srgbClr val="000000"/>
              </a:solidFill>
              <a:latin typeface="Nunito 1" panose="020B0604020202020204" charset="0"/>
              <a:ea typeface="Nunito 1 Bold"/>
              <a:cs typeface="Nunito 1 Bold"/>
              <a:sym typeface="Nunito 1 Bold"/>
            </a:endParaRPr>
          </a:p>
          <a:p>
            <a:pPr marL="457200" indent="-457200" algn="just">
              <a:buFont typeface="+mj-lt"/>
              <a:buAutoNum type="arabicPeriod" startAt="2"/>
            </a:pPr>
            <a:r>
              <a:rPr lang="en-US" sz="2400" dirty="0">
                <a:solidFill>
                  <a:srgbClr val="000000"/>
                </a:solidFill>
                <a:latin typeface="Nunito 1" panose="020B0604020202020204" charset="0"/>
                <a:ea typeface="Nunito 1 Bold"/>
                <a:cs typeface="Nunito 1 Bold"/>
                <a:sym typeface="Nunito 1 Bold"/>
              </a:rPr>
              <a:t>Unsteady-State Flow to Drains – considers that the recharge to groundwater varies with time and hence the flow of groundwater towards the drains is not steady. </a:t>
            </a:r>
          </a:p>
        </p:txBody>
      </p:sp>
      <p:sp>
        <p:nvSpPr>
          <p:cNvPr id="16" name="TextBox 15">
            <a:extLst>
              <a:ext uri="{FF2B5EF4-FFF2-40B4-BE49-F238E27FC236}">
                <a16:creationId xmlns:a16="http://schemas.microsoft.com/office/drawing/2014/main" id="{A3C9699E-2A7A-665C-65EF-88006E6511C2}"/>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https://edepot.wur.nl/183103</a:t>
            </a:r>
          </a:p>
        </p:txBody>
      </p:sp>
      <p:sp>
        <p:nvSpPr>
          <p:cNvPr id="17" name="TextBox 15">
            <a:extLst>
              <a:ext uri="{FF2B5EF4-FFF2-40B4-BE49-F238E27FC236}">
                <a16:creationId xmlns:a16="http://schemas.microsoft.com/office/drawing/2014/main" id="{44084FA7-D8FE-8FAA-8BA5-E31155638D4E}"/>
              </a:ext>
            </a:extLst>
          </p:cNvPr>
          <p:cNvSpPr txBox="1"/>
          <p:nvPr/>
        </p:nvSpPr>
        <p:spPr>
          <a:xfrm>
            <a:off x="2246041" y="2025065"/>
            <a:ext cx="13795916" cy="1477328"/>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Subsurface Flow to Drains</a:t>
            </a:r>
          </a:p>
          <a:p>
            <a:pPr algn="ctr"/>
            <a:endParaRPr lang="en-US" sz="2400" dirty="0">
              <a:solidFill>
                <a:srgbClr val="000000"/>
              </a:solidFill>
              <a:latin typeface="Nunito 1" panose="020B0604020202020204" charset="0"/>
              <a:ea typeface="Nunito 1 Bold"/>
              <a:cs typeface="Nunito 1 Bold"/>
              <a:sym typeface="Nunito 1 Bold"/>
            </a:endParaRPr>
          </a:p>
          <a:p>
            <a:pPr algn="ctr"/>
            <a:r>
              <a:rPr lang="en-US" sz="2400" dirty="0">
                <a:solidFill>
                  <a:srgbClr val="000000"/>
                </a:solidFill>
                <a:latin typeface="Nunito 1" panose="020B0604020202020204" charset="0"/>
                <a:ea typeface="Nunito 1 Bold"/>
                <a:cs typeface="Nunito 1 Bold"/>
                <a:sym typeface="Nunito 1 Bold"/>
              </a:rPr>
              <a:t>In subsurface drainage, field drains are used to control the depth of the </a:t>
            </a:r>
            <a:r>
              <a:rPr lang="en-US" sz="2400" dirty="0" err="1">
                <a:solidFill>
                  <a:srgbClr val="000000"/>
                </a:solidFill>
                <a:latin typeface="Nunito 1" panose="020B0604020202020204" charset="0"/>
                <a:ea typeface="Nunito 1 Bold"/>
                <a:cs typeface="Nunito 1 Bold"/>
                <a:sym typeface="Nunito 1 Bold"/>
              </a:rPr>
              <a:t>watertable</a:t>
            </a:r>
            <a:r>
              <a:rPr lang="en-US" sz="2400" dirty="0">
                <a:solidFill>
                  <a:srgbClr val="000000"/>
                </a:solidFill>
                <a:latin typeface="Nunito 1" panose="020B0604020202020204" charset="0"/>
                <a:ea typeface="Nunito 1 Bold"/>
                <a:cs typeface="Nunito 1 Bold"/>
                <a:sym typeface="Nunito 1 Bold"/>
              </a:rPr>
              <a:t> and the level of salinity in the rootzone by evacuating excess groundwater.</a:t>
            </a:r>
          </a:p>
        </p:txBody>
      </p:sp>
      <p:grpSp>
        <p:nvGrpSpPr>
          <p:cNvPr id="14" name="Group 13">
            <a:extLst>
              <a:ext uri="{FF2B5EF4-FFF2-40B4-BE49-F238E27FC236}">
                <a16:creationId xmlns:a16="http://schemas.microsoft.com/office/drawing/2014/main" id="{E6FBF991-CCFA-B15D-7664-93CB41286028}"/>
              </a:ext>
            </a:extLst>
          </p:cNvPr>
          <p:cNvGrpSpPr/>
          <p:nvPr/>
        </p:nvGrpSpPr>
        <p:grpSpPr>
          <a:xfrm>
            <a:off x="0" y="9599693"/>
            <a:ext cx="18287999" cy="687306"/>
            <a:chOff x="0" y="9599693"/>
            <a:chExt cx="18287999" cy="687306"/>
          </a:xfrm>
        </p:grpSpPr>
        <p:grpSp>
          <p:nvGrpSpPr>
            <p:cNvPr id="15" name="Group 11">
              <a:extLst>
                <a:ext uri="{FF2B5EF4-FFF2-40B4-BE49-F238E27FC236}">
                  <a16:creationId xmlns:a16="http://schemas.microsoft.com/office/drawing/2014/main" id="{4E0BE168-F7D4-C8D7-CDFD-FCCABB02E28A}"/>
                </a:ext>
              </a:extLst>
            </p:cNvPr>
            <p:cNvGrpSpPr/>
            <p:nvPr/>
          </p:nvGrpSpPr>
          <p:grpSpPr>
            <a:xfrm>
              <a:off x="0" y="9599694"/>
              <a:ext cx="18287999" cy="687305"/>
              <a:chOff x="0" y="0"/>
              <a:chExt cx="5260714" cy="490218"/>
            </a:xfrm>
          </p:grpSpPr>
          <p:sp>
            <p:nvSpPr>
              <p:cNvPr id="26" name="Freeform 12">
                <a:extLst>
                  <a:ext uri="{FF2B5EF4-FFF2-40B4-BE49-F238E27FC236}">
                    <a16:creationId xmlns:a16="http://schemas.microsoft.com/office/drawing/2014/main" id="{D240029A-FA5B-94FF-8AE1-9D8A539A7871}"/>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7" name="TextBox 13">
                <a:extLst>
                  <a:ext uri="{FF2B5EF4-FFF2-40B4-BE49-F238E27FC236}">
                    <a16:creationId xmlns:a16="http://schemas.microsoft.com/office/drawing/2014/main" id="{BDC293B9-C038-CACA-1C81-01D809BDFD40}"/>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0" name="TextBox 12">
              <a:extLst>
                <a:ext uri="{FF2B5EF4-FFF2-40B4-BE49-F238E27FC236}">
                  <a16:creationId xmlns:a16="http://schemas.microsoft.com/office/drawing/2014/main" id="{FF70CA59-6E17-CC9A-4263-55A97BCF9253}"/>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2" name="TextBox 13">
              <a:extLst>
                <a:ext uri="{FF2B5EF4-FFF2-40B4-BE49-F238E27FC236}">
                  <a16:creationId xmlns:a16="http://schemas.microsoft.com/office/drawing/2014/main" id="{3994E62B-EC6A-B0F5-6F28-410E5F523669}"/>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spTree>
    <p:extLst>
      <p:ext uri="{BB962C8B-B14F-4D97-AF65-F5344CB8AC3E}">
        <p14:creationId xmlns:p14="http://schemas.microsoft.com/office/powerpoint/2010/main" val="8101234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1E172-4773-45AF-D73F-F89BBE7FE9F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851B3A1-DD3B-0BB6-7F90-181D5ED22E48}"/>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50CA0575-1D3F-F45E-758A-FC61A1DBB45C}"/>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D5A3CED0-42E2-7994-59BF-5D7BA4FF780B}"/>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C9A70D7E-3A56-D443-FBF7-00941F38A51C}"/>
              </a:ext>
            </a:extLst>
          </p:cNvPr>
          <p:cNvGrpSpPr/>
          <p:nvPr/>
        </p:nvGrpSpPr>
        <p:grpSpPr>
          <a:xfrm>
            <a:off x="1028699" y="1244210"/>
            <a:ext cx="16230600" cy="7447557"/>
            <a:chOff x="0" y="0"/>
            <a:chExt cx="4274726" cy="1718953"/>
          </a:xfrm>
        </p:grpSpPr>
        <p:sp>
          <p:nvSpPr>
            <p:cNvPr id="6" name="Freeform 6">
              <a:extLst>
                <a:ext uri="{FF2B5EF4-FFF2-40B4-BE49-F238E27FC236}">
                  <a16:creationId xmlns:a16="http://schemas.microsoft.com/office/drawing/2014/main" id="{3BF848BC-5B2C-D81C-6554-FC6A00E190EC}"/>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750DEFA5-D7BE-8E54-B438-A3FF3B32650C}"/>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7AD3DBF8-2094-EAAD-86A5-93C9188A1A94}"/>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408D1048-3E78-62DB-BCF1-6A108ACAD2F2}"/>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A8C88E7B-B3F4-9491-9582-B32AE88C299F}"/>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B1BA170B-3C5B-B38B-6A75-E0F14520C325}"/>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95518C6F-5255-3FA1-DBC3-8C0A90A73A01}"/>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64BE695B-8921-49E5-C0D0-F79908EEF38E}"/>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2">
            <a:extLst>
              <a:ext uri="{FF2B5EF4-FFF2-40B4-BE49-F238E27FC236}">
                <a16:creationId xmlns:a16="http://schemas.microsoft.com/office/drawing/2014/main" id="{ED0C2ADC-FC74-0E9C-F691-773DA40F118E}"/>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09306211-8BD2-7120-6389-C5B3EE4873DF}"/>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00BFBF74-9185-D7CE-C3D0-71A284475133}"/>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AB9CE05F-1CB2-029A-770D-97B1FACC8153}"/>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3">
            <a:extLst>
              <a:ext uri="{FF2B5EF4-FFF2-40B4-BE49-F238E27FC236}">
                <a16:creationId xmlns:a16="http://schemas.microsoft.com/office/drawing/2014/main" id="{53C36C46-6CD2-5620-ABFB-FC7109D13C7E}"/>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sp>
        <p:nvSpPr>
          <p:cNvPr id="16" name="TextBox 15">
            <a:extLst>
              <a:ext uri="{FF2B5EF4-FFF2-40B4-BE49-F238E27FC236}">
                <a16:creationId xmlns:a16="http://schemas.microsoft.com/office/drawing/2014/main" id="{1E220ACF-28A1-6248-CF85-90ACB996A110}"/>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https://edepot.wur.nl/183103</a:t>
            </a:r>
          </a:p>
        </p:txBody>
      </p:sp>
      <p:sp>
        <p:nvSpPr>
          <p:cNvPr id="17" name="TextBox 15">
            <a:extLst>
              <a:ext uri="{FF2B5EF4-FFF2-40B4-BE49-F238E27FC236}">
                <a16:creationId xmlns:a16="http://schemas.microsoft.com/office/drawing/2014/main" id="{BE9B27DF-74AC-32A2-403A-89E869B057E6}"/>
              </a:ext>
            </a:extLst>
          </p:cNvPr>
          <p:cNvSpPr txBox="1"/>
          <p:nvPr/>
        </p:nvSpPr>
        <p:spPr>
          <a:xfrm>
            <a:off x="2246041" y="2025065"/>
            <a:ext cx="13795916" cy="1477328"/>
          </a:xfrm>
          <a:prstGeom prst="rect">
            <a:avLst/>
          </a:prstGeom>
        </p:spPr>
        <p:txBody>
          <a:bodyPr lIns="0" tIns="0" rIns="0" bIns="0" rtlCol="0" anchor="t">
            <a:spAutoFit/>
          </a:bodyPr>
          <a:lstStyle/>
          <a:p>
            <a:pPr algn="ctr"/>
            <a:r>
              <a:rPr lang="en-US" sz="2400" b="1" dirty="0" err="1">
                <a:solidFill>
                  <a:srgbClr val="000000"/>
                </a:solidFill>
                <a:latin typeface="Nunito 1 Bold"/>
                <a:ea typeface="Nunito 1 Bold"/>
                <a:cs typeface="Nunito 1 Bold"/>
                <a:sym typeface="Nunito 1 Bold"/>
              </a:rPr>
              <a:t>Hooghoudt</a:t>
            </a:r>
            <a:r>
              <a:rPr lang="en-US" sz="2400" b="1" dirty="0">
                <a:solidFill>
                  <a:srgbClr val="000000"/>
                </a:solidFill>
                <a:latin typeface="Nunito 1 Bold"/>
                <a:ea typeface="Nunito 1 Bold"/>
                <a:cs typeface="Nunito 1 Bold"/>
                <a:sym typeface="Nunito 1 Bold"/>
              </a:rPr>
              <a:t> Equation</a:t>
            </a:r>
          </a:p>
          <a:p>
            <a:pPr algn="ctr"/>
            <a:endParaRPr lang="en-US" sz="2400" dirty="0">
              <a:solidFill>
                <a:srgbClr val="000000"/>
              </a:solidFill>
              <a:latin typeface="Nunito 1" panose="020B0604020202020204" charset="0"/>
              <a:ea typeface="Nunito 1 Bold"/>
              <a:cs typeface="Nunito 1 Bold"/>
              <a:sym typeface="Nunito 1 Bold"/>
            </a:endParaRPr>
          </a:p>
          <a:p>
            <a:pPr algn="ctr"/>
            <a:r>
              <a:rPr lang="en-US" sz="2400" dirty="0">
                <a:solidFill>
                  <a:srgbClr val="000000"/>
                </a:solidFill>
                <a:latin typeface="Nunito 1" panose="020B0604020202020204" charset="0"/>
                <a:ea typeface="Nunito 1 Bold"/>
                <a:cs typeface="Nunito 1 Bold"/>
                <a:sym typeface="Nunito 1 Bold"/>
              </a:rPr>
              <a:t>The </a:t>
            </a:r>
            <a:r>
              <a:rPr lang="en-US" sz="2400" dirty="0" err="1">
                <a:solidFill>
                  <a:srgbClr val="000000"/>
                </a:solidFill>
                <a:latin typeface="Nunito 1" panose="020B0604020202020204" charset="0"/>
                <a:ea typeface="Nunito 1 Bold"/>
                <a:cs typeface="Nunito 1 Bold"/>
                <a:sym typeface="Nunito 1 Bold"/>
              </a:rPr>
              <a:t>Hooghoudt</a:t>
            </a:r>
            <a:r>
              <a:rPr lang="en-US" sz="2400" dirty="0">
                <a:solidFill>
                  <a:srgbClr val="000000"/>
                </a:solidFill>
                <a:latin typeface="Nunito 1" panose="020B0604020202020204" charset="0"/>
                <a:ea typeface="Nunito 1 Bold"/>
                <a:cs typeface="Nunito 1 Bold"/>
                <a:sym typeface="Nunito 1 Bold"/>
              </a:rPr>
              <a:t> Equation can be applied for a homogeneous soil profile or for a two-layered soil profile provided that the interface between the two layers coincides with the drain level.</a:t>
            </a:r>
          </a:p>
        </p:txBody>
      </p:sp>
      <p:grpSp>
        <p:nvGrpSpPr>
          <p:cNvPr id="20" name="Group 19">
            <a:extLst>
              <a:ext uri="{FF2B5EF4-FFF2-40B4-BE49-F238E27FC236}">
                <a16:creationId xmlns:a16="http://schemas.microsoft.com/office/drawing/2014/main" id="{24D387C4-33AD-36CB-718A-1CFA80D19177}"/>
              </a:ext>
            </a:extLst>
          </p:cNvPr>
          <p:cNvGrpSpPr/>
          <p:nvPr/>
        </p:nvGrpSpPr>
        <p:grpSpPr>
          <a:xfrm>
            <a:off x="4940442" y="3978186"/>
            <a:ext cx="8851758" cy="4145217"/>
            <a:chOff x="4940442" y="3978186"/>
            <a:chExt cx="8851758" cy="4145217"/>
          </a:xfrm>
        </p:grpSpPr>
        <p:grpSp>
          <p:nvGrpSpPr>
            <p:cNvPr id="33" name="Group 32">
              <a:extLst>
                <a:ext uri="{FF2B5EF4-FFF2-40B4-BE49-F238E27FC236}">
                  <a16:creationId xmlns:a16="http://schemas.microsoft.com/office/drawing/2014/main" id="{F8E96374-47C2-10F9-9D0F-7905212E3B90}"/>
                </a:ext>
              </a:extLst>
            </p:cNvPr>
            <p:cNvGrpSpPr/>
            <p:nvPr/>
          </p:nvGrpSpPr>
          <p:grpSpPr>
            <a:xfrm>
              <a:off x="4940442" y="3978186"/>
              <a:ext cx="8851758" cy="3986182"/>
              <a:chOff x="5374789" y="3751958"/>
              <a:chExt cx="7983064" cy="3594985"/>
            </a:xfrm>
          </p:grpSpPr>
          <p:pic>
            <p:nvPicPr>
              <p:cNvPr id="30" name="Picture 29">
                <a:extLst>
                  <a:ext uri="{FF2B5EF4-FFF2-40B4-BE49-F238E27FC236}">
                    <a16:creationId xmlns:a16="http://schemas.microsoft.com/office/drawing/2014/main" id="{1F76F1E2-04C4-1D92-8F59-C265ABDD8988}"/>
                  </a:ext>
                </a:extLst>
              </p:cNvPr>
              <p:cNvPicPr>
                <a:picLocks noChangeAspect="1"/>
              </p:cNvPicPr>
              <p:nvPr/>
            </p:nvPicPr>
            <p:blipFill>
              <a:blip r:embed="rId3"/>
              <a:srcRect t="31928"/>
              <a:stretch/>
            </p:blipFill>
            <p:spPr>
              <a:xfrm>
                <a:off x="5374789" y="3751958"/>
                <a:ext cx="7983064" cy="2710640"/>
              </a:xfrm>
              <a:prstGeom prst="rect">
                <a:avLst/>
              </a:prstGeom>
            </p:spPr>
          </p:pic>
          <p:pic>
            <p:nvPicPr>
              <p:cNvPr id="31" name="Picture 30">
                <a:extLst>
                  <a:ext uri="{FF2B5EF4-FFF2-40B4-BE49-F238E27FC236}">
                    <a16:creationId xmlns:a16="http://schemas.microsoft.com/office/drawing/2014/main" id="{7A38C9B7-1575-7580-057C-E44F2AA689F9}"/>
                  </a:ext>
                </a:extLst>
              </p:cNvPr>
              <p:cNvPicPr>
                <a:picLocks noChangeAspect="1"/>
              </p:cNvPicPr>
              <p:nvPr/>
            </p:nvPicPr>
            <p:blipFill>
              <a:blip r:embed="rId3"/>
              <a:srcRect t="-2580" b="77808"/>
              <a:stretch/>
            </p:blipFill>
            <p:spPr>
              <a:xfrm>
                <a:off x="5374789" y="6360544"/>
                <a:ext cx="7983064" cy="986399"/>
              </a:xfrm>
              <a:prstGeom prst="rect">
                <a:avLst/>
              </a:prstGeom>
            </p:spPr>
          </p:pic>
        </p:grpSp>
        <p:pic>
          <p:nvPicPr>
            <p:cNvPr id="15" name="Picture 14">
              <a:extLst>
                <a:ext uri="{FF2B5EF4-FFF2-40B4-BE49-F238E27FC236}">
                  <a16:creationId xmlns:a16="http://schemas.microsoft.com/office/drawing/2014/main" id="{F25D1913-6C8F-00C7-3B12-FD24CC824459}"/>
                </a:ext>
              </a:extLst>
            </p:cNvPr>
            <p:cNvPicPr>
              <a:picLocks noChangeAspect="1"/>
            </p:cNvPicPr>
            <p:nvPr/>
          </p:nvPicPr>
          <p:blipFill>
            <a:blip r:embed="rId4"/>
            <a:srcRect t="31976" b="52381"/>
            <a:stretch/>
          </p:blipFill>
          <p:spPr>
            <a:xfrm>
              <a:off x="4940442" y="7752611"/>
              <a:ext cx="8851758" cy="370792"/>
            </a:xfrm>
            <a:prstGeom prst="rect">
              <a:avLst/>
            </a:prstGeom>
          </p:spPr>
        </p:pic>
      </p:grpSp>
      <p:grpSp>
        <p:nvGrpSpPr>
          <p:cNvPr id="14" name="Group 13">
            <a:extLst>
              <a:ext uri="{FF2B5EF4-FFF2-40B4-BE49-F238E27FC236}">
                <a16:creationId xmlns:a16="http://schemas.microsoft.com/office/drawing/2014/main" id="{7A9B28F6-7C3B-7FDE-FD7C-6A49E01E5AD7}"/>
              </a:ext>
            </a:extLst>
          </p:cNvPr>
          <p:cNvGrpSpPr/>
          <p:nvPr/>
        </p:nvGrpSpPr>
        <p:grpSpPr>
          <a:xfrm>
            <a:off x="0" y="9599693"/>
            <a:ext cx="18287999" cy="687306"/>
            <a:chOff x="0" y="9599693"/>
            <a:chExt cx="18287999" cy="687306"/>
          </a:xfrm>
        </p:grpSpPr>
        <p:grpSp>
          <p:nvGrpSpPr>
            <p:cNvPr id="21" name="Group 11">
              <a:extLst>
                <a:ext uri="{FF2B5EF4-FFF2-40B4-BE49-F238E27FC236}">
                  <a16:creationId xmlns:a16="http://schemas.microsoft.com/office/drawing/2014/main" id="{EA9634F7-C0C0-B7EE-78B0-850CB5A2AFCD}"/>
                </a:ext>
              </a:extLst>
            </p:cNvPr>
            <p:cNvGrpSpPr/>
            <p:nvPr/>
          </p:nvGrpSpPr>
          <p:grpSpPr>
            <a:xfrm>
              <a:off x="0" y="9599694"/>
              <a:ext cx="18287999" cy="687305"/>
              <a:chOff x="0" y="0"/>
              <a:chExt cx="5260714" cy="490218"/>
            </a:xfrm>
          </p:grpSpPr>
          <p:sp>
            <p:nvSpPr>
              <p:cNvPr id="27" name="Freeform 12">
                <a:extLst>
                  <a:ext uri="{FF2B5EF4-FFF2-40B4-BE49-F238E27FC236}">
                    <a16:creationId xmlns:a16="http://schemas.microsoft.com/office/drawing/2014/main" id="{7F6E8590-5EFD-5024-7B2D-8E2EB5663B3D}"/>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8" name="TextBox 13">
                <a:extLst>
                  <a:ext uri="{FF2B5EF4-FFF2-40B4-BE49-F238E27FC236}">
                    <a16:creationId xmlns:a16="http://schemas.microsoft.com/office/drawing/2014/main" id="{D8C7BE08-1D89-9794-2DA5-9AF9E74BBD2B}"/>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12">
              <a:extLst>
                <a:ext uri="{FF2B5EF4-FFF2-40B4-BE49-F238E27FC236}">
                  <a16:creationId xmlns:a16="http://schemas.microsoft.com/office/drawing/2014/main" id="{8222DADA-624B-30AC-3125-C63763C140BD}"/>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6" name="TextBox 13">
              <a:extLst>
                <a:ext uri="{FF2B5EF4-FFF2-40B4-BE49-F238E27FC236}">
                  <a16:creationId xmlns:a16="http://schemas.microsoft.com/office/drawing/2014/main" id="{C37E4510-6B15-9415-8611-BFC02431330C}"/>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spTree>
    <p:extLst>
      <p:ext uri="{BB962C8B-B14F-4D97-AF65-F5344CB8AC3E}">
        <p14:creationId xmlns:p14="http://schemas.microsoft.com/office/powerpoint/2010/main" val="17158194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93D37-4427-6DD3-358E-B6CDE57B72DA}"/>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D5BCA86F-B393-25A6-8601-13336220D2A7}"/>
              </a:ext>
            </a:extLst>
          </p:cNvPr>
          <p:cNvGrpSpPr/>
          <p:nvPr/>
        </p:nvGrpSpPr>
        <p:grpSpPr>
          <a:xfrm>
            <a:off x="1028699" y="1244210"/>
            <a:ext cx="16230600" cy="7447557"/>
            <a:chOff x="0" y="0"/>
            <a:chExt cx="4274726" cy="1718953"/>
          </a:xfrm>
        </p:grpSpPr>
        <p:sp>
          <p:nvSpPr>
            <p:cNvPr id="6" name="Freeform 6">
              <a:extLst>
                <a:ext uri="{FF2B5EF4-FFF2-40B4-BE49-F238E27FC236}">
                  <a16:creationId xmlns:a16="http://schemas.microsoft.com/office/drawing/2014/main" id="{FECB7D2C-5422-7840-329B-35482C020488}"/>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7C79C662-5562-4792-B793-987BD62882EB}"/>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2" name="Group 2">
            <a:extLst>
              <a:ext uri="{FF2B5EF4-FFF2-40B4-BE49-F238E27FC236}">
                <a16:creationId xmlns:a16="http://schemas.microsoft.com/office/drawing/2014/main" id="{23833E00-2C41-6684-E5B7-0E13DFCDA5AE}"/>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CC90D4CD-2C44-98D1-968E-A003A498710F}"/>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63B3B6F2-58BC-D233-3F60-D89E356096ED}"/>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8" name="Group 8">
            <a:extLst>
              <a:ext uri="{FF2B5EF4-FFF2-40B4-BE49-F238E27FC236}">
                <a16:creationId xmlns:a16="http://schemas.microsoft.com/office/drawing/2014/main" id="{33DF8C54-4243-5AB9-5DE5-FFB79D971463}"/>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9E1C8FA7-FE11-E4C5-64F9-19C9E200045B}"/>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9BDD2951-9091-AA12-8956-9EF241FA4037}"/>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0B25979D-E26F-9381-BCAB-17989C565843}"/>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1F98EFAE-A993-E15A-BE5A-757A3EDDAF86}"/>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D0549DD4-B936-A6BA-12DA-FD7DBA4D336E}"/>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2">
            <a:extLst>
              <a:ext uri="{FF2B5EF4-FFF2-40B4-BE49-F238E27FC236}">
                <a16:creationId xmlns:a16="http://schemas.microsoft.com/office/drawing/2014/main" id="{BC93994E-D6DE-B991-F584-A19F7637085B}"/>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3478A2A3-A6B2-D347-DCE5-E8207A5EA6DF}"/>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F52C7F09-A769-9C7A-5E27-E314F2F51CDF}"/>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00249AF7-0C87-2BCB-5D6C-23DDDAA85F76}"/>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3">
            <a:extLst>
              <a:ext uri="{FF2B5EF4-FFF2-40B4-BE49-F238E27FC236}">
                <a16:creationId xmlns:a16="http://schemas.microsoft.com/office/drawing/2014/main" id="{F26E9535-CCAC-4F6A-B381-DC91B3F0652B}"/>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sp>
        <p:nvSpPr>
          <p:cNvPr id="16" name="TextBox 15">
            <a:extLst>
              <a:ext uri="{FF2B5EF4-FFF2-40B4-BE49-F238E27FC236}">
                <a16:creationId xmlns:a16="http://schemas.microsoft.com/office/drawing/2014/main" id="{86F97AC5-279B-816E-BE34-8237CE136309}"/>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https://edepot.wur.nl/183103</a:t>
            </a:r>
          </a:p>
        </p:txBody>
      </p:sp>
      <p:sp>
        <p:nvSpPr>
          <p:cNvPr id="17" name="TextBox 15">
            <a:extLst>
              <a:ext uri="{FF2B5EF4-FFF2-40B4-BE49-F238E27FC236}">
                <a16:creationId xmlns:a16="http://schemas.microsoft.com/office/drawing/2014/main" id="{8F26183D-5E71-CD6E-67FA-C8690AE47AB5}"/>
              </a:ext>
            </a:extLst>
          </p:cNvPr>
          <p:cNvSpPr txBox="1"/>
          <p:nvPr/>
        </p:nvSpPr>
        <p:spPr>
          <a:xfrm>
            <a:off x="2246041" y="2025065"/>
            <a:ext cx="13795916" cy="1477328"/>
          </a:xfrm>
          <a:prstGeom prst="rect">
            <a:avLst/>
          </a:prstGeom>
        </p:spPr>
        <p:txBody>
          <a:bodyPr lIns="0" tIns="0" rIns="0" bIns="0" rtlCol="0" anchor="t">
            <a:spAutoFit/>
          </a:bodyPr>
          <a:lstStyle/>
          <a:p>
            <a:pPr algn="ctr"/>
            <a:r>
              <a:rPr lang="en-US" sz="2400" b="1" dirty="0" err="1">
                <a:solidFill>
                  <a:srgbClr val="000000"/>
                </a:solidFill>
                <a:latin typeface="Nunito 1 Bold"/>
                <a:ea typeface="Nunito 1 Bold"/>
                <a:cs typeface="Nunito 1 Bold"/>
                <a:sym typeface="Nunito 1 Bold"/>
              </a:rPr>
              <a:t>Hooghoudt</a:t>
            </a:r>
            <a:r>
              <a:rPr lang="en-US" sz="2400" b="1" dirty="0">
                <a:solidFill>
                  <a:srgbClr val="000000"/>
                </a:solidFill>
                <a:latin typeface="Nunito 1 Bold"/>
                <a:ea typeface="Nunito 1 Bold"/>
                <a:cs typeface="Nunito 1 Bold"/>
                <a:sym typeface="Nunito 1 Bold"/>
              </a:rPr>
              <a:t> Equation</a:t>
            </a:r>
          </a:p>
          <a:p>
            <a:pPr algn="ctr"/>
            <a:endParaRPr lang="en-US" sz="2400" dirty="0">
              <a:solidFill>
                <a:srgbClr val="000000"/>
              </a:solidFill>
              <a:latin typeface="Nunito 1" panose="020B0604020202020204" charset="0"/>
              <a:ea typeface="Nunito 1 Bold"/>
              <a:cs typeface="Nunito 1 Bold"/>
              <a:sym typeface="Nunito 1 Bold"/>
            </a:endParaRPr>
          </a:p>
          <a:p>
            <a:pPr algn="ctr"/>
            <a:r>
              <a:rPr lang="en-US" sz="2400" dirty="0">
                <a:solidFill>
                  <a:srgbClr val="000000"/>
                </a:solidFill>
                <a:latin typeface="Nunito 1" panose="020B0604020202020204" charset="0"/>
                <a:ea typeface="Nunito 1 Bold"/>
                <a:cs typeface="Nunito 1 Bold"/>
                <a:sym typeface="Nunito 1 Bold"/>
              </a:rPr>
              <a:t>The </a:t>
            </a:r>
            <a:r>
              <a:rPr lang="en-US" sz="2400" dirty="0" err="1">
                <a:solidFill>
                  <a:srgbClr val="000000"/>
                </a:solidFill>
                <a:latin typeface="Nunito 1" panose="020B0604020202020204" charset="0"/>
                <a:ea typeface="Nunito 1 Bold"/>
                <a:cs typeface="Nunito 1 Bold"/>
                <a:sym typeface="Nunito 1 Bold"/>
              </a:rPr>
              <a:t>Hooghoudt</a:t>
            </a:r>
            <a:r>
              <a:rPr lang="en-US" sz="2400" dirty="0">
                <a:solidFill>
                  <a:srgbClr val="000000"/>
                </a:solidFill>
                <a:latin typeface="Nunito 1" panose="020B0604020202020204" charset="0"/>
                <a:ea typeface="Nunito 1 Bold"/>
                <a:cs typeface="Nunito 1 Bold"/>
                <a:sym typeface="Nunito 1 Bold"/>
              </a:rPr>
              <a:t> Equation can be applied for a homogeneous soil profile or for a two-layered soil profile provided that the interface between the two layers coincides with the drain level.</a:t>
            </a:r>
          </a:p>
        </p:txBody>
      </p:sp>
      <p:pic>
        <p:nvPicPr>
          <p:cNvPr id="30" name="Picture 29">
            <a:extLst>
              <a:ext uri="{FF2B5EF4-FFF2-40B4-BE49-F238E27FC236}">
                <a16:creationId xmlns:a16="http://schemas.microsoft.com/office/drawing/2014/main" id="{74228BF9-4E21-542E-852F-D1571059AA7E}"/>
              </a:ext>
            </a:extLst>
          </p:cNvPr>
          <p:cNvPicPr>
            <a:picLocks noChangeAspect="1"/>
          </p:cNvPicPr>
          <p:nvPr/>
        </p:nvPicPr>
        <p:blipFill>
          <a:blip r:embed="rId3"/>
          <a:srcRect l="9165" t="31928" r="54228" b="18496"/>
          <a:stretch>
            <a:fillRect/>
          </a:stretch>
        </p:blipFill>
        <p:spPr>
          <a:xfrm>
            <a:off x="2246040" y="3978187"/>
            <a:ext cx="3240359" cy="2188970"/>
          </a:xfrm>
          <a:prstGeom prst="rect">
            <a:avLst/>
          </a:prstGeom>
        </p:spPr>
      </p:pic>
      <p:grpSp>
        <p:nvGrpSpPr>
          <p:cNvPr id="14" name="Group 13">
            <a:extLst>
              <a:ext uri="{FF2B5EF4-FFF2-40B4-BE49-F238E27FC236}">
                <a16:creationId xmlns:a16="http://schemas.microsoft.com/office/drawing/2014/main" id="{E36F4E97-87E2-01CC-273F-3E0CE18958C2}"/>
              </a:ext>
            </a:extLst>
          </p:cNvPr>
          <p:cNvGrpSpPr/>
          <p:nvPr/>
        </p:nvGrpSpPr>
        <p:grpSpPr>
          <a:xfrm>
            <a:off x="0" y="9599693"/>
            <a:ext cx="18287999" cy="687306"/>
            <a:chOff x="0" y="9599693"/>
            <a:chExt cx="18287999" cy="687306"/>
          </a:xfrm>
        </p:grpSpPr>
        <p:grpSp>
          <p:nvGrpSpPr>
            <p:cNvPr id="21" name="Group 11">
              <a:extLst>
                <a:ext uri="{FF2B5EF4-FFF2-40B4-BE49-F238E27FC236}">
                  <a16:creationId xmlns:a16="http://schemas.microsoft.com/office/drawing/2014/main" id="{E297D00C-AE77-179D-0A09-7418E645039D}"/>
                </a:ext>
              </a:extLst>
            </p:cNvPr>
            <p:cNvGrpSpPr/>
            <p:nvPr/>
          </p:nvGrpSpPr>
          <p:grpSpPr>
            <a:xfrm>
              <a:off x="0" y="9599694"/>
              <a:ext cx="18287999" cy="687305"/>
              <a:chOff x="0" y="0"/>
              <a:chExt cx="5260714" cy="490218"/>
            </a:xfrm>
          </p:grpSpPr>
          <p:sp>
            <p:nvSpPr>
              <p:cNvPr id="27" name="Freeform 12">
                <a:extLst>
                  <a:ext uri="{FF2B5EF4-FFF2-40B4-BE49-F238E27FC236}">
                    <a16:creationId xmlns:a16="http://schemas.microsoft.com/office/drawing/2014/main" id="{52B2C056-4C3D-011D-65A9-DA15C751A754}"/>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8" name="TextBox 13">
                <a:extLst>
                  <a:ext uri="{FF2B5EF4-FFF2-40B4-BE49-F238E27FC236}">
                    <a16:creationId xmlns:a16="http://schemas.microsoft.com/office/drawing/2014/main" id="{BC5CBEFD-FB25-E5C7-4522-54F88C872517}"/>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12">
              <a:extLst>
                <a:ext uri="{FF2B5EF4-FFF2-40B4-BE49-F238E27FC236}">
                  <a16:creationId xmlns:a16="http://schemas.microsoft.com/office/drawing/2014/main" id="{80DCD6D7-7689-884A-D673-58B03F6FFA2C}"/>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6" name="TextBox 13">
              <a:extLst>
                <a:ext uri="{FF2B5EF4-FFF2-40B4-BE49-F238E27FC236}">
                  <a16:creationId xmlns:a16="http://schemas.microsoft.com/office/drawing/2014/main" id="{E077237C-A856-E15E-6DEE-C6A39484D746}"/>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grpSp>
        <p:nvGrpSpPr>
          <p:cNvPr id="60" name="Group 59">
            <a:extLst>
              <a:ext uri="{FF2B5EF4-FFF2-40B4-BE49-F238E27FC236}">
                <a16:creationId xmlns:a16="http://schemas.microsoft.com/office/drawing/2014/main" id="{44486A7C-3D36-3831-3D69-B793D5A5D00F}"/>
              </a:ext>
            </a:extLst>
          </p:cNvPr>
          <p:cNvGrpSpPr/>
          <p:nvPr/>
        </p:nvGrpSpPr>
        <p:grpSpPr>
          <a:xfrm>
            <a:off x="6672301" y="3483679"/>
            <a:ext cx="10396499" cy="5118297"/>
            <a:chOff x="6672301" y="3483679"/>
            <a:chExt cx="10396499" cy="5118297"/>
          </a:xfrm>
        </p:grpSpPr>
        <p:grpSp>
          <p:nvGrpSpPr>
            <p:cNvPr id="53" name="Group 52">
              <a:extLst>
                <a:ext uri="{FF2B5EF4-FFF2-40B4-BE49-F238E27FC236}">
                  <a16:creationId xmlns:a16="http://schemas.microsoft.com/office/drawing/2014/main" id="{1684DA07-D5A1-BDBB-EE9A-B40838BB898F}"/>
                </a:ext>
              </a:extLst>
            </p:cNvPr>
            <p:cNvGrpSpPr/>
            <p:nvPr/>
          </p:nvGrpSpPr>
          <p:grpSpPr>
            <a:xfrm>
              <a:off x="6703738" y="3483679"/>
              <a:ext cx="7787126" cy="5118297"/>
              <a:chOff x="6703738" y="3483679"/>
              <a:chExt cx="7787126" cy="5118297"/>
            </a:xfrm>
          </p:grpSpPr>
          <p:grpSp>
            <p:nvGrpSpPr>
              <p:cNvPr id="40" name="Group 39">
                <a:extLst>
                  <a:ext uri="{FF2B5EF4-FFF2-40B4-BE49-F238E27FC236}">
                    <a16:creationId xmlns:a16="http://schemas.microsoft.com/office/drawing/2014/main" id="{9FB75627-E1A9-AE19-4194-A46FB86C9C19}"/>
                  </a:ext>
                </a:extLst>
              </p:cNvPr>
              <p:cNvGrpSpPr/>
              <p:nvPr/>
            </p:nvGrpSpPr>
            <p:grpSpPr>
              <a:xfrm>
                <a:off x="6703738" y="3483679"/>
                <a:ext cx="7787126" cy="5118297"/>
                <a:chOff x="6703738" y="3483679"/>
                <a:chExt cx="7787126" cy="5118297"/>
              </a:xfrm>
            </p:grpSpPr>
            <p:pic>
              <p:nvPicPr>
                <p:cNvPr id="1026" name="Picture 2" descr="DrainSpacingCalculatorDocumentation">
                  <a:extLst>
                    <a:ext uri="{FF2B5EF4-FFF2-40B4-BE49-F238E27FC236}">
                      <a16:creationId xmlns:a16="http://schemas.microsoft.com/office/drawing/2014/main" id="{04597598-CD1B-B429-A55B-28F9964D85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3740" y="3483679"/>
                  <a:ext cx="7787124" cy="5118297"/>
                </a:xfrm>
                <a:prstGeom prst="rect">
                  <a:avLst/>
                </a:prstGeom>
                <a:noFill/>
                <a:extLst>
                  <a:ext uri="{909E8E84-426E-40DD-AFC4-6F175D3DCCD1}">
                    <a14:hiddenFill xmlns:a14="http://schemas.microsoft.com/office/drawing/2010/main">
                      <a:solidFill>
                        <a:srgbClr val="FFFFFF"/>
                      </a:solidFill>
                    </a14:hiddenFill>
                  </a:ext>
                </a:extLst>
              </p:spPr>
            </p:pic>
            <p:sp>
              <p:nvSpPr>
                <p:cNvPr id="38" name="Rectangle 37">
                  <a:extLst>
                    <a:ext uri="{FF2B5EF4-FFF2-40B4-BE49-F238E27FC236}">
                      <a16:creationId xmlns:a16="http://schemas.microsoft.com/office/drawing/2014/main" id="{96AE21AB-4A99-E187-7A40-585ACED4553F}"/>
                    </a:ext>
                  </a:extLst>
                </p:cNvPr>
                <p:cNvSpPr/>
                <p:nvPr/>
              </p:nvSpPr>
              <p:spPr>
                <a:xfrm>
                  <a:off x="7086605" y="3924300"/>
                  <a:ext cx="380996" cy="2172779"/>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39" name="Picture 2" descr="DrainSpacingCalculatorDocumentation">
                  <a:extLst>
                    <a:ext uri="{FF2B5EF4-FFF2-40B4-BE49-F238E27FC236}">
                      <a16:creationId xmlns:a16="http://schemas.microsoft.com/office/drawing/2014/main" id="{20A7CAE6-BBB0-80A7-A002-B50C056B142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80975" t="35939" b="51883"/>
                <a:stretch>
                  <a:fillRect/>
                </a:stretch>
              </p:blipFill>
              <p:spPr bwMode="auto">
                <a:xfrm flipH="1">
                  <a:off x="6703738" y="5323129"/>
                  <a:ext cx="1481483" cy="623301"/>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49" name="Straight Connector 48">
                <a:extLst>
                  <a:ext uri="{FF2B5EF4-FFF2-40B4-BE49-F238E27FC236}">
                    <a16:creationId xmlns:a16="http://schemas.microsoft.com/office/drawing/2014/main" id="{B5F2C0A0-A9D3-075D-DBB2-086E0BD023CD}"/>
                  </a:ext>
                </a:extLst>
              </p:cNvPr>
              <p:cNvCxnSpPr>
                <a:cxnSpLocks/>
              </p:cNvCxnSpPr>
              <p:nvPr/>
            </p:nvCxnSpPr>
            <p:spPr>
              <a:xfrm>
                <a:off x="6858000" y="5219699"/>
                <a:ext cx="3276600" cy="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2EE1E476-B593-C389-2BE4-DDB3ED5E67F1}"/>
                  </a:ext>
                </a:extLst>
              </p:cNvPr>
              <p:cNvCxnSpPr>
                <a:cxnSpLocks/>
              </p:cNvCxnSpPr>
              <p:nvPr/>
            </p:nvCxnSpPr>
            <p:spPr>
              <a:xfrm>
                <a:off x="7444479" y="6134100"/>
                <a:ext cx="632721" cy="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id="{1AD83F04-B1A2-282C-91C8-DD300E4D794D}"/>
                </a:ext>
              </a:extLst>
            </p:cNvPr>
            <p:cNvSpPr txBox="1"/>
            <p:nvPr/>
          </p:nvSpPr>
          <p:spPr>
            <a:xfrm>
              <a:off x="10439400" y="7048500"/>
              <a:ext cx="325730" cy="369332"/>
            </a:xfrm>
            <a:prstGeom prst="rect">
              <a:avLst/>
            </a:prstGeom>
            <a:solidFill>
              <a:schemeClr val="bg1"/>
            </a:solidFill>
          </p:spPr>
          <p:txBody>
            <a:bodyPr wrap="square" rtlCol="0">
              <a:spAutoFit/>
            </a:bodyPr>
            <a:lstStyle/>
            <a:p>
              <a:r>
                <a:rPr lang="en-PH" b="1" dirty="0">
                  <a:latin typeface="Arial" panose="020B0604020202020204" pitchFamily="34" charset="0"/>
                  <a:cs typeface="Arial" panose="020B0604020202020204" pitchFamily="34" charset="0"/>
                </a:rPr>
                <a:t>L</a:t>
              </a:r>
            </a:p>
          </p:txBody>
        </p:sp>
        <p:sp>
          <p:nvSpPr>
            <p:cNvPr id="32" name="TextBox 31">
              <a:extLst>
                <a:ext uri="{FF2B5EF4-FFF2-40B4-BE49-F238E27FC236}">
                  <a16:creationId xmlns:a16="http://schemas.microsoft.com/office/drawing/2014/main" id="{925EAEC7-233A-82FC-3D7C-77F50AF7DE2B}"/>
                </a:ext>
              </a:extLst>
            </p:cNvPr>
            <p:cNvSpPr txBox="1"/>
            <p:nvPr/>
          </p:nvSpPr>
          <p:spPr>
            <a:xfrm>
              <a:off x="14490864" y="5789302"/>
              <a:ext cx="2577936" cy="307777"/>
            </a:xfrm>
            <a:prstGeom prst="rect">
              <a:avLst/>
            </a:prstGeom>
            <a:noFill/>
          </p:spPr>
          <p:txBody>
            <a:bodyPr wrap="square" rtlCol="0">
              <a:spAutoFit/>
            </a:bodyPr>
            <a:lstStyle/>
            <a:p>
              <a:r>
                <a:rPr lang="en-PH" sz="1400" b="1" dirty="0">
                  <a:latin typeface="Arial" panose="020B0604020202020204" pitchFamily="34" charset="0"/>
                  <a:cs typeface="Arial" panose="020B0604020202020204" pitchFamily="34" charset="0"/>
                </a:rPr>
                <a:t>Depth to Impervious Layer</a:t>
              </a:r>
            </a:p>
          </p:txBody>
        </p:sp>
        <p:sp>
          <p:nvSpPr>
            <p:cNvPr id="37" name="TextBox 36">
              <a:extLst>
                <a:ext uri="{FF2B5EF4-FFF2-40B4-BE49-F238E27FC236}">
                  <a16:creationId xmlns:a16="http://schemas.microsoft.com/office/drawing/2014/main" id="{0B100381-E810-2DAE-95F7-B8C9BC4C1E79}"/>
                </a:ext>
              </a:extLst>
            </p:cNvPr>
            <p:cNvSpPr txBox="1"/>
            <p:nvPr/>
          </p:nvSpPr>
          <p:spPr>
            <a:xfrm>
              <a:off x="11900064" y="7874562"/>
              <a:ext cx="2577936" cy="307777"/>
            </a:xfrm>
            <a:prstGeom prst="rect">
              <a:avLst/>
            </a:prstGeom>
            <a:solidFill>
              <a:srgbClr val="F2F2F2"/>
            </a:solidFill>
          </p:spPr>
          <p:txBody>
            <a:bodyPr wrap="square" rtlCol="0">
              <a:spAutoFit/>
            </a:bodyPr>
            <a:lstStyle/>
            <a:p>
              <a:pPr algn="ctr"/>
              <a:endParaRPr lang="en-PH" sz="1400" b="1" dirty="0">
                <a:latin typeface="Arial" panose="020B0604020202020204" pitchFamily="34" charset="0"/>
                <a:cs typeface="Arial" panose="020B0604020202020204" pitchFamily="34" charset="0"/>
              </a:endParaRPr>
            </a:p>
          </p:txBody>
        </p:sp>
        <p:sp>
          <p:nvSpPr>
            <p:cNvPr id="41" name="Rectangle 40">
              <a:extLst>
                <a:ext uri="{FF2B5EF4-FFF2-40B4-BE49-F238E27FC236}">
                  <a16:creationId xmlns:a16="http://schemas.microsoft.com/office/drawing/2014/main" id="{C8E13EA7-AB6A-7D1A-3851-E576533F1BC5}"/>
                </a:ext>
              </a:extLst>
            </p:cNvPr>
            <p:cNvSpPr/>
            <p:nvPr/>
          </p:nvSpPr>
          <p:spPr>
            <a:xfrm>
              <a:off x="10428051" y="3924300"/>
              <a:ext cx="380996" cy="1295399"/>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2" name="Rectangle 41">
              <a:extLst>
                <a:ext uri="{FF2B5EF4-FFF2-40B4-BE49-F238E27FC236}">
                  <a16:creationId xmlns:a16="http://schemas.microsoft.com/office/drawing/2014/main" id="{E4E9C449-4BA6-C0E5-7F8F-D51C91CA26E3}"/>
                </a:ext>
              </a:extLst>
            </p:cNvPr>
            <p:cNvSpPr/>
            <p:nvPr/>
          </p:nvSpPr>
          <p:spPr>
            <a:xfrm>
              <a:off x="10473458" y="5273117"/>
              <a:ext cx="270742" cy="1295399"/>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3" name="TextBox 42">
              <a:extLst>
                <a:ext uri="{FF2B5EF4-FFF2-40B4-BE49-F238E27FC236}">
                  <a16:creationId xmlns:a16="http://schemas.microsoft.com/office/drawing/2014/main" id="{A4700622-FD81-337E-C510-B256EB76B637}"/>
                </a:ext>
              </a:extLst>
            </p:cNvPr>
            <p:cNvSpPr txBox="1"/>
            <p:nvPr/>
          </p:nvSpPr>
          <p:spPr>
            <a:xfrm>
              <a:off x="9296728" y="8294064"/>
              <a:ext cx="2577936" cy="307777"/>
            </a:xfrm>
            <a:prstGeom prst="rect">
              <a:avLst/>
            </a:prstGeom>
            <a:solidFill>
              <a:srgbClr val="F2F2F2"/>
            </a:solidFill>
          </p:spPr>
          <p:txBody>
            <a:bodyPr wrap="square" rtlCol="0">
              <a:spAutoFit/>
            </a:bodyPr>
            <a:lstStyle/>
            <a:p>
              <a:pPr algn="ctr"/>
              <a:r>
                <a:rPr lang="en-PH" sz="1400" b="1" dirty="0">
                  <a:latin typeface="Arial" panose="020B0604020202020204" pitchFamily="34" charset="0"/>
                  <a:cs typeface="Arial" panose="020B0604020202020204" pitchFamily="34" charset="0"/>
                </a:rPr>
                <a:t>Impervious Layer</a:t>
              </a:r>
            </a:p>
          </p:txBody>
        </p:sp>
        <p:cxnSp>
          <p:nvCxnSpPr>
            <p:cNvPr id="45" name="Straight Arrow Connector 44">
              <a:extLst>
                <a:ext uri="{FF2B5EF4-FFF2-40B4-BE49-F238E27FC236}">
                  <a16:creationId xmlns:a16="http://schemas.microsoft.com/office/drawing/2014/main" id="{45DB8E16-FE2D-0014-B00A-A1D170C84F64}"/>
                </a:ext>
              </a:extLst>
            </p:cNvPr>
            <p:cNvCxnSpPr>
              <a:cxnSpLocks/>
            </p:cNvCxnSpPr>
            <p:nvPr/>
          </p:nvCxnSpPr>
          <p:spPr>
            <a:xfrm>
              <a:off x="6858000" y="5273117"/>
              <a:ext cx="0" cy="2917914"/>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3076C0C5-5B8F-300D-BBC8-935769961684}"/>
                </a:ext>
              </a:extLst>
            </p:cNvPr>
            <p:cNvCxnSpPr>
              <a:cxnSpLocks/>
            </p:cNvCxnSpPr>
            <p:nvPr/>
          </p:nvCxnSpPr>
          <p:spPr>
            <a:xfrm>
              <a:off x="14478000" y="3924300"/>
              <a:ext cx="0" cy="4213313"/>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B70CE7FC-1D00-9FC5-D2DA-F8931141BDB1}"/>
                </a:ext>
              </a:extLst>
            </p:cNvPr>
            <p:cNvSpPr txBox="1"/>
            <p:nvPr/>
          </p:nvSpPr>
          <p:spPr>
            <a:xfrm>
              <a:off x="6672301" y="6949766"/>
              <a:ext cx="325730" cy="369332"/>
            </a:xfrm>
            <a:prstGeom prst="rect">
              <a:avLst/>
            </a:prstGeom>
            <a:solidFill>
              <a:schemeClr val="bg1"/>
            </a:solidFill>
          </p:spPr>
          <p:txBody>
            <a:bodyPr wrap="square" rtlCol="0">
              <a:spAutoFit/>
            </a:bodyPr>
            <a:lstStyle/>
            <a:p>
              <a:r>
                <a:rPr lang="en-PH" b="1" dirty="0">
                  <a:latin typeface="Arial" panose="020B0604020202020204" pitchFamily="34" charset="0"/>
                  <a:cs typeface="Arial" panose="020B0604020202020204" pitchFamily="34" charset="0"/>
                </a:rPr>
                <a:t>H</a:t>
              </a:r>
            </a:p>
          </p:txBody>
        </p:sp>
      </p:grpSp>
    </p:spTree>
    <p:extLst>
      <p:ext uri="{BB962C8B-B14F-4D97-AF65-F5344CB8AC3E}">
        <p14:creationId xmlns:p14="http://schemas.microsoft.com/office/powerpoint/2010/main" val="37970995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9F65A-E86F-32CB-9A74-42C41F1BA04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584CD7D-4591-ABBB-51DC-EB51EF1DE1BF}"/>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7E0CF2E8-5918-1407-9BD5-DAA38DDE0711}"/>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444094D4-76F3-E886-0DD6-8E9F40BB8676}"/>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A288F348-463F-C2B4-2D3C-A1B9A5BB2118}"/>
              </a:ext>
            </a:extLst>
          </p:cNvPr>
          <p:cNvGrpSpPr/>
          <p:nvPr/>
        </p:nvGrpSpPr>
        <p:grpSpPr>
          <a:xfrm>
            <a:off x="1028699" y="1230939"/>
            <a:ext cx="16230600" cy="7447557"/>
            <a:chOff x="0" y="0"/>
            <a:chExt cx="4274726" cy="1718953"/>
          </a:xfrm>
        </p:grpSpPr>
        <p:sp>
          <p:nvSpPr>
            <p:cNvPr id="6" name="Freeform 6">
              <a:extLst>
                <a:ext uri="{FF2B5EF4-FFF2-40B4-BE49-F238E27FC236}">
                  <a16:creationId xmlns:a16="http://schemas.microsoft.com/office/drawing/2014/main" id="{ABD4168F-398E-FDD9-3A41-46C19286BF30}"/>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7C542D3E-146D-EFB4-A805-FB9BF215CA86}"/>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51EFDA4A-FBFA-6988-7657-B50A6786B562}"/>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3D129DCD-BAB0-B406-3BEC-E239FDBAF77B}"/>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E6B04967-69FB-15B1-68D6-4A5E99B1C714}"/>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A99F209B-70A1-7F37-79E6-956913199F5E}"/>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B548F643-65E8-A7BA-C6C2-B88BCA2D41A9}"/>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7F7B259B-8C03-B8C2-3C5D-9E5414467C0D}"/>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C600A125-F540-F9A4-E30D-EA4E32756232}"/>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	ADDITIONAL QUESTION</a:t>
            </a:r>
          </a:p>
        </p:txBody>
      </p:sp>
      <p:sp>
        <p:nvSpPr>
          <p:cNvPr id="15" name="TextBox 15">
            <a:extLst>
              <a:ext uri="{FF2B5EF4-FFF2-40B4-BE49-F238E27FC236}">
                <a16:creationId xmlns:a16="http://schemas.microsoft.com/office/drawing/2014/main" id="{BCC51390-74CD-2172-6FB8-38D403180AD9}"/>
              </a:ext>
            </a:extLst>
          </p:cNvPr>
          <p:cNvSpPr txBox="1"/>
          <p:nvPr/>
        </p:nvSpPr>
        <p:spPr>
          <a:xfrm>
            <a:off x="2246041" y="2025065"/>
            <a:ext cx="13795916" cy="1846659"/>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In an attempt to the groundwater flow of a certain farm, two parallel  canals have to be constructed. It was observed that the impervious layer exist at a depth of 1.9 m below the soil surface and the soil has a k value of 1.2 m/day. If the water table has to be maintained at a depth of 0.8 m below the soil surface, what will be the spacing of the drain when the drain  level is 1.5 m below the soil. Assume a steady recharge of 2 mm/day.</a:t>
            </a:r>
          </a:p>
        </p:txBody>
      </p:sp>
      <p:sp>
        <p:nvSpPr>
          <p:cNvPr id="19" name="TextBox 12">
            <a:extLst>
              <a:ext uri="{FF2B5EF4-FFF2-40B4-BE49-F238E27FC236}">
                <a16:creationId xmlns:a16="http://schemas.microsoft.com/office/drawing/2014/main" id="{EA99369F-52B5-C9CC-9110-92B32C8EC2F2}"/>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6B6B908E-35BB-7044-E2AC-F349FCFB3CCA}"/>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6CFDFEC7-A90D-4B50-4595-4D4A4AEE0D19}"/>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577FBE63-9443-2631-7757-6E303811FD7C}"/>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3">
            <a:extLst>
              <a:ext uri="{FF2B5EF4-FFF2-40B4-BE49-F238E27FC236}">
                <a16:creationId xmlns:a16="http://schemas.microsoft.com/office/drawing/2014/main" id="{312F3E25-94A9-44AB-D8FE-600F45358A5C}"/>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sp>
        <p:nvSpPr>
          <p:cNvPr id="21" name="TextBox 20">
            <a:extLst>
              <a:ext uri="{FF2B5EF4-FFF2-40B4-BE49-F238E27FC236}">
                <a16:creationId xmlns:a16="http://schemas.microsoft.com/office/drawing/2014/main" id="{56699EBD-1FF6-93FA-0F43-8F2469A050D7}"/>
              </a:ext>
            </a:extLst>
          </p:cNvPr>
          <p:cNvSpPr txBox="1"/>
          <p:nvPr/>
        </p:nvSpPr>
        <p:spPr>
          <a:xfrm>
            <a:off x="1676400" y="4558181"/>
            <a:ext cx="14935200" cy="369332"/>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Ans. 50.2m</a:t>
            </a:r>
          </a:p>
        </p:txBody>
      </p:sp>
      <p:grpSp>
        <p:nvGrpSpPr>
          <p:cNvPr id="22" name="Group 21">
            <a:extLst>
              <a:ext uri="{FF2B5EF4-FFF2-40B4-BE49-F238E27FC236}">
                <a16:creationId xmlns:a16="http://schemas.microsoft.com/office/drawing/2014/main" id="{D037617D-9C61-6885-4DE5-FACD9BF90FDD}"/>
              </a:ext>
            </a:extLst>
          </p:cNvPr>
          <p:cNvGrpSpPr/>
          <p:nvPr/>
        </p:nvGrpSpPr>
        <p:grpSpPr>
          <a:xfrm>
            <a:off x="1645920" y="5288162"/>
            <a:ext cx="6678258" cy="3127382"/>
            <a:chOff x="4940442" y="3978186"/>
            <a:chExt cx="8851758" cy="4145217"/>
          </a:xfrm>
        </p:grpSpPr>
        <p:grpSp>
          <p:nvGrpSpPr>
            <p:cNvPr id="26" name="Group 25">
              <a:extLst>
                <a:ext uri="{FF2B5EF4-FFF2-40B4-BE49-F238E27FC236}">
                  <a16:creationId xmlns:a16="http://schemas.microsoft.com/office/drawing/2014/main" id="{F0FD706F-A207-FFAC-0032-B27711DDBB91}"/>
                </a:ext>
              </a:extLst>
            </p:cNvPr>
            <p:cNvGrpSpPr/>
            <p:nvPr/>
          </p:nvGrpSpPr>
          <p:grpSpPr>
            <a:xfrm>
              <a:off x="4940442" y="3978186"/>
              <a:ext cx="8851758" cy="3986182"/>
              <a:chOff x="5374789" y="3751958"/>
              <a:chExt cx="7983064" cy="3594985"/>
            </a:xfrm>
          </p:grpSpPr>
          <p:pic>
            <p:nvPicPr>
              <p:cNvPr id="28" name="Picture 27">
                <a:extLst>
                  <a:ext uri="{FF2B5EF4-FFF2-40B4-BE49-F238E27FC236}">
                    <a16:creationId xmlns:a16="http://schemas.microsoft.com/office/drawing/2014/main" id="{D74A0214-D435-5EC4-7057-6ABCA7163281}"/>
                  </a:ext>
                </a:extLst>
              </p:cNvPr>
              <p:cNvPicPr>
                <a:picLocks noChangeAspect="1"/>
              </p:cNvPicPr>
              <p:nvPr/>
            </p:nvPicPr>
            <p:blipFill>
              <a:blip r:embed="rId3"/>
              <a:srcRect t="31928"/>
              <a:stretch/>
            </p:blipFill>
            <p:spPr>
              <a:xfrm>
                <a:off x="5374789" y="3751958"/>
                <a:ext cx="7983064" cy="2710640"/>
              </a:xfrm>
              <a:prstGeom prst="rect">
                <a:avLst/>
              </a:prstGeom>
            </p:spPr>
          </p:pic>
          <p:pic>
            <p:nvPicPr>
              <p:cNvPr id="29" name="Picture 28">
                <a:extLst>
                  <a:ext uri="{FF2B5EF4-FFF2-40B4-BE49-F238E27FC236}">
                    <a16:creationId xmlns:a16="http://schemas.microsoft.com/office/drawing/2014/main" id="{F2FA0559-6657-E649-40B8-6AB565864A2D}"/>
                  </a:ext>
                </a:extLst>
              </p:cNvPr>
              <p:cNvPicPr>
                <a:picLocks noChangeAspect="1"/>
              </p:cNvPicPr>
              <p:nvPr/>
            </p:nvPicPr>
            <p:blipFill>
              <a:blip r:embed="rId3"/>
              <a:srcRect t="-2580" b="77808"/>
              <a:stretch/>
            </p:blipFill>
            <p:spPr>
              <a:xfrm>
                <a:off x="5374789" y="6360544"/>
                <a:ext cx="7983064" cy="986399"/>
              </a:xfrm>
              <a:prstGeom prst="rect">
                <a:avLst/>
              </a:prstGeom>
            </p:spPr>
          </p:pic>
        </p:grpSp>
        <p:pic>
          <p:nvPicPr>
            <p:cNvPr id="27" name="Picture 26">
              <a:extLst>
                <a:ext uri="{FF2B5EF4-FFF2-40B4-BE49-F238E27FC236}">
                  <a16:creationId xmlns:a16="http://schemas.microsoft.com/office/drawing/2014/main" id="{F8B15FCF-A3D5-4522-81E5-3CA8CB93F73D}"/>
                </a:ext>
              </a:extLst>
            </p:cNvPr>
            <p:cNvPicPr>
              <a:picLocks noChangeAspect="1"/>
            </p:cNvPicPr>
            <p:nvPr/>
          </p:nvPicPr>
          <p:blipFill>
            <a:blip r:embed="rId4"/>
            <a:srcRect t="31976" b="52381"/>
            <a:stretch/>
          </p:blipFill>
          <p:spPr>
            <a:xfrm>
              <a:off x="4940442" y="7752611"/>
              <a:ext cx="8851758" cy="370792"/>
            </a:xfrm>
            <a:prstGeom prst="rect">
              <a:avLst/>
            </a:prstGeom>
          </p:spPr>
        </p:pic>
      </p:grpSp>
      <p:grpSp>
        <p:nvGrpSpPr>
          <p:cNvPr id="16" name="Group 15">
            <a:extLst>
              <a:ext uri="{FF2B5EF4-FFF2-40B4-BE49-F238E27FC236}">
                <a16:creationId xmlns:a16="http://schemas.microsoft.com/office/drawing/2014/main" id="{42759734-F29B-44D1-5F57-7B98E2A42C57}"/>
              </a:ext>
            </a:extLst>
          </p:cNvPr>
          <p:cNvGrpSpPr/>
          <p:nvPr/>
        </p:nvGrpSpPr>
        <p:grpSpPr>
          <a:xfrm>
            <a:off x="0" y="9599693"/>
            <a:ext cx="18287999" cy="687306"/>
            <a:chOff x="0" y="9599693"/>
            <a:chExt cx="18287999" cy="687306"/>
          </a:xfrm>
        </p:grpSpPr>
        <p:grpSp>
          <p:nvGrpSpPr>
            <p:cNvPr id="17" name="Group 11">
              <a:extLst>
                <a:ext uri="{FF2B5EF4-FFF2-40B4-BE49-F238E27FC236}">
                  <a16:creationId xmlns:a16="http://schemas.microsoft.com/office/drawing/2014/main" id="{A7032266-508C-EE43-CADA-1E87A658BD60}"/>
                </a:ext>
              </a:extLst>
            </p:cNvPr>
            <p:cNvGrpSpPr/>
            <p:nvPr/>
          </p:nvGrpSpPr>
          <p:grpSpPr>
            <a:xfrm>
              <a:off x="0" y="9599694"/>
              <a:ext cx="18287999" cy="687305"/>
              <a:chOff x="0" y="0"/>
              <a:chExt cx="5260714" cy="490218"/>
            </a:xfrm>
          </p:grpSpPr>
          <p:sp>
            <p:nvSpPr>
              <p:cNvPr id="31" name="Freeform 12">
                <a:extLst>
                  <a:ext uri="{FF2B5EF4-FFF2-40B4-BE49-F238E27FC236}">
                    <a16:creationId xmlns:a16="http://schemas.microsoft.com/office/drawing/2014/main" id="{9A2AF1B2-778B-21A9-9E52-D4186736BE46}"/>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32" name="TextBox 13">
                <a:extLst>
                  <a:ext uri="{FF2B5EF4-FFF2-40B4-BE49-F238E27FC236}">
                    <a16:creationId xmlns:a16="http://schemas.microsoft.com/office/drawing/2014/main" id="{FFAAC91B-5897-28AE-2F4D-CA80CE1EA530}"/>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0" name="TextBox 12">
              <a:extLst>
                <a:ext uri="{FF2B5EF4-FFF2-40B4-BE49-F238E27FC236}">
                  <a16:creationId xmlns:a16="http://schemas.microsoft.com/office/drawing/2014/main" id="{9FB21054-A28E-23BD-C8C9-3ABAC303F29D}"/>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30" name="TextBox 13">
              <a:extLst>
                <a:ext uri="{FF2B5EF4-FFF2-40B4-BE49-F238E27FC236}">
                  <a16:creationId xmlns:a16="http://schemas.microsoft.com/office/drawing/2014/main" id="{54EF784D-96EF-82A9-A78D-8E43CFF3F982}"/>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grpSp>
        <p:nvGrpSpPr>
          <p:cNvPr id="64" name="Group 63">
            <a:extLst>
              <a:ext uri="{FF2B5EF4-FFF2-40B4-BE49-F238E27FC236}">
                <a16:creationId xmlns:a16="http://schemas.microsoft.com/office/drawing/2014/main" id="{F98E1E83-0B8B-24E3-1112-147D682ABF11}"/>
              </a:ext>
            </a:extLst>
          </p:cNvPr>
          <p:cNvGrpSpPr/>
          <p:nvPr/>
        </p:nvGrpSpPr>
        <p:grpSpPr>
          <a:xfrm>
            <a:off x="8686800" y="4112521"/>
            <a:ext cx="8666056" cy="4266382"/>
            <a:chOff x="6672301" y="3483679"/>
            <a:chExt cx="10396499" cy="5118297"/>
          </a:xfrm>
        </p:grpSpPr>
        <p:grpSp>
          <p:nvGrpSpPr>
            <p:cNvPr id="65" name="Group 64">
              <a:extLst>
                <a:ext uri="{FF2B5EF4-FFF2-40B4-BE49-F238E27FC236}">
                  <a16:creationId xmlns:a16="http://schemas.microsoft.com/office/drawing/2014/main" id="{57501257-9D61-B988-4D00-1BBC9988822F}"/>
                </a:ext>
              </a:extLst>
            </p:cNvPr>
            <p:cNvGrpSpPr/>
            <p:nvPr/>
          </p:nvGrpSpPr>
          <p:grpSpPr>
            <a:xfrm>
              <a:off x="6703738" y="3483679"/>
              <a:ext cx="7787126" cy="5118297"/>
              <a:chOff x="6703738" y="3483679"/>
              <a:chExt cx="7787126" cy="5118297"/>
            </a:xfrm>
          </p:grpSpPr>
          <p:grpSp>
            <p:nvGrpSpPr>
              <p:cNvPr id="75" name="Group 74">
                <a:extLst>
                  <a:ext uri="{FF2B5EF4-FFF2-40B4-BE49-F238E27FC236}">
                    <a16:creationId xmlns:a16="http://schemas.microsoft.com/office/drawing/2014/main" id="{30A0EDBD-17D2-D9F9-05A2-C1493E80C257}"/>
                  </a:ext>
                </a:extLst>
              </p:cNvPr>
              <p:cNvGrpSpPr/>
              <p:nvPr/>
            </p:nvGrpSpPr>
            <p:grpSpPr>
              <a:xfrm>
                <a:off x="6703738" y="3483679"/>
                <a:ext cx="7787126" cy="5118297"/>
                <a:chOff x="6703738" y="3483679"/>
                <a:chExt cx="7787126" cy="5118297"/>
              </a:xfrm>
            </p:grpSpPr>
            <p:pic>
              <p:nvPicPr>
                <p:cNvPr id="78" name="Picture 2" descr="DrainSpacingCalculatorDocumentation">
                  <a:extLst>
                    <a:ext uri="{FF2B5EF4-FFF2-40B4-BE49-F238E27FC236}">
                      <a16:creationId xmlns:a16="http://schemas.microsoft.com/office/drawing/2014/main" id="{783561B0-48C3-B0AE-94C5-7A195C37F6B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03740" y="3483679"/>
                  <a:ext cx="7787124" cy="5118297"/>
                </a:xfrm>
                <a:prstGeom prst="rect">
                  <a:avLst/>
                </a:prstGeom>
                <a:noFill/>
                <a:extLst>
                  <a:ext uri="{909E8E84-426E-40DD-AFC4-6F175D3DCCD1}">
                    <a14:hiddenFill xmlns:a14="http://schemas.microsoft.com/office/drawing/2010/main">
                      <a:solidFill>
                        <a:srgbClr val="FFFFFF"/>
                      </a:solidFill>
                    </a14:hiddenFill>
                  </a:ext>
                </a:extLst>
              </p:spPr>
            </p:pic>
            <p:sp>
              <p:nvSpPr>
                <p:cNvPr id="79" name="Rectangle 78">
                  <a:extLst>
                    <a:ext uri="{FF2B5EF4-FFF2-40B4-BE49-F238E27FC236}">
                      <a16:creationId xmlns:a16="http://schemas.microsoft.com/office/drawing/2014/main" id="{0A941BE9-D53F-5E86-DAA6-46B47C9E4BCE}"/>
                    </a:ext>
                  </a:extLst>
                </p:cNvPr>
                <p:cNvSpPr/>
                <p:nvPr/>
              </p:nvSpPr>
              <p:spPr>
                <a:xfrm>
                  <a:off x="7086605" y="3924300"/>
                  <a:ext cx="380996" cy="2172779"/>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80" name="Picture 2" descr="DrainSpacingCalculatorDocumentation">
                  <a:extLst>
                    <a:ext uri="{FF2B5EF4-FFF2-40B4-BE49-F238E27FC236}">
                      <a16:creationId xmlns:a16="http://schemas.microsoft.com/office/drawing/2014/main" id="{957EBBB4-A773-FF5C-A63E-3F60A2BF434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80975" t="35939" b="51883"/>
                <a:stretch>
                  <a:fillRect/>
                </a:stretch>
              </p:blipFill>
              <p:spPr bwMode="auto">
                <a:xfrm flipH="1">
                  <a:off x="6703738" y="5323129"/>
                  <a:ext cx="1481483" cy="623301"/>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76" name="Straight Connector 75">
                <a:extLst>
                  <a:ext uri="{FF2B5EF4-FFF2-40B4-BE49-F238E27FC236}">
                    <a16:creationId xmlns:a16="http://schemas.microsoft.com/office/drawing/2014/main" id="{549CA860-73D6-51F7-708C-303DBAB2DD5F}"/>
                  </a:ext>
                </a:extLst>
              </p:cNvPr>
              <p:cNvCxnSpPr>
                <a:cxnSpLocks/>
              </p:cNvCxnSpPr>
              <p:nvPr/>
            </p:nvCxnSpPr>
            <p:spPr>
              <a:xfrm>
                <a:off x="6858000" y="5219699"/>
                <a:ext cx="3276600" cy="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0C684807-B81A-0801-4EF1-BAA751440E87}"/>
                  </a:ext>
                </a:extLst>
              </p:cNvPr>
              <p:cNvCxnSpPr>
                <a:cxnSpLocks/>
              </p:cNvCxnSpPr>
              <p:nvPr/>
            </p:nvCxnSpPr>
            <p:spPr>
              <a:xfrm>
                <a:off x="7444479" y="6134100"/>
                <a:ext cx="632721" cy="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
          <p:nvSpPr>
            <p:cNvPr id="66" name="TextBox 65">
              <a:extLst>
                <a:ext uri="{FF2B5EF4-FFF2-40B4-BE49-F238E27FC236}">
                  <a16:creationId xmlns:a16="http://schemas.microsoft.com/office/drawing/2014/main" id="{6AB20B94-B786-53C8-5A72-92961F8D76F9}"/>
                </a:ext>
              </a:extLst>
            </p:cNvPr>
            <p:cNvSpPr txBox="1"/>
            <p:nvPr/>
          </p:nvSpPr>
          <p:spPr>
            <a:xfrm>
              <a:off x="10439400" y="7048500"/>
              <a:ext cx="325730" cy="369332"/>
            </a:xfrm>
            <a:prstGeom prst="rect">
              <a:avLst/>
            </a:prstGeom>
            <a:solidFill>
              <a:schemeClr val="bg1"/>
            </a:solidFill>
          </p:spPr>
          <p:txBody>
            <a:bodyPr wrap="square" rtlCol="0">
              <a:spAutoFit/>
            </a:bodyPr>
            <a:lstStyle/>
            <a:p>
              <a:r>
                <a:rPr lang="en-PH" b="1" dirty="0">
                  <a:latin typeface="Arial" panose="020B0604020202020204" pitchFamily="34" charset="0"/>
                  <a:cs typeface="Arial" panose="020B0604020202020204" pitchFamily="34" charset="0"/>
                </a:rPr>
                <a:t>L</a:t>
              </a:r>
            </a:p>
          </p:txBody>
        </p:sp>
        <p:sp>
          <p:nvSpPr>
            <p:cNvPr id="67" name="TextBox 66">
              <a:extLst>
                <a:ext uri="{FF2B5EF4-FFF2-40B4-BE49-F238E27FC236}">
                  <a16:creationId xmlns:a16="http://schemas.microsoft.com/office/drawing/2014/main" id="{2D8E68E0-CC0B-C914-DBA7-75A06DCF2DAB}"/>
                </a:ext>
              </a:extLst>
            </p:cNvPr>
            <p:cNvSpPr txBox="1"/>
            <p:nvPr/>
          </p:nvSpPr>
          <p:spPr>
            <a:xfrm>
              <a:off x="14490864" y="5789302"/>
              <a:ext cx="2577936" cy="307777"/>
            </a:xfrm>
            <a:prstGeom prst="rect">
              <a:avLst/>
            </a:prstGeom>
            <a:noFill/>
          </p:spPr>
          <p:txBody>
            <a:bodyPr wrap="square" rtlCol="0">
              <a:spAutoFit/>
            </a:bodyPr>
            <a:lstStyle/>
            <a:p>
              <a:r>
                <a:rPr lang="en-PH" sz="1400" b="1" dirty="0">
                  <a:latin typeface="Arial" panose="020B0604020202020204" pitchFamily="34" charset="0"/>
                  <a:cs typeface="Arial" panose="020B0604020202020204" pitchFamily="34" charset="0"/>
                </a:rPr>
                <a:t>Depth to Impervious Layer</a:t>
              </a:r>
            </a:p>
          </p:txBody>
        </p:sp>
        <p:sp>
          <p:nvSpPr>
            <p:cNvPr id="68" name="TextBox 67">
              <a:extLst>
                <a:ext uri="{FF2B5EF4-FFF2-40B4-BE49-F238E27FC236}">
                  <a16:creationId xmlns:a16="http://schemas.microsoft.com/office/drawing/2014/main" id="{8C0C89A0-54D9-82DD-3467-3061B3DC0500}"/>
                </a:ext>
              </a:extLst>
            </p:cNvPr>
            <p:cNvSpPr txBox="1"/>
            <p:nvPr/>
          </p:nvSpPr>
          <p:spPr>
            <a:xfrm>
              <a:off x="11900064" y="7874562"/>
              <a:ext cx="2577936" cy="307777"/>
            </a:xfrm>
            <a:prstGeom prst="rect">
              <a:avLst/>
            </a:prstGeom>
            <a:solidFill>
              <a:srgbClr val="F2F2F2"/>
            </a:solidFill>
          </p:spPr>
          <p:txBody>
            <a:bodyPr wrap="square" rtlCol="0">
              <a:spAutoFit/>
            </a:bodyPr>
            <a:lstStyle/>
            <a:p>
              <a:pPr algn="ctr"/>
              <a:endParaRPr lang="en-PH" sz="1400" b="1" dirty="0">
                <a:latin typeface="Arial" panose="020B0604020202020204" pitchFamily="34" charset="0"/>
                <a:cs typeface="Arial" panose="020B0604020202020204" pitchFamily="34" charset="0"/>
              </a:endParaRPr>
            </a:p>
          </p:txBody>
        </p:sp>
        <p:sp>
          <p:nvSpPr>
            <p:cNvPr id="69" name="Rectangle 68">
              <a:extLst>
                <a:ext uri="{FF2B5EF4-FFF2-40B4-BE49-F238E27FC236}">
                  <a16:creationId xmlns:a16="http://schemas.microsoft.com/office/drawing/2014/main" id="{63C05488-600C-8912-7BE1-F2D4FD2E8240}"/>
                </a:ext>
              </a:extLst>
            </p:cNvPr>
            <p:cNvSpPr/>
            <p:nvPr/>
          </p:nvSpPr>
          <p:spPr>
            <a:xfrm>
              <a:off x="10428051" y="3924300"/>
              <a:ext cx="380996" cy="1295399"/>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0" name="Rectangle 69">
              <a:extLst>
                <a:ext uri="{FF2B5EF4-FFF2-40B4-BE49-F238E27FC236}">
                  <a16:creationId xmlns:a16="http://schemas.microsoft.com/office/drawing/2014/main" id="{4B5564C9-B167-0FA9-7952-F77847F15B1B}"/>
                </a:ext>
              </a:extLst>
            </p:cNvPr>
            <p:cNvSpPr/>
            <p:nvPr/>
          </p:nvSpPr>
          <p:spPr>
            <a:xfrm>
              <a:off x="10473458" y="5273117"/>
              <a:ext cx="270742" cy="1295399"/>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1" name="TextBox 70">
              <a:extLst>
                <a:ext uri="{FF2B5EF4-FFF2-40B4-BE49-F238E27FC236}">
                  <a16:creationId xmlns:a16="http://schemas.microsoft.com/office/drawing/2014/main" id="{CB46A1C7-1977-195C-5FBA-4B68149ECF51}"/>
                </a:ext>
              </a:extLst>
            </p:cNvPr>
            <p:cNvSpPr txBox="1"/>
            <p:nvPr/>
          </p:nvSpPr>
          <p:spPr>
            <a:xfrm>
              <a:off x="9296728" y="8294064"/>
              <a:ext cx="2577936" cy="307777"/>
            </a:xfrm>
            <a:prstGeom prst="rect">
              <a:avLst/>
            </a:prstGeom>
            <a:solidFill>
              <a:srgbClr val="F2F2F2"/>
            </a:solidFill>
          </p:spPr>
          <p:txBody>
            <a:bodyPr wrap="square" rtlCol="0">
              <a:spAutoFit/>
            </a:bodyPr>
            <a:lstStyle/>
            <a:p>
              <a:pPr algn="ctr"/>
              <a:r>
                <a:rPr lang="en-PH" sz="1400" b="1" dirty="0">
                  <a:latin typeface="Arial" panose="020B0604020202020204" pitchFamily="34" charset="0"/>
                  <a:cs typeface="Arial" panose="020B0604020202020204" pitchFamily="34" charset="0"/>
                </a:rPr>
                <a:t>Impervious Layer</a:t>
              </a:r>
            </a:p>
          </p:txBody>
        </p:sp>
        <p:cxnSp>
          <p:nvCxnSpPr>
            <p:cNvPr id="72" name="Straight Arrow Connector 71">
              <a:extLst>
                <a:ext uri="{FF2B5EF4-FFF2-40B4-BE49-F238E27FC236}">
                  <a16:creationId xmlns:a16="http://schemas.microsoft.com/office/drawing/2014/main" id="{A3860940-405D-5629-03E5-7DFA88753F6B}"/>
                </a:ext>
              </a:extLst>
            </p:cNvPr>
            <p:cNvCxnSpPr>
              <a:cxnSpLocks/>
            </p:cNvCxnSpPr>
            <p:nvPr/>
          </p:nvCxnSpPr>
          <p:spPr>
            <a:xfrm>
              <a:off x="6858000" y="5273117"/>
              <a:ext cx="0" cy="2917914"/>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F6E43C9F-AEC7-A00C-2E96-F3BB2C6C5A4F}"/>
                </a:ext>
              </a:extLst>
            </p:cNvPr>
            <p:cNvCxnSpPr>
              <a:cxnSpLocks/>
            </p:cNvCxnSpPr>
            <p:nvPr/>
          </p:nvCxnSpPr>
          <p:spPr>
            <a:xfrm>
              <a:off x="14478000" y="3924300"/>
              <a:ext cx="0" cy="4213313"/>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D81E6198-0160-C707-EE76-8FD2E3BF9B2A}"/>
                </a:ext>
              </a:extLst>
            </p:cNvPr>
            <p:cNvSpPr txBox="1"/>
            <p:nvPr/>
          </p:nvSpPr>
          <p:spPr>
            <a:xfrm>
              <a:off x="6672301" y="6949766"/>
              <a:ext cx="325730" cy="369332"/>
            </a:xfrm>
            <a:prstGeom prst="rect">
              <a:avLst/>
            </a:prstGeom>
            <a:solidFill>
              <a:schemeClr val="bg1"/>
            </a:solidFill>
          </p:spPr>
          <p:txBody>
            <a:bodyPr wrap="square" rtlCol="0">
              <a:spAutoFit/>
            </a:bodyPr>
            <a:lstStyle/>
            <a:p>
              <a:r>
                <a:rPr lang="en-PH" b="1" dirty="0">
                  <a:latin typeface="Arial" panose="020B0604020202020204" pitchFamily="34" charset="0"/>
                  <a:cs typeface="Arial" panose="020B0604020202020204" pitchFamily="34" charset="0"/>
                </a:rPr>
                <a:t>H</a:t>
              </a:r>
            </a:p>
          </p:txBody>
        </p:sp>
      </p:grpSp>
      <p:grpSp>
        <p:nvGrpSpPr>
          <p:cNvPr id="89" name="Group 88">
            <a:extLst>
              <a:ext uri="{FF2B5EF4-FFF2-40B4-BE49-F238E27FC236}">
                <a16:creationId xmlns:a16="http://schemas.microsoft.com/office/drawing/2014/main" id="{12CCAA8C-CF1F-594D-832C-D5E76573A5A0}"/>
              </a:ext>
            </a:extLst>
          </p:cNvPr>
          <p:cNvGrpSpPr/>
          <p:nvPr/>
        </p:nvGrpSpPr>
        <p:grpSpPr>
          <a:xfrm>
            <a:off x="11938109" y="4499113"/>
            <a:ext cx="1217000" cy="1025387"/>
            <a:chOff x="11938109" y="4499113"/>
            <a:chExt cx="1217000" cy="1025387"/>
          </a:xfrm>
        </p:grpSpPr>
        <p:cxnSp>
          <p:nvCxnSpPr>
            <p:cNvPr id="83" name="Straight Arrow Connector 82">
              <a:extLst>
                <a:ext uri="{FF2B5EF4-FFF2-40B4-BE49-F238E27FC236}">
                  <a16:creationId xmlns:a16="http://schemas.microsoft.com/office/drawing/2014/main" id="{B9F117E1-C027-0C4F-6749-A43A2CD11EC7}"/>
                </a:ext>
              </a:extLst>
            </p:cNvPr>
            <p:cNvCxnSpPr>
              <a:cxnSpLocks/>
            </p:cNvCxnSpPr>
            <p:nvPr/>
          </p:nvCxnSpPr>
          <p:spPr>
            <a:xfrm>
              <a:off x="11948831" y="4499113"/>
              <a:ext cx="0" cy="102538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A9F39463-66BC-CBD9-4321-28018E59E03D}"/>
                </a:ext>
              </a:extLst>
            </p:cNvPr>
            <p:cNvSpPr txBox="1"/>
            <p:nvPr/>
          </p:nvSpPr>
          <p:spPr>
            <a:xfrm>
              <a:off x="11938109" y="4899519"/>
              <a:ext cx="1217000" cy="369332"/>
            </a:xfrm>
            <a:prstGeom prst="rect">
              <a:avLst/>
            </a:prstGeom>
            <a:noFill/>
          </p:spPr>
          <p:txBody>
            <a:bodyPr wrap="none" rtlCol="0">
              <a:spAutoFit/>
            </a:bodyPr>
            <a:lstStyle/>
            <a:p>
              <a:r>
                <a:rPr lang="en-PH" dirty="0">
                  <a:latin typeface="Arial" panose="020B0604020202020204" pitchFamily="34" charset="0"/>
                  <a:cs typeface="Arial" panose="020B0604020202020204" pitchFamily="34" charset="0"/>
                </a:rPr>
                <a:t>h</a:t>
              </a:r>
              <a:r>
                <a:rPr lang="en-PH" baseline="-25000" dirty="0">
                  <a:latin typeface="Arial" panose="020B0604020202020204" pitchFamily="34" charset="0"/>
                  <a:cs typeface="Arial" panose="020B0604020202020204" pitchFamily="34" charset="0"/>
                </a:rPr>
                <a:t>1</a:t>
              </a:r>
              <a:r>
                <a:rPr lang="en-PH" dirty="0">
                  <a:latin typeface="Arial" panose="020B0604020202020204" pitchFamily="34" charset="0"/>
                  <a:cs typeface="Arial" panose="020B0604020202020204" pitchFamily="34" charset="0"/>
                </a:rPr>
                <a:t> = 0.8m</a:t>
              </a:r>
            </a:p>
          </p:txBody>
        </p:sp>
      </p:grpSp>
      <p:grpSp>
        <p:nvGrpSpPr>
          <p:cNvPr id="90" name="Group 89">
            <a:extLst>
              <a:ext uri="{FF2B5EF4-FFF2-40B4-BE49-F238E27FC236}">
                <a16:creationId xmlns:a16="http://schemas.microsoft.com/office/drawing/2014/main" id="{38759CF7-C2C1-2EC4-A6A7-4B543EB0013D}"/>
              </a:ext>
            </a:extLst>
          </p:cNvPr>
          <p:cNvGrpSpPr/>
          <p:nvPr/>
        </p:nvGrpSpPr>
        <p:grpSpPr>
          <a:xfrm>
            <a:off x="10128693" y="4479803"/>
            <a:ext cx="1173719" cy="1578097"/>
            <a:chOff x="10128693" y="4479803"/>
            <a:chExt cx="1173719" cy="1578097"/>
          </a:xfrm>
        </p:grpSpPr>
        <p:cxnSp>
          <p:nvCxnSpPr>
            <p:cNvPr id="82" name="Straight Arrow Connector 81">
              <a:extLst>
                <a:ext uri="{FF2B5EF4-FFF2-40B4-BE49-F238E27FC236}">
                  <a16:creationId xmlns:a16="http://schemas.microsoft.com/office/drawing/2014/main" id="{0F98F28C-EF11-5EDA-66BB-1CE19A037401}"/>
                </a:ext>
              </a:extLst>
            </p:cNvPr>
            <p:cNvCxnSpPr/>
            <p:nvPr/>
          </p:nvCxnSpPr>
          <p:spPr>
            <a:xfrm>
              <a:off x="10134600" y="4479803"/>
              <a:ext cx="0" cy="157809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E5CB2063-68CC-9534-0090-36CB9402A1C8}"/>
                </a:ext>
              </a:extLst>
            </p:cNvPr>
            <p:cNvSpPr txBox="1"/>
            <p:nvPr/>
          </p:nvSpPr>
          <p:spPr>
            <a:xfrm>
              <a:off x="10128693" y="4923055"/>
              <a:ext cx="1173719" cy="369332"/>
            </a:xfrm>
            <a:prstGeom prst="rect">
              <a:avLst/>
            </a:prstGeom>
            <a:noFill/>
          </p:spPr>
          <p:txBody>
            <a:bodyPr wrap="none" rtlCol="0">
              <a:spAutoFit/>
            </a:bodyPr>
            <a:lstStyle/>
            <a:p>
              <a:r>
                <a:rPr lang="en-PH" dirty="0">
                  <a:latin typeface="Arial" panose="020B0604020202020204" pitchFamily="34" charset="0"/>
                  <a:cs typeface="Arial" panose="020B0604020202020204" pitchFamily="34" charset="0"/>
                </a:rPr>
                <a:t>h</a:t>
              </a:r>
              <a:r>
                <a:rPr lang="en-PH" baseline="-25000" dirty="0">
                  <a:latin typeface="Arial" panose="020B0604020202020204" pitchFamily="34" charset="0"/>
                  <a:cs typeface="Arial" panose="020B0604020202020204" pitchFamily="34" charset="0"/>
                </a:rPr>
                <a:t>2</a:t>
              </a:r>
              <a:r>
                <a:rPr lang="en-PH" dirty="0">
                  <a:latin typeface="Arial" panose="020B0604020202020204" pitchFamily="34" charset="0"/>
                  <a:cs typeface="Arial" panose="020B0604020202020204" pitchFamily="34" charset="0"/>
                </a:rPr>
                <a:t> = 1.5m</a:t>
              </a:r>
            </a:p>
          </p:txBody>
        </p:sp>
      </p:grpSp>
      <p:sp>
        <p:nvSpPr>
          <p:cNvPr id="87" name="TextBox 86">
            <a:extLst>
              <a:ext uri="{FF2B5EF4-FFF2-40B4-BE49-F238E27FC236}">
                <a16:creationId xmlns:a16="http://schemas.microsoft.com/office/drawing/2014/main" id="{31952D2A-107E-FD62-A095-229F5DC1ED33}"/>
              </a:ext>
            </a:extLst>
          </p:cNvPr>
          <p:cNvSpPr txBox="1"/>
          <p:nvPr/>
        </p:nvSpPr>
        <p:spPr>
          <a:xfrm>
            <a:off x="15204004" y="6539314"/>
            <a:ext cx="1088760" cy="369332"/>
          </a:xfrm>
          <a:prstGeom prst="rect">
            <a:avLst/>
          </a:prstGeom>
          <a:noFill/>
        </p:spPr>
        <p:txBody>
          <a:bodyPr wrap="none" rtlCol="0">
            <a:spAutoFit/>
          </a:bodyPr>
          <a:lstStyle/>
          <a:p>
            <a:r>
              <a:rPr lang="en-PH" dirty="0">
                <a:latin typeface="Arial" panose="020B0604020202020204" pitchFamily="34" charset="0"/>
                <a:cs typeface="Arial" panose="020B0604020202020204" pitchFamily="34" charset="0"/>
              </a:rPr>
              <a:t>d = 1.9m</a:t>
            </a:r>
          </a:p>
        </p:txBody>
      </p:sp>
      <p:sp>
        <p:nvSpPr>
          <p:cNvPr id="88" name="TextBox 87">
            <a:extLst>
              <a:ext uri="{FF2B5EF4-FFF2-40B4-BE49-F238E27FC236}">
                <a16:creationId xmlns:a16="http://schemas.microsoft.com/office/drawing/2014/main" id="{D46AD7E0-0F47-97F0-164D-AF0BD7F21B69}"/>
              </a:ext>
            </a:extLst>
          </p:cNvPr>
          <p:cNvSpPr txBox="1"/>
          <p:nvPr/>
        </p:nvSpPr>
        <p:spPr>
          <a:xfrm>
            <a:off x="11261460" y="6309904"/>
            <a:ext cx="1563248" cy="646331"/>
          </a:xfrm>
          <a:prstGeom prst="rect">
            <a:avLst/>
          </a:prstGeom>
          <a:noFill/>
        </p:spPr>
        <p:txBody>
          <a:bodyPr wrap="none" rtlCol="0">
            <a:spAutoFit/>
          </a:bodyPr>
          <a:lstStyle/>
          <a:p>
            <a:r>
              <a:rPr lang="en-PH" dirty="0">
                <a:latin typeface="Arial" panose="020B0604020202020204" pitchFamily="34" charset="0"/>
                <a:cs typeface="Arial" panose="020B0604020202020204" pitchFamily="34" charset="0"/>
              </a:rPr>
              <a:t>k = 1.2m/day</a:t>
            </a:r>
          </a:p>
          <a:p>
            <a:r>
              <a:rPr lang="en-PH" dirty="0">
                <a:latin typeface="Arial" panose="020B0604020202020204" pitchFamily="34" charset="0"/>
                <a:cs typeface="Arial" panose="020B0604020202020204" pitchFamily="34" charset="0"/>
              </a:rPr>
              <a:t>R = 2mm/day</a:t>
            </a:r>
          </a:p>
        </p:txBody>
      </p:sp>
    </p:spTree>
    <p:extLst>
      <p:ext uri="{BB962C8B-B14F-4D97-AF65-F5344CB8AC3E}">
        <p14:creationId xmlns:p14="http://schemas.microsoft.com/office/powerpoint/2010/main" val="1180250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87" grpId="0"/>
      <p:bldP spid="8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186FB-6577-6DF2-9897-02FDD31F6AC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74EBC57-54F7-E5BC-F65C-63A172CDFA61}"/>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BBB21890-E793-579C-1DCB-35528656C5AC}"/>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C16107C4-8391-5A8C-6436-F25AFEBF8E77}"/>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A00D1A03-1A62-D0C9-FA81-236E8C661A9D}"/>
              </a:ext>
            </a:extLst>
          </p:cNvPr>
          <p:cNvGrpSpPr/>
          <p:nvPr/>
        </p:nvGrpSpPr>
        <p:grpSpPr>
          <a:xfrm>
            <a:off x="1028699" y="1230939"/>
            <a:ext cx="16230600" cy="7447557"/>
            <a:chOff x="0" y="0"/>
            <a:chExt cx="4274726" cy="1718953"/>
          </a:xfrm>
        </p:grpSpPr>
        <p:sp>
          <p:nvSpPr>
            <p:cNvPr id="6" name="Freeform 6">
              <a:extLst>
                <a:ext uri="{FF2B5EF4-FFF2-40B4-BE49-F238E27FC236}">
                  <a16:creationId xmlns:a16="http://schemas.microsoft.com/office/drawing/2014/main" id="{A6F2029A-61BB-ACBF-04E1-420417EE9C34}"/>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2894A100-093C-EEE2-6A0F-7848EAD8C416}"/>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AB878170-ECC4-4763-F7D5-126CAD50F4E5}"/>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EE8F3DEE-FCCB-9129-4D74-E171396626BC}"/>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CB5BE2A9-C757-2ECF-5AB7-75D431DA7ECC}"/>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3A60B71E-243E-4574-B2A5-81FB844AB042}"/>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8979AF75-657D-60A2-B459-2ED9F361E734}"/>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E5682771-B4B3-845A-1E00-61F5DA0D0586}"/>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46BB1D34-E711-00AE-CCA3-62AF5D23F6C3}"/>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	ADDITIONAL QUESTION</a:t>
            </a:r>
          </a:p>
        </p:txBody>
      </p:sp>
      <p:sp>
        <p:nvSpPr>
          <p:cNvPr id="15" name="TextBox 15">
            <a:extLst>
              <a:ext uri="{FF2B5EF4-FFF2-40B4-BE49-F238E27FC236}">
                <a16:creationId xmlns:a16="http://schemas.microsoft.com/office/drawing/2014/main" id="{2DCF5922-9793-1BDF-FB93-B5D09833061B}"/>
              </a:ext>
            </a:extLst>
          </p:cNvPr>
          <p:cNvSpPr txBox="1"/>
          <p:nvPr/>
        </p:nvSpPr>
        <p:spPr>
          <a:xfrm>
            <a:off x="2246041" y="2025065"/>
            <a:ext cx="13795916" cy="1477328"/>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An agricultural land is to be drained using tile drain system. The depth to impervious layer  is 3.0 m and the depth to water table to be maintained is 0.6 m. The saturated hydraulic conductivity  is 62.5 mm/</a:t>
            </a:r>
            <a:r>
              <a:rPr lang="en-US" sz="2400" b="1" dirty="0" err="1">
                <a:solidFill>
                  <a:srgbClr val="000000"/>
                </a:solidFill>
                <a:latin typeface="Nunito 1 Bold"/>
                <a:ea typeface="Nunito 1 Bold"/>
                <a:cs typeface="Nunito 1 Bold"/>
                <a:sym typeface="Nunito 1 Bold"/>
              </a:rPr>
              <a:t>hr</a:t>
            </a:r>
            <a:r>
              <a:rPr lang="en-US" sz="2400" b="1" dirty="0">
                <a:solidFill>
                  <a:srgbClr val="000000"/>
                </a:solidFill>
                <a:latin typeface="Nunito 1 Bold"/>
                <a:ea typeface="Nunito 1 Bold"/>
                <a:cs typeface="Nunito 1 Bold"/>
                <a:sym typeface="Nunito 1 Bold"/>
              </a:rPr>
              <a:t> and the drainage coefficient is 7 mm/day. If the drains will be installed 1.0 m below the  ground surface, the drain spacing should be?</a:t>
            </a:r>
          </a:p>
        </p:txBody>
      </p:sp>
      <p:sp>
        <p:nvSpPr>
          <p:cNvPr id="19" name="TextBox 12">
            <a:extLst>
              <a:ext uri="{FF2B5EF4-FFF2-40B4-BE49-F238E27FC236}">
                <a16:creationId xmlns:a16="http://schemas.microsoft.com/office/drawing/2014/main" id="{662814C4-C6D0-D1CE-CBD4-CB226CC9E64C}"/>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grpSp>
        <p:nvGrpSpPr>
          <p:cNvPr id="23" name="Group 5">
            <a:extLst>
              <a:ext uri="{FF2B5EF4-FFF2-40B4-BE49-F238E27FC236}">
                <a16:creationId xmlns:a16="http://schemas.microsoft.com/office/drawing/2014/main" id="{E73F9762-357A-59CE-232D-D1F876D9A7A9}"/>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A5DD7FB9-BE84-85B4-D494-5CE31C63CDB7}"/>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1FCD67BC-1D1D-2669-E284-36CED8C85987}"/>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3">
            <a:extLst>
              <a:ext uri="{FF2B5EF4-FFF2-40B4-BE49-F238E27FC236}">
                <a16:creationId xmlns:a16="http://schemas.microsoft.com/office/drawing/2014/main" id="{C3D2CA85-21EB-C4B4-4219-F1069559B89E}"/>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sp>
        <p:nvSpPr>
          <p:cNvPr id="21" name="TextBox 20">
            <a:extLst>
              <a:ext uri="{FF2B5EF4-FFF2-40B4-BE49-F238E27FC236}">
                <a16:creationId xmlns:a16="http://schemas.microsoft.com/office/drawing/2014/main" id="{D7394943-B736-44FF-B0E1-E23A2612E93D}"/>
              </a:ext>
            </a:extLst>
          </p:cNvPr>
          <p:cNvSpPr txBox="1"/>
          <p:nvPr/>
        </p:nvSpPr>
        <p:spPr>
          <a:xfrm>
            <a:off x="1676400" y="4558181"/>
            <a:ext cx="14935200" cy="369332"/>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Ans. 38.84m</a:t>
            </a:r>
          </a:p>
        </p:txBody>
      </p:sp>
      <p:grpSp>
        <p:nvGrpSpPr>
          <p:cNvPr id="16" name="Group 15">
            <a:extLst>
              <a:ext uri="{FF2B5EF4-FFF2-40B4-BE49-F238E27FC236}">
                <a16:creationId xmlns:a16="http://schemas.microsoft.com/office/drawing/2014/main" id="{391FB42A-E0AE-E107-1D7E-9766141C480F}"/>
              </a:ext>
            </a:extLst>
          </p:cNvPr>
          <p:cNvGrpSpPr/>
          <p:nvPr/>
        </p:nvGrpSpPr>
        <p:grpSpPr>
          <a:xfrm>
            <a:off x="0" y="9599693"/>
            <a:ext cx="18287999" cy="687306"/>
            <a:chOff x="0" y="9599693"/>
            <a:chExt cx="18287999" cy="687306"/>
          </a:xfrm>
        </p:grpSpPr>
        <p:grpSp>
          <p:nvGrpSpPr>
            <p:cNvPr id="17" name="Group 11">
              <a:extLst>
                <a:ext uri="{FF2B5EF4-FFF2-40B4-BE49-F238E27FC236}">
                  <a16:creationId xmlns:a16="http://schemas.microsoft.com/office/drawing/2014/main" id="{246ADF90-C9A6-8B1C-FC50-5E0E47F75362}"/>
                </a:ext>
              </a:extLst>
            </p:cNvPr>
            <p:cNvGrpSpPr/>
            <p:nvPr/>
          </p:nvGrpSpPr>
          <p:grpSpPr>
            <a:xfrm>
              <a:off x="0" y="9599694"/>
              <a:ext cx="18287999" cy="687305"/>
              <a:chOff x="0" y="0"/>
              <a:chExt cx="5260714" cy="490218"/>
            </a:xfrm>
          </p:grpSpPr>
          <p:sp>
            <p:nvSpPr>
              <p:cNvPr id="31" name="Freeform 12">
                <a:extLst>
                  <a:ext uri="{FF2B5EF4-FFF2-40B4-BE49-F238E27FC236}">
                    <a16:creationId xmlns:a16="http://schemas.microsoft.com/office/drawing/2014/main" id="{D46D85AA-9C25-C585-2972-F34705C1E780}"/>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32" name="TextBox 13">
                <a:extLst>
                  <a:ext uri="{FF2B5EF4-FFF2-40B4-BE49-F238E27FC236}">
                    <a16:creationId xmlns:a16="http://schemas.microsoft.com/office/drawing/2014/main" id="{66562BA9-8AB9-C73A-B82A-1FBD92A784D2}"/>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0" name="TextBox 12">
              <a:extLst>
                <a:ext uri="{FF2B5EF4-FFF2-40B4-BE49-F238E27FC236}">
                  <a16:creationId xmlns:a16="http://schemas.microsoft.com/office/drawing/2014/main" id="{41EE7C3F-9153-44D2-A7C5-0358646AF8DD}"/>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30" name="TextBox 13">
              <a:extLst>
                <a:ext uri="{FF2B5EF4-FFF2-40B4-BE49-F238E27FC236}">
                  <a16:creationId xmlns:a16="http://schemas.microsoft.com/office/drawing/2014/main" id="{B76FFCC1-CA3A-17AE-AD20-7AF8EF999620}"/>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Groundwater Hydrology</a:t>
              </a:r>
            </a:p>
          </p:txBody>
        </p:sp>
      </p:grpSp>
      <p:grpSp>
        <p:nvGrpSpPr>
          <p:cNvPr id="33" name="Group 32">
            <a:extLst>
              <a:ext uri="{FF2B5EF4-FFF2-40B4-BE49-F238E27FC236}">
                <a16:creationId xmlns:a16="http://schemas.microsoft.com/office/drawing/2014/main" id="{A3EFDEC1-1AE8-9A89-E14D-01F65C8498EF}"/>
              </a:ext>
            </a:extLst>
          </p:cNvPr>
          <p:cNvGrpSpPr/>
          <p:nvPr/>
        </p:nvGrpSpPr>
        <p:grpSpPr>
          <a:xfrm>
            <a:off x="1645920" y="5288162"/>
            <a:ext cx="6678258" cy="3127382"/>
            <a:chOff x="4940442" y="3978186"/>
            <a:chExt cx="8851758" cy="4145217"/>
          </a:xfrm>
        </p:grpSpPr>
        <p:grpSp>
          <p:nvGrpSpPr>
            <p:cNvPr id="34" name="Group 33">
              <a:extLst>
                <a:ext uri="{FF2B5EF4-FFF2-40B4-BE49-F238E27FC236}">
                  <a16:creationId xmlns:a16="http://schemas.microsoft.com/office/drawing/2014/main" id="{49FD23C4-CF70-5605-037A-12D61608B54C}"/>
                </a:ext>
              </a:extLst>
            </p:cNvPr>
            <p:cNvGrpSpPr/>
            <p:nvPr/>
          </p:nvGrpSpPr>
          <p:grpSpPr>
            <a:xfrm>
              <a:off x="4940442" y="3978186"/>
              <a:ext cx="8851758" cy="3986182"/>
              <a:chOff x="5374789" y="3751958"/>
              <a:chExt cx="7983064" cy="3594985"/>
            </a:xfrm>
          </p:grpSpPr>
          <p:pic>
            <p:nvPicPr>
              <p:cNvPr id="36" name="Picture 35">
                <a:extLst>
                  <a:ext uri="{FF2B5EF4-FFF2-40B4-BE49-F238E27FC236}">
                    <a16:creationId xmlns:a16="http://schemas.microsoft.com/office/drawing/2014/main" id="{2B1BDFE9-CA2D-9754-1D34-78F21D13C7E4}"/>
                  </a:ext>
                </a:extLst>
              </p:cNvPr>
              <p:cNvPicPr>
                <a:picLocks noChangeAspect="1"/>
              </p:cNvPicPr>
              <p:nvPr/>
            </p:nvPicPr>
            <p:blipFill>
              <a:blip r:embed="rId3"/>
              <a:srcRect t="31928"/>
              <a:stretch/>
            </p:blipFill>
            <p:spPr>
              <a:xfrm>
                <a:off x="5374789" y="3751958"/>
                <a:ext cx="7983064" cy="2710640"/>
              </a:xfrm>
              <a:prstGeom prst="rect">
                <a:avLst/>
              </a:prstGeom>
            </p:spPr>
          </p:pic>
          <p:pic>
            <p:nvPicPr>
              <p:cNvPr id="37" name="Picture 36">
                <a:extLst>
                  <a:ext uri="{FF2B5EF4-FFF2-40B4-BE49-F238E27FC236}">
                    <a16:creationId xmlns:a16="http://schemas.microsoft.com/office/drawing/2014/main" id="{44A95662-1CF7-3C46-0D0B-B9FD0775C7C6}"/>
                  </a:ext>
                </a:extLst>
              </p:cNvPr>
              <p:cNvPicPr>
                <a:picLocks noChangeAspect="1"/>
              </p:cNvPicPr>
              <p:nvPr/>
            </p:nvPicPr>
            <p:blipFill>
              <a:blip r:embed="rId3"/>
              <a:srcRect t="-2580" b="77808"/>
              <a:stretch/>
            </p:blipFill>
            <p:spPr>
              <a:xfrm>
                <a:off x="5374789" y="6360544"/>
                <a:ext cx="7983064" cy="986399"/>
              </a:xfrm>
              <a:prstGeom prst="rect">
                <a:avLst/>
              </a:prstGeom>
            </p:spPr>
          </p:pic>
        </p:grpSp>
        <p:pic>
          <p:nvPicPr>
            <p:cNvPr id="35" name="Picture 34">
              <a:extLst>
                <a:ext uri="{FF2B5EF4-FFF2-40B4-BE49-F238E27FC236}">
                  <a16:creationId xmlns:a16="http://schemas.microsoft.com/office/drawing/2014/main" id="{4F43CAD4-3A3C-6474-7BC4-11CF865B5CDC}"/>
                </a:ext>
              </a:extLst>
            </p:cNvPr>
            <p:cNvPicPr>
              <a:picLocks noChangeAspect="1"/>
            </p:cNvPicPr>
            <p:nvPr/>
          </p:nvPicPr>
          <p:blipFill>
            <a:blip r:embed="rId4"/>
            <a:srcRect t="31976" b="52381"/>
            <a:stretch/>
          </p:blipFill>
          <p:spPr>
            <a:xfrm>
              <a:off x="4940442" y="7752611"/>
              <a:ext cx="8851758" cy="370792"/>
            </a:xfrm>
            <a:prstGeom prst="rect">
              <a:avLst/>
            </a:prstGeom>
          </p:spPr>
        </p:pic>
      </p:grpSp>
      <p:grpSp>
        <p:nvGrpSpPr>
          <p:cNvPr id="38" name="Group 37">
            <a:extLst>
              <a:ext uri="{FF2B5EF4-FFF2-40B4-BE49-F238E27FC236}">
                <a16:creationId xmlns:a16="http://schemas.microsoft.com/office/drawing/2014/main" id="{FA89F189-B7B1-BE2C-B02B-D905AEF3F5B8}"/>
              </a:ext>
            </a:extLst>
          </p:cNvPr>
          <p:cNvGrpSpPr/>
          <p:nvPr/>
        </p:nvGrpSpPr>
        <p:grpSpPr>
          <a:xfrm>
            <a:off x="8686800" y="4112521"/>
            <a:ext cx="8666056" cy="4266382"/>
            <a:chOff x="6672301" y="3483679"/>
            <a:chExt cx="10396499" cy="5118297"/>
          </a:xfrm>
        </p:grpSpPr>
        <p:grpSp>
          <p:nvGrpSpPr>
            <p:cNvPr id="39" name="Group 38">
              <a:extLst>
                <a:ext uri="{FF2B5EF4-FFF2-40B4-BE49-F238E27FC236}">
                  <a16:creationId xmlns:a16="http://schemas.microsoft.com/office/drawing/2014/main" id="{4185EC62-E82D-40AF-2A7B-5779615F8140}"/>
                </a:ext>
              </a:extLst>
            </p:cNvPr>
            <p:cNvGrpSpPr/>
            <p:nvPr/>
          </p:nvGrpSpPr>
          <p:grpSpPr>
            <a:xfrm>
              <a:off x="6703738" y="3483679"/>
              <a:ext cx="7787126" cy="5118297"/>
              <a:chOff x="6703738" y="3483679"/>
              <a:chExt cx="7787126" cy="5118297"/>
            </a:xfrm>
          </p:grpSpPr>
          <p:grpSp>
            <p:nvGrpSpPr>
              <p:cNvPr id="49" name="Group 48">
                <a:extLst>
                  <a:ext uri="{FF2B5EF4-FFF2-40B4-BE49-F238E27FC236}">
                    <a16:creationId xmlns:a16="http://schemas.microsoft.com/office/drawing/2014/main" id="{E3233B92-BEF0-3A8D-953B-3A1C2773CC4A}"/>
                  </a:ext>
                </a:extLst>
              </p:cNvPr>
              <p:cNvGrpSpPr/>
              <p:nvPr/>
            </p:nvGrpSpPr>
            <p:grpSpPr>
              <a:xfrm>
                <a:off x="6703738" y="3483679"/>
                <a:ext cx="7787126" cy="5118297"/>
                <a:chOff x="6703738" y="3483679"/>
                <a:chExt cx="7787126" cy="5118297"/>
              </a:xfrm>
            </p:grpSpPr>
            <p:pic>
              <p:nvPicPr>
                <p:cNvPr id="52" name="Picture 2" descr="DrainSpacingCalculatorDocumentation">
                  <a:extLst>
                    <a:ext uri="{FF2B5EF4-FFF2-40B4-BE49-F238E27FC236}">
                      <a16:creationId xmlns:a16="http://schemas.microsoft.com/office/drawing/2014/main" id="{983E403B-D109-C2E9-010A-A2B2B35FFA1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03740" y="3483679"/>
                  <a:ext cx="7787124" cy="5118297"/>
                </a:xfrm>
                <a:prstGeom prst="rect">
                  <a:avLst/>
                </a:prstGeom>
                <a:noFill/>
                <a:extLst>
                  <a:ext uri="{909E8E84-426E-40DD-AFC4-6F175D3DCCD1}">
                    <a14:hiddenFill xmlns:a14="http://schemas.microsoft.com/office/drawing/2010/main">
                      <a:solidFill>
                        <a:srgbClr val="FFFFFF"/>
                      </a:solidFill>
                    </a14:hiddenFill>
                  </a:ext>
                </a:extLst>
              </p:spPr>
            </p:pic>
            <p:sp>
              <p:nvSpPr>
                <p:cNvPr id="53" name="Rectangle 52">
                  <a:extLst>
                    <a:ext uri="{FF2B5EF4-FFF2-40B4-BE49-F238E27FC236}">
                      <a16:creationId xmlns:a16="http://schemas.microsoft.com/office/drawing/2014/main" id="{46D654D4-28F5-78A5-8AC0-CB0CE553C5DC}"/>
                    </a:ext>
                  </a:extLst>
                </p:cNvPr>
                <p:cNvSpPr/>
                <p:nvPr/>
              </p:nvSpPr>
              <p:spPr>
                <a:xfrm>
                  <a:off x="7086605" y="3924300"/>
                  <a:ext cx="380996" cy="2172779"/>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54" name="Picture 2" descr="DrainSpacingCalculatorDocumentation">
                  <a:extLst>
                    <a:ext uri="{FF2B5EF4-FFF2-40B4-BE49-F238E27FC236}">
                      <a16:creationId xmlns:a16="http://schemas.microsoft.com/office/drawing/2014/main" id="{026DB927-E87D-611D-CEAF-8B120704A05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80975" t="35939" b="51883"/>
                <a:stretch>
                  <a:fillRect/>
                </a:stretch>
              </p:blipFill>
              <p:spPr bwMode="auto">
                <a:xfrm flipH="1">
                  <a:off x="6703738" y="5323129"/>
                  <a:ext cx="1481483" cy="623301"/>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50" name="Straight Connector 49">
                <a:extLst>
                  <a:ext uri="{FF2B5EF4-FFF2-40B4-BE49-F238E27FC236}">
                    <a16:creationId xmlns:a16="http://schemas.microsoft.com/office/drawing/2014/main" id="{D305E2E3-A81C-7FBF-5D86-7F89FAB8FB2E}"/>
                  </a:ext>
                </a:extLst>
              </p:cNvPr>
              <p:cNvCxnSpPr>
                <a:cxnSpLocks/>
              </p:cNvCxnSpPr>
              <p:nvPr/>
            </p:nvCxnSpPr>
            <p:spPr>
              <a:xfrm>
                <a:off x="6858000" y="5219699"/>
                <a:ext cx="3276600" cy="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67EA7EA5-CFD4-BF92-BFB0-67C35F90B1AA}"/>
                  </a:ext>
                </a:extLst>
              </p:cNvPr>
              <p:cNvCxnSpPr>
                <a:cxnSpLocks/>
              </p:cNvCxnSpPr>
              <p:nvPr/>
            </p:nvCxnSpPr>
            <p:spPr>
              <a:xfrm>
                <a:off x="7444479" y="6134100"/>
                <a:ext cx="632721" cy="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
          <p:nvSpPr>
            <p:cNvPr id="40" name="TextBox 39">
              <a:extLst>
                <a:ext uri="{FF2B5EF4-FFF2-40B4-BE49-F238E27FC236}">
                  <a16:creationId xmlns:a16="http://schemas.microsoft.com/office/drawing/2014/main" id="{8A2E218D-6C49-9BF6-269D-AA86C1A2E987}"/>
                </a:ext>
              </a:extLst>
            </p:cNvPr>
            <p:cNvSpPr txBox="1"/>
            <p:nvPr/>
          </p:nvSpPr>
          <p:spPr>
            <a:xfrm>
              <a:off x="10439400" y="7048500"/>
              <a:ext cx="325730" cy="369332"/>
            </a:xfrm>
            <a:prstGeom prst="rect">
              <a:avLst/>
            </a:prstGeom>
            <a:solidFill>
              <a:schemeClr val="bg1"/>
            </a:solidFill>
          </p:spPr>
          <p:txBody>
            <a:bodyPr wrap="square" rtlCol="0">
              <a:spAutoFit/>
            </a:bodyPr>
            <a:lstStyle/>
            <a:p>
              <a:r>
                <a:rPr lang="en-PH" b="1" dirty="0">
                  <a:latin typeface="Arial" panose="020B0604020202020204" pitchFamily="34" charset="0"/>
                  <a:cs typeface="Arial" panose="020B0604020202020204" pitchFamily="34" charset="0"/>
                </a:rPr>
                <a:t>L</a:t>
              </a:r>
            </a:p>
          </p:txBody>
        </p:sp>
        <p:sp>
          <p:nvSpPr>
            <p:cNvPr id="41" name="TextBox 40">
              <a:extLst>
                <a:ext uri="{FF2B5EF4-FFF2-40B4-BE49-F238E27FC236}">
                  <a16:creationId xmlns:a16="http://schemas.microsoft.com/office/drawing/2014/main" id="{54710080-5BEE-C70A-73B6-9A5270DB77C4}"/>
                </a:ext>
              </a:extLst>
            </p:cNvPr>
            <p:cNvSpPr txBox="1"/>
            <p:nvPr/>
          </p:nvSpPr>
          <p:spPr>
            <a:xfrm>
              <a:off x="14490864" y="5789302"/>
              <a:ext cx="2577936" cy="307777"/>
            </a:xfrm>
            <a:prstGeom prst="rect">
              <a:avLst/>
            </a:prstGeom>
            <a:noFill/>
          </p:spPr>
          <p:txBody>
            <a:bodyPr wrap="square" rtlCol="0">
              <a:spAutoFit/>
            </a:bodyPr>
            <a:lstStyle/>
            <a:p>
              <a:r>
                <a:rPr lang="en-PH" sz="1400" b="1" dirty="0">
                  <a:latin typeface="Arial" panose="020B0604020202020204" pitchFamily="34" charset="0"/>
                  <a:cs typeface="Arial" panose="020B0604020202020204" pitchFamily="34" charset="0"/>
                </a:rPr>
                <a:t>Depth to Impervious Layer</a:t>
              </a:r>
            </a:p>
          </p:txBody>
        </p:sp>
        <p:sp>
          <p:nvSpPr>
            <p:cNvPr id="42" name="TextBox 41">
              <a:extLst>
                <a:ext uri="{FF2B5EF4-FFF2-40B4-BE49-F238E27FC236}">
                  <a16:creationId xmlns:a16="http://schemas.microsoft.com/office/drawing/2014/main" id="{537E44E9-966B-02C6-C7F3-C1E51F2C4E0A}"/>
                </a:ext>
              </a:extLst>
            </p:cNvPr>
            <p:cNvSpPr txBox="1"/>
            <p:nvPr/>
          </p:nvSpPr>
          <p:spPr>
            <a:xfrm>
              <a:off x="11900064" y="7874562"/>
              <a:ext cx="2577936" cy="307777"/>
            </a:xfrm>
            <a:prstGeom prst="rect">
              <a:avLst/>
            </a:prstGeom>
            <a:solidFill>
              <a:srgbClr val="F2F2F2"/>
            </a:solidFill>
          </p:spPr>
          <p:txBody>
            <a:bodyPr wrap="square" rtlCol="0">
              <a:spAutoFit/>
            </a:bodyPr>
            <a:lstStyle/>
            <a:p>
              <a:pPr algn="ctr"/>
              <a:endParaRPr lang="en-PH" sz="1400" b="1" dirty="0">
                <a:latin typeface="Arial" panose="020B0604020202020204" pitchFamily="34" charset="0"/>
                <a:cs typeface="Arial" panose="020B0604020202020204" pitchFamily="34" charset="0"/>
              </a:endParaRPr>
            </a:p>
          </p:txBody>
        </p:sp>
        <p:sp>
          <p:nvSpPr>
            <p:cNvPr id="43" name="Rectangle 42">
              <a:extLst>
                <a:ext uri="{FF2B5EF4-FFF2-40B4-BE49-F238E27FC236}">
                  <a16:creationId xmlns:a16="http://schemas.microsoft.com/office/drawing/2014/main" id="{46E5D771-9081-CFF7-3897-D625956B9F7D}"/>
                </a:ext>
              </a:extLst>
            </p:cNvPr>
            <p:cNvSpPr/>
            <p:nvPr/>
          </p:nvSpPr>
          <p:spPr>
            <a:xfrm>
              <a:off x="10428051" y="3924300"/>
              <a:ext cx="380996" cy="1295399"/>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4" name="Rectangle 43">
              <a:extLst>
                <a:ext uri="{FF2B5EF4-FFF2-40B4-BE49-F238E27FC236}">
                  <a16:creationId xmlns:a16="http://schemas.microsoft.com/office/drawing/2014/main" id="{8F5C4B0D-C62E-EC10-4B6B-C9E1F3935AB5}"/>
                </a:ext>
              </a:extLst>
            </p:cNvPr>
            <p:cNvSpPr/>
            <p:nvPr/>
          </p:nvSpPr>
          <p:spPr>
            <a:xfrm>
              <a:off x="10473458" y="5273117"/>
              <a:ext cx="270742" cy="1295399"/>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5" name="TextBox 44">
              <a:extLst>
                <a:ext uri="{FF2B5EF4-FFF2-40B4-BE49-F238E27FC236}">
                  <a16:creationId xmlns:a16="http://schemas.microsoft.com/office/drawing/2014/main" id="{B1CFF8DE-7A79-21E9-E06C-ACD590288761}"/>
                </a:ext>
              </a:extLst>
            </p:cNvPr>
            <p:cNvSpPr txBox="1"/>
            <p:nvPr/>
          </p:nvSpPr>
          <p:spPr>
            <a:xfrm>
              <a:off x="9296728" y="8294064"/>
              <a:ext cx="2577936" cy="307777"/>
            </a:xfrm>
            <a:prstGeom prst="rect">
              <a:avLst/>
            </a:prstGeom>
            <a:solidFill>
              <a:srgbClr val="F2F2F2"/>
            </a:solidFill>
          </p:spPr>
          <p:txBody>
            <a:bodyPr wrap="square" rtlCol="0">
              <a:spAutoFit/>
            </a:bodyPr>
            <a:lstStyle/>
            <a:p>
              <a:pPr algn="ctr"/>
              <a:r>
                <a:rPr lang="en-PH" sz="1400" b="1" dirty="0">
                  <a:latin typeface="Arial" panose="020B0604020202020204" pitchFamily="34" charset="0"/>
                  <a:cs typeface="Arial" panose="020B0604020202020204" pitchFamily="34" charset="0"/>
                </a:rPr>
                <a:t>Impervious Layer</a:t>
              </a:r>
            </a:p>
          </p:txBody>
        </p:sp>
        <p:cxnSp>
          <p:nvCxnSpPr>
            <p:cNvPr id="46" name="Straight Arrow Connector 45">
              <a:extLst>
                <a:ext uri="{FF2B5EF4-FFF2-40B4-BE49-F238E27FC236}">
                  <a16:creationId xmlns:a16="http://schemas.microsoft.com/office/drawing/2014/main" id="{71424727-5E13-0222-7B00-34798B3ECE1F}"/>
                </a:ext>
              </a:extLst>
            </p:cNvPr>
            <p:cNvCxnSpPr>
              <a:cxnSpLocks/>
            </p:cNvCxnSpPr>
            <p:nvPr/>
          </p:nvCxnSpPr>
          <p:spPr>
            <a:xfrm>
              <a:off x="6858000" y="5273117"/>
              <a:ext cx="0" cy="2917914"/>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7A843A55-747F-A019-83CA-E1D5042E0229}"/>
                </a:ext>
              </a:extLst>
            </p:cNvPr>
            <p:cNvCxnSpPr>
              <a:cxnSpLocks/>
            </p:cNvCxnSpPr>
            <p:nvPr/>
          </p:nvCxnSpPr>
          <p:spPr>
            <a:xfrm>
              <a:off x="14478000" y="3924300"/>
              <a:ext cx="0" cy="4213313"/>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649D9F57-3550-45DB-0A03-1A4045ABDA3D}"/>
                </a:ext>
              </a:extLst>
            </p:cNvPr>
            <p:cNvSpPr txBox="1"/>
            <p:nvPr/>
          </p:nvSpPr>
          <p:spPr>
            <a:xfrm>
              <a:off x="6672301" y="6949766"/>
              <a:ext cx="325730" cy="369332"/>
            </a:xfrm>
            <a:prstGeom prst="rect">
              <a:avLst/>
            </a:prstGeom>
            <a:solidFill>
              <a:schemeClr val="bg1"/>
            </a:solidFill>
          </p:spPr>
          <p:txBody>
            <a:bodyPr wrap="square" rtlCol="0">
              <a:spAutoFit/>
            </a:bodyPr>
            <a:lstStyle/>
            <a:p>
              <a:r>
                <a:rPr lang="en-PH" b="1" dirty="0">
                  <a:latin typeface="Arial" panose="020B0604020202020204" pitchFamily="34" charset="0"/>
                  <a:cs typeface="Arial" panose="020B0604020202020204" pitchFamily="34" charset="0"/>
                </a:rPr>
                <a:t>H</a:t>
              </a:r>
            </a:p>
          </p:txBody>
        </p:sp>
      </p:grpSp>
      <p:grpSp>
        <p:nvGrpSpPr>
          <p:cNvPr id="55" name="Group 54">
            <a:extLst>
              <a:ext uri="{FF2B5EF4-FFF2-40B4-BE49-F238E27FC236}">
                <a16:creationId xmlns:a16="http://schemas.microsoft.com/office/drawing/2014/main" id="{66E51A7D-3E77-9776-8B38-8D289A7D7950}"/>
              </a:ext>
            </a:extLst>
          </p:cNvPr>
          <p:cNvGrpSpPr/>
          <p:nvPr/>
        </p:nvGrpSpPr>
        <p:grpSpPr>
          <a:xfrm>
            <a:off x="11938109" y="4499113"/>
            <a:ext cx="1173719" cy="1025387"/>
            <a:chOff x="11938109" y="4499113"/>
            <a:chExt cx="1173719" cy="1025387"/>
          </a:xfrm>
        </p:grpSpPr>
        <p:cxnSp>
          <p:nvCxnSpPr>
            <p:cNvPr id="56" name="Straight Arrow Connector 55">
              <a:extLst>
                <a:ext uri="{FF2B5EF4-FFF2-40B4-BE49-F238E27FC236}">
                  <a16:creationId xmlns:a16="http://schemas.microsoft.com/office/drawing/2014/main" id="{131F5CE1-61E0-5325-6E9C-BAA60F711FDF}"/>
                </a:ext>
              </a:extLst>
            </p:cNvPr>
            <p:cNvCxnSpPr>
              <a:cxnSpLocks/>
            </p:cNvCxnSpPr>
            <p:nvPr/>
          </p:nvCxnSpPr>
          <p:spPr>
            <a:xfrm>
              <a:off x="11948831" y="4499113"/>
              <a:ext cx="0" cy="102538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1F5339FF-74D0-3732-323F-1EC1C56FA9D4}"/>
                </a:ext>
              </a:extLst>
            </p:cNvPr>
            <p:cNvSpPr txBox="1"/>
            <p:nvPr/>
          </p:nvSpPr>
          <p:spPr>
            <a:xfrm>
              <a:off x="11938109" y="4899519"/>
              <a:ext cx="1173719" cy="369332"/>
            </a:xfrm>
            <a:prstGeom prst="rect">
              <a:avLst/>
            </a:prstGeom>
            <a:noFill/>
          </p:spPr>
          <p:txBody>
            <a:bodyPr wrap="none" rtlCol="0">
              <a:spAutoFit/>
            </a:bodyPr>
            <a:lstStyle/>
            <a:p>
              <a:r>
                <a:rPr lang="en-PH" dirty="0">
                  <a:latin typeface="Arial" panose="020B0604020202020204" pitchFamily="34" charset="0"/>
                  <a:cs typeface="Arial" panose="020B0604020202020204" pitchFamily="34" charset="0"/>
                </a:rPr>
                <a:t>h</a:t>
              </a:r>
              <a:r>
                <a:rPr lang="en-PH" baseline="-25000" dirty="0">
                  <a:latin typeface="Arial" panose="020B0604020202020204" pitchFamily="34" charset="0"/>
                  <a:cs typeface="Arial" panose="020B0604020202020204" pitchFamily="34" charset="0"/>
                </a:rPr>
                <a:t>1</a:t>
              </a:r>
              <a:r>
                <a:rPr lang="en-PH" dirty="0">
                  <a:latin typeface="Arial" panose="020B0604020202020204" pitchFamily="34" charset="0"/>
                  <a:cs typeface="Arial" panose="020B0604020202020204" pitchFamily="34" charset="0"/>
                </a:rPr>
                <a:t> = 0.6m</a:t>
              </a:r>
            </a:p>
          </p:txBody>
        </p:sp>
      </p:grpSp>
      <p:grpSp>
        <p:nvGrpSpPr>
          <p:cNvPr id="58" name="Group 57">
            <a:extLst>
              <a:ext uri="{FF2B5EF4-FFF2-40B4-BE49-F238E27FC236}">
                <a16:creationId xmlns:a16="http://schemas.microsoft.com/office/drawing/2014/main" id="{4909C216-CF99-A552-E147-80AA04FA9421}"/>
              </a:ext>
            </a:extLst>
          </p:cNvPr>
          <p:cNvGrpSpPr/>
          <p:nvPr/>
        </p:nvGrpSpPr>
        <p:grpSpPr>
          <a:xfrm>
            <a:off x="10128693" y="4479803"/>
            <a:ext cx="1173719" cy="1578097"/>
            <a:chOff x="10128693" y="4479803"/>
            <a:chExt cx="1173719" cy="1578097"/>
          </a:xfrm>
        </p:grpSpPr>
        <p:cxnSp>
          <p:nvCxnSpPr>
            <p:cNvPr id="59" name="Straight Arrow Connector 58">
              <a:extLst>
                <a:ext uri="{FF2B5EF4-FFF2-40B4-BE49-F238E27FC236}">
                  <a16:creationId xmlns:a16="http://schemas.microsoft.com/office/drawing/2014/main" id="{094C1612-1D87-556C-2483-15A20A975B8C}"/>
                </a:ext>
              </a:extLst>
            </p:cNvPr>
            <p:cNvCxnSpPr/>
            <p:nvPr/>
          </p:nvCxnSpPr>
          <p:spPr>
            <a:xfrm>
              <a:off x="10134600" y="4479803"/>
              <a:ext cx="0" cy="157809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3A88F05F-CC3A-01C6-C084-41CD537A1AAD}"/>
                </a:ext>
              </a:extLst>
            </p:cNvPr>
            <p:cNvSpPr txBox="1"/>
            <p:nvPr/>
          </p:nvSpPr>
          <p:spPr>
            <a:xfrm>
              <a:off x="10128693" y="4923055"/>
              <a:ext cx="1173719" cy="369332"/>
            </a:xfrm>
            <a:prstGeom prst="rect">
              <a:avLst/>
            </a:prstGeom>
            <a:noFill/>
          </p:spPr>
          <p:txBody>
            <a:bodyPr wrap="none" rtlCol="0">
              <a:spAutoFit/>
            </a:bodyPr>
            <a:lstStyle/>
            <a:p>
              <a:r>
                <a:rPr lang="en-PH" dirty="0">
                  <a:latin typeface="Arial" panose="020B0604020202020204" pitchFamily="34" charset="0"/>
                  <a:cs typeface="Arial" panose="020B0604020202020204" pitchFamily="34" charset="0"/>
                </a:rPr>
                <a:t>h</a:t>
              </a:r>
              <a:r>
                <a:rPr lang="en-PH" baseline="-25000" dirty="0">
                  <a:latin typeface="Arial" panose="020B0604020202020204" pitchFamily="34" charset="0"/>
                  <a:cs typeface="Arial" panose="020B0604020202020204" pitchFamily="34" charset="0"/>
                </a:rPr>
                <a:t>2</a:t>
              </a:r>
              <a:r>
                <a:rPr lang="en-PH" dirty="0">
                  <a:latin typeface="Arial" panose="020B0604020202020204" pitchFamily="34" charset="0"/>
                  <a:cs typeface="Arial" panose="020B0604020202020204" pitchFamily="34" charset="0"/>
                </a:rPr>
                <a:t> = 1.0m</a:t>
              </a:r>
            </a:p>
          </p:txBody>
        </p:sp>
      </p:grpSp>
      <p:sp>
        <p:nvSpPr>
          <p:cNvPr id="61" name="TextBox 60">
            <a:extLst>
              <a:ext uri="{FF2B5EF4-FFF2-40B4-BE49-F238E27FC236}">
                <a16:creationId xmlns:a16="http://schemas.microsoft.com/office/drawing/2014/main" id="{DDEB52F2-8460-3D8A-A656-4ECDCD13CA1A}"/>
              </a:ext>
            </a:extLst>
          </p:cNvPr>
          <p:cNvSpPr txBox="1"/>
          <p:nvPr/>
        </p:nvSpPr>
        <p:spPr>
          <a:xfrm>
            <a:off x="15204004" y="6539314"/>
            <a:ext cx="1088760" cy="369332"/>
          </a:xfrm>
          <a:prstGeom prst="rect">
            <a:avLst/>
          </a:prstGeom>
          <a:noFill/>
        </p:spPr>
        <p:txBody>
          <a:bodyPr wrap="none" rtlCol="0">
            <a:spAutoFit/>
          </a:bodyPr>
          <a:lstStyle/>
          <a:p>
            <a:r>
              <a:rPr lang="en-PH" dirty="0">
                <a:latin typeface="Arial" panose="020B0604020202020204" pitchFamily="34" charset="0"/>
                <a:cs typeface="Arial" panose="020B0604020202020204" pitchFamily="34" charset="0"/>
              </a:rPr>
              <a:t>d = 3.0m</a:t>
            </a:r>
          </a:p>
        </p:txBody>
      </p:sp>
      <p:sp>
        <p:nvSpPr>
          <p:cNvPr id="62" name="TextBox 61">
            <a:extLst>
              <a:ext uri="{FF2B5EF4-FFF2-40B4-BE49-F238E27FC236}">
                <a16:creationId xmlns:a16="http://schemas.microsoft.com/office/drawing/2014/main" id="{0E24494F-CFC3-9C11-5FE9-71CB319C1DEE}"/>
              </a:ext>
            </a:extLst>
          </p:cNvPr>
          <p:cNvSpPr txBox="1"/>
          <p:nvPr/>
        </p:nvSpPr>
        <p:spPr>
          <a:xfrm>
            <a:off x="11261460" y="6309904"/>
            <a:ext cx="1665841" cy="646331"/>
          </a:xfrm>
          <a:prstGeom prst="rect">
            <a:avLst/>
          </a:prstGeom>
          <a:noFill/>
        </p:spPr>
        <p:txBody>
          <a:bodyPr wrap="none" rtlCol="0">
            <a:spAutoFit/>
          </a:bodyPr>
          <a:lstStyle/>
          <a:p>
            <a:r>
              <a:rPr lang="en-PH" dirty="0">
                <a:latin typeface="Arial" panose="020B0604020202020204" pitchFamily="34" charset="0"/>
                <a:cs typeface="Arial" panose="020B0604020202020204" pitchFamily="34" charset="0"/>
              </a:rPr>
              <a:t>k = 62.5mm/</a:t>
            </a:r>
            <a:r>
              <a:rPr lang="en-PH" dirty="0" err="1">
                <a:latin typeface="Arial" panose="020B0604020202020204" pitchFamily="34" charset="0"/>
                <a:cs typeface="Arial" panose="020B0604020202020204" pitchFamily="34" charset="0"/>
              </a:rPr>
              <a:t>hr</a:t>
            </a:r>
            <a:endParaRPr lang="en-PH" dirty="0">
              <a:latin typeface="Arial" panose="020B0604020202020204" pitchFamily="34" charset="0"/>
              <a:cs typeface="Arial" panose="020B0604020202020204" pitchFamily="34" charset="0"/>
            </a:endParaRPr>
          </a:p>
          <a:p>
            <a:r>
              <a:rPr lang="en-PH" dirty="0">
                <a:latin typeface="Arial" panose="020B0604020202020204" pitchFamily="34" charset="0"/>
                <a:cs typeface="Arial" panose="020B0604020202020204" pitchFamily="34" charset="0"/>
              </a:rPr>
              <a:t>R = 7mm/day</a:t>
            </a:r>
          </a:p>
        </p:txBody>
      </p:sp>
    </p:spTree>
    <p:extLst>
      <p:ext uri="{BB962C8B-B14F-4D97-AF65-F5344CB8AC3E}">
        <p14:creationId xmlns:p14="http://schemas.microsoft.com/office/powerpoint/2010/main" val="2316514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61" grpId="0"/>
      <p:bldP spid="6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0"/>
            <a:ext cx="18288000" cy="10287000"/>
            <a:chOff x="0" y="0"/>
            <a:chExt cx="27343100" cy="13716000"/>
          </a:xfrm>
        </p:grpSpPr>
        <p:sp>
          <p:nvSpPr>
            <p:cNvPr id="3" name="Freeform 3"/>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sp>
        <p:nvSpPr>
          <p:cNvPr id="8" name="Freeform 8"/>
          <p:cNvSpPr/>
          <p:nvPr/>
        </p:nvSpPr>
        <p:spPr>
          <a:xfrm>
            <a:off x="12076251" y="1662606"/>
            <a:ext cx="2942276" cy="2942276"/>
          </a:xfrm>
          <a:custGeom>
            <a:avLst/>
            <a:gdLst/>
            <a:ahLst/>
            <a:cxnLst/>
            <a:rect l="l" t="t" r="r" b="b"/>
            <a:pathLst>
              <a:path w="2942276" h="2942276">
                <a:moveTo>
                  <a:pt x="0" y="0"/>
                </a:moveTo>
                <a:lnTo>
                  <a:pt x="2942276" y="0"/>
                </a:lnTo>
                <a:lnTo>
                  <a:pt x="2942276" y="2942276"/>
                </a:lnTo>
                <a:lnTo>
                  <a:pt x="0" y="29422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flipH="1">
            <a:off x="2120044" y="6010601"/>
            <a:ext cx="3395204" cy="1049427"/>
          </a:xfrm>
          <a:custGeom>
            <a:avLst/>
            <a:gdLst/>
            <a:ahLst/>
            <a:cxnLst/>
            <a:rect l="l" t="t" r="r" b="b"/>
            <a:pathLst>
              <a:path w="3395204" h="1049427">
                <a:moveTo>
                  <a:pt x="3395205" y="0"/>
                </a:moveTo>
                <a:lnTo>
                  <a:pt x="0" y="0"/>
                </a:lnTo>
                <a:lnTo>
                  <a:pt x="0" y="1049427"/>
                </a:lnTo>
                <a:lnTo>
                  <a:pt x="3395205" y="1049427"/>
                </a:lnTo>
                <a:lnTo>
                  <a:pt x="3395205"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TextBox 10"/>
          <p:cNvSpPr txBox="1"/>
          <p:nvPr/>
        </p:nvSpPr>
        <p:spPr>
          <a:xfrm>
            <a:off x="3269473" y="3960262"/>
            <a:ext cx="11749054" cy="1793183"/>
          </a:xfrm>
          <a:prstGeom prst="rect">
            <a:avLst/>
          </a:prstGeom>
        </p:spPr>
        <p:txBody>
          <a:bodyPr lIns="0" tIns="0" rIns="0" bIns="0" rtlCol="0" anchor="t">
            <a:spAutoFit/>
          </a:bodyPr>
          <a:lstStyle/>
          <a:p>
            <a:pPr algn="ctr">
              <a:lnSpc>
                <a:spcPts val="14620"/>
              </a:lnSpc>
            </a:pPr>
            <a:r>
              <a:rPr lang="en-US" sz="10443" dirty="0">
                <a:solidFill>
                  <a:srgbClr val="000000"/>
                </a:solidFill>
                <a:latin typeface="Fredoka"/>
                <a:ea typeface="Fredoka"/>
                <a:cs typeface="Fredoka"/>
                <a:sym typeface="Fredoka"/>
              </a:rPr>
              <a:t>THANK YOU</a:t>
            </a:r>
          </a:p>
        </p:txBody>
      </p:sp>
      <p:grpSp>
        <p:nvGrpSpPr>
          <p:cNvPr id="14" name="Group 5">
            <a:extLst>
              <a:ext uri="{FF2B5EF4-FFF2-40B4-BE49-F238E27FC236}">
                <a16:creationId xmlns:a16="http://schemas.microsoft.com/office/drawing/2014/main" id="{997EE1D9-F945-1E98-51E8-4649CFE2F648}"/>
              </a:ext>
            </a:extLst>
          </p:cNvPr>
          <p:cNvGrpSpPr/>
          <p:nvPr/>
        </p:nvGrpSpPr>
        <p:grpSpPr>
          <a:xfrm>
            <a:off x="0" y="8353252"/>
            <a:ext cx="18288000" cy="1420979"/>
            <a:chOff x="0" y="0"/>
            <a:chExt cx="5260714" cy="374250"/>
          </a:xfrm>
        </p:grpSpPr>
        <p:sp>
          <p:nvSpPr>
            <p:cNvPr id="15" name="Freeform 6">
              <a:extLst>
                <a:ext uri="{FF2B5EF4-FFF2-40B4-BE49-F238E27FC236}">
                  <a16:creationId xmlns:a16="http://schemas.microsoft.com/office/drawing/2014/main" id="{F64EC73E-B5C2-A4A2-DE7F-F8267FECCE9E}"/>
                </a:ext>
              </a:extLst>
            </p:cNvPr>
            <p:cNvSpPr/>
            <p:nvPr/>
          </p:nvSpPr>
          <p:spPr>
            <a:xfrm>
              <a:off x="0" y="0"/>
              <a:ext cx="5260714" cy="374250"/>
            </a:xfrm>
            <a:custGeom>
              <a:avLst/>
              <a:gdLst/>
              <a:ahLst/>
              <a:cxnLst/>
              <a:rect l="l" t="t" r="r" b="b"/>
              <a:pathLst>
                <a:path w="5260714" h="374250">
                  <a:moveTo>
                    <a:pt x="0" y="0"/>
                  </a:moveTo>
                  <a:lnTo>
                    <a:pt x="5260714" y="0"/>
                  </a:lnTo>
                  <a:lnTo>
                    <a:pt x="5260714" y="374250"/>
                  </a:lnTo>
                  <a:lnTo>
                    <a:pt x="0" y="374250"/>
                  </a:lnTo>
                  <a:close/>
                </a:path>
              </a:pathLst>
            </a:custGeom>
            <a:solidFill>
              <a:srgbClr val="F1F2F2"/>
            </a:solidFill>
          </p:spPr>
        </p:sp>
        <p:sp>
          <p:nvSpPr>
            <p:cNvPr id="16" name="TextBox 7">
              <a:extLst>
                <a:ext uri="{FF2B5EF4-FFF2-40B4-BE49-F238E27FC236}">
                  <a16:creationId xmlns:a16="http://schemas.microsoft.com/office/drawing/2014/main" id="{6F825F64-2141-C165-F5DF-496290D8BF74}"/>
                </a:ext>
              </a:extLst>
            </p:cNvPr>
            <p:cNvSpPr txBox="1"/>
            <p:nvPr/>
          </p:nvSpPr>
          <p:spPr>
            <a:xfrm>
              <a:off x="0" y="-38100"/>
              <a:ext cx="5260714" cy="412350"/>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2">
            <a:extLst>
              <a:ext uri="{FF2B5EF4-FFF2-40B4-BE49-F238E27FC236}">
                <a16:creationId xmlns:a16="http://schemas.microsoft.com/office/drawing/2014/main" id="{A3D2CCD0-A1A3-BAB4-2B30-07CAC39D47D8}"/>
              </a:ext>
            </a:extLst>
          </p:cNvPr>
          <p:cNvSpPr txBox="1"/>
          <p:nvPr/>
        </p:nvSpPr>
        <p:spPr>
          <a:xfrm>
            <a:off x="1028700" y="8743950"/>
            <a:ext cx="5577893" cy="514350"/>
          </a:xfrm>
          <a:prstGeom prst="rect">
            <a:avLst/>
          </a:prstGeom>
        </p:spPr>
        <p:txBody>
          <a:bodyPr lIns="0" tIns="0" rIns="0" bIns="0" rtlCol="0" anchor="t">
            <a:spAutoFit/>
          </a:bodyPr>
          <a:lstStyle/>
          <a:p>
            <a:pPr algn="l">
              <a:lnSpc>
                <a:spcPts val="4200"/>
              </a:lnSpc>
            </a:pPr>
            <a:r>
              <a:rPr lang="en-US" sz="3000" dirty="0">
                <a:solidFill>
                  <a:srgbClr val="000000"/>
                </a:solidFill>
                <a:latin typeface="Nunito 1"/>
                <a:ea typeface="Nunito 1"/>
                <a:cs typeface="Nunito 1"/>
                <a:sym typeface="Nunito 1"/>
              </a:rPr>
              <a:t>ABELE | 2025</a:t>
            </a:r>
          </a:p>
        </p:txBody>
      </p:sp>
      <p:sp>
        <p:nvSpPr>
          <p:cNvPr id="18" name="TextBox 13">
            <a:extLst>
              <a:ext uri="{FF2B5EF4-FFF2-40B4-BE49-F238E27FC236}">
                <a16:creationId xmlns:a16="http://schemas.microsoft.com/office/drawing/2014/main" id="{2702E126-B5B5-4F09-A901-BC28BFBCF505}"/>
              </a:ext>
            </a:extLst>
          </p:cNvPr>
          <p:cNvSpPr txBox="1"/>
          <p:nvPr/>
        </p:nvSpPr>
        <p:spPr>
          <a:xfrm>
            <a:off x="12777754" y="8743950"/>
            <a:ext cx="4481546" cy="514350"/>
          </a:xfrm>
          <a:prstGeom prst="rect">
            <a:avLst/>
          </a:prstGeom>
        </p:spPr>
        <p:txBody>
          <a:bodyPr lIns="0" tIns="0" rIns="0" bIns="0" rtlCol="0" anchor="t">
            <a:spAutoFit/>
          </a:bodyPr>
          <a:lstStyle/>
          <a:p>
            <a:pPr algn="r">
              <a:lnSpc>
                <a:spcPts val="4200"/>
              </a:lnSpc>
            </a:pPr>
            <a:r>
              <a:rPr lang="en-US" sz="3000" dirty="0" err="1">
                <a:solidFill>
                  <a:srgbClr val="000000"/>
                </a:solidFill>
                <a:latin typeface="Nunito 1"/>
                <a:ea typeface="Nunito 1"/>
                <a:cs typeface="Nunito 1"/>
                <a:sym typeface="Nunito 1"/>
              </a:rPr>
              <a:t>ATTRTC</a:t>
            </a:r>
            <a:r>
              <a:rPr lang="en-US" sz="3000" dirty="0">
                <a:solidFill>
                  <a:srgbClr val="000000"/>
                </a:solidFill>
                <a:latin typeface="Nunito 1"/>
                <a:ea typeface="Nunito 1"/>
                <a:cs typeface="Nunito 1"/>
                <a:sym typeface="Nunito 1"/>
              </a:rPr>
              <a:t> - Iligan City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4094</TotalTime>
  <Words>4503</Words>
  <Application>Microsoft Office PowerPoint</Application>
  <PresentationFormat>Custom</PresentationFormat>
  <Paragraphs>635</Paragraphs>
  <Slides>50</Slides>
  <Notes>37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50</vt:i4>
      </vt:variant>
    </vt:vector>
  </HeadingPairs>
  <TitlesOfParts>
    <vt:vector size="61" baseType="lpstr">
      <vt:lpstr>Arial</vt:lpstr>
      <vt:lpstr>Nunito 1 Bold</vt:lpstr>
      <vt:lpstr>Fredoka SemiBold</vt:lpstr>
      <vt:lpstr>Calibri</vt:lpstr>
      <vt:lpstr>Nunito</vt:lpstr>
      <vt:lpstr>Nunito 1</vt:lpstr>
      <vt:lpstr>Cambria</vt:lpstr>
      <vt:lpstr>Fredoka</vt:lpstr>
      <vt:lpstr>Cambria Math</vt:lpstr>
      <vt:lpstr>Canva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ATTRTC Review</dc:title>
  <dc:creator>Nicole Jane J. Lim</dc:creator>
  <cp:lastModifiedBy>Nicole Jane Lim</cp:lastModifiedBy>
  <cp:revision>116</cp:revision>
  <dcterms:created xsi:type="dcterms:W3CDTF">2006-08-16T00:00:00Z</dcterms:created>
  <dcterms:modified xsi:type="dcterms:W3CDTF">2025-08-05T04:47:10Z</dcterms:modified>
  <dc:identifier>DAGRv5agEMg</dc:identifier>
</cp:coreProperties>
</file>