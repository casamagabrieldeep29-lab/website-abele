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88"/>
  </p:notesMasterIdLst>
  <p:handoutMasterIdLst>
    <p:handoutMasterId r:id="rId89"/>
  </p:handoutMasterIdLst>
  <p:sldIdLst>
    <p:sldId id="256" r:id="rId2"/>
    <p:sldId id="259" r:id="rId3"/>
    <p:sldId id="257" r:id="rId4"/>
    <p:sldId id="260" r:id="rId5"/>
    <p:sldId id="263" r:id="rId6"/>
    <p:sldId id="284" r:id="rId7"/>
    <p:sldId id="286" r:id="rId8"/>
    <p:sldId id="289" r:id="rId9"/>
    <p:sldId id="298" r:id="rId10"/>
    <p:sldId id="264" r:id="rId11"/>
    <p:sldId id="309" r:id="rId12"/>
    <p:sldId id="310" r:id="rId13"/>
    <p:sldId id="311" r:id="rId14"/>
    <p:sldId id="265" r:id="rId15"/>
    <p:sldId id="304" r:id="rId16"/>
    <p:sldId id="312" r:id="rId17"/>
    <p:sldId id="313" r:id="rId18"/>
    <p:sldId id="266" r:id="rId19"/>
    <p:sldId id="290" r:id="rId20"/>
    <p:sldId id="296" r:id="rId21"/>
    <p:sldId id="301" r:id="rId22"/>
    <p:sldId id="267" r:id="rId23"/>
    <p:sldId id="308" r:id="rId24"/>
    <p:sldId id="314" r:id="rId25"/>
    <p:sldId id="315" r:id="rId26"/>
    <p:sldId id="268" r:id="rId27"/>
    <p:sldId id="302" r:id="rId28"/>
    <p:sldId id="316" r:id="rId29"/>
    <p:sldId id="317" r:id="rId30"/>
    <p:sldId id="269" r:id="rId31"/>
    <p:sldId id="318" r:id="rId32"/>
    <p:sldId id="319" r:id="rId33"/>
    <p:sldId id="320" r:id="rId34"/>
    <p:sldId id="270" r:id="rId35"/>
    <p:sldId id="321" r:id="rId36"/>
    <p:sldId id="271" r:id="rId37"/>
    <p:sldId id="322" r:id="rId38"/>
    <p:sldId id="323" r:id="rId39"/>
    <p:sldId id="324" r:id="rId40"/>
    <p:sldId id="273" r:id="rId41"/>
    <p:sldId id="325" r:id="rId42"/>
    <p:sldId id="326" r:id="rId43"/>
    <p:sldId id="327" r:id="rId44"/>
    <p:sldId id="274" r:id="rId45"/>
    <p:sldId id="287" r:id="rId46"/>
    <p:sldId id="299" r:id="rId47"/>
    <p:sldId id="306" r:id="rId48"/>
    <p:sldId id="275" r:id="rId49"/>
    <p:sldId id="328" r:id="rId50"/>
    <p:sldId id="329" r:id="rId51"/>
    <p:sldId id="331" r:id="rId52"/>
    <p:sldId id="276" r:id="rId53"/>
    <p:sldId id="297" r:id="rId54"/>
    <p:sldId id="295" r:id="rId55"/>
    <p:sldId id="307" r:id="rId56"/>
    <p:sldId id="277" r:id="rId57"/>
    <p:sldId id="300" r:id="rId58"/>
    <p:sldId id="332" r:id="rId59"/>
    <p:sldId id="333" r:id="rId60"/>
    <p:sldId id="278" r:id="rId61"/>
    <p:sldId id="293" r:id="rId62"/>
    <p:sldId id="334" r:id="rId63"/>
    <p:sldId id="335" r:id="rId64"/>
    <p:sldId id="279" r:id="rId65"/>
    <p:sldId id="303" r:id="rId66"/>
    <p:sldId id="305" r:id="rId67"/>
    <p:sldId id="336" r:id="rId68"/>
    <p:sldId id="280" r:id="rId69"/>
    <p:sldId id="337" r:id="rId70"/>
    <p:sldId id="338" r:id="rId71"/>
    <p:sldId id="281" r:id="rId72"/>
    <p:sldId id="339" r:id="rId73"/>
    <p:sldId id="340" r:id="rId74"/>
    <p:sldId id="341" r:id="rId75"/>
    <p:sldId id="282" r:id="rId76"/>
    <p:sldId id="288" r:id="rId77"/>
    <p:sldId id="294" r:id="rId78"/>
    <p:sldId id="283" r:id="rId79"/>
    <p:sldId id="285" r:id="rId80"/>
    <p:sldId id="291" r:id="rId81"/>
    <p:sldId id="292" r:id="rId82"/>
    <p:sldId id="344" r:id="rId83"/>
    <p:sldId id="343" r:id="rId84"/>
    <p:sldId id="346" r:id="rId85"/>
    <p:sldId id="347" r:id="rId86"/>
    <p:sldId id="342" r:id="rId8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modifyVerifier cryptProviderType="rsaAES" cryptAlgorithmClass="hash" cryptAlgorithmType="typeAny" cryptAlgorithmSid="14" spinCount="100000" saltData="XIhzjema3YVUPvjih/qj8w==" hashData="rAviyq4OrOMqZ3w4eiXS6m4FQXQafIgC9andJKllu8Whafb0xzuC+smQErMcaVdwgqNifUJkg6oIfMHAyjx8tA=="/>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18E2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206"/>
    <p:restoredTop sz="94676"/>
  </p:normalViewPr>
  <p:slideViewPr>
    <p:cSldViewPr snapToGrid="0">
      <p:cViewPr>
        <p:scale>
          <a:sx n="113" d="100"/>
          <a:sy n="113" d="100"/>
        </p:scale>
        <p:origin x="6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handoutMaster" Target="handoutMasters/handout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notesMaster" Target="notesMasters/notesMaster1.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5E71969-CDF5-324C-AB35-6C373E322A9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1E4D8D1-01D3-39E6-B092-D1C334A0EA2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C34A3BF-F5D5-824A-8325-B88FA87896A4}" type="datetimeFigureOut">
              <a:rPr lang="en-US" smtClean="0"/>
              <a:t>8/14/24</a:t>
            </a:fld>
            <a:endParaRPr lang="en-US"/>
          </a:p>
        </p:txBody>
      </p:sp>
      <p:sp>
        <p:nvSpPr>
          <p:cNvPr id="4" name="Footer Placeholder 3">
            <a:extLst>
              <a:ext uri="{FF2B5EF4-FFF2-40B4-BE49-F238E27FC236}">
                <a16:creationId xmlns:a16="http://schemas.microsoft.com/office/drawing/2014/main" id="{101E5375-F784-88B5-6C7B-BCB1DAB6D3E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8DC7ABF-1F7C-F929-E6FE-6FF81D7935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7297923-360D-2142-80E0-D5FBBAD45960}" type="slidenum">
              <a:rPr lang="en-US" smtClean="0"/>
              <a:t>‹#›</a:t>
            </a:fld>
            <a:endParaRPr lang="en-US"/>
          </a:p>
        </p:txBody>
      </p:sp>
    </p:spTree>
    <p:extLst>
      <p:ext uri="{BB962C8B-B14F-4D97-AF65-F5344CB8AC3E}">
        <p14:creationId xmlns:p14="http://schemas.microsoft.com/office/powerpoint/2010/main" val="380248942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D116FA-2082-9145-9512-C4EF90E720FF}" type="datetimeFigureOut">
              <a:rPr lang="en-US" smtClean="0"/>
              <a:t>8/14/24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526C4C-035F-9E4D-BAF0-C6E094D45C83}" type="slidenum">
              <a:rPr lang="en-US" smtClean="0"/>
              <a:t>‹#›</a:t>
            </a:fld>
            <a:endParaRPr lang="en-US"/>
          </a:p>
        </p:txBody>
      </p:sp>
    </p:spTree>
    <p:extLst>
      <p:ext uri="{BB962C8B-B14F-4D97-AF65-F5344CB8AC3E}">
        <p14:creationId xmlns:p14="http://schemas.microsoft.com/office/powerpoint/2010/main" val="31070721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23651E5-2198-C54F-8C52-E35E7BD782CB}" type="datetime1">
              <a:rPr lang="en-PH" smtClean="0"/>
              <a:t>8/14/24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B5D4A8-5202-3845-9453-D6EA641F2924}" type="datetime1">
              <a:rPr lang="en-PH" smtClean="0"/>
              <a:t>8/14/24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EF46310-0FE7-B84C-B67B-A6C9C468A3BB}" type="datetime1">
              <a:rPr lang="en-PH" smtClean="0"/>
              <a:t>8/14/24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82BBDB0-032B-1B46-89DF-0D96461F9BDB}" type="datetime1">
              <a:rPr lang="en-PH" smtClean="0"/>
              <a:t>8/14/24</a:t>
            </a:fld>
            <a:endParaRPr lang="en-US" dirty="0"/>
          </a:p>
        </p:txBody>
      </p:sp>
      <p:sp>
        <p:nvSpPr>
          <p:cNvPr id="6" name="Footer Placeholder 5"/>
          <p:cNvSpPr>
            <a:spLocks noGrp="1"/>
          </p:cNvSpPr>
          <p:nvPr>
            <p:ph type="ftr" sz="quarter" idx="11"/>
          </p:nvPr>
        </p:nvSpPr>
        <p:spPr/>
        <p:txBody>
          <a:bodyPr/>
          <a:lstStyle/>
          <a:p>
            <a:r>
              <a:rPr lang="en-US"/>
              <a:t>Engr. Melanie D. Piedad, ABELE 2022 Topnotcher</a:t>
            </a:r>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473D929-AC13-9745-AD4E-F1435EC25905}" type="datetime1">
              <a:rPr lang="en-PH" smtClean="0"/>
              <a:t>8/14/24</a:t>
            </a:fld>
            <a:endParaRPr lang="en-US" dirty="0"/>
          </a:p>
        </p:txBody>
      </p:sp>
      <p:sp>
        <p:nvSpPr>
          <p:cNvPr id="8" name="Footer Placeholder 7"/>
          <p:cNvSpPr>
            <a:spLocks noGrp="1"/>
          </p:cNvSpPr>
          <p:nvPr>
            <p:ph type="ftr" sz="quarter" idx="11"/>
          </p:nvPr>
        </p:nvSpPr>
        <p:spPr/>
        <p:txBody>
          <a:bodyPr/>
          <a:lstStyle/>
          <a:p>
            <a:r>
              <a:rPr lang="en-US"/>
              <a:t>Engr. Melanie D. Piedad, ABELE 2022 Topnotcher</a:t>
            </a:r>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3EF0D7B-6F9C-A243-AA19-D9E808CE0042}" type="datetime1">
              <a:rPr lang="en-PH" smtClean="0"/>
              <a:t>8/14/24</a:t>
            </a:fld>
            <a:endParaRPr lang="en-US" dirty="0"/>
          </a:p>
        </p:txBody>
      </p:sp>
      <p:sp>
        <p:nvSpPr>
          <p:cNvPr id="4" name="Footer Placeholder 3"/>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8CF8D6F-6CC3-8342-9F60-B0C26DE23B9C}" type="datetime1">
              <a:rPr lang="en-PH" smtClean="0"/>
              <a:t>8/14/24</a:t>
            </a:fld>
            <a:endParaRPr lang="en-US" dirty="0"/>
          </a:p>
        </p:txBody>
      </p:sp>
      <p:sp>
        <p:nvSpPr>
          <p:cNvPr id="3" name="Footer Placeholder 2"/>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8D0E72F-D856-184C-8845-8C996EE5BF15}" type="datetime1">
              <a:rPr lang="en-PH" smtClean="0"/>
              <a:t>8/14/24</a:t>
            </a:fld>
            <a:endParaRPr lang="en-US" dirty="0"/>
          </a:p>
        </p:txBody>
      </p:sp>
      <p:sp>
        <p:nvSpPr>
          <p:cNvPr id="6" name="Footer Placeholder 5"/>
          <p:cNvSpPr>
            <a:spLocks noGrp="1"/>
          </p:cNvSpPr>
          <p:nvPr>
            <p:ph type="ftr" sz="quarter" idx="11"/>
          </p:nvPr>
        </p:nvSpPr>
        <p:spPr/>
        <p:txBody>
          <a:bodyPr/>
          <a:lstStyle/>
          <a:p>
            <a:r>
              <a:rPr lang="en-US"/>
              <a:t>Engr. Melanie D. Piedad, ABELE 2022 Topnotcher</a:t>
            </a:r>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93DB82E-141B-CF46-9487-0A96C9241B59}" type="datetime1">
              <a:rPr lang="en-PH" smtClean="0"/>
              <a:t>8/14/24</a:t>
            </a:fld>
            <a:endParaRPr lang="en-US" dirty="0"/>
          </a:p>
        </p:txBody>
      </p:sp>
      <p:sp>
        <p:nvSpPr>
          <p:cNvPr id="6" name="Footer Placeholder 5"/>
          <p:cNvSpPr>
            <a:spLocks noGrp="1"/>
          </p:cNvSpPr>
          <p:nvPr>
            <p:ph type="ftr" sz="quarter" idx="11"/>
          </p:nvPr>
        </p:nvSpPr>
        <p:spPr/>
        <p:txBody>
          <a:bodyPr/>
          <a:lstStyle/>
          <a:p>
            <a:r>
              <a:rPr lang="en-US"/>
              <a:t>Engr. Melanie D. Piedad, ABELE 2022 Topnotcher</a:t>
            </a:r>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E3D13E-6658-124E-92B3-4F958B25A536}" type="datetime1">
              <a:rPr lang="en-PH" smtClean="0"/>
              <a:t>8/14/24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86EE41A-7E69-2547-A92F-B9DFC4A90785}" type="datetime1">
              <a:rPr lang="en-PH" smtClean="0"/>
              <a:t>8/14/24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786C82C-7CA0-F742-8A52-CBA94D46B139}" type="datetime1">
              <a:rPr lang="en-PH" smtClean="0"/>
              <a:t>8/14/24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4C7BB54-A508-A04F-9881-7459741ED027}" type="datetime1">
              <a:rPr lang="en-PH" smtClean="0"/>
              <a:t>8/14/24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0EB44B3-05BE-9A47-A494-B1701B50E88C}" type="datetime1">
              <a:rPr lang="en-PH" smtClean="0"/>
              <a:t>8/14/24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6D4271-82D3-0742-9ABD-A1EA5BA38A47}" type="datetime1">
              <a:rPr lang="en-PH" smtClean="0"/>
              <a:t>8/14/24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81B41AD-09B0-5046-9749-EA591F0670D1}" type="datetime1">
              <a:rPr lang="en-PH" smtClean="0"/>
              <a:t>8/14/24</a:t>
            </a:fld>
            <a:endParaRPr lang="en-US" dirty="0"/>
          </a:p>
        </p:txBody>
      </p:sp>
      <p:sp>
        <p:nvSpPr>
          <p:cNvPr id="5" name="Footer Placeholder 4"/>
          <p:cNvSpPr>
            <a:spLocks noGrp="1"/>
          </p:cNvSpPr>
          <p:nvPr>
            <p:ph type="ftr" sz="quarter" idx="11"/>
          </p:nvPr>
        </p:nvSpPr>
        <p:spPr/>
        <p:txBody>
          <a:bodyPr/>
          <a:lstStyle/>
          <a:p>
            <a:r>
              <a:rPr lang="en-US"/>
              <a:t>Engr. Melanie D. Piedad, ABELE 2022 Topnotcher</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3A4385-00E6-864F-AD64-441360431D8B}" type="datetime1">
              <a:rPr lang="en-PH" smtClean="0"/>
              <a:t>8/14/24</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Engr. Melanie D. Piedad, ABELE 2022 Topnotcher</a:t>
            </a:r>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5" r:id="rId4"/>
    <p:sldLayoutId id="2147483653" r:id="rId5"/>
    <p:sldLayoutId id="2147483654" r:id="rId6"/>
    <p:sldLayoutId id="2147483655" r:id="rId7"/>
    <p:sldLayoutId id="2147483666" r:id="rId8"/>
    <p:sldLayoutId id="2147483657" r:id="rId9"/>
    <p:sldLayoutId id="2147483660" r:id="rId10"/>
    <p:sldLayoutId id="2147483661" r:id="rId11"/>
    <p:sldLayoutId id="2147483662" r:id="rId12"/>
    <p:sldLayoutId id="2147483663" r:id="rId13"/>
    <p:sldLayoutId id="2147483664" r:id="rId14"/>
    <p:sldLayoutId id="2147483667" r:id="rId15"/>
    <p:sldLayoutId id="2147483659" r:id="rId16"/>
  </p:sldLayoutIdLst>
  <p:hf hd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CDAD3E0-13BD-D554-E848-1BE20B045096}"/>
              </a:ext>
            </a:extLst>
          </p:cNvPr>
          <p:cNvSpPr txBox="1">
            <a:spLocks/>
          </p:cNvSpPr>
          <p:nvPr/>
        </p:nvSpPr>
        <p:spPr>
          <a:xfrm>
            <a:off x="801210" y="1393766"/>
            <a:ext cx="8973214" cy="3079431"/>
          </a:xfrm>
          <a:prstGeom prst="rect">
            <a:avLst/>
          </a:prstGeom>
        </p:spPr>
        <p:txBody>
          <a:bodyPr vert="horz" lIns="91440" tIns="45720" rIns="91440" bIns="45720" rtlCol="0" anchor="ctr">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b="1" dirty="0">
                <a:solidFill>
                  <a:srgbClr val="E18E2E"/>
                </a:solidFill>
                <a:latin typeface="Trebuchet MS" panose="020B0703020202090204" pitchFamily="34" charset="0"/>
              </a:rPr>
              <a:t>AREA III:</a:t>
            </a:r>
          </a:p>
          <a:p>
            <a:pPr algn="ctr"/>
            <a:r>
              <a:rPr lang="en-PH" sz="4000" b="1" dirty="0">
                <a:effectLst/>
                <a:latin typeface="Tahoma" panose="020B0604030504040204" pitchFamily="34" charset="0"/>
                <a:ea typeface="Calibri" panose="020F0502020204030204" pitchFamily="34" charset="0"/>
              </a:rPr>
              <a:t>AB Structures and Environment Engineering and Bioprocess Engineering and Allied Subjects </a:t>
            </a:r>
            <a:endParaRPr lang="en-US" b="1" dirty="0">
              <a:solidFill>
                <a:srgbClr val="E18E2E"/>
              </a:solidFill>
              <a:latin typeface="Trebuchet MS" panose="020B0703020202090204" pitchFamily="34" charset="0"/>
            </a:endParaRPr>
          </a:p>
        </p:txBody>
      </p:sp>
      <p:sp>
        <p:nvSpPr>
          <p:cNvPr id="6" name="Footer Placeholder 5">
            <a:extLst>
              <a:ext uri="{FF2B5EF4-FFF2-40B4-BE49-F238E27FC236}">
                <a16:creationId xmlns:a16="http://schemas.microsoft.com/office/drawing/2014/main" id="{4FA8662A-D11C-030E-6F05-FC5472979DF8}"/>
              </a:ext>
            </a:extLst>
          </p:cNvPr>
          <p:cNvSpPr>
            <a:spLocks noGrp="1"/>
          </p:cNvSpPr>
          <p:nvPr>
            <p:ph type="ftr" sz="quarter" idx="11"/>
          </p:nvPr>
        </p:nvSpPr>
        <p:spPr/>
        <p:txBody>
          <a:bodyPr/>
          <a:lstStyle/>
          <a:p>
            <a:r>
              <a:rPr lang="en-US"/>
              <a:t>Engr. Melanie D. Piedad, ABELE 2022 Topnotcher</a:t>
            </a:r>
            <a:endParaRPr lang="en-US" dirty="0"/>
          </a:p>
        </p:txBody>
      </p:sp>
      <p:sp>
        <p:nvSpPr>
          <p:cNvPr id="8" name="Slide Number Placeholder 7">
            <a:extLst>
              <a:ext uri="{FF2B5EF4-FFF2-40B4-BE49-F238E27FC236}">
                <a16:creationId xmlns:a16="http://schemas.microsoft.com/office/drawing/2014/main" id="{A143883D-06A9-6C57-2A2D-C13435E8152E}"/>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Tree>
    <p:extLst>
      <p:ext uri="{BB962C8B-B14F-4D97-AF65-F5344CB8AC3E}">
        <p14:creationId xmlns:p14="http://schemas.microsoft.com/office/powerpoint/2010/main" val="21850439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CDAD3E0-13BD-D554-E848-1BE20B045096}"/>
              </a:ext>
            </a:extLst>
          </p:cNvPr>
          <p:cNvSpPr txBox="1">
            <a:spLocks/>
          </p:cNvSpPr>
          <p:nvPr/>
        </p:nvSpPr>
        <p:spPr>
          <a:xfrm>
            <a:off x="911550" y="1282419"/>
            <a:ext cx="7787282" cy="714604"/>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r>
              <a:rPr lang="en-US" sz="3200" b="1" u="sng" dirty="0">
                <a:latin typeface="Trebuchet MS" panose="020B0703020202090204" pitchFamily="34" charset="0"/>
              </a:rPr>
              <a:t>Agricultural Buildings and Structures</a:t>
            </a:r>
            <a:endParaRPr lang="en-US" sz="6000" b="1" u="sng" dirty="0">
              <a:solidFill>
                <a:srgbClr val="E18E2E"/>
              </a:solidFill>
              <a:latin typeface="Trebuchet MS" panose="020B0703020202090204" pitchFamily="34" charset="0"/>
            </a:endParaRPr>
          </a:p>
        </p:txBody>
      </p:sp>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TOPIC 1:</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992501"/>
            <a:ext cx="8376829" cy="3583080"/>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3600" b="1" dirty="0">
                <a:solidFill>
                  <a:schemeClr val="accent2"/>
                </a:solidFill>
                <a:ea typeface="Calibri" panose="020F0502020204030204" pitchFamily="34" charset="0"/>
                <a:cs typeface="Times New Roman" panose="02020603050405020304" pitchFamily="18" charset="0"/>
              </a:rPr>
              <a:t>1.1</a:t>
            </a:r>
            <a:r>
              <a:rPr lang="en-US" sz="3600" b="1" dirty="0">
                <a:solidFill>
                  <a:schemeClr val="accent1">
                    <a:lumMod val="50000"/>
                  </a:schemeClr>
                </a:solidFill>
                <a:ea typeface="Calibri" panose="020F0502020204030204" pitchFamily="34" charset="0"/>
                <a:cs typeface="Times New Roman" panose="02020603050405020304" pitchFamily="18" charset="0"/>
              </a:rPr>
              <a:t> </a:t>
            </a:r>
            <a:r>
              <a:rPr lang="en-US" sz="2400" dirty="0">
                <a:solidFill>
                  <a:schemeClr val="accent1">
                    <a:lumMod val="50000"/>
                  </a:schemeClr>
                </a:solidFill>
                <a:effectLst/>
                <a:ea typeface="Calibri" panose="020F0502020204030204" pitchFamily="34" charset="0"/>
                <a:cs typeface="Times New Roman" panose="02020603050405020304" pitchFamily="18" charset="0"/>
              </a:rPr>
              <a:t>Prepare and evaluate plans and designs, technical specifications, program of works, and cost estimates of agricultural buildings which include site development, floor plans, elevation, cross sections, foundation plans, roof framing plan, ventilation requirements; pest and rodent’s control; and water supply requirements and facilities. </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ffectLst/>
                <a:ea typeface="Calibri" panose="020F0502020204030204" pitchFamily="34" charset="0"/>
                <a:cs typeface="Times New Roman" panose="02020603050405020304" pitchFamily="18" charset="0"/>
              </a:rPr>
              <a:t>Number of items: 8-9 questions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Coverage: PAES 400+ series</a:t>
            </a:r>
            <a:endParaRPr lang="en-PH" sz="2800" b="1" dirty="0">
              <a:solidFill>
                <a:schemeClr val="accent1">
                  <a:lumMod val="50000"/>
                </a:schemeClr>
              </a:solidFill>
              <a:effectLst/>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1F136610-610B-9067-1B35-CA5E454E9675}"/>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CACDB34A-94E4-59EE-EA92-7464712465D6}"/>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Tree>
    <p:extLst>
      <p:ext uri="{BB962C8B-B14F-4D97-AF65-F5344CB8AC3E}">
        <p14:creationId xmlns:p14="http://schemas.microsoft.com/office/powerpoint/2010/main" val="34978340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5C8BBAD-2434-4F28-125B-DFFD22C4DA24}"/>
              </a:ext>
            </a:extLst>
          </p:cNvPr>
          <p:cNvPicPr>
            <a:picLocks noChangeAspect="1"/>
          </p:cNvPicPr>
          <p:nvPr/>
        </p:nvPicPr>
        <p:blipFill rotWithShape="1">
          <a:blip r:embed="rId2"/>
          <a:srcRect l="16770" t="2972" r="-51" b="6130"/>
          <a:stretch/>
        </p:blipFill>
        <p:spPr>
          <a:xfrm>
            <a:off x="1055929" y="1467854"/>
            <a:ext cx="6907607" cy="4427620"/>
          </a:xfrm>
          <a:prstGeom prst="rect">
            <a:avLst/>
          </a:prstGeom>
        </p:spPr>
      </p:pic>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6367555" cy="1047043"/>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b="1" dirty="0">
                <a:solidFill>
                  <a:srgbClr val="E18E2E"/>
                </a:solidFill>
                <a:latin typeface="Trebuchet MS" panose="020B0703020202090204" pitchFamily="34" charset="0"/>
              </a:rPr>
              <a:t>You can download all PAES at https://</a:t>
            </a:r>
            <a:r>
              <a:rPr lang="en-US" sz="2800" b="1" dirty="0" err="1">
                <a:solidFill>
                  <a:srgbClr val="E18E2E"/>
                </a:solidFill>
                <a:latin typeface="Trebuchet MS" panose="020B0703020202090204" pitchFamily="34" charset="0"/>
              </a:rPr>
              <a:t>amtec.uplb.edu.ph</a:t>
            </a:r>
            <a:endParaRPr lang="en-US" sz="2800" b="1" dirty="0">
              <a:solidFill>
                <a:srgbClr val="E18E2E"/>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1D02239A-5127-E82A-CFCA-6E170BD7AE96}"/>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EEA6E593-28A0-724C-D049-9132E8B02AF6}"/>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Tree>
    <p:extLst>
      <p:ext uri="{BB962C8B-B14F-4D97-AF65-F5344CB8AC3E}">
        <p14:creationId xmlns:p14="http://schemas.microsoft.com/office/powerpoint/2010/main" val="12115337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5312357"/>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3200" b="1" dirty="0">
                <a:solidFill>
                  <a:srgbClr val="E18E2E"/>
                </a:solidFill>
                <a:latin typeface="Trebuchet MS" panose="020B0703020202090204" pitchFamily="34" charset="0"/>
              </a:rPr>
              <a:t>PNS/BAFS/PAES Key Points:</a:t>
            </a:r>
          </a:p>
          <a:p>
            <a:endParaRPr lang="en-US" sz="2800" b="1" dirty="0">
              <a:solidFill>
                <a:srgbClr val="E18E2E"/>
              </a:solidFill>
              <a:latin typeface="Trebuchet MS" panose="020B0703020202090204" pitchFamily="34" charset="0"/>
            </a:endParaRPr>
          </a:p>
          <a:p>
            <a:pPr marL="457200" indent="-457200">
              <a:buFont typeface="Wingdings" pitchFamily="2" charset="2"/>
              <a:buChar char="q"/>
            </a:pPr>
            <a:r>
              <a:rPr lang="en-US" sz="28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2800" b="1" dirty="0">
                <a:solidFill>
                  <a:schemeClr val="accent1">
                    <a:lumMod val="50000"/>
                  </a:schemeClr>
                </a:solidFill>
                <a:latin typeface="Trebuchet MS" panose="020B0703020202090204" pitchFamily="34" charset="0"/>
              </a:rPr>
              <a:t>Types of AB Structures (e.g., types of unit systems of housing for swine)</a:t>
            </a:r>
          </a:p>
          <a:p>
            <a:pPr marL="457200" indent="-457200">
              <a:buFont typeface="Wingdings" pitchFamily="2" charset="2"/>
              <a:buChar char="q"/>
            </a:pPr>
            <a:r>
              <a:rPr lang="en-US" sz="2800" b="1" dirty="0">
                <a:solidFill>
                  <a:schemeClr val="accent1">
                    <a:lumMod val="50000"/>
                  </a:schemeClr>
                </a:solidFill>
                <a:latin typeface="Trebuchet MS" panose="020B0703020202090204" pitchFamily="34" charset="0"/>
              </a:rPr>
              <a:t>Space requirements</a:t>
            </a:r>
          </a:p>
          <a:p>
            <a:pPr marL="457200" indent="-457200">
              <a:buFont typeface="Wingdings" pitchFamily="2" charset="2"/>
              <a:buChar char="q"/>
            </a:pPr>
            <a:r>
              <a:rPr lang="en-US" sz="2800" b="1" dirty="0">
                <a:solidFill>
                  <a:schemeClr val="accent1">
                    <a:lumMod val="50000"/>
                  </a:schemeClr>
                </a:solidFill>
                <a:latin typeface="Trebuchet MS" panose="020B0703020202090204" pitchFamily="34" charset="0"/>
              </a:rPr>
              <a:t>AB Structures structural requirements (e.g., ceiling height, floor slope, structural dimensions)</a:t>
            </a:r>
          </a:p>
          <a:p>
            <a:pPr marL="457200" indent="-457200">
              <a:buFont typeface="Wingdings" pitchFamily="2" charset="2"/>
              <a:buChar char="q"/>
            </a:pPr>
            <a:r>
              <a:rPr lang="en-US" sz="2800" b="1" dirty="0">
                <a:solidFill>
                  <a:schemeClr val="accent1">
                    <a:lumMod val="50000"/>
                  </a:schemeClr>
                </a:solidFill>
                <a:latin typeface="Trebuchet MS" panose="020B0703020202090204" pitchFamily="34" charset="0"/>
              </a:rPr>
              <a:t>Feeding space requirements</a:t>
            </a:r>
          </a:p>
          <a:p>
            <a:pPr marL="457200" indent="-457200">
              <a:buFont typeface="Wingdings" pitchFamily="2" charset="2"/>
              <a:buChar char="q"/>
            </a:pPr>
            <a:r>
              <a:rPr lang="en-US" sz="2800" b="1" dirty="0">
                <a:solidFill>
                  <a:schemeClr val="accent1">
                    <a:lumMod val="50000"/>
                  </a:schemeClr>
                </a:solidFill>
                <a:latin typeface="Trebuchet MS" panose="020B0703020202090204" pitchFamily="34" charset="0"/>
              </a:rPr>
              <a:t>Lighting Intensity</a:t>
            </a:r>
          </a:p>
          <a:p>
            <a:pPr marL="457200" indent="-457200">
              <a:buFont typeface="Wingdings" pitchFamily="2" charset="2"/>
              <a:buChar char="q"/>
            </a:pPr>
            <a:r>
              <a:rPr lang="en-US" sz="2800" b="1" dirty="0">
                <a:solidFill>
                  <a:schemeClr val="accent1">
                    <a:lumMod val="50000"/>
                  </a:schemeClr>
                </a:solidFill>
                <a:latin typeface="Trebuchet MS" panose="020B0703020202090204" pitchFamily="34" charset="0"/>
              </a:rPr>
              <a:t>Mechanical ventilation rates</a:t>
            </a: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04F5B8CB-CA77-356C-4E8A-AC946B68EB40}"/>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680DD8B6-3C8C-11B9-47D2-C6443A53848A}"/>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Tree>
    <p:extLst>
      <p:ext uri="{BB962C8B-B14F-4D97-AF65-F5344CB8AC3E}">
        <p14:creationId xmlns:p14="http://schemas.microsoft.com/office/powerpoint/2010/main" val="19526735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5312357"/>
          </a:xfrm>
          <a:prstGeom prst="rect">
            <a:avLst/>
          </a:prstGeom>
        </p:spPr>
        <p:txBody>
          <a:bodyPr vert="horz" lIns="91440" tIns="45720" rIns="91440" bIns="45720" rtlCol="0" anchor="t">
            <a:normAutofit fontScale="700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PAES 401:2001</a:t>
            </a:r>
          </a:p>
          <a:p>
            <a:r>
              <a:rPr lang="en-US" sz="4400" b="1" dirty="0">
                <a:solidFill>
                  <a:schemeClr val="accent1">
                    <a:lumMod val="50000"/>
                  </a:schemeClr>
                </a:solidFill>
                <a:latin typeface="Trebuchet MS" panose="020B0703020202090204" pitchFamily="34" charset="0"/>
              </a:rPr>
              <a:t>Housing for Swine Production</a:t>
            </a:r>
          </a:p>
          <a:p>
            <a:endParaRPr lang="en-US" sz="4000" b="1" dirty="0">
              <a:solidFill>
                <a:srgbClr val="E18E2E"/>
              </a:solidFill>
              <a:latin typeface="Trebuchet MS" panose="020B0703020202090204" pitchFamily="34" charset="0"/>
            </a:endParaRP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Shall be constructed in an east-west orientation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One-, two-, three-, four-unit systems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Space requirement (Table 1)</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Ceiling height</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Building sidewall minimum height</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Floor slope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Types of roof</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Different types of pens and how many swine it can hold</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Heaters to achieve required temperature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Placing of heat lamps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Watering facilities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Lighting (Table 6)</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Ventilation (Table 7)</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Temperature (Table 8)</a:t>
            </a:r>
            <a:endParaRPr lang="en-US" sz="20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0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2CEC17B7-C5AB-6452-4C7D-9A2DF3DE2958}"/>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23C613C2-25FC-5E9F-0761-1E904CA13DBE}"/>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Tree>
    <p:extLst>
      <p:ext uri="{BB962C8B-B14F-4D97-AF65-F5344CB8AC3E}">
        <p14:creationId xmlns:p14="http://schemas.microsoft.com/office/powerpoint/2010/main" val="26035203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Which one of the pictures is the semi-monitor type of roof?</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b.</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d.</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pic>
        <p:nvPicPr>
          <p:cNvPr id="4" name="Picture 3">
            <a:extLst>
              <a:ext uri="{FF2B5EF4-FFF2-40B4-BE49-F238E27FC236}">
                <a16:creationId xmlns:a16="http://schemas.microsoft.com/office/drawing/2014/main" id="{B5757D90-08AD-C6B2-9D4D-CAB0F2C763FF}"/>
              </a:ext>
            </a:extLst>
          </p:cNvPr>
          <p:cNvPicPr>
            <a:picLocks noChangeAspect="1"/>
          </p:cNvPicPr>
          <p:nvPr/>
        </p:nvPicPr>
        <p:blipFill rotWithShape="1">
          <a:blip r:embed="rId2"/>
          <a:srcRect l="47575" t="13869" r="33075" b="70128"/>
          <a:stretch/>
        </p:blipFill>
        <p:spPr>
          <a:xfrm>
            <a:off x="1620663" y="3682025"/>
            <a:ext cx="3300282" cy="1705742"/>
          </a:xfrm>
          <a:prstGeom prst="rect">
            <a:avLst/>
          </a:prstGeom>
        </p:spPr>
      </p:pic>
      <p:pic>
        <p:nvPicPr>
          <p:cNvPr id="6" name="Picture 5">
            <a:extLst>
              <a:ext uri="{FF2B5EF4-FFF2-40B4-BE49-F238E27FC236}">
                <a16:creationId xmlns:a16="http://schemas.microsoft.com/office/drawing/2014/main" id="{5BB5D172-D1E3-2282-9433-F3233CC8BF1E}"/>
              </a:ext>
            </a:extLst>
          </p:cNvPr>
          <p:cNvPicPr>
            <a:picLocks noChangeAspect="1"/>
          </p:cNvPicPr>
          <p:nvPr/>
        </p:nvPicPr>
        <p:blipFill rotWithShape="1">
          <a:blip r:embed="rId2"/>
          <a:srcRect l="37358" t="39381" r="41589" b="42141"/>
          <a:stretch/>
        </p:blipFill>
        <p:spPr>
          <a:xfrm>
            <a:off x="1777074" y="1923905"/>
            <a:ext cx="2903644" cy="1592861"/>
          </a:xfrm>
          <a:prstGeom prst="rect">
            <a:avLst/>
          </a:prstGeom>
        </p:spPr>
      </p:pic>
      <p:pic>
        <p:nvPicPr>
          <p:cNvPr id="8" name="Picture 7">
            <a:extLst>
              <a:ext uri="{FF2B5EF4-FFF2-40B4-BE49-F238E27FC236}">
                <a16:creationId xmlns:a16="http://schemas.microsoft.com/office/drawing/2014/main" id="{5F4C091C-A893-A854-6BE6-6722598FC200}"/>
              </a:ext>
            </a:extLst>
          </p:cNvPr>
          <p:cNvPicPr>
            <a:picLocks noChangeAspect="1"/>
          </p:cNvPicPr>
          <p:nvPr/>
        </p:nvPicPr>
        <p:blipFill rotWithShape="1">
          <a:blip r:embed="rId2"/>
          <a:srcRect l="58095" t="39071" r="22245" b="42450"/>
          <a:stretch/>
        </p:blipFill>
        <p:spPr>
          <a:xfrm>
            <a:off x="5665104" y="1865041"/>
            <a:ext cx="2903644" cy="1705743"/>
          </a:xfrm>
          <a:prstGeom prst="rect">
            <a:avLst/>
          </a:prstGeom>
        </p:spPr>
      </p:pic>
      <p:pic>
        <p:nvPicPr>
          <p:cNvPr id="9" name="Picture 8">
            <a:extLst>
              <a:ext uri="{FF2B5EF4-FFF2-40B4-BE49-F238E27FC236}">
                <a16:creationId xmlns:a16="http://schemas.microsoft.com/office/drawing/2014/main" id="{47CD1712-B5F8-879E-4475-DBCA26BAF875}"/>
              </a:ext>
            </a:extLst>
          </p:cNvPr>
          <p:cNvPicPr>
            <a:picLocks noChangeAspect="1"/>
          </p:cNvPicPr>
          <p:nvPr/>
        </p:nvPicPr>
        <p:blipFill rotWithShape="1">
          <a:blip r:embed="rId2"/>
          <a:srcRect l="57631" t="65821" r="24722" b="15700"/>
          <a:stretch/>
        </p:blipFill>
        <p:spPr>
          <a:xfrm>
            <a:off x="5665104" y="3682025"/>
            <a:ext cx="2903644" cy="1900261"/>
          </a:xfrm>
          <a:prstGeom prst="rect">
            <a:avLst/>
          </a:prstGeom>
        </p:spPr>
      </p:pic>
      <p:sp>
        <p:nvSpPr>
          <p:cNvPr id="2" name="Footer Placeholder 1">
            <a:extLst>
              <a:ext uri="{FF2B5EF4-FFF2-40B4-BE49-F238E27FC236}">
                <a16:creationId xmlns:a16="http://schemas.microsoft.com/office/drawing/2014/main" id="{47D51B84-E4EA-2D41-182F-67299B160EC3}"/>
              </a:ext>
            </a:extLst>
          </p:cNvPr>
          <p:cNvSpPr>
            <a:spLocks noGrp="1"/>
          </p:cNvSpPr>
          <p:nvPr>
            <p:ph type="ftr" sz="quarter" idx="11"/>
          </p:nvPr>
        </p:nvSpPr>
        <p:spPr/>
        <p:txBody>
          <a:bodyPr/>
          <a:lstStyle/>
          <a:p>
            <a:r>
              <a:rPr lang="en-US"/>
              <a:t>Engr. Melanie D. Piedad, ABELE 2022 Topnotcher</a:t>
            </a:r>
            <a:endParaRPr lang="en-US" dirty="0"/>
          </a:p>
        </p:txBody>
      </p:sp>
      <p:sp>
        <p:nvSpPr>
          <p:cNvPr id="5" name="Slide Number Placeholder 4">
            <a:extLst>
              <a:ext uri="{FF2B5EF4-FFF2-40B4-BE49-F238E27FC236}">
                <a16:creationId xmlns:a16="http://schemas.microsoft.com/office/drawing/2014/main" id="{EF4656AD-96BC-D646-E6CF-D5D332FA37CB}"/>
              </a:ext>
            </a:extLst>
          </p:cNvPr>
          <p:cNvSpPr>
            <a:spLocks noGrp="1"/>
          </p:cNvSpPr>
          <p:nvPr>
            <p:ph type="sldNum" sz="quarter" idx="12"/>
          </p:nvPr>
        </p:nvSpPr>
        <p:spPr/>
        <p:txBody>
          <a:bodyPr/>
          <a:lstStyle/>
          <a:p>
            <a:fld id="{D57F1E4F-1CFF-5643-939E-217C01CDF565}" type="slidenum">
              <a:rPr lang="en-US" smtClean="0"/>
              <a:pPr/>
              <a:t>6</a:t>
            </a:fld>
            <a:endParaRPr lang="en-US" dirty="0"/>
          </a:p>
        </p:txBody>
      </p:sp>
    </p:spTree>
    <p:extLst>
      <p:ext uri="{BB962C8B-B14F-4D97-AF65-F5344CB8AC3E}">
        <p14:creationId xmlns:p14="http://schemas.microsoft.com/office/powerpoint/2010/main" val="41664958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Minimum recommended space requirement for adult pigs in groups in terms of sq. m per animal.</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7.5</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5.6</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3.5</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2.5</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A0D39D2E-9FEB-02D9-20CE-061679C9CFAC}"/>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98B98770-8F64-9633-989E-3F09D221DB19}"/>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Tree>
    <p:extLst>
      <p:ext uri="{BB962C8B-B14F-4D97-AF65-F5344CB8AC3E}">
        <p14:creationId xmlns:p14="http://schemas.microsoft.com/office/powerpoint/2010/main" val="20675713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How many gilts can fit inside a 20 sq. m area?</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10</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20</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25</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15</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B80DC450-8160-D150-6F46-243BFC5DEDEE}"/>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91D0FC7C-CA7F-2884-9AFC-811558B00780}"/>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Tree>
    <p:extLst>
      <p:ext uri="{BB962C8B-B14F-4D97-AF65-F5344CB8AC3E}">
        <p14:creationId xmlns:p14="http://schemas.microsoft.com/office/powerpoint/2010/main" val="9196057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Recommended linear length of feeding trough for 15-25 kg swine.</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100 mm/animal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150 mm/animal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200 mm/animal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250 mm/animal</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E31BF429-8335-9DAF-8637-76321D2390E1}"/>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D66F9FC1-600F-2430-05AD-D507CD27E382}"/>
              </a:ext>
            </a:extLst>
          </p:cNvPr>
          <p:cNvSpPr>
            <a:spLocks noGrp="1"/>
          </p:cNvSpPr>
          <p:nvPr>
            <p:ph type="sldNum" sz="quarter" idx="12"/>
          </p:nvPr>
        </p:nvSpPr>
        <p:spPr/>
        <p:txBody>
          <a:bodyPr/>
          <a:lstStyle/>
          <a:p>
            <a:fld id="{D57F1E4F-1CFF-5643-939E-217C01CDF565}" type="slidenum">
              <a:rPr lang="en-US" smtClean="0"/>
              <a:pPr/>
              <a:t>9</a:t>
            </a:fld>
            <a:endParaRPr lang="en-US" dirty="0"/>
          </a:p>
        </p:txBody>
      </p:sp>
    </p:spTree>
    <p:extLst>
      <p:ext uri="{BB962C8B-B14F-4D97-AF65-F5344CB8AC3E}">
        <p14:creationId xmlns:p14="http://schemas.microsoft.com/office/powerpoint/2010/main" val="36959844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5264231"/>
          </a:xfrm>
          <a:prstGeom prst="rect">
            <a:avLst/>
          </a:prstGeom>
        </p:spPr>
        <p:txBody>
          <a:bodyPr vert="horz" lIns="91440" tIns="45720" rIns="91440" bIns="45720" rtlCol="0" anchor="t">
            <a:normAutofit fontScale="625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PAES 402:2001</a:t>
            </a:r>
          </a:p>
          <a:p>
            <a:r>
              <a:rPr lang="en-US" sz="4400" b="1" dirty="0">
                <a:solidFill>
                  <a:schemeClr val="accent1">
                    <a:lumMod val="50000"/>
                  </a:schemeClr>
                </a:solidFill>
                <a:latin typeface="Trebuchet MS" panose="020B0703020202090204" pitchFamily="34" charset="0"/>
              </a:rPr>
              <a:t>Housing for Broiler Production</a:t>
            </a:r>
          </a:p>
          <a:p>
            <a:endParaRPr lang="en-US" sz="4000" b="1" dirty="0">
              <a:solidFill>
                <a:srgbClr val="E18E2E"/>
              </a:solidFill>
              <a:latin typeface="Trebuchet MS" panose="020B0703020202090204" pitchFamily="34" charset="0"/>
            </a:endParaRP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Shall be constructed in an east-west orientation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Space requirement (Table 1)</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Ceiling height</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Overhang</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Entrance doors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Slat width and space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Floor elevation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Width of pen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Artificial light</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Brooding temperature (Table 2)</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Aisles and walkways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Round feeder</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Feeder length requirement (Table 3)</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Waterer length requirement (Table 4)</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Lighting </a:t>
            </a:r>
            <a:endParaRPr lang="en-US" sz="28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32C94DC4-81C0-70D3-5CF4-D6127ADF549F}"/>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7129FEE7-12DF-22F6-94E9-E0274C97D8BC}"/>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Tree>
    <p:extLst>
      <p:ext uri="{BB962C8B-B14F-4D97-AF65-F5344CB8AC3E}">
        <p14:creationId xmlns:p14="http://schemas.microsoft.com/office/powerpoint/2010/main" val="10029038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Recommended brooding temperature for chicks 14-21 days.</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only if necessary</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32-35</a:t>
            </a:r>
            <a:r>
              <a:rPr lang="en-US" sz="2400" b="1" baseline="30000" dirty="0">
                <a:solidFill>
                  <a:schemeClr val="accent1">
                    <a:lumMod val="50000"/>
                  </a:schemeClr>
                </a:solidFill>
                <a:ea typeface="Calibri" panose="020F0502020204030204" pitchFamily="34" charset="0"/>
                <a:cs typeface="Times New Roman" panose="02020603050405020304" pitchFamily="18" charset="0"/>
              </a:rPr>
              <a:t>o</a:t>
            </a:r>
            <a:r>
              <a:rPr lang="en-US" sz="2400" b="1" dirty="0">
                <a:solidFill>
                  <a:schemeClr val="accent1">
                    <a:lumMod val="50000"/>
                  </a:schemeClr>
                </a:solidFill>
                <a:ea typeface="Calibri" panose="020F0502020204030204" pitchFamily="34" charset="0"/>
                <a:cs typeface="Times New Roman" panose="02020603050405020304" pitchFamily="18" charset="0"/>
              </a:rPr>
              <a:t>C</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29-32</a:t>
            </a:r>
            <a:r>
              <a:rPr lang="en-US" sz="2400" b="1" baseline="30000" dirty="0">
                <a:solidFill>
                  <a:schemeClr val="accent1">
                    <a:lumMod val="50000"/>
                  </a:schemeClr>
                </a:solidFill>
                <a:ea typeface="Calibri" panose="020F0502020204030204" pitchFamily="34" charset="0"/>
                <a:cs typeface="Times New Roman" panose="02020603050405020304" pitchFamily="18" charset="0"/>
              </a:rPr>
              <a:t>o</a:t>
            </a:r>
            <a:r>
              <a:rPr lang="en-US" sz="2400" b="1" dirty="0">
                <a:solidFill>
                  <a:schemeClr val="accent1">
                    <a:lumMod val="50000"/>
                  </a:schemeClr>
                </a:solidFill>
                <a:ea typeface="Calibri" panose="020F0502020204030204" pitchFamily="34" charset="0"/>
                <a:cs typeface="Times New Roman" panose="02020603050405020304" pitchFamily="18" charset="0"/>
              </a:rPr>
              <a:t>C</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27-29</a:t>
            </a:r>
            <a:r>
              <a:rPr lang="en-US" sz="2400" b="1" baseline="30000" dirty="0">
                <a:solidFill>
                  <a:schemeClr val="accent1">
                    <a:lumMod val="50000"/>
                  </a:schemeClr>
                </a:solidFill>
                <a:ea typeface="Calibri" panose="020F0502020204030204" pitchFamily="34" charset="0"/>
                <a:cs typeface="Times New Roman" panose="02020603050405020304" pitchFamily="18" charset="0"/>
              </a:rPr>
              <a:t>o</a:t>
            </a:r>
            <a:r>
              <a:rPr lang="en-US" sz="2400" b="1" dirty="0">
                <a:solidFill>
                  <a:schemeClr val="accent1">
                    <a:lumMod val="50000"/>
                  </a:schemeClr>
                </a:solidFill>
                <a:ea typeface="Calibri" panose="020F0502020204030204" pitchFamily="34" charset="0"/>
                <a:cs typeface="Times New Roman" panose="02020603050405020304" pitchFamily="18" charset="0"/>
              </a:rPr>
              <a:t>C</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F4203705-1DF0-3AEE-BD74-FB3E2D7FAA31}"/>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AAB06346-5942-9CF8-F13C-16B51A594E37}"/>
              </a:ext>
            </a:extLst>
          </p:cNvPr>
          <p:cNvSpPr>
            <a:spLocks noGrp="1"/>
          </p:cNvSpPr>
          <p:nvPr>
            <p:ph type="sldNum" sz="quarter" idx="12"/>
          </p:nvPr>
        </p:nvSpPr>
        <p:spPr/>
        <p:txBody>
          <a:bodyPr/>
          <a:lstStyle/>
          <a:p>
            <a:fld id="{D57F1E4F-1CFF-5643-939E-217C01CDF565}" type="slidenum">
              <a:rPr lang="en-US" smtClean="0"/>
              <a:pPr/>
              <a:t>11</a:t>
            </a:fld>
            <a:endParaRPr lang="en-US" dirty="0"/>
          </a:p>
        </p:txBody>
      </p:sp>
    </p:spTree>
    <p:extLst>
      <p:ext uri="{BB962C8B-B14F-4D97-AF65-F5344CB8AC3E}">
        <p14:creationId xmlns:p14="http://schemas.microsoft.com/office/powerpoint/2010/main" val="23563751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The height of hover type brooder shall be adjustable. Hovers shall be maintained at a minimum clearance of ____ above the back of the birds.</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120 mm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150 mm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170 mm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200 mm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2F154ED8-EA71-86ED-F0C5-4C36445694DF}"/>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8E0E101F-F9E9-FD96-1B6C-518327458C84}"/>
              </a:ext>
            </a:extLst>
          </p:cNvPr>
          <p:cNvSpPr>
            <a:spLocks noGrp="1"/>
          </p:cNvSpPr>
          <p:nvPr>
            <p:ph type="sldNum" sz="quarter" idx="12"/>
          </p:nvPr>
        </p:nvSpPr>
        <p:spPr/>
        <p:txBody>
          <a:bodyPr/>
          <a:lstStyle/>
          <a:p>
            <a:fld id="{D57F1E4F-1CFF-5643-939E-217C01CDF565}" type="slidenum">
              <a:rPr lang="en-US" smtClean="0"/>
              <a:pPr/>
              <a:t>12</a:t>
            </a:fld>
            <a:endParaRPr lang="en-US" dirty="0"/>
          </a:p>
        </p:txBody>
      </p:sp>
    </p:spTree>
    <p:extLst>
      <p:ext uri="{BB962C8B-B14F-4D97-AF65-F5344CB8AC3E}">
        <p14:creationId xmlns:p14="http://schemas.microsoft.com/office/powerpoint/2010/main" val="2744331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In housing for broiler, the width of pen shall be about ___.</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10-12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12-14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14-16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16-18 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0090B123-E235-0A71-736B-6A99A178FB7D}"/>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8149E5C9-FA34-153C-71B4-2B8E76BE8A4B}"/>
              </a:ext>
            </a:extLst>
          </p:cNvPr>
          <p:cNvSpPr>
            <a:spLocks noGrp="1"/>
          </p:cNvSpPr>
          <p:nvPr>
            <p:ph type="sldNum" sz="quarter" idx="12"/>
          </p:nvPr>
        </p:nvSpPr>
        <p:spPr/>
        <p:txBody>
          <a:bodyPr/>
          <a:lstStyle/>
          <a:p>
            <a:fld id="{D57F1E4F-1CFF-5643-939E-217C01CDF565}" type="slidenum">
              <a:rPr lang="en-US" smtClean="0"/>
              <a:pPr/>
              <a:t>13</a:t>
            </a:fld>
            <a:endParaRPr lang="en-US" dirty="0"/>
          </a:p>
        </p:txBody>
      </p:sp>
    </p:spTree>
    <p:extLst>
      <p:ext uri="{BB962C8B-B14F-4D97-AF65-F5344CB8AC3E}">
        <p14:creationId xmlns:p14="http://schemas.microsoft.com/office/powerpoint/2010/main" val="35173904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5264231"/>
          </a:xfrm>
          <a:prstGeom prst="rect">
            <a:avLst/>
          </a:prstGeom>
        </p:spPr>
        <p:txBody>
          <a:bodyPr vert="horz" lIns="91440" tIns="45720" rIns="91440" bIns="45720" rtlCol="0" anchor="t">
            <a:normAutofit fontScale="625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PAES 403:2001</a:t>
            </a:r>
          </a:p>
          <a:p>
            <a:r>
              <a:rPr lang="en-US" sz="4400" b="1" dirty="0">
                <a:solidFill>
                  <a:schemeClr val="accent1">
                    <a:lumMod val="50000"/>
                  </a:schemeClr>
                </a:solidFill>
                <a:latin typeface="Trebuchet MS" panose="020B0703020202090204" pitchFamily="34" charset="0"/>
              </a:rPr>
              <a:t>Housing for Layer Production</a:t>
            </a:r>
          </a:p>
          <a:p>
            <a:endParaRPr lang="en-US" sz="4000" b="1" dirty="0">
              <a:solidFill>
                <a:srgbClr val="E18E2E"/>
              </a:solidFill>
              <a:latin typeface="Trebuchet MS" panose="020B0703020202090204" pitchFamily="34" charset="0"/>
            </a:endParaRP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Shall be constructed in an east-west orientation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Space requirement in pen type housing (Table 1)</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Space requirement in cage type housing</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Ceiling height</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Overhang</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Door</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Slat width and space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Floor elevation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Width of pen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Laying cage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Floor slope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Aisles and walkways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Feed requirement</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Waterer requirement</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Lighting </a:t>
            </a:r>
            <a:endParaRPr lang="en-US" sz="28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524C3988-61E3-C3E1-4206-9F5E0F9EB90A}"/>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E63FEB1D-EE2C-7478-3A4D-4E6671992C48}"/>
              </a:ext>
            </a:extLst>
          </p:cNvPr>
          <p:cNvSpPr>
            <a:spLocks noGrp="1"/>
          </p:cNvSpPr>
          <p:nvPr>
            <p:ph type="sldNum" sz="quarter" idx="12"/>
          </p:nvPr>
        </p:nvSpPr>
        <p:spPr/>
        <p:txBody>
          <a:bodyPr/>
          <a:lstStyle/>
          <a:p>
            <a:fld id="{D57F1E4F-1CFF-5643-939E-217C01CDF565}" type="slidenum">
              <a:rPr lang="en-US" smtClean="0"/>
              <a:pPr/>
              <a:t>14</a:t>
            </a:fld>
            <a:endParaRPr lang="en-US" dirty="0"/>
          </a:p>
        </p:txBody>
      </p:sp>
    </p:spTree>
    <p:extLst>
      <p:ext uri="{BB962C8B-B14F-4D97-AF65-F5344CB8AC3E}">
        <p14:creationId xmlns:p14="http://schemas.microsoft.com/office/powerpoint/2010/main" val="13819177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Minimum space requirement for layers above 22 weeks using slotted floor type in pen type housing.</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17 sq. m/100 birds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14 sq. m/100 birds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9 sq. m/100 birds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12 sq. m/100 birds</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ADDF0831-1373-FE0E-A943-0037DF9B4663}"/>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48EAB9AF-C56F-AAE4-490E-8DD9CF833DBD}"/>
              </a:ext>
            </a:extLst>
          </p:cNvPr>
          <p:cNvSpPr>
            <a:spLocks noGrp="1"/>
          </p:cNvSpPr>
          <p:nvPr>
            <p:ph type="sldNum" sz="quarter" idx="12"/>
          </p:nvPr>
        </p:nvSpPr>
        <p:spPr/>
        <p:txBody>
          <a:bodyPr/>
          <a:lstStyle/>
          <a:p>
            <a:fld id="{D57F1E4F-1CFF-5643-939E-217C01CDF565}" type="slidenum">
              <a:rPr lang="en-US" smtClean="0"/>
              <a:pPr/>
              <a:t>15</a:t>
            </a:fld>
            <a:endParaRPr lang="en-US" dirty="0"/>
          </a:p>
        </p:txBody>
      </p:sp>
    </p:spTree>
    <p:extLst>
      <p:ext uri="{BB962C8B-B14F-4D97-AF65-F5344CB8AC3E}">
        <p14:creationId xmlns:p14="http://schemas.microsoft.com/office/powerpoint/2010/main" val="16514837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The nesting boxes of community nest shall accommodate how many layers?</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1-3 layers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3-6 layers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5-8 layers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4-7 layers</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5C4E9379-19BB-A21B-5C21-D2EEFC77765D}"/>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0EF93C0B-4CB0-227C-20DC-08026466002F}"/>
              </a:ext>
            </a:extLst>
          </p:cNvPr>
          <p:cNvSpPr>
            <a:spLocks noGrp="1"/>
          </p:cNvSpPr>
          <p:nvPr>
            <p:ph type="sldNum" sz="quarter" idx="12"/>
          </p:nvPr>
        </p:nvSpPr>
        <p:spPr/>
        <p:txBody>
          <a:bodyPr/>
          <a:lstStyle/>
          <a:p>
            <a:fld id="{D57F1E4F-1CFF-5643-939E-217C01CDF565}" type="slidenum">
              <a:rPr lang="en-US" smtClean="0"/>
              <a:pPr/>
              <a:t>16</a:t>
            </a:fld>
            <a:endParaRPr lang="en-US" dirty="0"/>
          </a:p>
        </p:txBody>
      </p:sp>
    </p:spTree>
    <p:extLst>
      <p:ext uri="{BB962C8B-B14F-4D97-AF65-F5344CB8AC3E}">
        <p14:creationId xmlns:p14="http://schemas.microsoft.com/office/powerpoint/2010/main" val="15695394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In a cage type housing, the minimum space requirement for birds shall be ____.</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10 sq. m/100 birds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15 sq. m/100 birds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20 sq. m/100 birds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5 sq. m/100 birds</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9C2F6CB8-610C-CA8B-DEAE-C9DA653853DB}"/>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627DE5BB-D792-8C50-E808-29BD9ABD29F8}"/>
              </a:ext>
            </a:extLst>
          </p:cNvPr>
          <p:cNvSpPr>
            <a:spLocks noGrp="1"/>
          </p:cNvSpPr>
          <p:nvPr>
            <p:ph type="sldNum" sz="quarter" idx="12"/>
          </p:nvPr>
        </p:nvSpPr>
        <p:spPr/>
        <p:txBody>
          <a:bodyPr/>
          <a:lstStyle/>
          <a:p>
            <a:fld id="{D57F1E4F-1CFF-5643-939E-217C01CDF565}" type="slidenum">
              <a:rPr lang="en-US" smtClean="0"/>
              <a:pPr/>
              <a:t>17</a:t>
            </a:fld>
            <a:endParaRPr lang="en-US" dirty="0"/>
          </a:p>
        </p:txBody>
      </p:sp>
    </p:spTree>
    <p:extLst>
      <p:ext uri="{BB962C8B-B14F-4D97-AF65-F5344CB8AC3E}">
        <p14:creationId xmlns:p14="http://schemas.microsoft.com/office/powerpoint/2010/main" val="4716709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5264231"/>
          </a:xfrm>
          <a:prstGeom prst="rect">
            <a:avLst/>
          </a:prstGeom>
        </p:spPr>
        <p:txBody>
          <a:bodyPr vert="horz" lIns="91440" tIns="45720" rIns="91440" bIns="45720" rtlCol="0" anchor="t">
            <a:normAutofit fontScale="700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PAES 404:2001</a:t>
            </a:r>
          </a:p>
          <a:p>
            <a:r>
              <a:rPr lang="en-US" sz="4400" b="1" dirty="0">
                <a:solidFill>
                  <a:schemeClr val="accent1">
                    <a:lumMod val="50000"/>
                  </a:schemeClr>
                </a:solidFill>
                <a:latin typeface="Trebuchet MS" panose="020B0703020202090204" pitchFamily="34" charset="0"/>
              </a:rPr>
              <a:t>Housing for Goat and Sheep</a:t>
            </a:r>
          </a:p>
          <a:p>
            <a:endParaRPr lang="en-US" sz="4000" b="1" dirty="0">
              <a:solidFill>
                <a:srgbClr val="E18E2E"/>
              </a:solidFill>
              <a:latin typeface="Trebuchet MS" panose="020B0703020202090204" pitchFamily="34" charset="0"/>
            </a:endParaRP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Shall be constructed in an east-west orientation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Shed type and pen-barn type difference </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Space requirement (Table 1 and 2)</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Fenced loafing area</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Steps dimension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Slat elevation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Concrete and earth floor slope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Roof slope of normal and indigenous materials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Brooder box dimension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Feeding trough </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Hayrack spacing</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Minimum linear feeding space (Table 3)</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Drinking system</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Lighting</a:t>
            </a:r>
          </a:p>
          <a:p>
            <a:pPr marL="457200" indent="-457200">
              <a:buFont typeface="Wingdings" pitchFamily="2" charset="2"/>
              <a:buChar char="q"/>
            </a:pPr>
            <a:endParaRPr lang="en-US" sz="32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0CB7854B-F940-49D9-94AB-87EB6BE986FD}"/>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A4A178CE-ACAA-5AD6-C420-AFE370F2E229}"/>
              </a:ext>
            </a:extLst>
          </p:cNvPr>
          <p:cNvSpPr>
            <a:spLocks noGrp="1"/>
          </p:cNvSpPr>
          <p:nvPr>
            <p:ph type="sldNum" sz="quarter" idx="12"/>
          </p:nvPr>
        </p:nvSpPr>
        <p:spPr/>
        <p:txBody>
          <a:bodyPr/>
          <a:lstStyle/>
          <a:p>
            <a:fld id="{D57F1E4F-1CFF-5643-939E-217C01CDF565}" type="slidenum">
              <a:rPr lang="en-US" smtClean="0"/>
              <a:pPr/>
              <a:t>18</a:t>
            </a:fld>
            <a:endParaRPr lang="en-US" dirty="0"/>
          </a:p>
        </p:txBody>
      </p:sp>
    </p:spTree>
    <p:extLst>
      <p:ext uri="{BB962C8B-B14F-4D97-AF65-F5344CB8AC3E}">
        <p14:creationId xmlns:p14="http://schemas.microsoft.com/office/powerpoint/2010/main" val="25011515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Lighting intensity for goat/sheep.</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100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200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300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500 lux</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E879CE08-9420-3089-CE6F-2D75F72F4A48}"/>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2C21DF2E-3B5F-24C0-3A4A-25FC3C3640AC}"/>
              </a:ext>
            </a:extLst>
          </p:cNvPr>
          <p:cNvSpPr>
            <a:spLocks noGrp="1"/>
          </p:cNvSpPr>
          <p:nvPr>
            <p:ph type="sldNum" sz="quarter" idx="12"/>
          </p:nvPr>
        </p:nvSpPr>
        <p:spPr/>
        <p:txBody>
          <a:bodyPr/>
          <a:lstStyle/>
          <a:p>
            <a:fld id="{D57F1E4F-1CFF-5643-939E-217C01CDF565}" type="slidenum">
              <a:rPr lang="en-US" smtClean="0"/>
              <a:pPr/>
              <a:t>19</a:t>
            </a:fld>
            <a:endParaRPr lang="en-US" dirty="0"/>
          </a:p>
        </p:txBody>
      </p:sp>
    </p:spTree>
    <p:extLst>
      <p:ext uri="{BB962C8B-B14F-4D97-AF65-F5344CB8AC3E}">
        <p14:creationId xmlns:p14="http://schemas.microsoft.com/office/powerpoint/2010/main" val="2411864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Doe/Ewe of 70 kg space requirement in Slotted Flooring. </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0.7 sq.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0.9 sq.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1.1 sq.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2.5 sq. 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3BFD1BE7-3743-D812-9C33-C21F3BAF6B11}"/>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3B130A6C-E945-5258-BF1F-0703CC922DB6}"/>
              </a:ext>
            </a:extLst>
          </p:cNvPr>
          <p:cNvSpPr>
            <a:spLocks noGrp="1"/>
          </p:cNvSpPr>
          <p:nvPr>
            <p:ph type="sldNum" sz="quarter" idx="12"/>
          </p:nvPr>
        </p:nvSpPr>
        <p:spPr/>
        <p:txBody>
          <a:bodyPr/>
          <a:lstStyle/>
          <a:p>
            <a:fld id="{D57F1E4F-1CFF-5643-939E-217C01CDF565}" type="slidenum">
              <a:rPr lang="en-US" smtClean="0"/>
              <a:pPr/>
              <a:t>20</a:t>
            </a:fld>
            <a:endParaRPr lang="en-US" dirty="0"/>
          </a:p>
        </p:txBody>
      </p:sp>
    </p:spTree>
    <p:extLst>
      <p:ext uri="{BB962C8B-B14F-4D97-AF65-F5344CB8AC3E}">
        <p14:creationId xmlns:p14="http://schemas.microsoft.com/office/powerpoint/2010/main" val="34928243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Space requirement for buck/ram in intensive farming using slotted floor.</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0.9 sq. 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1.1. sq. 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2.0 sq. 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2.5 sq. m/animal</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7B781CB4-34D7-D2EA-2927-CC3FAF9A5FB3}"/>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8DF7688A-40BF-4A0E-7E16-A2B8D7D75DE5}"/>
              </a:ext>
            </a:extLst>
          </p:cNvPr>
          <p:cNvSpPr>
            <a:spLocks noGrp="1"/>
          </p:cNvSpPr>
          <p:nvPr>
            <p:ph type="sldNum" sz="quarter" idx="12"/>
          </p:nvPr>
        </p:nvSpPr>
        <p:spPr/>
        <p:txBody>
          <a:bodyPr/>
          <a:lstStyle/>
          <a:p>
            <a:fld id="{D57F1E4F-1CFF-5643-939E-217C01CDF565}" type="slidenum">
              <a:rPr lang="en-US" smtClean="0"/>
              <a:pPr/>
              <a:t>21</a:t>
            </a:fld>
            <a:endParaRPr lang="en-US" dirty="0"/>
          </a:p>
        </p:txBody>
      </p:sp>
    </p:spTree>
    <p:extLst>
      <p:ext uri="{BB962C8B-B14F-4D97-AF65-F5344CB8AC3E}">
        <p14:creationId xmlns:p14="http://schemas.microsoft.com/office/powerpoint/2010/main" val="42248264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5264231"/>
          </a:xfrm>
          <a:prstGeom prst="rect">
            <a:avLst/>
          </a:prstGeom>
        </p:spPr>
        <p:txBody>
          <a:bodyPr vert="horz" lIns="91440" tIns="45720" rIns="91440" bIns="45720" rtlCol="0" anchor="t">
            <a:normAutofit fontScale="775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PAES 405:2001</a:t>
            </a:r>
          </a:p>
          <a:p>
            <a:r>
              <a:rPr lang="en-US" sz="4400" b="1" dirty="0">
                <a:solidFill>
                  <a:schemeClr val="accent1">
                    <a:lumMod val="50000"/>
                  </a:schemeClr>
                </a:solidFill>
                <a:latin typeface="Trebuchet MS" panose="020B0703020202090204" pitchFamily="34" charset="0"/>
              </a:rPr>
              <a:t>Cattle Feedlot</a:t>
            </a:r>
          </a:p>
          <a:p>
            <a:endParaRPr lang="en-US" sz="4000" b="1" dirty="0">
              <a:solidFill>
                <a:srgbClr val="E18E2E"/>
              </a:solidFill>
              <a:latin typeface="Trebuchet MS" panose="020B0703020202090204" pitchFamily="34" charset="0"/>
            </a:endParaRP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Shall be constructed in an east-west orientation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Space requirement (Table 1)</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Floor thickness and slope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Concrete and earth floor slope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Roof slope of normal and indigenous materials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Pen height</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Space requirement for feeding</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Watering facility for open tank and automatic waterer</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Lighting</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Loading chute and ramp </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Passage </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Drainage dimension</a:t>
            </a:r>
          </a:p>
          <a:p>
            <a:pPr marL="457200" indent="-457200">
              <a:buFont typeface="Wingdings" pitchFamily="2" charset="2"/>
              <a:buChar char="q"/>
            </a:pPr>
            <a:endParaRPr lang="en-US" sz="32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4A4545A2-24D4-3B38-BB93-4D4A235ABAA1}"/>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885DE8E3-AFE0-1628-A82C-8320F8856CA4}"/>
              </a:ext>
            </a:extLst>
          </p:cNvPr>
          <p:cNvSpPr>
            <a:spLocks noGrp="1"/>
          </p:cNvSpPr>
          <p:nvPr>
            <p:ph type="sldNum" sz="quarter" idx="12"/>
          </p:nvPr>
        </p:nvSpPr>
        <p:spPr/>
        <p:txBody>
          <a:bodyPr/>
          <a:lstStyle/>
          <a:p>
            <a:fld id="{D57F1E4F-1CFF-5643-939E-217C01CDF565}" type="slidenum">
              <a:rPr lang="en-US" smtClean="0"/>
              <a:pPr/>
              <a:t>22</a:t>
            </a:fld>
            <a:endParaRPr lang="en-US" dirty="0"/>
          </a:p>
        </p:txBody>
      </p:sp>
    </p:spTree>
    <p:extLst>
      <p:ext uri="{BB962C8B-B14F-4D97-AF65-F5344CB8AC3E}">
        <p14:creationId xmlns:p14="http://schemas.microsoft.com/office/powerpoint/2010/main" val="25785584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Minimum space requirement for cattle in loafing area.</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3 sq.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4 sq.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5 sq.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6 sq. 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8D926241-231D-50CD-4094-EA33B1584066}"/>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DCD93B40-C668-EEEF-122C-20E69DF1B6FB}"/>
              </a:ext>
            </a:extLst>
          </p:cNvPr>
          <p:cNvSpPr>
            <a:spLocks noGrp="1"/>
          </p:cNvSpPr>
          <p:nvPr>
            <p:ph type="sldNum" sz="quarter" idx="12"/>
          </p:nvPr>
        </p:nvSpPr>
        <p:spPr/>
        <p:txBody>
          <a:bodyPr/>
          <a:lstStyle/>
          <a:p>
            <a:fld id="{D57F1E4F-1CFF-5643-939E-217C01CDF565}" type="slidenum">
              <a:rPr lang="en-US" smtClean="0"/>
              <a:pPr/>
              <a:t>23</a:t>
            </a:fld>
            <a:endParaRPr lang="en-US" dirty="0"/>
          </a:p>
        </p:txBody>
      </p:sp>
    </p:spTree>
    <p:extLst>
      <p:ext uri="{BB962C8B-B14F-4D97-AF65-F5344CB8AC3E}">
        <p14:creationId xmlns:p14="http://schemas.microsoft.com/office/powerpoint/2010/main" val="1415527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It is a female between 2-3 years old which has not given birth.</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cow</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heifer</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calf</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bull</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C6DF2839-7C4A-99D6-3DBD-8D9835BA64AE}"/>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252BA0F8-F43F-3204-AB21-A12EABD10BCC}"/>
              </a:ext>
            </a:extLst>
          </p:cNvPr>
          <p:cNvSpPr>
            <a:spLocks noGrp="1"/>
          </p:cNvSpPr>
          <p:nvPr>
            <p:ph type="sldNum" sz="quarter" idx="12"/>
          </p:nvPr>
        </p:nvSpPr>
        <p:spPr/>
        <p:txBody>
          <a:bodyPr/>
          <a:lstStyle/>
          <a:p>
            <a:fld id="{D57F1E4F-1CFF-5643-939E-217C01CDF565}" type="slidenum">
              <a:rPr lang="en-US" smtClean="0"/>
              <a:pPr/>
              <a:t>24</a:t>
            </a:fld>
            <a:endParaRPr lang="en-US" dirty="0"/>
          </a:p>
        </p:txBody>
      </p:sp>
    </p:spTree>
    <p:extLst>
      <p:ext uri="{BB962C8B-B14F-4D97-AF65-F5344CB8AC3E}">
        <p14:creationId xmlns:p14="http://schemas.microsoft.com/office/powerpoint/2010/main" val="8331481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What is the minimum requirement for feeding for a cattle in feedlot?</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650 mm/animal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600 mm/animal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800 mm/animal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750 mm/animal</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C6D01275-3F95-7F19-B1C6-B721579063C1}"/>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E3917E52-3463-F280-CABC-B10C1D2CC38A}"/>
              </a:ext>
            </a:extLst>
          </p:cNvPr>
          <p:cNvSpPr>
            <a:spLocks noGrp="1"/>
          </p:cNvSpPr>
          <p:nvPr>
            <p:ph type="sldNum" sz="quarter" idx="12"/>
          </p:nvPr>
        </p:nvSpPr>
        <p:spPr/>
        <p:txBody>
          <a:bodyPr/>
          <a:lstStyle/>
          <a:p>
            <a:fld id="{D57F1E4F-1CFF-5643-939E-217C01CDF565}" type="slidenum">
              <a:rPr lang="en-US" smtClean="0"/>
              <a:pPr/>
              <a:t>25</a:t>
            </a:fld>
            <a:endParaRPr lang="en-US" dirty="0"/>
          </a:p>
        </p:txBody>
      </p:sp>
    </p:spTree>
    <p:extLst>
      <p:ext uri="{BB962C8B-B14F-4D97-AF65-F5344CB8AC3E}">
        <p14:creationId xmlns:p14="http://schemas.microsoft.com/office/powerpoint/2010/main" val="33510653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5264231"/>
          </a:xfrm>
          <a:prstGeom prst="rect">
            <a:avLst/>
          </a:prstGeom>
        </p:spPr>
        <p:txBody>
          <a:bodyPr vert="horz" lIns="91440" tIns="45720" rIns="91440" bIns="45720" rtlCol="0" anchor="t">
            <a:normAutofit fontScale="850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PAES 406:2001</a:t>
            </a:r>
          </a:p>
          <a:p>
            <a:r>
              <a:rPr lang="en-US" sz="4400" b="1" dirty="0">
                <a:solidFill>
                  <a:schemeClr val="accent1">
                    <a:lumMod val="50000"/>
                  </a:schemeClr>
                </a:solidFill>
                <a:latin typeface="Trebuchet MS" panose="020B0703020202090204" pitchFamily="34" charset="0"/>
              </a:rPr>
              <a:t>Cattle Ranch</a:t>
            </a:r>
          </a:p>
          <a:p>
            <a:endParaRPr lang="en-US" sz="4000" b="1" dirty="0">
              <a:solidFill>
                <a:srgbClr val="E18E2E"/>
              </a:solidFill>
              <a:latin typeface="Trebuchet MS" panose="020B0703020202090204" pitchFamily="34" charset="0"/>
            </a:endParaRP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Shall be constructed in a land with not more than 58% slope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Corral fence boards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Access alley space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Space requirement for holding pen (Table 1)</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Space requirement for crowding pen (Table 2)</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Working chute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Loading chute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Foot bath</a:t>
            </a:r>
          </a:p>
          <a:p>
            <a:pPr marL="457200" indent="-457200">
              <a:buFont typeface="Wingdings" pitchFamily="2" charset="2"/>
              <a:buChar char="q"/>
            </a:pPr>
            <a:endParaRPr lang="en-US" sz="32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E7BC94B0-8CA5-6006-0000-59EDCA92CA74}"/>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6D92B8FA-3DFD-B451-0ADD-C8A85DF53575}"/>
              </a:ext>
            </a:extLst>
          </p:cNvPr>
          <p:cNvSpPr>
            <a:spLocks noGrp="1"/>
          </p:cNvSpPr>
          <p:nvPr>
            <p:ph type="sldNum" sz="quarter" idx="12"/>
          </p:nvPr>
        </p:nvSpPr>
        <p:spPr/>
        <p:txBody>
          <a:bodyPr/>
          <a:lstStyle/>
          <a:p>
            <a:fld id="{D57F1E4F-1CFF-5643-939E-217C01CDF565}" type="slidenum">
              <a:rPr lang="en-US" smtClean="0"/>
              <a:pPr/>
              <a:t>26</a:t>
            </a:fld>
            <a:endParaRPr lang="en-US" dirty="0"/>
          </a:p>
        </p:txBody>
      </p:sp>
    </p:spTree>
    <p:extLst>
      <p:ext uri="{BB962C8B-B14F-4D97-AF65-F5344CB8AC3E}">
        <p14:creationId xmlns:p14="http://schemas.microsoft.com/office/powerpoint/2010/main" val="4276082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Alley shall be provided to bring the cattle from a pen or pasture to the holding pen. It shall be at least ___ meters wide and shall be laid-out to provide a desired  traffic flow. </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2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3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4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5 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C3B72D4E-C8D8-6B33-A0D0-5FE74A53388E}"/>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FDEE59F1-76AA-E5A0-7A38-1529172B1DEA}"/>
              </a:ext>
            </a:extLst>
          </p:cNvPr>
          <p:cNvSpPr>
            <a:spLocks noGrp="1"/>
          </p:cNvSpPr>
          <p:nvPr>
            <p:ph type="sldNum" sz="quarter" idx="12"/>
          </p:nvPr>
        </p:nvSpPr>
        <p:spPr/>
        <p:txBody>
          <a:bodyPr/>
          <a:lstStyle/>
          <a:p>
            <a:fld id="{D57F1E4F-1CFF-5643-939E-217C01CDF565}" type="slidenum">
              <a:rPr lang="en-US" smtClean="0"/>
              <a:pPr/>
              <a:t>27</a:t>
            </a:fld>
            <a:endParaRPr lang="en-US" dirty="0"/>
          </a:p>
        </p:txBody>
      </p:sp>
    </p:spTree>
    <p:extLst>
      <p:ext uri="{BB962C8B-B14F-4D97-AF65-F5344CB8AC3E}">
        <p14:creationId xmlns:p14="http://schemas.microsoft.com/office/powerpoint/2010/main" val="3494045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The fence height for Brahman and other exotic breeds in a cattle ranch shall be ____.</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1.7-1.8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1.8-2.0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1.5-1.7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2.0-2.2 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2DEE281A-F02B-4A59-99BF-7B47AC799B52}"/>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7D1C5CFE-4696-95AD-FEBE-A52764FD6A89}"/>
              </a:ext>
            </a:extLst>
          </p:cNvPr>
          <p:cNvSpPr>
            <a:spLocks noGrp="1"/>
          </p:cNvSpPr>
          <p:nvPr>
            <p:ph type="sldNum" sz="quarter" idx="12"/>
          </p:nvPr>
        </p:nvSpPr>
        <p:spPr/>
        <p:txBody>
          <a:bodyPr/>
          <a:lstStyle/>
          <a:p>
            <a:fld id="{D57F1E4F-1CFF-5643-939E-217C01CDF565}" type="slidenum">
              <a:rPr lang="en-US" smtClean="0"/>
              <a:pPr/>
              <a:t>28</a:t>
            </a:fld>
            <a:endParaRPr lang="en-US" dirty="0"/>
          </a:p>
        </p:txBody>
      </p:sp>
    </p:spTree>
    <p:extLst>
      <p:ext uri="{BB962C8B-B14F-4D97-AF65-F5344CB8AC3E}">
        <p14:creationId xmlns:p14="http://schemas.microsoft.com/office/powerpoint/2010/main" val="42697834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The location for a cattle ranch shall be in a land with not more than ___ of slope. </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50%</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54%</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58%</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60%</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83185EC4-9813-B194-9B92-253D8A5B4690}"/>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13405E6A-333D-9E3E-F3D1-A568D078300F}"/>
              </a:ext>
            </a:extLst>
          </p:cNvPr>
          <p:cNvSpPr>
            <a:spLocks noGrp="1"/>
          </p:cNvSpPr>
          <p:nvPr>
            <p:ph type="sldNum" sz="quarter" idx="12"/>
          </p:nvPr>
        </p:nvSpPr>
        <p:spPr/>
        <p:txBody>
          <a:bodyPr/>
          <a:lstStyle/>
          <a:p>
            <a:fld id="{D57F1E4F-1CFF-5643-939E-217C01CDF565}" type="slidenum">
              <a:rPr lang="en-US" smtClean="0"/>
              <a:pPr/>
              <a:t>29</a:t>
            </a:fld>
            <a:endParaRPr lang="en-US" dirty="0"/>
          </a:p>
        </p:txBody>
      </p:sp>
    </p:spTree>
    <p:extLst>
      <p:ext uri="{BB962C8B-B14F-4D97-AF65-F5344CB8AC3E}">
        <p14:creationId xmlns:p14="http://schemas.microsoft.com/office/powerpoint/2010/main" val="12674802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5264231"/>
          </a:xfrm>
          <a:prstGeom prst="rect">
            <a:avLst/>
          </a:prstGeom>
        </p:spPr>
        <p:txBody>
          <a:bodyPr vert="horz" lIns="91440" tIns="45720" rIns="91440" bIns="45720" rtlCol="0" anchor="t">
            <a:normAutofit fontScale="700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PAES 407:2001</a:t>
            </a:r>
          </a:p>
          <a:p>
            <a:r>
              <a:rPr lang="en-US" sz="4400" b="1" dirty="0">
                <a:solidFill>
                  <a:schemeClr val="accent1">
                    <a:lumMod val="50000"/>
                  </a:schemeClr>
                </a:solidFill>
                <a:latin typeface="Trebuchet MS" panose="020B0703020202090204" pitchFamily="34" charset="0"/>
              </a:rPr>
              <a:t>Housing for Dairy Cattle</a:t>
            </a:r>
          </a:p>
          <a:p>
            <a:endParaRPr lang="en-US" sz="4000" b="1" dirty="0">
              <a:solidFill>
                <a:srgbClr val="E18E2E"/>
              </a:solidFill>
              <a:latin typeface="Trebuchet MS" panose="020B0703020202090204" pitchFamily="34" charset="0"/>
            </a:endParaRP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Shall be constructed in an east-west orientation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Space requirement (Table 1)</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Floor thickness and slope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Roof slope of normal and indigenous materials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Pen wall</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Maternity pen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Calf pen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Feeding trough</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Feeding space requirement (Table 2)</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Watering trough</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Lighting</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Control alley</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Drainage dimension</a:t>
            </a:r>
          </a:p>
          <a:p>
            <a:pPr marL="457200" indent="-457200">
              <a:buFont typeface="Wingdings" pitchFamily="2" charset="2"/>
              <a:buChar char="q"/>
            </a:pPr>
            <a:endParaRPr lang="en-US" sz="32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263CE385-00A9-15D9-2786-AEA6F2D29A0D}"/>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B046E9C4-12C9-AB6C-D3B5-C25CDD07648E}"/>
              </a:ext>
            </a:extLst>
          </p:cNvPr>
          <p:cNvSpPr>
            <a:spLocks noGrp="1"/>
          </p:cNvSpPr>
          <p:nvPr>
            <p:ph type="sldNum" sz="quarter" idx="12"/>
          </p:nvPr>
        </p:nvSpPr>
        <p:spPr/>
        <p:txBody>
          <a:bodyPr/>
          <a:lstStyle/>
          <a:p>
            <a:fld id="{D57F1E4F-1CFF-5643-939E-217C01CDF565}" type="slidenum">
              <a:rPr lang="en-US" smtClean="0"/>
              <a:pPr/>
              <a:t>30</a:t>
            </a:fld>
            <a:endParaRPr lang="en-US" dirty="0"/>
          </a:p>
        </p:txBody>
      </p:sp>
    </p:spTree>
    <p:extLst>
      <p:ext uri="{BB962C8B-B14F-4D97-AF65-F5344CB8AC3E}">
        <p14:creationId xmlns:p14="http://schemas.microsoft.com/office/powerpoint/2010/main" val="42291904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Floor space requirement for a heifer of steer.</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2 sq. 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3 sq. 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4 sq. 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5 sq. m/animal</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DE506741-E78A-0312-23C9-6204DF6E733A}"/>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D01861B8-1D9B-4A1C-C388-CEF9060E67F0}"/>
              </a:ext>
            </a:extLst>
          </p:cNvPr>
          <p:cNvSpPr>
            <a:spLocks noGrp="1"/>
          </p:cNvSpPr>
          <p:nvPr>
            <p:ph type="sldNum" sz="quarter" idx="12"/>
          </p:nvPr>
        </p:nvSpPr>
        <p:spPr/>
        <p:txBody>
          <a:bodyPr/>
          <a:lstStyle/>
          <a:p>
            <a:fld id="{D57F1E4F-1CFF-5643-939E-217C01CDF565}" type="slidenum">
              <a:rPr lang="en-US" smtClean="0"/>
              <a:pPr/>
              <a:t>31</a:t>
            </a:fld>
            <a:endParaRPr lang="en-US" dirty="0"/>
          </a:p>
        </p:txBody>
      </p:sp>
    </p:spTree>
    <p:extLst>
      <p:ext uri="{BB962C8B-B14F-4D97-AF65-F5344CB8AC3E}">
        <p14:creationId xmlns:p14="http://schemas.microsoft.com/office/powerpoint/2010/main" val="25482413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Lighting intensity for feed storage area in housing for dairy cattle.</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200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30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130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70 lux</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EC7A75D9-401A-20D6-8B25-278338EAF75A}"/>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282B649A-DDA1-FAEF-9BA6-134C72C4B4DB}"/>
              </a:ext>
            </a:extLst>
          </p:cNvPr>
          <p:cNvSpPr>
            <a:spLocks noGrp="1"/>
          </p:cNvSpPr>
          <p:nvPr>
            <p:ph type="sldNum" sz="quarter" idx="12"/>
          </p:nvPr>
        </p:nvSpPr>
        <p:spPr/>
        <p:txBody>
          <a:bodyPr/>
          <a:lstStyle/>
          <a:p>
            <a:fld id="{D57F1E4F-1CFF-5643-939E-217C01CDF565}" type="slidenum">
              <a:rPr lang="en-US" smtClean="0"/>
              <a:pPr/>
              <a:t>32</a:t>
            </a:fld>
            <a:endParaRPr lang="en-US" dirty="0"/>
          </a:p>
        </p:txBody>
      </p:sp>
    </p:spTree>
    <p:extLst>
      <p:ext uri="{BB962C8B-B14F-4D97-AF65-F5344CB8AC3E}">
        <p14:creationId xmlns:p14="http://schemas.microsoft.com/office/powerpoint/2010/main" val="3002701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Feeding space requirement for calves (7 months to 1 year old).</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50 mm/animal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45 mm/animal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40 mm/animal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35 mm/animal</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681FD225-0DD0-227B-C6A5-A912F1228026}"/>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0C9E2E92-BC85-5824-C448-265125B59BAC}"/>
              </a:ext>
            </a:extLst>
          </p:cNvPr>
          <p:cNvSpPr>
            <a:spLocks noGrp="1"/>
          </p:cNvSpPr>
          <p:nvPr>
            <p:ph type="sldNum" sz="quarter" idx="12"/>
          </p:nvPr>
        </p:nvSpPr>
        <p:spPr/>
        <p:txBody>
          <a:bodyPr/>
          <a:lstStyle/>
          <a:p>
            <a:fld id="{D57F1E4F-1CFF-5643-939E-217C01CDF565}" type="slidenum">
              <a:rPr lang="en-US" smtClean="0"/>
              <a:pPr/>
              <a:t>33</a:t>
            </a:fld>
            <a:endParaRPr lang="en-US" dirty="0"/>
          </a:p>
        </p:txBody>
      </p:sp>
    </p:spTree>
    <p:extLst>
      <p:ext uri="{BB962C8B-B14F-4D97-AF65-F5344CB8AC3E}">
        <p14:creationId xmlns:p14="http://schemas.microsoft.com/office/powerpoint/2010/main" val="2824920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5264231"/>
          </a:xfrm>
          <a:prstGeom prst="rect">
            <a:avLst/>
          </a:prstGeom>
        </p:spPr>
        <p:txBody>
          <a:bodyPr vert="horz" lIns="91440" tIns="45720" rIns="91440" bIns="45720" rtlCol="0" anchor="t">
            <a:normAutofit fontScale="925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PAES 408:2001</a:t>
            </a:r>
          </a:p>
          <a:p>
            <a:r>
              <a:rPr lang="en-US" sz="4400" b="1" dirty="0">
                <a:solidFill>
                  <a:schemeClr val="accent1">
                    <a:lumMod val="50000"/>
                  </a:schemeClr>
                </a:solidFill>
                <a:latin typeface="Trebuchet MS" panose="020B0703020202090204" pitchFamily="34" charset="0"/>
              </a:rPr>
              <a:t>Carabao Feedlot</a:t>
            </a:r>
          </a:p>
          <a:p>
            <a:endParaRPr lang="en-US" sz="4000" b="1" dirty="0">
              <a:solidFill>
                <a:srgbClr val="E18E2E"/>
              </a:solidFill>
              <a:latin typeface="Trebuchet MS" panose="020B0703020202090204" pitchFamily="34" charset="0"/>
            </a:endParaRP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Space requirement (4 sq. m/carabao)</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Concrete and earth floor slope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Roof slope of normal and indigenous materials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Pen wall</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Feeding trough</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Open waterer tank</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Lighting</a:t>
            </a:r>
          </a:p>
          <a:p>
            <a:pPr marL="457200" indent="-457200">
              <a:buFont typeface="Wingdings" pitchFamily="2" charset="2"/>
              <a:buChar char="q"/>
            </a:pPr>
            <a:endParaRPr lang="en-US" sz="32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3F13ABAE-719B-FA31-A312-A7CBB8B1492D}"/>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C270B492-1489-554A-88C8-3C8B51DA36A6}"/>
              </a:ext>
            </a:extLst>
          </p:cNvPr>
          <p:cNvSpPr>
            <a:spLocks noGrp="1"/>
          </p:cNvSpPr>
          <p:nvPr>
            <p:ph type="sldNum" sz="quarter" idx="12"/>
          </p:nvPr>
        </p:nvSpPr>
        <p:spPr/>
        <p:txBody>
          <a:bodyPr/>
          <a:lstStyle/>
          <a:p>
            <a:fld id="{D57F1E4F-1CFF-5643-939E-217C01CDF565}" type="slidenum">
              <a:rPr lang="en-US" smtClean="0"/>
              <a:pPr/>
              <a:t>34</a:t>
            </a:fld>
            <a:endParaRPr lang="en-US" dirty="0"/>
          </a:p>
        </p:txBody>
      </p:sp>
    </p:spTree>
    <p:extLst>
      <p:ext uri="{BB962C8B-B14F-4D97-AF65-F5344CB8AC3E}">
        <p14:creationId xmlns:p14="http://schemas.microsoft.com/office/powerpoint/2010/main" val="37618167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Space requirement for a carabao feedlot.</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8 sq. m/carabao</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10 sq. m/carabao</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6 sq. m/carabao</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4 sq. m/carabao</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A530F4B6-5729-73EE-B7C3-E005D13E3AC5}"/>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F037269F-4CF9-9BBD-DF72-10825658A46C}"/>
              </a:ext>
            </a:extLst>
          </p:cNvPr>
          <p:cNvSpPr>
            <a:spLocks noGrp="1"/>
          </p:cNvSpPr>
          <p:nvPr>
            <p:ph type="sldNum" sz="quarter" idx="12"/>
          </p:nvPr>
        </p:nvSpPr>
        <p:spPr/>
        <p:txBody>
          <a:bodyPr/>
          <a:lstStyle/>
          <a:p>
            <a:fld id="{D57F1E4F-1CFF-5643-939E-217C01CDF565}" type="slidenum">
              <a:rPr lang="en-US" smtClean="0"/>
              <a:pPr/>
              <a:t>35</a:t>
            </a:fld>
            <a:endParaRPr lang="en-US" dirty="0"/>
          </a:p>
        </p:txBody>
      </p:sp>
    </p:spTree>
    <p:extLst>
      <p:ext uri="{BB962C8B-B14F-4D97-AF65-F5344CB8AC3E}">
        <p14:creationId xmlns:p14="http://schemas.microsoft.com/office/powerpoint/2010/main" val="58498732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773871" cy="5264231"/>
          </a:xfrm>
          <a:prstGeom prst="rect">
            <a:avLst/>
          </a:prstGeom>
        </p:spPr>
        <p:txBody>
          <a:bodyPr vert="horz" lIns="91440" tIns="45720" rIns="91440" bIns="45720" rtlCol="0" anchor="t">
            <a:normAutofit fontScale="700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PAES 409:2001</a:t>
            </a:r>
          </a:p>
          <a:p>
            <a:r>
              <a:rPr lang="en-US" sz="4400" b="1" dirty="0">
                <a:solidFill>
                  <a:schemeClr val="accent1">
                    <a:lumMod val="50000"/>
                  </a:schemeClr>
                </a:solidFill>
                <a:latin typeface="Trebuchet MS" panose="020B0703020202090204" pitchFamily="34" charset="0"/>
              </a:rPr>
              <a:t>Milking Parlor	</a:t>
            </a:r>
          </a:p>
          <a:p>
            <a:endParaRPr lang="en-US" sz="4000" b="1" dirty="0">
              <a:solidFill>
                <a:srgbClr val="E18E2E"/>
              </a:solidFill>
              <a:latin typeface="Trebuchet MS" panose="020B0703020202090204" pitchFamily="34" charset="0"/>
            </a:endParaRP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Shall be located 30 m away from lactating barn, max. distance shall not exceed 180 m if milking frequency is 3x a day, and 275 m if 2x a day</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Floor slope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Ceiling height</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Space requirement for holding area or wash pen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Entrance and exit alley </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Back-out stall</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Milking stall</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Space for milker/operator</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Number of milking stalls, machine, and operators (Table 1)</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Intensity of lighting for milking center (Table 2)</a:t>
            </a:r>
          </a:p>
          <a:p>
            <a:pPr marL="457200" indent="-457200">
              <a:buFont typeface="Wingdings" pitchFamily="2" charset="2"/>
              <a:buChar char="q"/>
            </a:pPr>
            <a:endParaRPr lang="en-US" sz="32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5C59D5A7-7CD9-73AF-F352-CCA77B7B5038}"/>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FB381E26-91DA-7EA3-84C3-6318FB8425D8}"/>
              </a:ext>
            </a:extLst>
          </p:cNvPr>
          <p:cNvSpPr>
            <a:spLocks noGrp="1"/>
          </p:cNvSpPr>
          <p:nvPr>
            <p:ph type="sldNum" sz="quarter" idx="12"/>
          </p:nvPr>
        </p:nvSpPr>
        <p:spPr/>
        <p:txBody>
          <a:bodyPr/>
          <a:lstStyle/>
          <a:p>
            <a:fld id="{D57F1E4F-1CFF-5643-939E-217C01CDF565}" type="slidenum">
              <a:rPr lang="en-US" smtClean="0"/>
              <a:pPr/>
              <a:t>36</a:t>
            </a:fld>
            <a:endParaRPr lang="en-US" dirty="0"/>
          </a:p>
        </p:txBody>
      </p:sp>
    </p:spTree>
    <p:extLst>
      <p:ext uri="{BB962C8B-B14F-4D97-AF65-F5344CB8AC3E}">
        <p14:creationId xmlns:p14="http://schemas.microsoft.com/office/powerpoint/2010/main" val="29792695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latin typeface="Trebuchet MS" panose="020B0703020202090204" pitchFamily="34" charset="0"/>
              </a:rPr>
              <a:t>If milking frequency is 3x a day, the milking parlor shall be located at ____ maximum distance away from lactating barn.</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200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180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275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100 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52F8CA04-53A0-217A-2392-F0D8AC845E10}"/>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030C6125-9C0E-DA3B-6C7D-49B8794D69DD}"/>
              </a:ext>
            </a:extLst>
          </p:cNvPr>
          <p:cNvSpPr>
            <a:spLocks noGrp="1"/>
          </p:cNvSpPr>
          <p:nvPr>
            <p:ph type="sldNum" sz="quarter" idx="12"/>
          </p:nvPr>
        </p:nvSpPr>
        <p:spPr/>
        <p:txBody>
          <a:bodyPr/>
          <a:lstStyle/>
          <a:p>
            <a:fld id="{D57F1E4F-1CFF-5643-939E-217C01CDF565}" type="slidenum">
              <a:rPr lang="en-US" smtClean="0"/>
              <a:pPr/>
              <a:t>37</a:t>
            </a:fld>
            <a:endParaRPr lang="en-US" dirty="0"/>
          </a:p>
        </p:txBody>
      </p:sp>
    </p:spTree>
    <p:extLst>
      <p:ext uri="{BB962C8B-B14F-4D97-AF65-F5344CB8AC3E}">
        <p14:creationId xmlns:p14="http://schemas.microsoft.com/office/powerpoint/2010/main" val="28345320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latin typeface="Trebuchet MS" panose="020B0703020202090204" pitchFamily="34" charset="0"/>
              </a:rPr>
              <a:t>Lighting intensity of ____ shall be provided for the milker/operator room.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100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200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150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500 lux</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4774FEAE-7F72-C8D1-C309-0FB70DEE1F18}"/>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AD3A8073-7370-C04D-5CB4-C40EB53053B3}"/>
              </a:ext>
            </a:extLst>
          </p:cNvPr>
          <p:cNvSpPr>
            <a:spLocks noGrp="1"/>
          </p:cNvSpPr>
          <p:nvPr>
            <p:ph type="sldNum" sz="quarter" idx="12"/>
          </p:nvPr>
        </p:nvSpPr>
        <p:spPr/>
        <p:txBody>
          <a:bodyPr/>
          <a:lstStyle/>
          <a:p>
            <a:fld id="{D57F1E4F-1CFF-5643-939E-217C01CDF565}" type="slidenum">
              <a:rPr lang="en-US" smtClean="0"/>
              <a:pPr/>
              <a:t>38</a:t>
            </a:fld>
            <a:endParaRPr lang="en-US" dirty="0"/>
          </a:p>
        </p:txBody>
      </p:sp>
    </p:spTree>
    <p:extLst>
      <p:ext uri="{BB962C8B-B14F-4D97-AF65-F5344CB8AC3E}">
        <p14:creationId xmlns:p14="http://schemas.microsoft.com/office/powerpoint/2010/main" val="1248533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latin typeface="Trebuchet MS" panose="020B0703020202090204" pitchFamily="34" charset="0"/>
              </a:rPr>
              <a:t>A milk tank should be installed with a capacity that is equivalent to a minimum of ___ days of milk production by the dairy animal herd during its peak production period.</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2.5 </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2.0</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3.5</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3.0</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4642E49F-B9C2-4CEB-6A1F-E25846EBC8BB}"/>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B5D6717C-A8ED-69D1-1282-8ACF5C293EFF}"/>
              </a:ext>
            </a:extLst>
          </p:cNvPr>
          <p:cNvSpPr>
            <a:spLocks noGrp="1"/>
          </p:cNvSpPr>
          <p:nvPr>
            <p:ph type="sldNum" sz="quarter" idx="12"/>
          </p:nvPr>
        </p:nvSpPr>
        <p:spPr/>
        <p:txBody>
          <a:bodyPr/>
          <a:lstStyle/>
          <a:p>
            <a:fld id="{D57F1E4F-1CFF-5643-939E-217C01CDF565}" type="slidenum">
              <a:rPr lang="en-US" smtClean="0"/>
              <a:pPr/>
              <a:t>39</a:t>
            </a:fld>
            <a:endParaRPr lang="en-US" dirty="0"/>
          </a:p>
        </p:txBody>
      </p:sp>
    </p:spTree>
    <p:extLst>
      <p:ext uri="{BB962C8B-B14F-4D97-AF65-F5344CB8AC3E}">
        <p14:creationId xmlns:p14="http://schemas.microsoft.com/office/powerpoint/2010/main" val="380566894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954344" cy="5312357"/>
          </a:xfrm>
          <a:prstGeom prst="rect">
            <a:avLst/>
          </a:prstGeom>
        </p:spPr>
        <p:txBody>
          <a:bodyPr vert="horz" lIns="91440" tIns="45720" rIns="91440" bIns="45720" rtlCol="0" anchor="t">
            <a:normAutofit fontScale="700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000" b="1" dirty="0">
                <a:solidFill>
                  <a:srgbClr val="E18E2E"/>
                </a:solidFill>
                <a:latin typeface="Trebuchet MS" panose="020B0703020202090204" pitchFamily="34" charset="0"/>
              </a:rPr>
              <a:t>PAES 410:2001</a:t>
            </a:r>
          </a:p>
          <a:p>
            <a:r>
              <a:rPr lang="en-US" sz="4000" b="1" dirty="0">
                <a:solidFill>
                  <a:schemeClr val="accent1">
                    <a:lumMod val="50000"/>
                  </a:schemeClr>
                </a:solidFill>
                <a:latin typeface="Trebuchet MS" panose="020B0703020202090204" pitchFamily="34" charset="0"/>
              </a:rPr>
              <a:t>Lairage for Swine, Small, and Large Animals</a:t>
            </a:r>
          </a:p>
          <a:p>
            <a:endParaRPr lang="en-US" sz="3800" b="1" dirty="0">
              <a:solidFill>
                <a:srgbClr val="E18E2E"/>
              </a:solidFill>
              <a:latin typeface="Trebuchet MS" panose="020B0703020202090204" pitchFamily="34" charset="0"/>
            </a:endParaRPr>
          </a:p>
          <a:p>
            <a:r>
              <a:rPr lang="en-US" sz="3800" b="1" dirty="0">
                <a:solidFill>
                  <a:srgbClr val="E18E2E"/>
                </a:solidFill>
                <a:latin typeface="Trebuchet MS" panose="020B0703020202090204" pitchFamily="34" charset="0"/>
              </a:rPr>
              <a:t>PNS/BAFS 308:2021/309:2021</a:t>
            </a:r>
          </a:p>
          <a:p>
            <a:r>
              <a:rPr lang="en-US" sz="3800" b="1" dirty="0">
                <a:solidFill>
                  <a:schemeClr val="accent1">
                    <a:lumMod val="50000"/>
                  </a:schemeClr>
                </a:solidFill>
                <a:latin typeface="Trebuchet MS" panose="020B0703020202090204" pitchFamily="34" charset="0"/>
              </a:rPr>
              <a:t>Agricultural Structures – Lairage</a:t>
            </a:r>
          </a:p>
          <a:p>
            <a:r>
              <a:rPr lang="en-US" sz="3800" b="1" dirty="0">
                <a:solidFill>
                  <a:schemeClr val="accent1">
                    <a:lumMod val="50000"/>
                  </a:schemeClr>
                </a:solidFill>
                <a:latin typeface="Trebuchet MS" panose="020B0703020202090204" pitchFamily="34" charset="0"/>
              </a:rPr>
              <a:t>Swine/Ruminant</a:t>
            </a:r>
          </a:p>
          <a:p>
            <a:endParaRPr lang="en-US" sz="4000" b="1" dirty="0">
              <a:solidFill>
                <a:srgbClr val="E18E2E"/>
              </a:solidFill>
              <a:latin typeface="Trebuchet MS" panose="020B0703020202090204" pitchFamily="34" charset="0"/>
            </a:endParaRP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Lairage shall be constructed at least 10 m away from slaughterhouse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Space requirement (Table 1)</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Dock and ramp specifications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Floor slope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Building wall/sidewall minimum height</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Ceiling height</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Automatic watering system</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Lighting Requirement</a:t>
            </a:r>
          </a:p>
          <a:p>
            <a:pPr marL="457200" indent="-457200">
              <a:buFont typeface="Wingdings" pitchFamily="2" charset="2"/>
              <a:buChar char="q"/>
            </a:pPr>
            <a:endParaRPr lang="en-US" sz="20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DA9687B3-4E0D-3C53-F5A5-F567F4CCD819}"/>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E0309AE6-BE6A-CEAF-616A-082CA9BB000B}"/>
              </a:ext>
            </a:extLst>
          </p:cNvPr>
          <p:cNvSpPr>
            <a:spLocks noGrp="1"/>
          </p:cNvSpPr>
          <p:nvPr>
            <p:ph type="sldNum" sz="quarter" idx="12"/>
          </p:nvPr>
        </p:nvSpPr>
        <p:spPr/>
        <p:txBody>
          <a:bodyPr/>
          <a:lstStyle/>
          <a:p>
            <a:fld id="{D57F1E4F-1CFF-5643-939E-217C01CDF565}" type="slidenum">
              <a:rPr lang="en-US" smtClean="0"/>
              <a:pPr/>
              <a:t>40</a:t>
            </a:fld>
            <a:endParaRPr lang="en-US" dirty="0"/>
          </a:p>
        </p:txBody>
      </p:sp>
    </p:spTree>
    <p:extLst>
      <p:ext uri="{BB962C8B-B14F-4D97-AF65-F5344CB8AC3E}">
        <p14:creationId xmlns:p14="http://schemas.microsoft.com/office/powerpoint/2010/main" val="29118037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latin typeface="Trebuchet MS" panose="020B0703020202090204" pitchFamily="34" charset="0"/>
              </a:rPr>
              <a:t>Lighting intensity provided for isolated pens.</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200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110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540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500 lux</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C996F9FA-7B90-BEEA-CB5B-E39D8A15F6E2}"/>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3CDA6AEE-A01A-3C2A-AA26-954FE35252FC}"/>
              </a:ext>
            </a:extLst>
          </p:cNvPr>
          <p:cNvSpPr>
            <a:spLocks noGrp="1"/>
          </p:cNvSpPr>
          <p:nvPr>
            <p:ph type="sldNum" sz="quarter" idx="12"/>
          </p:nvPr>
        </p:nvSpPr>
        <p:spPr/>
        <p:txBody>
          <a:bodyPr/>
          <a:lstStyle/>
          <a:p>
            <a:fld id="{D57F1E4F-1CFF-5643-939E-217C01CDF565}" type="slidenum">
              <a:rPr lang="en-US" smtClean="0"/>
              <a:pPr/>
              <a:t>41</a:t>
            </a:fld>
            <a:endParaRPr lang="en-US" dirty="0"/>
          </a:p>
        </p:txBody>
      </p:sp>
    </p:spTree>
    <p:extLst>
      <p:ext uri="{BB962C8B-B14F-4D97-AF65-F5344CB8AC3E}">
        <p14:creationId xmlns:p14="http://schemas.microsoft.com/office/powerpoint/2010/main" val="18911557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latin typeface="Trebuchet MS" panose="020B0703020202090204" pitchFamily="34" charset="0"/>
              </a:rPr>
              <a:t>Space requirement for swine of more than 100 kg in a lairage.</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0.7 sq. 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0.6 sq. 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0.56 sq. m/animal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0.5 sq. m/animal</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97CBE2DB-2FAC-3BB3-E308-56BD27DA6B9C}"/>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C6790A02-8595-3B7A-8CB7-6144B4AA4E9D}"/>
              </a:ext>
            </a:extLst>
          </p:cNvPr>
          <p:cNvSpPr>
            <a:spLocks noGrp="1"/>
          </p:cNvSpPr>
          <p:nvPr>
            <p:ph type="sldNum" sz="quarter" idx="12"/>
          </p:nvPr>
        </p:nvSpPr>
        <p:spPr/>
        <p:txBody>
          <a:bodyPr/>
          <a:lstStyle/>
          <a:p>
            <a:fld id="{D57F1E4F-1CFF-5643-939E-217C01CDF565}" type="slidenum">
              <a:rPr lang="en-US" smtClean="0"/>
              <a:pPr/>
              <a:t>42</a:t>
            </a:fld>
            <a:endParaRPr lang="en-US" dirty="0"/>
          </a:p>
        </p:txBody>
      </p:sp>
    </p:spTree>
    <p:extLst>
      <p:ext uri="{BB962C8B-B14F-4D97-AF65-F5344CB8AC3E}">
        <p14:creationId xmlns:p14="http://schemas.microsoft.com/office/powerpoint/2010/main" val="33991599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latin typeface="Trebuchet MS" panose="020B0703020202090204" pitchFamily="34" charset="0"/>
              </a:rPr>
              <a:t>The lairage for small and large animals shall be located at least ___ away from the slaughterhouse.</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20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50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10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30 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5A0EBB0A-08AD-D318-B1DC-4909EA2AB6FC}"/>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9A7C0AF4-C7A6-AFC7-E788-0E20C05C1CCD}"/>
              </a:ext>
            </a:extLst>
          </p:cNvPr>
          <p:cNvSpPr>
            <a:spLocks noGrp="1"/>
          </p:cNvSpPr>
          <p:nvPr>
            <p:ph type="sldNum" sz="quarter" idx="12"/>
          </p:nvPr>
        </p:nvSpPr>
        <p:spPr/>
        <p:txBody>
          <a:bodyPr/>
          <a:lstStyle/>
          <a:p>
            <a:fld id="{D57F1E4F-1CFF-5643-939E-217C01CDF565}" type="slidenum">
              <a:rPr lang="en-US" smtClean="0"/>
              <a:pPr/>
              <a:t>43</a:t>
            </a:fld>
            <a:endParaRPr lang="en-US" dirty="0"/>
          </a:p>
        </p:txBody>
      </p:sp>
    </p:spTree>
    <p:extLst>
      <p:ext uri="{BB962C8B-B14F-4D97-AF65-F5344CB8AC3E}">
        <p14:creationId xmlns:p14="http://schemas.microsoft.com/office/powerpoint/2010/main" val="6318323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866915" cy="5264231"/>
          </a:xfrm>
          <a:prstGeom prst="rect">
            <a:avLst/>
          </a:prstGeom>
        </p:spPr>
        <p:txBody>
          <a:bodyPr vert="horz" lIns="91440" tIns="45720" rIns="91440" bIns="45720" rtlCol="0" anchor="t">
            <a:normAutofit fontScale="700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PAES 411:2001</a:t>
            </a:r>
          </a:p>
          <a:p>
            <a:r>
              <a:rPr lang="en-US" sz="4400" b="1" dirty="0">
                <a:solidFill>
                  <a:schemeClr val="accent1">
                    <a:lumMod val="50000"/>
                  </a:schemeClr>
                </a:solidFill>
                <a:latin typeface="Trebuchet MS" panose="020B0703020202090204" pitchFamily="34" charset="0"/>
              </a:rPr>
              <a:t>Slaughter for Swine, Small, and Large Animals	</a:t>
            </a:r>
            <a:endParaRPr lang="en-US" sz="4000" b="1" dirty="0">
              <a:solidFill>
                <a:srgbClr val="E18E2E"/>
              </a:solidFill>
              <a:latin typeface="Trebuchet MS" panose="020B0703020202090204" pitchFamily="34" charset="0"/>
            </a:endParaRP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Classification (A, AA, AAA)</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Shall be on higher level than other surroundings (600 mm above adjacent ground), at least 200 m away from any factory, public road, public place, and 10 m away from river bank </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Space requirement for based on throughput (Table 1)</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Floor thickness, wall, ceiling, doorway, window</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Drainage requirements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Bleeding trough</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Minimum distance from the carcass suspension contact point to the floor (Table 2,3,4)</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Different area illumination and temperature requirement</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Noise limit</a:t>
            </a:r>
          </a:p>
          <a:p>
            <a:endParaRPr lang="en-US" sz="32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32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F4542185-186C-3872-2056-B44337047936}"/>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1027D46A-6707-3089-0BC0-3B9E1DCC1821}"/>
              </a:ext>
            </a:extLst>
          </p:cNvPr>
          <p:cNvSpPr>
            <a:spLocks noGrp="1"/>
          </p:cNvSpPr>
          <p:nvPr>
            <p:ph type="sldNum" sz="quarter" idx="12"/>
          </p:nvPr>
        </p:nvSpPr>
        <p:spPr/>
        <p:txBody>
          <a:bodyPr/>
          <a:lstStyle/>
          <a:p>
            <a:fld id="{D57F1E4F-1CFF-5643-939E-217C01CDF565}" type="slidenum">
              <a:rPr lang="en-US" smtClean="0"/>
              <a:pPr/>
              <a:t>44</a:t>
            </a:fld>
            <a:endParaRPr lang="en-US" dirty="0"/>
          </a:p>
        </p:txBody>
      </p:sp>
    </p:spTree>
    <p:extLst>
      <p:ext uri="{BB962C8B-B14F-4D97-AF65-F5344CB8AC3E}">
        <p14:creationId xmlns:p14="http://schemas.microsoft.com/office/powerpoint/2010/main" val="36812667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The slaughterhouse shall be located far from any building used for human habitation, and from any factory, public road or public place ______ and should be free from dust, odor, smoke, and other contaminants. </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at least 100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at least 200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at least 150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at least 300 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7B0F32E7-E5E3-D822-38E0-58D75E341C35}"/>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32DBBE5F-3FB2-D8B3-4CDB-31B7CC479F45}"/>
              </a:ext>
            </a:extLst>
          </p:cNvPr>
          <p:cNvSpPr>
            <a:spLocks noGrp="1"/>
          </p:cNvSpPr>
          <p:nvPr>
            <p:ph type="sldNum" sz="quarter" idx="12"/>
          </p:nvPr>
        </p:nvSpPr>
        <p:spPr/>
        <p:txBody>
          <a:bodyPr/>
          <a:lstStyle/>
          <a:p>
            <a:fld id="{D57F1E4F-1CFF-5643-939E-217C01CDF565}" type="slidenum">
              <a:rPr lang="en-US" smtClean="0"/>
              <a:pPr/>
              <a:t>45</a:t>
            </a:fld>
            <a:endParaRPr lang="en-US" dirty="0"/>
          </a:p>
        </p:txBody>
      </p:sp>
    </p:spTree>
    <p:extLst>
      <p:ext uri="{BB962C8B-B14F-4D97-AF65-F5344CB8AC3E}">
        <p14:creationId xmlns:p14="http://schemas.microsoft.com/office/powerpoint/2010/main" val="35575257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Area provided in a slaughterhouse for the emptying and cleansing of stomach and intestines.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Hide rooms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Dressing area</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Gut room/</a:t>
            </a:r>
            <a:r>
              <a:rPr lang="en-US" sz="2400" b="1" dirty="0" err="1">
                <a:solidFill>
                  <a:schemeClr val="accent1">
                    <a:lumMod val="50000"/>
                  </a:schemeClr>
                </a:solidFill>
                <a:ea typeface="Calibri" panose="020F0502020204030204" pitchFamily="34" charset="0"/>
                <a:cs typeface="Times New Roman" panose="02020603050405020304" pitchFamily="18" charset="0"/>
              </a:rPr>
              <a:t>tripery</a:t>
            </a:r>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Detained room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00DB1534-F525-3B4D-32F5-CC4A183BB867}"/>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AA25CB06-7F76-1CAE-4947-5EEF2335F55E}"/>
              </a:ext>
            </a:extLst>
          </p:cNvPr>
          <p:cNvSpPr>
            <a:spLocks noGrp="1"/>
          </p:cNvSpPr>
          <p:nvPr>
            <p:ph type="sldNum" sz="quarter" idx="12"/>
          </p:nvPr>
        </p:nvSpPr>
        <p:spPr/>
        <p:txBody>
          <a:bodyPr/>
          <a:lstStyle/>
          <a:p>
            <a:fld id="{D57F1E4F-1CFF-5643-939E-217C01CDF565}" type="slidenum">
              <a:rPr lang="en-US" smtClean="0"/>
              <a:pPr/>
              <a:t>46</a:t>
            </a:fld>
            <a:endParaRPr lang="en-US" dirty="0"/>
          </a:p>
        </p:txBody>
      </p:sp>
    </p:spTree>
    <p:extLst>
      <p:ext uri="{BB962C8B-B14F-4D97-AF65-F5344CB8AC3E}">
        <p14:creationId xmlns:p14="http://schemas.microsoft.com/office/powerpoint/2010/main" val="11020242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Maximum allowable noise limits of a slaughterhouse during night located in a noise sensitive place is ___.</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55 dB</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50 dB</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40 dB</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45 dB</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B9C8290E-9455-47C7-F07F-FFD05A290AA9}"/>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246181A7-E0F3-280E-A117-2DE3292DE5B3}"/>
              </a:ext>
            </a:extLst>
          </p:cNvPr>
          <p:cNvSpPr>
            <a:spLocks noGrp="1"/>
          </p:cNvSpPr>
          <p:nvPr>
            <p:ph type="sldNum" sz="quarter" idx="12"/>
          </p:nvPr>
        </p:nvSpPr>
        <p:spPr/>
        <p:txBody>
          <a:bodyPr/>
          <a:lstStyle/>
          <a:p>
            <a:fld id="{D57F1E4F-1CFF-5643-939E-217C01CDF565}" type="slidenum">
              <a:rPr lang="en-US" smtClean="0"/>
              <a:pPr/>
              <a:t>47</a:t>
            </a:fld>
            <a:endParaRPr lang="en-US" dirty="0"/>
          </a:p>
        </p:txBody>
      </p:sp>
    </p:spTree>
    <p:extLst>
      <p:ext uri="{BB962C8B-B14F-4D97-AF65-F5344CB8AC3E}">
        <p14:creationId xmlns:p14="http://schemas.microsoft.com/office/powerpoint/2010/main" val="5521149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866915" cy="5264231"/>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000" b="1" dirty="0">
                <a:solidFill>
                  <a:srgbClr val="E18E2E"/>
                </a:solidFill>
                <a:latin typeface="Trebuchet MS" panose="020B0703020202090204" pitchFamily="34" charset="0"/>
              </a:rPr>
              <a:t>PAES 412:2001</a:t>
            </a:r>
          </a:p>
          <a:p>
            <a:r>
              <a:rPr lang="en-US" sz="4000" b="1" dirty="0">
                <a:solidFill>
                  <a:schemeClr val="accent1">
                    <a:lumMod val="50000"/>
                  </a:schemeClr>
                </a:solidFill>
                <a:latin typeface="Trebuchet MS" panose="020B0703020202090204" pitchFamily="34" charset="0"/>
              </a:rPr>
              <a:t>Poultry Dressing Plant</a:t>
            </a:r>
          </a:p>
          <a:p>
            <a:r>
              <a:rPr lang="en-US" sz="4000" b="1" dirty="0">
                <a:solidFill>
                  <a:schemeClr val="accent1">
                    <a:lumMod val="50000"/>
                  </a:schemeClr>
                </a:solidFill>
                <a:latin typeface="Trebuchet MS" panose="020B0703020202090204" pitchFamily="34" charset="0"/>
              </a:rPr>
              <a:t>	</a:t>
            </a:r>
            <a:endParaRPr lang="en-US" b="1" dirty="0">
              <a:solidFill>
                <a:srgbClr val="E18E2E"/>
              </a:solidFill>
              <a:latin typeface="Trebuchet MS" panose="020B0703020202090204" pitchFamily="34" charset="0"/>
            </a:endParaRPr>
          </a:p>
          <a:p>
            <a:pPr marL="457200" indent="-457200">
              <a:buFont typeface="Wingdings" pitchFamily="2" charset="2"/>
              <a:buChar char="q"/>
            </a:pPr>
            <a:r>
              <a:rPr lang="en-US" sz="28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2800" b="1" dirty="0">
                <a:solidFill>
                  <a:schemeClr val="accent1">
                    <a:lumMod val="50000"/>
                  </a:schemeClr>
                </a:solidFill>
                <a:latin typeface="Trebuchet MS" panose="020B0703020202090204" pitchFamily="34" charset="0"/>
              </a:rPr>
              <a:t>Floor, walls, ceiling, doors</a:t>
            </a:r>
          </a:p>
          <a:p>
            <a:pPr marL="457200" indent="-457200">
              <a:buFont typeface="Wingdings" pitchFamily="2" charset="2"/>
              <a:buChar char="q"/>
            </a:pPr>
            <a:r>
              <a:rPr lang="en-US" sz="2800" b="1" dirty="0">
                <a:solidFill>
                  <a:schemeClr val="accent1">
                    <a:lumMod val="50000"/>
                  </a:schemeClr>
                </a:solidFill>
                <a:latin typeface="Trebuchet MS" panose="020B0703020202090204" pitchFamily="34" charset="0"/>
              </a:rPr>
              <a:t>Refrigeration (cold storage temperature)</a:t>
            </a:r>
          </a:p>
          <a:p>
            <a:pPr marL="457200" indent="-457200">
              <a:buFont typeface="Wingdings" pitchFamily="2" charset="2"/>
              <a:buChar char="q"/>
            </a:pPr>
            <a:r>
              <a:rPr lang="en-US" sz="2800" b="1" dirty="0">
                <a:solidFill>
                  <a:schemeClr val="accent1">
                    <a:lumMod val="50000"/>
                  </a:schemeClr>
                </a:solidFill>
                <a:latin typeface="Trebuchet MS" panose="020B0703020202090204" pitchFamily="34" charset="0"/>
              </a:rPr>
              <a:t>Different room lighting requirement (Table 1)</a:t>
            </a:r>
          </a:p>
          <a:p>
            <a:pPr marL="457200" indent="-457200">
              <a:buFont typeface="Wingdings" pitchFamily="2" charset="2"/>
              <a:buChar char="q"/>
            </a:pPr>
            <a:r>
              <a:rPr lang="en-US" sz="2800" b="1" dirty="0">
                <a:solidFill>
                  <a:schemeClr val="accent1">
                    <a:lumMod val="50000"/>
                  </a:schemeClr>
                </a:solidFill>
                <a:latin typeface="Trebuchet MS" panose="020B0703020202090204" pitchFamily="34" charset="0"/>
              </a:rPr>
              <a:t>Convenience outlet</a:t>
            </a:r>
          </a:p>
          <a:p>
            <a:pPr marL="457200" indent="-457200">
              <a:buFont typeface="Wingdings" pitchFamily="2" charset="2"/>
              <a:buChar char="q"/>
            </a:pPr>
            <a:r>
              <a:rPr lang="en-US" sz="2800" b="1" dirty="0">
                <a:solidFill>
                  <a:schemeClr val="accent1">
                    <a:lumMod val="50000"/>
                  </a:schemeClr>
                </a:solidFill>
                <a:latin typeface="Trebuchet MS" panose="020B0703020202090204" pitchFamily="34" charset="0"/>
              </a:rPr>
              <a:t>Drainage</a:t>
            </a:r>
          </a:p>
          <a:p>
            <a:pPr marL="457200" indent="-457200">
              <a:buFont typeface="Wingdings" pitchFamily="2" charset="2"/>
              <a:buChar char="q"/>
            </a:pPr>
            <a:endParaRPr lang="en-US" sz="3200" b="1" dirty="0">
              <a:solidFill>
                <a:schemeClr val="accent1">
                  <a:lumMod val="50000"/>
                </a:schemeClr>
              </a:solidFill>
              <a:latin typeface="Trebuchet MS" panose="020B0703020202090204" pitchFamily="34" charset="0"/>
            </a:endParaRPr>
          </a:p>
          <a:p>
            <a:endParaRPr lang="en-US" sz="32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32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CE360E40-D4B1-1FA2-C693-556CC853DAFD}"/>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5D750B73-2D6D-E84E-5E3F-0015ACEC7708}"/>
              </a:ext>
            </a:extLst>
          </p:cNvPr>
          <p:cNvSpPr>
            <a:spLocks noGrp="1"/>
          </p:cNvSpPr>
          <p:nvPr>
            <p:ph type="sldNum" sz="quarter" idx="12"/>
          </p:nvPr>
        </p:nvSpPr>
        <p:spPr/>
        <p:txBody>
          <a:bodyPr/>
          <a:lstStyle/>
          <a:p>
            <a:fld id="{D57F1E4F-1CFF-5643-939E-217C01CDF565}" type="slidenum">
              <a:rPr lang="en-US" smtClean="0"/>
              <a:pPr/>
              <a:t>48</a:t>
            </a:fld>
            <a:endParaRPr lang="en-US" dirty="0"/>
          </a:p>
        </p:txBody>
      </p:sp>
    </p:spTree>
    <p:extLst>
      <p:ext uri="{BB962C8B-B14F-4D97-AF65-F5344CB8AC3E}">
        <p14:creationId xmlns:p14="http://schemas.microsoft.com/office/powerpoint/2010/main" val="426625224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This is the process of removing the internal organs in a poultry dressing plant. </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Dressing</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Evisceration</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Shackling</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a:t>
            </a:r>
            <a:r>
              <a:rPr lang="en-US" sz="2400" b="1" dirty="0" err="1">
                <a:solidFill>
                  <a:schemeClr val="accent1">
                    <a:lumMod val="50000"/>
                  </a:schemeClr>
                </a:solidFill>
                <a:ea typeface="Calibri" panose="020F0502020204030204" pitchFamily="34" charset="0"/>
                <a:cs typeface="Times New Roman" panose="02020603050405020304" pitchFamily="18" charset="0"/>
              </a:rPr>
              <a:t>Carcassing</a:t>
            </a:r>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ED9A19AB-91D9-9FE8-F492-911A659D7901}"/>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38CCC398-3C0C-1A53-BFCA-9B6A015D752D}"/>
              </a:ext>
            </a:extLst>
          </p:cNvPr>
          <p:cNvSpPr>
            <a:spLocks noGrp="1"/>
          </p:cNvSpPr>
          <p:nvPr>
            <p:ph type="sldNum" sz="quarter" idx="12"/>
          </p:nvPr>
        </p:nvSpPr>
        <p:spPr/>
        <p:txBody>
          <a:bodyPr/>
          <a:lstStyle/>
          <a:p>
            <a:fld id="{D57F1E4F-1CFF-5643-939E-217C01CDF565}" type="slidenum">
              <a:rPr lang="en-US" smtClean="0"/>
              <a:pPr/>
              <a:t>49</a:t>
            </a:fld>
            <a:endParaRPr lang="en-US" dirty="0"/>
          </a:p>
        </p:txBody>
      </p:sp>
    </p:spTree>
    <p:extLst>
      <p:ext uri="{BB962C8B-B14F-4D97-AF65-F5344CB8AC3E}">
        <p14:creationId xmlns:p14="http://schemas.microsoft.com/office/powerpoint/2010/main" val="301440259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This cold storage inside the poultry dressing plant shall have an adequate capacity to maintain a temperature of ____ or less.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4</a:t>
            </a:r>
            <a:r>
              <a:rPr lang="en-US" sz="2400" b="1" baseline="30000" dirty="0">
                <a:solidFill>
                  <a:schemeClr val="accent1">
                    <a:lumMod val="50000"/>
                  </a:schemeClr>
                </a:solidFill>
                <a:ea typeface="Calibri" panose="020F0502020204030204" pitchFamily="34" charset="0"/>
                <a:cs typeface="Times New Roman" panose="02020603050405020304" pitchFamily="18" charset="0"/>
              </a:rPr>
              <a:t>o</a:t>
            </a:r>
            <a:r>
              <a:rPr lang="en-US" sz="2400" b="1" dirty="0">
                <a:solidFill>
                  <a:schemeClr val="accent1">
                    <a:lumMod val="50000"/>
                  </a:schemeClr>
                </a:solidFill>
                <a:ea typeface="Calibri" panose="020F0502020204030204" pitchFamily="34" charset="0"/>
                <a:cs typeface="Times New Roman" panose="02020603050405020304" pitchFamily="18" charset="0"/>
              </a:rPr>
              <a:t>C</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5</a:t>
            </a:r>
            <a:r>
              <a:rPr lang="en-US" sz="2400" b="1" baseline="30000" dirty="0">
                <a:solidFill>
                  <a:schemeClr val="accent1">
                    <a:lumMod val="50000"/>
                  </a:schemeClr>
                </a:solidFill>
                <a:ea typeface="Calibri" panose="020F0502020204030204" pitchFamily="34" charset="0"/>
                <a:cs typeface="Times New Roman" panose="02020603050405020304" pitchFamily="18" charset="0"/>
              </a:rPr>
              <a:t>o</a:t>
            </a:r>
            <a:r>
              <a:rPr lang="en-US" sz="2400" b="1" dirty="0">
                <a:solidFill>
                  <a:schemeClr val="accent1">
                    <a:lumMod val="50000"/>
                  </a:schemeClr>
                </a:solidFill>
                <a:ea typeface="Calibri" panose="020F0502020204030204" pitchFamily="34" charset="0"/>
                <a:cs typeface="Times New Roman" panose="02020603050405020304" pitchFamily="18" charset="0"/>
              </a:rPr>
              <a:t>C</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6</a:t>
            </a:r>
            <a:r>
              <a:rPr lang="en-US" sz="2400" b="1" baseline="30000" dirty="0">
                <a:solidFill>
                  <a:schemeClr val="accent1">
                    <a:lumMod val="50000"/>
                  </a:schemeClr>
                </a:solidFill>
                <a:ea typeface="Calibri" panose="020F0502020204030204" pitchFamily="34" charset="0"/>
                <a:cs typeface="Times New Roman" panose="02020603050405020304" pitchFamily="18" charset="0"/>
              </a:rPr>
              <a:t>o</a:t>
            </a:r>
            <a:r>
              <a:rPr lang="en-US" sz="2400" b="1" dirty="0">
                <a:solidFill>
                  <a:schemeClr val="accent1">
                    <a:lumMod val="50000"/>
                  </a:schemeClr>
                </a:solidFill>
                <a:ea typeface="Calibri" panose="020F0502020204030204" pitchFamily="34" charset="0"/>
                <a:cs typeface="Times New Roman" panose="02020603050405020304" pitchFamily="18" charset="0"/>
              </a:rPr>
              <a:t>C</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7</a:t>
            </a:r>
            <a:r>
              <a:rPr lang="en-US" sz="2400" b="1" baseline="30000" dirty="0">
                <a:solidFill>
                  <a:schemeClr val="accent1">
                    <a:lumMod val="50000"/>
                  </a:schemeClr>
                </a:solidFill>
                <a:ea typeface="Calibri" panose="020F0502020204030204" pitchFamily="34" charset="0"/>
                <a:cs typeface="Times New Roman" panose="02020603050405020304" pitchFamily="18" charset="0"/>
              </a:rPr>
              <a:t>o</a:t>
            </a:r>
            <a:r>
              <a:rPr lang="en-US" sz="2400" b="1" dirty="0">
                <a:solidFill>
                  <a:schemeClr val="accent1">
                    <a:lumMod val="50000"/>
                  </a:schemeClr>
                </a:solidFill>
                <a:ea typeface="Calibri" panose="020F0502020204030204" pitchFamily="34" charset="0"/>
                <a:cs typeface="Times New Roman" panose="02020603050405020304" pitchFamily="18" charset="0"/>
              </a:rPr>
              <a:t>C</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AF4B345D-BC7C-5A2D-9E9D-481D7A84E276}"/>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1315793E-EEAE-28DC-97E4-ECC2B57D2705}"/>
              </a:ext>
            </a:extLst>
          </p:cNvPr>
          <p:cNvSpPr>
            <a:spLocks noGrp="1"/>
          </p:cNvSpPr>
          <p:nvPr>
            <p:ph type="sldNum" sz="quarter" idx="12"/>
          </p:nvPr>
        </p:nvSpPr>
        <p:spPr/>
        <p:txBody>
          <a:bodyPr/>
          <a:lstStyle/>
          <a:p>
            <a:fld id="{D57F1E4F-1CFF-5643-939E-217C01CDF565}" type="slidenum">
              <a:rPr lang="en-US" smtClean="0"/>
              <a:pPr/>
              <a:t>50</a:t>
            </a:fld>
            <a:endParaRPr lang="en-US" dirty="0"/>
          </a:p>
        </p:txBody>
      </p:sp>
    </p:spTree>
    <p:extLst>
      <p:ext uri="{BB962C8B-B14F-4D97-AF65-F5344CB8AC3E}">
        <p14:creationId xmlns:p14="http://schemas.microsoft.com/office/powerpoint/2010/main" val="37669872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These are by-products, organs, glands and tissue other than meat of the food animal.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Carcass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Dress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Offal</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Internal organ</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4FEF2356-AFAF-F40A-6562-8068DDCCBF5B}"/>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4FAB7A5E-ECF5-BC6D-596C-371018B7E6F5}"/>
              </a:ext>
            </a:extLst>
          </p:cNvPr>
          <p:cNvSpPr>
            <a:spLocks noGrp="1"/>
          </p:cNvSpPr>
          <p:nvPr>
            <p:ph type="sldNum" sz="quarter" idx="12"/>
          </p:nvPr>
        </p:nvSpPr>
        <p:spPr/>
        <p:txBody>
          <a:bodyPr/>
          <a:lstStyle/>
          <a:p>
            <a:fld id="{D57F1E4F-1CFF-5643-939E-217C01CDF565}" type="slidenum">
              <a:rPr lang="en-US" smtClean="0"/>
              <a:pPr/>
              <a:t>51</a:t>
            </a:fld>
            <a:endParaRPr lang="en-US" dirty="0"/>
          </a:p>
        </p:txBody>
      </p:sp>
    </p:spTree>
    <p:extLst>
      <p:ext uri="{BB962C8B-B14F-4D97-AF65-F5344CB8AC3E}">
        <p14:creationId xmlns:p14="http://schemas.microsoft.com/office/powerpoint/2010/main" val="18576683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866915" cy="4807031"/>
          </a:xfrm>
          <a:prstGeom prst="rect">
            <a:avLst/>
          </a:prstGeom>
        </p:spPr>
        <p:txBody>
          <a:bodyPr vert="horz" lIns="91440" tIns="45720" rIns="91440" bIns="45720" rtlCol="0" anchor="t">
            <a:normAutofit fontScale="700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dirty="0">
                <a:solidFill>
                  <a:srgbClr val="E18E2E"/>
                </a:solidFill>
                <a:latin typeface="Trebuchet MS" panose="020B0703020202090204" pitchFamily="34" charset="0"/>
              </a:rPr>
              <a:t>PAES 413:2001</a:t>
            </a:r>
          </a:p>
          <a:p>
            <a:r>
              <a:rPr lang="en-US" sz="4400" b="1" dirty="0">
                <a:solidFill>
                  <a:schemeClr val="accent1">
                    <a:lumMod val="50000"/>
                  </a:schemeClr>
                </a:solidFill>
                <a:latin typeface="Trebuchet MS" panose="020B0703020202090204" pitchFamily="34" charset="0"/>
              </a:rPr>
              <a:t>Biogas Plant	</a:t>
            </a:r>
          </a:p>
          <a:p>
            <a:endParaRPr lang="en-US" sz="4000" b="1" dirty="0">
              <a:solidFill>
                <a:srgbClr val="E18E2E"/>
              </a:solidFill>
              <a:latin typeface="Trebuchet MS" panose="020B0703020202090204" pitchFamily="34" charset="0"/>
            </a:endParaRP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Estimated quantity of available manure (Table 1)</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Retention time for animal manure for mesophilic temperature range (Table 2)</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Digester volume formula (cu. m/day x retention time)</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Baffle board location</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Percent occupied by slurry and gas on each type of digester</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Free board</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Three digestion processes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Digestion process parameters optimization (temperature, pH value, nitrogen content, C:N ratio)</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Gas production potential (Table B.4, typical is 25 days)</a:t>
            </a:r>
          </a:p>
          <a:p>
            <a:pPr marL="457200" indent="-457200">
              <a:buFont typeface="Wingdings" pitchFamily="2" charset="2"/>
              <a:buChar char="q"/>
            </a:pPr>
            <a:r>
              <a:rPr lang="en-US" sz="3200" b="1" dirty="0">
                <a:solidFill>
                  <a:schemeClr val="accent1">
                    <a:lumMod val="50000"/>
                  </a:schemeClr>
                </a:solidFill>
                <a:latin typeface="Trebuchet MS" panose="020B0703020202090204" pitchFamily="34" charset="0"/>
              </a:rPr>
              <a:t>Annex E for formulae and sample computation</a:t>
            </a: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a:p>
            <a:pPr marL="457200" indent="-457200">
              <a:buFont typeface="Wingdings" pitchFamily="2" charset="2"/>
              <a:buChar char="q"/>
            </a:pPr>
            <a:endParaRPr lang="en-US" sz="28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67CA7BF8-FFBC-4706-2B29-B2081650CBFA}"/>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89158C61-1B60-2621-FDAE-E8A50915C3A6}"/>
              </a:ext>
            </a:extLst>
          </p:cNvPr>
          <p:cNvSpPr>
            <a:spLocks noGrp="1"/>
          </p:cNvSpPr>
          <p:nvPr>
            <p:ph type="sldNum" sz="quarter" idx="12"/>
          </p:nvPr>
        </p:nvSpPr>
        <p:spPr/>
        <p:txBody>
          <a:bodyPr/>
          <a:lstStyle/>
          <a:p>
            <a:fld id="{D57F1E4F-1CFF-5643-939E-217C01CDF565}" type="slidenum">
              <a:rPr lang="en-US" smtClean="0"/>
              <a:pPr/>
              <a:t>52</a:t>
            </a:fld>
            <a:endParaRPr lang="en-US" dirty="0"/>
          </a:p>
        </p:txBody>
      </p:sp>
    </p:spTree>
    <p:extLst>
      <p:ext uri="{BB962C8B-B14F-4D97-AF65-F5344CB8AC3E}">
        <p14:creationId xmlns:p14="http://schemas.microsoft.com/office/powerpoint/2010/main" val="3542037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Division in the digester that prevents the slurry from premature exit into the sludge/outlet tank.</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gas holder retainer</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baffle board</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filling line</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collecting tank</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1A7538E1-A689-B5F2-2640-66D8B566E265}"/>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4AF00868-4F8C-6DF3-908D-CCB953FC0B7E}"/>
              </a:ext>
            </a:extLst>
          </p:cNvPr>
          <p:cNvSpPr>
            <a:spLocks noGrp="1"/>
          </p:cNvSpPr>
          <p:nvPr>
            <p:ph type="sldNum" sz="quarter" idx="12"/>
          </p:nvPr>
        </p:nvSpPr>
        <p:spPr/>
        <p:txBody>
          <a:bodyPr/>
          <a:lstStyle/>
          <a:p>
            <a:fld id="{D57F1E4F-1CFF-5643-939E-217C01CDF565}" type="slidenum">
              <a:rPr lang="en-US" smtClean="0"/>
              <a:pPr/>
              <a:t>53</a:t>
            </a:fld>
            <a:endParaRPr lang="en-US" dirty="0"/>
          </a:p>
        </p:txBody>
      </p:sp>
    </p:spTree>
    <p:extLst>
      <p:ext uri="{BB962C8B-B14F-4D97-AF65-F5344CB8AC3E}">
        <p14:creationId xmlns:p14="http://schemas.microsoft.com/office/powerpoint/2010/main" val="212507508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Type of biogas plant which have aerobic conditions in the upper layers and anaerobic processes occurring in the bottom layers, especially in the settled solids.</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Aerobic biogas plant</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Anaerobic biogas plant</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Facultative biogas plant</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NOTA</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308D25F1-13DA-DD46-E142-BF5B80902BBD}"/>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A1395C52-1CA4-3EBE-72C0-8AB2995FA8CB}"/>
              </a:ext>
            </a:extLst>
          </p:cNvPr>
          <p:cNvSpPr>
            <a:spLocks noGrp="1"/>
          </p:cNvSpPr>
          <p:nvPr>
            <p:ph type="sldNum" sz="quarter" idx="12"/>
          </p:nvPr>
        </p:nvSpPr>
        <p:spPr/>
        <p:txBody>
          <a:bodyPr/>
          <a:lstStyle/>
          <a:p>
            <a:fld id="{D57F1E4F-1CFF-5643-939E-217C01CDF565}" type="slidenum">
              <a:rPr lang="en-US" smtClean="0"/>
              <a:pPr/>
              <a:t>54</a:t>
            </a:fld>
            <a:endParaRPr lang="en-US" dirty="0"/>
          </a:p>
        </p:txBody>
      </p:sp>
    </p:spTree>
    <p:extLst>
      <p:ext uri="{BB962C8B-B14F-4D97-AF65-F5344CB8AC3E}">
        <p14:creationId xmlns:p14="http://schemas.microsoft.com/office/powerpoint/2010/main" val="356525765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The pH value, as one of the digestion process parameters, should normally take on a value between ____ to avoid the medium to have a toxic effect on methanogenic bacteria.</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6.2-7 pH</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7-8.5 pH</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5-6.5 pH</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6-8.0 pH</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36D59317-54EC-DA96-83CD-C1077FCB9747}"/>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44A8AE6E-23D3-FF28-CF52-A890C8E30B9F}"/>
              </a:ext>
            </a:extLst>
          </p:cNvPr>
          <p:cNvSpPr>
            <a:spLocks noGrp="1"/>
          </p:cNvSpPr>
          <p:nvPr>
            <p:ph type="sldNum" sz="quarter" idx="12"/>
          </p:nvPr>
        </p:nvSpPr>
        <p:spPr/>
        <p:txBody>
          <a:bodyPr/>
          <a:lstStyle/>
          <a:p>
            <a:fld id="{D57F1E4F-1CFF-5643-939E-217C01CDF565}" type="slidenum">
              <a:rPr lang="en-US" smtClean="0"/>
              <a:pPr/>
              <a:t>55</a:t>
            </a:fld>
            <a:endParaRPr lang="en-US" dirty="0"/>
          </a:p>
        </p:txBody>
      </p:sp>
    </p:spTree>
    <p:extLst>
      <p:ext uri="{BB962C8B-B14F-4D97-AF65-F5344CB8AC3E}">
        <p14:creationId xmlns:p14="http://schemas.microsoft.com/office/powerpoint/2010/main" val="57875771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866915" cy="6178631"/>
          </a:xfrm>
          <a:prstGeom prst="rect">
            <a:avLst/>
          </a:prstGeom>
        </p:spPr>
        <p:txBody>
          <a:bodyPr vert="horz" lIns="91440" tIns="45720" rIns="91440" bIns="45720" rtlCol="0" anchor="t">
            <a:normAutofit fontScale="475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7000" b="1" dirty="0">
                <a:solidFill>
                  <a:srgbClr val="E18E2E"/>
                </a:solidFill>
                <a:latin typeface="Trebuchet MS" panose="020B0703020202090204" pitchFamily="34" charset="0"/>
              </a:rPr>
              <a:t>PAES 414-1:2001</a:t>
            </a:r>
          </a:p>
          <a:p>
            <a:r>
              <a:rPr lang="en-US" sz="7000" b="1" dirty="0">
                <a:solidFill>
                  <a:schemeClr val="accent1">
                    <a:lumMod val="50000"/>
                  </a:schemeClr>
                </a:solidFill>
                <a:latin typeface="Trebuchet MS" panose="020B0703020202090204" pitchFamily="34" charset="0"/>
              </a:rPr>
              <a:t>Waste Management Structures Part 1: Agricultural Liquid Waste</a:t>
            </a:r>
          </a:p>
          <a:p>
            <a:endParaRPr lang="en-US" sz="6000" b="1" dirty="0">
              <a:solidFill>
                <a:srgbClr val="E18E2E"/>
              </a:solidFill>
              <a:latin typeface="Trebuchet MS" panose="020B0703020202090204" pitchFamily="34" charset="0"/>
            </a:endParaRP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Shall be constructed on soils with at least 15% clay content</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Scrape alley </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Flush alley</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Gravity drain gutter</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Step-dam gutters</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Scrape gutters</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Flush gutters</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Run-off collection</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Reception pits</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Grit chamber</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Sedimentation tanks</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Storage tank</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Storage pond</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Anaerobic lagoon</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Free-water-surface and sub-surface-flow -constructed wetlands</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Sludge treatment</a:t>
            </a:r>
          </a:p>
          <a:p>
            <a:pPr marL="457200" indent="-457200">
              <a:buFont typeface="Wingdings" pitchFamily="2" charset="2"/>
              <a:buChar char="q"/>
            </a:pPr>
            <a:r>
              <a:rPr lang="en-US" sz="4000" b="1" dirty="0">
                <a:solidFill>
                  <a:schemeClr val="accent1">
                    <a:lumMod val="50000"/>
                  </a:schemeClr>
                </a:solidFill>
                <a:latin typeface="Trebuchet MS" panose="020B0703020202090204" pitchFamily="34" charset="0"/>
              </a:rPr>
              <a:t>Safety measures</a:t>
            </a:r>
          </a:p>
          <a:p>
            <a:endParaRPr lang="en-US" sz="32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9DAF083C-3F7D-D8C0-A78F-204FC99E9930}"/>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A462787D-6A8F-300C-C965-741021F28A98}"/>
              </a:ext>
            </a:extLst>
          </p:cNvPr>
          <p:cNvSpPr>
            <a:spLocks noGrp="1"/>
          </p:cNvSpPr>
          <p:nvPr>
            <p:ph type="sldNum" sz="quarter" idx="12"/>
          </p:nvPr>
        </p:nvSpPr>
        <p:spPr/>
        <p:txBody>
          <a:bodyPr/>
          <a:lstStyle/>
          <a:p>
            <a:fld id="{D57F1E4F-1CFF-5643-939E-217C01CDF565}" type="slidenum">
              <a:rPr lang="en-US" smtClean="0"/>
              <a:pPr/>
              <a:t>56</a:t>
            </a:fld>
            <a:endParaRPr lang="en-US" dirty="0"/>
          </a:p>
        </p:txBody>
      </p:sp>
    </p:spTree>
    <p:extLst>
      <p:ext uri="{BB962C8B-B14F-4D97-AF65-F5344CB8AC3E}">
        <p14:creationId xmlns:p14="http://schemas.microsoft.com/office/powerpoint/2010/main" val="17256061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The wastewater, either treated or untreated, discharged from a reservoir, basin or treatment plant</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Influent</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Effluent</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Turbid water</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NOTA</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C39AE8EB-98B4-6EB9-4B30-08C15CD05A5B}"/>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29637FD7-1AF0-F80B-F03F-5CA409EDD65B}"/>
              </a:ext>
            </a:extLst>
          </p:cNvPr>
          <p:cNvSpPr>
            <a:spLocks noGrp="1"/>
          </p:cNvSpPr>
          <p:nvPr>
            <p:ph type="sldNum" sz="quarter" idx="12"/>
          </p:nvPr>
        </p:nvSpPr>
        <p:spPr/>
        <p:txBody>
          <a:bodyPr/>
          <a:lstStyle/>
          <a:p>
            <a:fld id="{D57F1E4F-1CFF-5643-939E-217C01CDF565}" type="slidenum">
              <a:rPr lang="en-US" smtClean="0"/>
              <a:pPr/>
              <a:t>57</a:t>
            </a:fld>
            <a:endParaRPr lang="en-US" dirty="0"/>
          </a:p>
        </p:txBody>
      </p:sp>
    </p:spTree>
    <p:extLst>
      <p:ext uri="{BB962C8B-B14F-4D97-AF65-F5344CB8AC3E}">
        <p14:creationId xmlns:p14="http://schemas.microsoft.com/office/powerpoint/2010/main" val="215223927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Waste management structures shall be constructed on soils with at least ___ content.</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15% silt</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10% clay</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15% clay</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15% silt-clay</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29796D11-53CF-EEB0-E7B0-7395E5F5585F}"/>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62C36E02-1AEC-DEDD-CAFB-731972CDFB3B}"/>
              </a:ext>
            </a:extLst>
          </p:cNvPr>
          <p:cNvSpPr>
            <a:spLocks noGrp="1"/>
          </p:cNvSpPr>
          <p:nvPr>
            <p:ph type="sldNum" sz="quarter" idx="12"/>
          </p:nvPr>
        </p:nvSpPr>
        <p:spPr/>
        <p:txBody>
          <a:bodyPr/>
          <a:lstStyle/>
          <a:p>
            <a:fld id="{D57F1E4F-1CFF-5643-939E-217C01CDF565}" type="slidenum">
              <a:rPr lang="en-US" smtClean="0"/>
              <a:pPr/>
              <a:t>58</a:t>
            </a:fld>
            <a:endParaRPr lang="en-US" dirty="0"/>
          </a:p>
        </p:txBody>
      </p:sp>
    </p:spTree>
    <p:extLst>
      <p:ext uri="{BB962C8B-B14F-4D97-AF65-F5344CB8AC3E}">
        <p14:creationId xmlns:p14="http://schemas.microsoft.com/office/powerpoint/2010/main" val="395507261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Anaerobic lagoons shall have a freeboard of ___.</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0.2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0.3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0.4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0.5 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E7DEE672-ECBA-4699-45D8-21247C4804C0}"/>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CF8B4054-BB06-3228-D6DC-F86F6C895B99}"/>
              </a:ext>
            </a:extLst>
          </p:cNvPr>
          <p:cNvSpPr>
            <a:spLocks noGrp="1"/>
          </p:cNvSpPr>
          <p:nvPr>
            <p:ph type="sldNum" sz="quarter" idx="12"/>
          </p:nvPr>
        </p:nvSpPr>
        <p:spPr/>
        <p:txBody>
          <a:bodyPr/>
          <a:lstStyle/>
          <a:p>
            <a:fld id="{D57F1E4F-1CFF-5643-939E-217C01CDF565}" type="slidenum">
              <a:rPr lang="en-US" smtClean="0"/>
              <a:pPr/>
              <a:t>59</a:t>
            </a:fld>
            <a:endParaRPr lang="en-US" dirty="0"/>
          </a:p>
        </p:txBody>
      </p:sp>
    </p:spTree>
    <p:extLst>
      <p:ext uri="{BB962C8B-B14F-4D97-AF65-F5344CB8AC3E}">
        <p14:creationId xmlns:p14="http://schemas.microsoft.com/office/powerpoint/2010/main" val="32919910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866915" cy="6178631"/>
          </a:xfrm>
          <a:prstGeom prst="rect">
            <a:avLst/>
          </a:prstGeom>
        </p:spPr>
        <p:txBody>
          <a:bodyPr vert="horz" lIns="91440" tIns="45720" rIns="91440" bIns="45720" rtlCol="0" anchor="t">
            <a:normAutofit fontScale="475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7600" b="1" dirty="0">
                <a:solidFill>
                  <a:srgbClr val="E18E2E"/>
                </a:solidFill>
                <a:latin typeface="Trebuchet MS" panose="020B0703020202090204" pitchFamily="34" charset="0"/>
              </a:rPr>
              <a:t>PAES 414-2:2001</a:t>
            </a:r>
          </a:p>
          <a:p>
            <a:r>
              <a:rPr lang="en-US" sz="7600" b="1" dirty="0">
                <a:solidFill>
                  <a:schemeClr val="accent1">
                    <a:lumMod val="50000"/>
                  </a:schemeClr>
                </a:solidFill>
                <a:latin typeface="Trebuchet MS" panose="020B0703020202090204" pitchFamily="34" charset="0"/>
              </a:rPr>
              <a:t>Waste Management Structures Part 2: Agricultural Solid Waste - Composting</a:t>
            </a:r>
          </a:p>
          <a:p>
            <a:endParaRPr lang="en-US" sz="6700" b="1" dirty="0">
              <a:solidFill>
                <a:srgbClr val="E18E2E"/>
              </a:solidFill>
              <a:latin typeface="Trebuchet MS" panose="020B0703020202090204" pitchFamily="34" charset="0"/>
            </a:endParaRP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Shall be constructed on soils with at least 15% clay content</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Functional requirements</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Composting time (Table 1)</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C:N ratio (Table 2, typical cattle manure, cattle feedlot, dairy manure, pig manure, poultry manure, and other common crops like rice and corn)</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pH value</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Temperature control</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Aerobic condition</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Moisture content</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Particle size</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Windrow composting construction</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Aerated static pile construction</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In-vessel system construction</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Curing</a:t>
            </a:r>
          </a:p>
          <a:p>
            <a:pPr marL="457200" indent="-457200">
              <a:buFont typeface="Wingdings" pitchFamily="2" charset="2"/>
              <a:buChar char="q"/>
            </a:pPr>
            <a:endParaRPr lang="en-US" sz="4000" b="1" dirty="0">
              <a:solidFill>
                <a:schemeClr val="accent1">
                  <a:lumMod val="50000"/>
                </a:schemeClr>
              </a:solidFill>
              <a:latin typeface="Trebuchet MS" panose="020B0703020202090204" pitchFamily="34" charset="0"/>
            </a:endParaRPr>
          </a:p>
          <a:p>
            <a:endParaRPr lang="en-US" sz="32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1FF0ECFE-E6FC-11BF-7ED8-C4E8818032AF}"/>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C0A46C8F-A5F8-B204-A571-BD9A866F3BC4}"/>
              </a:ext>
            </a:extLst>
          </p:cNvPr>
          <p:cNvSpPr>
            <a:spLocks noGrp="1"/>
          </p:cNvSpPr>
          <p:nvPr>
            <p:ph type="sldNum" sz="quarter" idx="12"/>
          </p:nvPr>
        </p:nvSpPr>
        <p:spPr/>
        <p:txBody>
          <a:bodyPr/>
          <a:lstStyle/>
          <a:p>
            <a:fld id="{D57F1E4F-1CFF-5643-939E-217C01CDF565}" type="slidenum">
              <a:rPr lang="en-US" smtClean="0"/>
              <a:pPr/>
              <a:t>60</a:t>
            </a:fld>
            <a:endParaRPr lang="en-US" dirty="0"/>
          </a:p>
        </p:txBody>
      </p:sp>
    </p:spTree>
    <p:extLst>
      <p:ext uri="{BB962C8B-B14F-4D97-AF65-F5344CB8AC3E}">
        <p14:creationId xmlns:p14="http://schemas.microsoft.com/office/powerpoint/2010/main" val="159712326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Arrangement of compost mix in long, narrow piles that are periodically turned to maintain aerobic condition.</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windrow composting</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bin composting</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aerated static pile composting</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in-vessel composting</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A008BF1A-231C-9350-80A9-C49E4E668C52}"/>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93ABF801-ED72-DA37-7184-712380B197BA}"/>
              </a:ext>
            </a:extLst>
          </p:cNvPr>
          <p:cNvSpPr>
            <a:spLocks noGrp="1"/>
          </p:cNvSpPr>
          <p:nvPr>
            <p:ph type="sldNum" sz="quarter" idx="12"/>
          </p:nvPr>
        </p:nvSpPr>
        <p:spPr/>
        <p:txBody>
          <a:bodyPr/>
          <a:lstStyle/>
          <a:p>
            <a:fld id="{D57F1E4F-1CFF-5643-939E-217C01CDF565}" type="slidenum">
              <a:rPr lang="en-US" smtClean="0"/>
              <a:pPr/>
              <a:t>61</a:t>
            </a:fld>
            <a:endParaRPr lang="en-US" dirty="0"/>
          </a:p>
        </p:txBody>
      </p:sp>
    </p:spTree>
    <p:extLst>
      <p:ext uri="{BB962C8B-B14F-4D97-AF65-F5344CB8AC3E}">
        <p14:creationId xmlns:p14="http://schemas.microsoft.com/office/powerpoint/2010/main" val="7568874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C:N ratio for most agricultural solid wastes compost mix.</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30:1 and 40:1 </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25:1 and 30:1</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25:1 and 35:1</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25:1 and 40:1</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76F63497-846F-CA9F-46CA-5A77B30B0908}"/>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01EFA063-9599-1B5C-9FBB-47D711E8FF50}"/>
              </a:ext>
            </a:extLst>
          </p:cNvPr>
          <p:cNvSpPr>
            <a:spLocks noGrp="1"/>
          </p:cNvSpPr>
          <p:nvPr>
            <p:ph type="sldNum" sz="quarter" idx="12"/>
          </p:nvPr>
        </p:nvSpPr>
        <p:spPr/>
        <p:txBody>
          <a:bodyPr/>
          <a:lstStyle/>
          <a:p>
            <a:fld id="{D57F1E4F-1CFF-5643-939E-217C01CDF565}" type="slidenum">
              <a:rPr lang="en-US" smtClean="0"/>
              <a:pPr/>
              <a:t>62</a:t>
            </a:fld>
            <a:endParaRPr lang="en-US" dirty="0"/>
          </a:p>
        </p:txBody>
      </p:sp>
    </p:spTree>
    <p:extLst>
      <p:ext uri="{BB962C8B-B14F-4D97-AF65-F5344CB8AC3E}">
        <p14:creationId xmlns:p14="http://schemas.microsoft.com/office/powerpoint/2010/main" val="31143044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The moisture content of the composting agricultural solid wastes should be maintained at ___ to nourish composting bacteria.</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50-60%</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55-65%</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40-50%</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60-70%</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A1095F2F-685D-FB64-DB86-2945736775C4}"/>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9523A8FA-012A-552F-CC1E-506634453B3E}"/>
              </a:ext>
            </a:extLst>
          </p:cNvPr>
          <p:cNvSpPr>
            <a:spLocks noGrp="1"/>
          </p:cNvSpPr>
          <p:nvPr>
            <p:ph type="sldNum" sz="quarter" idx="12"/>
          </p:nvPr>
        </p:nvSpPr>
        <p:spPr/>
        <p:txBody>
          <a:bodyPr/>
          <a:lstStyle/>
          <a:p>
            <a:fld id="{D57F1E4F-1CFF-5643-939E-217C01CDF565}" type="slidenum">
              <a:rPr lang="en-US" smtClean="0"/>
              <a:pPr/>
              <a:t>63</a:t>
            </a:fld>
            <a:endParaRPr lang="en-US" dirty="0"/>
          </a:p>
        </p:txBody>
      </p:sp>
    </p:spTree>
    <p:extLst>
      <p:ext uri="{BB962C8B-B14F-4D97-AF65-F5344CB8AC3E}">
        <p14:creationId xmlns:p14="http://schemas.microsoft.com/office/powerpoint/2010/main" val="251965142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866915" cy="5937999"/>
          </a:xfrm>
          <a:prstGeom prst="rect">
            <a:avLst/>
          </a:prstGeom>
        </p:spPr>
        <p:txBody>
          <a:bodyPr vert="horz" lIns="91440" tIns="45720" rIns="91440" bIns="45720" rtlCol="0" anchor="t">
            <a:normAutofit fontScale="475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7600" b="1" dirty="0">
                <a:solidFill>
                  <a:srgbClr val="E18E2E"/>
                </a:solidFill>
                <a:latin typeface="Trebuchet MS" panose="020B0703020202090204" pitchFamily="34" charset="0"/>
              </a:rPr>
              <a:t>PAES 415:2001</a:t>
            </a:r>
          </a:p>
          <a:p>
            <a:r>
              <a:rPr lang="en-US" sz="7600" b="1" dirty="0">
                <a:solidFill>
                  <a:schemeClr val="accent1">
                    <a:lumMod val="50000"/>
                  </a:schemeClr>
                </a:solidFill>
                <a:latin typeface="Trebuchet MS" panose="020B0703020202090204" pitchFamily="34" charset="0"/>
              </a:rPr>
              <a:t>Greenhouses</a:t>
            </a:r>
          </a:p>
          <a:p>
            <a:endParaRPr lang="en-US" sz="6700" b="1" dirty="0">
              <a:solidFill>
                <a:srgbClr val="E18E2E"/>
              </a:solidFill>
              <a:latin typeface="Trebuchet MS" panose="020B0703020202090204" pitchFamily="34" charset="0"/>
            </a:endParaRP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Greenhouse classification (make sure to familiarize the picture of roof-shape)</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Shall be constructed in a north-south orientation</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Bench area requirement (access both sides, access one-side, air circulation space)</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Walkways (for determinate and indeterminate crops, primary and secondary aisles)</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Floor length and width</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Structure height</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Foundation (minimum depth)</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Frames and framing material</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Covering and covering materials</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Roof pitch</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Floor and walkway</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Ventilation and cooling systems (natural and mechanical)</a:t>
            </a:r>
          </a:p>
        </p:txBody>
      </p:sp>
      <p:sp>
        <p:nvSpPr>
          <p:cNvPr id="2" name="Footer Placeholder 1">
            <a:extLst>
              <a:ext uri="{FF2B5EF4-FFF2-40B4-BE49-F238E27FC236}">
                <a16:creationId xmlns:a16="http://schemas.microsoft.com/office/drawing/2014/main" id="{4E37CA05-1228-C346-9A2E-607283A5A210}"/>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E0E95B02-4DE9-2F93-F454-5FA5883D3436}"/>
              </a:ext>
            </a:extLst>
          </p:cNvPr>
          <p:cNvSpPr>
            <a:spLocks noGrp="1"/>
          </p:cNvSpPr>
          <p:nvPr>
            <p:ph type="sldNum" sz="quarter" idx="12"/>
          </p:nvPr>
        </p:nvSpPr>
        <p:spPr/>
        <p:txBody>
          <a:bodyPr/>
          <a:lstStyle/>
          <a:p>
            <a:fld id="{D57F1E4F-1CFF-5643-939E-217C01CDF565}" type="slidenum">
              <a:rPr lang="en-US" smtClean="0"/>
              <a:pPr/>
              <a:t>64</a:t>
            </a:fld>
            <a:endParaRPr lang="en-US" dirty="0"/>
          </a:p>
        </p:txBody>
      </p:sp>
    </p:spTree>
    <p:extLst>
      <p:ext uri="{BB962C8B-B14F-4D97-AF65-F5344CB8AC3E}">
        <p14:creationId xmlns:p14="http://schemas.microsoft.com/office/powerpoint/2010/main" val="170432816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Material in greenhouse that is less expensive, provides good protection from rain, and use less reinforcement.</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Glass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Screen</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Corrugated Plastic sheets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Polyethylene</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CB204021-9080-B5F2-D077-2561E42A16B9}"/>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21012110-B2F0-C045-B02F-1314A61A2431}"/>
              </a:ext>
            </a:extLst>
          </p:cNvPr>
          <p:cNvSpPr>
            <a:spLocks noGrp="1"/>
          </p:cNvSpPr>
          <p:nvPr>
            <p:ph type="sldNum" sz="quarter" idx="12"/>
          </p:nvPr>
        </p:nvSpPr>
        <p:spPr/>
        <p:txBody>
          <a:bodyPr/>
          <a:lstStyle/>
          <a:p>
            <a:fld id="{D57F1E4F-1CFF-5643-939E-217C01CDF565}" type="slidenum">
              <a:rPr lang="en-US" smtClean="0"/>
              <a:pPr/>
              <a:t>65</a:t>
            </a:fld>
            <a:endParaRPr lang="en-US" dirty="0"/>
          </a:p>
        </p:txBody>
      </p:sp>
    </p:spTree>
    <p:extLst>
      <p:ext uri="{BB962C8B-B14F-4D97-AF65-F5344CB8AC3E}">
        <p14:creationId xmlns:p14="http://schemas.microsoft.com/office/powerpoint/2010/main" val="359366306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An air circulation space of approximately ___ mm shall be allowed between the sidewall and the benches in greenhouse.</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150</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160</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170</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180</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F289E4B5-3830-FA77-EAAE-6A52A7CA160B}"/>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838E1FB3-465C-511A-9D22-46E20F901154}"/>
              </a:ext>
            </a:extLst>
          </p:cNvPr>
          <p:cNvSpPr>
            <a:spLocks noGrp="1"/>
          </p:cNvSpPr>
          <p:nvPr>
            <p:ph type="sldNum" sz="quarter" idx="12"/>
          </p:nvPr>
        </p:nvSpPr>
        <p:spPr/>
        <p:txBody>
          <a:bodyPr/>
          <a:lstStyle/>
          <a:p>
            <a:fld id="{D57F1E4F-1CFF-5643-939E-217C01CDF565}" type="slidenum">
              <a:rPr lang="en-US" smtClean="0"/>
              <a:pPr/>
              <a:t>66</a:t>
            </a:fld>
            <a:endParaRPr lang="en-US" dirty="0"/>
          </a:p>
        </p:txBody>
      </p:sp>
    </p:spTree>
    <p:extLst>
      <p:ext uri="{BB962C8B-B14F-4D97-AF65-F5344CB8AC3E}">
        <p14:creationId xmlns:p14="http://schemas.microsoft.com/office/powerpoint/2010/main" val="271811649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For mechanical ventilating system in a greenhouse, the fans should be spaced not more than ___ apart for uniform ventilation.</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5.5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6.5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7.5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8.5 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06755362-DA21-B94F-8B23-974B774DE701}"/>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C4151636-620C-9F66-8930-B0D77D3D6B1E}"/>
              </a:ext>
            </a:extLst>
          </p:cNvPr>
          <p:cNvSpPr>
            <a:spLocks noGrp="1"/>
          </p:cNvSpPr>
          <p:nvPr>
            <p:ph type="sldNum" sz="quarter" idx="12"/>
          </p:nvPr>
        </p:nvSpPr>
        <p:spPr/>
        <p:txBody>
          <a:bodyPr/>
          <a:lstStyle/>
          <a:p>
            <a:fld id="{D57F1E4F-1CFF-5643-939E-217C01CDF565}" type="slidenum">
              <a:rPr lang="en-US" smtClean="0"/>
              <a:pPr/>
              <a:t>67</a:t>
            </a:fld>
            <a:endParaRPr lang="en-US" dirty="0"/>
          </a:p>
        </p:txBody>
      </p:sp>
    </p:spTree>
    <p:extLst>
      <p:ext uri="{BB962C8B-B14F-4D97-AF65-F5344CB8AC3E}">
        <p14:creationId xmlns:p14="http://schemas.microsoft.com/office/powerpoint/2010/main" val="292854117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866915" cy="5937999"/>
          </a:xfrm>
          <a:prstGeom prst="rect">
            <a:avLst/>
          </a:prstGeom>
        </p:spPr>
        <p:txBody>
          <a:bodyPr vert="horz" lIns="91440" tIns="45720" rIns="91440" bIns="45720" rtlCol="0" anchor="t">
            <a:normAutofit fontScale="625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7000" b="1" dirty="0">
                <a:solidFill>
                  <a:srgbClr val="E18E2E"/>
                </a:solidFill>
                <a:latin typeface="Trebuchet MS" panose="020B0703020202090204" pitchFamily="34" charset="0"/>
              </a:rPr>
              <a:t>PAES 416:2001</a:t>
            </a:r>
          </a:p>
          <a:p>
            <a:r>
              <a:rPr lang="en-US" sz="7000" b="1" dirty="0">
                <a:solidFill>
                  <a:schemeClr val="accent1">
                    <a:lumMod val="50000"/>
                  </a:schemeClr>
                </a:solidFill>
                <a:latin typeface="Trebuchet MS" panose="020B0703020202090204" pitchFamily="34" charset="0"/>
              </a:rPr>
              <a:t>Plant Tissue Control Laboratory</a:t>
            </a:r>
          </a:p>
          <a:p>
            <a:endParaRPr lang="en-US" sz="6700" b="1" dirty="0">
              <a:solidFill>
                <a:srgbClr val="E18E2E"/>
              </a:solidFill>
              <a:latin typeface="Trebuchet MS" panose="020B0703020202090204" pitchFamily="34" charset="0"/>
            </a:endParaRP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Ceiling height</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Wall</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Window</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Doors</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Floor</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Aisle and passage</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Laboratory functions</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Lighting requirement (Table 1)</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Other facilities and equipment (water supply and drainage, ventilation)</a:t>
            </a:r>
          </a:p>
        </p:txBody>
      </p:sp>
      <p:sp>
        <p:nvSpPr>
          <p:cNvPr id="2" name="Footer Placeholder 1">
            <a:extLst>
              <a:ext uri="{FF2B5EF4-FFF2-40B4-BE49-F238E27FC236}">
                <a16:creationId xmlns:a16="http://schemas.microsoft.com/office/drawing/2014/main" id="{A55B0482-00A9-9349-4AC8-1EE23603C845}"/>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829965A1-E6AC-9251-B81C-B880E7E53DD3}"/>
              </a:ext>
            </a:extLst>
          </p:cNvPr>
          <p:cNvSpPr>
            <a:spLocks noGrp="1"/>
          </p:cNvSpPr>
          <p:nvPr>
            <p:ph type="sldNum" sz="quarter" idx="12"/>
          </p:nvPr>
        </p:nvSpPr>
        <p:spPr/>
        <p:txBody>
          <a:bodyPr/>
          <a:lstStyle/>
          <a:p>
            <a:fld id="{D57F1E4F-1CFF-5643-939E-217C01CDF565}" type="slidenum">
              <a:rPr lang="en-US" smtClean="0"/>
              <a:pPr/>
              <a:t>68</a:t>
            </a:fld>
            <a:endParaRPr lang="en-US" dirty="0"/>
          </a:p>
        </p:txBody>
      </p:sp>
    </p:spTree>
    <p:extLst>
      <p:ext uri="{BB962C8B-B14F-4D97-AF65-F5344CB8AC3E}">
        <p14:creationId xmlns:p14="http://schemas.microsoft.com/office/powerpoint/2010/main" val="369873722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This refers to the growth of protoplasts, cells, tissues, shoot tips, etc.</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Culture medium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Tissue culture</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Asepsis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Incubation</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8DB66BBC-A3D9-055B-88D4-C1DEF19AD00E}"/>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2488DE88-2B2F-2FA7-AE1C-F424B2979311}"/>
              </a:ext>
            </a:extLst>
          </p:cNvPr>
          <p:cNvSpPr>
            <a:spLocks noGrp="1"/>
          </p:cNvSpPr>
          <p:nvPr>
            <p:ph type="sldNum" sz="quarter" idx="12"/>
          </p:nvPr>
        </p:nvSpPr>
        <p:spPr/>
        <p:txBody>
          <a:bodyPr/>
          <a:lstStyle/>
          <a:p>
            <a:fld id="{D57F1E4F-1CFF-5643-939E-217C01CDF565}" type="slidenum">
              <a:rPr lang="en-US" smtClean="0"/>
              <a:pPr/>
              <a:t>69</a:t>
            </a:fld>
            <a:endParaRPr lang="en-US" dirty="0"/>
          </a:p>
        </p:txBody>
      </p:sp>
    </p:spTree>
    <p:extLst>
      <p:ext uri="{BB962C8B-B14F-4D97-AF65-F5344CB8AC3E}">
        <p14:creationId xmlns:p14="http://schemas.microsoft.com/office/powerpoint/2010/main" val="347625610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Lighting intensity in growth room in pant tissue control laboratory.</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50-500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100-1000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200-1200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500-1500 lux</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BF1863A3-0F06-D950-2C60-CE677F32A7B6}"/>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DCA8577F-EFE5-BD25-96AC-DD52EBF154BE}"/>
              </a:ext>
            </a:extLst>
          </p:cNvPr>
          <p:cNvSpPr>
            <a:spLocks noGrp="1"/>
          </p:cNvSpPr>
          <p:nvPr>
            <p:ph type="sldNum" sz="quarter" idx="12"/>
          </p:nvPr>
        </p:nvSpPr>
        <p:spPr/>
        <p:txBody>
          <a:bodyPr/>
          <a:lstStyle/>
          <a:p>
            <a:fld id="{D57F1E4F-1CFF-5643-939E-217C01CDF565}" type="slidenum">
              <a:rPr lang="en-US" smtClean="0"/>
              <a:pPr/>
              <a:t>70</a:t>
            </a:fld>
            <a:endParaRPr lang="en-US" dirty="0"/>
          </a:p>
        </p:txBody>
      </p:sp>
    </p:spTree>
    <p:extLst>
      <p:ext uri="{BB962C8B-B14F-4D97-AF65-F5344CB8AC3E}">
        <p14:creationId xmlns:p14="http://schemas.microsoft.com/office/powerpoint/2010/main" val="38716082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866915" cy="5937999"/>
          </a:xfrm>
          <a:prstGeom prst="rect">
            <a:avLst/>
          </a:prstGeom>
        </p:spPr>
        <p:txBody>
          <a:bodyPr vert="horz" lIns="91440" tIns="45720" rIns="91440" bIns="45720" rtlCol="0" anchor="t">
            <a:normAutofit fontScale="700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6300" b="1" dirty="0">
                <a:solidFill>
                  <a:srgbClr val="E18E2E"/>
                </a:solidFill>
                <a:latin typeface="Trebuchet MS" panose="020B0703020202090204" pitchFamily="34" charset="0"/>
              </a:rPr>
              <a:t>PAES 417:2001</a:t>
            </a:r>
          </a:p>
          <a:p>
            <a:r>
              <a:rPr lang="en-US" sz="6300" b="1" dirty="0">
                <a:solidFill>
                  <a:schemeClr val="accent1">
                    <a:lumMod val="50000"/>
                  </a:schemeClr>
                </a:solidFill>
                <a:latin typeface="Trebuchet MS" panose="020B0703020202090204" pitchFamily="34" charset="0"/>
              </a:rPr>
              <a:t>Fruit and Vegetable Storage</a:t>
            </a:r>
          </a:p>
          <a:p>
            <a:endParaRPr lang="en-US" sz="6700" b="1" dirty="0">
              <a:solidFill>
                <a:srgbClr val="E18E2E"/>
              </a:solidFill>
              <a:latin typeface="Trebuchet MS" panose="020B0703020202090204" pitchFamily="34" charset="0"/>
            </a:endParaRP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Space requirements (Table 1)</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Ceiling</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Wall</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Doors</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Access</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Floor</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Piling system </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Ventilation (Table 2)</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Insulation (Table 3)</a:t>
            </a:r>
          </a:p>
          <a:p>
            <a:pPr marL="457200" indent="-457200">
              <a:buFont typeface="Wingdings" pitchFamily="2" charset="2"/>
              <a:buChar char="q"/>
            </a:pPr>
            <a:r>
              <a:rPr lang="en-US" sz="4200" b="1" dirty="0">
                <a:solidFill>
                  <a:schemeClr val="accent1">
                    <a:lumMod val="50000"/>
                  </a:schemeClr>
                </a:solidFill>
                <a:latin typeface="Trebuchet MS" panose="020B0703020202090204" pitchFamily="34" charset="0"/>
              </a:rPr>
              <a:t>Lighting (Table 4)</a:t>
            </a:r>
          </a:p>
        </p:txBody>
      </p:sp>
      <p:sp>
        <p:nvSpPr>
          <p:cNvPr id="2" name="Footer Placeholder 1">
            <a:extLst>
              <a:ext uri="{FF2B5EF4-FFF2-40B4-BE49-F238E27FC236}">
                <a16:creationId xmlns:a16="http://schemas.microsoft.com/office/drawing/2014/main" id="{A0E11883-0A82-AE21-CD8C-E3B82B9D7600}"/>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3961FFA2-627E-8CA5-FE1A-3F4C18D92494}"/>
              </a:ext>
            </a:extLst>
          </p:cNvPr>
          <p:cNvSpPr>
            <a:spLocks noGrp="1"/>
          </p:cNvSpPr>
          <p:nvPr>
            <p:ph type="sldNum" sz="quarter" idx="12"/>
          </p:nvPr>
        </p:nvSpPr>
        <p:spPr/>
        <p:txBody>
          <a:bodyPr/>
          <a:lstStyle/>
          <a:p>
            <a:fld id="{D57F1E4F-1CFF-5643-939E-217C01CDF565}" type="slidenum">
              <a:rPr lang="en-US" smtClean="0"/>
              <a:pPr/>
              <a:t>71</a:t>
            </a:fld>
            <a:endParaRPr lang="en-US" dirty="0"/>
          </a:p>
        </p:txBody>
      </p:sp>
    </p:spTree>
    <p:extLst>
      <p:ext uri="{BB962C8B-B14F-4D97-AF65-F5344CB8AC3E}">
        <p14:creationId xmlns:p14="http://schemas.microsoft.com/office/powerpoint/2010/main" val="35563415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Low portable platform made of wood or plastic or metal or combination to facilitate handling, storage, or transport of materials as a unit load using a forklift. </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pallet bin storage</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bulk storage</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bin</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pallet</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02B5D4BD-5FA0-6AE3-A215-57AD52045E0B}"/>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19D02BC6-3C74-352E-8AA3-172355390A3D}"/>
              </a:ext>
            </a:extLst>
          </p:cNvPr>
          <p:cNvSpPr>
            <a:spLocks noGrp="1"/>
          </p:cNvSpPr>
          <p:nvPr>
            <p:ph type="sldNum" sz="quarter" idx="12"/>
          </p:nvPr>
        </p:nvSpPr>
        <p:spPr/>
        <p:txBody>
          <a:bodyPr/>
          <a:lstStyle/>
          <a:p>
            <a:fld id="{D57F1E4F-1CFF-5643-939E-217C01CDF565}" type="slidenum">
              <a:rPr lang="en-US" smtClean="0"/>
              <a:pPr/>
              <a:t>72</a:t>
            </a:fld>
            <a:endParaRPr lang="en-US" dirty="0"/>
          </a:p>
        </p:txBody>
      </p:sp>
    </p:spTree>
    <p:extLst>
      <p:ext uri="{BB962C8B-B14F-4D97-AF65-F5344CB8AC3E}">
        <p14:creationId xmlns:p14="http://schemas.microsoft.com/office/powerpoint/2010/main" val="197354585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What is the bulk density for bulk storage of potatoes? </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600 kg/cu.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500 kg/cu.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670 kg/cu.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570 kg/cu. 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023E7C14-177C-B22A-FFB8-96200A45B0F9}"/>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2F19C762-8BBE-19E0-BC14-9246730BAAAC}"/>
              </a:ext>
            </a:extLst>
          </p:cNvPr>
          <p:cNvSpPr>
            <a:spLocks noGrp="1"/>
          </p:cNvSpPr>
          <p:nvPr>
            <p:ph type="sldNum" sz="quarter" idx="12"/>
          </p:nvPr>
        </p:nvSpPr>
        <p:spPr/>
        <p:txBody>
          <a:bodyPr/>
          <a:lstStyle/>
          <a:p>
            <a:fld id="{D57F1E4F-1CFF-5643-939E-217C01CDF565}" type="slidenum">
              <a:rPr lang="en-US" smtClean="0"/>
              <a:pPr/>
              <a:t>73</a:t>
            </a:fld>
            <a:endParaRPr lang="en-US" dirty="0"/>
          </a:p>
        </p:txBody>
      </p:sp>
    </p:spTree>
    <p:extLst>
      <p:ext uri="{BB962C8B-B14F-4D97-AF65-F5344CB8AC3E}">
        <p14:creationId xmlns:p14="http://schemas.microsoft.com/office/powerpoint/2010/main" val="339627057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Recommended ventilation for onions in fruit and vegetable storage.</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20-30 (L/s)/ton</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10-12 (L/s)/ton</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6-10 (L/s)/ton</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a:t>
            </a:r>
            <a:r>
              <a:rPr lang="en-US" sz="2400" b="1">
                <a:solidFill>
                  <a:schemeClr val="accent1">
                    <a:lumMod val="50000"/>
                  </a:schemeClr>
                </a:solidFill>
                <a:ea typeface="Calibri" panose="020F0502020204030204" pitchFamily="34" charset="0"/>
                <a:cs typeface="Times New Roman" panose="02020603050405020304" pitchFamily="18" charset="0"/>
              </a:rPr>
              <a:t>15-20 (L/s)/ton</a:t>
            </a:r>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876AB1AA-A716-A42F-9A7D-844469EEE6C0}"/>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E5DE2E71-5E87-228F-0955-B85FD96526A6}"/>
              </a:ext>
            </a:extLst>
          </p:cNvPr>
          <p:cNvSpPr>
            <a:spLocks noGrp="1"/>
          </p:cNvSpPr>
          <p:nvPr>
            <p:ph type="sldNum" sz="quarter" idx="12"/>
          </p:nvPr>
        </p:nvSpPr>
        <p:spPr/>
        <p:txBody>
          <a:bodyPr/>
          <a:lstStyle/>
          <a:p>
            <a:fld id="{D57F1E4F-1CFF-5643-939E-217C01CDF565}" type="slidenum">
              <a:rPr lang="en-US" smtClean="0"/>
              <a:pPr/>
              <a:t>74</a:t>
            </a:fld>
            <a:endParaRPr lang="en-US" dirty="0"/>
          </a:p>
        </p:txBody>
      </p:sp>
    </p:spTree>
    <p:extLst>
      <p:ext uri="{BB962C8B-B14F-4D97-AF65-F5344CB8AC3E}">
        <p14:creationId xmlns:p14="http://schemas.microsoft.com/office/powerpoint/2010/main" val="172883220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866915" cy="5937999"/>
          </a:xfrm>
          <a:prstGeom prst="rect">
            <a:avLst/>
          </a:prstGeom>
        </p:spPr>
        <p:txBody>
          <a:bodyPr vert="horz" lIns="91440" tIns="45720" rIns="91440" bIns="45720" rtlCol="0" anchor="t">
            <a:normAutofit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3900" b="1" dirty="0">
                <a:solidFill>
                  <a:srgbClr val="E18E2E"/>
                </a:solidFill>
                <a:latin typeface="Trebuchet MS" panose="020B0703020202090204" pitchFamily="34" charset="0"/>
              </a:rPr>
              <a:t>PAES 418:2001</a:t>
            </a:r>
          </a:p>
          <a:p>
            <a:r>
              <a:rPr lang="en-US" sz="3900" b="1" dirty="0">
                <a:solidFill>
                  <a:schemeClr val="accent1">
                    <a:lumMod val="50000"/>
                  </a:schemeClr>
                </a:solidFill>
                <a:latin typeface="Trebuchet MS" panose="020B0703020202090204" pitchFamily="34" charset="0"/>
              </a:rPr>
              <a:t>Primary Processing Plant for Fresh Fruit and Vegetable</a:t>
            </a:r>
          </a:p>
          <a:p>
            <a:endParaRPr lang="en-US" sz="4000" b="1" dirty="0">
              <a:solidFill>
                <a:srgbClr val="E18E2E"/>
              </a:solidFill>
              <a:latin typeface="Trebuchet MS" panose="020B0703020202090204" pitchFamily="34" charset="0"/>
            </a:endParaRPr>
          </a:p>
          <a:p>
            <a:pPr marL="457200" indent="-457200">
              <a:buFont typeface="Wingdings" pitchFamily="2" charset="2"/>
              <a:buChar char="q"/>
            </a:pPr>
            <a:r>
              <a:rPr lang="en-US" sz="30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3000" b="1" dirty="0">
                <a:solidFill>
                  <a:schemeClr val="accent1">
                    <a:lumMod val="50000"/>
                  </a:schemeClr>
                </a:solidFill>
                <a:latin typeface="Trebuchet MS" panose="020B0703020202090204" pitchFamily="34" charset="0"/>
              </a:rPr>
              <a:t>Space requirement </a:t>
            </a:r>
          </a:p>
          <a:p>
            <a:pPr marL="457200" indent="-457200">
              <a:buFont typeface="Wingdings" pitchFamily="2" charset="2"/>
              <a:buChar char="q"/>
            </a:pPr>
            <a:r>
              <a:rPr lang="en-US" sz="3000" b="1" dirty="0">
                <a:solidFill>
                  <a:schemeClr val="accent1">
                    <a:lumMod val="50000"/>
                  </a:schemeClr>
                </a:solidFill>
                <a:latin typeface="Trebuchet MS" panose="020B0703020202090204" pitchFamily="34" charset="0"/>
              </a:rPr>
              <a:t>Capacity of temporary storage </a:t>
            </a:r>
          </a:p>
          <a:p>
            <a:pPr marL="457200" indent="-457200">
              <a:buFont typeface="Wingdings" pitchFamily="2" charset="2"/>
              <a:buChar char="q"/>
            </a:pPr>
            <a:r>
              <a:rPr lang="en-US" sz="3000" b="1" dirty="0">
                <a:solidFill>
                  <a:schemeClr val="accent1">
                    <a:lumMod val="50000"/>
                  </a:schemeClr>
                </a:solidFill>
                <a:latin typeface="Trebuchet MS" panose="020B0703020202090204" pitchFamily="34" charset="0"/>
              </a:rPr>
              <a:t>Ceiling</a:t>
            </a:r>
          </a:p>
          <a:p>
            <a:pPr marL="457200" indent="-457200">
              <a:buFont typeface="Wingdings" pitchFamily="2" charset="2"/>
              <a:buChar char="q"/>
            </a:pPr>
            <a:r>
              <a:rPr lang="en-US" sz="3000" b="1" dirty="0">
                <a:solidFill>
                  <a:schemeClr val="accent1">
                    <a:lumMod val="50000"/>
                  </a:schemeClr>
                </a:solidFill>
                <a:latin typeface="Trebuchet MS" panose="020B0703020202090204" pitchFamily="34" charset="0"/>
              </a:rPr>
              <a:t>Wall</a:t>
            </a:r>
          </a:p>
          <a:p>
            <a:pPr marL="457200" indent="-457200">
              <a:buFont typeface="Wingdings" pitchFamily="2" charset="2"/>
              <a:buChar char="q"/>
            </a:pPr>
            <a:r>
              <a:rPr lang="en-US" sz="3000" b="1" dirty="0">
                <a:solidFill>
                  <a:schemeClr val="accent1">
                    <a:lumMod val="50000"/>
                  </a:schemeClr>
                </a:solidFill>
                <a:latin typeface="Trebuchet MS" panose="020B0703020202090204" pitchFamily="34" charset="0"/>
              </a:rPr>
              <a:t>Doors and jambs</a:t>
            </a:r>
          </a:p>
          <a:p>
            <a:pPr marL="457200" indent="-457200">
              <a:buFont typeface="Wingdings" pitchFamily="2" charset="2"/>
              <a:buChar char="q"/>
            </a:pPr>
            <a:r>
              <a:rPr lang="en-US" sz="3000" b="1" dirty="0">
                <a:solidFill>
                  <a:schemeClr val="accent1">
                    <a:lumMod val="50000"/>
                  </a:schemeClr>
                </a:solidFill>
                <a:latin typeface="Trebuchet MS" panose="020B0703020202090204" pitchFamily="34" charset="0"/>
              </a:rPr>
              <a:t>Different areas and their function</a:t>
            </a:r>
          </a:p>
          <a:p>
            <a:pPr marL="457200" indent="-457200">
              <a:buFont typeface="Wingdings" pitchFamily="2" charset="2"/>
              <a:buChar char="q"/>
            </a:pPr>
            <a:r>
              <a:rPr lang="en-US" sz="3000" b="1" dirty="0">
                <a:solidFill>
                  <a:schemeClr val="accent1">
                    <a:lumMod val="50000"/>
                  </a:schemeClr>
                </a:solidFill>
                <a:latin typeface="Trebuchet MS" panose="020B0703020202090204" pitchFamily="34" charset="0"/>
              </a:rPr>
              <a:t>Lighting (Table 2)</a:t>
            </a:r>
          </a:p>
        </p:txBody>
      </p:sp>
      <p:sp>
        <p:nvSpPr>
          <p:cNvPr id="2" name="Footer Placeholder 1">
            <a:extLst>
              <a:ext uri="{FF2B5EF4-FFF2-40B4-BE49-F238E27FC236}">
                <a16:creationId xmlns:a16="http://schemas.microsoft.com/office/drawing/2014/main" id="{1028BCB1-4D96-67FD-7D35-E348FF9E56E7}"/>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0094D20A-3A47-A5D9-4137-203B9E5CA8D0}"/>
              </a:ext>
            </a:extLst>
          </p:cNvPr>
          <p:cNvSpPr>
            <a:spLocks noGrp="1"/>
          </p:cNvSpPr>
          <p:nvPr>
            <p:ph type="sldNum" sz="quarter" idx="12"/>
          </p:nvPr>
        </p:nvSpPr>
        <p:spPr/>
        <p:txBody>
          <a:bodyPr/>
          <a:lstStyle/>
          <a:p>
            <a:fld id="{D57F1E4F-1CFF-5643-939E-217C01CDF565}" type="slidenum">
              <a:rPr lang="en-US" smtClean="0"/>
              <a:pPr/>
              <a:t>75</a:t>
            </a:fld>
            <a:endParaRPr lang="en-US" dirty="0"/>
          </a:p>
        </p:txBody>
      </p:sp>
    </p:spTree>
    <p:extLst>
      <p:ext uri="{BB962C8B-B14F-4D97-AF65-F5344CB8AC3E}">
        <p14:creationId xmlns:p14="http://schemas.microsoft.com/office/powerpoint/2010/main" val="29728687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How many area shall be provided for every ton of commodity in a processing plant?</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35 sq.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30 sq.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25 sq.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20 sq. 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3861A1A1-33FE-FAAD-D6A4-E7A4137A1E00}"/>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16282415-C258-12F1-DF74-CD537F1D2278}"/>
              </a:ext>
            </a:extLst>
          </p:cNvPr>
          <p:cNvSpPr>
            <a:spLocks noGrp="1"/>
          </p:cNvSpPr>
          <p:nvPr>
            <p:ph type="sldNum" sz="quarter" idx="12"/>
          </p:nvPr>
        </p:nvSpPr>
        <p:spPr/>
        <p:txBody>
          <a:bodyPr/>
          <a:lstStyle/>
          <a:p>
            <a:fld id="{D57F1E4F-1CFF-5643-939E-217C01CDF565}" type="slidenum">
              <a:rPr lang="en-US" smtClean="0"/>
              <a:pPr/>
              <a:t>76</a:t>
            </a:fld>
            <a:endParaRPr lang="en-US" dirty="0"/>
          </a:p>
        </p:txBody>
      </p:sp>
    </p:spTree>
    <p:extLst>
      <p:ext uri="{BB962C8B-B14F-4D97-AF65-F5344CB8AC3E}">
        <p14:creationId xmlns:p14="http://schemas.microsoft.com/office/powerpoint/2010/main" val="336527638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The storage area of a processing plant shall have a capacity for temporary storage of raw materials.</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2-5 days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3-5 days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3-6 days</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2-6 days</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0B6DD17B-6C15-EC8F-6D58-04861C7CB6FE}"/>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07F45ABD-8927-8C97-DC66-B5C86FF2CFAF}"/>
              </a:ext>
            </a:extLst>
          </p:cNvPr>
          <p:cNvSpPr>
            <a:spLocks noGrp="1"/>
          </p:cNvSpPr>
          <p:nvPr>
            <p:ph type="sldNum" sz="quarter" idx="12"/>
          </p:nvPr>
        </p:nvSpPr>
        <p:spPr/>
        <p:txBody>
          <a:bodyPr/>
          <a:lstStyle/>
          <a:p>
            <a:fld id="{D57F1E4F-1CFF-5643-939E-217C01CDF565}" type="slidenum">
              <a:rPr lang="en-US" smtClean="0"/>
              <a:pPr/>
              <a:t>77</a:t>
            </a:fld>
            <a:endParaRPr lang="en-US" dirty="0"/>
          </a:p>
        </p:txBody>
      </p:sp>
    </p:spTree>
    <p:extLst>
      <p:ext uri="{BB962C8B-B14F-4D97-AF65-F5344CB8AC3E}">
        <p14:creationId xmlns:p14="http://schemas.microsoft.com/office/powerpoint/2010/main" val="207239599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866915" cy="5937999"/>
          </a:xfrm>
          <a:prstGeom prst="rect">
            <a:avLst/>
          </a:prstGeom>
        </p:spPr>
        <p:txBody>
          <a:bodyPr vert="horz" lIns="91440" tIns="45720" rIns="91440" bIns="45720" rtlCol="0" anchor="t">
            <a:normAutofit fontScale="62500" lnSpcReduction="2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600" b="1" dirty="0">
                <a:solidFill>
                  <a:srgbClr val="E18E2E"/>
                </a:solidFill>
                <a:latin typeface="Trebuchet MS" panose="020B0703020202090204" pitchFamily="34" charset="0"/>
              </a:rPr>
              <a:t>PAES 419:2001 or PNS/PAES 419:2015</a:t>
            </a:r>
          </a:p>
          <a:p>
            <a:r>
              <a:rPr lang="en-US" sz="4600" b="1" dirty="0">
                <a:solidFill>
                  <a:schemeClr val="accent1">
                    <a:lumMod val="50000"/>
                  </a:schemeClr>
                </a:solidFill>
                <a:latin typeface="Trebuchet MS" panose="020B0703020202090204" pitchFamily="34" charset="0"/>
              </a:rPr>
              <a:t>Warehouse for Bagged Storage and Grains</a:t>
            </a:r>
          </a:p>
          <a:p>
            <a:endParaRPr lang="en-US" sz="6700" b="1" dirty="0">
              <a:solidFill>
                <a:srgbClr val="E18E2E"/>
              </a:solidFill>
              <a:latin typeface="Trebuchet MS" panose="020B0703020202090204" pitchFamily="34" charset="0"/>
            </a:endParaRPr>
          </a:p>
          <a:p>
            <a:pPr marL="457200" indent="-457200">
              <a:buFont typeface="Wingdings" pitchFamily="2" charset="2"/>
              <a:buChar char="q"/>
            </a:pPr>
            <a:r>
              <a:rPr lang="en-US" sz="39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3900" b="1" dirty="0">
                <a:solidFill>
                  <a:schemeClr val="accent1">
                    <a:lumMod val="50000"/>
                  </a:schemeClr>
                </a:solidFill>
                <a:latin typeface="Trebuchet MS" panose="020B0703020202090204" pitchFamily="34" charset="0"/>
              </a:rPr>
              <a:t>Floor area requirement (pallet dimension and system of piling)</a:t>
            </a:r>
          </a:p>
          <a:p>
            <a:pPr marL="457200" indent="-457200">
              <a:buFont typeface="Wingdings" pitchFamily="2" charset="2"/>
              <a:buChar char="q"/>
            </a:pPr>
            <a:r>
              <a:rPr lang="en-US" sz="3900" b="1" dirty="0">
                <a:solidFill>
                  <a:schemeClr val="accent1">
                    <a:lumMod val="50000"/>
                  </a:schemeClr>
                </a:solidFill>
                <a:latin typeface="Trebuchet MS" panose="020B0703020202090204" pitchFamily="34" charset="0"/>
              </a:rPr>
              <a:t>Block stocking, Chinese method, Japanese method, crisscross stacking and their respective moisture content and layering</a:t>
            </a:r>
          </a:p>
          <a:p>
            <a:pPr marL="457200" indent="-457200">
              <a:buFont typeface="Wingdings" pitchFamily="2" charset="2"/>
              <a:buChar char="q"/>
            </a:pPr>
            <a:r>
              <a:rPr lang="en-US" sz="3900" b="1" dirty="0">
                <a:solidFill>
                  <a:schemeClr val="accent1">
                    <a:lumMod val="50000"/>
                  </a:schemeClr>
                </a:solidFill>
                <a:latin typeface="Trebuchet MS" panose="020B0703020202090204" pitchFamily="34" charset="0"/>
              </a:rPr>
              <a:t>Stack height (Table 1)</a:t>
            </a:r>
          </a:p>
          <a:p>
            <a:pPr marL="457200" indent="-457200">
              <a:buFont typeface="Wingdings" pitchFamily="2" charset="2"/>
              <a:buChar char="q"/>
            </a:pPr>
            <a:r>
              <a:rPr lang="en-US" sz="3900" b="1" dirty="0">
                <a:solidFill>
                  <a:schemeClr val="accent1">
                    <a:lumMod val="50000"/>
                  </a:schemeClr>
                </a:solidFill>
                <a:latin typeface="Trebuchet MS" panose="020B0703020202090204" pitchFamily="34" charset="0"/>
              </a:rPr>
              <a:t>Dimension for maximum piling</a:t>
            </a:r>
          </a:p>
          <a:p>
            <a:pPr marL="457200" indent="-457200">
              <a:buFont typeface="Wingdings" pitchFamily="2" charset="2"/>
              <a:buChar char="q"/>
            </a:pPr>
            <a:r>
              <a:rPr lang="en-US" sz="3900" b="1" dirty="0">
                <a:solidFill>
                  <a:schemeClr val="accent1">
                    <a:lumMod val="50000"/>
                  </a:schemeClr>
                </a:solidFill>
                <a:latin typeface="Trebuchet MS" panose="020B0703020202090204" pitchFamily="34" charset="0"/>
              </a:rPr>
              <a:t>Pathway</a:t>
            </a:r>
          </a:p>
          <a:p>
            <a:pPr marL="457200" indent="-457200">
              <a:buFont typeface="Wingdings" pitchFamily="2" charset="2"/>
              <a:buChar char="q"/>
            </a:pPr>
            <a:r>
              <a:rPr lang="en-US" sz="3900" b="1" dirty="0">
                <a:solidFill>
                  <a:schemeClr val="accent1">
                    <a:lumMod val="50000"/>
                  </a:schemeClr>
                </a:solidFill>
                <a:latin typeface="Trebuchet MS" panose="020B0703020202090204" pitchFamily="34" charset="0"/>
              </a:rPr>
              <a:t>Side spacing</a:t>
            </a:r>
          </a:p>
          <a:p>
            <a:pPr marL="457200" indent="-457200">
              <a:buFont typeface="Wingdings" pitchFamily="2" charset="2"/>
              <a:buChar char="q"/>
            </a:pPr>
            <a:r>
              <a:rPr lang="en-US" sz="3900" b="1" dirty="0">
                <a:solidFill>
                  <a:schemeClr val="accent1">
                    <a:lumMod val="50000"/>
                  </a:schemeClr>
                </a:solidFill>
                <a:latin typeface="Trebuchet MS" panose="020B0703020202090204" pitchFamily="34" charset="0"/>
              </a:rPr>
              <a:t>Recommended dimensions based on capacity (Table 2)</a:t>
            </a:r>
          </a:p>
          <a:p>
            <a:pPr marL="457200" indent="-457200">
              <a:buFont typeface="Wingdings" pitchFamily="2" charset="2"/>
              <a:buChar char="q"/>
            </a:pPr>
            <a:r>
              <a:rPr lang="en-US" sz="3900" b="1" dirty="0">
                <a:solidFill>
                  <a:schemeClr val="accent1">
                    <a:lumMod val="50000"/>
                  </a:schemeClr>
                </a:solidFill>
                <a:latin typeface="Trebuchet MS" panose="020B0703020202090204" pitchFamily="34" charset="0"/>
              </a:rPr>
              <a:t>Height of warehouse</a:t>
            </a:r>
          </a:p>
          <a:p>
            <a:pPr marL="457200" indent="-457200">
              <a:buFont typeface="Wingdings" pitchFamily="2" charset="2"/>
              <a:buChar char="q"/>
            </a:pPr>
            <a:r>
              <a:rPr lang="en-US" sz="3900" b="1" dirty="0">
                <a:solidFill>
                  <a:schemeClr val="accent1">
                    <a:lumMod val="50000"/>
                  </a:schemeClr>
                </a:solidFill>
                <a:latin typeface="Trebuchet MS" panose="020B0703020202090204" pitchFamily="34" charset="0"/>
              </a:rPr>
              <a:t>Lighting</a:t>
            </a:r>
          </a:p>
          <a:p>
            <a:pPr marL="457200" indent="-457200">
              <a:buFont typeface="Wingdings" pitchFamily="2" charset="2"/>
              <a:buChar char="q"/>
            </a:pPr>
            <a:r>
              <a:rPr lang="en-US" sz="3900" b="1" dirty="0">
                <a:solidFill>
                  <a:schemeClr val="accent1">
                    <a:lumMod val="50000"/>
                  </a:schemeClr>
                </a:solidFill>
                <a:latin typeface="Trebuchet MS" panose="020B0703020202090204" pitchFamily="34" charset="0"/>
              </a:rPr>
              <a:t>Floor, wall, door, rat stop</a:t>
            </a:r>
          </a:p>
          <a:p>
            <a:pPr marL="457200" indent="-457200">
              <a:buFont typeface="Wingdings" pitchFamily="2" charset="2"/>
              <a:buChar char="q"/>
            </a:pPr>
            <a:r>
              <a:rPr lang="en-US" sz="3900" b="1" dirty="0">
                <a:solidFill>
                  <a:schemeClr val="accent1">
                    <a:lumMod val="50000"/>
                  </a:schemeClr>
                </a:solidFill>
                <a:latin typeface="Trebuchet MS" panose="020B0703020202090204" pitchFamily="34" charset="0"/>
              </a:rPr>
              <a:t>Ventilation</a:t>
            </a:r>
          </a:p>
          <a:p>
            <a:endParaRPr lang="en-US" sz="39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65544D85-A7D1-0977-923E-73E4CAF51CC3}"/>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8A0A8FDE-98AD-08D7-3904-02999262AF4D}"/>
              </a:ext>
            </a:extLst>
          </p:cNvPr>
          <p:cNvSpPr>
            <a:spLocks noGrp="1"/>
          </p:cNvSpPr>
          <p:nvPr>
            <p:ph type="sldNum" sz="quarter" idx="12"/>
          </p:nvPr>
        </p:nvSpPr>
        <p:spPr/>
        <p:txBody>
          <a:bodyPr/>
          <a:lstStyle/>
          <a:p>
            <a:fld id="{D57F1E4F-1CFF-5643-939E-217C01CDF565}" type="slidenum">
              <a:rPr lang="en-US" smtClean="0"/>
              <a:pPr/>
              <a:t>78</a:t>
            </a:fld>
            <a:endParaRPr lang="en-US" dirty="0"/>
          </a:p>
        </p:txBody>
      </p:sp>
    </p:spTree>
    <p:extLst>
      <p:ext uri="{BB962C8B-B14F-4D97-AF65-F5344CB8AC3E}">
        <p14:creationId xmlns:p14="http://schemas.microsoft.com/office/powerpoint/2010/main" val="189677997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The recommended dimension for warehouse with 10,000-cavan capacity.</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10 m x 25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10 m x 30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15 m x 25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15 m x 30 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412A76DF-3DBF-0E03-AE20-CC3A5038490B}"/>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6733CCCB-5E88-3CD9-8D65-1559B4585F5D}"/>
              </a:ext>
            </a:extLst>
          </p:cNvPr>
          <p:cNvSpPr>
            <a:spLocks noGrp="1"/>
          </p:cNvSpPr>
          <p:nvPr>
            <p:ph type="sldNum" sz="quarter" idx="12"/>
          </p:nvPr>
        </p:nvSpPr>
        <p:spPr/>
        <p:txBody>
          <a:bodyPr/>
          <a:lstStyle/>
          <a:p>
            <a:fld id="{D57F1E4F-1CFF-5643-939E-217C01CDF565}" type="slidenum">
              <a:rPr lang="en-US" smtClean="0"/>
              <a:pPr/>
              <a:t>79</a:t>
            </a:fld>
            <a:endParaRPr lang="en-US" dirty="0"/>
          </a:p>
        </p:txBody>
      </p:sp>
    </p:spTree>
    <p:extLst>
      <p:ext uri="{BB962C8B-B14F-4D97-AF65-F5344CB8AC3E}">
        <p14:creationId xmlns:p14="http://schemas.microsoft.com/office/powerpoint/2010/main" val="364750030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A system of stacking that provides ventilation space between bags and allows circulation of convective air currents that provide a medium for heat dissipation. </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Block stacking</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Chinese method</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Japanese method</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Crisscross stacking</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34D33B57-16ED-CD36-70BB-34EE1BF7A8FD}"/>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83ECBDE0-F343-16EF-784A-9B3E574FF6D2}"/>
              </a:ext>
            </a:extLst>
          </p:cNvPr>
          <p:cNvSpPr>
            <a:spLocks noGrp="1"/>
          </p:cNvSpPr>
          <p:nvPr>
            <p:ph type="sldNum" sz="quarter" idx="12"/>
          </p:nvPr>
        </p:nvSpPr>
        <p:spPr/>
        <p:txBody>
          <a:bodyPr/>
          <a:lstStyle/>
          <a:p>
            <a:fld id="{D57F1E4F-1CFF-5643-939E-217C01CDF565}" type="slidenum">
              <a:rPr lang="en-US" smtClean="0"/>
              <a:pPr/>
              <a:t>80</a:t>
            </a:fld>
            <a:endParaRPr lang="en-US" dirty="0"/>
          </a:p>
        </p:txBody>
      </p:sp>
    </p:spTree>
    <p:extLst>
      <p:ext uri="{BB962C8B-B14F-4D97-AF65-F5344CB8AC3E}">
        <p14:creationId xmlns:p14="http://schemas.microsoft.com/office/powerpoint/2010/main" val="96722218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Standard size of pallet/dunnage.</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142 cm x 51 cm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150 cm x 71 cm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152 cm x 61 cm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162 cm x 51 cm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9BC6F4D6-2058-4D83-17A5-47B600B1730B}"/>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FAE1D222-07F4-407C-8295-80F3BC97F95D}"/>
              </a:ext>
            </a:extLst>
          </p:cNvPr>
          <p:cNvSpPr>
            <a:spLocks noGrp="1"/>
          </p:cNvSpPr>
          <p:nvPr>
            <p:ph type="sldNum" sz="quarter" idx="12"/>
          </p:nvPr>
        </p:nvSpPr>
        <p:spPr/>
        <p:txBody>
          <a:bodyPr/>
          <a:lstStyle/>
          <a:p>
            <a:fld id="{D57F1E4F-1CFF-5643-939E-217C01CDF565}" type="slidenum">
              <a:rPr lang="en-US" smtClean="0"/>
              <a:pPr/>
              <a:t>81</a:t>
            </a:fld>
            <a:endParaRPr lang="en-US" dirty="0"/>
          </a:p>
        </p:txBody>
      </p:sp>
    </p:spTree>
    <p:extLst>
      <p:ext uri="{BB962C8B-B14F-4D97-AF65-F5344CB8AC3E}">
        <p14:creationId xmlns:p14="http://schemas.microsoft.com/office/powerpoint/2010/main" val="326990170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EDFA5F9-3B87-1E80-2C5A-DDFD36EED879}"/>
              </a:ext>
            </a:extLst>
          </p:cNvPr>
          <p:cNvSpPr txBox="1">
            <a:spLocks/>
          </p:cNvSpPr>
          <p:nvPr/>
        </p:nvSpPr>
        <p:spPr>
          <a:xfrm>
            <a:off x="947645" y="534990"/>
            <a:ext cx="8866915" cy="5937999"/>
          </a:xfrm>
          <a:prstGeom prst="rect">
            <a:avLst/>
          </a:prstGeom>
        </p:spPr>
        <p:txBody>
          <a:bodyPr vert="horz" lIns="91440" tIns="45720" rIns="91440" bIns="45720" rtlCol="0" anchor="t">
            <a:normAutofit/>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b="1" dirty="0">
                <a:solidFill>
                  <a:srgbClr val="E18E2E"/>
                </a:solidFill>
                <a:latin typeface="Trebuchet MS" panose="020B0703020202090204" pitchFamily="34" charset="0"/>
              </a:rPr>
              <a:t>PAES 420:2002</a:t>
            </a:r>
          </a:p>
          <a:p>
            <a:r>
              <a:rPr lang="en-US" sz="2800" b="1" dirty="0">
                <a:solidFill>
                  <a:schemeClr val="accent1">
                    <a:lumMod val="50000"/>
                  </a:schemeClr>
                </a:solidFill>
                <a:latin typeface="Trebuchet MS" panose="020B0703020202090204" pitchFamily="34" charset="0"/>
              </a:rPr>
              <a:t>Farm Workshop and Machinery Shed</a:t>
            </a:r>
          </a:p>
          <a:p>
            <a:endParaRPr lang="en-US" sz="4000" b="1" dirty="0">
              <a:solidFill>
                <a:srgbClr val="E18E2E"/>
              </a:solidFill>
              <a:latin typeface="Trebuchet MS" panose="020B0703020202090204" pitchFamily="34" charset="0"/>
            </a:endParaRPr>
          </a:p>
          <a:p>
            <a:pPr marL="457200" indent="-457200">
              <a:buFont typeface="Wingdings" pitchFamily="2" charset="2"/>
              <a:buChar char="q"/>
            </a:pPr>
            <a:r>
              <a:rPr lang="en-US" sz="2400" b="1" dirty="0">
                <a:solidFill>
                  <a:schemeClr val="accent1">
                    <a:lumMod val="50000"/>
                  </a:schemeClr>
                </a:solidFill>
                <a:latin typeface="Trebuchet MS" panose="020B0703020202090204" pitchFamily="34" charset="0"/>
              </a:rPr>
              <a:t>Definition of Terms</a:t>
            </a:r>
          </a:p>
          <a:p>
            <a:pPr marL="457200" indent="-457200">
              <a:buFont typeface="Wingdings" pitchFamily="2" charset="2"/>
              <a:buChar char="q"/>
            </a:pPr>
            <a:r>
              <a:rPr lang="en-US" sz="2400" b="1" dirty="0">
                <a:solidFill>
                  <a:schemeClr val="accent1">
                    <a:lumMod val="50000"/>
                  </a:schemeClr>
                </a:solidFill>
                <a:latin typeface="Trebuchet MS" panose="020B0703020202090204" pitchFamily="34" charset="0"/>
              </a:rPr>
              <a:t>The building shall be situated at least 45 m from other buildings to reduce fire hazard, to allow for future  expansion, and maneuvering and parking of machinery</a:t>
            </a:r>
          </a:p>
          <a:p>
            <a:pPr marL="457200" indent="-457200">
              <a:buFont typeface="Wingdings" pitchFamily="2" charset="2"/>
              <a:buChar char="q"/>
            </a:pPr>
            <a:r>
              <a:rPr lang="en-US" sz="2400" b="1" dirty="0">
                <a:solidFill>
                  <a:schemeClr val="accent1">
                    <a:lumMod val="50000"/>
                  </a:schemeClr>
                </a:solidFill>
                <a:latin typeface="Trebuchet MS" panose="020B0703020202090204" pitchFamily="34" charset="0"/>
              </a:rPr>
              <a:t>Recommended minimum dimensions for farm workshop</a:t>
            </a:r>
          </a:p>
          <a:p>
            <a:pPr marL="457200" indent="-457200">
              <a:buFont typeface="Wingdings" pitchFamily="2" charset="2"/>
              <a:buChar char="q"/>
            </a:pPr>
            <a:r>
              <a:rPr lang="en-US" sz="2400" b="1" dirty="0">
                <a:solidFill>
                  <a:schemeClr val="accent1">
                    <a:lumMod val="50000"/>
                  </a:schemeClr>
                </a:solidFill>
                <a:latin typeface="Trebuchet MS" panose="020B0703020202090204" pitchFamily="34" charset="0"/>
              </a:rPr>
              <a:t>Floor, roof, door/gate</a:t>
            </a:r>
          </a:p>
          <a:p>
            <a:pPr marL="457200" indent="-457200">
              <a:buFont typeface="Wingdings" pitchFamily="2" charset="2"/>
              <a:buChar char="q"/>
            </a:pPr>
            <a:r>
              <a:rPr lang="en-US" sz="2400" b="1" dirty="0">
                <a:solidFill>
                  <a:schemeClr val="accent1">
                    <a:lumMod val="50000"/>
                  </a:schemeClr>
                </a:solidFill>
                <a:latin typeface="Trebuchet MS" panose="020B0703020202090204" pitchFamily="34" charset="0"/>
              </a:rPr>
              <a:t>Workshop</a:t>
            </a:r>
          </a:p>
          <a:p>
            <a:pPr marL="457200" indent="-457200">
              <a:buFont typeface="Wingdings" pitchFamily="2" charset="2"/>
              <a:buChar char="q"/>
            </a:pPr>
            <a:r>
              <a:rPr lang="en-US" sz="2400" b="1" dirty="0">
                <a:solidFill>
                  <a:schemeClr val="accent1">
                    <a:lumMod val="50000"/>
                  </a:schemeClr>
                </a:solidFill>
                <a:latin typeface="Trebuchet MS" panose="020B0703020202090204" pitchFamily="34" charset="0"/>
              </a:rPr>
              <a:t>Fuel and chemical storage</a:t>
            </a:r>
          </a:p>
          <a:p>
            <a:pPr marL="457200" indent="-457200">
              <a:buFont typeface="Wingdings" pitchFamily="2" charset="2"/>
              <a:buChar char="q"/>
            </a:pPr>
            <a:r>
              <a:rPr lang="en-US" sz="2400" b="1" dirty="0">
                <a:solidFill>
                  <a:schemeClr val="accent1">
                    <a:lumMod val="50000"/>
                  </a:schemeClr>
                </a:solidFill>
                <a:latin typeface="Trebuchet MS" panose="020B0703020202090204" pitchFamily="34" charset="0"/>
              </a:rPr>
              <a:t>Electricity and lighting </a:t>
            </a:r>
            <a:r>
              <a:rPr lang="en-US" sz="2400" b="1">
                <a:solidFill>
                  <a:schemeClr val="accent1">
                    <a:lumMod val="50000"/>
                  </a:schemeClr>
                </a:solidFill>
                <a:latin typeface="Trebuchet MS" panose="020B0703020202090204" pitchFamily="34" charset="0"/>
              </a:rPr>
              <a:t>(Table 3)</a:t>
            </a:r>
            <a:endParaRPr lang="en-US" sz="2400" b="1" dirty="0">
              <a:solidFill>
                <a:schemeClr val="accent1">
                  <a:lumMod val="50000"/>
                </a:schemeClr>
              </a:solidFill>
              <a:latin typeface="Trebuchet MS" panose="020B0703020202090204" pitchFamily="34" charset="0"/>
            </a:endParaRPr>
          </a:p>
          <a:p>
            <a:endParaRPr lang="en-US" sz="2400"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FF4BD55C-867E-D443-1862-4BC761EE17FA}"/>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D2C18AA9-C54A-E838-0A8B-68E9ECA09FFC}"/>
              </a:ext>
            </a:extLst>
          </p:cNvPr>
          <p:cNvSpPr>
            <a:spLocks noGrp="1"/>
          </p:cNvSpPr>
          <p:nvPr>
            <p:ph type="sldNum" sz="quarter" idx="12"/>
          </p:nvPr>
        </p:nvSpPr>
        <p:spPr/>
        <p:txBody>
          <a:bodyPr/>
          <a:lstStyle/>
          <a:p>
            <a:fld id="{D57F1E4F-1CFF-5643-939E-217C01CDF565}" type="slidenum">
              <a:rPr lang="en-US" smtClean="0"/>
              <a:pPr/>
              <a:t>82</a:t>
            </a:fld>
            <a:endParaRPr lang="en-US" dirty="0"/>
          </a:p>
        </p:txBody>
      </p:sp>
    </p:spTree>
    <p:extLst>
      <p:ext uri="{BB962C8B-B14F-4D97-AF65-F5344CB8AC3E}">
        <p14:creationId xmlns:p14="http://schemas.microsoft.com/office/powerpoint/2010/main" val="16658912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How much clearance shall be provided on both sides of the door way for bigger equipment?</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0.5 m </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0.6 m </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0.7 m</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0.8 m</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54348968-000E-BFAD-5EB4-3AC92402AB82}"/>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CB648CE4-57C2-5416-88E7-BA870D0EDC5F}"/>
              </a:ext>
            </a:extLst>
          </p:cNvPr>
          <p:cNvSpPr>
            <a:spLocks noGrp="1"/>
          </p:cNvSpPr>
          <p:nvPr>
            <p:ph type="sldNum" sz="quarter" idx="12"/>
          </p:nvPr>
        </p:nvSpPr>
        <p:spPr/>
        <p:txBody>
          <a:bodyPr/>
          <a:lstStyle/>
          <a:p>
            <a:fld id="{D57F1E4F-1CFF-5643-939E-217C01CDF565}" type="slidenum">
              <a:rPr lang="en-US" smtClean="0"/>
              <a:pPr/>
              <a:t>83</a:t>
            </a:fld>
            <a:endParaRPr lang="en-US" dirty="0"/>
          </a:p>
        </p:txBody>
      </p:sp>
    </p:spTree>
    <p:extLst>
      <p:ext uri="{BB962C8B-B14F-4D97-AF65-F5344CB8AC3E}">
        <p14:creationId xmlns:p14="http://schemas.microsoft.com/office/powerpoint/2010/main" val="397145542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For a welding area, a welding hood with a fan that will move air about ____ shall be provided.</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28-57 cu. m/min</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38-67 cu. m/min</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18-37 cu. m/min</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28-67 cu. m/min</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AFF3F8C3-BBAC-08E3-93CD-7F63069A5403}"/>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93850D63-75DE-A073-86B4-15F77B26C3ED}"/>
              </a:ext>
            </a:extLst>
          </p:cNvPr>
          <p:cNvSpPr>
            <a:spLocks noGrp="1"/>
          </p:cNvSpPr>
          <p:nvPr>
            <p:ph type="sldNum" sz="quarter" idx="12"/>
          </p:nvPr>
        </p:nvSpPr>
        <p:spPr/>
        <p:txBody>
          <a:bodyPr/>
          <a:lstStyle/>
          <a:p>
            <a:fld id="{D57F1E4F-1CFF-5643-939E-217C01CDF565}" type="slidenum">
              <a:rPr lang="en-US" smtClean="0"/>
              <a:pPr/>
              <a:t>84</a:t>
            </a:fld>
            <a:endParaRPr lang="en-US" dirty="0"/>
          </a:p>
        </p:txBody>
      </p:sp>
    </p:spTree>
    <p:extLst>
      <p:ext uri="{BB962C8B-B14F-4D97-AF65-F5344CB8AC3E}">
        <p14:creationId xmlns:p14="http://schemas.microsoft.com/office/powerpoint/2010/main" val="269880734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911550" y="673475"/>
            <a:ext cx="5966889" cy="608944"/>
          </a:xfrm>
        </p:spPr>
        <p:txBody>
          <a:bodyPr anchor="ctr"/>
          <a:lstStyle/>
          <a:p>
            <a:pPr algn="just"/>
            <a:r>
              <a:rPr lang="en-US" sz="4000" b="1" dirty="0">
                <a:solidFill>
                  <a:srgbClr val="E18E2E"/>
                </a:solidFill>
                <a:latin typeface="Trebuchet MS" panose="020B0703020202090204" pitchFamily="34" charset="0"/>
              </a:rPr>
              <a:t>Sample questions</a:t>
            </a:r>
          </a:p>
        </p:txBody>
      </p:sp>
      <p:sp>
        <p:nvSpPr>
          <p:cNvPr id="3" name="Title 1">
            <a:extLst>
              <a:ext uri="{FF2B5EF4-FFF2-40B4-BE49-F238E27FC236}">
                <a16:creationId xmlns:a16="http://schemas.microsoft.com/office/drawing/2014/main" id="{345F3751-F15A-426C-A1DA-41A065A128B5}"/>
              </a:ext>
            </a:extLst>
          </p:cNvPr>
          <p:cNvSpPr txBox="1">
            <a:spLocks/>
          </p:cNvSpPr>
          <p:nvPr/>
        </p:nvSpPr>
        <p:spPr>
          <a:xfrm>
            <a:off x="911550" y="1451080"/>
            <a:ext cx="8376829" cy="4504552"/>
          </a:xfrm>
          <a:prstGeom prst="rect">
            <a:avLst/>
          </a:prstGeom>
        </p:spPr>
        <p:txBody>
          <a:bodyPr vert="horz" lIns="91440" tIns="45720" rIns="91440" bIns="45720" rtlCol="0" anchor="t">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just"/>
            <a:r>
              <a:rPr lang="en-US" sz="2400" b="1" dirty="0">
                <a:solidFill>
                  <a:schemeClr val="accent1">
                    <a:lumMod val="50000"/>
                  </a:schemeClr>
                </a:solidFill>
                <a:ea typeface="Calibri" panose="020F0502020204030204" pitchFamily="34" charset="0"/>
                <a:cs typeface="Times New Roman" panose="02020603050405020304" pitchFamily="18" charset="0"/>
              </a:rPr>
              <a:t>What is the recommended lighting level in machine shed?</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a. 200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b. 500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c. 100 lux</a:t>
            </a:r>
          </a:p>
          <a:p>
            <a:pPr algn="just"/>
            <a:r>
              <a:rPr lang="en-US" sz="2400" b="1" dirty="0">
                <a:solidFill>
                  <a:schemeClr val="accent1">
                    <a:lumMod val="50000"/>
                  </a:schemeClr>
                </a:solidFill>
                <a:ea typeface="Calibri" panose="020F0502020204030204" pitchFamily="34" charset="0"/>
                <a:cs typeface="Times New Roman" panose="02020603050405020304" pitchFamily="18" charset="0"/>
              </a:rPr>
              <a:t>	d. 50 lux</a:t>
            </a:r>
          </a:p>
          <a:p>
            <a:pPr algn="just"/>
            <a:endParaRPr lang="en-US" sz="2400" b="1" dirty="0">
              <a:solidFill>
                <a:schemeClr val="accent1">
                  <a:lumMod val="50000"/>
                </a:schemeClr>
              </a:solidFill>
              <a:ea typeface="Calibri" panose="020F0502020204030204" pitchFamily="34" charset="0"/>
              <a:cs typeface="Times New Roman" panose="02020603050405020304" pitchFamily="18" charset="0"/>
            </a:endParaRPr>
          </a:p>
        </p:txBody>
      </p:sp>
      <p:sp>
        <p:nvSpPr>
          <p:cNvPr id="2" name="Footer Placeholder 1">
            <a:extLst>
              <a:ext uri="{FF2B5EF4-FFF2-40B4-BE49-F238E27FC236}">
                <a16:creationId xmlns:a16="http://schemas.microsoft.com/office/drawing/2014/main" id="{19E24814-87C7-A935-63F1-1E305E6C73A1}"/>
              </a:ext>
            </a:extLst>
          </p:cNvPr>
          <p:cNvSpPr>
            <a:spLocks noGrp="1"/>
          </p:cNvSpPr>
          <p:nvPr>
            <p:ph type="ftr" sz="quarter" idx="11"/>
          </p:nvPr>
        </p:nvSpPr>
        <p:spPr/>
        <p:txBody>
          <a:bodyPr/>
          <a:lstStyle/>
          <a:p>
            <a:r>
              <a:rPr lang="en-US"/>
              <a:t>Engr. Melanie D. Piedad, ABELE 2022 Topnotcher</a:t>
            </a:r>
            <a:endParaRPr lang="en-US" dirty="0"/>
          </a:p>
        </p:txBody>
      </p:sp>
      <p:sp>
        <p:nvSpPr>
          <p:cNvPr id="4" name="Slide Number Placeholder 3">
            <a:extLst>
              <a:ext uri="{FF2B5EF4-FFF2-40B4-BE49-F238E27FC236}">
                <a16:creationId xmlns:a16="http://schemas.microsoft.com/office/drawing/2014/main" id="{8F3B4BFD-9849-956A-A614-9C0D4A530FFC}"/>
              </a:ext>
            </a:extLst>
          </p:cNvPr>
          <p:cNvSpPr>
            <a:spLocks noGrp="1"/>
          </p:cNvSpPr>
          <p:nvPr>
            <p:ph type="sldNum" sz="quarter" idx="12"/>
          </p:nvPr>
        </p:nvSpPr>
        <p:spPr/>
        <p:txBody>
          <a:bodyPr/>
          <a:lstStyle/>
          <a:p>
            <a:fld id="{D57F1E4F-1CFF-5643-939E-217C01CDF565}" type="slidenum">
              <a:rPr lang="en-US" smtClean="0"/>
              <a:pPr/>
              <a:t>85</a:t>
            </a:fld>
            <a:endParaRPr lang="en-US" dirty="0"/>
          </a:p>
        </p:txBody>
      </p:sp>
    </p:spTree>
    <p:extLst>
      <p:ext uri="{BB962C8B-B14F-4D97-AF65-F5344CB8AC3E}">
        <p14:creationId xmlns:p14="http://schemas.microsoft.com/office/powerpoint/2010/main" val="270950327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33E1256D-5017-74B9-E4ED-4D9EB0521160}"/>
              </a:ext>
            </a:extLst>
          </p:cNvPr>
          <p:cNvSpPr>
            <a:spLocks noGrp="1"/>
          </p:cNvSpPr>
          <p:nvPr>
            <p:ph type="ctrTitle"/>
          </p:nvPr>
        </p:nvSpPr>
        <p:spPr>
          <a:xfrm>
            <a:off x="854242" y="1010506"/>
            <a:ext cx="9156031" cy="4836988"/>
          </a:xfrm>
        </p:spPr>
        <p:txBody>
          <a:bodyPr anchor="t"/>
          <a:lstStyle/>
          <a:p>
            <a:pPr algn="ctr"/>
            <a:r>
              <a:rPr lang="en-US" b="1" dirty="0">
                <a:solidFill>
                  <a:srgbClr val="E18E2E"/>
                </a:solidFill>
                <a:latin typeface="Trebuchet MS" panose="020B0703020202090204" pitchFamily="34" charset="0"/>
              </a:rPr>
              <a:t>THANK YOU!!!</a:t>
            </a:r>
            <a:br>
              <a:rPr lang="en-US" b="1" dirty="0">
                <a:solidFill>
                  <a:srgbClr val="E18E2E"/>
                </a:solidFill>
                <a:latin typeface="Trebuchet MS" panose="020B0703020202090204" pitchFamily="34" charset="0"/>
              </a:rPr>
            </a:br>
            <a:r>
              <a:rPr lang="en-US" sz="4000" b="1" u="sng" dirty="0">
                <a:solidFill>
                  <a:schemeClr val="accent1">
                    <a:lumMod val="50000"/>
                  </a:schemeClr>
                </a:solidFill>
                <a:latin typeface="Trebuchet MS" panose="020B0703020202090204" pitchFamily="34" charset="0"/>
              </a:rPr>
              <a:t>Proverbs 3:5-6</a:t>
            </a:r>
            <a:br>
              <a:rPr lang="en-US" sz="4000" b="1" dirty="0">
                <a:solidFill>
                  <a:schemeClr val="accent1">
                    <a:lumMod val="50000"/>
                  </a:schemeClr>
                </a:solidFill>
                <a:latin typeface="Trebuchet MS" panose="020B0703020202090204" pitchFamily="34" charset="0"/>
              </a:rPr>
            </a:br>
            <a:r>
              <a:rPr lang="en-US" sz="4000" b="1" dirty="0">
                <a:solidFill>
                  <a:schemeClr val="accent1">
                    <a:lumMod val="50000"/>
                  </a:schemeClr>
                </a:solidFill>
                <a:latin typeface="Trebuchet MS" panose="020B0703020202090204" pitchFamily="34" charset="0"/>
              </a:rPr>
              <a:t>“Trust in the Lord with all your heart and lean not on your own understanding; in all your ways submit to Him, and He will make your paths straight”</a:t>
            </a:r>
            <a:endParaRPr lang="en-US" b="1" dirty="0">
              <a:solidFill>
                <a:schemeClr val="accent1">
                  <a:lumMod val="50000"/>
                </a:schemeClr>
              </a:solidFill>
              <a:latin typeface="Trebuchet MS" panose="020B0703020202090204" pitchFamily="34" charset="0"/>
            </a:endParaRPr>
          </a:p>
        </p:txBody>
      </p:sp>
      <p:sp>
        <p:nvSpPr>
          <p:cNvPr id="2" name="Footer Placeholder 1">
            <a:extLst>
              <a:ext uri="{FF2B5EF4-FFF2-40B4-BE49-F238E27FC236}">
                <a16:creationId xmlns:a16="http://schemas.microsoft.com/office/drawing/2014/main" id="{B21CD20A-C348-B417-BDC2-87BA9893F071}"/>
              </a:ext>
            </a:extLst>
          </p:cNvPr>
          <p:cNvSpPr>
            <a:spLocks noGrp="1"/>
          </p:cNvSpPr>
          <p:nvPr>
            <p:ph type="ftr" sz="quarter" idx="11"/>
          </p:nvPr>
        </p:nvSpPr>
        <p:spPr/>
        <p:txBody>
          <a:bodyPr/>
          <a:lstStyle/>
          <a:p>
            <a:r>
              <a:rPr lang="en-US"/>
              <a:t>Engr. Melanie D. Piedad, ABELE 2022 Topnotcher</a:t>
            </a:r>
            <a:endParaRPr lang="en-US" dirty="0"/>
          </a:p>
        </p:txBody>
      </p:sp>
      <p:sp>
        <p:nvSpPr>
          <p:cNvPr id="3" name="Slide Number Placeholder 2">
            <a:extLst>
              <a:ext uri="{FF2B5EF4-FFF2-40B4-BE49-F238E27FC236}">
                <a16:creationId xmlns:a16="http://schemas.microsoft.com/office/drawing/2014/main" id="{7641F6DC-DBD0-C794-2AF8-10436C06ABEE}"/>
              </a:ext>
            </a:extLst>
          </p:cNvPr>
          <p:cNvSpPr>
            <a:spLocks noGrp="1"/>
          </p:cNvSpPr>
          <p:nvPr>
            <p:ph type="sldNum" sz="quarter" idx="12"/>
          </p:nvPr>
        </p:nvSpPr>
        <p:spPr/>
        <p:txBody>
          <a:bodyPr/>
          <a:lstStyle/>
          <a:p>
            <a:fld id="{D57F1E4F-1CFF-5643-939E-217C01CDF565}" type="slidenum">
              <a:rPr lang="en-US" smtClean="0"/>
              <a:pPr/>
              <a:t>86</a:t>
            </a:fld>
            <a:endParaRPr lang="en-US" dirty="0"/>
          </a:p>
        </p:txBody>
      </p:sp>
    </p:spTree>
    <p:extLst>
      <p:ext uri="{BB962C8B-B14F-4D97-AF65-F5344CB8AC3E}">
        <p14:creationId xmlns:p14="http://schemas.microsoft.com/office/powerpoint/2010/main" val="2300463247"/>
      </p:ext>
    </p:extLst>
  </p:cSld>
  <p:clrMapOvr>
    <a:masterClrMapping/>
  </p:clrMapOvr>
</p:sld>
</file>

<file path=ppt/theme/theme1.xml><?xml version="1.0" encoding="utf-8"?>
<a:theme xmlns:a="http://schemas.openxmlformats.org/drawingml/2006/main" name="Facet">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1011</TotalTime>
  <Words>5029</Words>
  <Application>Microsoft Macintosh PowerPoint</Application>
  <PresentationFormat>Widescreen</PresentationFormat>
  <Paragraphs>947</Paragraphs>
  <Slides>86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86</vt:i4>
      </vt:variant>
    </vt:vector>
  </HeadingPairs>
  <TitlesOfParts>
    <vt:vector size="93" baseType="lpstr">
      <vt:lpstr>Arial</vt:lpstr>
      <vt:lpstr>Calibri</vt:lpstr>
      <vt:lpstr>Tahoma</vt:lpstr>
      <vt:lpstr>Trebuchet MS</vt:lpstr>
      <vt:lpstr>Wingdings</vt:lpstr>
      <vt:lpstr>Wingdings 3</vt:lpstr>
      <vt:lpstr>Facet</vt:lpstr>
      <vt:lpstr>PowerPoint Presentation</vt:lpstr>
      <vt:lpstr>TOPIC 1:</vt:lpstr>
      <vt:lpstr>PowerPoint Presentation</vt:lpstr>
      <vt:lpstr>PowerPoint Presentation</vt:lpstr>
      <vt:lpstr>PowerPoint Presentation</vt:lpstr>
      <vt:lpstr>Sample questions</vt:lpstr>
      <vt:lpstr>Sample questions</vt:lpstr>
      <vt:lpstr>Sample questions</vt:lpstr>
      <vt:lpstr>Sample questions</vt:lpstr>
      <vt:lpstr>PowerPoint Presentation</vt:lpstr>
      <vt:lpstr>Sample questions</vt:lpstr>
      <vt:lpstr>Sample questions</vt:lpstr>
      <vt:lpstr>Sample questions</vt:lpstr>
      <vt:lpstr>PowerPoint Presentation</vt:lpstr>
      <vt:lpstr>Sample questions</vt:lpstr>
      <vt:lpstr>Sample questions</vt:lpstr>
      <vt:lpstr>Sample questions</vt:lpstr>
      <vt:lpstr>PowerPoint Presentation</vt:lpstr>
      <vt:lpstr>Sample questions</vt:lpstr>
      <vt:lpstr>Sample questions</vt:lpstr>
      <vt:lpstr>Sample questions</vt:lpstr>
      <vt:lpstr>PowerPoint Presentation</vt:lpstr>
      <vt:lpstr>Sample questions</vt:lpstr>
      <vt:lpstr>Sample questions</vt:lpstr>
      <vt:lpstr>Sample questions</vt:lpstr>
      <vt:lpstr>PowerPoint Presentation</vt:lpstr>
      <vt:lpstr>Sample questions</vt:lpstr>
      <vt:lpstr>Sample questions</vt:lpstr>
      <vt:lpstr>Sample questions</vt:lpstr>
      <vt:lpstr>PowerPoint Presentation</vt:lpstr>
      <vt:lpstr>Sample questions</vt:lpstr>
      <vt:lpstr>Sample questions</vt:lpstr>
      <vt:lpstr>Sample questions</vt:lpstr>
      <vt:lpstr>PowerPoint Presentation</vt:lpstr>
      <vt:lpstr>Sample questions</vt:lpstr>
      <vt:lpstr>PowerPoint Presentation</vt:lpstr>
      <vt:lpstr>Sample questions</vt:lpstr>
      <vt:lpstr>Sample questions</vt:lpstr>
      <vt:lpstr>Sample questions</vt:lpstr>
      <vt:lpstr>PowerPoint Presentation</vt:lpstr>
      <vt:lpstr>Sample questions</vt:lpstr>
      <vt:lpstr>Sample questions</vt:lpstr>
      <vt:lpstr>Sample questions</vt:lpstr>
      <vt:lpstr>PowerPoint Presentation</vt:lpstr>
      <vt:lpstr>Sample questions</vt:lpstr>
      <vt:lpstr>Sample questions</vt:lpstr>
      <vt:lpstr>Sample questions</vt:lpstr>
      <vt:lpstr>PowerPoint Presentation</vt:lpstr>
      <vt:lpstr>Sample questions</vt:lpstr>
      <vt:lpstr>Sample questions</vt:lpstr>
      <vt:lpstr>Sample questions</vt:lpstr>
      <vt:lpstr>PowerPoint Presentation</vt:lpstr>
      <vt:lpstr>Sample questions</vt:lpstr>
      <vt:lpstr>Sample questions</vt:lpstr>
      <vt:lpstr>Sample questions</vt:lpstr>
      <vt:lpstr>PowerPoint Presentation</vt:lpstr>
      <vt:lpstr>Sample questions</vt:lpstr>
      <vt:lpstr>Sample questions</vt:lpstr>
      <vt:lpstr>Sample questions</vt:lpstr>
      <vt:lpstr>PowerPoint Presentation</vt:lpstr>
      <vt:lpstr>Sample questions</vt:lpstr>
      <vt:lpstr>Sample questions</vt:lpstr>
      <vt:lpstr>Sample questions</vt:lpstr>
      <vt:lpstr>PowerPoint Presentation</vt:lpstr>
      <vt:lpstr>Sample questions</vt:lpstr>
      <vt:lpstr>Sample questions</vt:lpstr>
      <vt:lpstr>Sample questions</vt:lpstr>
      <vt:lpstr>PowerPoint Presentation</vt:lpstr>
      <vt:lpstr>Sample questions</vt:lpstr>
      <vt:lpstr>Sample questions</vt:lpstr>
      <vt:lpstr>PowerPoint Presentation</vt:lpstr>
      <vt:lpstr>Sample questions</vt:lpstr>
      <vt:lpstr>Sample questions</vt:lpstr>
      <vt:lpstr>Sample questions</vt:lpstr>
      <vt:lpstr>PowerPoint Presentation</vt:lpstr>
      <vt:lpstr>Sample questions</vt:lpstr>
      <vt:lpstr>Sample questions</vt:lpstr>
      <vt:lpstr>PowerPoint Presentation</vt:lpstr>
      <vt:lpstr>Sample questions</vt:lpstr>
      <vt:lpstr>Sample questions</vt:lpstr>
      <vt:lpstr>Sample questions</vt:lpstr>
      <vt:lpstr>PowerPoint Presentation</vt:lpstr>
      <vt:lpstr>Sample questions</vt:lpstr>
      <vt:lpstr>Sample questions</vt:lpstr>
      <vt:lpstr>Sample questions</vt:lpstr>
      <vt:lpstr>THANK YOU!!! Proverbs 3:5-6 “Trust in the Lord with all your heart and lean not on your own understanding; in all your ways submit to Him, and He will make your paths straight”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Microsoft Office User</dc:creator>
  <cp:lastModifiedBy>Microsoft Office User</cp:lastModifiedBy>
  <cp:revision>20</cp:revision>
  <dcterms:created xsi:type="dcterms:W3CDTF">2024-07-11T10:28:40Z</dcterms:created>
  <dcterms:modified xsi:type="dcterms:W3CDTF">2024-08-14T00:00:33Z</dcterms:modified>
</cp:coreProperties>
</file>