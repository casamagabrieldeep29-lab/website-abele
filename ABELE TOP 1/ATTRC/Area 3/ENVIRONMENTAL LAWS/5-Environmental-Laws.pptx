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21"/>
  </p:notesMasterIdLst>
  <p:sldIdLst>
    <p:sldId id="256" r:id="rId2"/>
    <p:sldId id="259" r:id="rId3"/>
    <p:sldId id="386" r:id="rId4"/>
    <p:sldId id="407" r:id="rId5"/>
    <p:sldId id="408" r:id="rId6"/>
    <p:sldId id="409" r:id="rId7"/>
    <p:sldId id="413" r:id="rId8"/>
    <p:sldId id="410" r:id="rId9"/>
    <p:sldId id="414" r:id="rId10"/>
    <p:sldId id="411" r:id="rId11"/>
    <p:sldId id="406" r:id="rId12"/>
    <p:sldId id="416" r:id="rId13"/>
    <p:sldId id="415" r:id="rId14"/>
    <p:sldId id="417" r:id="rId15"/>
    <p:sldId id="418" r:id="rId16"/>
    <p:sldId id="419" r:id="rId17"/>
    <p:sldId id="420" r:id="rId18"/>
    <p:sldId id="421" r:id="rId19"/>
    <p:sldId id="34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modifyVerifier cryptProviderType="rsaAES" cryptAlgorithmClass="hash" cryptAlgorithmType="typeAny" cryptAlgorithmSid="14" spinCount="100000" saltData="bdBOtK41VwSGmeCCSCO3aA==" hashData="Rwwk72PtIRduwyJ5UEBbQVG+Zul5S4FWKyXY817YynNxjfo8iFh0p5udFvmU1i4+br4vJacXGwJlXMx4ra2UvQ=="/>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8E2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49"/>
    <p:restoredTop sz="93632"/>
  </p:normalViewPr>
  <p:slideViewPr>
    <p:cSldViewPr snapToGrid="0">
      <p:cViewPr varScale="1">
        <p:scale>
          <a:sx n="102" d="100"/>
          <a:sy n="102" d="100"/>
        </p:scale>
        <p:origin x="1008"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09575E-32D0-F54F-BA99-FA2180B2EE90}" type="datetimeFigureOut">
              <a:rPr lang="en-US" smtClean="0"/>
              <a:t>8/12/25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62291CE-873D-C740-AA3B-F46FC67FFF47}" type="slidenum">
              <a:rPr lang="en-US" smtClean="0"/>
              <a:t>‹#›</a:t>
            </a:fld>
            <a:endParaRPr lang="en-US"/>
          </a:p>
        </p:txBody>
      </p:sp>
    </p:spTree>
    <p:extLst>
      <p:ext uri="{BB962C8B-B14F-4D97-AF65-F5344CB8AC3E}">
        <p14:creationId xmlns:p14="http://schemas.microsoft.com/office/powerpoint/2010/main" val="26341715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1C1664-C861-E149-A6E7-EC8C95E7C967}" type="datetime1">
              <a:rPr lang="en-PH" smtClean="0"/>
              <a:t>8/12/25</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81A8057-F83C-3548-B9B6-008431668FDF}" type="datetime1">
              <a:rPr lang="en-PH" smtClean="0"/>
              <a:t>8/12/25</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00EBDA3-C25B-EA44-90F4-17D8327D6DE8}" type="datetime1">
              <a:rPr lang="en-PH" smtClean="0"/>
              <a:t>8/12/25</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8347DF-A34E-A24D-A0FD-09A506209480}" type="datetime1">
              <a:rPr lang="en-PH" smtClean="0"/>
              <a:t>8/12/25</a:t>
            </a:fld>
            <a:endParaRPr lang="en-US" dirty="0"/>
          </a:p>
        </p:txBody>
      </p:sp>
      <p:sp>
        <p:nvSpPr>
          <p:cNvPr id="6" name="Footer Placeholder 5"/>
          <p:cNvSpPr>
            <a:spLocks noGrp="1"/>
          </p:cNvSpPr>
          <p:nvPr>
            <p:ph type="ftr" sz="quarter" idx="11"/>
          </p:nvPr>
        </p:nvSpPr>
        <p:spPr/>
        <p:txBody>
          <a:bodyPr/>
          <a:lstStyle/>
          <a:p>
            <a:r>
              <a:rPr lang="en-US"/>
              <a:t>Engr. Melanie D. Piedad, ABELE 2022 Topnotcher</a:t>
            </a:r>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01BD127-979B-974B-A248-8C96A56F79FD}" type="datetime1">
              <a:rPr lang="en-PH" smtClean="0"/>
              <a:t>8/12/25</a:t>
            </a:fld>
            <a:endParaRPr lang="en-US" dirty="0"/>
          </a:p>
        </p:txBody>
      </p:sp>
      <p:sp>
        <p:nvSpPr>
          <p:cNvPr id="8" name="Footer Placeholder 7"/>
          <p:cNvSpPr>
            <a:spLocks noGrp="1"/>
          </p:cNvSpPr>
          <p:nvPr>
            <p:ph type="ftr" sz="quarter" idx="11"/>
          </p:nvPr>
        </p:nvSpPr>
        <p:spPr/>
        <p:txBody>
          <a:bodyPr/>
          <a:lstStyle/>
          <a:p>
            <a:r>
              <a:rPr lang="en-US"/>
              <a:t>Engr. Melanie D. Piedad, ABELE 2022 Topnotcher</a:t>
            </a:r>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EE86726-2CD3-F24E-BE51-96ADD79BD96C}" type="datetime1">
              <a:rPr lang="en-PH" smtClean="0"/>
              <a:t>8/12/25</a:t>
            </a:fld>
            <a:endParaRPr lang="en-US" dirty="0"/>
          </a:p>
        </p:txBody>
      </p:sp>
      <p:sp>
        <p:nvSpPr>
          <p:cNvPr id="4" name="Footer Placeholder 3"/>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34F22AC-2FC2-1542-BA01-0A9F59FF44AD}" type="datetime1">
              <a:rPr lang="en-PH" smtClean="0"/>
              <a:t>8/12/25</a:t>
            </a:fld>
            <a:endParaRPr lang="en-US" dirty="0"/>
          </a:p>
        </p:txBody>
      </p:sp>
      <p:sp>
        <p:nvSpPr>
          <p:cNvPr id="3" name="Footer Placeholder 2"/>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8FC9B78-4969-9543-8A2D-30799F81026E}" type="datetime1">
              <a:rPr lang="en-PH" smtClean="0"/>
              <a:t>8/12/25</a:t>
            </a:fld>
            <a:endParaRPr lang="en-US" dirty="0"/>
          </a:p>
        </p:txBody>
      </p:sp>
      <p:sp>
        <p:nvSpPr>
          <p:cNvPr id="6" name="Footer Placeholder 5"/>
          <p:cNvSpPr>
            <a:spLocks noGrp="1"/>
          </p:cNvSpPr>
          <p:nvPr>
            <p:ph type="ftr" sz="quarter" idx="11"/>
          </p:nvPr>
        </p:nvSpPr>
        <p:spPr/>
        <p:txBody>
          <a:bodyPr/>
          <a:lstStyle/>
          <a:p>
            <a:r>
              <a:rPr lang="en-US"/>
              <a:t>Engr. Melanie D. Piedad, ABELE 2022 Topnotcher</a:t>
            </a:r>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41B7F87-8350-3E44-8310-AF983933CAB6}" type="datetime1">
              <a:rPr lang="en-PH" smtClean="0"/>
              <a:t>8/12/25</a:t>
            </a:fld>
            <a:endParaRPr lang="en-US" dirty="0"/>
          </a:p>
        </p:txBody>
      </p:sp>
      <p:sp>
        <p:nvSpPr>
          <p:cNvPr id="6" name="Footer Placeholder 5"/>
          <p:cNvSpPr>
            <a:spLocks noGrp="1"/>
          </p:cNvSpPr>
          <p:nvPr>
            <p:ph type="ftr" sz="quarter" idx="11"/>
          </p:nvPr>
        </p:nvSpPr>
        <p:spPr/>
        <p:txBody>
          <a:bodyPr/>
          <a:lstStyle/>
          <a:p>
            <a:r>
              <a:rPr lang="en-US"/>
              <a:t>Engr. Melanie D. Piedad, ABELE 2022 Topnotcher</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6643C44-C268-AC44-BD10-B7476D3AE4BD}" type="datetime1">
              <a:rPr lang="en-PH" smtClean="0"/>
              <a:t>8/12/25</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6A0D433-558E-564D-BD18-899F28865700}" type="datetime1">
              <a:rPr lang="en-PH" smtClean="0"/>
              <a:t>8/12/25</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9BB9E8A-6685-C34C-B30D-BAD745395F99}" type="datetime1">
              <a:rPr lang="en-PH" smtClean="0"/>
              <a:t>8/12/25</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BAE8954-D82D-7443-A6A9-A502CD367779}" type="datetime1">
              <a:rPr lang="en-PH" smtClean="0"/>
              <a:t>8/12/25</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8E9F215-23ED-CC4C-B4F5-1CC7BF0EAA41}" type="datetime1">
              <a:rPr lang="en-PH" smtClean="0"/>
              <a:t>8/12/25</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51E6F27-D5B7-EA47-89EE-E4AA65235534}" type="datetime1">
              <a:rPr lang="en-PH" smtClean="0"/>
              <a:t>8/12/25</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560F31-888F-9743-BF6A-B6B540E60D0A}" type="datetime1">
              <a:rPr lang="en-PH" smtClean="0"/>
              <a:t>8/12/25</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043A3B8B-DD03-A647-90A6-9DBB12925E52}" type="datetime1">
              <a:rPr lang="en-PH" smtClean="0"/>
              <a:t>8/12/25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Engr. Melanie D. Piedad, ABELE 2022 Topnotcher</a:t>
            </a:r>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5" r:id="rId4"/>
    <p:sldLayoutId id="2147483653" r:id="rId5"/>
    <p:sldLayoutId id="2147483654" r:id="rId6"/>
    <p:sldLayoutId id="2147483655" r:id="rId7"/>
    <p:sldLayoutId id="2147483666" r:id="rId8"/>
    <p:sldLayoutId id="2147483657" r:id="rId9"/>
    <p:sldLayoutId id="2147483660" r:id="rId10"/>
    <p:sldLayoutId id="2147483661" r:id="rId11"/>
    <p:sldLayoutId id="2147483662" r:id="rId12"/>
    <p:sldLayoutId id="2147483663" r:id="rId13"/>
    <p:sldLayoutId id="2147483664" r:id="rId14"/>
    <p:sldLayoutId id="2147483667" r:id="rId15"/>
    <p:sldLayoutId id="2147483659" r:id="rId16"/>
  </p:sldLayoutIdLst>
  <p:hf hd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CDAD3E0-13BD-D554-E848-1BE20B045096}"/>
              </a:ext>
            </a:extLst>
          </p:cNvPr>
          <p:cNvSpPr txBox="1">
            <a:spLocks/>
          </p:cNvSpPr>
          <p:nvPr/>
        </p:nvSpPr>
        <p:spPr>
          <a:xfrm>
            <a:off x="801210" y="1129070"/>
            <a:ext cx="8973214" cy="3079431"/>
          </a:xfrm>
          <a:prstGeom prst="rect">
            <a:avLst/>
          </a:prstGeom>
        </p:spPr>
        <p:txBody>
          <a:bodyPr vert="horz" lIns="91440" tIns="45720" rIns="91440" bIns="45720" rtlCol="0" anchor="ctr">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b="1" dirty="0">
                <a:solidFill>
                  <a:srgbClr val="E18E2E"/>
                </a:solidFill>
                <a:latin typeface="Trebuchet MS" panose="020B0703020202090204" pitchFamily="34" charset="0"/>
              </a:rPr>
              <a:t>AREA III:</a:t>
            </a:r>
          </a:p>
          <a:p>
            <a:pPr algn="ctr"/>
            <a:r>
              <a:rPr lang="en-PH" sz="4000" b="1" dirty="0">
                <a:effectLst/>
                <a:latin typeface="Tahoma" panose="020B0604030504040204" pitchFamily="34" charset="0"/>
                <a:ea typeface="Calibri" panose="020F0502020204030204" pitchFamily="34" charset="0"/>
              </a:rPr>
              <a:t>AB Structures and Environment Engineering and Bioprocess Engineering and Allied Subjects </a:t>
            </a:r>
            <a:endParaRPr lang="en-US" b="1" dirty="0">
              <a:solidFill>
                <a:srgbClr val="E18E2E"/>
              </a:solidFill>
              <a:latin typeface="Trebuchet MS" panose="020B0703020202090204" pitchFamily="34" charset="0"/>
            </a:endParaRPr>
          </a:p>
        </p:txBody>
      </p:sp>
      <p:sp>
        <p:nvSpPr>
          <p:cNvPr id="3" name="Footer Placeholder 2">
            <a:extLst>
              <a:ext uri="{FF2B5EF4-FFF2-40B4-BE49-F238E27FC236}">
                <a16:creationId xmlns:a16="http://schemas.microsoft.com/office/drawing/2014/main" id="{CA8A06FD-0C4B-EACC-4AD2-02FE58787C7A}"/>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68A8EDFF-C655-60B2-A75C-47D5994FE949}"/>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Tree>
    <p:extLst>
      <p:ext uri="{BB962C8B-B14F-4D97-AF65-F5344CB8AC3E}">
        <p14:creationId xmlns:p14="http://schemas.microsoft.com/office/powerpoint/2010/main" val="21850439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CDAD3E0-13BD-D554-E848-1BE20B045096}"/>
              </a:ext>
            </a:extLst>
          </p:cNvPr>
          <p:cNvSpPr txBox="1">
            <a:spLocks/>
          </p:cNvSpPr>
          <p:nvPr/>
        </p:nvSpPr>
        <p:spPr>
          <a:xfrm>
            <a:off x="911550" y="1282419"/>
            <a:ext cx="7787282" cy="714604"/>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sz="3200" b="1" u="sng" dirty="0">
                <a:latin typeface="Trebuchet MS" panose="020B0703020202090204" pitchFamily="34" charset="0"/>
              </a:rPr>
              <a:t>Environmental Engineering</a:t>
            </a:r>
            <a:endParaRPr lang="en-US" sz="6000" b="1" u="sng" dirty="0">
              <a:solidFill>
                <a:srgbClr val="E18E2E"/>
              </a:solidFill>
              <a:latin typeface="Trebuchet MS" panose="020B0703020202090204" pitchFamily="34" charset="0"/>
            </a:endParaRPr>
          </a:p>
        </p:txBody>
      </p:sp>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TOPIC 2:</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992501"/>
            <a:ext cx="8376829" cy="3583080"/>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7000"/>
              </a:lnSpc>
              <a:spcAft>
                <a:spcPts val="800"/>
              </a:spcAft>
              <a:tabLst>
                <a:tab pos="1422400" algn="l"/>
                <a:tab pos="1778000" algn="l"/>
                <a:tab pos="2133600" algn="l"/>
                <a:tab pos="2489200" algn="l"/>
                <a:tab pos="2844800" algn="l"/>
                <a:tab pos="3200400" algn="l"/>
                <a:tab pos="3556000" algn="l"/>
                <a:tab pos="3911600" algn="l"/>
                <a:tab pos="4267200" algn="l"/>
              </a:tabLst>
            </a:pPr>
            <a:r>
              <a:rPr lang="en-US" sz="3600" b="1" dirty="0">
                <a:solidFill>
                  <a:schemeClr val="accent2"/>
                </a:solidFill>
                <a:ea typeface="Calibri" panose="020F0502020204030204" pitchFamily="34" charset="0"/>
                <a:cs typeface="Times New Roman" panose="02020603050405020304" pitchFamily="18" charset="0"/>
              </a:rPr>
              <a:t>2</a:t>
            </a:r>
            <a:r>
              <a:rPr lang="en-US" sz="3600" b="1">
                <a:solidFill>
                  <a:schemeClr val="accent2"/>
                </a:solidFill>
                <a:ea typeface="Calibri" panose="020F0502020204030204" pitchFamily="34" charset="0"/>
                <a:cs typeface="Times New Roman" panose="02020603050405020304" pitchFamily="18" charset="0"/>
              </a:rPr>
              <a:t>.2</a:t>
            </a:r>
            <a:r>
              <a:rPr lang="en-US" sz="3600" b="1">
                <a:solidFill>
                  <a:schemeClr val="accent1">
                    <a:lumMod val="50000"/>
                  </a:schemeClr>
                </a:solidFill>
                <a:ea typeface="Calibri" panose="020F0502020204030204" pitchFamily="34" charset="0"/>
                <a:cs typeface="Times New Roman" panose="02020603050405020304" pitchFamily="18" charset="0"/>
              </a:rPr>
              <a:t> </a:t>
            </a:r>
            <a:r>
              <a:rPr lang="en-US" sz="2400" dirty="0">
                <a:solidFill>
                  <a:srgbClr val="000000"/>
                </a:solidFill>
                <a:effectLst/>
                <a:latin typeface="Tahoma" panose="020B0604030504040204" pitchFamily="34" charset="0"/>
                <a:ea typeface="Calibri" panose="020F0502020204030204" pitchFamily="34" charset="0"/>
                <a:cs typeface="Times New Roman" panose="02020603050405020304" pitchFamily="18" charset="0"/>
              </a:rPr>
              <a:t>Apply governmental regulations and technical requirements in the design, operation and maintenance of agricultural waste management facilities, to include solid, liquid and air.</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ffectLst/>
                <a:ea typeface="Calibri" panose="020F0502020204030204" pitchFamily="34" charset="0"/>
                <a:cs typeface="Times New Roman" panose="02020603050405020304" pitchFamily="18" charset="0"/>
              </a:rPr>
              <a:t>Number of items: 2-3 questions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Coverage: Environmental Laws</a:t>
            </a:r>
            <a:endParaRPr lang="en-PH" sz="2800" b="1" dirty="0">
              <a:solidFill>
                <a:schemeClr val="accent1">
                  <a:lumMod val="50000"/>
                </a:schemeClr>
              </a:solidFill>
              <a:effectLst/>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59E8968A-8E71-D679-4ACF-D2813013235B}"/>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25FBCEFD-A9AD-4A76-6556-141053CD08AA}"/>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Tree>
    <p:extLst>
      <p:ext uri="{BB962C8B-B14F-4D97-AF65-F5344CB8AC3E}">
        <p14:creationId xmlns:p14="http://schemas.microsoft.com/office/powerpoint/2010/main" val="34978340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List of Allied Laws</a:t>
            </a:r>
            <a:endParaRPr lang="en-US" sz="2800" b="1" dirty="0">
              <a:solidFill>
                <a:schemeClr val="accent1">
                  <a:lumMod val="50000"/>
                </a:schemeClr>
              </a:solidFill>
              <a:latin typeface="Trebuchet MS" panose="020B0703020202090204" pitchFamily="34" charset="0"/>
            </a:endParaRPr>
          </a:p>
        </p:txBody>
      </p:sp>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9194976"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1378 – National Plumbing Code</a:t>
            </a: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3601 – An Act Granting the National Irrigation </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           Administration of 1963</a:t>
            </a:r>
          </a:p>
          <a:p>
            <a:pPr algn="just">
              <a:lnSpc>
                <a:spcPct val="107000"/>
              </a:lnSpc>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3927 – Philippine Agricultural Engineering Law of 1964</a:t>
            </a:r>
          </a:p>
          <a:p>
            <a:pPr algn="just">
              <a:lnSpc>
                <a:spcPct val="107000"/>
              </a:lnSpc>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a:p>
            <a:pPr algn="just">
              <a:lnSpc>
                <a:spcPct val="107000"/>
              </a:lnSpc>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6541 – National Building Code of the Philippines (+PD 1096)</a:t>
            </a:r>
          </a:p>
          <a:p>
            <a:pPr algn="just">
              <a:lnSpc>
                <a:spcPct val="107000"/>
              </a:lnSpc>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6657 – Comprehensive Agrarian Reform Law of 1988</a:t>
            </a:r>
          </a:p>
          <a:p>
            <a:pPr algn="just">
              <a:lnSpc>
                <a:spcPct val="107000"/>
              </a:lnSpc>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6938 – Cooperative Code of the Philippines</a:t>
            </a:r>
          </a:p>
          <a:p>
            <a:pPr algn="just">
              <a:lnSpc>
                <a:spcPct val="107000"/>
              </a:lnSpc>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4" name="Footer Placeholder 3">
            <a:extLst>
              <a:ext uri="{FF2B5EF4-FFF2-40B4-BE49-F238E27FC236}">
                <a16:creationId xmlns:a16="http://schemas.microsoft.com/office/drawing/2014/main" id="{D83DE863-ADA0-36BE-289F-5CE3AD2D978D}"/>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786D9622-B85E-2940-F714-EDF2CD10EFDA}"/>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Tree>
    <p:extLst>
      <p:ext uri="{BB962C8B-B14F-4D97-AF65-F5344CB8AC3E}">
        <p14:creationId xmlns:p14="http://schemas.microsoft.com/office/powerpoint/2010/main" val="34922520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List of Allied Laws</a:t>
            </a:r>
            <a:endParaRPr lang="en-US" sz="2800" b="1" dirty="0">
              <a:solidFill>
                <a:schemeClr val="accent1">
                  <a:lumMod val="50000"/>
                </a:schemeClr>
              </a:solidFill>
              <a:latin typeface="Trebuchet MS" panose="020B0703020202090204" pitchFamily="34" charset="0"/>
            </a:endParaRPr>
          </a:p>
        </p:txBody>
      </p:sp>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9194976"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7160 – Local Government Code of the Philippines</a:t>
            </a: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8293 – Intellectual Property Code of the Philippines</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8435 – Agricultural and Fisheries Modernization Act of 1997</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8550 – Philippine Fisheries Code of 1998</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8559 – Philippine Agricultural Engineering Act of 1998</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8749 – Philippine Clean Air Act of 1999</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8981 – PRC Modernization Act of 2000</a:t>
            </a:r>
          </a:p>
          <a:p>
            <a:pPr algn="just">
              <a:lnSpc>
                <a:spcPct val="107000"/>
              </a:lnSpc>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4" name="Footer Placeholder 3">
            <a:extLst>
              <a:ext uri="{FF2B5EF4-FFF2-40B4-BE49-F238E27FC236}">
                <a16:creationId xmlns:a16="http://schemas.microsoft.com/office/drawing/2014/main" id="{70C401D3-8AE1-7E1C-440B-8A95DC782F10}"/>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EF75DCED-1A75-64EF-513B-827747BAF647}"/>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Tree>
    <p:extLst>
      <p:ext uri="{BB962C8B-B14F-4D97-AF65-F5344CB8AC3E}">
        <p14:creationId xmlns:p14="http://schemas.microsoft.com/office/powerpoint/2010/main" val="9618382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List of Allied Laws</a:t>
            </a:r>
            <a:endParaRPr lang="en-US" sz="2800" b="1" dirty="0">
              <a:solidFill>
                <a:schemeClr val="accent1">
                  <a:lumMod val="50000"/>
                </a:schemeClr>
              </a:solidFill>
              <a:latin typeface="Trebuchet MS" panose="020B0703020202090204" pitchFamily="34" charset="0"/>
            </a:endParaRPr>
          </a:p>
        </p:txBody>
      </p:sp>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10386102"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9003 – Ecological Solid Waste Management Act of 2000</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9184 – Government Procurement Reform Act</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9275 – Philippine Clean Water Act of 2004</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9296 – Meat Inspection Code of the Philippines</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9367 – Biofuels Act of 2006</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9513 – Renewable Energy Act of 2008</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9729 – Climate Change Act of 2009</a:t>
            </a: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10068 – Organic Agriculture Act of 2010</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10601 – Agricultural and Fisheries Mechanization (</a:t>
            </a:r>
            <a:r>
              <a:rPr lang="en-PH" sz="2400" b="1" dirty="0" err="1">
                <a:solidFill>
                  <a:schemeClr val="accent1">
                    <a:lumMod val="50000"/>
                  </a:schemeClr>
                </a:solidFill>
                <a:ea typeface="Calibri" panose="020F0502020204030204" pitchFamily="34" charset="0"/>
                <a:cs typeface="Times New Roman" panose="02020603050405020304" pitchFamily="18" charset="0"/>
              </a:rPr>
              <a:t>AFMech</a:t>
            </a:r>
            <a:r>
              <a:rPr lang="en-PH" sz="2400" b="1" dirty="0">
                <a:solidFill>
                  <a:schemeClr val="accent1">
                    <a:lumMod val="50000"/>
                  </a:schemeClr>
                </a:solidFill>
                <a:ea typeface="Calibri" panose="020F0502020204030204" pitchFamily="34" charset="0"/>
                <a:cs typeface="Times New Roman" panose="02020603050405020304" pitchFamily="18" charset="0"/>
              </a:rPr>
              <a:t>) Law</a:t>
            </a: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4" name="Footer Placeholder 3">
            <a:extLst>
              <a:ext uri="{FF2B5EF4-FFF2-40B4-BE49-F238E27FC236}">
                <a16:creationId xmlns:a16="http://schemas.microsoft.com/office/drawing/2014/main" id="{45F2B250-EFAB-F71A-76C6-BCC49403875B}"/>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44BC8613-5CE3-B7D3-45A3-042453741DC5}"/>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Tree>
    <p:extLst>
      <p:ext uri="{BB962C8B-B14F-4D97-AF65-F5344CB8AC3E}">
        <p14:creationId xmlns:p14="http://schemas.microsoft.com/office/powerpoint/2010/main" val="4865376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List of Allied Laws</a:t>
            </a:r>
            <a:endParaRPr lang="en-US" sz="2800" b="1" dirty="0">
              <a:solidFill>
                <a:schemeClr val="accent1">
                  <a:lumMod val="50000"/>
                </a:schemeClr>
              </a:solidFill>
              <a:latin typeface="Trebuchet MS" panose="020B0703020202090204" pitchFamily="34" charset="0"/>
            </a:endParaRPr>
          </a:p>
        </p:txBody>
      </p:sp>
      <p:sp>
        <p:nvSpPr>
          <p:cNvPr id="2" name="Title 1">
            <a:extLst>
              <a:ext uri="{FF2B5EF4-FFF2-40B4-BE49-F238E27FC236}">
                <a16:creationId xmlns:a16="http://schemas.microsoft.com/office/drawing/2014/main" id="{35163BE4-4011-1D38-F209-6068365CD1F5}"/>
              </a:ext>
            </a:extLst>
          </p:cNvPr>
          <p:cNvSpPr txBox="1">
            <a:spLocks/>
          </p:cNvSpPr>
          <p:nvPr/>
        </p:nvSpPr>
        <p:spPr>
          <a:xfrm>
            <a:off x="947644" y="1515290"/>
            <a:ext cx="11244355"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10912 – Continuing Professional Development (CPD) Act of 2016</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10915 – Philippine Agricultural and Biosystems Engineering Act of 2016</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10969 – Free Irrigation Service Act</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10963 – TRAIN Law (Tax Reform for Acceleration and Inclusion Law)</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11203 – Rice Tariffication Law</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11321 – Sagip Saka Act: Farmers and Fisherfolk Enterprise Development </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             Program</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PD 856 – Code on Sanitation of the Philippines</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DILG MC 2008-167 – Institutionalization of Agricultural Engineering </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 					 Profession in the LGUs</a:t>
            </a: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4" name="Footer Placeholder 3">
            <a:extLst>
              <a:ext uri="{FF2B5EF4-FFF2-40B4-BE49-F238E27FC236}">
                <a16:creationId xmlns:a16="http://schemas.microsoft.com/office/drawing/2014/main" id="{78097160-2406-87AA-66C1-6DA01CAC0F32}"/>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A9A69380-FF6C-E9BB-7343-93819920B794}"/>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Tree>
    <p:extLst>
      <p:ext uri="{BB962C8B-B14F-4D97-AF65-F5344CB8AC3E}">
        <p14:creationId xmlns:p14="http://schemas.microsoft.com/office/powerpoint/2010/main" val="21697835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4" y="1515290"/>
            <a:ext cx="11244355"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8749 – Philippine Clean Air Act of 1999</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9003 – Ecological Solid Waste Management Act of 2000</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9275 – Philippine Clean Water Act of 2004</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9367 – Biofuels Act of 2006</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9513 – Renewable Energy Act of 2008</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9729 – Climate Change Act of 2009</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10068 – Organic Agriculture Act of 2010</a:t>
            </a: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Also study the </a:t>
            </a:r>
            <a:r>
              <a:rPr lang="en-PH" sz="2400" b="1" u="sng" dirty="0">
                <a:solidFill>
                  <a:schemeClr val="accent1">
                    <a:lumMod val="50000"/>
                  </a:schemeClr>
                </a:solidFill>
                <a:ea typeface="Calibri" panose="020F0502020204030204" pitchFamily="34" charset="0"/>
                <a:cs typeface="Times New Roman" panose="02020603050405020304" pitchFamily="18" charset="0"/>
              </a:rPr>
              <a:t>DENR-EMB Mandate</a:t>
            </a: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4" name="Title 1">
            <a:extLst>
              <a:ext uri="{FF2B5EF4-FFF2-40B4-BE49-F238E27FC236}">
                <a16:creationId xmlns:a16="http://schemas.microsoft.com/office/drawing/2014/main" id="{101A6336-1099-D679-053B-2C7EBAC2A2BF}"/>
              </a:ext>
            </a:extLst>
          </p:cNvPr>
          <p:cNvSpPr txBox="1">
            <a:spLocks/>
          </p:cNvSpPr>
          <p:nvPr/>
        </p:nvSpPr>
        <p:spPr>
          <a:xfrm>
            <a:off x="947645" y="534990"/>
            <a:ext cx="8773871"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Environmental Laws</a:t>
            </a:r>
            <a:endParaRPr lang="en-US" sz="2800" b="1" dirty="0">
              <a:solidFill>
                <a:schemeClr val="accent1">
                  <a:lumMod val="50000"/>
                </a:schemeClr>
              </a:solidFill>
              <a:latin typeface="Trebuchet MS" panose="020B0703020202090204" pitchFamily="34" charset="0"/>
            </a:endParaRPr>
          </a:p>
        </p:txBody>
      </p:sp>
      <p:sp>
        <p:nvSpPr>
          <p:cNvPr id="5" name="Footer Placeholder 4">
            <a:extLst>
              <a:ext uri="{FF2B5EF4-FFF2-40B4-BE49-F238E27FC236}">
                <a16:creationId xmlns:a16="http://schemas.microsoft.com/office/drawing/2014/main" id="{CCC8CE0C-4495-2AAC-E7E8-B430A7EF9977}"/>
              </a:ext>
            </a:extLst>
          </p:cNvPr>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a:extLst>
              <a:ext uri="{FF2B5EF4-FFF2-40B4-BE49-F238E27FC236}">
                <a16:creationId xmlns:a16="http://schemas.microsoft.com/office/drawing/2014/main" id="{82F0D771-0243-E362-2D21-CB87941B50AA}"/>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Tree>
    <p:extLst>
      <p:ext uri="{BB962C8B-B14F-4D97-AF65-F5344CB8AC3E}">
        <p14:creationId xmlns:p14="http://schemas.microsoft.com/office/powerpoint/2010/main" val="19770737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653556"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EIA is a process that involves the predicting and evaluating the likely impacts of a project as well as the ensuing preventive, mitigating, and enhancement measures in order to protect the environment and community’s welfare.</a:t>
            </a: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5" name="Title 1">
            <a:extLst>
              <a:ext uri="{FF2B5EF4-FFF2-40B4-BE49-F238E27FC236}">
                <a16:creationId xmlns:a16="http://schemas.microsoft.com/office/drawing/2014/main" id="{08B34C0F-0AC5-AB8D-2333-CC8EF8BE4063}"/>
              </a:ext>
            </a:extLst>
          </p:cNvPr>
          <p:cNvSpPr txBox="1">
            <a:spLocks/>
          </p:cNvSpPr>
          <p:nvPr/>
        </p:nvSpPr>
        <p:spPr>
          <a:xfrm>
            <a:off x="947645" y="534990"/>
            <a:ext cx="8773871" cy="980301"/>
          </a:xfrm>
          <a:prstGeom prst="rect">
            <a:avLst/>
          </a:prstGeom>
        </p:spPr>
        <p:txBody>
          <a:bodyPr vert="horz" lIns="91440" tIns="45720" rIns="91440" bIns="45720" rtlCol="0" anchor="t">
            <a:normAutofit fontScale="77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Environmental Impact Assessment (EIA)</a:t>
            </a:r>
            <a:endParaRPr lang="en-US" sz="2800" b="1" dirty="0">
              <a:solidFill>
                <a:schemeClr val="accent1">
                  <a:lumMod val="50000"/>
                </a:schemeClr>
              </a:solidFill>
              <a:latin typeface="Trebuchet MS" panose="020B0703020202090204" pitchFamily="34" charset="0"/>
            </a:endParaRPr>
          </a:p>
        </p:txBody>
      </p:sp>
      <p:sp>
        <p:nvSpPr>
          <p:cNvPr id="4" name="Footer Placeholder 3">
            <a:extLst>
              <a:ext uri="{FF2B5EF4-FFF2-40B4-BE49-F238E27FC236}">
                <a16:creationId xmlns:a16="http://schemas.microsoft.com/office/drawing/2014/main" id="{67115C8A-2214-AF58-F081-5569D4BCB936}"/>
              </a:ext>
            </a:extLst>
          </p:cNvPr>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a:extLst>
              <a:ext uri="{FF2B5EF4-FFF2-40B4-BE49-F238E27FC236}">
                <a16:creationId xmlns:a16="http://schemas.microsoft.com/office/drawing/2014/main" id="{EAB5401D-F840-D1DA-F2FF-CF2752C13E3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Tree>
    <p:extLst>
      <p:ext uri="{BB962C8B-B14F-4D97-AF65-F5344CB8AC3E}">
        <p14:creationId xmlns:p14="http://schemas.microsoft.com/office/powerpoint/2010/main" val="17875192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653556"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400" b="1" dirty="0">
                <a:solidFill>
                  <a:schemeClr val="accent1">
                    <a:lumMod val="50000"/>
                  </a:schemeClr>
                </a:solidFill>
                <a:ea typeface="Calibri" panose="020F0502020204030204" pitchFamily="34" charset="0"/>
                <a:cs typeface="Times New Roman" panose="02020603050405020304" pitchFamily="18" charset="0"/>
              </a:rPr>
              <a:t>An ECC is a decision document issued to the proponent after a thorough review of the EIA Report. The ECC outlines the commitments of the proponent which are necessary for the project to comply with existing environmental regulations or to operate within the best environmental practice that are not currently covered by existing laws.</a:t>
            </a: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5" name="Title 1">
            <a:extLst>
              <a:ext uri="{FF2B5EF4-FFF2-40B4-BE49-F238E27FC236}">
                <a16:creationId xmlns:a16="http://schemas.microsoft.com/office/drawing/2014/main" id="{08B34C0F-0AC5-AB8D-2333-CC8EF8BE4063}"/>
              </a:ext>
            </a:extLst>
          </p:cNvPr>
          <p:cNvSpPr txBox="1">
            <a:spLocks/>
          </p:cNvSpPr>
          <p:nvPr/>
        </p:nvSpPr>
        <p:spPr>
          <a:xfrm>
            <a:off x="947645" y="534990"/>
            <a:ext cx="9279197"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3200" b="1" dirty="0">
                <a:solidFill>
                  <a:srgbClr val="E18E2E"/>
                </a:solidFill>
                <a:latin typeface="Trebuchet MS" panose="020B0703020202090204" pitchFamily="34" charset="0"/>
              </a:rPr>
              <a:t>Environmental Compliance Certificate (ECC)</a:t>
            </a:r>
            <a:endParaRPr lang="en-US" sz="2000" b="1" dirty="0">
              <a:solidFill>
                <a:schemeClr val="accent1">
                  <a:lumMod val="50000"/>
                </a:schemeClr>
              </a:solidFill>
              <a:latin typeface="Trebuchet MS" panose="020B0703020202090204" pitchFamily="34" charset="0"/>
            </a:endParaRPr>
          </a:p>
        </p:txBody>
      </p:sp>
      <p:sp>
        <p:nvSpPr>
          <p:cNvPr id="4" name="Footer Placeholder 3">
            <a:extLst>
              <a:ext uri="{FF2B5EF4-FFF2-40B4-BE49-F238E27FC236}">
                <a16:creationId xmlns:a16="http://schemas.microsoft.com/office/drawing/2014/main" id="{D9EA0840-46B0-AF4A-1F0E-02FDA87CC273}"/>
              </a:ext>
            </a:extLst>
          </p:cNvPr>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a:extLst>
              <a:ext uri="{FF2B5EF4-FFF2-40B4-BE49-F238E27FC236}">
                <a16:creationId xmlns:a16="http://schemas.microsoft.com/office/drawing/2014/main" id="{0B751960-3828-9D4B-BF06-A7D264DF0702}"/>
              </a:ext>
            </a:extLst>
          </p:cNvPr>
          <p:cNvSpPr>
            <a:spLocks noGrp="1"/>
          </p:cNvSpPr>
          <p:nvPr>
            <p:ph type="sldNum" sz="quarter" idx="12"/>
          </p:nvPr>
        </p:nvSpPr>
        <p:spPr/>
        <p:txBody>
          <a:bodyPr/>
          <a:lstStyle/>
          <a:p>
            <a:fld id="{D57F1E4F-1CFF-5643-939E-217C01CDF565}" type="slidenum">
              <a:rPr lang="en-US" smtClean="0"/>
              <a:pPr/>
              <a:t>9</a:t>
            </a:fld>
            <a:endParaRPr lang="en-US" dirty="0"/>
          </a:p>
        </p:txBody>
      </p:sp>
    </p:spTree>
    <p:extLst>
      <p:ext uri="{BB962C8B-B14F-4D97-AF65-F5344CB8AC3E}">
        <p14:creationId xmlns:p14="http://schemas.microsoft.com/office/powerpoint/2010/main" val="11197455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Who’s familiar with this issue?</a:t>
            </a:r>
            <a:endParaRPr lang="en-US" sz="2800" b="1" dirty="0">
              <a:solidFill>
                <a:schemeClr val="accent1">
                  <a:lumMod val="50000"/>
                </a:schemeClr>
              </a:solidFill>
              <a:latin typeface="Trebuchet MS" panose="020B0703020202090204" pitchFamily="34"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pic>
        <p:nvPicPr>
          <p:cNvPr id="1026" name="Picture 2" descr="Chocolate Hills, Philippines: New resort in protected Bohol area stirs  debate on conservation | CNN">
            <a:extLst>
              <a:ext uri="{FF2B5EF4-FFF2-40B4-BE49-F238E27FC236}">
                <a16:creationId xmlns:a16="http://schemas.microsoft.com/office/drawing/2014/main" id="{13E95769-DB24-3BB5-A439-2ED9FB9B32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84594" y="1753186"/>
            <a:ext cx="7054477" cy="396875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CBA5676E-AE7C-DE1D-CD1F-8DFFD6474A56}"/>
              </a:ext>
            </a:extLst>
          </p:cNvPr>
          <p:cNvPicPr>
            <a:picLocks noChangeAspect="1"/>
          </p:cNvPicPr>
          <p:nvPr/>
        </p:nvPicPr>
        <p:blipFill rotWithShape="1">
          <a:blip r:embed="rId3"/>
          <a:srcRect l="22962" t="36408" r="25490" b="38824"/>
          <a:stretch/>
        </p:blipFill>
        <p:spPr>
          <a:xfrm>
            <a:off x="1048673" y="1362434"/>
            <a:ext cx="4006516" cy="1203158"/>
          </a:xfrm>
          <a:prstGeom prst="rect">
            <a:avLst/>
          </a:prstGeom>
        </p:spPr>
      </p:pic>
      <p:sp>
        <p:nvSpPr>
          <p:cNvPr id="2" name="Footer Placeholder 1">
            <a:extLst>
              <a:ext uri="{FF2B5EF4-FFF2-40B4-BE49-F238E27FC236}">
                <a16:creationId xmlns:a16="http://schemas.microsoft.com/office/drawing/2014/main" id="{98DC616B-6D78-C7CD-5D3C-12D77690B757}"/>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5C80C5BC-E198-0E90-F776-F34066A9B96E}"/>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Tree>
    <p:extLst>
      <p:ext uri="{BB962C8B-B14F-4D97-AF65-F5344CB8AC3E}">
        <p14:creationId xmlns:p14="http://schemas.microsoft.com/office/powerpoint/2010/main" val="9211634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lnSpc>
                <a:spcPct val="100000"/>
              </a:lnSpc>
            </a:pPr>
            <a:r>
              <a:rPr lang="en-US" altLang="en-US" sz="2800" dirty="0">
                <a:solidFill>
                  <a:schemeClr val="tx2"/>
                </a:solidFill>
                <a:latin typeface="+mn-lt"/>
              </a:rPr>
              <a:t>An act providing for a comprehensive air pollution control policy and for other purposes.</a:t>
            </a:r>
          </a:p>
          <a:p>
            <a:pPr algn="l">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RA 9003</a:t>
            </a:r>
          </a:p>
          <a:p>
            <a:pPr algn="l">
              <a:lnSpc>
                <a:spcPct val="100000"/>
              </a:lnSpc>
            </a:pPr>
            <a:r>
              <a:rPr lang="en-US" altLang="en-US" sz="2800" dirty="0">
                <a:solidFill>
                  <a:schemeClr val="tx2"/>
                </a:solidFill>
                <a:latin typeface="+mn-lt"/>
              </a:rPr>
              <a:t>	b. </a:t>
            </a: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RA 8749</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RA 9275</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RA 9513</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28A19E17-D53B-190C-BEC1-2EDE6483325E}"/>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D962801D-AE84-8C02-83D9-1661E7B11C16}"/>
              </a:ext>
            </a:extLst>
          </p:cNvPr>
          <p:cNvSpPr>
            <a:spLocks noGrp="1"/>
          </p:cNvSpPr>
          <p:nvPr>
            <p:ph type="sldNum" sz="quarter" idx="12"/>
          </p:nvPr>
        </p:nvSpPr>
        <p:spPr/>
        <p:txBody>
          <a:bodyPr/>
          <a:lstStyle/>
          <a:p>
            <a:fld id="{D57F1E4F-1CFF-5643-939E-217C01CDF565}" type="slidenum">
              <a:rPr lang="en-US" smtClean="0"/>
              <a:pPr/>
              <a:t>11</a:t>
            </a:fld>
            <a:endParaRPr lang="en-US" dirty="0"/>
          </a:p>
        </p:txBody>
      </p:sp>
    </p:spTree>
    <p:extLst>
      <p:ext uri="{BB962C8B-B14F-4D97-AF65-F5344CB8AC3E}">
        <p14:creationId xmlns:p14="http://schemas.microsoft.com/office/powerpoint/2010/main" val="6199244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lnSpc>
                <a:spcPct val="100000"/>
              </a:lnSpc>
            </a:pPr>
            <a:r>
              <a:rPr lang="en-US" altLang="en-US" sz="2800" dirty="0">
                <a:solidFill>
                  <a:schemeClr val="tx2"/>
                </a:solidFill>
                <a:latin typeface="+mn-lt"/>
              </a:rPr>
              <a:t>National Building Code of the Philippines.</a:t>
            </a:r>
          </a:p>
          <a:p>
            <a:pPr algn="l">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RA 3927</a:t>
            </a:r>
          </a:p>
          <a:p>
            <a:pPr algn="l">
              <a:lnSpc>
                <a:spcPct val="100000"/>
              </a:lnSpc>
            </a:pPr>
            <a:r>
              <a:rPr lang="en-US" altLang="en-US" sz="2800" dirty="0">
                <a:solidFill>
                  <a:schemeClr val="tx2"/>
                </a:solidFill>
                <a:latin typeface="+mn-lt"/>
              </a:rPr>
              <a:t>	b. </a:t>
            </a: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RA 6657</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RA 6938</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RA 6541</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B2EA4705-0B57-4F19-B74E-269F43DF181A}"/>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9205E2D7-9910-43FF-94CF-B2F25586428A}"/>
              </a:ext>
            </a:extLst>
          </p:cNvPr>
          <p:cNvSpPr>
            <a:spLocks noGrp="1"/>
          </p:cNvSpPr>
          <p:nvPr>
            <p:ph type="sldNum" sz="quarter" idx="12"/>
          </p:nvPr>
        </p:nvSpPr>
        <p:spPr/>
        <p:txBody>
          <a:bodyPr/>
          <a:lstStyle/>
          <a:p>
            <a:fld id="{D57F1E4F-1CFF-5643-939E-217C01CDF565}" type="slidenum">
              <a:rPr lang="en-US" smtClean="0"/>
              <a:pPr/>
              <a:t>12</a:t>
            </a:fld>
            <a:endParaRPr lang="en-US" dirty="0"/>
          </a:p>
        </p:txBody>
      </p:sp>
    </p:spTree>
    <p:extLst>
      <p:ext uri="{BB962C8B-B14F-4D97-AF65-F5344CB8AC3E}">
        <p14:creationId xmlns:p14="http://schemas.microsoft.com/office/powerpoint/2010/main" val="8275542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lnSpc>
                <a:spcPct val="100000"/>
              </a:lnSpc>
            </a:pPr>
            <a:r>
              <a:rPr lang="en-US" altLang="en-US" sz="2800" dirty="0">
                <a:solidFill>
                  <a:schemeClr val="tx2"/>
                </a:solidFill>
                <a:latin typeface="+mn-lt"/>
              </a:rPr>
              <a:t>A practice of increasing product’s efficiency and substantially decrease hazard.</a:t>
            </a:r>
          </a:p>
          <a:p>
            <a:pPr algn="l">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Environmental Management</a:t>
            </a:r>
          </a:p>
          <a:p>
            <a:pPr algn="l">
              <a:lnSpc>
                <a:spcPct val="100000"/>
              </a:lnSpc>
            </a:pPr>
            <a:r>
              <a:rPr lang="en-US" altLang="en-US" sz="2800" dirty="0">
                <a:solidFill>
                  <a:schemeClr val="tx2"/>
                </a:solidFill>
                <a:latin typeface="+mn-lt"/>
              </a:rPr>
              <a:t>	b. </a:t>
            </a:r>
            <a:r>
              <a:rPr lang="en-PH" altLang="en-US" sz="2800" dirty="0">
                <a:solidFill>
                  <a:schemeClr val="accent1">
                    <a:lumMod val="50000"/>
                  </a:schemeClr>
                </a:solidFill>
                <a:latin typeface="+mn-lt"/>
                <a:cs typeface="Times New Roman" panose="02020603050405020304" pitchFamily="18" charset="0"/>
              </a:rPr>
              <a:t>Pollution Control</a:t>
            </a:r>
            <a:endParaRPr lang="en-PH" sz="2800" dirty="0">
              <a:solidFill>
                <a:schemeClr val="accent1">
                  <a:lumMod val="50000"/>
                </a:schemeClr>
              </a:solidFill>
              <a:latin typeface="+mn-lt"/>
              <a:ea typeface="Calibri" panose="020F0502020204030204" pitchFamily="34" charset="0"/>
              <a:cs typeface="Times New Roman" panose="02020603050405020304" pitchFamily="18" charset="0"/>
            </a:endParaRP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Wastewater Management</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Environmental Assessment</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7023E48E-AC4B-A22A-B899-5E085EC0B4DE}"/>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23294FA9-301E-661F-8FDC-2B5B9AB4C658}"/>
              </a:ext>
            </a:extLst>
          </p:cNvPr>
          <p:cNvSpPr>
            <a:spLocks noGrp="1"/>
          </p:cNvSpPr>
          <p:nvPr>
            <p:ph type="sldNum" sz="quarter" idx="12"/>
          </p:nvPr>
        </p:nvSpPr>
        <p:spPr/>
        <p:txBody>
          <a:bodyPr/>
          <a:lstStyle/>
          <a:p>
            <a:fld id="{D57F1E4F-1CFF-5643-939E-217C01CDF565}" type="slidenum">
              <a:rPr lang="en-US" smtClean="0"/>
              <a:pPr/>
              <a:t>13</a:t>
            </a:fld>
            <a:endParaRPr lang="en-US" dirty="0"/>
          </a:p>
        </p:txBody>
      </p:sp>
    </p:spTree>
    <p:extLst>
      <p:ext uri="{BB962C8B-B14F-4D97-AF65-F5344CB8AC3E}">
        <p14:creationId xmlns:p14="http://schemas.microsoft.com/office/powerpoint/2010/main" val="3299553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lnSpc>
                <a:spcPct val="100000"/>
              </a:lnSpc>
            </a:pPr>
            <a:r>
              <a:rPr lang="en-US" altLang="en-US" sz="2800" dirty="0">
                <a:solidFill>
                  <a:schemeClr val="tx2"/>
                </a:solidFill>
                <a:latin typeface="+mn-lt"/>
              </a:rPr>
              <a:t>Organic agriculture act. </a:t>
            </a:r>
          </a:p>
          <a:p>
            <a:pPr algn="l">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RA 10068</a:t>
            </a:r>
          </a:p>
          <a:p>
            <a:pPr algn="l">
              <a:lnSpc>
                <a:spcPct val="100000"/>
              </a:lnSpc>
            </a:pPr>
            <a:r>
              <a:rPr lang="en-US" altLang="en-US" sz="2800" dirty="0">
                <a:solidFill>
                  <a:schemeClr val="tx2"/>
                </a:solidFill>
                <a:latin typeface="+mn-lt"/>
              </a:rPr>
              <a:t>	b. </a:t>
            </a:r>
            <a:r>
              <a:rPr lang="en-PH" altLang="en-US" sz="2800" dirty="0">
                <a:solidFill>
                  <a:schemeClr val="accent1">
                    <a:lumMod val="50000"/>
                  </a:schemeClr>
                </a:solidFill>
                <a:latin typeface="+mn-lt"/>
                <a:cs typeface="Times New Roman" panose="02020603050405020304" pitchFamily="18" charset="0"/>
              </a:rPr>
              <a:t>RA 8749</a:t>
            </a:r>
            <a:endParaRPr lang="en-PH" sz="2800" dirty="0">
              <a:solidFill>
                <a:schemeClr val="accent1">
                  <a:lumMod val="50000"/>
                </a:schemeClr>
              </a:solidFill>
              <a:latin typeface="+mn-lt"/>
              <a:ea typeface="Calibri" panose="020F0502020204030204" pitchFamily="34" charset="0"/>
              <a:cs typeface="Times New Roman" panose="02020603050405020304" pitchFamily="18" charset="0"/>
            </a:endParaRP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RA 9275</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RA 9003</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E93D6F70-D72A-0BE5-97C8-CD9333DCBEC2}"/>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72E1D739-4B23-242D-824A-78C0221B9106}"/>
              </a:ext>
            </a:extLst>
          </p:cNvPr>
          <p:cNvSpPr>
            <a:spLocks noGrp="1"/>
          </p:cNvSpPr>
          <p:nvPr>
            <p:ph type="sldNum" sz="quarter" idx="12"/>
          </p:nvPr>
        </p:nvSpPr>
        <p:spPr/>
        <p:txBody>
          <a:bodyPr/>
          <a:lstStyle/>
          <a:p>
            <a:fld id="{D57F1E4F-1CFF-5643-939E-217C01CDF565}" type="slidenum">
              <a:rPr lang="en-US" smtClean="0"/>
              <a:pPr/>
              <a:t>14</a:t>
            </a:fld>
            <a:endParaRPr lang="en-US" dirty="0"/>
          </a:p>
        </p:txBody>
      </p:sp>
    </p:spTree>
    <p:extLst>
      <p:ext uri="{BB962C8B-B14F-4D97-AF65-F5344CB8AC3E}">
        <p14:creationId xmlns:p14="http://schemas.microsoft.com/office/powerpoint/2010/main" val="35171455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0000"/>
              </a:lnSpc>
            </a:pPr>
            <a:r>
              <a:rPr lang="en-US" altLang="en-US" sz="2800" dirty="0">
                <a:solidFill>
                  <a:schemeClr val="tx2"/>
                </a:solidFill>
                <a:latin typeface="+mn-lt"/>
              </a:rPr>
              <a:t>This outlines the commitments of the proponent which are necessary for the project to comply with existing environmental regulations.</a:t>
            </a:r>
          </a:p>
          <a:p>
            <a:pPr algn="just">
              <a:lnSpc>
                <a:spcPct val="100000"/>
              </a:lnSpc>
            </a:pPr>
            <a:endParaRPr lang="en-US" altLang="en-US" sz="2800" dirty="0">
              <a:solidFill>
                <a:schemeClr val="tx2"/>
              </a:solidFill>
              <a:latin typeface="+mn-lt"/>
            </a:endParaRPr>
          </a:p>
          <a:p>
            <a:pPr algn="just">
              <a:lnSpc>
                <a:spcPct val="100000"/>
              </a:lnSpc>
            </a:pPr>
            <a:r>
              <a:rPr lang="en-US" altLang="en-US" sz="2800" dirty="0">
                <a:solidFill>
                  <a:schemeClr val="tx2"/>
                </a:solidFill>
                <a:latin typeface="+mn-lt"/>
              </a:rPr>
              <a:t>	a. Environmental Impact Mitigation Act</a:t>
            </a:r>
          </a:p>
          <a:p>
            <a:pPr algn="l">
              <a:lnSpc>
                <a:spcPct val="100000"/>
              </a:lnSpc>
            </a:pPr>
            <a:r>
              <a:rPr lang="en-US" altLang="en-US" sz="2800" dirty="0">
                <a:solidFill>
                  <a:schemeClr val="tx2"/>
                </a:solidFill>
                <a:latin typeface="+mn-lt"/>
              </a:rPr>
              <a:t>	b. Environmental Impact Assessment</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Environmental Compliance Certificate</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Environmental Impact Certificate</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1A65A834-6F92-34A1-E2A6-DF3C9F4D9018}"/>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5027EA2A-6CBA-B8A1-26EF-75626F1D3B7A}"/>
              </a:ext>
            </a:extLst>
          </p:cNvPr>
          <p:cNvSpPr>
            <a:spLocks noGrp="1"/>
          </p:cNvSpPr>
          <p:nvPr>
            <p:ph type="sldNum" sz="quarter" idx="12"/>
          </p:nvPr>
        </p:nvSpPr>
        <p:spPr/>
        <p:txBody>
          <a:bodyPr/>
          <a:lstStyle/>
          <a:p>
            <a:fld id="{D57F1E4F-1CFF-5643-939E-217C01CDF565}" type="slidenum">
              <a:rPr lang="en-US" smtClean="0"/>
              <a:pPr/>
              <a:t>15</a:t>
            </a:fld>
            <a:endParaRPr lang="en-US" dirty="0"/>
          </a:p>
        </p:txBody>
      </p:sp>
    </p:spTree>
    <p:extLst>
      <p:ext uri="{BB962C8B-B14F-4D97-AF65-F5344CB8AC3E}">
        <p14:creationId xmlns:p14="http://schemas.microsoft.com/office/powerpoint/2010/main" val="1798247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0000"/>
              </a:lnSpc>
            </a:pPr>
            <a:r>
              <a:rPr lang="en-US" altLang="en-US" sz="2800" dirty="0">
                <a:solidFill>
                  <a:schemeClr val="tx2"/>
                </a:solidFill>
                <a:latin typeface="+mn-lt"/>
              </a:rPr>
              <a:t>This process involves the evaluation of the likely impacts of a project as well as the ensuing preventive, mitigating, and enhancement measures in order to protect the environment and community’s welfare.</a:t>
            </a:r>
          </a:p>
          <a:p>
            <a:pPr algn="just">
              <a:lnSpc>
                <a:spcPct val="100000"/>
              </a:lnSpc>
            </a:pPr>
            <a:endParaRPr lang="en-US" altLang="en-US" sz="2800" dirty="0">
              <a:solidFill>
                <a:schemeClr val="tx2"/>
              </a:solidFill>
              <a:latin typeface="+mn-lt"/>
            </a:endParaRPr>
          </a:p>
          <a:p>
            <a:pPr algn="just">
              <a:lnSpc>
                <a:spcPct val="100000"/>
              </a:lnSpc>
            </a:pPr>
            <a:r>
              <a:rPr lang="en-US" altLang="en-US" sz="2800" dirty="0">
                <a:solidFill>
                  <a:schemeClr val="tx2"/>
                </a:solidFill>
                <a:latin typeface="+mn-lt"/>
              </a:rPr>
              <a:t>	a. Environmental Impact Mitigation Act</a:t>
            </a:r>
          </a:p>
          <a:p>
            <a:pPr algn="l">
              <a:lnSpc>
                <a:spcPct val="100000"/>
              </a:lnSpc>
            </a:pPr>
            <a:r>
              <a:rPr lang="en-US" altLang="en-US" sz="2800" dirty="0">
                <a:solidFill>
                  <a:schemeClr val="tx2"/>
                </a:solidFill>
                <a:latin typeface="+mn-lt"/>
              </a:rPr>
              <a:t>	b. Environmental Impact Assessment</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Environmental Compliance Certificate</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Environmental Impact Certificate</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B5D4A0CE-EE3B-A1C5-24DC-E769AAE6FE40}"/>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6E92093D-C421-76EB-BFA6-68C60A3DB2C9}"/>
              </a:ext>
            </a:extLst>
          </p:cNvPr>
          <p:cNvSpPr>
            <a:spLocks noGrp="1"/>
          </p:cNvSpPr>
          <p:nvPr>
            <p:ph type="sldNum" sz="quarter" idx="12"/>
          </p:nvPr>
        </p:nvSpPr>
        <p:spPr/>
        <p:txBody>
          <a:bodyPr/>
          <a:lstStyle/>
          <a:p>
            <a:fld id="{D57F1E4F-1CFF-5643-939E-217C01CDF565}" type="slidenum">
              <a:rPr lang="en-US" smtClean="0"/>
              <a:pPr/>
              <a:t>16</a:t>
            </a:fld>
            <a:endParaRPr lang="en-US" dirty="0"/>
          </a:p>
        </p:txBody>
      </p:sp>
    </p:spTree>
    <p:extLst>
      <p:ext uri="{BB962C8B-B14F-4D97-AF65-F5344CB8AC3E}">
        <p14:creationId xmlns:p14="http://schemas.microsoft.com/office/powerpoint/2010/main" val="36046463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0000"/>
              </a:lnSpc>
            </a:pPr>
            <a:r>
              <a:rPr lang="en-US" altLang="en-US" sz="2800" dirty="0">
                <a:solidFill>
                  <a:schemeClr val="tx2"/>
                </a:solidFill>
                <a:latin typeface="+mn-lt"/>
              </a:rPr>
              <a:t>It is the production systems that sustains the health of soils, ecosystems, and people. It relies on ecological processes, biodiversity and cycles adapted to local conditions, rather than the use of inputs with adverse effects.</a:t>
            </a:r>
          </a:p>
          <a:p>
            <a:pPr algn="just">
              <a:lnSpc>
                <a:spcPct val="100000"/>
              </a:lnSpc>
            </a:pPr>
            <a:endParaRPr lang="en-US" altLang="en-US" sz="2800" dirty="0">
              <a:solidFill>
                <a:schemeClr val="tx2"/>
              </a:solidFill>
              <a:latin typeface="+mn-lt"/>
            </a:endParaRPr>
          </a:p>
          <a:p>
            <a:pPr algn="just">
              <a:lnSpc>
                <a:spcPct val="100000"/>
              </a:lnSpc>
            </a:pPr>
            <a:r>
              <a:rPr lang="en-US" altLang="en-US" sz="2800" dirty="0">
                <a:solidFill>
                  <a:schemeClr val="tx2"/>
                </a:solidFill>
                <a:latin typeface="+mn-lt"/>
              </a:rPr>
              <a:t>	a. Organic Agriculture</a:t>
            </a:r>
          </a:p>
          <a:p>
            <a:pPr algn="l">
              <a:lnSpc>
                <a:spcPct val="100000"/>
              </a:lnSpc>
            </a:pPr>
            <a:r>
              <a:rPr lang="en-US" altLang="en-US" sz="2800" dirty="0">
                <a:solidFill>
                  <a:schemeClr val="tx2"/>
                </a:solidFill>
                <a:latin typeface="+mn-lt"/>
              </a:rPr>
              <a:t>	b. Sustainable Agriculture</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Traditional </a:t>
            </a:r>
            <a:r>
              <a:rPr lang="en-US" altLang="en-US" sz="2800" dirty="0">
                <a:solidFill>
                  <a:schemeClr val="tx2"/>
                </a:solidFill>
                <a:latin typeface="+mn-lt"/>
              </a:rPr>
              <a:t>Agriculture</a:t>
            </a:r>
            <a:endParaRPr lang="en-PH" sz="2800" dirty="0">
              <a:solidFill>
                <a:schemeClr val="accent1">
                  <a:lumMod val="50000"/>
                </a:schemeClr>
              </a:solidFill>
              <a:latin typeface="+mn-lt"/>
              <a:ea typeface="Calibri" panose="020F0502020204030204" pitchFamily="34" charset="0"/>
              <a:cs typeface="Times New Roman" panose="02020603050405020304" pitchFamily="18" charset="0"/>
            </a:endParaRP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Conventional </a:t>
            </a:r>
            <a:r>
              <a:rPr lang="en-US" altLang="en-US" sz="2800" dirty="0">
                <a:solidFill>
                  <a:schemeClr val="tx2"/>
                </a:solidFill>
                <a:latin typeface="+mn-lt"/>
              </a:rPr>
              <a:t>Agriculture</a:t>
            </a:r>
            <a:endParaRPr lang="en-PH" sz="2800" dirty="0">
              <a:solidFill>
                <a:schemeClr val="accent1">
                  <a:lumMod val="50000"/>
                </a:schemeClr>
              </a:solidFill>
              <a:latin typeface="+mn-lt"/>
              <a:ea typeface="Calibri" panose="020F0502020204030204" pitchFamily="34" charset="0"/>
              <a:cs typeface="Times New Roman" panose="02020603050405020304" pitchFamily="18" charset="0"/>
            </a:endParaRP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818CD105-BC26-10CF-422D-EA637175855A}"/>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587AA7FB-27F3-0350-7D51-61D53B7E5040}"/>
              </a:ext>
            </a:extLst>
          </p:cNvPr>
          <p:cNvSpPr>
            <a:spLocks noGrp="1"/>
          </p:cNvSpPr>
          <p:nvPr>
            <p:ph type="sldNum" sz="quarter" idx="12"/>
          </p:nvPr>
        </p:nvSpPr>
        <p:spPr/>
        <p:txBody>
          <a:bodyPr/>
          <a:lstStyle/>
          <a:p>
            <a:fld id="{D57F1E4F-1CFF-5643-939E-217C01CDF565}" type="slidenum">
              <a:rPr lang="en-US" smtClean="0"/>
              <a:pPr/>
              <a:t>17</a:t>
            </a:fld>
            <a:endParaRPr lang="en-US" dirty="0"/>
          </a:p>
        </p:txBody>
      </p:sp>
    </p:spTree>
    <p:extLst>
      <p:ext uri="{BB962C8B-B14F-4D97-AF65-F5344CB8AC3E}">
        <p14:creationId xmlns:p14="http://schemas.microsoft.com/office/powerpoint/2010/main" val="27478071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0000"/>
              </a:lnSpc>
            </a:pPr>
            <a:r>
              <a:rPr lang="en-US" altLang="en-US" sz="2800" dirty="0">
                <a:solidFill>
                  <a:schemeClr val="tx2"/>
                </a:solidFill>
                <a:latin typeface="+mn-lt"/>
              </a:rPr>
              <a:t>It is the production of food, fiber, or other plant or animal products using farming techniques that protect the environment, public health, human communities and animal welfare.</a:t>
            </a:r>
          </a:p>
          <a:p>
            <a:pPr algn="just">
              <a:lnSpc>
                <a:spcPct val="100000"/>
              </a:lnSpc>
            </a:pPr>
            <a:endParaRPr lang="en-US" altLang="en-US" sz="2800" dirty="0">
              <a:solidFill>
                <a:schemeClr val="tx2"/>
              </a:solidFill>
              <a:latin typeface="+mn-lt"/>
            </a:endParaRPr>
          </a:p>
          <a:p>
            <a:pPr algn="just">
              <a:lnSpc>
                <a:spcPct val="100000"/>
              </a:lnSpc>
            </a:pPr>
            <a:r>
              <a:rPr lang="en-US" altLang="en-US" sz="2800" dirty="0">
                <a:solidFill>
                  <a:schemeClr val="tx2"/>
                </a:solidFill>
                <a:latin typeface="+mn-lt"/>
              </a:rPr>
              <a:t>	a. Organic Agriculture</a:t>
            </a:r>
          </a:p>
          <a:p>
            <a:pPr algn="l">
              <a:lnSpc>
                <a:spcPct val="100000"/>
              </a:lnSpc>
            </a:pPr>
            <a:r>
              <a:rPr lang="en-US" altLang="en-US" sz="2800" dirty="0">
                <a:solidFill>
                  <a:schemeClr val="tx2"/>
                </a:solidFill>
                <a:latin typeface="+mn-lt"/>
              </a:rPr>
              <a:t>	b. Sustainable Agriculture</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Traditional </a:t>
            </a:r>
            <a:r>
              <a:rPr lang="en-US" altLang="en-US" sz="2800" dirty="0">
                <a:solidFill>
                  <a:schemeClr val="tx2"/>
                </a:solidFill>
                <a:latin typeface="+mn-lt"/>
              </a:rPr>
              <a:t>Agriculture</a:t>
            </a:r>
            <a:endParaRPr lang="en-PH" sz="2800" dirty="0">
              <a:solidFill>
                <a:schemeClr val="accent1">
                  <a:lumMod val="50000"/>
                </a:schemeClr>
              </a:solidFill>
              <a:latin typeface="+mn-lt"/>
              <a:ea typeface="Calibri" panose="020F0502020204030204" pitchFamily="34" charset="0"/>
              <a:cs typeface="Times New Roman" panose="02020603050405020304" pitchFamily="18" charset="0"/>
            </a:endParaRP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Conventional </a:t>
            </a:r>
            <a:r>
              <a:rPr lang="en-US" altLang="en-US" sz="2800" dirty="0">
                <a:solidFill>
                  <a:schemeClr val="tx2"/>
                </a:solidFill>
                <a:latin typeface="+mn-lt"/>
              </a:rPr>
              <a:t>Agriculture</a:t>
            </a:r>
            <a:endParaRPr lang="en-PH" sz="2800" dirty="0">
              <a:solidFill>
                <a:schemeClr val="accent1">
                  <a:lumMod val="50000"/>
                </a:schemeClr>
              </a:solidFill>
              <a:latin typeface="+mn-lt"/>
              <a:ea typeface="Calibri" panose="020F0502020204030204" pitchFamily="34" charset="0"/>
              <a:cs typeface="Times New Roman" panose="02020603050405020304" pitchFamily="18" charset="0"/>
            </a:endParaRP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BA21FE2D-647F-6B1E-46B1-52B03C82F43D}"/>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962B9259-7FF8-D669-A047-3C23C93DFBC2}"/>
              </a:ext>
            </a:extLst>
          </p:cNvPr>
          <p:cNvSpPr>
            <a:spLocks noGrp="1"/>
          </p:cNvSpPr>
          <p:nvPr>
            <p:ph type="sldNum" sz="quarter" idx="12"/>
          </p:nvPr>
        </p:nvSpPr>
        <p:spPr/>
        <p:txBody>
          <a:bodyPr/>
          <a:lstStyle/>
          <a:p>
            <a:fld id="{D57F1E4F-1CFF-5643-939E-217C01CDF565}" type="slidenum">
              <a:rPr lang="en-US" smtClean="0"/>
              <a:pPr/>
              <a:t>18</a:t>
            </a:fld>
            <a:endParaRPr lang="en-US" dirty="0"/>
          </a:p>
        </p:txBody>
      </p:sp>
    </p:spTree>
    <p:extLst>
      <p:ext uri="{BB962C8B-B14F-4D97-AF65-F5344CB8AC3E}">
        <p14:creationId xmlns:p14="http://schemas.microsoft.com/office/powerpoint/2010/main" val="9272562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854242" y="1010506"/>
            <a:ext cx="9156031" cy="4836988"/>
          </a:xfrm>
        </p:spPr>
        <p:txBody>
          <a:bodyPr anchor="t"/>
          <a:lstStyle/>
          <a:p>
            <a:pPr algn="ctr"/>
            <a:r>
              <a:rPr lang="en-US" b="1" dirty="0">
                <a:solidFill>
                  <a:srgbClr val="E18E2E"/>
                </a:solidFill>
                <a:latin typeface="Trebuchet MS" panose="020B0703020202090204" pitchFamily="34" charset="0"/>
              </a:rPr>
              <a:t>THANK YOU!!!</a:t>
            </a:r>
            <a:br>
              <a:rPr lang="en-US" b="1" dirty="0">
                <a:solidFill>
                  <a:srgbClr val="E18E2E"/>
                </a:solidFill>
                <a:latin typeface="Trebuchet MS" panose="020B0703020202090204" pitchFamily="34" charset="0"/>
              </a:rPr>
            </a:br>
            <a:r>
              <a:rPr lang="en-US" sz="4000" b="1" u="sng" dirty="0">
                <a:solidFill>
                  <a:schemeClr val="accent1">
                    <a:lumMod val="50000"/>
                  </a:schemeClr>
                </a:solidFill>
                <a:latin typeface="Trebuchet MS" panose="020B0703020202090204" pitchFamily="34" charset="0"/>
              </a:rPr>
              <a:t>Proverbs 3:5-6</a:t>
            </a:r>
            <a:br>
              <a:rPr lang="en-US" sz="4000" b="1" dirty="0">
                <a:solidFill>
                  <a:schemeClr val="accent1">
                    <a:lumMod val="50000"/>
                  </a:schemeClr>
                </a:solidFill>
                <a:latin typeface="Trebuchet MS" panose="020B0703020202090204" pitchFamily="34" charset="0"/>
              </a:rPr>
            </a:br>
            <a:r>
              <a:rPr lang="en-US" sz="4000" b="1" dirty="0">
                <a:solidFill>
                  <a:schemeClr val="accent1">
                    <a:lumMod val="50000"/>
                  </a:schemeClr>
                </a:solidFill>
                <a:latin typeface="Trebuchet MS" panose="020B0703020202090204" pitchFamily="34" charset="0"/>
              </a:rPr>
              <a:t>“Trust in the Lord with all your heart and lean not on your own understanding; in all your ways submit to Him, and He will make your paths straight”</a:t>
            </a:r>
            <a:endParaRPr lang="en-US"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503713D6-BA5F-367C-F843-6E759E234639}"/>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9AECFA3A-3708-048D-2D45-7265065B4800}"/>
              </a:ext>
            </a:extLst>
          </p:cNvPr>
          <p:cNvSpPr>
            <a:spLocks noGrp="1"/>
          </p:cNvSpPr>
          <p:nvPr>
            <p:ph type="sldNum" sz="quarter" idx="12"/>
          </p:nvPr>
        </p:nvSpPr>
        <p:spPr/>
        <p:txBody>
          <a:bodyPr/>
          <a:lstStyle/>
          <a:p>
            <a:fld id="{D57F1E4F-1CFF-5643-939E-217C01CDF565}" type="slidenum">
              <a:rPr lang="en-US" smtClean="0"/>
              <a:pPr/>
              <a:t>19</a:t>
            </a:fld>
            <a:endParaRPr lang="en-US" dirty="0"/>
          </a:p>
        </p:txBody>
      </p:sp>
    </p:spTree>
    <p:extLst>
      <p:ext uri="{BB962C8B-B14F-4D97-AF65-F5344CB8AC3E}">
        <p14:creationId xmlns:p14="http://schemas.microsoft.com/office/powerpoint/2010/main" val="2300463247"/>
      </p:ext>
    </p:extLst>
  </p:cSld>
  <p:clrMapOvr>
    <a:masterClrMapping/>
  </p:clrMapOvr>
</p:sld>
</file>

<file path=ppt/theme/theme1.xml><?xml version="1.0" encoding="utf-8"?>
<a:theme xmlns:a="http://schemas.openxmlformats.org/drawingml/2006/main" name="Facet">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2728</TotalTime>
  <Words>1120</Words>
  <Application>Microsoft Macintosh PowerPoint</Application>
  <PresentationFormat>Widescreen</PresentationFormat>
  <Paragraphs>178</Paragraphs>
  <Slides>19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Calibri</vt:lpstr>
      <vt:lpstr>Tahoma</vt:lpstr>
      <vt:lpstr>Trebuchet MS</vt:lpstr>
      <vt:lpstr>Wingdings 3</vt:lpstr>
      <vt:lpstr>Facet</vt:lpstr>
      <vt:lpstr>PowerPoint Presentation</vt:lpstr>
      <vt:lpstr>TOPIC 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 Proverbs 3:5-6 “Trust in the Lord with all your heart and lean not on your own understanding; in all your ways submit to Him, and He will make your paths straight”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Microsoft Office User</dc:creator>
  <cp:keywords/>
  <dc:description/>
  <cp:lastModifiedBy>Microsoft Office User</cp:lastModifiedBy>
  <cp:revision>35</cp:revision>
  <dcterms:created xsi:type="dcterms:W3CDTF">2024-07-11T10:28:40Z</dcterms:created>
  <dcterms:modified xsi:type="dcterms:W3CDTF">2025-08-12T06:52:33Z</dcterms:modified>
  <cp:category/>
</cp:coreProperties>
</file>