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0"/>
  </p:notesMasterIdLst>
  <p:sldIdLst>
    <p:sldId id="256" r:id="rId2"/>
    <p:sldId id="259" r:id="rId3"/>
    <p:sldId id="386" r:id="rId4"/>
    <p:sldId id="407" r:id="rId5"/>
    <p:sldId id="416" r:id="rId6"/>
    <p:sldId id="417" r:id="rId7"/>
    <p:sldId id="418" r:id="rId8"/>
    <p:sldId id="419" r:id="rId9"/>
    <p:sldId id="420" r:id="rId10"/>
    <p:sldId id="421" r:id="rId11"/>
    <p:sldId id="422" r:id="rId12"/>
    <p:sldId id="428" r:id="rId13"/>
    <p:sldId id="427" r:id="rId14"/>
    <p:sldId id="406" r:id="rId15"/>
    <p:sldId id="408" r:id="rId16"/>
    <p:sldId id="409" r:id="rId17"/>
    <p:sldId id="415" r:id="rId18"/>
    <p:sldId id="410" r:id="rId19"/>
    <p:sldId id="411" r:id="rId20"/>
    <p:sldId id="414" r:id="rId21"/>
    <p:sldId id="412" r:id="rId22"/>
    <p:sldId id="413" r:id="rId23"/>
    <p:sldId id="423" r:id="rId24"/>
    <p:sldId id="424" r:id="rId25"/>
    <p:sldId id="425" r:id="rId26"/>
    <p:sldId id="426" r:id="rId27"/>
    <p:sldId id="429" r:id="rId28"/>
    <p:sldId id="342"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modifyVerifier cryptProviderType="rsaAES" cryptAlgorithmClass="hash" cryptAlgorithmType="typeAny" cryptAlgorithmSid="14" spinCount="100000" saltData="L3bjl5IFIE5lNRUo8M0n0w==" hashData="jIgYpqtu/USXk5xBv3394JyxvdQXX+ojboaQ/LZSNv5aU9AXjy/OKoSPMdgLhLMLNBWosGJIdWeJPuY//7Z3vA=="/>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8E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06"/>
    <p:restoredTop sz="94676"/>
  </p:normalViewPr>
  <p:slideViewPr>
    <p:cSldViewPr snapToGrid="0">
      <p:cViewPr varScale="1">
        <p:scale>
          <a:sx n="106" d="100"/>
          <a:sy n="106" d="100"/>
        </p:scale>
        <p:origin x="92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09575E-32D0-F54F-BA99-FA2180B2EE90}" type="datetimeFigureOut">
              <a:rPr lang="en-US" smtClean="0"/>
              <a:t>8/18/24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62291CE-873D-C740-AA3B-F46FC67FFF47}" type="slidenum">
              <a:rPr lang="en-US" smtClean="0"/>
              <a:t>‹#›</a:t>
            </a:fld>
            <a:endParaRPr lang="en-US"/>
          </a:p>
        </p:txBody>
      </p:sp>
    </p:spTree>
    <p:extLst>
      <p:ext uri="{BB962C8B-B14F-4D97-AF65-F5344CB8AC3E}">
        <p14:creationId xmlns:p14="http://schemas.microsoft.com/office/powerpoint/2010/main" val="26341715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8D3AF3-9B46-7447-B864-78B135AEDF42}"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230F8AC-618F-1548-83D4-E2CD6C9551DD}"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E4312C8-7C7C-1B4F-A882-CFE4947EEC6E}"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73A1CD1-AEB5-9F48-8CF3-50B60F7B5247}" type="datetime1">
              <a:rPr lang="en-PH" smtClean="0"/>
              <a:t>8/18/24</a:t>
            </a:fld>
            <a:endParaRPr lang="en-US" dirty="0"/>
          </a:p>
        </p:txBody>
      </p:sp>
      <p:sp>
        <p:nvSpPr>
          <p:cNvPr id="6" name="Footer Placeholder 5"/>
          <p:cNvSpPr>
            <a:spLocks noGrp="1"/>
          </p:cNvSpPr>
          <p:nvPr>
            <p:ph type="ftr" sz="quarter" idx="11"/>
          </p:nvPr>
        </p:nvSpPr>
        <p:spPr/>
        <p:txBody>
          <a:bodyPr/>
          <a:lstStyle/>
          <a:p>
            <a:r>
              <a:rPr lang="en-US"/>
              <a:t>Engr. Melanie D. Piedad, ABELE 2022 Topnotcher</a:t>
            </a:r>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4580765-E83B-D84C-97DD-09A4058291BF}" type="datetime1">
              <a:rPr lang="en-PH" smtClean="0"/>
              <a:t>8/18/24</a:t>
            </a:fld>
            <a:endParaRPr lang="en-US" dirty="0"/>
          </a:p>
        </p:txBody>
      </p:sp>
      <p:sp>
        <p:nvSpPr>
          <p:cNvPr id="8" name="Footer Placeholder 7"/>
          <p:cNvSpPr>
            <a:spLocks noGrp="1"/>
          </p:cNvSpPr>
          <p:nvPr>
            <p:ph type="ftr" sz="quarter" idx="11"/>
          </p:nvPr>
        </p:nvSpPr>
        <p:spPr/>
        <p:txBody>
          <a:bodyPr/>
          <a:lstStyle/>
          <a:p>
            <a:r>
              <a:rPr lang="en-US"/>
              <a:t>Engr. Melanie D. Piedad, ABELE 2022 Topnotcher</a:t>
            </a:r>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52B49C6-D6EC-564C-B4C7-5F1E871058C9}" type="datetime1">
              <a:rPr lang="en-PH" smtClean="0"/>
              <a:t>8/18/24</a:t>
            </a:fld>
            <a:endParaRPr lang="en-US" dirty="0"/>
          </a:p>
        </p:txBody>
      </p:sp>
      <p:sp>
        <p:nvSpPr>
          <p:cNvPr id="4" name="Footer Placeholder 3"/>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58037C-0960-9E4F-8170-3209411298FF}" type="datetime1">
              <a:rPr lang="en-PH" smtClean="0"/>
              <a:t>8/18/24</a:t>
            </a:fld>
            <a:endParaRPr lang="en-US" dirty="0"/>
          </a:p>
        </p:txBody>
      </p:sp>
      <p:sp>
        <p:nvSpPr>
          <p:cNvPr id="3" name="Footer Placeholder 2"/>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A74799-DAD3-2A41-87D4-96973A89137A}" type="datetime1">
              <a:rPr lang="en-PH" smtClean="0"/>
              <a:t>8/18/24</a:t>
            </a:fld>
            <a:endParaRPr lang="en-US" dirty="0"/>
          </a:p>
        </p:txBody>
      </p:sp>
      <p:sp>
        <p:nvSpPr>
          <p:cNvPr id="6" name="Footer Placeholder 5"/>
          <p:cNvSpPr>
            <a:spLocks noGrp="1"/>
          </p:cNvSpPr>
          <p:nvPr>
            <p:ph type="ftr" sz="quarter" idx="11"/>
          </p:nvPr>
        </p:nvSpPr>
        <p:spPr/>
        <p:txBody>
          <a:bodyPr/>
          <a:lstStyle/>
          <a:p>
            <a:r>
              <a:rPr lang="en-US"/>
              <a:t>Engr. Melanie D. Piedad, ABELE 2022 Topnotcher</a:t>
            </a:r>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39C9676-ECA7-B744-AB0A-8ADA3547AE35}" type="datetime1">
              <a:rPr lang="en-PH" smtClean="0"/>
              <a:t>8/18/24</a:t>
            </a:fld>
            <a:endParaRPr lang="en-US" dirty="0"/>
          </a:p>
        </p:txBody>
      </p:sp>
      <p:sp>
        <p:nvSpPr>
          <p:cNvPr id="6" name="Footer Placeholder 5"/>
          <p:cNvSpPr>
            <a:spLocks noGrp="1"/>
          </p:cNvSpPr>
          <p:nvPr>
            <p:ph type="ftr" sz="quarter" idx="11"/>
          </p:nvPr>
        </p:nvSpPr>
        <p:spPr/>
        <p:txBody>
          <a:bodyPr/>
          <a:lstStyle/>
          <a:p>
            <a:r>
              <a:rPr lang="en-US"/>
              <a:t>Engr. Melanie D. Piedad, ABELE 2022 Topnotcher</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73339E7-87BB-564A-A676-7E9322D5E12E}"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8786D3B-7F28-8745-9155-415A26465259}"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1DE7CE3-E426-8549-B9DC-0DCA50E296A5}"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590F4BC-0523-BF48-B99C-47CBF1404577}"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ECE7B3-FB76-0A47-9590-CCBC9FE07289}"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E4E0D52-9981-B340-BB47-31CA5A89F22D}"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967EF5-F0AE-6241-8CEE-319E6E682401}" type="datetime1">
              <a:rPr lang="en-PH" smtClean="0"/>
              <a:t>8/18/24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D3A6057-3692-2B47-8632-B4E1FF1690F8}" type="datetime1">
              <a:rPr lang="en-PH" smtClean="0"/>
              <a:t>8/18/24</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Engr. Melanie D. Piedad, ABELE 2022 Topnotcher</a:t>
            </a:r>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5" r:id="rId4"/>
    <p:sldLayoutId id="2147483653" r:id="rId5"/>
    <p:sldLayoutId id="2147483654" r:id="rId6"/>
    <p:sldLayoutId id="2147483655" r:id="rId7"/>
    <p:sldLayoutId id="2147483666" r:id="rId8"/>
    <p:sldLayoutId id="2147483657" r:id="rId9"/>
    <p:sldLayoutId id="2147483660" r:id="rId10"/>
    <p:sldLayoutId id="2147483661" r:id="rId11"/>
    <p:sldLayoutId id="2147483662" r:id="rId12"/>
    <p:sldLayoutId id="2147483663" r:id="rId13"/>
    <p:sldLayoutId id="2147483664" r:id="rId14"/>
    <p:sldLayoutId id="2147483667" r:id="rId15"/>
    <p:sldLayoutId id="2147483659"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CDAD3E0-13BD-D554-E848-1BE20B045096}"/>
              </a:ext>
            </a:extLst>
          </p:cNvPr>
          <p:cNvSpPr txBox="1">
            <a:spLocks/>
          </p:cNvSpPr>
          <p:nvPr/>
        </p:nvSpPr>
        <p:spPr>
          <a:xfrm>
            <a:off x="825273" y="1465955"/>
            <a:ext cx="8973214" cy="3079431"/>
          </a:xfrm>
          <a:prstGeom prst="rect">
            <a:avLst/>
          </a:prstGeom>
        </p:spPr>
        <p:txBody>
          <a:bodyPr vert="horz" lIns="91440" tIns="45720" rIns="91440" bIns="45720" rtlCol="0" anchor="ctr">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b="1" dirty="0">
                <a:solidFill>
                  <a:srgbClr val="E18E2E"/>
                </a:solidFill>
                <a:latin typeface="Trebuchet MS" panose="020B0703020202090204" pitchFamily="34" charset="0"/>
              </a:rPr>
              <a:t>AREA III:</a:t>
            </a:r>
          </a:p>
          <a:p>
            <a:pPr algn="ctr"/>
            <a:r>
              <a:rPr lang="en-PH" sz="4000" b="1" dirty="0">
                <a:effectLst/>
                <a:latin typeface="Tahoma" panose="020B0604030504040204" pitchFamily="34" charset="0"/>
                <a:ea typeface="Calibri" panose="020F0502020204030204" pitchFamily="34" charset="0"/>
              </a:rPr>
              <a:t>AB Structures and Environment Engineering and Bioprocess Engineering and Allied Subjects </a:t>
            </a:r>
            <a:endParaRPr lang="en-US" b="1" dirty="0">
              <a:solidFill>
                <a:srgbClr val="E18E2E"/>
              </a:solidFill>
              <a:latin typeface="Trebuchet MS" panose="020B0703020202090204" pitchFamily="34" charset="0"/>
            </a:endParaRPr>
          </a:p>
        </p:txBody>
      </p:sp>
      <p:sp>
        <p:nvSpPr>
          <p:cNvPr id="6" name="Footer Placeholder 5">
            <a:extLst>
              <a:ext uri="{FF2B5EF4-FFF2-40B4-BE49-F238E27FC236}">
                <a16:creationId xmlns:a16="http://schemas.microsoft.com/office/drawing/2014/main" id="{2EC8D827-306F-07BE-C924-28F26F1D050F}"/>
              </a:ext>
            </a:extLst>
          </p:cNvPr>
          <p:cNvSpPr>
            <a:spLocks noGrp="1"/>
          </p:cNvSpPr>
          <p:nvPr>
            <p:ph type="ftr" sz="quarter" idx="11"/>
          </p:nvPr>
        </p:nvSpPr>
        <p:spPr/>
        <p:txBody>
          <a:bodyPr/>
          <a:lstStyle/>
          <a:p>
            <a:r>
              <a:rPr lang="en-US"/>
              <a:t>Engr. Melanie D. Piedad, ABELE 2022 Topnotcher</a:t>
            </a:r>
            <a:endParaRPr lang="en-US" dirty="0"/>
          </a:p>
        </p:txBody>
      </p:sp>
      <p:sp>
        <p:nvSpPr>
          <p:cNvPr id="8" name="Slide Number Placeholder 7">
            <a:extLst>
              <a:ext uri="{FF2B5EF4-FFF2-40B4-BE49-F238E27FC236}">
                <a16:creationId xmlns:a16="http://schemas.microsoft.com/office/drawing/2014/main" id="{C622A295-ED33-0A42-08B0-51603D2EE6D1}"/>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Tree>
    <p:extLst>
      <p:ext uri="{BB962C8B-B14F-4D97-AF65-F5344CB8AC3E}">
        <p14:creationId xmlns:p14="http://schemas.microsoft.com/office/powerpoint/2010/main" val="2185043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CDAD3E0-13BD-D554-E848-1BE20B045096}"/>
              </a:ext>
            </a:extLst>
          </p:cNvPr>
          <p:cNvSpPr txBox="1">
            <a:spLocks/>
          </p:cNvSpPr>
          <p:nvPr/>
        </p:nvSpPr>
        <p:spPr>
          <a:xfrm>
            <a:off x="911550" y="1282419"/>
            <a:ext cx="7787282" cy="714604"/>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sz="3200" b="1" u="sng" dirty="0">
                <a:latin typeface="Trebuchet MS" panose="020B0703020202090204" pitchFamily="34" charset="0"/>
              </a:rPr>
              <a:t>Environmental Engineering</a:t>
            </a:r>
            <a:endParaRPr lang="en-US" sz="6000" b="1" u="sng" dirty="0">
              <a:solidFill>
                <a:srgbClr val="E18E2E"/>
              </a:solidFill>
              <a:latin typeface="Trebuchet MS" panose="020B0703020202090204" pitchFamily="34" charset="0"/>
            </a:endParaRPr>
          </a:p>
        </p:txBody>
      </p:sp>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TOPIC 2:</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992501"/>
            <a:ext cx="8376829" cy="3583080"/>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7000"/>
              </a:lnSpc>
              <a:spcAft>
                <a:spcPts val="800"/>
              </a:spcAft>
              <a:tabLst>
                <a:tab pos="1422400" algn="l"/>
                <a:tab pos="1778000" algn="l"/>
                <a:tab pos="2133600" algn="l"/>
                <a:tab pos="2489200" algn="l"/>
                <a:tab pos="2844800" algn="l"/>
                <a:tab pos="3200400" algn="l"/>
                <a:tab pos="3556000" algn="l"/>
                <a:tab pos="3911600" algn="l"/>
                <a:tab pos="4267200" algn="l"/>
              </a:tabLst>
            </a:pPr>
            <a:r>
              <a:rPr lang="en-US" sz="3600" b="1" dirty="0">
                <a:solidFill>
                  <a:schemeClr val="accent2"/>
                </a:solidFill>
                <a:ea typeface="Calibri" panose="020F0502020204030204" pitchFamily="34" charset="0"/>
                <a:cs typeface="Times New Roman" panose="02020603050405020304" pitchFamily="18" charset="0"/>
              </a:rPr>
              <a:t>2.5</a:t>
            </a:r>
            <a:r>
              <a:rPr lang="en-US" sz="3600" b="1" dirty="0">
                <a:solidFill>
                  <a:schemeClr val="accent1">
                    <a:lumMod val="50000"/>
                  </a:schemeClr>
                </a:solidFill>
                <a:ea typeface="Calibri" panose="020F0502020204030204" pitchFamily="34" charset="0"/>
                <a:cs typeface="Times New Roman" panose="02020603050405020304" pitchFamily="18" charset="0"/>
              </a:rPr>
              <a:t> </a:t>
            </a:r>
            <a:r>
              <a:rPr lang="en-US" sz="2400" dirty="0">
                <a:solidFill>
                  <a:srgbClr val="000000"/>
                </a:solidFill>
                <a:effectLst/>
                <a:latin typeface="Tahoma" panose="020B0604030504040204" pitchFamily="34" charset="0"/>
                <a:ea typeface="Calibri" panose="020F0502020204030204" pitchFamily="34" charset="0"/>
                <a:cs typeface="Times New Roman" panose="02020603050405020304" pitchFamily="18" charset="0"/>
              </a:rPr>
              <a:t>Describe and analyze the impact of CDM, climate change, global warming and others in the relation to agricultural waste management.</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ffectLst/>
                <a:ea typeface="Calibri" panose="020F0502020204030204" pitchFamily="34" charset="0"/>
                <a:cs typeface="Times New Roman" panose="02020603050405020304" pitchFamily="18" charset="0"/>
              </a:rPr>
              <a:t>Number of items: </a:t>
            </a:r>
            <a:r>
              <a:rPr lang="en-US" sz="2400" b="1" dirty="0">
                <a:solidFill>
                  <a:schemeClr val="accent1">
                    <a:lumMod val="50000"/>
                  </a:schemeClr>
                </a:solidFill>
                <a:ea typeface="Calibri" panose="020F0502020204030204" pitchFamily="34" charset="0"/>
                <a:cs typeface="Times New Roman" panose="02020603050405020304" pitchFamily="18" charset="0"/>
              </a:rPr>
              <a:t>5-6</a:t>
            </a:r>
            <a:r>
              <a:rPr lang="en-US" sz="2400" b="1" dirty="0">
                <a:solidFill>
                  <a:schemeClr val="accent1">
                    <a:lumMod val="50000"/>
                  </a:schemeClr>
                </a:solidFill>
                <a:effectLst/>
                <a:ea typeface="Calibri" panose="020F0502020204030204" pitchFamily="34" charset="0"/>
                <a:cs typeface="Times New Roman" panose="02020603050405020304" pitchFamily="18" charset="0"/>
              </a:rPr>
              <a:t> questions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Coverage: Clean Development Mechanism (CDM), Global warming, climate change</a:t>
            </a:r>
            <a:endParaRPr lang="en-PH" sz="2800" b="1" dirty="0">
              <a:solidFill>
                <a:schemeClr val="accent1">
                  <a:lumMod val="50000"/>
                </a:schemeClr>
              </a:solidFill>
              <a:effectLst/>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7A0E0ACC-EE36-2A58-74E5-C09981CBE9A8}"/>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B0ED105C-C450-71BC-3EBF-F72514F06AD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Tree>
    <p:extLst>
      <p:ext uri="{BB962C8B-B14F-4D97-AF65-F5344CB8AC3E}">
        <p14:creationId xmlns:p14="http://schemas.microsoft.com/office/powerpoint/2010/main" val="34978340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fontScale="850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Global Warming vs. Climate Change</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pic>
        <p:nvPicPr>
          <p:cNvPr id="1026" name="Picture 2" descr="Global Warming vs. Climate Change: How Are They Different? | YourDictionary">
            <a:extLst>
              <a:ext uri="{FF2B5EF4-FFF2-40B4-BE49-F238E27FC236}">
                <a16:creationId xmlns:a16="http://schemas.microsoft.com/office/drawing/2014/main" id="{43D5BFB8-AB56-0834-A705-B356321DF5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1834" y="1325994"/>
            <a:ext cx="8669682" cy="487669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3F5579-DC3C-950D-918D-D699099991BE}"/>
              </a:ext>
            </a:extLst>
          </p:cNvPr>
          <p:cNvSpPr txBox="1"/>
          <p:nvPr/>
        </p:nvSpPr>
        <p:spPr>
          <a:xfrm>
            <a:off x="1161047" y="6323010"/>
            <a:ext cx="6100010" cy="338554"/>
          </a:xfrm>
          <a:prstGeom prst="rect">
            <a:avLst/>
          </a:prstGeom>
          <a:noFill/>
        </p:spPr>
        <p:txBody>
          <a:bodyPr wrap="square">
            <a:spAutoFit/>
          </a:bodyPr>
          <a:lstStyle/>
          <a:p>
            <a:r>
              <a:rPr lang="en-US" sz="1600" dirty="0"/>
              <a:t>https://</a:t>
            </a:r>
            <a:r>
              <a:rPr lang="en-US" sz="1600" dirty="0" err="1"/>
              <a:t>images.app.goo.gl</a:t>
            </a:r>
            <a:r>
              <a:rPr lang="en-US" sz="1600" dirty="0"/>
              <a:t>/DYvA5Y4nSJCrFzjz5</a:t>
            </a:r>
          </a:p>
        </p:txBody>
      </p:sp>
      <p:sp>
        <p:nvSpPr>
          <p:cNvPr id="2" name="Footer Placeholder 1">
            <a:extLst>
              <a:ext uri="{FF2B5EF4-FFF2-40B4-BE49-F238E27FC236}">
                <a16:creationId xmlns:a16="http://schemas.microsoft.com/office/drawing/2014/main" id="{AD28384D-6AEF-3742-1412-B88DCE812234}"/>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0B7886F0-6428-F71E-5461-B3DEF5DBA46C}"/>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Tree>
    <p:extLst>
      <p:ext uri="{BB962C8B-B14F-4D97-AF65-F5344CB8AC3E}">
        <p14:creationId xmlns:p14="http://schemas.microsoft.com/office/powerpoint/2010/main" val="3492252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Allied Laws</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2" name="Title 1">
            <a:extLst>
              <a:ext uri="{FF2B5EF4-FFF2-40B4-BE49-F238E27FC236}">
                <a16:creationId xmlns:a16="http://schemas.microsoft.com/office/drawing/2014/main" id="{D5E1305E-F627-C936-A9BC-EE0A166BA39C}"/>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800" b="1" dirty="0">
                <a:solidFill>
                  <a:schemeClr val="accent1">
                    <a:lumMod val="50000"/>
                  </a:schemeClr>
                </a:solidFill>
                <a:ea typeface="Calibri" panose="020F0502020204030204" pitchFamily="34" charset="0"/>
                <a:cs typeface="Times New Roman" panose="02020603050405020304" pitchFamily="18" charset="0"/>
              </a:rPr>
              <a:t>9729 – Climate Change Act of 2009</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PH" sz="2800" b="1" dirty="0">
              <a:solidFill>
                <a:schemeClr val="accent1">
                  <a:lumMod val="50000"/>
                </a:schemeClr>
              </a:solidFill>
              <a:ea typeface="Calibri" panose="020F0502020204030204" pitchFamily="34" charset="0"/>
              <a:cs typeface="Times New Roman" panose="02020603050405020304" pitchFamily="18" charset="0"/>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800" b="1" dirty="0">
                <a:solidFill>
                  <a:schemeClr val="accent1">
                    <a:lumMod val="50000"/>
                  </a:schemeClr>
                </a:solidFill>
                <a:ea typeface="Calibri" panose="020F0502020204030204" pitchFamily="34" charset="0"/>
                <a:cs typeface="Times New Roman" panose="02020603050405020304" pitchFamily="18" charset="0"/>
              </a:rPr>
              <a:t>9367 – Biofuels Act of 2006</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PH" sz="2800" b="1" dirty="0">
                <a:solidFill>
                  <a:schemeClr val="accent1">
                    <a:lumMod val="50000"/>
                  </a:schemeClr>
                </a:solidFill>
                <a:ea typeface="Calibri" panose="020F0502020204030204" pitchFamily="34" charset="0"/>
                <a:cs typeface="Times New Roman" panose="02020603050405020304" pitchFamily="18" charset="0"/>
              </a:rPr>
              <a:t>9513 – Renewable Energy Act of 2008</a:t>
            </a:r>
          </a:p>
          <a:p>
            <a:pPr algn="l">
              <a:lnSpc>
                <a:spcPct val="100000"/>
              </a:lnSpc>
            </a:pPr>
            <a:endParaRPr lang="en-US" altLang="en-US" sz="2800" dirty="0">
              <a:solidFill>
                <a:schemeClr val="tx2"/>
              </a:solidFill>
              <a:latin typeface="+mn-lt"/>
            </a:endParaRPr>
          </a:p>
        </p:txBody>
      </p:sp>
      <p:sp>
        <p:nvSpPr>
          <p:cNvPr id="4" name="Footer Placeholder 3">
            <a:extLst>
              <a:ext uri="{FF2B5EF4-FFF2-40B4-BE49-F238E27FC236}">
                <a16:creationId xmlns:a16="http://schemas.microsoft.com/office/drawing/2014/main" id="{A2E698D1-4F5E-70A0-B4A4-096E9C116D79}"/>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9A16DBA9-8045-3CC9-4131-90D5EDDCF111}"/>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Tree>
    <p:extLst>
      <p:ext uri="{BB962C8B-B14F-4D97-AF65-F5344CB8AC3E}">
        <p14:creationId xmlns:p14="http://schemas.microsoft.com/office/powerpoint/2010/main" val="41534560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Greenhouse Gases</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2" name="Title 1">
            <a:extLst>
              <a:ext uri="{FF2B5EF4-FFF2-40B4-BE49-F238E27FC236}">
                <a16:creationId xmlns:a16="http://schemas.microsoft.com/office/drawing/2014/main" id="{D5E1305E-F627-C936-A9BC-EE0A166BA39C}"/>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just">
              <a:spcAft>
                <a:spcPts val="800"/>
              </a:spcAft>
              <a:buFont typeface="Arial" panose="020B0604020202020204" pitchFamily="34" charset="0"/>
              <a:buChar char="•"/>
              <a:tabLst>
                <a:tab pos="1422400" algn="l"/>
                <a:tab pos="1778000" algn="l"/>
                <a:tab pos="2133600" algn="l"/>
                <a:tab pos="2489200" algn="l"/>
                <a:tab pos="2844800" algn="l"/>
                <a:tab pos="3200400" algn="l"/>
                <a:tab pos="3556000" algn="l"/>
                <a:tab pos="3911600" algn="l"/>
                <a:tab pos="4267200" algn="l"/>
              </a:tabLst>
            </a:pPr>
            <a:r>
              <a:rPr lang="en-PH" altLang="en-US" sz="2800" b="1" dirty="0">
                <a:solidFill>
                  <a:schemeClr val="accent1">
                    <a:lumMod val="50000"/>
                  </a:schemeClr>
                </a:solidFill>
                <a:latin typeface="+mn-lt"/>
                <a:cs typeface="Times New Roman" panose="02020603050405020304" pitchFamily="18" charset="0"/>
              </a:rPr>
              <a:t>Carbon dioxide (CO</a:t>
            </a:r>
            <a:r>
              <a:rPr lang="en-PH" altLang="en-US" sz="2800" b="1" baseline="-25000" dirty="0">
                <a:solidFill>
                  <a:schemeClr val="accent1">
                    <a:lumMod val="50000"/>
                  </a:schemeClr>
                </a:solidFill>
                <a:latin typeface="+mn-lt"/>
                <a:cs typeface="Times New Roman" panose="02020603050405020304" pitchFamily="18" charset="0"/>
              </a:rPr>
              <a:t>2</a:t>
            </a:r>
            <a:r>
              <a:rPr lang="en-PH" altLang="en-US" sz="2800" b="1" dirty="0">
                <a:solidFill>
                  <a:schemeClr val="accent1">
                    <a:lumMod val="50000"/>
                  </a:schemeClr>
                </a:solidFill>
                <a:latin typeface="+mn-lt"/>
                <a:cs typeface="Times New Roman" panose="02020603050405020304" pitchFamily="18" charset="0"/>
              </a:rPr>
              <a:t>)</a:t>
            </a:r>
          </a:p>
          <a:p>
            <a:pPr marL="457200" indent="-457200" algn="just">
              <a:spcAft>
                <a:spcPts val="800"/>
              </a:spcAft>
              <a:buFont typeface="Arial" panose="020B0604020202020204" pitchFamily="34" charset="0"/>
              <a:buChar char="•"/>
              <a:tabLst>
                <a:tab pos="1422400" algn="l"/>
                <a:tab pos="1778000" algn="l"/>
                <a:tab pos="2133600" algn="l"/>
                <a:tab pos="2489200" algn="l"/>
                <a:tab pos="2844800" algn="l"/>
                <a:tab pos="3200400" algn="l"/>
                <a:tab pos="3556000" algn="l"/>
                <a:tab pos="3911600" algn="l"/>
                <a:tab pos="4267200" algn="l"/>
              </a:tabLst>
            </a:pPr>
            <a:r>
              <a:rPr lang="en-PH" altLang="en-US" sz="2800" b="1" dirty="0">
                <a:solidFill>
                  <a:schemeClr val="accent1">
                    <a:lumMod val="50000"/>
                  </a:schemeClr>
                </a:solidFill>
                <a:latin typeface="+mn-lt"/>
                <a:cs typeface="Times New Roman" panose="02020603050405020304" pitchFamily="18" charset="0"/>
              </a:rPr>
              <a:t>Methane (CH</a:t>
            </a:r>
            <a:r>
              <a:rPr lang="en-PH" altLang="en-US" sz="2800" b="1" baseline="-25000" dirty="0">
                <a:solidFill>
                  <a:schemeClr val="accent1">
                    <a:lumMod val="50000"/>
                  </a:schemeClr>
                </a:solidFill>
                <a:latin typeface="+mn-lt"/>
                <a:cs typeface="Times New Roman" panose="02020603050405020304" pitchFamily="18" charset="0"/>
              </a:rPr>
              <a:t>4</a:t>
            </a:r>
            <a:r>
              <a:rPr lang="en-PH" altLang="en-US" sz="2800" b="1" dirty="0">
                <a:solidFill>
                  <a:schemeClr val="accent1">
                    <a:lumMod val="50000"/>
                  </a:schemeClr>
                </a:solidFill>
                <a:latin typeface="+mn-lt"/>
                <a:cs typeface="Times New Roman" panose="02020603050405020304" pitchFamily="18" charset="0"/>
              </a:rPr>
              <a:t>)</a:t>
            </a:r>
          </a:p>
          <a:p>
            <a:pPr marL="457200" indent="-457200" algn="just">
              <a:spcAft>
                <a:spcPts val="800"/>
              </a:spcAft>
              <a:buFont typeface="Arial" panose="020B0604020202020204" pitchFamily="34" charset="0"/>
              <a:buChar char="•"/>
              <a:tabLst>
                <a:tab pos="1422400" algn="l"/>
                <a:tab pos="1778000" algn="l"/>
                <a:tab pos="2133600" algn="l"/>
                <a:tab pos="2489200" algn="l"/>
                <a:tab pos="2844800" algn="l"/>
                <a:tab pos="3200400" algn="l"/>
                <a:tab pos="3556000" algn="l"/>
                <a:tab pos="3911600" algn="l"/>
                <a:tab pos="4267200" algn="l"/>
              </a:tabLst>
            </a:pPr>
            <a:r>
              <a:rPr lang="en-PH" altLang="en-US" sz="2800" b="1" dirty="0">
                <a:solidFill>
                  <a:schemeClr val="accent1">
                    <a:lumMod val="50000"/>
                  </a:schemeClr>
                </a:solidFill>
                <a:latin typeface="+mn-lt"/>
                <a:cs typeface="Times New Roman" panose="02020603050405020304" pitchFamily="18" charset="0"/>
              </a:rPr>
              <a:t>Nitrous oxide (N</a:t>
            </a:r>
            <a:r>
              <a:rPr lang="en-PH" altLang="en-US" sz="2800" b="1" baseline="-25000" dirty="0">
                <a:solidFill>
                  <a:schemeClr val="accent1">
                    <a:lumMod val="50000"/>
                  </a:schemeClr>
                </a:solidFill>
                <a:latin typeface="+mn-lt"/>
                <a:cs typeface="Times New Roman" panose="02020603050405020304" pitchFamily="18" charset="0"/>
              </a:rPr>
              <a:t>2</a:t>
            </a:r>
            <a:r>
              <a:rPr lang="en-PH" altLang="en-US" sz="2800" b="1" dirty="0">
                <a:solidFill>
                  <a:schemeClr val="accent1">
                    <a:lumMod val="50000"/>
                  </a:schemeClr>
                </a:solidFill>
                <a:latin typeface="+mn-lt"/>
                <a:cs typeface="Times New Roman" panose="02020603050405020304" pitchFamily="18" charset="0"/>
              </a:rPr>
              <a:t>O)</a:t>
            </a:r>
          </a:p>
          <a:p>
            <a:pPr marL="457200" indent="-457200" algn="just">
              <a:spcAft>
                <a:spcPts val="800"/>
              </a:spcAft>
              <a:buFont typeface="Arial" panose="020B0604020202020204" pitchFamily="34" charset="0"/>
              <a:buChar char="•"/>
              <a:tabLst>
                <a:tab pos="1422400" algn="l"/>
                <a:tab pos="1778000" algn="l"/>
                <a:tab pos="2133600" algn="l"/>
                <a:tab pos="2489200" algn="l"/>
                <a:tab pos="2844800" algn="l"/>
                <a:tab pos="3200400" algn="l"/>
                <a:tab pos="3556000" algn="l"/>
                <a:tab pos="3911600" algn="l"/>
                <a:tab pos="4267200" algn="l"/>
              </a:tabLst>
            </a:pPr>
            <a:r>
              <a:rPr lang="en-PH" altLang="en-US" sz="2800" b="1" dirty="0">
                <a:solidFill>
                  <a:schemeClr val="accent1">
                    <a:lumMod val="50000"/>
                  </a:schemeClr>
                </a:solidFill>
                <a:latin typeface="+mn-lt"/>
                <a:cs typeface="Times New Roman" panose="02020603050405020304" pitchFamily="18" charset="0"/>
              </a:rPr>
              <a:t>Fluorinated gases </a:t>
            </a:r>
          </a:p>
          <a:p>
            <a:pPr algn="l">
              <a:spcAft>
                <a:spcPts val="800"/>
              </a:spcAft>
              <a:tabLst>
                <a:tab pos="1422400" algn="l"/>
                <a:tab pos="1778000" algn="l"/>
                <a:tab pos="2133600" algn="l"/>
                <a:tab pos="2489200" algn="l"/>
                <a:tab pos="2844800" algn="l"/>
                <a:tab pos="3200400" algn="l"/>
                <a:tab pos="3556000" algn="l"/>
                <a:tab pos="3911600" algn="l"/>
                <a:tab pos="4267200" algn="l"/>
              </a:tabLst>
            </a:pPr>
            <a:r>
              <a:rPr lang="en-PH" altLang="en-US" sz="2800" b="1" dirty="0">
                <a:solidFill>
                  <a:schemeClr val="accent1">
                    <a:lumMod val="50000"/>
                  </a:schemeClr>
                </a:solidFill>
                <a:latin typeface="+mn-lt"/>
                <a:cs typeface="Times New Roman" panose="02020603050405020304" pitchFamily="18" charset="0"/>
              </a:rPr>
              <a:t>(e.g., chlorofluorocarbons, hydrochlorofluorocarbons, and halons)</a:t>
            </a:r>
            <a:endParaRPr lang="en-US" altLang="en-US" sz="2800" dirty="0">
              <a:solidFill>
                <a:schemeClr val="tx2"/>
              </a:solidFill>
              <a:latin typeface="+mn-lt"/>
            </a:endParaRPr>
          </a:p>
        </p:txBody>
      </p:sp>
      <p:sp>
        <p:nvSpPr>
          <p:cNvPr id="4" name="Footer Placeholder 3">
            <a:extLst>
              <a:ext uri="{FF2B5EF4-FFF2-40B4-BE49-F238E27FC236}">
                <a16:creationId xmlns:a16="http://schemas.microsoft.com/office/drawing/2014/main" id="{6FA2D03E-FDF4-948B-47D0-3F0A2944E7D6}"/>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CD83137F-C212-D1C1-4E01-A6CB5621A0C0}"/>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Tree>
    <p:extLst>
      <p:ext uri="{BB962C8B-B14F-4D97-AF65-F5344CB8AC3E}">
        <p14:creationId xmlns:p14="http://schemas.microsoft.com/office/powerpoint/2010/main" val="4555078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Paris Agreement</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2" name="Title 1">
            <a:extLst>
              <a:ext uri="{FF2B5EF4-FFF2-40B4-BE49-F238E27FC236}">
                <a16:creationId xmlns:a16="http://schemas.microsoft.com/office/drawing/2014/main" id="{D5E1305E-F627-C936-A9BC-EE0A166BA39C}"/>
              </a:ext>
            </a:extLst>
          </p:cNvPr>
          <p:cNvSpPr txBox="1">
            <a:spLocks/>
          </p:cNvSpPr>
          <p:nvPr/>
        </p:nvSpPr>
        <p:spPr>
          <a:xfrm>
            <a:off x="947645" y="1515290"/>
            <a:ext cx="8944500"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US" altLang="en-US" sz="2800" b="1" u="sng" dirty="0">
                <a:solidFill>
                  <a:schemeClr val="tx2"/>
                </a:solidFill>
                <a:latin typeface="+mn-lt"/>
              </a:rPr>
              <a:t>The Paris Agreement</a:t>
            </a:r>
            <a:r>
              <a:rPr lang="en-US" altLang="en-US" sz="2800" dirty="0">
                <a:solidFill>
                  <a:schemeClr val="tx2"/>
                </a:solidFill>
                <a:latin typeface="+mn-lt"/>
              </a:rPr>
              <a:t> is a legally binding international treaty on climate change. It was adopted by 196 Parties at the UN Climate Change Conference (COP21) in Paris, France, on 12 December 2015. It entered into force on 4 November 2016.</a:t>
            </a:r>
            <a:br>
              <a:rPr lang="en-US" altLang="en-US" sz="2800" dirty="0">
                <a:solidFill>
                  <a:schemeClr val="tx2"/>
                </a:solidFill>
                <a:latin typeface="+mn-lt"/>
              </a:rPr>
            </a:br>
            <a:br>
              <a:rPr lang="en-US" altLang="en-US" sz="2800" dirty="0">
                <a:solidFill>
                  <a:schemeClr val="tx2"/>
                </a:solidFill>
                <a:latin typeface="+mn-lt"/>
              </a:rPr>
            </a:br>
            <a:r>
              <a:rPr lang="en-US" altLang="en-US" sz="2800" dirty="0">
                <a:solidFill>
                  <a:schemeClr val="tx2"/>
                </a:solidFill>
                <a:latin typeface="+mn-lt"/>
              </a:rPr>
              <a:t>Its overarching goal is to hold </a:t>
            </a:r>
            <a:r>
              <a:rPr lang="en-US" altLang="en-US" sz="2800" b="1" u="sng" dirty="0">
                <a:solidFill>
                  <a:schemeClr val="tx2"/>
                </a:solidFill>
                <a:latin typeface="+mn-lt"/>
              </a:rPr>
              <a:t>“the increase in the global average temperature to well below 2°C above pre-industrial levels”</a:t>
            </a:r>
            <a:r>
              <a:rPr lang="en-US" altLang="en-US" sz="2800" dirty="0">
                <a:solidFill>
                  <a:schemeClr val="tx2"/>
                </a:solidFill>
                <a:latin typeface="+mn-lt"/>
              </a:rPr>
              <a:t> and pursue efforts </a:t>
            </a:r>
            <a:r>
              <a:rPr lang="en-US" altLang="en-US" sz="2800" b="1" u="sng" dirty="0">
                <a:solidFill>
                  <a:schemeClr val="tx2"/>
                </a:solidFill>
                <a:latin typeface="+mn-lt"/>
              </a:rPr>
              <a:t>“to limit the temperature increase to 1.5°C above pre-industrial levels.”</a:t>
            </a:r>
          </a:p>
        </p:txBody>
      </p:sp>
      <p:sp>
        <p:nvSpPr>
          <p:cNvPr id="4" name="Footer Placeholder 3">
            <a:extLst>
              <a:ext uri="{FF2B5EF4-FFF2-40B4-BE49-F238E27FC236}">
                <a16:creationId xmlns:a16="http://schemas.microsoft.com/office/drawing/2014/main" id="{CC26478D-25FA-83CB-1E5A-86C6E046220E}"/>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C27859A3-0DFB-C500-0221-AEBEB0DD36F3}"/>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Tree>
    <p:extLst>
      <p:ext uri="{BB962C8B-B14F-4D97-AF65-F5344CB8AC3E}">
        <p14:creationId xmlns:p14="http://schemas.microsoft.com/office/powerpoint/2010/main" val="9333895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Carbon Things</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2" name="Title 1">
            <a:extLst>
              <a:ext uri="{FF2B5EF4-FFF2-40B4-BE49-F238E27FC236}">
                <a16:creationId xmlns:a16="http://schemas.microsoft.com/office/drawing/2014/main" id="{D5E1305E-F627-C936-A9BC-EE0A166BA39C}"/>
              </a:ext>
            </a:extLst>
          </p:cNvPr>
          <p:cNvSpPr txBox="1">
            <a:spLocks/>
          </p:cNvSpPr>
          <p:nvPr/>
        </p:nvSpPr>
        <p:spPr>
          <a:xfrm>
            <a:off x="947645" y="1515290"/>
            <a:ext cx="8944500"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just">
              <a:spcAft>
                <a:spcPts val="800"/>
              </a:spcAft>
              <a:buFont typeface="Wingdings" pitchFamily="2" charset="2"/>
              <a:buChar char="Ø"/>
              <a:tabLst>
                <a:tab pos="1422400" algn="l"/>
                <a:tab pos="1778000" algn="l"/>
                <a:tab pos="2133600" algn="l"/>
                <a:tab pos="2489200" algn="l"/>
                <a:tab pos="2844800" algn="l"/>
                <a:tab pos="3200400" algn="l"/>
                <a:tab pos="3556000" algn="l"/>
                <a:tab pos="3911600" algn="l"/>
                <a:tab pos="4267200" algn="l"/>
              </a:tabLst>
            </a:pPr>
            <a:r>
              <a:rPr lang="en-US" altLang="en-US" sz="2800" b="1" dirty="0">
                <a:solidFill>
                  <a:schemeClr val="tx2"/>
                </a:solidFill>
                <a:latin typeface="+mn-lt"/>
              </a:rPr>
              <a:t>Carbon Neutral</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US" altLang="en-US" sz="2400" dirty="0">
                <a:solidFill>
                  <a:schemeClr val="tx2"/>
                </a:solidFill>
                <a:latin typeface="+mn-lt"/>
              </a:rPr>
              <a:t>Refers to the state where the amount of carbon dioxide (CO</a:t>
            </a:r>
            <a:r>
              <a:rPr lang="en-US" altLang="en-US" sz="2400" baseline="-25000" dirty="0">
                <a:solidFill>
                  <a:schemeClr val="tx2"/>
                </a:solidFill>
                <a:latin typeface="+mn-lt"/>
              </a:rPr>
              <a:t>2</a:t>
            </a:r>
            <a:r>
              <a:rPr lang="en-US" altLang="en-US" sz="2400" dirty="0">
                <a:solidFill>
                  <a:schemeClr val="tx2"/>
                </a:solidFill>
                <a:latin typeface="+mn-lt"/>
              </a:rPr>
              <a:t>) emissions produced is balanced by an equivalent amount being offset, typically through activities like planting trees or investing in renewable energy projects. </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US" altLang="en-US" sz="2400" dirty="0">
              <a:solidFill>
                <a:schemeClr val="tx2"/>
              </a:solidFill>
              <a:latin typeface="+mn-lt"/>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US" altLang="en-US" sz="2400" b="1" dirty="0">
                <a:solidFill>
                  <a:schemeClr val="tx2"/>
                </a:solidFill>
                <a:latin typeface="+mn-lt"/>
              </a:rPr>
              <a:t>Example: </a:t>
            </a:r>
            <a:r>
              <a:rPr lang="en-US" altLang="en-US" sz="2400" dirty="0">
                <a:solidFill>
                  <a:schemeClr val="tx2"/>
                </a:solidFill>
                <a:latin typeface="+mn-lt"/>
              </a:rPr>
              <a:t>A company produces 100 tons of CO</a:t>
            </a:r>
            <a:r>
              <a:rPr lang="en-US" altLang="en-US" sz="2400" baseline="-25000" dirty="0">
                <a:solidFill>
                  <a:schemeClr val="tx2"/>
                </a:solidFill>
                <a:latin typeface="+mn-lt"/>
              </a:rPr>
              <a:t>2</a:t>
            </a:r>
            <a:r>
              <a:rPr lang="en-US" altLang="en-US" sz="2400" dirty="0">
                <a:solidFill>
                  <a:schemeClr val="tx2"/>
                </a:solidFill>
                <a:latin typeface="+mn-lt"/>
              </a:rPr>
              <a:t> annually but offsets this by purchasing carbon credits that fund reforestation projects, thus achieving carbon neutrality.</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US" altLang="en-US" sz="2800" dirty="0">
              <a:solidFill>
                <a:schemeClr val="tx2"/>
              </a:solidFill>
              <a:latin typeface="+mn-lt"/>
            </a:endParaRPr>
          </a:p>
        </p:txBody>
      </p:sp>
      <p:sp>
        <p:nvSpPr>
          <p:cNvPr id="4" name="Footer Placeholder 3">
            <a:extLst>
              <a:ext uri="{FF2B5EF4-FFF2-40B4-BE49-F238E27FC236}">
                <a16:creationId xmlns:a16="http://schemas.microsoft.com/office/drawing/2014/main" id="{A27FFA41-04A6-D46D-C683-F2877FAD4F37}"/>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25D373C5-5F82-D59B-B037-2A4F084F409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Tree>
    <p:extLst>
      <p:ext uri="{BB962C8B-B14F-4D97-AF65-F5344CB8AC3E}">
        <p14:creationId xmlns:p14="http://schemas.microsoft.com/office/powerpoint/2010/main" val="30648056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Carbon Things</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2" name="Title 1">
            <a:extLst>
              <a:ext uri="{FF2B5EF4-FFF2-40B4-BE49-F238E27FC236}">
                <a16:creationId xmlns:a16="http://schemas.microsoft.com/office/drawing/2014/main" id="{D5E1305E-F627-C936-A9BC-EE0A166BA39C}"/>
              </a:ext>
            </a:extLst>
          </p:cNvPr>
          <p:cNvSpPr txBox="1">
            <a:spLocks/>
          </p:cNvSpPr>
          <p:nvPr/>
        </p:nvSpPr>
        <p:spPr>
          <a:xfrm>
            <a:off x="947645" y="1515290"/>
            <a:ext cx="8944500"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just">
              <a:spcAft>
                <a:spcPts val="800"/>
              </a:spcAft>
              <a:buFont typeface="Wingdings" pitchFamily="2" charset="2"/>
              <a:buChar char="Ø"/>
              <a:tabLst>
                <a:tab pos="1422400" algn="l"/>
                <a:tab pos="1778000" algn="l"/>
                <a:tab pos="2133600" algn="l"/>
                <a:tab pos="2489200" algn="l"/>
                <a:tab pos="2844800" algn="l"/>
                <a:tab pos="3200400" algn="l"/>
                <a:tab pos="3556000" algn="l"/>
                <a:tab pos="3911600" algn="l"/>
                <a:tab pos="4267200" algn="l"/>
              </a:tabLst>
            </a:pPr>
            <a:r>
              <a:rPr lang="en-US" altLang="en-US" sz="2800" b="1" dirty="0">
                <a:solidFill>
                  <a:schemeClr val="tx2"/>
                </a:solidFill>
                <a:latin typeface="+mn-lt"/>
              </a:rPr>
              <a:t>Net-Zero Carbon</a:t>
            </a: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US" altLang="en-US" sz="2400" dirty="0">
                <a:solidFill>
                  <a:schemeClr val="tx2"/>
                </a:solidFill>
                <a:latin typeface="+mn-lt"/>
              </a:rPr>
              <a:t>This means reducing all greenhouse gas (GHG) emissions to the lowest possible level and offsetting the remaining emissions to achieve a net result of zero carbon emissions. </a:t>
            </a:r>
          </a:p>
          <a:p>
            <a:pPr algn="just">
              <a:spcAft>
                <a:spcPts val="800"/>
              </a:spcAft>
              <a:tabLst>
                <a:tab pos="1422400" algn="l"/>
                <a:tab pos="1778000" algn="l"/>
                <a:tab pos="2133600" algn="l"/>
                <a:tab pos="2489200" algn="l"/>
                <a:tab pos="2844800" algn="l"/>
                <a:tab pos="3200400" algn="l"/>
                <a:tab pos="3556000" algn="l"/>
                <a:tab pos="3911600" algn="l"/>
                <a:tab pos="4267200" algn="l"/>
              </a:tabLst>
            </a:pPr>
            <a:endParaRPr lang="en-US" altLang="en-US" sz="2400" dirty="0">
              <a:solidFill>
                <a:schemeClr val="tx2"/>
              </a:solidFill>
              <a:latin typeface="+mn-lt"/>
            </a:endParaRPr>
          </a:p>
          <a:p>
            <a:pPr algn="just">
              <a:spcAft>
                <a:spcPts val="800"/>
              </a:spcAft>
              <a:tabLst>
                <a:tab pos="1422400" algn="l"/>
                <a:tab pos="1778000" algn="l"/>
                <a:tab pos="2133600" algn="l"/>
                <a:tab pos="2489200" algn="l"/>
                <a:tab pos="2844800" algn="l"/>
                <a:tab pos="3200400" algn="l"/>
                <a:tab pos="3556000" algn="l"/>
                <a:tab pos="3911600" algn="l"/>
                <a:tab pos="4267200" algn="l"/>
              </a:tabLst>
            </a:pPr>
            <a:r>
              <a:rPr lang="en-US" altLang="en-US" sz="2400" b="1" dirty="0">
                <a:solidFill>
                  <a:schemeClr val="tx2"/>
                </a:solidFill>
                <a:latin typeface="+mn-lt"/>
              </a:rPr>
              <a:t>Example: </a:t>
            </a:r>
            <a:r>
              <a:rPr lang="en-US" altLang="en-US" sz="2400" dirty="0">
                <a:solidFill>
                  <a:schemeClr val="tx2"/>
                </a:solidFill>
                <a:latin typeface="+mn-lt"/>
              </a:rPr>
              <a:t>A manufacturing plant reduces its emissions by implementing energy-efficient processes and offsets the remaining emissions by investing in carbon capture technology, achieving net zero carbon status.</a:t>
            </a:r>
          </a:p>
        </p:txBody>
      </p:sp>
      <p:sp>
        <p:nvSpPr>
          <p:cNvPr id="4" name="Footer Placeholder 3">
            <a:extLst>
              <a:ext uri="{FF2B5EF4-FFF2-40B4-BE49-F238E27FC236}">
                <a16:creationId xmlns:a16="http://schemas.microsoft.com/office/drawing/2014/main" id="{9BFC2C06-A6A6-D45B-5FF0-F7E693589CE1}"/>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B267B84D-EF2F-2306-C227-B53367D73C77}"/>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Tree>
    <p:extLst>
      <p:ext uri="{BB962C8B-B14F-4D97-AF65-F5344CB8AC3E}">
        <p14:creationId xmlns:p14="http://schemas.microsoft.com/office/powerpoint/2010/main" val="2227866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Carbon Things</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2" name="Title 1">
            <a:extLst>
              <a:ext uri="{FF2B5EF4-FFF2-40B4-BE49-F238E27FC236}">
                <a16:creationId xmlns:a16="http://schemas.microsoft.com/office/drawing/2014/main" id="{D5E1305E-F627-C936-A9BC-EE0A166BA39C}"/>
              </a:ext>
            </a:extLst>
          </p:cNvPr>
          <p:cNvSpPr txBox="1">
            <a:spLocks/>
          </p:cNvSpPr>
          <p:nvPr/>
        </p:nvSpPr>
        <p:spPr>
          <a:xfrm>
            <a:off x="947645" y="1515290"/>
            <a:ext cx="8944500"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just">
              <a:buFont typeface="Wingdings" pitchFamily="2" charset="2"/>
              <a:buChar char="Ø"/>
            </a:pPr>
            <a:r>
              <a:rPr lang="en-PH" sz="2800" b="1" i="0" u="none" strike="noStrike" dirty="0">
                <a:solidFill>
                  <a:schemeClr val="tx2"/>
                </a:solidFill>
                <a:effectLst/>
                <a:latin typeface="+mn-lt"/>
              </a:rPr>
              <a:t>Carbon Negative (Climate Positive)</a:t>
            </a:r>
          </a:p>
          <a:p>
            <a:pPr marL="457200" indent="-457200" algn="just">
              <a:buFont typeface="Wingdings" pitchFamily="2" charset="2"/>
              <a:buChar char="Ø"/>
            </a:pPr>
            <a:endParaRPr lang="en-PH" sz="2800" b="1" i="0" u="none" strike="noStrike" dirty="0">
              <a:solidFill>
                <a:schemeClr val="tx2"/>
              </a:solidFill>
              <a:effectLst/>
              <a:latin typeface="+mn-lt"/>
            </a:endParaRPr>
          </a:p>
          <a:p>
            <a:pPr algn="just"/>
            <a:r>
              <a:rPr lang="en-PH" sz="2400" b="0" i="0" u="none" strike="noStrike" dirty="0">
                <a:solidFill>
                  <a:schemeClr val="tx2"/>
                </a:solidFill>
                <a:effectLst/>
                <a:latin typeface="+mn-lt"/>
              </a:rPr>
              <a:t>Carbon negative or climate positive refers to removing more CO</a:t>
            </a:r>
            <a:r>
              <a:rPr lang="en-PH" sz="2400" b="0" i="0" u="none" strike="noStrike" baseline="-25000" dirty="0">
                <a:solidFill>
                  <a:schemeClr val="tx2"/>
                </a:solidFill>
                <a:effectLst/>
                <a:latin typeface="+mn-lt"/>
              </a:rPr>
              <a:t>2</a:t>
            </a:r>
            <a:r>
              <a:rPr lang="en-PH" sz="2400" b="0" i="0" u="none" strike="noStrike" dirty="0">
                <a:solidFill>
                  <a:schemeClr val="tx2"/>
                </a:solidFill>
                <a:effectLst/>
                <a:latin typeface="+mn-lt"/>
              </a:rPr>
              <a:t> from the atmosphere than is emitted, resulting in a net reduction of atmospheric CO</a:t>
            </a:r>
            <a:r>
              <a:rPr lang="en-PH" sz="2400" b="0" i="0" u="none" strike="noStrike" baseline="-25000" dirty="0">
                <a:solidFill>
                  <a:schemeClr val="tx2"/>
                </a:solidFill>
                <a:effectLst/>
                <a:latin typeface="+mn-lt"/>
              </a:rPr>
              <a:t>2</a:t>
            </a:r>
            <a:r>
              <a:rPr lang="en-PH" sz="2400" b="0" i="0" u="none" strike="noStrike" dirty="0">
                <a:solidFill>
                  <a:schemeClr val="tx2"/>
                </a:solidFill>
                <a:effectLst/>
                <a:latin typeface="+mn-lt"/>
              </a:rPr>
              <a:t>. </a:t>
            </a:r>
          </a:p>
          <a:p>
            <a:pPr algn="just"/>
            <a:endParaRPr lang="en-PH" sz="2400" dirty="0">
              <a:solidFill>
                <a:schemeClr val="tx2"/>
              </a:solidFill>
              <a:latin typeface="+mn-lt"/>
            </a:endParaRPr>
          </a:p>
          <a:p>
            <a:pPr algn="just"/>
            <a:r>
              <a:rPr lang="en-PH" sz="2400" b="1" i="0" u="none" strike="noStrike" dirty="0">
                <a:solidFill>
                  <a:schemeClr val="tx2"/>
                </a:solidFill>
                <a:effectLst/>
                <a:latin typeface="+mn-lt"/>
              </a:rPr>
              <a:t>Example</a:t>
            </a:r>
            <a:r>
              <a:rPr lang="en-PH" sz="2400" b="0" i="0" u="none" strike="noStrike" dirty="0">
                <a:solidFill>
                  <a:schemeClr val="tx2"/>
                </a:solidFill>
                <a:effectLst/>
                <a:latin typeface="+mn-lt"/>
              </a:rPr>
              <a:t>: A company emits 200 tons of CO</a:t>
            </a:r>
            <a:r>
              <a:rPr lang="en-PH" sz="2400" b="0" i="0" u="none" strike="noStrike" baseline="-25000" dirty="0">
                <a:solidFill>
                  <a:schemeClr val="tx2"/>
                </a:solidFill>
                <a:effectLst/>
                <a:latin typeface="+mn-lt"/>
              </a:rPr>
              <a:t>2</a:t>
            </a:r>
            <a:r>
              <a:rPr lang="en-PH" sz="2400" b="0" i="0" u="none" strike="noStrike" dirty="0">
                <a:solidFill>
                  <a:schemeClr val="tx2"/>
                </a:solidFill>
                <a:effectLst/>
                <a:latin typeface="+mn-lt"/>
              </a:rPr>
              <a:t> but removes 250 tons through carbon capture and storage systems, resulting in a carbon negative or climate positive impact.</a:t>
            </a:r>
          </a:p>
        </p:txBody>
      </p:sp>
      <p:sp>
        <p:nvSpPr>
          <p:cNvPr id="4" name="Footer Placeholder 3">
            <a:extLst>
              <a:ext uri="{FF2B5EF4-FFF2-40B4-BE49-F238E27FC236}">
                <a16:creationId xmlns:a16="http://schemas.microsoft.com/office/drawing/2014/main" id="{02ED5C38-8BF7-67F6-EDF7-B2CB24D187B7}"/>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EC6405E1-15B1-B977-4C9F-DC0BD30BCCA2}"/>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Tree>
    <p:extLst>
      <p:ext uri="{BB962C8B-B14F-4D97-AF65-F5344CB8AC3E}">
        <p14:creationId xmlns:p14="http://schemas.microsoft.com/office/powerpoint/2010/main" val="41896550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Carbon Things</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2" name="Title 1">
            <a:extLst>
              <a:ext uri="{FF2B5EF4-FFF2-40B4-BE49-F238E27FC236}">
                <a16:creationId xmlns:a16="http://schemas.microsoft.com/office/drawing/2014/main" id="{D5E1305E-F627-C936-A9BC-EE0A166BA39C}"/>
              </a:ext>
            </a:extLst>
          </p:cNvPr>
          <p:cNvSpPr txBox="1">
            <a:spLocks/>
          </p:cNvSpPr>
          <p:nvPr/>
        </p:nvSpPr>
        <p:spPr>
          <a:xfrm>
            <a:off x="947645" y="1515290"/>
            <a:ext cx="8944500"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342900" indent="-342900" algn="just">
              <a:buFont typeface="Wingdings" pitchFamily="2" charset="2"/>
              <a:buChar char="Ø"/>
            </a:pPr>
            <a:r>
              <a:rPr lang="en-PH" sz="2800" b="1" i="0" u="none" strike="noStrike" dirty="0">
                <a:solidFill>
                  <a:schemeClr val="tx2"/>
                </a:solidFill>
                <a:effectLst/>
                <a:latin typeface="+mn-lt"/>
              </a:rPr>
              <a:t>Climate Neutral</a:t>
            </a:r>
          </a:p>
          <a:p>
            <a:pPr algn="just"/>
            <a:endParaRPr lang="en-PH" sz="2400" b="0" i="0" u="none" strike="noStrike" dirty="0">
              <a:solidFill>
                <a:schemeClr val="tx2"/>
              </a:solidFill>
              <a:effectLst/>
              <a:latin typeface="+mn-lt"/>
            </a:endParaRPr>
          </a:p>
          <a:p>
            <a:pPr algn="just"/>
            <a:r>
              <a:rPr lang="en-PH" sz="2400" b="0" i="0" u="none" strike="noStrike" dirty="0">
                <a:solidFill>
                  <a:schemeClr val="tx2"/>
                </a:solidFill>
                <a:effectLst/>
                <a:latin typeface="+mn-lt"/>
              </a:rPr>
              <a:t>Climate neutral involves reducing all GHG emissions as much as possible and offsetting any remaining emissions, while also ensuring no other negative environmental impacts, such as harming carbon sinks or using fossil fuels. </a:t>
            </a:r>
          </a:p>
          <a:p>
            <a:pPr algn="just"/>
            <a:endParaRPr lang="en-PH" sz="2400" dirty="0">
              <a:solidFill>
                <a:schemeClr val="tx2"/>
              </a:solidFill>
              <a:latin typeface="+mn-lt"/>
            </a:endParaRPr>
          </a:p>
          <a:p>
            <a:pPr algn="just"/>
            <a:r>
              <a:rPr lang="en-PH" sz="2400" b="1" i="0" u="none" strike="noStrike" dirty="0">
                <a:solidFill>
                  <a:schemeClr val="tx2"/>
                </a:solidFill>
                <a:effectLst/>
                <a:latin typeface="+mn-lt"/>
              </a:rPr>
              <a:t>Example: </a:t>
            </a:r>
            <a:r>
              <a:rPr lang="en-PH" sz="2400" b="0" i="0" u="none" strike="noStrike" dirty="0">
                <a:solidFill>
                  <a:schemeClr val="tx2"/>
                </a:solidFill>
                <a:effectLst/>
                <a:latin typeface="+mn-lt"/>
              </a:rPr>
              <a:t>An organization minimizes its GHG emissions through comprehensive sustainability practices and offsets any remaining emissions, while also ensuring its operations do not harm local ecosystems, achieving climate neutrality.</a:t>
            </a:r>
          </a:p>
          <a:p>
            <a:pPr algn="just"/>
            <a:endParaRPr lang="en-PH" sz="2400" b="0" i="0" u="none" strike="noStrike" dirty="0">
              <a:solidFill>
                <a:schemeClr val="tx2"/>
              </a:solidFill>
              <a:effectLst/>
              <a:latin typeface="+mn-lt"/>
            </a:endParaRPr>
          </a:p>
        </p:txBody>
      </p:sp>
      <p:sp>
        <p:nvSpPr>
          <p:cNvPr id="4" name="Footer Placeholder 3">
            <a:extLst>
              <a:ext uri="{FF2B5EF4-FFF2-40B4-BE49-F238E27FC236}">
                <a16:creationId xmlns:a16="http://schemas.microsoft.com/office/drawing/2014/main" id="{5A44E23F-A4EC-077E-061C-E32588A079A5}"/>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423E2A45-BABA-6A15-BB09-6B3FAB4EE95D}"/>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Tree>
    <p:extLst>
      <p:ext uri="{BB962C8B-B14F-4D97-AF65-F5344CB8AC3E}">
        <p14:creationId xmlns:p14="http://schemas.microsoft.com/office/powerpoint/2010/main" val="1908980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Carbon Things</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2" name="Title 1">
            <a:extLst>
              <a:ext uri="{FF2B5EF4-FFF2-40B4-BE49-F238E27FC236}">
                <a16:creationId xmlns:a16="http://schemas.microsoft.com/office/drawing/2014/main" id="{D5E1305E-F627-C936-A9BC-EE0A166BA39C}"/>
              </a:ext>
            </a:extLst>
          </p:cNvPr>
          <p:cNvSpPr txBox="1">
            <a:spLocks/>
          </p:cNvSpPr>
          <p:nvPr/>
        </p:nvSpPr>
        <p:spPr>
          <a:xfrm>
            <a:off x="947645" y="1515290"/>
            <a:ext cx="8944500"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342900" indent="-342900" algn="just">
              <a:buFont typeface="Wingdings" pitchFamily="2" charset="2"/>
              <a:buChar char="Ø"/>
            </a:pPr>
            <a:r>
              <a:rPr lang="en-PH" sz="2800" b="1" i="0" u="none" strike="noStrike" dirty="0">
                <a:solidFill>
                  <a:schemeClr val="tx2"/>
                </a:solidFill>
                <a:effectLst/>
                <a:latin typeface="+mn-lt"/>
              </a:rPr>
              <a:t>Net Zero Emissions</a:t>
            </a:r>
          </a:p>
          <a:p>
            <a:pPr algn="just"/>
            <a:endParaRPr lang="en-PH" sz="2400" b="0" i="0" u="none" strike="noStrike" dirty="0">
              <a:solidFill>
                <a:schemeClr val="tx2"/>
              </a:solidFill>
              <a:effectLst/>
              <a:latin typeface="+mn-lt"/>
            </a:endParaRPr>
          </a:p>
          <a:p>
            <a:pPr algn="just"/>
            <a:r>
              <a:rPr lang="en-PH" sz="2400" b="0" i="0" u="none" strike="noStrike" dirty="0">
                <a:solidFill>
                  <a:schemeClr val="tx2"/>
                </a:solidFill>
                <a:effectLst/>
                <a:latin typeface="+mn-lt"/>
              </a:rPr>
              <a:t>Net zero emissions means balancing the total amount of GHGs released and the amount removed from the atmosphere, resulting in a net zero effect. </a:t>
            </a:r>
          </a:p>
          <a:p>
            <a:pPr algn="just"/>
            <a:endParaRPr lang="en-PH" sz="2400" dirty="0">
              <a:solidFill>
                <a:schemeClr val="tx2"/>
              </a:solidFill>
              <a:latin typeface="+mn-lt"/>
            </a:endParaRPr>
          </a:p>
          <a:p>
            <a:pPr algn="just"/>
            <a:r>
              <a:rPr lang="en-PH" sz="2400" b="1" i="0" u="none" strike="noStrike" dirty="0">
                <a:solidFill>
                  <a:schemeClr val="tx2"/>
                </a:solidFill>
                <a:effectLst/>
                <a:latin typeface="+mn-lt"/>
              </a:rPr>
              <a:t>Example: </a:t>
            </a:r>
            <a:r>
              <a:rPr lang="en-PH" sz="2400" b="0" i="0" u="none" strike="noStrike" dirty="0">
                <a:solidFill>
                  <a:schemeClr val="tx2"/>
                </a:solidFill>
                <a:effectLst/>
                <a:latin typeface="+mn-lt"/>
              </a:rPr>
              <a:t>A city reduces its GHG emissions through public transportation and renewable energy initiatives and offsets any remaining emissions through reforestation projects, achieving net zero emissions.</a:t>
            </a:r>
          </a:p>
          <a:p>
            <a:pPr algn="just"/>
            <a:endParaRPr lang="en-PH" sz="2400" b="0" i="0" u="none" strike="noStrike" dirty="0">
              <a:solidFill>
                <a:schemeClr val="tx2"/>
              </a:solidFill>
              <a:effectLst/>
              <a:latin typeface="+mn-lt"/>
            </a:endParaRPr>
          </a:p>
        </p:txBody>
      </p:sp>
      <p:sp>
        <p:nvSpPr>
          <p:cNvPr id="4" name="Footer Placeholder 3">
            <a:extLst>
              <a:ext uri="{FF2B5EF4-FFF2-40B4-BE49-F238E27FC236}">
                <a16:creationId xmlns:a16="http://schemas.microsoft.com/office/drawing/2014/main" id="{54121BD0-71A3-A478-DBC8-87DF6826F4A5}"/>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DF4D98C3-4E03-0D11-8186-665016A01C91}"/>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Tree>
    <p:extLst>
      <p:ext uri="{BB962C8B-B14F-4D97-AF65-F5344CB8AC3E}">
        <p14:creationId xmlns:p14="http://schemas.microsoft.com/office/powerpoint/2010/main" val="3814402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2" name="Title 1">
            <a:extLst>
              <a:ext uri="{FF2B5EF4-FFF2-40B4-BE49-F238E27FC236}">
                <a16:creationId xmlns:a16="http://schemas.microsoft.com/office/drawing/2014/main" id="{D5E1305E-F627-C936-A9BC-EE0A166BA39C}"/>
              </a:ext>
            </a:extLst>
          </p:cNvPr>
          <p:cNvSpPr txBox="1">
            <a:spLocks/>
          </p:cNvSpPr>
          <p:nvPr/>
        </p:nvSpPr>
        <p:spPr>
          <a:xfrm>
            <a:off x="947645" y="1515290"/>
            <a:ext cx="8944500"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PH" sz="2400" b="0" i="0" u="none" strike="noStrike" dirty="0">
                <a:solidFill>
                  <a:schemeClr val="tx2"/>
                </a:solidFill>
                <a:effectLst/>
                <a:latin typeface="+mn-lt"/>
              </a:rPr>
              <a:t>The Clean Development Mechanism (CDM) is a framework established under Article 12 of the Kyoto Protocol that allows developed countries (Annex B Parties) with greenhouse gas emission-reduction commitments to implement emission-reduction projects in developing countries. These projects earn saleable certified emission reduction (CER) credits, each equivalent to one ton of CO</a:t>
            </a:r>
            <a:r>
              <a:rPr lang="en-PH" sz="2400" b="0" i="0" u="none" strike="noStrike" baseline="-25000" dirty="0">
                <a:solidFill>
                  <a:schemeClr val="tx2"/>
                </a:solidFill>
                <a:effectLst/>
                <a:latin typeface="+mn-lt"/>
              </a:rPr>
              <a:t>2</a:t>
            </a:r>
            <a:r>
              <a:rPr lang="en-PH" sz="2400" b="0" i="0" u="none" strike="noStrike" dirty="0">
                <a:solidFill>
                  <a:schemeClr val="tx2"/>
                </a:solidFill>
                <a:effectLst/>
                <a:latin typeface="+mn-lt"/>
              </a:rPr>
              <a:t>, which can be used to meet Kyoto targets.</a:t>
            </a:r>
          </a:p>
          <a:p>
            <a:pPr algn="just"/>
            <a:endParaRPr lang="en-PH" sz="2400" b="0" i="0" u="none" strike="noStrike" dirty="0">
              <a:solidFill>
                <a:schemeClr val="tx2"/>
              </a:solidFill>
              <a:effectLst/>
              <a:latin typeface="+mn-lt"/>
            </a:endParaRPr>
          </a:p>
        </p:txBody>
      </p:sp>
      <p:sp>
        <p:nvSpPr>
          <p:cNvPr id="4" name="Title 1">
            <a:extLst>
              <a:ext uri="{FF2B5EF4-FFF2-40B4-BE49-F238E27FC236}">
                <a16:creationId xmlns:a16="http://schemas.microsoft.com/office/drawing/2014/main" id="{2CFBBEB6-1780-157C-FEC0-56882E56673B}"/>
              </a:ext>
            </a:extLst>
          </p:cNvPr>
          <p:cNvSpPr txBox="1">
            <a:spLocks/>
          </p:cNvSpPr>
          <p:nvPr/>
        </p:nvSpPr>
        <p:spPr>
          <a:xfrm>
            <a:off x="947645" y="534990"/>
            <a:ext cx="8773871" cy="980301"/>
          </a:xfrm>
          <a:prstGeom prst="rect">
            <a:avLst/>
          </a:prstGeom>
        </p:spPr>
        <p:txBody>
          <a:bodyPr vert="horz" lIns="91440" tIns="45720" rIns="91440" bIns="45720" rtlCol="0" anchor="t">
            <a:normAutofit fontScale="850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Clean Development Mechanism (CDM)</a:t>
            </a:r>
            <a:endParaRPr lang="en-US" sz="2800" b="1" dirty="0">
              <a:solidFill>
                <a:schemeClr val="accent1">
                  <a:lumMod val="50000"/>
                </a:schemeClr>
              </a:solidFill>
              <a:latin typeface="Trebuchet MS" panose="020B0703020202090204" pitchFamily="34" charset="0"/>
            </a:endParaRPr>
          </a:p>
        </p:txBody>
      </p:sp>
      <p:sp>
        <p:nvSpPr>
          <p:cNvPr id="5" name="Footer Placeholder 4">
            <a:extLst>
              <a:ext uri="{FF2B5EF4-FFF2-40B4-BE49-F238E27FC236}">
                <a16:creationId xmlns:a16="http://schemas.microsoft.com/office/drawing/2014/main" id="{A1CD0E04-60D2-0D7A-680C-173CEEDA5CB1}"/>
              </a:ext>
            </a:extLst>
          </p:cNvPr>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a:extLst>
              <a:ext uri="{FF2B5EF4-FFF2-40B4-BE49-F238E27FC236}">
                <a16:creationId xmlns:a16="http://schemas.microsoft.com/office/drawing/2014/main" id="{7DEA0A57-2F60-9735-46D2-A79769682FE2}"/>
              </a:ext>
            </a:extLst>
          </p:cNvPr>
          <p:cNvSpPr>
            <a:spLocks noGrp="1"/>
          </p:cNvSpPr>
          <p:nvPr>
            <p:ph type="sldNum" sz="quarter" idx="12"/>
          </p:nvPr>
        </p:nvSpPr>
        <p:spPr/>
        <p:txBody>
          <a:bodyPr/>
          <a:lstStyle/>
          <a:p>
            <a:fld id="{D57F1E4F-1CFF-5643-939E-217C01CDF565}" type="slidenum">
              <a:rPr lang="en-US" smtClean="0"/>
              <a:pPr/>
              <a:t>12</a:t>
            </a:fld>
            <a:endParaRPr lang="en-US" dirty="0"/>
          </a:p>
        </p:txBody>
      </p:sp>
    </p:spTree>
    <p:extLst>
      <p:ext uri="{BB962C8B-B14F-4D97-AF65-F5344CB8AC3E}">
        <p14:creationId xmlns:p14="http://schemas.microsoft.com/office/powerpoint/2010/main" val="1379177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980301"/>
          </a:xfrm>
          <a:prstGeom prst="rect">
            <a:avLst/>
          </a:prstGeom>
        </p:spPr>
        <p:txBody>
          <a:bodyPr vert="horz" lIns="91440" tIns="45720" rIns="91440" bIns="45720" rtlCol="0" anchor="t">
            <a:normAutofit fontScale="850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Clean Development Mechanism (CDM)</a:t>
            </a:r>
            <a:endParaRPr lang="en-US" sz="2800" b="1" dirty="0">
              <a:solidFill>
                <a:schemeClr val="accent1">
                  <a:lumMod val="50000"/>
                </a:schemeClr>
              </a:solidFill>
              <a:latin typeface="Trebuchet MS" panose="020B0703020202090204" pitchFamily="34" charset="0"/>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pic>
        <p:nvPicPr>
          <p:cNvPr id="5122" name="Picture 2" descr="The Clean Development Mechanism | Download Scientific Diagram">
            <a:extLst>
              <a:ext uri="{FF2B5EF4-FFF2-40B4-BE49-F238E27FC236}">
                <a16:creationId xmlns:a16="http://schemas.microsoft.com/office/drawing/2014/main" id="{7D04A7DF-FF52-ED40-F9C9-1921C4E6C2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3709" y="1149926"/>
            <a:ext cx="5749635" cy="522887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B3F3781-304F-7A18-37DA-71006FD7A82E}"/>
              </a:ext>
            </a:extLst>
          </p:cNvPr>
          <p:cNvSpPr txBox="1"/>
          <p:nvPr/>
        </p:nvSpPr>
        <p:spPr>
          <a:xfrm>
            <a:off x="521567" y="6475788"/>
            <a:ext cx="6102926" cy="276999"/>
          </a:xfrm>
          <a:prstGeom prst="rect">
            <a:avLst/>
          </a:prstGeom>
          <a:noFill/>
        </p:spPr>
        <p:txBody>
          <a:bodyPr wrap="square">
            <a:spAutoFit/>
          </a:bodyPr>
          <a:lstStyle/>
          <a:p>
            <a:r>
              <a:rPr lang="en-US" sz="1200" dirty="0"/>
              <a:t>https://</a:t>
            </a:r>
            <a:r>
              <a:rPr lang="en-US" sz="1200" dirty="0" err="1"/>
              <a:t>images.app.goo.gl</a:t>
            </a:r>
            <a:r>
              <a:rPr lang="en-US" sz="1200" dirty="0"/>
              <a:t>/ZS6XGJqa5tLdFS3P6</a:t>
            </a:r>
          </a:p>
        </p:txBody>
      </p:sp>
      <p:sp>
        <p:nvSpPr>
          <p:cNvPr id="2" name="Footer Placeholder 1">
            <a:extLst>
              <a:ext uri="{FF2B5EF4-FFF2-40B4-BE49-F238E27FC236}">
                <a16:creationId xmlns:a16="http://schemas.microsoft.com/office/drawing/2014/main" id="{76473F11-DAF2-A548-75EE-4768B61948DD}"/>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6672BE57-F857-B8B0-5452-6E644D85BB33}"/>
              </a:ext>
            </a:extLst>
          </p:cNvPr>
          <p:cNvSpPr>
            <a:spLocks noGrp="1"/>
          </p:cNvSpPr>
          <p:nvPr>
            <p:ph type="sldNum" sz="quarter" idx="12"/>
          </p:nvPr>
        </p:nvSpPr>
        <p:spPr/>
        <p:txBody>
          <a:bodyPr/>
          <a:lstStyle/>
          <a:p>
            <a:fld id="{D57F1E4F-1CFF-5643-939E-217C01CDF565}" type="slidenum">
              <a:rPr lang="en-US" smtClean="0"/>
              <a:pPr/>
              <a:t>13</a:t>
            </a:fld>
            <a:endParaRPr lang="en-US" dirty="0"/>
          </a:p>
        </p:txBody>
      </p:sp>
    </p:spTree>
    <p:extLst>
      <p:ext uri="{BB962C8B-B14F-4D97-AF65-F5344CB8AC3E}">
        <p14:creationId xmlns:p14="http://schemas.microsoft.com/office/powerpoint/2010/main" val="269765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In the context of climate change, this refers to human intervention to address anthropogenic emissions by sources and removals by sinks of all GHG, including ozone-depleting substances and their substitutes.</a:t>
            </a:r>
          </a:p>
          <a:p>
            <a:pPr algn="l">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Mainstreaming</a:t>
            </a:r>
          </a:p>
          <a:p>
            <a:pPr algn="l">
              <a:lnSpc>
                <a:spcPct val="100000"/>
              </a:lnSpc>
            </a:pPr>
            <a:r>
              <a:rPr lang="en-US" altLang="en-US" sz="2800" dirty="0">
                <a:solidFill>
                  <a:schemeClr val="tx2"/>
                </a:solidFill>
                <a:latin typeface="+mn-lt"/>
              </a:rPr>
              <a:t>	b. </a:t>
            </a: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Mitigation</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Vulnerability</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Greenhouse effect</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96266918-0384-FA83-23FA-1DA92C322622}"/>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E343E898-7FA1-1E4F-14B6-F67104A84834}"/>
              </a:ext>
            </a:extLst>
          </p:cNvPr>
          <p:cNvSpPr>
            <a:spLocks noGrp="1"/>
          </p:cNvSpPr>
          <p:nvPr>
            <p:ph type="sldNum" sz="quarter" idx="12"/>
          </p:nvPr>
        </p:nvSpPr>
        <p:spPr/>
        <p:txBody>
          <a:bodyPr/>
          <a:lstStyle/>
          <a:p>
            <a:fld id="{D57F1E4F-1CFF-5643-939E-217C01CDF565}" type="slidenum">
              <a:rPr lang="en-US" smtClean="0"/>
              <a:pPr/>
              <a:t>14</a:t>
            </a:fld>
            <a:endParaRPr lang="en-US" dirty="0"/>
          </a:p>
        </p:txBody>
      </p:sp>
    </p:spTree>
    <p:extLst>
      <p:ext uri="{BB962C8B-B14F-4D97-AF65-F5344CB8AC3E}">
        <p14:creationId xmlns:p14="http://schemas.microsoft.com/office/powerpoint/2010/main" val="619924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Refers to the variations in the average state and in other statistics of the climate on all temporal and spatial scales beyond that of individual weather events.</a:t>
            </a: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Climate change</a:t>
            </a:r>
          </a:p>
          <a:p>
            <a:pPr algn="l">
              <a:lnSpc>
                <a:spcPct val="100000"/>
              </a:lnSpc>
            </a:pPr>
            <a:r>
              <a:rPr lang="en-US" altLang="en-US" sz="2800" dirty="0">
                <a:solidFill>
                  <a:schemeClr val="tx2"/>
                </a:solidFill>
                <a:latin typeface="+mn-lt"/>
              </a:rPr>
              <a:t>	b. </a:t>
            </a: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Climate mitigation</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Climate variability</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Climate risk</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6FBAFE4E-D279-E645-5171-91D58A2A0105}"/>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A4D2F3E9-3EDD-F5FA-1C9C-F536D3E80D3E}"/>
              </a:ext>
            </a:extLst>
          </p:cNvPr>
          <p:cNvSpPr>
            <a:spLocks noGrp="1"/>
          </p:cNvSpPr>
          <p:nvPr>
            <p:ph type="sldNum" sz="quarter" idx="12"/>
          </p:nvPr>
        </p:nvSpPr>
        <p:spPr/>
        <p:txBody>
          <a:bodyPr/>
          <a:lstStyle/>
          <a:p>
            <a:fld id="{D57F1E4F-1CFF-5643-939E-217C01CDF565}" type="slidenum">
              <a:rPr lang="en-US" smtClean="0"/>
              <a:pPr/>
              <a:t>15</a:t>
            </a:fld>
            <a:endParaRPr lang="en-US" dirty="0"/>
          </a:p>
        </p:txBody>
      </p:sp>
    </p:spTree>
    <p:extLst>
      <p:ext uri="{BB962C8B-B14F-4D97-AF65-F5344CB8AC3E}">
        <p14:creationId xmlns:p14="http://schemas.microsoft.com/office/powerpoint/2010/main" val="19852068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Refers to a change in climate that can be identified by changes in the mean and/or variability of its properties and that persists for an extended period typically decades or longer, whether due to natural variability or as a result of human activity.</a:t>
            </a: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Climate change</a:t>
            </a:r>
          </a:p>
          <a:p>
            <a:pPr algn="l">
              <a:lnSpc>
                <a:spcPct val="100000"/>
              </a:lnSpc>
            </a:pPr>
            <a:r>
              <a:rPr lang="en-US" altLang="en-US" sz="2800" dirty="0">
                <a:solidFill>
                  <a:schemeClr val="tx2"/>
                </a:solidFill>
                <a:latin typeface="+mn-lt"/>
              </a:rPr>
              <a:t>	b. </a:t>
            </a: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Climate mitigation</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Climate variability</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Climate risk</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1423EABA-0338-BBE7-1E17-C12D275C731F}"/>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A0338A2B-757A-6548-9CF7-8D4B5CB0EE4B}"/>
              </a:ext>
            </a:extLst>
          </p:cNvPr>
          <p:cNvSpPr>
            <a:spLocks noGrp="1"/>
          </p:cNvSpPr>
          <p:nvPr>
            <p:ph type="sldNum" sz="quarter" idx="12"/>
          </p:nvPr>
        </p:nvSpPr>
        <p:spPr/>
        <p:txBody>
          <a:bodyPr/>
          <a:lstStyle/>
          <a:p>
            <a:fld id="{D57F1E4F-1CFF-5643-939E-217C01CDF565}" type="slidenum">
              <a:rPr lang="en-US" smtClean="0"/>
              <a:pPr/>
              <a:t>16</a:t>
            </a:fld>
            <a:endParaRPr lang="en-US" dirty="0"/>
          </a:p>
        </p:txBody>
      </p:sp>
    </p:spTree>
    <p:extLst>
      <p:ext uri="{BB962C8B-B14F-4D97-AF65-F5344CB8AC3E}">
        <p14:creationId xmlns:p14="http://schemas.microsoft.com/office/powerpoint/2010/main" val="27944577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Refers to the adjustment in natural or human systems in response to actual or expected climatic stimuli or their effects, which moderates harm or exploits beneficial opportunities.</a:t>
            </a: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Adoptation</a:t>
            </a:r>
          </a:p>
          <a:p>
            <a:pPr algn="l">
              <a:lnSpc>
                <a:spcPct val="100000"/>
              </a:lnSpc>
            </a:pPr>
            <a:r>
              <a:rPr lang="en-US" altLang="en-US" sz="2800" dirty="0">
                <a:solidFill>
                  <a:schemeClr val="tx2"/>
                </a:solidFill>
                <a:latin typeface="+mn-lt"/>
              </a:rPr>
              <a:t>	b. </a:t>
            </a: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Adaptation</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Adaptive Capacity</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Adoptive Capacity</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34E63C31-EEC9-A17E-D2FB-F7DF3132535E}"/>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CF8224C1-7D63-5792-0AF6-FAB8746284F3}"/>
              </a:ext>
            </a:extLst>
          </p:cNvPr>
          <p:cNvSpPr>
            <a:spLocks noGrp="1"/>
          </p:cNvSpPr>
          <p:nvPr>
            <p:ph type="sldNum" sz="quarter" idx="12"/>
          </p:nvPr>
        </p:nvSpPr>
        <p:spPr/>
        <p:txBody>
          <a:bodyPr/>
          <a:lstStyle/>
          <a:p>
            <a:fld id="{D57F1E4F-1CFF-5643-939E-217C01CDF565}" type="slidenum">
              <a:rPr lang="en-US" smtClean="0"/>
              <a:pPr/>
              <a:t>17</a:t>
            </a:fld>
            <a:endParaRPr lang="en-US" dirty="0"/>
          </a:p>
        </p:txBody>
      </p:sp>
    </p:spTree>
    <p:extLst>
      <p:ext uri="{BB962C8B-B14F-4D97-AF65-F5344CB8AC3E}">
        <p14:creationId xmlns:p14="http://schemas.microsoft.com/office/powerpoint/2010/main" val="34977763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According to the Global Climate Risk Index, what is the ranking of the Philippines among the most affected countries by extreme weather events?</a:t>
            </a: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1st</a:t>
            </a:r>
          </a:p>
          <a:p>
            <a:pPr algn="l">
              <a:lnSpc>
                <a:spcPct val="100000"/>
              </a:lnSpc>
            </a:pPr>
            <a:r>
              <a:rPr lang="en-US" altLang="en-US" sz="2800" dirty="0">
                <a:solidFill>
                  <a:schemeClr val="tx2"/>
                </a:solidFill>
                <a:latin typeface="+mn-lt"/>
              </a:rPr>
              <a:t>	b. </a:t>
            </a: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2nd</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3rd</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4th</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570706BA-A287-B22F-EDE8-5509C2524CD8}"/>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189286D6-3790-CCA6-0F64-2B452CD7BE83}"/>
              </a:ext>
            </a:extLst>
          </p:cNvPr>
          <p:cNvSpPr>
            <a:spLocks noGrp="1"/>
          </p:cNvSpPr>
          <p:nvPr>
            <p:ph type="sldNum" sz="quarter" idx="12"/>
          </p:nvPr>
        </p:nvSpPr>
        <p:spPr/>
        <p:txBody>
          <a:bodyPr/>
          <a:lstStyle/>
          <a:p>
            <a:fld id="{D57F1E4F-1CFF-5643-939E-217C01CDF565}" type="slidenum">
              <a:rPr lang="en-US" smtClean="0"/>
              <a:pPr/>
              <a:t>18</a:t>
            </a:fld>
            <a:endParaRPr lang="en-US" dirty="0"/>
          </a:p>
        </p:txBody>
      </p:sp>
    </p:spTree>
    <p:extLst>
      <p:ext uri="{BB962C8B-B14F-4D97-AF65-F5344CB8AC3E}">
        <p14:creationId xmlns:p14="http://schemas.microsoft.com/office/powerpoint/2010/main" val="963019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pic>
        <p:nvPicPr>
          <p:cNvPr id="5" name="Picture 4">
            <a:extLst>
              <a:ext uri="{FF2B5EF4-FFF2-40B4-BE49-F238E27FC236}">
                <a16:creationId xmlns:a16="http://schemas.microsoft.com/office/drawing/2014/main" id="{D12D2B0E-CDC8-C080-705D-9D952EBBCA87}"/>
              </a:ext>
            </a:extLst>
          </p:cNvPr>
          <p:cNvPicPr>
            <a:picLocks noChangeAspect="1"/>
          </p:cNvPicPr>
          <p:nvPr/>
        </p:nvPicPr>
        <p:blipFill rotWithShape="1">
          <a:blip r:embed="rId2"/>
          <a:srcRect l="17234" t="13864" r="2735" b="21486"/>
          <a:stretch/>
        </p:blipFill>
        <p:spPr>
          <a:xfrm>
            <a:off x="1046747" y="1407400"/>
            <a:ext cx="9151468" cy="4620421"/>
          </a:xfrm>
          <a:prstGeom prst="rect">
            <a:avLst/>
          </a:prstGeom>
        </p:spPr>
      </p:pic>
      <p:sp>
        <p:nvSpPr>
          <p:cNvPr id="8" name="TextBox 7">
            <a:extLst>
              <a:ext uri="{FF2B5EF4-FFF2-40B4-BE49-F238E27FC236}">
                <a16:creationId xmlns:a16="http://schemas.microsoft.com/office/drawing/2014/main" id="{BFEB7031-669A-6661-CB6C-EFC0BB753CBB}"/>
              </a:ext>
            </a:extLst>
          </p:cNvPr>
          <p:cNvSpPr txBox="1"/>
          <p:nvPr/>
        </p:nvSpPr>
        <p:spPr>
          <a:xfrm>
            <a:off x="1136984" y="6027821"/>
            <a:ext cx="6100010" cy="369332"/>
          </a:xfrm>
          <a:prstGeom prst="rect">
            <a:avLst/>
          </a:prstGeom>
          <a:noFill/>
        </p:spPr>
        <p:txBody>
          <a:bodyPr wrap="square">
            <a:spAutoFit/>
          </a:bodyPr>
          <a:lstStyle/>
          <a:p>
            <a:r>
              <a:rPr lang="en-US" dirty="0"/>
              <a:t>https://</a:t>
            </a:r>
            <a:r>
              <a:rPr lang="en-US" dirty="0" err="1"/>
              <a:t>www.germanwatch.org</a:t>
            </a:r>
            <a:r>
              <a:rPr lang="en-US" dirty="0"/>
              <a:t>/</a:t>
            </a:r>
            <a:r>
              <a:rPr lang="en-US" dirty="0" err="1"/>
              <a:t>en</a:t>
            </a:r>
            <a:r>
              <a:rPr lang="en-US" dirty="0"/>
              <a:t>/19777</a:t>
            </a:r>
          </a:p>
        </p:txBody>
      </p:sp>
      <p:sp>
        <p:nvSpPr>
          <p:cNvPr id="9" name="Rectangle 8">
            <a:extLst>
              <a:ext uri="{FF2B5EF4-FFF2-40B4-BE49-F238E27FC236}">
                <a16:creationId xmlns:a16="http://schemas.microsoft.com/office/drawing/2014/main" id="{3FDAEE2D-00DD-510B-2349-E81E3A117CCF}"/>
              </a:ext>
            </a:extLst>
          </p:cNvPr>
          <p:cNvSpPr/>
          <p:nvPr/>
        </p:nvSpPr>
        <p:spPr>
          <a:xfrm>
            <a:off x="3834063" y="3260558"/>
            <a:ext cx="6256421" cy="276726"/>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Footer Placeholder 1">
            <a:extLst>
              <a:ext uri="{FF2B5EF4-FFF2-40B4-BE49-F238E27FC236}">
                <a16:creationId xmlns:a16="http://schemas.microsoft.com/office/drawing/2014/main" id="{0DABBF10-33B8-C685-A551-45B583A88E86}"/>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AA73AB97-2553-D461-235E-A614A8032E26}"/>
              </a:ext>
            </a:extLst>
          </p:cNvPr>
          <p:cNvSpPr>
            <a:spLocks noGrp="1"/>
          </p:cNvSpPr>
          <p:nvPr>
            <p:ph type="sldNum" sz="quarter" idx="12"/>
          </p:nvPr>
        </p:nvSpPr>
        <p:spPr/>
        <p:txBody>
          <a:bodyPr/>
          <a:lstStyle/>
          <a:p>
            <a:fld id="{D57F1E4F-1CFF-5643-939E-217C01CDF565}" type="slidenum">
              <a:rPr lang="en-US" smtClean="0"/>
              <a:pPr/>
              <a:t>19</a:t>
            </a:fld>
            <a:endParaRPr lang="en-US" dirty="0"/>
          </a:p>
        </p:txBody>
      </p:sp>
    </p:spTree>
    <p:extLst>
      <p:ext uri="{BB962C8B-B14F-4D97-AF65-F5344CB8AC3E}">
        <p14:creationId xmlns:p14="http://schemas.microsoft.com/office/powerpoint/2010/main" val="1715252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pic>
        <p:nvPicPr>
          <p:cNvPr id="10" name="Picture 9">
            <a:extLst>
              <a:ext uri="{FF2B5EF4-FFF2-40B4-BE49-F238E27FC236}">
                <a16:creationId xmlns:a16="http://schemas.microsoft.com/office/drawing/2014/main" id="{3FEB73D5-3DB6-2C97-D754-348B059A7D8F}"/>
              </a:ext>
            </a:extLst>
          </p:cNvPr>
          <p:cNvPicPr>
            <a:picLocks noChangeAspect="1"/>
          </p:cNvPicPr>
          <p:nvPr/>
        </p:nvPicPr>
        <p:blipFill rotWithShape="1">
          <a:blip r:embed="rId2"/>
          <a:srcRect l="16934" t="21106" r="26916" b="38110"/>
          <a:stretch/>
        </p:blipFill>
        <p:spPr>
          <a:xfrm>
            <a:off x="1011382" y="1447800"/>
            <a:ext cx="8438436" cy="3830782"/>
          </a:xfrm>
          <a:prstGeom prst="rect">
            <a:avLst/>
          </a:prstGeom>
        </p:spPr>
      </p:pic>
      <p:sp>
        <p:nvSpPr>
          <p:cNvPr id="9" name="Rectangle 8">
            <a:extLst>
              <a:ext uri="{FF2B5EF4-FFF2-40B4-BE49-F238E27FC236}">
                <a16:creationId xmlns:a16="http://schemas.microsoft.com/office/drawing/2014/main" id="{3FDAEE2D-00DD-510B-2349-E81E3A117CCF}"/>
              </a:ext>
            </a:extLst>
          </p:cNvPr>
          <p:cNvSpPr/>
          <p:nvPr/>
        </p:nvSpPr>
        <p:spPr>
          <a:xfrm>
            <a:off x="1058778" y="3911721"/>
            <a:ext cx="7950311" cy="276726"/>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9B8EAD0-3C4B-96DF-7B7F-9EAFBC6C65CC}"/>
              </a:ext>
            </a:extLst>
          </p:cNvPr>
          <p:cNvSpPr txBox="1"/>
          <p:nvPr/>
        </p:nvSpPr>
        <p:spPr>
          <a:xfrm>
            <a:off x="1058778" y="5278582"/>
            <a:ext cx="6102926" cy="553998"/>
          </a:xfrm>
          <a:prstGeom prst="rect">
            <a:avLst/>
          </a:prstGeom>
          <a:noFill/>
        </p:spPr>
        <p:txBody>
          <a:bodyPr wrap="square">
            <a:spAutoFit/>
          </a:bodyPr>
          <a:lstStyle/>
          <a:p>
            <a:r>
              <a:rPr lang="en-US" sz="1000" dirty="0"/>
              <a:t>https://</a:t>
            </a:r>
            <a:r>
              <a:rPr lang="en-US" sz="1000" dirty="0" err="1"/>
              <a:t>cpbrd.congress.gov.ph</a:t>
            </a:r>
            <a:r>
              <a:rPr lang="en-US" sz="1000" dirty="0"/>
              <a:t>/2012-06-30-13-06-51/2012-06-30-13-36-50/1291-ff2021-09-global-climate-risk-index-2021#:~:text=The%20Philippines%20ranked%2017th%20in,during%20the%202015%2D2019%20period.</a:t>
            </a:r>
          </a:p>
        </p:txBody>
      </p:sp>
      <p:sp>
        <p:nvSpPr>
          <p:cNvPr id="2" name="Footer Placeholder 1">
            <a:extLst>
              <a:ext uri="{FF2B5EF4-FFF2-40B4-BE49-F238E27FC236}">
                <a16:creationId xmlns:a16="http://schemas.microsoft.com/office/drawing/2014/main" id="{6406FD27-A95E-4316-3950-B9AF6E408339}"/>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4F5F67BF-DE2B-B3D6-8BA4-7C16FF5C577C}"/>
              </a:ext>
            </a:extLst>
          </p:cNvPr>
          <p:cNvSpPr>
            <a:spLocks noGrp="1"/>
          </p:cNvSpPr>
          <p:nvPr>
            <p:ph type="sldNum" sz="quarter" idx="12"/>
          </p:nvPr>
        </p:nvSpPr>
        <p:spPr/>
        <p:txBody>
          <a:bodyPr/>
          <a:lstStyle/>
          <a:p>
            <a:fld id="{D57F1E4F-1CFF-5643-939E-217C01CDF565}" type="slidenum">
              <a:rPr lang="en-US" smtClean="0"/>
              <a:pPr/>
              <a:t>20</a:t>
            </a:fld>
            <a:endParaRPr lang="en-US" dirty="0"/>
          </a:p>
        </p:txBody>
      </p:sp>
    </p:spTree>
    <p:extLst>
      <p:ext uri="{BB962C8B-B14F-4D97-AF65-F5344CB8AC3E}">
        <p14:creationId xmlns:p14="http://schemas.microsoft.com/office/powerpoint/2010/main" val="232487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According to the 2017 world risk report, what is the ranking of the Philippines among the most affected countries by climate change?</a:t>
            </a: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1st</a:t>
            </a:r>
          </a:p>
          <a:p>
            <a:pPr algn="l">
              <a:lnSpc>
                <a:spcPct val="100000"/>
              </a:lnSpc>
            </a:pPr>
            <a:r>
              <a:rPr lang="en-US" altLang="en-US" sz="2800" dirty="0">
                <a:solidFill>
                  <a:schemeClr val="tx2"/>
                </a:solidFill>
                <a:latin typeface="+mn-lt"/>
              </a:rPr>
              <a:t>	b. </a:t>
            </a: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2nd</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3rd</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4th</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8C5FA854-88F3-0BFA-160B-7695AA6ABB34}"/>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D303668E-DDA2-49BE-1C20-ADC4BBE7CCB4}"/>
              </a:ext>
            </a:extLst>
          </p:cNvPr>
          <p:cNvSpPr>
            <a:spLocks noGrp="1"/>
          </p:cNvSpPr>
          <p:nvPr>
            <p:ph type="sldNum" sz="quarter" idx="12"/>
          </p:nvPr>
        </p:nvSpPr>
        <p:spPr/>
        <p:txBody>
          <a:bodyPr/>
          <a:lstStyle/>
          <a:p>
            <a:fld id="{D57F1E4F-1CFF-5643-939E-217C01CDF565}" type="slidenum">
              <a:rPr lang="en-US" smtClean="0"/>
              <a:pPr/>
              <a:t>21</a:t>
            </a:fld>
            <a:endParaRPr lang="en-US" dirty="0"/>
          </a:p>
        </p:txBody>
      </p:sp>
    </p:spTree>
    <p:extLst>
      <p:ext uri="{BB962C8B-B14F-4D97-AF65-F5344CB8AC3E}">
        <p14:creationId xmlns:p14="http://schemas.microsoft.com/office/powerpoint/2010/main" val="33908766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8" name="TextBox 7">
            <a:extLst>
              <a:ext uri="{FF2B5EF4-FFF2-40B4-BE49-F238E27FC236}">
                <a16:creationId xmlns:a16="http://schemas.microsoft.com/office/drawing/2014/main" id="{BFEB7031-669A-6661-CB6C-EFC0BB753CBB}"/>
              </a:ext>
            </a:extLst>
          </p:cNvPr>
          <p:cNvSpPr txBox="1"/>
          <p:nvPr/>
        </p:nvSpPr>
        <p:spPr>
          <a:xfrm>
            <a:off x="911550" y="5562184"/>
            <a:ext cx="6100010" cy="369332"/>
          </a:xfrm>
          <a:prstGeom prst="rect">
            <a:avLst/>
          </a:prstGeom>
          <a:noFill/>
        </p:spPr>
        <p:txBody>
          <a:bodyPr wrap="square">
            <a:spAutoFit/>
          </a:bodyPr>
          <a:lstStyle/>
          <a:p>
            <a:r>
              <a:rPr lang="en-US" dirty="0"/>
              <a:t>https://</a:t>
            </a:r>
            <a:r>
              <a:rPr lang="en-US" dirty="0" err="1"/>
              <a:t>niccdies.climate.gov.ph</a:t>
            </a:r>
            <a:r>
              <a:rPr lang="en-US" dirty="0"/>
              <a:t>/climate-change-impacts</a:t>
            </a:r>
          </a:p>
        </p:txBody>
      </p:sp>
      <p:pic>
        <p:nvPicPr>
          <p:cNvPr id="4" name="Picture 3">
            <a:extLst>
              <a:ext uri="{FF2B5EF4-FFF2-40B4-BE49-F238E27FC236}">
                <a16:creationId xmlns:a16="http://schemas.microsoft.com/office/drawing/2014/main" id="{71F3833A-5E77-E1EC-832C-63B5F9DDC1C9}"/>
              </a:ext>
            </a:extLst>
          </p:cNvPr>
          <p:cNvPicPr>
            <a:picLocks noChangeAspect="1"/>
          </p:cNvPicPr>
          <p:nvPr/>
        </p:nvPicPr>
        <p:blipFill rotWithShape="1">
          <a:blip r:embed="rId2"/>
          <a:srcRect l="24421" t="47059" r="1246" b="8164"/>
          <a:stretch/>
        </p:blipFill>
        <p:spPr>
          <a:xfrm>
            <a:off x="911550" y="1732954"/>
            <a:ext cx="9498626" cy="3576222"/>
          </a:xfrm>
          <a:prstGeom prst="rect">
            <a:avLst/>
          </a:prstGeom>
        </p:spPr>
      </p:pic>
      <p:sp>
        <p:nvSpPr>
          <p:cNvPr id="9" name="Rectangle 8">
            <a:extLst>
              <a:ext uri="{FF2B5EF4-FFF2-40B4-BE49-F238E27FC236}">
                <a16:creationId xmlns:a16="http://schemas.microsoft.com/office/drawing/2014/main" id="{3FDAEE2D-00DD-510B-2349-E81E3A117CCF}"/>
              </a:ext>
            </a:extLst>
          </p:cNvPr>
          <p:cNvSpPr/>
          <p:nvPr/>
        </p:nvSpPr>
        <p:spPr>
          <a:xfrm>
            <a:off x="3182899" y="2421120"/>
            <a:ext cx="6256421" cy="276726"/>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Footer Placeholder 1">
            <a:extLst>
              <a:ext uri="{FF2B5EF4-FFF2-40B4-BE49-F238E27FC236}">
                <a16:creationId xmlns:a16="http://schemas.microsoft.com/office/drawing/2014/main" id="{04DA4C92-A285-CDDE-072B-64E689517655}"/>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1CC1E908-4A85-3978-14F4-19DB78A61103}"/>
              </a:ext>
            </a:extLst>
          </p:cNvPr>
          <p:cNvSpPr>
            <a:spLocks noGrp="1"/>
          </p:cNvSpPr>
          <p:nvPr>
            <p:ph type="sldNum" sz="quarter" idx="12"/>
          </p:nvPr>
        </p:nvSpPr>
        <p:spPr/>
        <p:txBody>
          <a:bodyPr/>
          <a:lstStyle/>
          <a:p>
            <a:fld id="{D57F1E4F-1CFF-5643-939E-217C01CDF565}" type="slidenum">
              <a:rPr lang="en-US" smtClean="0"/>
              <a:pPr/>
              <a:t>22</a:t>
            </a:fld>
            <a:endParaRPr lang="en-US" dirty="0"/>
          </a:p>
        </p:txBody>
      </p:sp>
    </p:spTree>
    <p:extLst>
      <p:ext uri="{BB962C8B-B14F-4D97-AF65-F5344CB8AC3E}">
        <p14:creationId xmlns:p14="http://schemas.microsoft.com/office/powerpoint/2010/main" val="14698724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Methane is ___ times destructive than CO</a:t>
            </a:r>
            <a:r>
              <a:rPr lang="en-US" altLang="en-US" sz="2800" baseline="-25000" dirty="0">
                <a:solidFill>
                  <a:schemeClr val="tx2"/>
                </a:solidFill>
                <a:latin typeface="+mn-lt"/>
              </a:rPr>
              <a:t>2</a:t>
            </a: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21%</a:t>
            </a:r>
          </a:p>
          <a:p>
            <a:pPr algn="l">
              <a:lnSpc>
                <a:spcPct val="100000"/>
              </a:lnSpc>
            </a:pPr>
            <a:r>
              <a:rPr lang="en-US" altLang="en-US" sz="2800" dirty="0">
                <a:solidFill>
                  <a:schemeClr val="tx2"/>
                </a:solidFill>
                <a:latin typeface="+mn-lt"/>
              </a:rPr>
              <a:t>	b. </a:t>
            </a:r>
            <a:r>
              <a:rPr lang="en-PH" altLang="en-US" sz="2800" dirty="0">
                <a:solidFill>
                  <a:schemeClr val="accent1">
                    <a:lumMod val="50000"/>
                  </a:schemeClr>
                </a:solidFill>
                <a:latin typeface="+mn-lt"/>
                <a:cs typeface="Times New Roman" panose="02020603050405020304" pitchFamily="18" charset="0"/>
              </a:rPr>
              <a:t>31%</a:t>
            </a:r>
            <a:endParaRPr lang="en-PH" sz="2800" dirty="0">
              <a:solidFill>
                <a:schemeClr val="accent1">
                  <a:lumMod val="50000"/>
                </a:schemeClr>
              </a:solidFill>
              <a:latin typeface="+mn-lt"/>
              <a:ea typeface="Calibri" panose="020F0502020204030204" pitchFamily="34" charset="0"/>
              <a:cs typeface="Times New Roman" panose="02020603050405020304" pitchFamily="18" charset="0"/>
            </a:endParaRP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17%</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10%</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353EA0E0-954D-6D01-CA2B-6D162DB0CAE4}"/>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6DE4D70E-6BF8-A2E6-8DCE-9390614D4F15}"/>
              </a:ext>
            </a:extLst>
          </p:cNvPr>
          <p:cNvSpPr>
            <a:spLocks noGrp="1"/>
          </p:cNvSpPr>
          <p:nvPr>
            <p:ph type="sldNum" sz="quarter" idx="12"/>
          </p:nvPr>
        </p:nvSpPr>
        <p:spPr/>
        <p:txBody>
          <a:bodyPr/>
          <a:lstStyle/>
          <a:p>
            <a:fld id="{D57F1E4F-1CFF-5643-939E-217C01CDF565}" type="slidenum">
              <a:rPr lang="en-US" smtClean="0"/>
              <a:pPr/>
              <a:t>23</a:t>
            </a:fld>
            <a:endParaRPr lang="en-US" dirty="0"/>
          </a:p>
        </p:txBody>
      </p:sp>
    </p:spTree>
    <p:extLst>
      <p:ext uri="{BB962C8B-B14F-4D97-AF65-F5344CB8AC3E}">
        <p14:creationId xmlns:p14="http://schemas.microsoft.com/office/powerpoint/2010/main" val="16945358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This refers to the abnormal heating of Earth.</a:t>
            </a:r>
            <a:endParaRPr lang="en-US" altLang="en-US" sz="2800" baseline="-25000" dirty="0">
              <a:solidFill>
                <a:schemeClr val="tx2"/>
              </a:solidFill>
              <a:latin typeface="+mn-lt"/>
            </a:endParaRP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Climate Change</a:t>
            </a:r>
          </a:p>
          <a:p>
            <a:pPr algn="l">
              <a:lnSpc>
                <a:spcPct val="100000"/>
              </a:lnSpc>
            </a:pPr>
            <a:r>
              <a:rPr lang="en-US" altLang="en-US" sz="2800" dirty="0">
                <a:solidFill>
                  <a:schemeClr val="tx2"/>
                </a:solidFill>
                <a:latin typeface="+mn-lt"/>
              </a:rPr>
              <a:t>	b. </a:t>
            </a:r>
            <a:r>
              <a:rPr lang="en-PH" altLang="en-US" sz="2800" dirty="0">
                <a:solidFill>
                  <a:schemeClr val="accent1">
                    <a:lumMod val="50000"/>
                  </a:schemeClr>
                </a:solidFill>
                <a:latin typeface="+mn-lt"/>
                <a:cs typeface="Times New Roman" panose="02020603050405020304" pitchFamily="18" charset="0"/>
              </a:rPr>
              <a:t>Global Warming</a:t>
            </a:r>
            <a:endParaRPr lang="en-PH" sz="2800" dirty="0">
              <a:solidFill>
                <a:schemeClr val="accent1">
                  <a:lumMod val="50000"/>
                </a:schemeClr>
              </a:solidFill>
              <a:latin typeface="+mn-lt"/>
              <a:ea typeface="Calibri" panose="020F0502020204030204" pitchFamily="34" charset="0"/>
              <a:cs typeface="Times New Roman" panose="02020603050405020304" pitchFamily="18" charset="0"/>
            </a:endParaRP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Global Dimming</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Extreme weather</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728F3FBA-26CD-0FD7-9ACC-B1C3B43EEB88}"/>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D566213C-18CB-00FA-2EE9-810AF0A840AC}"/>
              </a:ext>
            </a:extLst>
          </p:cNvPr>
          <p:cNvSpPr>
            <a:spLocks noGrp="1"/>
          </p:cNvSpPr>
          <p:nvPr>
            <p:ph type="sldNum" sz="quarter" idx="12"/>
          </p:nvPr>
        </p:nvSpPr>
        <p:spPr/>
        <p:txBody>
          <a:bodyPr/>
          <a:lstStyle/>
          <a:p>
            <a:fld id="{D57F1E4F-1CFF-5643-939E-217C01CDF565}" type="slidenum">
              <a:rPr lang="en-US" smtClean="0"/>
              <a:pPr/>
              <a:t>24</a:t>
            </a:fld>
            <a:endParaRPr lang="en-US" dirty="0"/>
          </a:p>
        </p:txBody>
      </p:sp>
    </p:spTree>
    <p:extLst>
      <p:ext uri="{BB962C8B-B14F-4D97-AF65-F5344CB8AC3E}">
        <p14:creationId xmlns:p14="http://schemas.microsoft.com/office/powerpoint/2010/main" val="37440431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This refers to the abnormal cooling of Earth.</a:t>
            </a:r>
            <a:endParaRPr lang="en-US" altLang="en-US" sz="2800" baseline="-25000" dirty="0">
              <a:solidFill>
                <a:schemeClr val="tx2"/>
              </a:solidFill>
              <a:latin typeface="+mn-lt"/>
            </a:endParaRP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Climate Change</a:t>
            </a:r>
          </a:p>
          <a:p>
            <a:pPr algn="l">
              <a:lnSpc>
                <a:spcPct val="100000"/>
              </a:lnSpc>
            </a:pPr>
            <a:r>
              <a:rPr lang="en-US" altLang="en-US" sz="2800" dirty="0">
                <a:solidFill>
                  <a:schemeClr val="tx2"/>
                </a:solidFill>
                <a:latin typeface="+mn-lt"/>
              </a:rPr>
              <a:t>	b. </a:t>
            </a:r>
            <a:r>
              <a:rPr lang="en-PH" altLang="en-US" sz="2800" dirty="0">
                <a:solidFill>
                  <a:schemeClr val="accent1">
                    <a:lumMod val="50000"/>
                  </a:schemeClr>
                </a:solidFill>
                <a:latin typeface="+mn-lt"/>
                <a:cs typeface="Times New Roman" panose="02020603050405020304" pitchFamily="18" charset="0"/>
              </a:rPr>
              <a:t>Global Warming</a:t>
            </a:r>
            <a:endParaRPr lang="en-PH" sz="2800" dirty="0">
              <a:solidFill>
                <a:schemeClr val="accent1">
                  <a:lumMod val="50000"/>
                </a:schemeClr>
              </a:solidFill>
              <a:latin typeface="+mn-lt"/>
              <a:ea typeface="Calibri" panose="020F0502020204030204" pitchFamily="34" charset="0"/>
              <a:cs typeface="Times New Roman" panose="02020603050405020304" pitchFamily="18" charset="0"/>
            </a:endParaRP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Global Dimming</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Extreme weather</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3333658D-F3D0-0FDD-8893-6D9515088279}"/>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8BE24C77-43F3-D581-B593-9DCF3FCDB8C7}"/>
              </a:ext>
            </a:extLst>
          </p:cNvPr>
          <p:cNvSpPr>
            <a:spLocks noGrp="1"/>
          </p:cNvSpPr>
          <p:nvPr>
            <p:ph type="sldNum" sz="quarter" idx="12"/>
          </p:nvPr>
        </p:nvSpPr>
        <p:spPr/>
        <p:txBody>
          <a:bodyPr/>
          <a:lstStyle/>
          <a:p>
            <a:fld id="{D57F1E4F-1CFF-5643-939E-217C01CDF565}" type="slidenum">
              <a:rPr lang="en-US" smtClean="0"/>
              <a:pPr/>
              <a:t>25</a:t>
            </a:fld>
            <a:endParaRPr lang="en-US" dirty="0"/>
          </a:p>
        </p:txBody>
      </p:sp>
    </p:spTree>
    <p:extLst>
      <p:ext uri="{BB962C8B-B14F-4D97-AF65-F5344CB8AC3E}">
        <p14:creationId xmlns:p14="http://schemas.microsoft.com/office/powerpoint/2010/main" val="26738658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lnSpc>
                <a:spcPct val="100000"/>
              </a:lnSpc>
            </a:pPr>
            <a:r>
              <a:rPr lang="en-US" altLang="en-US" sz="2800" dirty="0">
                <a:solidFill>
                  <a:schemeClr val="tx2"/>
                </a:solidFill>
                <a:latin typeface="+mn-lt"/>
              </a:rPr>
              <a:t>Offset of carbon emission to revitalize pollution.</a:t>
            </a:r>
            <a:endParaRPr lang="en-US" altLang="en-US" sz="2800" baseline="-25000" dirty="0">
              <a:solidFill>
                <a:schemeClr val="tx2"/>
              </a:solidFill>
              <a:latin typeface="+mn-lt"/>
            </a:endParaRP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Carbon negative</a:t>
            </a:r>
          </a:p>
          <a:p>
            <a:pPr algn="l">
              <a:lnSpc>
                <a:spcPct val="100000"/>
              </a:lnSpc>
            </a:pPr>
            <a:r>
              <a:rPr lang="en-US" altLang="en-US" sz="2800" dirty="0">
                <a:solidFill>
                  <a:schemeClr val="tx2"/>
                </a:solidFill>
                <a:latin typeface="+mn-lt"/>
              </a:rPr>
              <a:t>	b. Carbon Neutral</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a:t>
            </a:r>
            <a:r>
              <a:rPr lang="en-US" altLang="en-US" sz="2800" dirty="0">
                <a:solidFill>
                  <a:schemeClr val="tx2"/>
                </a:solidFill>
                <a:latin typeface="+mn-lt"/>
              </a:rPr>
              <a:t>Carbon positive</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Zero-carbon</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DD040BB6-8C85-19F5-4F87-63A19302DC03}"/>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9DE4126F-8CA3-E294-6893-EE75BDF67488}"/>
              </a:ext>
            </a:extLst>
          </p:cNvPr>
          <p:cNvSpPr>
            <a:spLocks noGrp="1"/>
          </p:cNvSpPr>
          <p:nvPr>
            <p:ph type="sldNum" sz="quarter" idx="12"/>
          </p:nvPr>
        </p:nvSpPr>
        <p:spPr/>
        <p:txBody>
          <a:bodyPr/>
          <a:lstStyle/>
          <a:p>
            <a:fld id="{D57F1E4F-1CFF-5643-939E-217C01CDF565}" type="slidenum">
              <a:rPr lang="en-US" smtClean="0"/>
              <a:pPr/>
              <a:t>26</a:t>
            </a:fld>
            <a:endParaRPr lang="en-US" dirty="0"/>
          </a:p>
        </p:txBody>
      </p:sp>
    </p:spTree>
    <p:extLst>
      <p:ext uri="{BB962C8B-B14F-4D97-AF65-F5344CB8AC3E}">
        <p14:creationId xmlns:p14="http://schemas.microsoft.com/office/powerpoint/2010/main" val="3291262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63BE4-4011-1D38-F209-6068365CD1F5}"/>
              </a:ext>
            </a:extLst>
          </p:cNvPr>
          <p:cNvSpPr txBox="1">
            <a:spLocks/>
          </p:cNvSpPr>
          <p:nvPr/>
        </p:nvSpPr>
        <p:spPr>
          <a:xfrm>
            <a:off x="947645" y="1515290"/>
            <a:ext cx="8376829" cy="4608783"/>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altLang="en-US" sz="2800" dirty="0">
                <a:solidFill>
                  <a:schemeClr val="tx2"/>
                </a:solidFill>
                <a:latin typeface="+mn-lt"/>
              </a:rPr>
              <a:t>This is the amount paid to project owners from CDM fund for carbon emission reduction projects.</a:t>
            </a:r>
          </a:p>
          <a:p>
            <a:pPr algn="just"/>
            <a:endParaRPr lang="en-US" altLang="en-US" sz="2800" baseline="-25000" dirty="0">
              <a:solidFill>
                <a:schemeClr val="tx2"/>
              </a:solidFill>
              <a:latin typeface="+mn-lt"/>
            </a:endParaRPr>
          </a:p>
          <a:p>
            <a:pPr algn="just">
              <a:lnSpc>
                <a:spcPct val="100000"/>
              </a:lnSpc>
            </a:pPr>
            <a:endParaRPr lang="en-US" altLang="en-US" sz="2800" dirty="0">
              <a:solidFill>
                <a:schemeClr val="tx2"/>
              </a:solidFill>
              <a:latin typeface="+mn-lt"/>
            </a:endParaRPr>
          </a:p>
          <a:p>
            <a:pPr algn="l">
              <a:lnSpc>
                <a:spcPct val="100000"/>
              </a:lnSpc>
            </a:pPr>
            <a:r>
              <a:rPr lang="en-US" altLang="en-US" sz="2800" dirty="0">
                <a:solidFill>
                  <a:schemeClr val="tx2"/>
                </a:solidFill>
                <a:latin typeface="+mn-lt"/>
              </a:rPr>
              <a:t>	a. Carbon Debit Value</a:t>
            </a:r>
          </a:p>
          <a:p>
            <a:pPr algn="l">
              <a:lnSpc>
                <a:spcPct val="100000"/>
              </a:lnSpc>
            </a:pPr>
            <a:r>
              <a:rPr lang="en-US" altLang="en-US" sz="2800" dirty="0">
                <a:solidFill>
                  <a:schemeClr val="tx2"/>
                </a:solidFill>
                <a:latin typeface="+mn-lt"/>
              </a:rPr>
              <a:t>	b. Carbon Credit Value</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c. </a:t>
            </a:r>
            <a:r>
              <a:rPr lang="en-US" altLang="en-US" sz="2800" dirty="0">
                <a:solidFill>
                  <a:schemeClr val="tx2"/>
                </a:solidFill>
                <a:latin typeface="+mn-lt"/>
              </a:rPr>
              <a:t>Carbon Trading Value</a:t>
            </a:r>
          </a:p>
          <a:p>
            <a:pPr algn="l">
              <a:lnSpc>
                <a:spcPct val="100000"/>
              </a:lnSpc>
            </a:pPr>
            <a:r>
              <a:rPr lang="en-PH" sz="2800" dirty="0">
                <a:solidFill>
                  <a:schemeClr val="accent1">
                    <a:lumMod val="50000"/>
                  </a:schemeClr>
                </a:solidFill>
                <a:latin typeface="+mn-lt"/>
                <a:ea typeface="Calibri" panose="020F0502020204030204" pitchFamily="34" charset="0"/>
                <a:cs typeface="Times New Roman" panose="02020603050405020304" pitchFamily="18" charset="0"/>
              </a:rPr>
              <a:t>	d. Carbon Emission Value</a:t>
            </a:r>
          </a:p>
          <a:p>
            <a:pPr algn="l">
              <a:lnSpc>
                <a:spcPct val="100000"/>
              </a:lnSpc>
            </a:pPr>
            <a:endParaRPr lang="en-US" altLang="en-US" sz="2800" dirty="0">
              <a:solidFill>
                <a:schemeClr val="tx2"/>
              </a:solidFill>
              <a:latin typeface="+mn-lt"/>
            </a:endParaRPr>
          </a:p>
        </p:txBody>
      </p:sp>
      <p:sp>
        <p:nvSpPr>
          <p:cNvPr id="3" name="TextBox 2">
            <a:extLst>
              <a:ext uri="{FF2B5EF4-FFF2-40B4-BE49-F238E27FC236}">
                <a16:creationId xmlns:a16="http://schemas.microsoft.com/office/drawing/2014/main" id="{AE2C1191-FB4B-2B2B-6895-63363014D2DF}"/>
              </a:ext>
            </a:extLst>
          </p:cNvPr>
          <p:cNvSpPr txBox="1"/>
          <p:nvPr/>
        </p:nvSpPr>
        <p:spPr>
          <a:xfrm>
            <a:off x="4676503" y="-1593669"/>
            <a:ext cx="306494" cy="369332"/>
          </a:xfrm>
          <a:prstGeom prst="rect">
            <a:avLst/>
          </a:prstGeom>
          <a:noFill/>
        </p:spPr>
        <p:txBody>
          <a:bodyPr wrap="none" rtlCol="0">
            <a:spAutoFit/>
          </a:bodyPr>
          <a:lstStyle/>
          <a:p>
            <a:r>
              <a:rPr lang="en-US" dirty="0"/>
              <a:t>F</a:t>
            </a:r>
          </a:p>
        </p:txBody>
      </p:sp>
      <p:sp>
        <p:nvSpPr>
          <p:cNvPr id="6" name="Title 1">
            <a:extLst>
              <a:ext uri="{FF2B5EF4-FFF2-40B4-BE49-F238E27FC236}">
                <a16:creationId xmlns:a16="http://schemas.microsoft.com/office/drawing/2014/main" id="{3A91B514-2C08-98F4-0EEE-31650692BC3A}"/>
              </a:ext>
            </a:extLst>
          </p:cNvPr>
          <p:cNvSpPr txBox="1">
            <a:spLocks/>
          </p:cNvSpPr>
          <p:nvPr/>
        </p:nvSpPr>
        <p:spPr>
          <a:xfrm>
            <a:off x="911550" y="673475"/>
            <a:ext cx="5966889" cy="608944"/>
          </a:xfrm>
          <a:prstGeom prst="rect">
            <a:avLst/>
          </a:prstGeom>
        </p:spPr>
        <p:txBody>
          <a:bodyPr vert="horz" lIns="91440" tIns="45720" rIns="91440" bIns="45720" rtlCol="0" anchor="ctr">
            <a:normAutofit fontScale="92500"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4000" b="1" dirty="0">
                <a:solidFill>
                  <a:srgbClr val="E18E2E"/>
                </a:solidFill>
                <a:latin typeface="Trebuchet MS" panose="020B0703020202090204" pitchFamily="34" charset="0"/>
              </a:rPr>
              <a:t>Sample questions</a:t>
            </a:r>
          </a:p>
        </p:txBody>
      </p:sp>
      <p:sp>
        <p:nvSpPr>
          <p:cNvPr id="4" name="Footer Placeholder 3">
            <a:extLst>
              <a:ext uri="{FF2B5EF4-FFF2-40B4-BE49-F238E27FC236}">
                <a16:creationId xmlns:a16="http://schemas.microsoft.com/office/drawing/2014/main" id="{78EC9094-C094-9378-CA0E-9C7543E05BEB}"/>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E6863555-0E3E-0CD4-0CB7-33AAEE87FC97}"/>
              </a:ext>
            </a:extLst>
          </p:cNvPr>
          <p:cNvSpPr>
            <a:spLocks noGrp="1"/>
          </p:cNvSpPr>
          <p:nvPr>
            <p:ph type="sldNum" sz="quarter" idx="12"/>
          </p:nvPr>
        </p:nvSpPr>
        <p:spPr/>
        <p:txBody>
          <a:bodyPr/>
          <a:lstStyle/>
          <a:p>
            <a:fld id="{D57F1E4F-1CFF-5643-939E-217C01CDF565}" type="slidenum">
              <a:rPr lang="en-US" smtClean="0"/>
              <a:pPr/>
              <a:t>27</a:t>
            </a:fld>
            <a:endParaRPr lang="en-US" dirty="0"/>
          </a:p>
        </p:txBody>
      </p:sp>
    </p:spTree>
    <p:extLst>
      <p:ext uri="{BB962C8B-B14F-4D97-AF65-F5344CB8AC3E}">
        <p14:creationId xmlns:p14="http://schemas.microsoft.com/office/powerpoint/2010/main" val="38749545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854242" y="1010506"/>
            <a:ext cx="9156031" cy="4836988"/>
          </a:xfrm>
        </p:spPr>
        <p:txBody>
          <a:bodyPr anchor="t"/>
          <a:lstStyle/>
          <a:p>
            <a:pPr algn="ctr"/>
            <a:r>
              <a:rPr lang="en-US" b="1" dirty="0">
                <a:solidFill>
                  <a:srgbClr val="E18E2E"/>
                </a:solidFill>
                <a:latin typeface="Trebuchet MS" panose="020B0703020202090204" pitchFamily="34" charset="0"/>
              </a:rPr>
              <a:t>THANK YOU!!!</a:t>
            </a:r>
            <a:br>
              <a:rPr lang="en-US" b="1" dirty="0">
                <a:solidFill>
                  <a:srgbClr val="E18E2E"/>
                </a:solidFill>
                <a:latin typeface="Trebuchet MS" panose="020B0703020202090204" pitchFamily="34" charset="0"/>
              </a:rPr>
            </a:br>
            <a:r>
              <a:rPr lang="en-US" sz="4000" b="1" u="sng" dirty="0">
                <a:solidFill>
                  <a:schemeClr val="accent1">
                    <a:lumMod val="50000"/>
                  </a:schemeClr>
                </a:solidFill>
                <a:latin typeface="Trebuchet MS" panose="020B0703020202090204" pitchFamily="34" charset="0"/>
              </a:rPr>
              <a:t>Proverbs 3:5-6</a:t>
            </a:r>
            <a:br>
              <a:rPr lang="en-US" sz="4000" b="1" dirty="0">
                <a:solidFill>
                  <a:schemeClr val="accent1">
                    <a:lumMod val="50000"/>
                  </a:schemeClr>
                </a:solidFill>
                <a:latin typeface="Trebuchet MS" panose="020B0703020202090204" pitchFamily="34" charset="0"/>
              </a:rPr>
            </a:br>
            <a:r>
              <a:rPr lang="en-US" sz="4000" b="1" dirty="0">
                <a:solidFill>
                  <a:schemeClr val="accent1">
                    <a:lumMod val="50000"/>
                  </a:schemeClr>
                </a:solidFill>
                <a:latin typeface="Trebuchet MS" panose="020B0703020202090204" pitchFamily="34" charset="0"/>
              </a:rPr>
              <a:t>“Trust in the Lord with all your heart and lean not on your own understanding; in all your ways submit to Him, and He will make your paths straight”</a:t>
            </a:r>
            <a:endParaRPr lang="en-US"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AA537DE7-4643-0168-96BE-65AF794DC160}"/>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1892B9B9-502E-A40A-DB39-299A43769773}"/>
              </a:ext>
            </a:extLst>
          </p:cNvPr>
          <p:cNvSpPr>
            <a:spLocks noGrp="1"/>
          </p:cNvSpPr>
          <p:nvPr>
            <p:ph type="sldNum" sz="quarter" idx="12"/>
          </p:nvPr>
        </p:nvSpPr>
        <p:spPr/>
        <p:txBody>
          <a:bodyPr/>
          <a:lstStyle/>
          <a:p>
            <a:fld id="{D57F1E4F-1CFF-5643-939E-217C01CDF565}" type="slidenum">
              <a:rPr lang="en-US" smtClean="0"/>
              <a:pPr/>
              <a:t>28</a:t>
            </a:fld>
            <a:endParaRPr lang="en-US" dirty="0"/>
          </a:p>
        </p:txBody>
      </p:sp>
    </p:spTree>
    <p:extLst>
      <p:ext uri="{BB962C8B-B14F-4D97-AF65-F5344CB8AC3E}">
        <p14:creationId xmlns:p14="http://schemas.microsoft.com/office/powerpoint/2010/main" val="2300463247"/>
      </p:ext>
    </p:extLst>
  </p:cSld>
  <p:clrMapOvr>
    <a:masterClrMapping/>
  </p:clrMapOvr>
</p:sld>
</file>

<file path=ppt/theme/theme1.xml><?xml version="1.0" encoding="utf-8"?>
<a:theme xmlns:a="http://schemas.openxmlformats.org/drawingml/2006/main" name="Facet">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2533</TotalTime>
  <Words>1543</Words>
  <Application>Microsoft Macintosh PowerPoint</Application>
  <PresentationFormat>Widescreen</PresentationFormat>
  <Paragraphs>221</Paragraphs>
  <Slides>28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Arial</vt:lpstr>
      <vt:lpstr>Calibri</vt:lpstr>
      <vt:lpstr>Tahoma</vt:lpstr>
      <vt:lpstr>Trebuchet MS</vt:lpstr>
      <vt:lpstr>Wingdings</vt:lpstr>
      <vt:lpstr>Wingdings 3</vt:lpstr>
      <vt:lpstr>Facet</vt:lpstr>
      <vt:lpstr>PowerPoint Presentation</vt:lpstr>
      <vt:lpstr>TOPIC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Proverbs 3:5-6 “Trust in the Lord with all your heart and lean not on your own understanding; in all your ways submit to Him, and He will make your paths straight”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Microsoft Office User</dc:creator>
  <cp:lastModifiedBy>Microsoft Office User</cp:lastModifiedBy>
  <cp:revision>31</cp:revision>
  <dcterms:created xsi:type="dcterms:W3CDTF">2024-07-11T10:28:40Z</dcterms:created>
  <dcterms:modified xsi:type="dcterms:W3CDTF">2024-08-18T14:54:24Z</dcterms:modified>
</cp:coreProperties>
</file>