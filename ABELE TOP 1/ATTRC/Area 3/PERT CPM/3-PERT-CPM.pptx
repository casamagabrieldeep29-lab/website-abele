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5"/>
  </p:notesMasterIdLst>
  <p:sldIdLst>
    <p:sldId id="256" r:id="rId2"/>
    <p:sldId id="259" r:id="rId3"/>
    <p:sldId id="263" r:id="rId4"/>
    <p:sldId id="366" r:id="rId5"/>
    <p:sldId id="365" r:id="rId6"/>
    <p:sldId id="369" r:id="rId7"/>
    <p:sldId id="370" r:id="rId8"/>
    <p:sldId id="371" r:id="rId9"/>
    <p:sldId id="372" r:id="rId10"/>
    <p:sldId id="373" r:id="rId11"/>
    <p:sldId id="374" r:id="rId12"/>
    <p:sldId id="292" r:id="rId13"/>
    <p:sldId id="375" r:id="rId14"/>
    <p:sldId id="376" r:id="rId15"/>
    <p:sldId id="377" r:id="rId16"/>
    <p:sldId id="378" r:id="rId17"/>
    <p:sldId id="386" r:id="rId18"/>
    <p:sldId id="380" r:id="rId19"/>
    <p:sldId id="382" r:id="rId20"/>
    <p:sldId id="381" r:id="rId21"/>
    <p:sldId id="383" r:id="rId22"/>
    <p:sldId id="387" r:id="rId23"/>
    <p:sldId id="342"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s20v0ObMfG+858yFLTjRmw==" hashData="n5thZwMgraBDtUVsxA3CkieDjUqCp9Gkt8RNlueZ/0ZEQgnG+9A/6o0urVGvyh4imNenb7p4ACxfW7fEaAcQeg=="/>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18E2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15"/>
    <p:restoredTop sz="94676"/>
  </p:normalViewPr>
  <p:slideViewPr>
    <p:cSldViewPr snapToGrid="0">
      <p:cViewPr varScale="1">
        <p:scale>
          <a:sx n="106" d="100"/>
          <a:sy n="106" d="100"/>
        </p:scale>
        <p:origin x="928"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2014E3-1199-294A-A5EC-159D0862C863}" type="datetimeFigureOut">
              <a:rPr lang="en-US" smtClean="0"/>
              <a:t>8/14/24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7F915E-2A27-4B4E-9904-EFDEDA8E6FC6}" type="slidenum">
              <a:rPr lang="en-US" smtClean="0"/>
              <a:t>‹#›</a:t>
            </a:fld>
            <a:endParaRPr lang="en-US"/>
          </a:p>
        </p:txBody>
      </p:sp>
    </p:spTree>
    <p:extLst>
      <p:ext uri="{BB962C8B-B14F-4D97-AF65-F5344CB8AC3E}">
        <p14:creationId xmlns:p14="http://schemas.microsoft.com/office/powerpoint/2010/main" val="34823420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4A9BA7-7DB9-FF4F-BE4E-1C7D6130B149}" type="datetime1">
              <a:rPr lang="en-PH" smtClean="0"/>
              <a:t>8/14/24</a:t>
            </a:fld>
            <a:endParaRPr lang="en-US" dirty="0"/>
          </a:p>
        </p:txBody>
      </p:sp>
      <p:sp>
        <p:nvSpPr>
          <p:cNvPr id="5" name="Footer Placeholder 4"/>
          <p:cNvSpPr>
            <a:spLocks noGrp="1"/>
          </p:cNvSpPr>
          <p:nvPr>
            <p:ph type="ftr" sz="quarter" idx="11"/>
          </p:nvPr>
        </p:nvSpPr>
        <p:spPr/>
        <p:txBody>
          <a:bodyPr/>
          <a:lstStyle/>
          <a:p>
            <a:r>
              <a:rPr lang="en-US"/>
              <a:t>Engr. Melanie D. Piedad, ABELE 2022 Topnotcher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29A8BD-BF91-1E47-AD3F-1FC87685C560}" type="datetime1">
              <a:rPr lang="en-PH" smtClean="0"/>
              <a:t>8/14/24</a:t>
            </a:fld>
            <a:endParaRPr lang="en-US" dirty="0"/>
          </a:p>
        </p:txBody>
      </p:sp>
      <p:sp>
        <p:nvSpPr>
          <p:cNvPr id="5" name="Footer Placeholder 4"/>
          <p:cNvSpPr>
            <a:spLocks noGrp="1"/>
          </p:cNvSpPr>
          <p:nvPr>
            <p:ph type="ftr" sz="quarter" idx="11"/>
          </p:nvPr>
        </p:nvSpPr>
        <p:spPr/>
        <p:txBody>
          <a:bodyPr/>
          <a:lstStyle/>
          <a:p>
            <a:r>
              <a:rPr lang="en-US"/>
              <a:t>Engr. Melanie D. Piedad, ABELE 2022 Topnotcher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2A7A9F-8AE4-D34E-9648-BE5D629DF3C8}" type="datetime1">
              <a:rPr lang="en-PH" smtClean="0"/>
              <a:t>8/14/24</a:t>
            </a:fld>
            <a:endParaRPr lang="en-US" dirty="0"/>
          </a:p>
        </p:txBody>
      </p:sp>
      <p:sp>
        <p:nvSpPr>
          <p:cNvPr id="5" name="Footer Placeholder 4"/>
          <p:cNvSpPr>
            <a:spLocks noGrp="1"/>
          </p:cNvSpPr>
          <p:nvPr>
            <p:ph type="ftr" sz="quarter" idx="11"/>
          </p:nvPr>
        </p:nvSpPr>
        <p:spPr/>
        <p:txBody>
          <a:bodyPr/>
          <a:lstStyle/>
          <a:p>
            <a:r>
              <a:rPr lang="en-US"/>
              <a:t>Engr. Melanie D. Piedad, ABELE 2022 Topnotcher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4610837-5025-9B4B-A835-384257C6C0BD}" type="datetime1">
              <a:rPr lang="en-PH" smtClean="0"/>
              <a:t>8/14/24</a:t>
            </a:fld>
            <a:endParaRPr lang="en-US" dirty="0"/>
          </a:p>
        </p:txBody>
      </p:sp>
      <p:sp>
        <p:nvSpPr>
          <p:cNvPr id="6" name="Footer Placeholder 5"/>
          <p:cNvSpPr>
            <a:spLocks noGrp="1"/>
          </p:cNvSpPr>
          <p:nvPr>
            <p:ph type="ftr" sz="quarter" idx="11"/>
          </p:nvPr>
        </p:nvSpPr>
        <p:spPr/>
        <p:txBody>
          <a:bodyPr/>
          <a:lstStyle/>
          <a:p>
            <a:r>
              <a:rPr lang="en-US"/>
              <a:t>Engr. Melanie D. Piedad, ABELE 2022 Topnotcher</a:t>
            </a:r>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2AEB89E-1DEB-2A47-AB16-0B1F618A1196}" type="datetime1">
              <a:rPr lang="en-PH" smtClean="0"/>
              <a:t>8/14/24</a:t>
            </a:fld>
            <a:endParaRPr lang="en-US" dirty="0"/>
          </a:p>
        </p:txBody>
      </p:sp>
      <p:sp>
        <p:nvSpPr>
          <p:cNvPr id="8" name="Footer Placeholder 7"/>
          <p:cNvSpPr>
            <a:spLocks noGrp="1"/>
          </p:cNvSpPr>
          <p:nvPr>
            <p:ph type="ftr" sz="quarter" idx="11"/>
          </p:nvPr>
        </p:nvSpPr>
        <p:spPr/>
        <p:txBody>
          <a:bodyPr/>
          <a:lstStyle/>
          <a:p>
            <a:r>
              <a:rPr lang="en-US"/>
              <a:t>Engr. Melanie D. Piedad, ABELE 2022 Topnotcher</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EA96027-22C9-2D47-9566-609ED99A4798}" type="datetime1">
              <a:rPr lang="en-PH" smtClean="0"/>
              <a:t>8/14/24</a:t>
            </a:fld>
            <a:endParaRPr lang="en-US" dirty="0"/>
          </a:p>
        </p:txBody>
      </p:sp>
      <p:sp>
        <p:nvSpPr>
          <p:cNvPr id="4" name="Footer Placeholder 3"/>
          <p:cNvSpPr>
            <a:spLocks noGrp="1"/>
          </p:cNvSpPr>
          <p:nvPr>
            <p:ph type="ftr" sz="quarter" idx="11"/>
          </p:nvPr>
        </p:nvSpPr>
        <p:spPr/>
        <p:txBody>
          <a:bodyPr/>
          <a:lstStyle/>
          <a:p>
            <a:r>
              <a:rPr lang="en-US"/>
              <a:t>Engr. Melanie D. Piedad, ABELE 2022 Topnotcher</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824BEB-88C6-9D4F-B956-6CC105EEEC06}" type="datetime1">
              <a:rPr lang="en-PH" smtClean="0"/>
              <a:t>8/14/24</a:t>
            </a:fld>
            <a:endParaRPr lang="en-US" dirty="0"/>
          </a:p>
        </p:txBody>
      </p:sp>
      <p:sp>
        <p:nvSpPr>
          <p:cNvPr id="3" name="Footer Placeholder 2"/>
          <p:cNvSpPr>
            <a:spLocks noGrp="1"/>
          </p:cNvSpPr>
          <p:nvPr>
            <p:ph type="ftr" sz="quarter" idx="11"/>
          </p:nvPr>
        </p:nvSpPr>
        <p:spPr/>
        <p:txBody>
          <a:bodyPr/>
          <a:lstStyle/>
          <a:p>
            <a:r>
              <a:rPr lang="en-US"/>
              <a:t>Engr. Melanie D. Piedad, ABELE 2022 Topnotcher</a:t>
            </a: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F82D61D-9B9C-394A-9E33-17AB4014C0E1}" type="datetime1">
              <a:rPr lang="en-PH" smtClean="0"/>
              <a:t>8/14/24</a:t>
            </a:fld>
            <a:endParaRPr lang="en-US" dirty="0"/>
          </a:p>
        </p:txBody>
      </p:sp>
      <p:sp>
        <p:nvSpPr>
          <p:cNvPr id="6" name="Footer Placeholder 5"/>
          <p:cNvSpPr>
            <a:spLocks noGrp="1"/>
          </p:cNvSpPr>
          <p:nvPr>
            <p:ph type="ftr" sz="quarter" idx="11"/>
          </p:nvPr>
        </p:nvSpPr>
        <p:spPr/>
        <p:txBody>
          <a:bodyPr/>
          <a:lstStyle/>
          <a:p>
            <a:r>
              <a:rPr lang="en-US"/>
              <a:t>Engr. Melanie D. Piedad, ABELE 2022 Topnotcher</a:t>
            </a:r>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B032399-2E24-9649-8DC0-3E23580520F3}" type="datetime1">
              <a:rPr lang="en-PH" smtClean="0"/>
              <a:t>8/14/24</a:t>
            </a:fld>
            <a:endParaRPr lang="en-US" dirty="0"/>
          </a:p>
        </p:txBody>
      </p:sp>
      <p:sp>
        <p:nvSpPr>
          <p:cNvPr id="6" name="Footer Placeholder 5"/>
          <p:cNvSpPr>
            <a:spLocks noGrp="1"/>
          </p:cNvSpPr>
          <p:nvPr>
            <p:ph type="ftr" sz="quarter" idx="11"/>
          </p:nvPr>
        </p:nvSpPr>
        <p:spPr/>
        <p:txBody>
          <a:bodyPr/>
          <a:lstStyle/>
          <a:p>
            <a:r>
              <a:rPr lang="en-US"/>
              <a:t>Engr. Melanie D. Piedad, ABELE 2022 Topnotcher</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0EBFBB-6133-BF49-AAA5-48230363C8BF}" type="datetime1">
              <a:rPr lang="en-PH" smtClean="0"/>
              <a:t>8/14/24</a:t>
            </a:fld>
            <a:endParaRPr lang="en-US" dirty="0"/>
          </a:p>
        </p:txBody>
      </p:sp>
      <p:sp>
        <p:nvSpPr>
          <p:cNvPr id="5" name="Footer Placeholder 4"/>
          <p:cNvSpPr>
            <a:spLocks noGrp="1"/>
          </p:cNvSpPr>
          <p:nvPr>
            <p:ph type="ftr" sz="quarter" idx="11"/>
          </p:nvPr>
        </p:nvSpPr>
        <p:spPr/>
        <p:txBody>
          <a:bodyPr/>
          <a:lstStyle/>
          <a:p>
            <a:r>
              <a:rPr lang="en-US"/>
              <a:t>Engr. Melanie D. Piedad, ABELE 2022 Topnotcher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8C7D62-9030-7740-97F1-88AE8EBC4D60}" type="datetime1">
              <a:rPr lang="en-PH" smtClean="0"/>
              <a:t>8/14/24</a:t>
            </a:fld>
            <a:endParaRPr lang="en-US" dirty="0"/>
          </a:p>
        </p:txBody>
      </p:sp>
      <p:sp>
        <p:nvSpPr>
          <p:cNvPr id="5" name="Footer Placeholder 4"/>
          <p:cNvSpPr>
            <a:spLocks noGrp="1"/>
          </p:cNvSpPr>
          <p:nvPr>
            <p:ph type="ftr" sz="quarter" idx="11"/>
          </p:nvPr>
        </p:nvSpPr>
        <p:spPr/>
        <p:txBody>
          <a:bodyPr/>
          <a:lstStyle/>
          <a:p>
            <a:r>
              <a:rPr lang="en-US"/>
              <a:t>Engr. Melanie D. Piedad, ABELE 2022 Topnotcher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A2792E-E437-B546-9458-34A5C1794767}" type="datetime1">
              <a:rPr lang="en-PH" smtClean="0"/>
              <a:t>8/14/24</a:t>
            </a:fld>
            <a:endParaRPr lang="en-US" dirty="0"/>
          </a:p>
        </p:txBody>
      </p:sp>
      <p:sp>
        <p:nvSpPr>
          <p:cNvPr id="5" name="Footer Placeholder 4"/>
          <p:cNvSpPr>
            <a:spLocks noGrp="1"/>
          </p:cNvSpPr>
          <p:nvPr>
            <p:ph type="ftr" sz="quarter" idx="11"/>
          </p:nvPr>
        </p:nvSpPr>
        <p:spPr/>
        <p:txBody>
          <a:bodyPr/>
          <a:lstStyle/>
          <a:p>
            <a:r>
              <a:rPr lang="en-US"/>
              <a:t>Engr. Melanie D. Piedad, ABELE 2022 Topnotcher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848523-E1E8-5E4E-A492-E963B0E6318E}" type="datetime1">
              <a:rPr lang="en-PH" smtClean="0"/>
              <a:t>8/14/24</a:t>
            </a:fld>
            <a:endParaRPr lang="en-US" dirty="0"/>
          </a:p>
        </p:txBody>
      </p:sp>
      <p:sp>
        <p:nvSpPr>
          <p:cNvPr id="5" name="Footer Placeholder 4"/>
          <p:cNvSpPr>
            <a:spLocks noGrp="1"/>
          </p:cNvSpPr>
          <p:nvPr>
            <p:ph type="ftr" sz="quarter" idx="11"/>
          </p:nvPr>
        </p:nvSpPr>
        <p:spPr/>
        <p:txBody>
          <a:bodyPr/>
          <a:lstStyle/>
          <a:p>
            <a:r>
              <a:rPr lang="en-US"/>
              <a:t>Engr. Melanie D. Piedad, ABELE 2022 Topnotcher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60C77FB-9CFD-E541-9634-5E6EE2AA67E2}" type="datetime1">
              <a:rPr lang="en-PH" smtClean="0"/>
              <a:t>8/14/24</a:t>
            </a:fld>
            <a:endParaRPr lang="en-US" dirty="0"/>
          </a:p>
        </p:txBody>
      </p:sp>
      <p:sp>
        <p:nvSpPr>
          <p:cNvPr id="5" name="Footer Placeholder 4"/>
          <p:cNvSpPr>
            <a:spLocks noGrp="1"/>
          </p:cNvSpPr>
          <p:nvPr>
            <p:ph type="ftr" sz="quarter" idx="11"/>
          </p:nvPr>
        </p:nvSpPr>
        <p:spPr/>
        <p:txBody>
          <a:bodyPr/>
          <a:lstStyle/>
          <a:p>
            <a:r>
              <a:rPr lang="en-US"/>
              <a:t>Engr. Melanie D. Piedad, ABELE 2022 Topnotcher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C3D86D-9F02-C843-ABF7-4C94BEA31857}" type="datetime1">
              <a:rPr lang="en-PH" smtClean="0"/>
              <a:t>8/14/24</a:t>
            </a:fld>
            <a:endParaRPr lang="en-US" dirty="0"/>
          </a:p>
        </p:txBody>
      </p:sp>
      <p:sp>
        <p:nvSpPr>
          <p:cNvPr id="5" name="Footer Placeholder 4"/>
          <p:cNvSpPr>
            <a:spLocks noGrp="1"/>
          </p:cNvSpPr>
          <p:nvPr>
            <p:ph type="ftr" sz="quarter" idx="11"/>
          </p:nvPr>
        </p:nvSpPr>
        <p:spPr/>
        <p:txBody>
          <a:bodyPr/>
          <a:lstStyle/>
          <a:p>
            <a:r>
              <a:rPr lang="en-US"/>
              <a:t>Engr. Melanie D. Piedad, ABELE 2022 Topnotcher</a:t>
            </a:r>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4FABF3-A85A-764D-A798-6F22D30A010F}" type="datetime1">
              <a:rPr lang="en-PH" smtClean="0"/>
              <a:t>8/14/24</a:t>
            </a:fld>
            <a:endParaRPr lang="en-US" dirty="0"/>
          </a:p>
        </p:txBody>
      </p:sp>
      <p:sp>
        <p:nvSpPr>
          <p:cNvPr id="5" name="Footer Placeholder 4"/>
          <p:cNvSpPr>
            <a:spLocks noGrp="1"/>
          </p:cNvSpPr>
          <p:nvPr>
            <p:ph type="ftr" sz="quarter" idx="11"/>
          </p:nvPr>
        </p:nvSpPr>
        <p:spPr/>
        <p:txBody>
          <a:bodyPr/>
          <a:lstStyle/>
          <a:p>
            <a:r>
              <a:rPr lang="en-US"/>
              <a:t>Engr. Melanie D. Piedad, ABELE 2022 Topnotcher</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38B3A43-E145-9B44-9E2E-19271F2B6AF0}" type="datetime1">
              <a:rPr lang="en-PH" smtClean="0"/>
              <a:t>8/14/24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Engr. Melanie D. Piedad, ABELE 2022 Topnotcher</a:t>
            </a:r>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hf hd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DAD3E0-13BD-D554-E848-1BE20B045096}"/>
              </a:ext>
            </a:extLst>
          </p:cNvPr>
          <p:cNvSpPr txBox="1">
            <a:spLocks/>
          </p:cNvSpPr>
          <p:nvPr/>
        </p:nvSpPr>
        <p:spPr>
          <a:xfrm>
            <a:off x="789179" y="1345639"/>
            <a:ext cx="8973214" cy="3079431"/>
          </a:xfrm>
          <a:prstGeom prst="rect">
            <a:avLst/>
          </a:prstGeom>
        </p:spPr>
        <p:txBody>
          <a:bodyPr vert="horz" lIns="91440" tIns="45720" rIns="91440" bIns="45720" rtlCol="0" anchor="ctr">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b="1" dirty="0">
                <a:solidFill>
                  <a:srgbClr val="E18E2E"/>
                </a:solidFill>
                <a:latin typeface="Trebuchet MS" panose="020B0703020202090204" pitchFamily="34" charset="0"/>
              </a:rPr>
              <a:t>AREA III:</a:t>
            </a:r>
          </a:p>
          <a:p>
            <a:pPr algn="ctr"/>
            <a:r>
              <a:rPr lang="en-PH" sz="4000" b="1" dirty="0">
                <a:effectLst/>
                <a:latin typeface="Tahoma" panose="020B0604030504040204" pitchFamily="34" charset="0"/>
                <a:ea typeface="Calibri" panose="020F0502020204030204" pitchFamily="34" charset="0"/>
              </a:rPr>
              <a:t>AB Structures and Environment Engineering and Bioprocess Engineering and Allied Subjects </a:t>
            </a:r>
            <a:endParaRPr lang="en-US" b="1" dirty="0">
              <a:solidFill>
                <a:srgbClr val="E18E2E"/>
              </a:solidFill>
              <a:latin typeface="Trebuchet MS" panose="020B0703020202090204" pitchFamily="34" charset="0"/>
            </a:endParaRPr>
          </a:p>
        </p:txBody>
      </p:sp>
      <p:sp>
        <p:nvSpPr>
          <p:cNvPr id="6" name="Footer Placeholder 5">
            <a:extLst>
              <a:ext uri="{FF2B5EF4-FFF2-40B4-BE49-F238E27FC236}">
                <a16:creationId xmlns:a16="http://schemas.microsoft.com/office/drawing/2014/main" id="{01C62E8E-EACE-0AB5-A8A8-EEA4144C6740}"/>
              </a:ext>
            </a:extLst>
          </p:cNvPr>
          <p:cNvSpPr>
            <a:spLocks noGrp="1"/>
          </p:cNvSpPr>
          <p:nvPr>
            <p:ph type="ftr" sz="quarter" idx="11"/>
          </p:nvPr>
        </p:nvSpPr>
        <p:spPr/>
        <p:txBody>
          <a:bodyPr/>
          <a:lstStyle/>
          <a:p>
            <a:r>
              <a:rPr lang="en-US"/>
              <a:t>Engr. Melanie D. Piedad, ABELE 2022 Topnotcher</a:t>
            </a:r>
            <a:endParaRPr lang="en-US" dirty="0"/>
          </a:p>
        </p:txBody>
      </p:sp>
      <p:sp>
        <p:nvSpPr>
          <p:cNvPr id="8" name="Slide Number Placeholder 7">
            <a:extLst>
              <a:ext uri="{FF2B5EF4-FFF2-40B4-BE49-F238E27FC236}">
                <a16:creationId xmlns:a16="http://schemas.microsoft.com/office/drawing/2014/main" id="{FAC9AB54-10C8-BA5A-413C-515DAFAD8E77}"/>
              </a:ext>
            </a:extLst>
          </p:cNvPr>
          <p:cNvSpPr>
            <a:spLocks noGrp="1"/>
          </p:cNvSpPr>
          <p:nvPr>
            <p:ph type="sldNum" sz="quarter" idx="12"/>
          </p:nvPr>
        </p:nvSpPr>
        <p:spPr/>
        <p:txBody>
          <a:bodyPr/>
          <a:lstStyle/>
          <a:p>
            <a:fld id="{D57F1E4F-1CFF-5643-939E-217C01CDF565}" type="slidenum">
              <a:rPr lang="en-US" smtClean="0"/>
              <a:pPr/>
              <a:t>1</a:t>
            </a:fld>
            <a:endParaRPr lang="en-US" dirty="0"/>
          </a:p>
        </p:txBody>
      </p:sp>
    </p:spTree>
    <p:extLst>
      <p:ext uri="{BB962C8B-B14F-4D97-AF65-F5344CB8AC3E}">
        <p14:creationId xmlns:p14="http://schemas.microsoft.com/office/powerpoint/2010/main" val="21850439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DAD3E0-13BD-D554-E848-1BE20B045096}"/>
              </a:ext>
            </a:extLst>
          </p:cNvPr>
          <p:cNvSpPr txBox="1">
            <a:spLocks/>
          </p:cNvSpPr>
          <p:nvPr/>
        </p:nvSpPr>
        <p:spPr>
          <a:xfrm>
            <a:off x="911550" y="1282419"/>
            <a:ext cx="7787282" cy="714604"/>
          </a:xfrm>
          <a:prstGeom prst="rect">
            <a:avLst/>
          </a:prstGeom>
        </p:spPr>
        <p:txBody>
          <a:bodyPr vert="horz" lIns="91440" tIns="45720" rIns="91440" bIns="45720" rtlCol="0" anchor="t">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en-US" sz="3200" b="1" u="sng" dirty="0">
                <a:latin typeface="Trebuchet MS" panose="020B0703020202090204" pitchFamily="34" charset="0"/>
              </a:rPr>
              <a:t>Agricultural Buildings and Structures</a:t>
            </a:r>
            <a:endParaRPr lang="en-US" sz="6000" b="1" u="sng" dirty="0">
              <a:solidFill>
                <a:srgbClr val="E18E2E"/>
              </a:solidFill>
              <a:latin typeface="Trebuchet MS" panose="020B0703020202090204" pitchFamily="34" charset="0"/>
            </a:endParaRPr>
          </a:p>
        </p:txBody>
      </p:sp>
      <p:sp>
        <p:nvSpPr>
          <p:cNvPr id="12" name="Title 1">
            <a:extLst>
              <a:ext uri="{FF2B5EF4-FFF2-40B4-BE49-F238E27FC236}">
                <a16:creationId xmlns:a16="http://schemas.microsoft.com/office/drawing/2014/main" id="{33E1256D-5017-74B9-E4ED-4D9EB0521160}"/>
              </a:ext>
            </a:extLst>
          </p:cNvPr>
          <p:cNvSpPr>
            <a:spLocks noGrp="1"/>
          </p:cNvSpPr>
          <p:nvPr>
            <p:ph type="ctrTitle"/>
          </p:nvPr>
        </p:nvSpPr>
        <p:spPr>
          <a:xfrm>
            <a:off x="911550" y="673475"/>
            <a:ext cx="5966889" cy="608944"/>
          </a:xfrm>
        </p:spPr>
        <p:txBody>
          <a:bodyPr anchor="ctr"/>
          <a:lstStyle/>
          <a:p>
            <a:pPr algn="just"/>
            <a:r>
              <a:rPr lang="en-US" sz="4000" b="1" dirty="0">
                <a:solidFill>
                  <a:srgbClr val="E18E2E"/>
                </a:solidFill>
                <a:latin typeface="Trebuchet MS" panose="020B0703020202090204" pitchFamily="34" charset="0"/>
              </a:rPr>
              <a:t>TOPIC 1:</a:t>
            </a:r>
          </a:p>
        </p:txBody>
      </p:sp>
      <p:sp>
        <p:nvSpPr>
          <p:cNvPr id="3" name="Title 1">
            <a:extLst>
              <a:ext uri="{FF2B5EF4-FFF2-40B4-BE49-F238E27FC236}">
                <a16:creationId xmlns:a16="http://schemas.microsoft.com/office/drawing/2014/main" id="{345F3751-F15A-426C-A1DA-41A065A128B5}"/>
              </a:ext>
            </a:extLst>
          </p:cNvPr>
          <p:cNvSpPr txBox="1">
            <a:spLocks/>
          </p:cNvSpPr>
          <p:nvPr/>
        </p:nvSpPr>
        <p:spPr>
          <a:xfrm>
            <a:off x="911550" y="1992501"/>
            <a:ext cx="8376829" cy="3583080"/>
          </a:xfrm>
          <a:prstGeom prst="rect">
            <a:avLst/>
          </a:prstGeom>
        </p:spPr>
        <p:txBody>
          <a:bodyPr vert="horz" lIns="91440" tIns="45720" rIns="91440" bIns="45720" rtlCol="0" anchor="t">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just">
              <a:lnSpc>
                <a:spcPct val="107000"/>
              </a:lnSpc>
              <a:spcAft>
                <a:spcPts val="800"/>
              </a:spcAft>
              <a:tabLst>
                <a:tab pos="1422400" algn="l"/>
                <a:tab pos="1778000" algn="l"/>
                <a:tab pos="2133600" algn="l"/>
                <a:tab pos="2489200" algn="l"/>
                <a:tab pos="2844800" algn="l"/>
                <a:tab pos="3200400" algn="l"/>
                <a:tab pos="3556000" algn="l"/>
                <a:tab pos="3911600" algn="l"/>
                <a:tab pos="4267200" algn="l"/>
              </a:tabLst>
            </a:pPr>
            <a:r>
              <a:rPr lang="en-US" sz="3600" b="1" dirty="0">
                <a:solidFill>
                  <a:schemeClr val="accent2"/>
                </a:solidFill>
                <a:ea typeface="Calibri" panose="020F0502020204030204" pitchFamily="34" charset="0"/>
                <a:cs typeface="Times New Roman" panose="02020603050405020304" pitchFamily="18" charset="0"/>
              </a:rPr>
              <a:t>1.4</a:t>
            </a:r>
            <a:r>
              <a:rPr lang="en-US" sz="3600" b="1" dirty="0">
                <a:solidFill>
                  <a:schemeClr val="accent1">
                    <a:lumMod val="50000"/>
                  </a:schemeClr>
                </a:solidFill>
                <a:ea typeface="Calibri" panose="020F0502020204030204" pitchFamily="34" charset="0"/>
                <a:cs typeface="Times New Roman" panose="02020603050405020304" pitchFamily="18" charset="0"/>
              </a:rPr>
              <a:t> </a:t>
            </a:r>
            <a:r>
              <a:rPr lang="en-US" sz="2400" dirty="0">
                <a:solidFill>
                  <a:srgbClr val="000000"/>
                </a:solidFill>
                <a:effectLst/>
                <a:latin typeface="Tahoma" panose="020B0604030504040204" pitchFamily="34" charset="0"/>
                <a:ea typeface="Calibri" panose="020F0502020204030204" pitchFamily="34" charset="0"/>
                <a:cs typeface="Times New Roman" panose="02020603050405020304" pitchFamily="18" charset="0"/>
              </a:rPr>
              <a:t>Supervise and manage the construction, operation and maintenance of agricultural buildings and structures with the application of PERT CPM, CPES etc.</a:t>
            </a:r>
          </a:p>
          <a:p>
            <a:pPr algn="just"/>
            <a:endParaRPr lang="en-US" sz="2400" b="1" dirty="0">
              <a:solidFill>
                <a:schemeClr val="accent1">
                  <a:lumMod val="50000"/>
                </a:schemeClr>
              </a:solidFill>
              <a:ea typeface="Calibri" panose="020F0502020204030204" pitchFamily="34" charset="0"/>
              <a:cs typeface="Times New Roman" panose="02020603050405020304" pitchFamily="18" charset="0"/>
            </a:endParaRPr>
          </a:p>
          <a:p>
            <a:pPr algn="just"/>
            <a:r>
              <a:rPr lang="en-US" sz="2400" b="1" dirty="0">
                <a:solidFill>
                  <a:schemeClr val="accent1">
                    <a:lumMod val="50000"/>
                  </a:schemeClr>
                </a:solidFill>
                <a:effectLst/>
                <a:ea typeface="Calibri" panose="020F0502020204030204" pitchFamily="34" charset="0"/>
                <a:cs typeface="Times New Roman" panose="02020603050405020304" pitchFamily="18" charset="0"/>
              </a:rPr>
              <a:t>Number of items: 2-3 questions</a:t>
            </a:r>
          </a:p>
          <a:p>
            <a:pPr algn="just"/>
            <a:r>
              <a:rPr lang="en-US" sz="2400" b="1" dirty="0">
                <a:solidFill>
                  <a:schemeClr val="accent1">
                    <a:lumMod val="50000"/>
                  </a:schemeClr>
                </a:solidFill>
                <a:ea typeface="Calibri" panose="020F0502020204030204" pitchFamily="34" charset="0"/>
                <a:cs typeface="Times New Roman" panose="02020603050405020304" pitchFamily="18" charset="0"/>
              </a:rPr>
              <a:t>Coverage: PERT-CPM, CPES</a:t>
            </a:r>
            <a:endParaRPr lang="en-PH" sz="2800" b="1" dirty="0">
              <a:solidFill>
                <a:schemeClr val="accent1">
                  <a:lumMod val="50000"/>
                </a:schemeClr>
              </a:solidFill>
              <a:effectLst/>
              <a:ea typeface="Calibri" panose="020F0502020204030204" pitchFamily="34"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8A02117C-D80C-BB5B-6D06-FB5130D05F07}"/>
              </a:ext>
            </a:extLst>
          </p:cNvPr>
          <p:cNvSpPr>
            <a:spLocks noGrp="1"/>
          </p:cNvSpPr>
          <p:nvPr>
            <p:ph type="ftr" sz="quarter" idx="11"/>
          </p:nvPr>
        </p:nvSpPr>
        <p:spPr/>
        <p:txBody>
          <a:bodyPr/>
          <a:lstStyle/>
          <a:p>
            <a:r>
              <a:rPr lang="en-US"/>
              <a:t>Engr. Melanie D. Piedad, ABELE 2022 Topnotcher</a:t>
            </a:r>
            <a:endParaRPr lang="en-US" dirty="0"/>
          </a:p>
        </p:txBody>
      </p:sp>
      <p:sp>
        <p:nvSpPr>
          <p:cNvPr id="4" name="Slide Number Placeholder 3">
            <a:extLst>
              <a:ext uri="{FF2B5EF4-FFF2-40B4-BE49-F238E27FC236}">
                <a16:creationId xmlns:a16="http://schemas.microsoft.com/office/drawing/2014/main" id="{0701AF4F-7506-D110-B2A3-1F69EF086084}"/>
              </a:ext>
            </a:extLst>
          </p:cNvPr>
          <p:cNvSpPr>
            <a:spLocks noGrp="1"/>
          </p:cNvSpPr>
          <p:nvPr>
            <p:ph type="sldNum" sz="quarter" idx="12"/>
          </p:nvPr>
        </p:nvSpPr>
        <p:spPr/>
        <p:txBody>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3497834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EDFA5F9-3B87-1E80-2C5A-DDFD36EED879}"/>
              </a:ext>
            </a:extLst>
          </p:cNvPr>
          <p:cNvSpPr txBox="1">
            <a:spLocks/>
          </p:cNvSpPr>
          <p:nvPr/>
        </p:nvSpPr>
        <p:spPr>
          <a:xfrm>
            <a:off x="947645" y="534990"/>
            <a:ext cx="8773871" cy="5312357"/>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rgbClr val="E18E2E"/>
                </a:solidFill>
                <a:latin typeface="Trebuchet MS" panose="020B0703020202090204" pitchFamily="34" charset="0"/>
              </a:rPr>
              <a:t>Project Planning</a:t>
            </a:r>
          </a:p>
          <a:p>
            <a:endParaRPr lang="en-US" sz="2000" b="1" dirty="0">
              <a:solidFill>
                <a:schemeClr val="accent1">
                  <a:lumMod val="50000"/>
                </a:schemeClr>
              </a:solidFill>
              <a:latin typeface="Trebuchet MS" panose="020B0703020202090204" pitchFamily="34" charset="0"/>
            </a:endParaRPr>
          </a:p>
          <a:p>
            <a:r>
              <a:rPr lang="en-US" sz="2000" b="1" dirty="0">
                <a:solidFill>
                  <a:schemeClr val="accent1">
                    <a:lumMod val="50000"/>
                  </a:schemeClr>
                </a:solidFill>
                <a:latin typeface="Trebuchet MS" panose="020B0703020202090204" pitchFamily="34" charset="0"/>
              </a:rPr>
              <a:t>The construction, operation, and maintenance of agricultural buildings and structures are parts of project planning.</a:t>
            </a:r>
          </a:p>
          <a:p>
            <a:endParaRPr lang="en-US" sz="2000" b="1" dirty="0">
              <a:solidFill>
                <a:schemeClr val="accent1">
                  <a:lumMod val="50000"/>
                </a:schemeClr>
              </a:solidFill>
              <a:latin typeface="Trebuchet MS" panose="020B0703020202090204" pitchFamily="34" charset="0"/>
            </a:endParaRPr>
          </a:p>
          <a:p>
            <a:pPr marL="457200" indent="-457200">
              <a:buAutoNum type="arabicPeriod"/>
            </a:pPr>
            <a:r>
              <a:rPr lang="en-US" sz="2000" b="1" dirty="0">
                <a:solidFill>
                  <a:schemeClr val="accent1">
                    <a:lumMod val="50000"/>
                  </a:schemeClr>
                </a:solidFill>
                <a:latin typeface="Trebuchet MS" panose="020B0703020202090204" pitchFamily="34" charset="0"/>
              </a:rPr>
              <a:t>Gantt Charts</a:t>
            </a:r>
          </a:p>
          <a:p>
            <a:pPr marL="457200" indent="-457200">
              <a:buAutoNum type="arabicPeriod"/>
            </a:pPr>
            <a:r>
              <a:rPr lang="en-US" sz="2000" b="1" dirty="0">
                <a:solidFill>
                  <a:schemeClr val="accent1">
                    <a:lumMod val="50000"/>
                  </a:schemeClr>
                </a:solidFill>
                <a:latin typeface="Trebuchet MS" panose="020B0703020202090204" pitchFamily="34" charset="0"/>
              </a:rPr>
              <a:t>Network Analysis: Deterministic Networks</a:t>
            </a:r>
          </a:p>
          <a:p>
            <a:pPr marL="457200" indent="-457200">
              <a:buAutoNum type="arabicPeriod"/>
            </a:pPr>
            <a:r>
              <a:rPr lang="en-US" sz="2000" b="1" dirty="0">
                <a:solidFill>
                  <a:schemeClr val="accent1">
                    <a:lumMod val="50000"/>
                  </a:schemeClr>
                </a:solidFill>
                <a:latin typeface="Trebuchet MS" panose="020B0703020202090204" pitchFamily="34" charset="0"/>
              </a:rPr>
              <a:t>Log frame Analysis</a:t>
            </a:r>
          </a:p>
          <a:p>
            <a:endParaRPr lang="en-US" sz="2000" b="1" dirty="0">
              <a:solidFill>
                <a:schemeClr val="accent1">
                  <a:lumMod val="50000"/>
                </a:schemeClr>
              </a:solidFill>
              <a:latin typeface="Trebuchet MS" panose="020B0703020202090204" pitchFamily="34" charset="0"/>
            </a:endParaRPr>
          </a:p>
          <a:p>
            <a:endParaRPr lang="en-US" sz="2000" b="1" dirty="0">
              <a:solidFill>
                <a:schemeClr val="accent1">
                  <a:lumMod val="50000"/>
                </a:schemeClr>
              </a:solidFill>
              <a:latin typeface="Trebuchet MS" panose="020B0703020202090204" pitchFamily="34" charset="0"/>
            </a:endParaRPr>
          </a:p>
          <a:p>
            <a:pPr marL="457200" indent="-457200">
              <a:buFont typeface="Wingdings" pitchFamily="2" charset="2"/>
              <a:buChar char="q"/>
            </a:pPr>
            <a:endParaRPr lang="en-US" sz="2800" b="1" dirty="0">
              <a:solidFill>
                <a:schemeClr val="accent1">
                  <a:lumMod val="50000"/>
                </a:schemeClr>
              </a:solidFill>
              <a:latin typeface="Trebuchet MS" panose="020B0703020202090204" pitchFamily="34" charset="0"/>
            </a:endParaRPr>
          </a:p>
          <a:p>
            <a:pPr marL="457200" indent="-457200">
              <a:buFont typeface="Wingdings" pitchFamily="2" charset="2"/>
              <a:buChar char="q"/>
            </a:pPr>
            <a:endParaRPr lang="en-US" sz="2800" b="1" dirty="0">
              <a:solidFill>
                <a:schemeClr val="accent1">
                  <a:lumMod val="50000"/>
                </a:schemeClr>
              </a:solidFill>
              <a:latin typeface="Trebuchet MS" panose="020B0703020202090204" pitchFamily="34" charset="0"/>
            </a:endParaRPr>
          </a:p>
        </p:txBody>
      </p:sp>
      <p:sp>
        <p:nvSpPr>
          <p:cNvPr id="2" name="Footer Placeholder 1">
            <a:extLst>
              <a:ext uri="{FF2B5EF4-FFF2-40B4-BE49-F238E27FC236}">
                <a16:creationId xmlns:a16="http://schemas.microsoft.com/office/drawing/2014/main" id="{AB115C80-FD7E-C8BB-6228-47344EC37460}"/>
              </a:ext>
            </a:extLst>
          </p:cNvPr>
          <p:cNvSpPr>
            <a:spLocks noGrp="1"/>
          </p:cNvSpPr>
          <p:nvPr>
            <p:ph type="ftr" sz="quarter" idx="11"/>
          </p:nvPr>
        </p:nvSpPr>
        <p:spPr/>
        <p:txBody>
          <a:bodyPr/>
          <a:lstStyle/>
          <a:p>
            <a:r>
              <a:rPr lang="en-US"/>
              <a:t>Engr. Melanie D. Piedad, ABELE 2022 Topnotcher</a:t>
            </a:r>
            <a:endParaRPr lang="en-US" dirty="0"/>
          </a:p>
        </p:txBody>
      </p:sp>
      <p:sp>
        <p:nvSpPr>
          <p:cNvPr id="3" name="Slide Number Placeholder 2">
            <a:extLst>
              <a:ext uri="{FF2B5EF4-FFF2-40B4-BE49-F238E27FC236}">
                <a16:creationId xmlns:a16="http://schemas.microsoft.com/office/drawing/2014/main" id="{E46483BC-7551-21F8-5A69-801FEE5353AC}"/>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Tree>
    <p:extLst>
      <p:ext uri="{BB962C8B-B14F-4D97-AF65-F5344CB8AC3E}">
        <p14:creationId xmlns:p14="http://schemas.microsoft.com/office/powerpoint/2010/main" val="26035203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EDFA5F9-3B87-1E80-2C5A-DDFD36EED879}"/>
              </a:ext>
            </a:extLst>
          </p:cNvPr>
          <p:cNvSpPr txBox="1">
            <a:spLocks/>
          </p:cNvSpPr>
          <p:nvPr/>
        </p:nvSpPr>
        <p:spPr>
          <a:xfrm>
            <a:off x="947645" y="534990"/>
            <a:ext cx="8773871" cy="5312357"/>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rgbClr val="E18E2E"/>
                </a:solidFill>
                <a:latin typeface="Trebuchet MS" panose="020B0703020202090204" pitchFamily="34" charset="0"/>
              </a:rPr>
              <a:t>Deterministic Networks</a:t>
            </a:r>
          </a:p>
          <a:p>
            <a:endParaRPr lang="en-US" sz="2000" b="1" dirty="0">
              <a:solidFill>
                <a:schemeClr val="accent1">
                  <a:lumMod val="50000"/>
                </a:schemeClr>
              </a:solidFill>
              <a:latin typeface="Trebuchet MS" panose="020B0703020202090204" pitchFamily="34" charset="0"/>
            </a:endParaRPr>
          </a:p>
          <a:p>
            <a:r>
              <a:rPr lang="en-US" sz="2000" b="1" dirty="0">
                <a:solidFill>
                  <a:schemeClr val="accent1">
                    <a:lumMod val="50000"/>
                  </a:schemeClr>
                </a:solidFill>
                <a:latin typeface="Trebuchet MS" panose="020B0703020202090204" pitchFamily="34" charset="0"/>
              </a:rPr>
              <a:t>Networks are graphic representations of the major activities or work elements of a project.</a:t>
            </a:r>
          </a:p>
          <a:p>
            <a:endParaRPr lang="en-US" sz="2000" b="1" dirty="0">
              <a:solidFill>
                <a:schemeClr val="accent1">
                  <a:lumMod val="50000"/>
                </a:schemeClr>
              </a:solidFill>
              <a:latin typeface="Trebuchet MS" panose="020B0703020202090204" pitchFamily="34" charset="0"/>
            </a:endParaRPr>
          </a:p>
          <a:p>
            <a:r>
              <a:rPr lang="en-US" sz="2000" b="1" dirty="0">
                <a:solidFill>
                  <a:schemeClr val="accent1">
                    <a:lumMod val="50000"/>
                  </a:schemeClr>
                </a:solidFill>
                <a:latin typeface="Trebuchet MS" panose="020B0703020202090204" pitchFamily="34" charset="0"/>
              </a:rPr>
              <a:t>The use of deterministic networks requires a project which consists of well-defined jobs, jobs which may be stopped or started  independently, and jobs which must be ordered in a given sequence.</a:t>
            </a:r>
          </a:p>
          <a:p>
            <a:endParaRPr lang="en-US" sz="2000" b="1" dirty="0">
              <a:solidFill>
                <a:schemeClr val="accent1">
                  <a:lumMod val="50000"/>
                </a:schemeClr>
              </a:solidFill>
              <a:latin typeface="Trebuchet MS" panose="020B0703020202090204" pitchFamily="34" charset="0"/>
            </a:endParaRPr>
          </a:p>
          <a:p>
            <a:r>
              <a:rPr lang="en-US" sz="2000" b="1" dirty="0">
                <a:solidFill>
                  <a:schemeClr val="accent1">
                    <a:lumMod val="50000"/>
                  </a:schemeClr>
                </a:solidFill>
                <a:latin typeface="Trebuchet MS" panose="020B0703020202090204" pitchFamily="34" charset="0"/>
              </a:rPr>
              <a:t>Network-based management systems of PERT and CPM were developed originally in industry and the military as an aid to managing large complex projects.     </a:t>
            </a:r>
          </a:p>
          <a:p>
            <a:endParaRPr lang="en-US" sz="2000" b="1" dirty="0">
              <a:solidFill>
                <a:schemeClr val="accent1">
                  <a:lumMod val="50000"/>
                </a:schemeClr>
              </a:solidFill>
              <a:latin typeface="Trebuchet MS" panose="020B0703020202090204" pitchFamily="34" charset="0"/>
            </a:endParaRPr>
          </a:p>
          <a:p>
            <a:pPr marL="457200" indent="-457200">
              <a:buFont typeface="Wingdings" pitchFamily="2" charset="2"/>
              <a:buChar char="q"/>
            </a:pPr>
            <a:endParaRPr lang="en-US" sz="2800" b="1" dirty="0">
              <a:solidFill>
                <a:schemeClr val="accent1">
                  <a:lumMod val="50000"/>
                </a:schemeClr>
              </a:solidFill>
              <a:latin typeface="Trebuchet MS" panose="020B0703020202090204" pitchFamily="34" charset="0"/>
            </a:endParaRPr>
          </a:p>
          <a:p>
            <a:pPr marL="457200" indent="-457200">
              <a:buFont typeface="Wingdings" pitchFamily="2" charset="2"/>
              <a:buChar char="q"/>
            </a:pPr>
            <a:endParaRPr lang="en-US" sz="2800" b="1" dirty="0">
              <a:solidFill>
                <a:schemeClr val="accent1">
                  <a:lumMod val="50000"/>
                </a:schemeClr>
              </a:solidFill>
              <a:latin typeface="Trebuchet MS" panose="020B0703020202090204" pitchFamily="34" charset="0"/>
            </a:endParaRPr>
          </a:p>
        </p:txBody>
      </p:sp>
      <p:sp>
        <p:nvSpPr>
          <p:cNvPr id="2" name="Footer Placeholder 1">
            <a:extLst>
              <a:ext uri="{FF2B5EF4-FFF2-40B4-BE49-F238E27FC236}">
                <a16:creationId xmlns:a16="http://schemas.microsoft.com/office/drawing/2014/main" id="{C8C5CEDF-0DC5-DB43-A053-E3B9CD89D35D}"/>
              </a:ext>
            </a:extLst>
          </p:cNvPr>
          <p:cNvSpPr>
            <a:spLocks noGrp="1"/>
          </p:cNvSpPr>
          <p:nvPr>
            <p:ph type="ftr" sz="quarter" idx="11"/>
          </p:nvPr>
        </p:nvSpPr>
        <p:spPr/>
        <p:txBody>
          <a:bodyPr/>
          <a:lstStyle/>
          <a:p>
            <a:r>
              <a:rPr lang="en-US"/>
              <a:t>Engr. Melanie D. Piedad, ABELE 2022 Topnotcher</a:t>
            </a:r>
            <a:endParaRPr lang="en-US" dirty="0"/>
          </a:p>
        </p:txBody>
      </p:sp>
      <p:sp>
        <p:nvSpPr>
          <p:cNvPr id="3" name="Slide Number Placeholder 2">
            <a:extLst>
              <a:ext uri="{FF2B5EF4-FFF2-40B4-BE49-F238E27FC236}">
                <a16:creationId xmlns:a16="http://schemas.microsoft.com/office/drawing/2014/main" id="{55BB4CE9-EECC-18EF-6A30-7376C63B7C62}"/>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Tree>
    <p:extLst>
      <p:ext uri="{BB962C8B-B14F-4D97-AF65-F5344CB8AC3E}">
        <p14:creationId xmlns:p14="http://schemas.microsoft.com/office/powerpoint/2010/main" val="40040961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EDFA5F9-3B87-1E80-2C5A-DDFD36EED879}"/>
              </a:ext>
            </a:extLst>
          </p:cNvPr>
          <p:cNvSpPr txBox="1">
            <a:spLocks/>
          </p:cNvSpPr>
          <p:nvPr/>
        </p:nvSpPr>
        <p:spPr>
          <a:xfrm>
            <a:off x="947645" y="534990"/>
            <a:ext cx="8773871" cy="5312357"/>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rgbClr val="E18E2E"/>
                </a:solidFill>
                <a:latin typeface="Trebuchet MS" panose="020B0703020202090204" pitchFamily="34" charset="0"/>
              </a:rPr>
              <a:t>PERT and CPM</a:t>
            </a:r>
          </a:p>
          <a:p>
            <a:endParaRPr lang="en-US" sz="2000" b="1" dirty="0">
              <a:solidFill>
                <a:schemeClr val="accent1">
                  <a:lumMod val="50000"/>
                </a:schemeClr>
              </a:solidFill>
              <a:latin typeface="Trebuchet MS" panose="020B0703020202090204" pitchFamily="34" charset="0"/>
            </a:endParaRPr>
          </a:p>
          <a:p>
            <a:r>
              <a:rPr lang="en-US" sz="2000" b="1" dirty="0">
                <a:solidFill>
                  <a:schemeClr val="accent1">
                    <a:lumMod val="50000"/>
                  </a:schemeClr>
                </a:solidFill>
                <a:latin typeface="Trebuchet MS" panose="020B0703020202090204" pitchFamily="34" charset="0"/>
              </a:rPr>
              <a:t>PERT = Project/Program Evaluation and Review Technique</a:t>
            </a:r>
          </a:p>
          <a:p>
            <a:r>
              <a:rPr lang="en-US" sz="2000" b="1" dirty="0">
                <a:solidFill>
                  <a:schemeClr val="accent1">
                    <a:lumMod val="50000"/>
                  </a:schemeClr>
                </a:solidFill>
                <a:latin typeface="Trebuchet MS" panose="020B0703020202090204" pitchFamily="34" charset="0"/>
              </a:rPr>
              <a:t>CPM = Critical Path Method</a:t>
            </a:r>
          </a:p>
          <a:p>
            <a:endParaRPr lang="en-US" sz="2000" b="1" dirty="0">
              <a:solidFill>
                <a:schemeClr val="accent1">
                  <a:lumMod val="50000"/>
                </a:schemeClr>
              </a:solidFill>
              <a:latin typeface="Trebuchet MS" panose="020B0703020202090204" pitchFamily="34" charset="0"/>
            </a:endParaRPr>
          </a:p>
          <a:p>
            <a:endParaRPr lang="en-US" sz="2000" b="1" dirty="0">
              <a:solidFill>
                <a:schemeClr val="accent1">
                  <a:lumMod val="50000"/>
                </a:schemeClr>
              </a:solidFill>
              <a:latin typeface="Trebuchet MS" panose="020B0703020202090204" pitchFamily="34" charset="0"/>
            </a:endParaRPr>
          </a:p>
          <a:p>
            <a:pPr marL="457200" indent="-457200">
              <a:buFont typeface="Wingdings" pitchFamily="2" charset="2"/>
              <a:buChar char="q"/>
            </a:pPr>
            <a:endParaRPr lang="en-US" sz="2800" b="1" dirty="0">
              <a:solidFill>
                <a:schemeClr val="accent1">
                  <a:lumMod val="50000"/>
                </a:schemeClr>
              </a:solidFill>
              <a:latin typeface="Trebuchet MS" panose="020B0703020202090204" pitchFamily="34" charset="0"/>
            </a:endParaRPr>
          </a:p>
          <a:p>
            <a:pPr marL="457200" indent="-457200">
              <a:buFont typeface="Wingdings" pitchFamily="2" charset="2"/>
              <a:buChar char="q"/>
            </a:pPr>
            <a:endParaRPr lang="en-US" sz="2800" b="1" dirty="0">
              <a:solidFill>
                <a:schemeClr val="accent1">
                  <a:lumMod val="50000"/>
                </a:schemeClr>
              </a:solidFill>
              <a:latin typeface="Trebuchet MS" panose="020B0703020202090204" pitchFamily="34" charset="0"/>
            </a:endParaRPr>
          </a:p>
        </p:txBody>
      </p:sp>
      <p:pic>
        <p:nvPicPr>
          <p:cNvPr id="1028" name="Picture 4" descr="Difference Between PERT And CPM: Full Form">
            <a:extLst>
              <a:ext uri="{FF2B5EF4-FFF2-40B4-BE49-F238E27FC236}">
                <a16:creationId xmlns:a16="http://schemas.microsoft.com/office/drawing/2014/main" id="{36B10455-84E1-E3A4-B025-EA91C01BA0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116" y="2194203"/>
            <a:ext cx="7463590" cy="414643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445472F-5B03-691B-19BB-3B1C3886D9D7}"/>
              </a:ext>
            </a:extLst>
          </p:cNvPr>
          <p:cNvSpPr txBox="1"/>
          <p:nvPr/>
        </p:nvSpPr>
        <p:spPr>
          <a:xfrm>
            <a:off x="1187116" y="6323010"/>
            <a:ext cx="6100010" cy="307777"/>
          </a:xfrm>
          <a:prstGeom prst="rect">
            <a:avLst/>
          </a:prstGeom>
          <a:noFill/>
        </p:spPr>
        <p:txBody>
          <a:bodyPr wrap="square">
            <a:spAutoFit/>
          </a:bodyPr>
          <a:lstStyle/>
          <a:p>
            <a:r>
              <a:rPr lang="en-US" sz="1400" dirty="0"/>
              <a:t>https://</a:t>
            </a:r>
            <a:r>
              <a:rPr lang="en-US" sz="1400" dirty="0" err="1"/>
              <a:t>images.app.goo.gl</a:t>
            </a:r>
            <a:r>
              <a:rPr lang="en-US" sz="1400" dirty="0"/>
              <a:t>/awEGYMKt9xdebQFz7</a:t>
            </a:r>
          </a:p>
        </p:txBody>
      </p:sp>
      <p:sp>
        <p:nvSpPr>
          <p:cNvPr id="2" name="Footer Placeholder 1">
            <a:extLst>
              <a:ext uri="{FF2B5EF4-FFF2-40B4-BE49-F238E27FC236}">
                <a16:creationId xmlns:a16="http://schemas.microsoft.com/office/drawing/2014/main" id="{367AAF27-170E-1739-1D61-2948379FDA2F}"/>
              </a:ext>
            </a:extLst>
          </p:cNvPr>
          <p:cNvSpPr>
            <a:spLocks noGrp="1"/>
          </p:cNvSpPr>
          <p:nvPr>
            <p:ph type="ftr" sz="quarter" idx="11"/>
          </p:nvPr>
        </p:nvSpPr>
        <p:spPr/>
        <p:txBody>
          <a:bodyPr/>
          <a:lstStyle/>
          <a:p>
            <a:r>
              <a:rPr lang="en-US"/>
              <a:t>Engr. Melanie D. Piedad, ABELE 2022 Topnotcher</a:t>
            </a:r>
            <a:endParaRPr lang="en-US" dirty="0"/>
          </a:p>
        </p:txBody>
      </p:sp>
      <p:sp>
        <p:nvSpPr>
          <p:cNvPr id="4" name="Slide Number Placeholder 3">
            <a:extLst>
              <a:ext uri="{FF2B5EF4-FFF2-40B4-BE49-F238E27FC236}">
                <a16:creationId xmlns:a16="http://schemas.microsoft.com/office/drawing/2014/main" id="{588437EF-0C10-A172-1B00-A58F8E56D60B}"/>
              </a:ext>
            </a:extLst>
          </p:cNvPr>
          <p:cNvSpPr>
            <a:spLocks noGrp="1"/>
          </p:cNvSpPr>
          <p:nvPr>
            <p:ph type="sldNum" sz="quarter" idx="12"/>
          </p:nvPr>
        </p:nvSpPr>
        <p:spPr/>
        <p:txBody>
          <a:bodyPr/>
          <a:lstStyle/>
          <a:p>
            <a:fld id="{D57F1E4F-1CFF-5643-939E-217C01CDF565}" type="slidenum">
              <a:rPr lang="en-US" smtClean="0"/>
              <a:pPr/>
              <a:t>5</a:t>
            </a:fld>
            <a:endParaRPr lang="en-US" dirty="0"/>
          </a:p>
        </p:txBody>
      </p:sp>
    </p:spTree>
    <p:extLst>
      <p:ext uri="{BB962C8B-B14F-4D97-AF65-F5344CB8AC3E}">
        <p14:creationId xmlns:p14="http://schemas.microsoft.com/office/powerpoint/2010/main" val="15664494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EDFA5F9-3B87-1E80-2C5A-DDFD36EED879}"/>
              </a:ext>
            </a:extLst>
          </p:cNvPr>
          <p:cNvSpPr txBox="1">
            <a:spLocks/>
          </p:cNvSpPr>
          <p:nvPr/>
        </p:nvSpPr>
        <p:spPr>
          <a:xfrm>
            <a:off x="947645" y="534990"/>
            <a:ext cx="8773871" cy="5312357"/>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rgbClr val="E18E2E"/>
                </a:solidFill>
                <a:latin typeface="Trebuchet MS" panose="020B0703020202090204" pitchFamily="34" charset="0"/>
              </a:rPr>
              <a:t>PERT and CPM</a:t>
            </a:r>
          </a:p>
          <a:p>
            <a:endParaRPr lang="en-US" sz="2000" b="1" dirty="0">
              <a:solidFill>
                <a:schemeClr val="accent1">
                  <a:lumMod val="50000"/>
                </a:schemeClr>
              </a:solidFill>
              <a:latin typeface="Trebuchet MS" panose="020B0703020202090204" pitchFamily="34" charset="0"/>
            </a:endParaRPr>
          </a:p>
          <a:p>
            <a:r>
              <a:rPr lang="en-US" sz="2000" b="1" dirty="0">
                <a:solidFill>
                  <a:schemeClr val="accent1">
                    <a:lumMod val="50000"/>
                  </a:schemeClr>
                </a:solidFill>
                <a:latin typeface="Trebuchet MS" panose="020B0703020202090204" pitchFamily="34" charset="0"/>
              </a:rPr>
              <a:t>PERT = Project Evaluation and Review Technique</a:t>
            </a:r>
          </a:p>
          <a:p>
            <a:r>
              <a:rPr lang="en-US" sz="2000" b="1" dirty="0">
                <a:solidFill>
                  <a:schemeClr val="accent1">
                    <a:lumMod val="50000"/>
                  </a:schemeClr>
                </a:solidFill>
                <a:latin typeface="Trebuchet MS" panose="020B0703020202090204" pitchFamily="34" charset="0"/>
              </a:rPr>
              <a:t>CPM = Critical Path Method</a:t>
            </a:r>
          </a:p>
          <a:p>
            <a:endParaRPr lang="en-US" sz="2000" b="1" dirty="0">
              <a:solidFill>
                <a:schemeClr val="accent1">
                  <a:lumMod val="50000"/>
                </a:schemeClr>
              </a:solidFill>
              <a:latin typeface="Trebuchet MS" panose="020B0703020202090204" pitchFamily="34" charset="0"/>
            </a:endParaRPr>
          </a:p>
          <a:p>
            <a:endParaRPr lang="en-US" sz="2000" b="1" dirty="0">
              <a:solidFill>
                <a:schemeClr val="accent1">
                  <a:lumMod val="50000"/>
                </a:schemeClr>
              </a:solidFill>
              <a:latin typeface="Trebuchet MS" panose="020B0703020202090204" pitchFamily="34" charset="0"/>
            </a:endParaRPr>
          </a:p>
          <a:p>
            <a:pPr marL="457200" indent="-457200">
              <a:buFont typeface="Wingdings" pitchFamily="2" charset="2"/>
              <a:buChar char="q"/>
            </a:pPr>
            <a:endParaRPr lang="en-US" sz="2800" b="1" dirty="0">
              <a:solidFill>
                <a:schemeClr val="accent1">
                  <a:lumMod val="50000"/>
                </a:schemeClr>
              </a:solidFill>
              <a:latin typeface="Trebuchet MS" panose="020B0703020202090204" pitchFamily="34" charset="0"/>
            </a:endParaRPr>
          </a:p>
          <a:p>
            <a:pPr marL="457200" indent="-457200">
              <a:buFont typeface="Wingdings" pitchFamily="2" charset="2"/>
              <a:buChar char="q"/>
            </a:pPr>
            <a:endParaRPr lang="en-US" sz="2800" b="1" dirty="0">
              <a:solidFill>
                <a:schemeClr val="accent1">
                  <a:lumMod val="50000"/>
                </a:schemeClr>
              </a:solidFill>
              <a:latin typeface="Trebuchet MS" panose="020B0703020202090204" pitchFamily="34" charset="0"/>
            </a:endParaRPr>
          </a:p>
        </p:txBody>
      </p:sp>
      <p:pic>
        <p:nvPicPr>
          <p:cNvPr id="4098" name="Picture 2" descr="PERT v/s CPM">
            <a:extLst>
              <a:ext uri="{FF2B5EF4-FFF2-40B4-BE49-F238E27FC236}">
                <a16:creationId xmlns:a16="http://schemas.microsoft.com/office/drawing/2014/main" id="{293591E6-BE6F-EE27-C6C6-08547D7908B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68" t="27895" b="10702"/>
          <a:stretch/>
        </p:blipFill>
        <p:spPr bwMode="auto">
          <a:xfrm>
            <a:off x="1828800" y="2249906"/>
            <a:ext cx="6613358" cy="421105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37136F5-52A8-FD35-C562-3F78396B14CC}"/>
              </a:ext>
            </a:extLst>
          </p:cNvPr>
          <p:cNvSpPr txBox="1"/>
          <p:nvPr/>
        </p:nvSpPr>
        <p:spPr>
          <a:xfrm>
            <a:off x="1702466" y="6460960"/>
            <a:ext cx="5841333" cy="307777"/>
          </a:xfrm>
          <a:prstGeom prst="rect">
            <a:avLst/>
          </a:prstGeom>
          <a:noFill/>
        </p:spPr>
        <p:txBody>
          <a:bodyPr wrap="square">
            <a:spAutoFit/>
          </a:bodyPr>
          <a:lstStyle/>
          <a:p>
            <a:r>
              <a:rPr lang="en-US" sz="1400" dirty="0"/>
              <a:t>https://</a:t>
            </a:r>
            <a:r>
              <a:rPr lang="en-US" sz="1400" dirty="0" err="1"/>
              <a:t>images.app.goo.gl</a:t>
            </a:r>
            <a:r>
              <a:rPr lang="en-US" sz="1400" dirty="0"/>
              <a:t>/5ZzWHxcfEaQ2Zg4R9</a:t>
            </a:r>
          </a:p>
        </p:txBody>
      </p:sp>
      <p:sp>
        <p:nvSpPr>
          <p:cNvPr id="2" name="Footer Placeholder 1">
            <a:extLst>
              <a:ext uri="{FF2B5EF4-FFF2-40B4-BE49-F238E27FC236}">
                <a16:creationId xmlns:a16="http://schemas.microsoft.com/office/drawing/2014/main" id="{D523FD9E-E3BA-EB3A-D0D1-211001FCA64B}"/>
              </a:ext>
            </a:extLst>
          </p:cNvPr>
          <p:cNvSpPr>
            <a:spLocks noGrp="1"/>
          </p:cNvSpPr>
          <p:nvPr>
            <p:ph type="ftr" sz="quarter" idx="11"/>
          </p:nvPr>
        </p:nvSpPr>
        <p:spPr/>
        <p:txBody>
          <a:bodyPr/>
          <a:lstStyle/>
          <a:p>
            <a:r>
              <a:rPr lang="en-US"/>
              <a:t>Engr. Melanie D. Piedad, ABELE 2022 Topnotcher</a:t>
            </a:r>
            <a:endParaRPr lang="en-US" dirty="0"/>
          </a:p>
        </p:txBody>
      </p:sp>
      <p:sp>
        <p:nvSpPr>
          <p:cNvPr id="4" name="Slide Number Placeholder 3">
            <a:extLst>
              <a:ext uri="{FF2B5EF4-FFF2-40B4-BE49-F238E27FC236}">
                <a16:creationId xmlns:a16="http://schemas.microsoft.com/office/drawing/2014/main" id="{A8E3D8D2-935F-A30D-BEF0-3CBCD612A5DF}"/>
              </a:ext>
            </a:extLst>
          </p:cNvPr>
          <p:cNvSpPr>
            <a:spLocks noGrp="1"/>
          </p:cNvSpPr>
          <p:nvPr>
            <p:ph type="sldNum" sz="quarter" idx="12"/>
          </p:nvPr>
        </p:nvSpPr>
        <p:spPr/>
        <p:txBody>
          <a:bodyPr/>
          <a:lstStyle/>
          <a:p>
            <a:fld id="{D57F1E4F-1CFF-5643-939E-217C01CDF565}" type="slidenum">
              <a:rPr lang="en-US" smtClean="0"/>
              <a:pPr/>
              <a:t>6</a:t>
            </a:fld>
            <a:endParaRPr lang="en-US" dirty="0"/>
          </a:p>
        </p:txBody>
      </p:sp>
    </p:spTree>
    <p:extLst>
      <p:ext uri="{BB962C8B-B14F-4D97-AF65-F5344CB8AC3E}">
        <p14:creationId xmlns:p14="http://schemas.microsoft.com/office/powerpoint/2010/main" val="29666704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EDFA5F9-3B87-1E80-2C5A-DDFD36EED879}"/>
              </a:ext>
            </a:extLst>
          </p:cNvPr>
          <p:cNvSpPr txBox="1">
            <a:spLocks/>
          </p:cNvSpPr>
          <p:nvPr/>
        </p:nvSpPr>
        <p:spPr>
          <a:xfrm>
            <a:off x="947645" y="534990"/>
            <a:ext cx="8773871" cy="5312357"/>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rgbClr val="E18E2E"/>
                </a:solidFill>
                <a:latin typeface="Trebuchet MS" panose="020B0703020202090204" pitchFamily="34" charset="0"/>
              </a:rPr>
              <a:t>PERT and CPM</a:t>
            </a:r>
          </a:p>
          <a:p>
            <a:endParaRPr lang="en-US" sz="2000" b="1" u="sng" dirty="0">
              <a:solidFill>
                <a:schemeClr val="accent1">
                  <a:lumMod val="50000"/>
                </a:schemeClr>
              </a:solidFill>
              <a:latin typeface="Trebuchet MS" panose="020B0703020202090204" pitchFamily="34" charset="0"/>
            </a:endParaRPr>
          </a:p>
          <a:p>
            <a:pPr algn="just"/>
            <a:r>
              <a:rPr lang="en-US" sz="2000" b="1" u="sng" dirty="0">
                <a:solidFill>
                  <a:schemeClr val="accent1">
                    <a:lumMod val="50000"/>
                  </a:schemeClr>
                </a:solidFill>
                <a:latin typeface="Trebuchet MS" panose="020B0703020202090204" pitchFamily="34" charset="0"/>
              </a:rPr>
              <a:t>PERT</a:t>
            </a:r>
            <a:r>
              <a:rPr lang="en-US" sz="2000" b="1" dirty="0">
                <a:solidFill>
                  <a:schemeClr val="accent1">
                    <a:lumMod val="50000"/>
                  </a:schemeClr>
                </a:solidFill>
                <a:latin typeface="Trebuchet MS" panose="020B0703020202090204" pitchFamily="34" charset="0"/>
              </a:rPr>
              <a:t> </a:t>
            </a:r>
            <a:r>
              <a:rPr lang="en-US" sz="2000" dirty="0">
                <a:solidFill>
                  <a:schemeClr val="accent1">
                    <a:lumMod val="50000"/>
                  </a:schemeClr>
                </a:solidFill>
                <a:latin typeface="Trebuchet MS" panose="020B0703020202090204" pitchFamily="34" charset="0"/>
              </a:rPr>
              <a:t>focuses on events and milestones, reporting data based on completed objectives, making it most useful for planners and policy-makers involved in the project. </a:t>
            </a:r>
          </a:p>
          <a:p>
            <a:pPr algn="just"/>
            <a:endParaRPr lang="en-US" sz="2000" dirty="0">
              <a:solidFill>
                <a:schemeClr val="accent1">
                  <a:lumMod val="50000"/>
                </a:schemeClr>
              </a:solidFill>
              <a:latin typeface="Trebuchet MS" panose="020B0703020202090204" pitchFamily="34" charset="0"/>
            </a:endParaRPr>
          </a:p>
          <a:p>
            <a:pPr algn="just"/>
            <a:r>
              <a:rPr lang="en-US" sz="2000" b="1" u="sng" dirty="0">
                <a:solidFill>
                  <a:schemeClr val="accent1">
                    <a:lumMod val="50000"/>
                  </a:schemeClr>
                </a:solidFill>
                <a:latin typeface="Trebuchet MS" panose="020B0703020202090204" pitchFamily="34" charset="0"/>
              </a:rPr>
              <a:t>CPM</a:t>
            </a:r>
            <a:r>
              <a:rPr lang="en-US" sz="2000" b="1" dirty="0">
                <a:solidFill>
                  <a:schemeClr val="accent1">
                    <a:lumMod val="50000"/>
                  </a:schemeClr>
                </a:solidFill>
                <a:latin typeface="Trebuchet MS" panose="020B0703020202090204" pitchFamily="34" charset="0"/>
              </a:rPr>
              <a:t> </a:t>
            </a:r>
            <a:r>
              <a:rPr lang="en-US" sz="2000" dirty="0">
                <a:solidFill>
                  <a:schemeClr val="accent1">
                    <a:lumMod val="50000"/>
                  </a:schemeClr>
                </a:solidFill>
                <a:latin typeface="Trebuchet MS" panose="020B0703020202090204" pitchFamily="34" charset="0"/>
              </a:rPr>
              <a:t>is activity-oriented and provides data that helps evaluate work as it progresses, making it more beneficial for the operational team members. The preparation of an accurate network using CPM requires time, skills, familiarity with various aspects of the project, and a high degree of interaction among all participants.</a:t>
            </a:r>
          </a:p>
          <a:p>
            <a:endParaRPr lang="en-US" sz="2000" b="1" dirty="0">
              <a:solidFill>
                <a:schemeClr val="accent1">
                  <a:lumMod val="50000"/>
                </a:schemeClr>
              </a:solidFill>
              <a:latin typeface="Trebuchet MS" panose="020B0703020202090204" pitchFamily="34" charset="0"/>
            </a:endParaRPr>
          </a:p>
          <a:p>
            <a:pPr marL="457200" indent="-457200">
              <a:buFont typeface="Wingdings" pitchFamily="2" charset="2"/>
              <a:buChar char="q"/>
            </a:pPr>
            <a:endParaRPr lang="en-US" sz="2800" b="1" dirty="0">
              <a:solidFill>
                <a:schemeClr val="accent1">
                  <a:lumMod val="50000"/>
                </a:schemeClr>
              </a:solidFill>
              <a:latin typeface="Trebuchet MS" panose="020B0703020202090204" pitchFamily="34" charset="0"/>
            </a:endParaRPr>
          </a:p>
          <a:p>
            <a:pPr marL="457200" indent="-457200">
              <a:buFont typeface="Wingdings" pitchFamily="2" charset="2"/>
              <a:buChar char="q"/>
            </a:pPr>
            <a:endParaRPr lang="en-US" sz="2800" b="1" dirty="0">
              <a:solidFill>
                <a:schemeClr val="accent1">
                  <a:lumMod val="50000"/>
                </a:schemeClr>
              </a:solidFill>
              <a:latin typeface="Trebuchet MS" panose="020B0703020202090204" pitchFamily="34" charset="0"/>
            </a:endParaRPr>
          </a:p>
        </p:txBody>
      </p:sp>
      <p:sp>
        <p:nvSpPr>
          <p:cNvPr id="2" name="Footer Placeholder 1">
            <a:extLst>
              <a:ext uri="{FF2B5EF4-FFF2-40B4-BE49-F238E27FC236}">
                <a16:creationId xmlns:a16="http://schemas.microsoft.com/office/drawing/2014/main" id="{ECF74C51-5CA8-6D6D-EDD5-40FBB88C42C9}"/>
              </a:ext>
            </a:extLst>
          </p:cNvPr>
          <p:cNvSpPr>
            <a:spLocks noGrp="1"/>
          </p:cNvSpPr>
          <p:nvPr>
            <p:ph type="ftr" sz="quarter" idx="11"/>
          </p:nvPr>
        </p:nvSpPr>
        <p:spPr/>
        <p:txBody>
          <a:bodyPr/>
          <a:lstStyle/>
          <a:p>
            <a:r>
              <a:rPr lang="en-US"/>
              <a:t>Engr. Melanie D. Piedad, ABELE 2022 Topnotcher</a:t>
            </a:r>
            <a:endParaRPr lang="en-US" dirty="0"/>
          </a:p>
        </p:txBody>
      </p:sp>
      <p:sp>
        <p:nvSpPr>
          <p:cNvPr id="3" name="Slide Number Placeholder 2">
            <a:extLst>
              <a:ext uri="{FF2B5EF4-FFF2-40B4-BE49-F238E27FC236}">
                <a16:creationId xmlns:a16="http://schemas.microsoft.com/office/drawing/2014/main" id="{F6C3D8D1-3CEA-DF11-9976-68ED54A740BD}"/>
              </a:ext>
            </a:extLst>
          </p:cNvPr>
          <p:cNvSpPr>
            <a:spLocks noGrp="1"/>
          </p:cNvSpPr>
          <p:nvPr>
            <p:ph type="sldNum" sz="quarter" idx="12"/>
          </p:nvPr>
        </p:nvSpPr>
        <p:spPr/>
        <p:txBody>
          <a:bodyPr/>
          <a:lstStyle/>
          <a:p>
            <a:fld id="{D57F1E4F-1CFF-5643-939E-217C01CDF565}" type="slidenum">
              <a:rPr lang="en-US" smtClean="0"/>
              <a:pPr/>
              <a:t>7</a:t>
            </a:fld>
            <a:endParaRPr lang="en-US" dirty="0"/>
          </a:p>
        </p:txBody>
      </p:sp>
    </p:spTree>
    <p:extLst>
      <p:ext uri="{BB962C8B-B14F-4D97-AF65-F5344CB8AC3E}">
        <p14:creationId xmlns:p14="http://schemas.microsoft.com/office/powerpoint/2010/main" val="570789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EDFA5F9-3B87-1E80-2C5A-DDFD36EED879}"/>
              </a:ext>
            </a:extLst>
          </p:cNvPr>
          <p:cNvSpPr txBox="1">
            <a:spLocks/>
          </p:cNvSpPr>
          <p:nvPr/>
        </p:nvSpPr>
        <p:spPr>
          <a:xfrm>
            <a:off x="947645" y="534990"/>
            <a:ext cx="8773871" cy="5913936"/>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rgbClr val="E18E2E"/>
                </a:solidFill>
                <a:latin typeface="Trebuchet MS" panose="020B0703020202090204" pitchFamily="34" charset="0"/>
              </a:rPr>
              <a:t>PERT and CPM</a:t>
            </a:r>
          </a:p>
          <a:p>
            <a:endParaRPr lang="en-US" sz="2000" b="1" u="sng" dirty="0">
              <a:solidFill>
                <a:schemeClr val="accent1">
                  <a:lumMod val="50000"/>
                </a:schemeClr>
              </a:solidFill>
              <a:latin typeface="Trebuchet MS" panose="020B0703020202090204" pitchFamily="34" charset="0"/>
            </a:endParaRPr>
          </a:p>
          <a:p>
            <a:pPr algn="just"/>
            <a:r>
              <a:rPr lang="en-US" sz="2000" b="1" u="sng" dirty="0">
                <a:solidFill>
                  <a:schemeClr val="accent1">
                    <a:lumMod val="50000"/>
                  </a:schemeClr>
                </a:solidFill>
                <a:latin typeface="Trebuchet MS" panose="020B0703020202090204" pitchFamily="34" charset="0"/>
              </a:rPr>
              <a:t>PERT and CPM</a:t>
            </a:r>
            <a:r>
              <a:rPr lang="en-US" sz="2000" dirty="0">
                <a:solidFill>
                  <a:schemeClr val="accent1">
                    <a:lumMod val="50000"/>
                  </a:schemeClr>
                </a:solidFill>
                <a:latin typeface="Trebuchet MS" panose="020B0703020202090204" pitchFamily="34" charset="0"/>
              </a:rPr>
              <a:t> has two major components:</a:t>
            </a:r>
          </a:p>
          <a:p>
            <a:pPr algn="just"/>
            <a:endParaRPr lang="en-US" sz="2000" b="1" dirty="0">
              <a:solidFill>
                <a:schemeClr val="accent1">
                  <a:lumMod val="50000"/>
                </a:schemeClr>
              </a:solidFill>
              <a:latin typeface="Trebuchet MS" panose="020B0703020202090204" pitchFamily="34" charset="0"/>
            </a:endParaRPr>
          </a:p>
          <a:p>
            <a:pPr marL="457200" indent="-457200" algn="just">
              <a:buAutoNum type="arabicPeriod"/>
            </a:pPr>
            <a:r>
              <a:rPr lang="en-US" sz="2000" b="1" dirty="0">
                <a:solidFill>
                  <a:schemeClr val="accent1">
                    <a:lumMod val="50000"/>
                  </a:schemeClr>
                </a:solidFill>
                <a:latin typeface="Trebuchet MS" panose="020B0703020202090204" pitchFamily="34" charset="0"/>
              </a:rPr>
              <a:t>Activity</a:t>
            </a:r>
          </a:p>
          <a:p>
            <a:pPr marL="457200" indent="-457200" algn="just">
              <a:buAutoNum type="arabicPeriod"/>
            </a:pPr>
            <a:r>
              <a:rPr lang="en-US" sz="2000" b="1" dirty="0">
                <a:solidFill>
                  <a:schemeClr val="accent1">
                    <a:lumMod val="50000"/>
                  </a:schemeClr>
                </a:solidFill>
                <a:latin typeface="Trebuchet MS" panose="020B0703020202090204" pitchFamily="34" charset="0"/>
              </a:rPr>
              <a:t>Event</a:t>
            </a: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algn="just"/>
            <a:endParaRPr lang="en-US" sz="2000" b="1" dirty="0">
              <a:solidFill>
                <a:schemeClr val="accent1">
                  <a:lumMod val="50000"/>
                </a:schemeClr>
              </a:solidFill>
              <a:latin typeface="Trebuchet MS" panose="020B0703020202090204" pitchFamily="34" charset="0"/>
            </a:endParaRPr>
          </a:p>
          <a:p>
            <a:pPr algn="just"/>
            <a:r>
              <a:rPr lang="en-US" sz="2000" b="1" dirty="0">
                <a:solidFill>
                  <a:schemeClr val="accent1">
                    <a:lumMod val="50000"/>
                  </a:schemeClr>
                </a:solidFill>
                <a:latin typeface="Trebuchet MS" panose="020B0703020202090204" pitchFamily="34" charset="0"/>
              </a:rPr>
              <a:t>“A” is the activity: an action and consumption of resources (time, money) required to complete a portion of project, represented by an arrow.</a:t>
            </a:r>
          </a:p>
          <a:p>
            <a:pPr algn="just"/>
            <a:endParaRPr lang="en-US" sz="2000" b="1" dirty="0">
              <a:solidFill>
                <a:schemeClr val="accent1">
                  <a:lumMod val="50000"/>
                </a:schemeClr>
              </a:solidFill>
              <a:latin typeface="Trebuchet MS" panose="020B0703020202090204" pitchFamily="34" charset="0"/>
            </a:endParaRPr>
          </a:p>
          <a:p>
            <a:pPr algn="just"/>
            <a:r>
              <a:rPr lang="en-US" sz="2000" b="1" dirty="0">
                <a:solidFill>
                  <a:schemeClr val="accent1">
                    <a:lumMod val="50000"/>
                  </a:schemeClr>
                </a:solidFill>
                <a:latin typeface="Trebuchet MS" panose="020B0703020202090204" pitchFamily="34" charset="0"/>
              </a:rPr>
              <a:t>“</a:t>
            </a:r>
            <a:r>
              <a:rPr lang="en-US" sz="2000" b="1" dirty="0" err="1">
                <a:solidFill>
                  <a:schemeClr val="accent1">
                    <a:lumMod val="50000"/>
                  </a:schemeClr>
                </a:solidFill>
                <a:latin typeface="Trebuchet MS" panose="020B0703020202090204" pitchFamily="34" charset="0"/>
              </a:rPr>
              <a:t>i</a:t>
            </a:r>
            <a:r>
              <a:rPr lang="en-US" sz="2000" b="1" dirty="0">
                <a:solidFill>
                  <a:schemeClr val="accent1">
                    <a:lumMod val="50000"/>
                  </a:schemeClr>
                </a:solidFill>
                <a:latin typeface="Trebuchet MS" panose="020B0703020202090204" pitchFamily="34" charset="0"/>
              </a:rPr>
              <a:t>” and “j” are the events or nodes: they will always occur at the beginning and end of an activity.</a:t>
            </a:r>
            <a:endParaRPr lang="en-US" sz="2800" b="1" dirty="0">
              <a:solidFill>
                <a:schemeClr val="accent1">
                  <a:lumMod val="50000"/>
                </a:schemeClr>
              </a:solidFill>
              <a:latin typeface="Trebuchet MS" panose="020B0703020202090204" pitchFamily="34" charset="0"/>
            </a:endParaRPr>
          </a:p>
          <a:p>
            <a:pPr marL="457200" indent="-457200">
              <a:buFont typeface="Wingdings" pitchFamily="2" charset="2"/>
              <a:buChar char="q"/>
            </a:pPr>
            <a:endParaRPr lang="en-US" sz="2800" b="1" dirty="0">
              <a:solidFill>
                <a:schemeClr val="accent1">
                  <a:lumMod val="50000"/>
                </a:schemeClr>
              </a:solidFill>
              <a:latin typeface="Trebuchet MS" panose="020B0703020202090204" pitchFamily="34" charset="0"/>
            </a:endParaRPr>
          </a:p>
        </p:txBody>
      </p:sp>
      <p:sp>
        <p:nvSpPr>
          <p:cNvPr id="3" name="Oval 2">
            <a:extLst>
              <a:ext uri="{FF2B5EF4-FFF2-40B4-BE49-F238E27FC236}">
                <a16:creationId xmlns:a16="http://schemas.microsoft.com/office/drawing/2014/main" id="{55FA2944-EDCB-9C09-6906-A62A19671245}"/>
              </a:ext>
            </a:extLst>
          </p:cNvPr>
          <p:cNvSpPr/>
          <p:nvPr/>
        </p:nvSpPr>
        <p:spPr>
          <a:xfrm>
            <a:off x="3217639" y="2344901"/>
            <a:ext cx="842211" cy="8422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i</a:t>
            </a:r>
            <a:endParaRPr lang="en-US" dirty="0">
              <a:solidFill>
                <a:schemeClr val="tx1"/>
              </a:solidFill>
            </a:endParaRPr>
          </a:p>
        </p:txBody>
      </p:sp>
      <p:sp>
        <p:nvSpPr>
          <p:cNvPr id="4" name="Oval 3">
            <a:extLst>
              <a:ext uri="{FF2B5EF4-FFF2-40B4-BE49-F238E27FC236}">
                <a16:creationId xmlns:a16="http://schemas.microsoft.com/office/drawing/2014/main" id="{C13E94DB-3033-3DAC-91F2-8BCED9BBC5CC}"/>
              </a:ext>
            </a:extLst>
          </p:cNvPr>
          <p:cNvSpPr/>
          <p:nvPr/>
        </p:nvSpPr>
        <p:spPr>
          <a:xfrm>
            <a:off x="6811070" y="2344901"/>
            <a:ext cx="842211" cy="8422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j</a:t>
            </a:r>
          </a:p>
        </p:txBody>
      </p:sp>
      <p:sp>
        <p:nvSpPr>
          <p:cNvPr id="8" name="TextBox 7">
            <a:extLst>
              <a:ext uri="{FF2B5EF4-FFF2-40B4-BE49-F238E27FC236}">
                <a16:creationId xmlns:a16="http://schemas.microsoft.com/office/drawing/2014/main" id="{1874036E-FDD6-E0F6-DABD-9AD45DC32614}"/>
              </a:ext>
            </a:extLst>
          </p:cNvPr>
          <p:cNvSpPr txBox="1"/>
          <p:nvPr/>
        </p:nvSpPr>
        <p:spPr>
          <a:xfrm>
            <a:off x="5188813" y="2182474"/>
            <a:ext cx="493294" cy="461665"/>
          </a:xfrm>
          <a:prstGeom prst="rect">
            <a:avLst/>
          </a:prstGeom>
          <a:noFill/>
        </p:spPr>
        <p:txBody>
          <a:bodyPr wrap="square" rtlCol="0">
            <a:spAutoFit/>
          </a:bodyPr>
          <a:lstStyle/>
          <a:p>
            <a:pPr algn="ctr"/>
            <a:r>
              <a:rPr lang="en-US" sz="2400" dirty="0"/>
              <a:t>A</a:t>
            </a:r>
          </a:p>
        </p:txBody>
      </p:sp>
      <p:cxnSp>
        <p:nvCxnSpPr>
          <p:cNvPr id="10" name="Straight Arrow Connector 9">
            <a:extLst>
              <a:ext uri="{FF2B5EF4-FFF2-40B4-BE49-F238E27FC236}">
                <a16:creationId xmlns:a16="http://schemas.microsoft.com/office/drawing/2014/main" id="{B5CA850F-EC89-14C3-630C-B5EEE772FC9D}"/>
              </a:ext>
            </a:extLst>
          </p:cNvPr>
          <p:cNvCxnSpPr>
            <a:endCxn id="4" idx="2"/>
          </p:cNvCxnSpPr>
          <p:nvPr/>
        </p:nvCxnSpPr>
        <p:spPr>
          <a:xfrm>
            <a:off x="4059850" y="2766006"/>
            <a:ext cx="2751220"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5DEBD955-D893-D3F7-3A42-BBE16B5D71BE}"/>
              </a:ext>
            </a:extLst>
          </p:cNvPr>
          <p:cNvSpPr>
            <a:spLocks noGrp="1"/>
          </p:cNvSpPr>
          <p:nvPr>
            <p:ph type="ftr" sz="quarter" idx="11"/>
          </p:nvPr>
        </p:nvSpPr>
        <p:spPr/>
        <p:txBody>
          <a:bodyPr/>
          <a:lstStyle/>
          <a:p>
            <a:r>
              <a:rPr lang="en-US"/>
              <a:t>Engr. Melanie D. Piedad, ABELE 2022 Topnotcher</a:t>
            </a:r>
            <a:endParaRPr lang="en-US" dirty="0"/>
          </a:p>
        </p:txBody>
      </p:sp>
      <p:sp>
        <p:nvSpPr>
          <p:cNvPr id="5" name="Slide Number Placeholder 4">
            <a:extLst>
              <a:ext uri="{FF2B5EF4-FFF2-40B4-BE49-F238E27FC236}">
                <a16:creationId xmlns:a16="http://schemas.microsoft.com/office/drawing/2014/main" id="{1152F96B-4948-3448-62A8-0993CD2185CE}"/>
              </a:ext>
            </a:extLst>
          </p:cNvPr>
          <p:cNvSpPr>
            <a:spLocks noGrp="1"/>
          </p:cNvSpPr>
          <p:nvPr>
            <p:ph type="sldNum" sz="quarter" idx="12"/>
          </p:nvPr>
        </p:nvSpPr>
        <p:spPr/>
        <p:txBody>
          <a:bodyPr/>
          <a:lstStyle/>
          <a:p>
            <a:fld id="{D57F1E4F-1CFF-5643-939E-217C01CDF565}" type="slidenum">
              <a:rPr lang="en-US" smtClean="0"/>
              <a:pPr/>
              <a:t>8</a:t>
            </a:fld>
            <a:endParaRPr lang="en-US" dirty="0"/>
          </a:p>
        </p:txBody>
      </p:sp>
    </p:spTree>
    <p:extLst>
      <p:ext uri="{BB962C8B-B14F-4D97-AF65-F5344CB8AC3E}">
        <p14:creationId xmlns:p14="http://schemas.microsoft.com/office/powerpoint/2010/main" val="1219845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EDFA5F9-3B87-1E80-2C5A-DDFD36EED879}"/>
              </a:ext>
            </a:extLst>
          </p:cNvPr>
          <p:cNvSpPr txBox="1">
            <a:spLocks/>
          </p:cNvSpPr>
          <p:nvPr/>
        </p:nvSpPr>
        <p:spPr>
          <a:xfrm>
            <a:off x="947645" y="534990"/>
            <a:ext cx="8773871" cy="5913936"/>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rgbClr val="E18E2E"/>
                </a:solidFill>
                <a:latin typeface="Trebuchet MS" panose="020B0703020202090204" pitchFamily="34" charset="0"/>
              </a:rPr>
              <a:t>PERT and CPM</a:t>
            </a:r>
          </a:p>
          <a:p>
            <a:endParaRPr lang="en-US" sz="2000" b="1" u="sng" dirty="0">
              <a:solidFill>
                <a:schemeClr val="accent1">
                  <a:lumMod val="50000"/>
                </a:schemeClr>
              </a:solidFill>
              <a:latin typeface="Trebuchet MS" panose="020B0703020202090204" pitchFamily="34" charset="0"/>
            </a:endParaRPr>
          </a:p>
          <a:p>
            <a:pPr algn="just"/>
            <a:r>
              <a:rPr lang="en-US" sz="2000" b="1" dirty="0">
                <a:solidFill>
                  <a:schemeClr val="accent1">
                    <a:lumMod val="50000"/>
                  </a:schemeClr>
                </a:solidFill>
                <a:latin typeface="Trebuchet MS" panose="020B0703020202090204" pitchFamily="34" charset="0"/>
              </a:rPr>
              <a:t>Note that one or more activities can start and end simultaneously at an event.</a:t>
            </a: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algn="just"/>
            <a:r>
              <a:rPr lang="en-US" sz="2000" b="1" dirty="0">
                <a:solidFill>
                  <a:schemeClr val="accent1">
                    <a:lumMod val="50000"/>
                  </a:schemeClr>
                </a:solidFill>
                <a:latin typeface="Trebuchet MS" panose="020B0703020202090204" pitchFamily="34" charset="0"/>
              </a:rPr>
              <a:t>		Merge event							Burst event</a:t>
            </a:r>
          </a:p>
          <a:p>
            <a:pPr algn="just"/>
            <a:endParaRPr lang="en-US" sz="2000" b="1" dirty="0">
              <a:solidFill>
                <a:schemeClr val="accent1">
                  <a:lumMod val="50000"/>
                </a:schemeClr>
              </a:solidFill>
              <a:latin typeface="Trebuchet MS" panose="020B0703020202090204" pitchFamily="34" charset="0"/>
            </a:endParaRPr>
          </a:p>
          <a:p>
            <a:pPr marL="457200" indent="-457200">
              <a:buFont typeface="Wingdings" pitchFamily="2" charset="2"/>
              <a:buChar char="q"/>
            </a:pPr>
            <a:endParaRPr lang="en-US" sz="2800" b="1" dirty="0">
              <a:solidFill>
                <a:schemeClr val="accent1">
                  <a:lumMod val="50000"/>
                </a:schemeClr>
              </a:solidFill>
              <a:latin typeface="Trebuchet MS" panose="020B0703020202090204" pitchFamily="34" charset="0"/>
            </a:endParaRPr>
          </a:p>
        </p:txBody>
      </p:sp>
      <p:sp>
        <p:nvSpPr>
          <p:cNvPr id="3" name="Oval 2">
            <a:extLst>
              <a:ext uri="{FF2B5EF4-FFF2-40B4-BE49-F238E27FC236}">
                <a16:creationId xmlns:a16="http://schemas.microsoft.com/office/drawing/2014/main" id="{55FA2944-EDCB-9C09-6906-A62A19671245}"/>
              </a:ext>
            </a:extLst>
          </p:cNvPr>
          <p:cNvSpPr/>
          <p:nvPr/>
        </p:nvSpPr>
        <p:spPr>
          <a:xfrm>
            <a:off x="3012922" y="3327540"/>
            <a:ext cx="842211" cy="8422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i</a:t>
            </a:r>
            <a:endParaRPr lang="en-US" dirty="0">
              <a:solidFill>
                <a:schemeClr val="tx1"/>
              </a:solidFill>
            </a:endParaRPr>
          </a:p>
        </p:txBody>
      </p:sp>
      <p:sp>
        <p:nvSpPr>
          <p:cNvPr id="4" name="Oval 3">
            <a:extLst>
              <a:ext uri="{FF2B5EF4-FFF2-40B4-BE49-F238E27FC236}">
                <a16:creationId xmlns:a16="http://schemas.microsoft.com/office/drawing/2014/main" id="{C13E94DB-3033-3DAC-91F2-8BCED9BBC5CC}"/>
              </a:ext>
            </a:extLst>
          </p:cNvPr>
          <p:cNvSpPr/>
          <p:nvPr/>
        </p:nvSpPr>
        <p:spPr>
          <a:xfrm>
            <a:off x="6606353" y="3327540"/>
            <a:ext cx="842211" cy="8422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j</a:t>
            </a:r>
          </a:p>
        </p:txBody>
      </p:sp>
      <p:cxnSp>
        <p:nvCxnSpPr>
          <p:cNvPr id="10" name="Straight Arrow Connector 9">
            <a:extLst>
              <a:ext uri="{FF2B5EF4-FFF2-40B4-BE49-F238E27FC236}">
                <a16:creationId xmlns:a16="http://schemas.microsoft.com/office/drawing/2014/main" id="{B5CA850F-EC89-14C3-630C-B5EEE772FC9D}"/>
              </a:ext>
            </a:extLst>
          </p:cNvPr>
          <p:cNvCxnSpPr>
            <a:cxnSpLocks/>
          </p:cNvCxnSpPr>
          <p:nvPr/>
        </p:nvCxnSpPr>
        <p:spPr>
          <a:xfrm>
            <a:off x="1583140" y="3748645"/>
            <a:ext cx="142978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6E6752C9-2292-335D-33F7-4A7F39B3DB64}"/>
              </a:ext>
            </a:extLst>
          </p:cNvPr>
          <p:cNvCxnSpPr>
            <a:cxnSpLocks/>
          </p:cNvCxnSpPr>
          <p:nvPr/>
        </p:nvCxnSpPr>
        <p:spPr>
          <a:xfrm flipV="1">
            <a:off x="1760561" y="3996580"/>
            <a:ext cx="1363817" cy="50718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4E22631-4D1E-3E8F-71DA-1EDB6E53AB92}"/>
              </a:ext>
            </a:extLst>
          </p:cNvPr>
          <p:cNvCxnSpPr>
            <a:cxnSpLocks/>
          </p:cNvCxnSpPr>
          <p:nvPr/>
        </p:nvCxnSpPr>
        <p:spPr>
          <a:xfrm>
            <a:off x="1787857" y="3070747"/>
            <a:ext cx="1363817" cy="39919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A3D6611-9975-52AE-8AE5-CFB03580B5BE}"/>
              </a:ext>
            </a:extLst>
          </p:cNvPr>
          <p:cNvCxnSpPr>
            <a:cxnSpLocks/>
          </p:cNvCxnSpPr>
          <p:nvPr/>
        </p:nvCxnSpPr>
        <p:spPr>
          <a:xfrm>
            <a:off x="7448564" y="3719135"/>
            <a:ext cx="142978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A7D2B89-226C-54E2-0AAB-59040BBC9720}"/>
              </a:ext>
            </a:extLst>
          </p:cNvPr>
          <p:cNvCxnSpPr>
            <a:cxnSpLocks/>
          </p:cNvCxnSpPr>
          <p:nvPr/>
        </p:nvCxnSpPr>
        <p:spPr>
          <a:xfrm flipV="1">
            <a:off x="7448564" y="3327540"/>
            <a:ext cx="1429782" cy="39159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C61B575-1157-9902-18DA-1920835E7E43}"/>
              </a:ext>
            </a:extLst>
          </p:cNvPr>
          <p:cNvCxnSpPr>
            <a:cxnSpLocks/>
          </p:cNvCxnSpPr>
          <p:nvPr/>
        </p:nvCxnSpPr>
        <p:spPr>
          <a:xfrm>
            <a:off x="7448564" y="3719135"/>
            <a:ext cx="1429782" cy="45061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35301B5C-8B08-D096-E2DC-3DFF25D096E1}"/>
              </a:ext>
            </a:extLst>
          </p:cNvPr>
          <p:cNvSpPr>
            <a:spLocks noGrp="1"/>
          </p:cNvSpPr>
          <p:nvPr>
            <p:ph type="ftr" sz="quarter" idx="11"/>
          </p:nvPr>
        </p:nvSpPr>
        <p:spPr/>
        <p:txBody>
          <a:bodyPr/>
          <a:lstStyle/>
          <a:p>
            <a:r>
              <a:rPr lang="en-US"/>
              <a:t>Engr. Melanie D. Piedad, ABELE 2022 Topnotcher</a:t>
            </a:r>
            <a:endParaRPr lang="en-US" dirty="0"/>
          </a:p>
        </p:txBody>
      </p:sp>
      <p:sp>
        <p:nvSpPr>
          <p:cNvPr id="5" name="Slide Number Placeholder 4">
            <a:extLst>
              <a:ext uri="{FF2B5EF4-FFF2-40B4-BE49-F238E27FC236}">
                <a16:creationId xmlns:a16="http://schemas.microsoft.com/office/drawing/2014/main" id="{A0DC3B9B-2706-F9E6-6863-97FCA74C4907}"/>
              </a:ext>
            </a:extLst>
          </p:cNvPr>
          <p:cNvSpPr>
            <a:spLocks noGrp="1"/>
          </p:cNvSpPr>
          <p:nvPr>
            <p:ph type="sldNum" sz="quarter" idx="12"/>
          </p:nvPr>
        </p:nvSpPr>
        <p:spPr/>
        <p:txBody>
          <a:bodyPr/>
          <a:lstStyle/>
          <a:p>
            <a:fld id="{D57F1E4F-1CFF-5643-939E-217C01CDF565}" type="slidenum">
              <a:rPr lang="en-US" smtClean="0"/>
              <a:pPr/>
              <a:t>9</a:t>
            </a:fld>
            <a:endParaRPr lang="en-US" dirty="0"/>
          </a:p>
        </p:txBody>
      </p:sp>
    </p:spTree>
    <p:extLst>
      <p:ext uri="{BB962C8B-B14F-4D97-AF65-F5344CB8AC3E}">
        <p14:creationId xmlns:p14="http://schemas.microsoft.com/office/powerpoint/2010/main" val="37077861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EDFA5F9-3B87-1E80-2C5A-DDFD36EED879}"/>
              </a:ext>
            </a:extLst>
          </p:cNvPr>
          <p:cNvSpPr txBox="1">
            <a:spLocks/>
          </p:cNvSpPr>
          <p:nvPr/>
        </p:nvSpPr>
        <p:spPr>
          <a:xfrm>
            <a:off x="947645" y="534990"/>
            <a:ext cx="8773871" cy="5913936"/>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rgbClr val="E18E2E"/>
                </a:solidFill>
                <a:latin typeface="Trebuchet MS" panose="020B0703020202090204" pitchFamily="34" charset="0"/>
              </a:rPr>
              <a:t>PERT and CPM</a:t>
            </a:r>
          </a:p>
          <a:p>
            <a:endParaRPr lang="en-US" sz="2000" b="1" u="sng" dirty="0">
              <a:solidFill>
                <a:schemeClr val="accent1">
                  <a:lumMod val="50000"/>
                </a:schemeClr>
              </a:solidFill>
              <a:latin typeface="Trebuchet MS" panose="020B0703020202090204" pitchFamily="34" charset="0"/>
            </a:endParaRPr>
          </a:p>
          <a:p>
            <a:pPr algn="just"/>
            <a:r>
              <a:rPr lang="en-US" sz="2000" b="1" dirty="0">
                <a:solidFill>
                  <a:schemeClr val="accent1">
                    <a:lumMod val="50000"/>
                  </a:schemeClr>
                </a:solidFill>
                <a:latin typeface="Trebuchet MS" panose="020B0703020202090204" pitchFamily="34" charset="0"/>
              </a:rPr>
              <a:t>PRECEEDING and SUCEEDING ACTIVITIES</a:t>
            </a: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algn="just"/>
            <a:r>
              <a:rPr lang="en-US" sz="2000" b="1" dirty="0">
                <a:solidFill>
                  <a:schemeClr val="accent1">
                    <a:lumMod val="50000"/>
                  </a:schemeClr>
                </a:solidFill>
                <a:latin typeface="Trebuchet MS" panose="020B0703020202090204" pitchFamily="34" charset="0"/>
              </a:rPr>
              <a:t>		</a:t>
            </a:r>
          </a:p>
          <a:p>
            <a:pPr marL="457200" indent="-457200">
              <a:buFont typeface="Wingdings" pitchFamily="2" charset="2"/>
              <a:buChar char="q"/>
            </a:pPr>
            <a:endParaRPr lang="en-US" sz="2800" b="1" dirty="0">
              <a:solidFill>
                <a:schemeClr val="accent1">
                  <a:lumMod val="50000"/>
                </a:schemeClr>
              </a:solidFill>
              <a:latin typeface="Trebuchet MS" panose="020B0703020202090204" pitchFamily="34" charset="0"/>
            </a:endParaRPr>
          </a:p>
        </p:txBody>
      </p:sp>
      <p:sp>
        <p:nvSpPr>
          <p:cNvPr id="3" name="Oval 2">
            <a:extLst>
              <a:ext uri="{FF2B5EF4-FFF2-40B4-BE49-F238E27FC236}">
                <a16:creationId xmlns:a16="http://schemas.microsoft.com/office/drawing/2014/main" id="{55FA2944-EDCB-9C09-6906-A62A19671245}"/>
              </a:ext>
            </a:extLst>
          </p:cNvPr>
          <p:cNvSpPr/>
          <p:nvPr/>
        </p:nvSpPr>
        <p:spPr>
          <a:xfrm>
            <a:off x="2591816" y="2681127"/>
            <a:ext cx="842211" cy="8422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i</a:t>
            </a:r>
            <a:endParaRPr lang="en-US" dirty="0">
              <a:solidFill>
                <a:schemeClr val="tx1"/>
              </a:solidFill>
            </a:endParaRPr>
          </a:p>
        </p:txBody>
      </p:sp>
      <p:sp>
        <p:nvSpPr>
          <p:cNvPr id="4" name="Oval 3">
            <a:extLst>
              <a:ext uri="{FF2B5EF4-FFF2-40B4-BE49-F238E27FC236}">
                <a16:creationId xmlns:a16="http://schemas.microsoft.com/office/drawing/2014/main" id="{C13E94DB-3033-3DAC-91F2-8BCED9BBC5CC}"/>
              </a:ext>
            </a:extLst>
          </p:cNvPr>
          <p:cNvSpPr/>
          <p:nvPr/>
        </p:nvSpPr>
        <p:spPr>
          <a:xfrm>
            <a:off x="7166210" y="2649748"/>
            <a:ext cx="842211" cy="8422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a:t>
            </a:r>
          </a:p>
        </p:txBody>
      </p:sp>
      <p:cxnSp>
        <p:nvCxnSpPr>
          <p:cNvPr id="10" name="Straight Arrow Connector 9">
            <a:extLst>
              <a:ext uri="{FF2B5EF4-FFF2-40B4-BE49-F238E27FC236}">
                <a16:creationId xmlns:a16="http://schemas.microsoft.com/office/drawing/2014/main" id="{B5CA850F-EC89-14C3-630C-B5EEE772FC9D}"/>
              </a:ext>
            </a:extLst>
          </p:cNvPr>
          <p:cNvCxnSpPr>
            <a:cxnSpLocks/>
          </p:cNvCxnSpPr>
          <p:nvPr/>
        </p:nvCxnSpPr>
        <p:spPr>
          <a:xfrm>
            <a:off x="3435583" y="3111390"/>
            <a:ext cx="142978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A7D2B89-226C-54E2-0AAB-59040BBC9720}"/>
              </a:ext>
            </a:extLst>
          </p:cNvPr>
          <p:cNvCxnSpPr>
            <a:cxnSpLocks/>
            <a:endCxn id="4" idx="4"/>
          </p:cNvCxnSpPr>
          <p:nvPr/>
        </p:nvCxnSpPr>
        <p:spPr>
          <a:xfrm flipV="1">
            <a:off x="5707576" y="3491958"/>
            <a:ext cx="1879740" cy="137388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C61B575-1157-9902-18DA-1920835E7E43}"/>
              </a:ext>
            </a:extLst>
          </p:cNvPr>
          <p:cNvCxnSpPr>
            <a:cxnSpLocks/>
            <a:endCxn id="5" idx="2"/>
          </p:cNvCxnSpPr>
          <p:nvPr/>
        </p:nvCxnSpPr>
        <p:spPr>
          <a:xfrm>
            <a:off x="3012921" y="3541654"/>
            <a:ext cx="1852444" cy="131730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Oval 1">
            <a:extLst>
              <a:ext uri="{FF2B5EF4-FFF2-40B4-BE49-F238E27FC236}">
                <a16:creationId xmlns:a16="http://schemas.microsoft.com/office/drawing/2014/main" id="{0BC9694E-4BCB-0C94-50A4-319FAB771581}"/>
              </a:ext>
            </a:extLst>
          </p:cNvPr>
          <p:cNvSpPr/>
          <p:nvPr/>
        </p:nvSpPr>
        <p:spPr>
          <a:xfrm>
            <a:off x="4879013" y="2681127"/>
            <a:ext cx="842211" cy="8422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j</a:t>
            </a:r>
          </a:p>
        </p:txBody>
      </p:sp>
      <p:sp>
        <p:nvSpPr>
          <p:cNvPr id="5" name="Oval 4">
            <a:extLst>
              <a:ext uri="{FF2B5EF4-FFF2-40B4-BE49-F238E27FC236}">
                <a16:creationId xmlns:a16="http://schemas.microsoft.com/office/drawing/2014/main" id="{69CD8030-E65F-F973-3407-B5D00180EFA7}"/>
              </a:ext>
            </a:extLst>
          </p:cNvPr>
          <p:cNvSpPr/>
          <p:nvPr/>
        </p:nvSpPr>
        <p:spPr>
          <a:xfrm>
            <a:off x="4865365" y="4437857"/>
            <a:ext cx="842211" cy="8422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k</a:t>
            </a:r>
          </a:p>
        </p:txBody>
      </p:sp>
      <p:cxnSp>
        <p:nvCxnSpPr>
          <p:cNvPr id="8" name="Straight Arrow Connector 7">
            <a:extLst>
              <a:ext uri="{FF2B5EF4-FFF2-40B4-BE49-F238E27FC236}">
                <a16:creationId xmlns:a16="http://schemas.microsoft.com/office/drawing/2014/main" id="{90A7D505-8DDD-9D8F-7F01-8BB1C1D30589}"/>
              </a:ext>
            </a:extLst>
          </p:cNvPr>
          <p:cNvCxnSpPr>
            <a:cxnSpLocks/>
          </p:cNvCxnSpPr>
          <p:nvPr/>
        </p:nvCxnSpPr>
        <p:spPr>
          <a:xfrm>
            <a:off x="5736428" y="3099717"/>
            <a:ext cx="142978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EAC385E2-68E1-A472-3CF8-E9427B97DD52}"/>
              </a:ext>
            </a:extLst>
          </p:cNvPr>
          <p:cNvSpPr txBox="1"/>
          <p:nvPr/>
        </p:nvSpPr>
        <p:spPr>
          <a:xfrm>
            <a:off x="3873779" y="2468611"/>
            <a:ext cx="493294" cy="461665"/>
          </a:xfrm>
          <a:prstGeom prst="rect">
            <a:avLst/>
          </a:prstGeom>
          <a:noFill/>
        </p:spPr>
        <p:txBody>
          <a:bodyPr wrap="square" rtlCol="0">
            <a:spAutoFit/>
          </a:bodyPr>
          <a:lstStyle/>
          <a:p>
            <a:pPr algn="ctr"/>
            <a:r>
              <a:rPr lang="en-US" sz="2400" dirty="0"/>
              <a:t>A</a:t>
            </a:r>
          </a:p>
        </p:txBody>
      </p:sp>
      <p:sp>
        <p:nvSpPr>
          <p:cNvPr id="16" name="TextBox 15">
            <a:extLst>
              <a:ext uri="{FF2B5EF4-FFF2-40B4-BE49-F238E27FC236}">
                <a16:creationId xmlns:a16="http://schemas.microsoft.com/office/drawing/2014/main" id="{5FE0F1C6-310E-3410-C0D0-036F65FC910F}"/>
              </a:ext>
            </a:extLst>
          </p:cNvPr>
          <p:cNvSpPr txBox="1"/>
          <p:nvPr/>
        </p:nvSpPr>
        <p:spPr>
          <a:xfrm>
            <a:off x="6165239" y="2441932"/>
            <a:ext cx="493294" cy="461665"/>
          </a:xfrm>
          <a:prstGeom prst="rect">
            <a:avLst/>
          </a:prstGeom>
          <a:noFill/>
        </p:spPr>
        <p:txBody>
          <a:bodyPr wrap="square" rtlCol="0">
            <a:spAutoFit/>
          </a:bodyPr>
          <a:lstStyle/>
          <a:p>
            <a:pPr algn="ctr"/>
            <a:r>
              <a:rPr lang="en-US" sz="2400" dirty="0"/>
              <a:t>C</a:t>
            </a:r>
          </a:p>
        </p:txBody>
      </p:sp>
      <p:sp>
        <p:nvSpPr>
          <p:cNvPr id="18" name="TextBox 17">
            <a:extLst>
              <a:ext uri="{FF2B5EF4-FFF2-40B4-BE49-F238E27FC236}">
                <a16:creationId xmlns:a16="http://schemas.microsoft.com/office/drawing/2014/main" id="{288C731D-BC82-A262-0EC6-9AD8D2ED28DE}"/>
              </a:ext>
            </a:extLst>
          </p:cNvPr>
          <p:cNvSpPr txBox="1"/>
          <p:nvPr/>
        </p:nvSpPr>
        <p:spPr>
          <a:xfrm>
            <a:off x="3379287" y="4162238"/>
            <a:ext cx="493294" cy="461665"/>
          </a:xfrm>
          <a:prstGeom prst="rect">
            <a:avLst/>
          </a:prstGeom>
          <a:noFill/>
        </p:spPr>
        <p:txBody>
          <a:bodyPr wrap="square" rtlCol="0">
            <a:spAutoFit/>
          </a:bodyPr>
          <a:lstStyle/>
          <a:p>
            <a:pPr algn="ctr"/>
            <a:r>
              <a:rPr lang="en-US" sz="2400" dirty="0"/>
              <a:t>B</a:t>
            </a:r>
          </a:p>
        </p:txBody>
      </p:sp>
      <p:sp>
        <p:nvSpPr>
          <p:cNvPr id="19" name="TextBox 18">
            <a:extLst>
              <a:ext uri="{FF2B5EF4-FFF2-40B4-BE49-F238E27FC236}">
                <a16:creationId xmlns:a16="http://schemas.microsoft.com/office/drawing/2014/main" id="{4DB45DD1-55CE-4454-2F7E-F173FD847EC3}"/>
              </a:ext>
            </a:extLst>
          </p:cNvPr>
          <p:cNvSpPr txBox="1"/>
          <p:nvPr/>
        </p:nvSpPr>
        <p:spPr>
          <a:xfrm>
            <a:off x="6549787" y="4138635"/>
            <a:ext cx="493294" cy="461665"/>
          </a:xfrm>
          <a:prstGeom prst="rect">
            <a:avLst/>
          </a:prstGeom>
          <a:noFill/>
        </p:spPr>
        <p:txBody>
          <a:bodyPr wrap="square" rtlCol="0">
            <a:spAutoFit/>
          </a:bodyPr>
          <a:lstStyle/>
          <a:p>
            <a:pPr algn="ctr"/>
            <a:r>
              <a:rPr lang="en-US" sz="2400" dirty="0"/>
              <a:t>D</a:t>
            </a:r>
          </a:p>
        </p:txBody>
      </p:sp>
      <p:sp>
        <p:nvSpPr>
          <p:cNvPr id="6" name="Footer Placeholder 5">
            <a:extLst>
              <a:ext uri="{FF2B5EF4-FFF2-40B4-BE49-F238E27FC236}">
                <a16:creationId xmlns:a16="http://schemas.microsoft.com/office/drawing/2014/main" id="{3512A50D-9021-C36D-4273-FDDEC64AB704}"/>
              </a:ext>
            </a:extLst>
          </p:cNvPr>
          <p:cNvSpPr>
            <a:spLocks noGrp="1"/>
          </p:cNvSpPr>
          <p:nvPr>
            <p:ph type="ftr" sz="quarter" idx="11"/>
          </p:nvPr>
        </p:nvSpPr>
        <p:spPr/>
        <p:txBody>
          <a:bodyPr/>
          <a:lstStyle/>
          <a:p>
            <a:r>
              <a:rPr lang="en-US"/>
              <a:t>Engr. Melanie D. Piedad, ABELE 2022 Topnotcher</a:t>
            </a:r>
            <a:endParaRPr lang="en-US" dirty="0"/>
          </a:p>
        </p:txBody>
      </p:sp>
      <p:sp>
        <p:nvSpPr>
          <p:cNvPr id="9" name="Slide Number Placeholder 8">
            <a:extLst>
              <a:ext uri="{FF2B5EF4-FFF2-40B4-BE49-F238E27FC236}">
                <a16:creationId xmlns:a16="http://schemas.microsoft.com/office/drawing/2014/main" id="{0996350E-F2D8-1DE2-D873-877C5EED73A7}"/>
              </a:ext>
            </a:extLst>
          </p:cNvPr>
          <p:cNvSpPr>
            <a:spLocks noGrp="1"/>
          </p:cNvSpPr>
          <p:nvPr>
            <p:ph type="sldNum" sz="quarter" idx="12"/>
          </p:nvPr>
        </p:nvSpPr>
        <p:spPr/>
        <p:txBody>
          <a:bodyPr/>
          <a:lstStyle/>
          <a:p>
            <a:fld id="{D57F1E4F-1CFF-5643-939E-217C01CDF565}" type="slidenum">
              <a:rPr lang="en-US" smtClean="0"/>
              <a:pPr/>
              <a:t>10</a:t>
            </a:fld>
            <a:endParaRPr lang="en-US" dirty="0"/>
          </a:p>
        </p:txBody>
      </p:sp>
    </p:spTree>
    <p:extLst>
      <p:ext uri="{BB962C8B-B14F-4D97-AF65-F5344CB8AC3E}">
        <p14:creationId xmlns:p14="http://schemas.microsoft.com/office/powerpoint/2010/main" val="216023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EDFA5F9-3B87-1E80-2C5A-DDFD36EED879}"/>
              </a:ext>
            </a:extLst>
          </p:cNvPr>
          <p:cNvSpPr txBox="1">
            <a:spLocks/>
          </p:cNvSpPr>
          <p:nvPr/>
        </p:nvSpPr>
        <p:spPr>
          <a:xfrm>
            <a:off x="947645" y="534990"/>
            <a:ext cx="8773871" cy="5913936"/>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rgbClr val="E18E2E"/>
                </a:solidFill>
                <a:latin typeface="Trebuchet MS" panose="020B0703020202090204" pitchFamily="34" charset="0"/>
              </a:rPr>
              <a:t>PERT and CPM</a:t>
            </a:r>
          </a:p>
          <a:p>
            <a:endParaRPr lang="en-US" sz="2000" b="1" u="sng" dirty="0">
              <a:solidFill>
                <a:schemeClr val="accent1">
                  <a:lumMod val="50000"/>
                </a:schemeClr>
              </a:solidFill>
              <a:latin typeface="Trebuchet MS" panose="020B0703020202090204" pitchFamily="34" charset="0"/>
            </a:endParaRPr>
          </a:p>
          <a:p>
            <a:pPr algn="just"/>
            <a:r>
              <a:rPr lang="en-US" sz="2000" b="1" dirty="0">
                <a:solidFill>
                  <a:schemeClr val="accent1">
                    <a:lumMod val="50000"/>
                  </a:schemeClr>
                </a:solidFill>
                <a:latin typeface="Trebuchet MS" panose="020B0703020202090204" pitchFamily="34" charset="0"/>
              </a:rPr>
              <a:t>DUMMY ACTIVITY – </a:t>
            </a:r>
            <a:r>
              <a:rPr lang="en-US" sz="2000" dirty="0">
                <a:solidFill>
                  <a:schemeClr val="accent1">
                    <a:lumMod val="50000"/>
                  </a:schemeClr>
                </a:solidFill>
                <a:latin typeface="Trebuchet MS" panose="020B0703020202090204" pitchFamily="34" charset="0"/>
              </a:rPr>
              <a:t>activity that does not consume resources. Only used to represent a connection between events to maintain a logic in the network.</a:t>
            </a: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algn="just"/>
            <a:r>
              <a:rPr lang="en-US" sz="2000" b="1" dirty="0">
                <a:solidFill>
                  <a:schemeClr val="accent1">
                    <a:lumMod val="50000"/>
                  </a:schemeClr>
                </a:solidFill>
                <a:latin typeface="Trebuchet MS" panose="020B0703020202090204" pitchFamily="34" charset="0"/>
              </a:rPr>
              <a:t>		</a:t>
            </a:r>
          </a:p>
          <a:p>
            <a:pPr marL="457200" indent="-457200">
              <a:buFont typeface="Wingdings" pitchFamily="2" charset="2"/>
              <a:buChar char="q"/>
            </a:pPr>
            <a:endParaRPr lang="en-US" sz="2800" b="1" dirty="0">
              <a:solidFill>
                <a:schemeClr val="accent1">
                  <a:lumMod val="50000"/>
                </a:schemeClr>
              </a:solidFill>
              <a:latin typeface="Trebuchet MS" panose="020B0703020202090204" pitchFamily="34" charset="0"/>
            </a:endParaRPr>
          </a:p>
        </p:txBody>
      </p:sp>
      <p:sp>
        <p:nvSpPr>
          <p:cNvPr id="3" name="Oval 2">
            <a:extLst>
              <a:ext uri="{FF2B5EF4-FFF2-40B4-BE49-F238E27FC236}">
                <a16:creationId xmlns:a16="http://schemas.microsoft.com/office/drawing/2014/main" id="{55FA2944-EDCB-9C09-6906-A62A19671245}"/>
              </a:ext>
            </a:extLst>
          </p:cNvPr>
          <p:cNvSpPr/>
          <p:nvPr/>
        </p:nvSpPr>
        <p:spPr>
          <a:xfrm>
            <a:off x="1869323" y="3296425"/>
            <a:ext cx="842211" cy="8422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i</a:t>
            </a:r>
            <a:endParaRPr lang="en-US" dirty="0">
              <a:solidFill>
                <a:schemeClr val="tx1"/>
              </a:solidFill>
            </a:endParaRPr>
          </a:p>
        </p:txBody>
      </p:sp>
      <p:sp>
        <p:nvSpPr>
          <p:cNvPr id="4" name="Oval 3">
            <a:extLst>
              <a:ext uri="{FF2B5EF4-FFF2-40B4-BE49-F238E27FC236}">
                <a16:creationId xmlns:a16="http://schemas.microsoft.com/office/drawing/2014/main" id="{C13E94DB-3033-3DAC-91F2-8BCED9BBC5CC}"/>
              </a:ext>
            </a:extLst>
          </p:cNvPr>
          <p:cNvSpPr/>
          <p:nvPr/>
        </p:nvSpPr>
        <p:spPr>
          <a:xfrm>
            <a:off x="6344619" y="2540290"/>
            <a:ext cx="842211" cy="8422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a:t>
            </a:r>
          </a:p>
        </p:txBody>
      </p:sp>
      <p:cxnSp>
        <p:nvCxnSpPr>
          <p:cNvPr id="10" name="Straight Arrow Connector 9">
            <a:extLst>
              <a:ext uri="{FF2B5EF4-FFF2-40B4-BE49-F238E27FC236}">
                <a16:creationId xmlns:a16="http://schemas.microsoft.com/office/drawing/2014/main" id="{B5CA850F-EC89-14C3-630C-B5EEE772FC9D}"/>
              </a:ext>
            </a:extLst>
          </p:cNvPr>
          <p:cNvCxnSpPr>
            <a:cxnSpLocks/>
          </p:cNvCxnSpPr>
          <p:nvPr/>
        </p:nvCxnSpPr>
        <p:spPr>
          <a:xfrm>
            <a:off x="2711534" y="3739187"/>
            <a:ext cx="1282947"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A7D2B89-226C-54E2-0AAB-59040BBC9720}"/>
              </a:ext>
            </a:extLst>
          </p:cNvPr>
          <p:cNvCxnSpPr>
            <a:cxnSpLocks/>
            <a:endCxn id="4" idx="2"/>
          </p:cNvCxnSpPr>
          <p:nvPr/>
        </p:nvCxnSpPr>
        <p:spPr>
          <a:xfrm flipV="1">
            <a:off x="4710150" y="2961395"/>
            <a:ext cx="1634469" cy="53056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C61B575-1157-9902-18DA-1920835E7E43}"/>
              </a:ext>
            </a:extLst>
          </p:cNvPr>
          <p:cNvCxnSpPr>
            <a:cxnSpLocks/>
            <a:stCxn id="2" idx="5"/>
            <a:endCxn id="5" idx="2"/>
          </p:cNvCxnSpPr>
          <p:nvPr/>
        </p:nvCxnSpPr>
        <p:spPr>
          <a:xfrm>
            <a:off x="4713353" y="4015296"/>
            <a:ext cx="1634078" cy="104359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Oval 1">
            <a:extLst>
              <a:ext uri="{FF2B5EF4-FFF2-40B4-BE49-F238E27FC236}">
                <a16:creationId xmlns:a16="http://schemas.microsoft.com/office/drawing/2014/main" id="{0BC9694E-4BCB-0C94-50A4-319FAB771581}"/>
              </a:ext>
            </a:extLst>
          </p:cNvPr>
          <p:cNvSpPr/>
          <p:nvPr/>
        </p:nvSpPr>
        <p:spPr>
          <a:xfrm>
            <a:off x="3994481" y="3296425"/>
            <a:ext cx="842211" cy="8422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j</a:t>
            </a:r>
          </a:p>
        </p:txBody>
      </p:sp>
      <p:sp>
        <p:nvSpPr>
          <p:cNvPr id="5" name="Oval 4">
            <a:extLst>
              <a:ext uri="{FF2B5EF4-FFF2-40B4-BE49-F238E27FC236}">
                <a16:creationId xmlns:a16="http://schemas.microsoft.com/office/drawing/2014/main" id="{69CD8030-E65F-F973-3407-B5D00180EFA7}"/>
              </a:ext>
            </a:extLst>
          </p:cNvPr>
          <p:cNvSpPr/>
          <p:nvPr/>
        </p:nvSpPr>
        <p:spPr>
          <a:xfrm>
            <a:off x="6347431" y="4637787"/>
            <a:ext cx="842211" cy="8422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k</a:t>
            </a:r>
          </a:p>
        </p:txBody>
      </p:sp>
      <p:cxnSp>
        <p:nvCxnSpPr>
          <p:cNvPr id="8" name="Straight Arrow Connector 7">
            <a:extLst>
              <a:ext uri="{FF2B5EF4-FFF2-40B4-BE49-F238E27FC236}">
                <a16:creationId xmlns:a16="http://schemas.microsoft.com/office/drawing/2014/main" id="{90A7D505-8DDD-9D8F-7F01-8BB1C1D30589}"/>
              </a:ext>
            </a:extLst>
          </p:cNvPr>
          <p:cNvCxnSpPr>
            <a:cxnSpLocks/>
            <a:stCxn id="5" idx="0"/>
            <a:endCxn id="4" idx="4"/>
          </p:cNvCxnSpPr>
          <p:nvPr/>
        </p:nvCxnSpPr>
        <p:spPr>
          <a:xfrm flipH="1" flipV="1">
            <a:off x="6765725" y="3382500"/>
            <a:ext cx="2812" cy="1255287"/>
          </a:xfrm>
          <a:prstGeom prst="straightConnector1">
            <a:avLst/>
          </a:prstGeom>
          <a:ln w="571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EAC385E2-68E1-A472-3CF8-E9427B97DD52}"/>
              </a:ext>
            </a:extLst>
          </p:cNvPr>
          <p:cNvSpPr txBox="1"/>
          <p:nvPr/>
        </p:nvSpPr>
        <p:spPr>
          <a:xfrm>
            <a:off x="3129828" y="3118813"/>
            <a:ext cx="493294" cy="461665"/>
          </a:xfrm>
          <a:prstGeom prst="rect">
            <a:avLst/>
          </a:prstGeom>
          <a:noFill/>
        </p:spPr>
        <p:txBody>
          <a:bodyPr wrap="square" rtlCol="0">
            <a:spAutoFit/>
          </a:bodyPr>
          <a:lstStyle/>
          <a:p>
            <a:pPr algn="ctr"/>
            <a:r>
              <a:rPr lang="en-US" sz="2400" dirty="0"/>
              <a:t>A</a:t>
            </a:r>
          </a:p>
        </p:txBody>
      </p:sp>
      <p:sp>
        <p:nvSpPr>
          <p:cNvPr id="16" name="TextBox 15">
            <a:extLst>
              <a:ext uri="{FF2B5EF4-FFF2-40B4-BE49-F238E27FC236}">
                <a16:creationId xmlns:a16="http://schemas.microsoft.com/office/drawing/2014/main" id="{5FE0F1C6-310E-3410-C0D0-036F65FC910F}"/>
              </a:ext>
            </a:extLst>
          </p:cNvPr>
          <p:cNvSpPr txBox="1"/>
          <p:nvPr/>
        </p:nvSpPr>
        <p:spPr>
          <a:xfrm>
            <a:off x="5216631" y="4597227"/>
            <a:ext cx="493294" cy="461665"/>
          </a:xfrm>
          <a:prstGeom prst="rect">
            <a:avLst/>
          </a:prstGeom>
          <a:noFill/>
        </p:spPr>
        <p:txBody>
          <a:bodyPr wrap="square" rtlCol="0">
            <a:spAutoFit/>
          </a:bodyPr>
          <a:lstStyle/>
          <a:p>
            <a:pPr algn="ctr"/>
            <a:r>
              <a:rPr lang="en-US" sz="2400" dirty="0"/>
              <a:t>C</a:t>
            </a:r>
          </a:p>
        </p:txBody>
      </p:sp>
      <p:sp>
        <p:nvSpPr>
          <p:cNvPr id="18" name="TextBox 17">
            <a:extLst>
              <a:ext uri="{FF2B5EF4-FFF2-40B4-BE49-F238E27FC236}">
                <a16:creationId xmlns:a16="http://schemas.microsoft.com/office/drawing/2014/main" id="{288C731D-BC82-A262-0EC6-9AD8D2ED28DE}"/>
              </a:ext>
            </a:extLst>
          </p:cNvPr>
          <p:cNvSpPr txBox="1"/>
          <p:nvPr/>
        </p:nvSpPr>
        <p:spPr>
          <a:xfrm>
            <a:off x="5232603" y="2680104"/>
            <a:ext cx="493294" cy="461665"/>
          </a:xfrm>
          <a:prstGeom prst="rect">
            <a:avLst/>
          </a:prstGeom>
          <a:noFill/>
        </p:spPr>
        <p:txBody>
          <a:bodyPr wrap="square" rtlCol="0">
            <a:spAutoFit/>
          </a:bodyPr>
          <a:lstStyle/>
          <a:p>
            <a:pPr algn="ctr"/>
            <a:r>
              <a:rPr lang="en-US" sz="2400" dirty="0"/>
              <a:t>B</a:t>
            </a:r>
          </a:p>
        </p:txBody>
      </p:sp>
      <p:sp>
        <p:nvSpPr>
          <p:cNvPr id="19" name="TextBox 18">
            <a:extLst>
              <a:ext uri="{FF2B5EF4-FFF2-40B4-BE49-F238E27FC236}">
                <a16:creationId xmlns:a16="http://schemas.microsoft.com/office/drawing/2014/main" id="{4DB45DD1-55CE-4454-2F7E-F173FD847EC3}"/>
              </a:ext>
            </a:extLst>
          </p:cNvPr>
          <p:cNvSpPr txBox="1"/>
          <p:nvPr/>
        </p:nvSpPr>
        <p:spPr>
          <a:xfrm>
            <a:off x="6477242" y="3864876"/>
            <a:ext cx="2052613" cy="461665"/>
          </a:xfrm>
          <a:prstGeom prst="rect">
            <a:avLst/>
          </a:prstGeom>
          <a:noFill/>
        </p:spPr>
        <p:txBody>
          <a:bodyPr wrap="square" rtlCol="0">
            <a:spAutoFit/>
          </a:bodyPr>
          <a:lstStyle/>
          <a:p>
            <a:pPr algn="ctr"/>
            <a:r>
              <a:rPr lang="en-US" sz="2400" dirty="0"/>
              <a:t>Dummy</a:t>
            </a:r>
          </a:p>
        </p:txBody>
      </p:sp>
      <p:sp>
        <p:nvSpPr>
          <p:cNvPr id="6" name="Footer Placeholder 5">
            <a:extLst>
              <a:ext uri="{FF2B5EF4-FFF2-40B4-BE49-F238E27FC236}">
                <a16:creationId xmlns:a16="http://schemas.microsoft.com/office/drawing/2014/main" id="{2544C867-57D9-C124-9BD6-B99A93000EAC}"/>
              </a:ext>
            </a:extLst>
          </p:cNvPr>
          <p:cNvSpPr>
            <a:spLocks noGrp="1"/>
          </p:cNvSpPr>
          <p:nvPr>
            <p:ph type="ftr" sz="quarter" idx="11"/>
          </p:nvPr>
        </p:nvSpPr>
        <p:spPr/>
        <p:txBody>
          <a:bodyPr/>
          <a:lstStyle/>
          <a:p>
            <a:r>
              <a:rPr lang="en-US"/>
              <a:t>Engr. Melanie D. Piedad, ABELE 2022 Topnotcher</a:t>
            </a:r>
            <a:endParaRPr lang="en-US" dirty="0"/>
          </a:p>
        </p:txBody>
      </p:sp>
      <p:sp>
        <p:nvSpPr>
          <p:cNvPr id="9" name="Slide Number Placeholder 8">
            <a:extLst>
              <a:ext uri="{FF2B5EF4-FFF2-40B4-BE49-F238E27FC236}">
                <a16:creationId xmlns:a16="http://schemas.microsoft.com/office/drawing/2014/main" id="{44FC925F-9868-0738-0A10-3498E29E6866}"/>
              </a:ext>
            </a:extLst>
          </p:cNvPr>
          <p:cNvSpPr>
            <a:spLocks noGrp="1"/>
          </p:cNvSpPr>
          <p:nvPr>
            <p:ph type="sldNum" sz="quarter" idx="12"/>
          </p:nvPr>
        </p:nvSpPr>
        <p:spPr/>
        <p:txBody>
          <a:bodyPr/>
          <a:lstStyle/>
          <a:p>
            <a:fld id="{D57F1E4F-1CFF-5643-939E-217C01CDF565}" type="slidenum">
              <a:rPr lang="en-US" smtClean="0"/>
              <a:pPr/>
              <a:t>11</a:t>
            </a:fld>
            <a:endParaRPr lang="en-US" dirty="0"/>
          </a:p>
        </p:txBody>
      </p:sp>
    </p:spTree>
    <p:extLst>
      <p:ext uri="{BB962C8B-B14F-4D97-AF65-F5344CB8AC3E}">
        <p14:creationId xmlns:p14="http://schemas.microsoft.com/office/powerpoint/2010/main" val="19986880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3E1256D-5017-74B9-E4ED-4D9EB0521160}"/>
              </a:ext>
            </a:extLst>
          </p:cNvPr>
          <p:cNvSpPr>
            <a:spLocks noGrp="1"/>
          </p:cNvSpPr>
          <p:nvPr>
            <p:ph type="ctrTitle"/>
          </p:nvPr>
        </p:nvSpPr>
        <p:spPr>
          <a:xfrm>
            <a:off x="911550" y="673475"/>
            <a:ext cx="5966889" cy="608944"/>
          </a:xfrm>
        </p:spPr>
        <p:txBody>
          <a:bodyPr anchor="ctr"/>
          <a:lstStyle/>
          <a:p>
            <a:pPr algn="just"/>
            <a:r>
              <a:rPr lang="en-US" sz="4000" b="1" dirty="0">
                <a:solidFill>
                  <a:srgbClr val="E18E2E"/>
                </a:solidFill>
                <a:latin typeface="Trebuchet MS" panose="020B0703020202090204" pitchFamily="34" charset="0"/>
              </a:rPr>
              <a:t>Sample questions</a:t>
            </a:r>
          </a:p>
        </p:txBody>
      </p:sp>
      <p:sp>
        <p:nvSpPr>
          <p:cNvPr id="3" name="Title 1">
            <a:extLst>
              <a:ext uri="{FF2B5EF4-FFF2-40B4-BE49-F238E27FC236}">
                <a16:creationId xmlns:a16="http://schemas.microsoft.com/office/drawing/2014/main" id="{345F3751-F15A-426C-A1DA-41A065A128B5}"/>
              </a:ext>
            </a:extLst>
          </p:cNvPr>
          <p:cNvSpPr txBox="1">
            <a:spLocks/>
          </p:cNvSpPr>
          <p:nvPr/>
        </p:nvSpPr>
        <p:spPr>
          <a:xfrm>
            <a:off x="911550" y="1282419"/>
            <a:ext cx="8376829" cy="4504552"/>
          </a:xfrm>
          <a:prstGeom prst="rect">
            <a:avLst/>
          </a:prstGeom>
        </p:spPr>
        <p:txBody>
          <a:bodyPr vert="horz" lIns="91440" tIns="45720" rIns="91440" bIns="45720" rtlCol="0" anchor="t">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just"/>
            <a:r>
              <a:rPr lang="en-US" sz="2400" b="1" dirty="0">
                <a:solidFill>
                  <a:schemeClr val="accent1">
                    <a:lumMod val="50000"/>
                  </a:schemeClr>
                </a:solidFill>
                <a:ea typeface="Calibri" panose="020F0502020204030204" pitchFamily="34" charset="0"/>
                <a:cs typeface="Times New Roman" panose="02020603050405020304" pitchFamily="18" charset="0"/>
              </a:rPr>
              <a:t>Given the sequence of activities for the construction of poultry house, create a network diagram representing the construction project.</a:t>
            </a:r>
          </a:p>
          <a:p>
            <a:pPr algn="just"/>
            <a:endParaRPr lang="en-US" sz="2400" b="1" dirty="0">
              <a:solidFill>
                <a:schemeClr val="accent1">
                  <a:lumMod val="50000"/>
                </a:schemeClr>
              </a:solidFill>
              <a:ea typeface="Calibri" panose="020F0502020204030204" pitchFamily="34" charset="0"/>
              <a:cs typeface="Times New Roman" panose="02020603050405020304" pitchFamily="18" charset="0"/>
            </a:endParaRPr>
          </a:p>
          <a:p>
            <a:pPr algn="just"/>
            <a:endParaRPr lang="en-US" sz="2400" b="1" dirty="0">
              <a:solidFill>
                <a:schemeClr val="accent1">
                  <a:lumMod val="50000"/>
                </a:schemeClr>
              </a:solidFill>
              <a:ea typeface="Calibri" panose="020F0502020204030204" pitchFamily="34" charset="0"/>
              <a:cs typeface="Times New Roman" panose="02020603050405020304" pitchFamily="18" charset="0"/>
            </a:endParaRPr>
          </a:p>
          <a:p>
            <a:pPr algn="just"/>
            <a:endParaRPr lang="en-US" sz="2400" b="1" dirty="0">
              <a:solidFill>
                <a:schemeClr val="accent1">
                  <a:lumMod val="50000"/>
                </a:schemeClr>
              </a:solidFill>
              <a:ea typeface="Calibri" panose="020F0502020204030204" pitchFamily="34"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EA2EF680-531D-FC4F-9CBE-A839E56137D8}"/>
              </a:ext>
            </a:extLst>
          </p:cNvPr>
          <p:cNvGraphicFramePr>
            <a:graphicFrameLocks noGrp="1"/>
          </p:cNvGraphicFramePr>
          <p:nvPr>
            <p:extLst>
              <p:ext uri="{D42A27DB-BD31-4B8C-83A1-F6EECF244321}">
                <p14:modId xmlns:p14="http://schemas.microsoft.com/office/powerpoint/2010/main" val="3359962917"/>
              </p:ext>
            </p:extLst>
          </p:nvPr>
        </p:nvGraphicFramePr>
        <p:xfrm>
          <a:off x="911550" y="2524941"/>
          <a:ext cx="10525275" cy="3659584"/>
        </p:xfrm>
        <a:graphic>
          <a:graphicData uri="http://schemas.openxmlformats.org/drawingml/2006/table">
            <a:tbl>
              <a:tblPr firstRow="1" bandRow="1">
                <a:tableStyleId>{5C22544A-7EE6-4342-B048-85BDC9FD1C3A}</a:tableStyleId>
              </a:tblPr>
              <a:tblGrid>
                <a:gridCol w="1275818">
                  <a:extLst>
                    <a:ext uri="{9D8B030D-6E8A-4147-A177-3AD203B41FA5}">
                      <a16:colId xmlns:a16="http://schemas.microsoft.com/office/drawing/2014/main" val="1444544991"/>
                    </a:ext>
                  </a:extLst>
                </a:gridCol>
                <a:gridCol w="1784131">
                  <a:extLst>
                    <a:ext uri="{9D8B030D-6E8A-4147-A177-3AD203B41FA5}">
                      <a16:colId xmlns:a16="http://schemas.microsoft.com/office/drawing/2014/main" val="3504962957"/>
                    </a:ext>
                  </a:extLst>
                </a:gridCol>
                <a:gridCol w="3255216">
                  <a:extLst>
                    <a:ext uri="{9D8B030D-6E8A-4147-A177-3AD203B41FA5}">
                      <a16:colId xmlns:a16="http://schemas.microsoft.com/office/drawing/2014/main" val="4153144543"/>
                    </a:ext>
                  </a:extLst>
                </a:gridCol>
                <a:gridCol w="2105055">
                  <a:extLst>
                    <a:ext uri="{9D8B030D-6E8A-4147-A177-3AD203B41FA5}">
                      <a16:colId xmlns:a16="http://schemas.microsoft.com/office/drawing/2014/main" val="2561281755"/>
                    </a:ext>
                  </a:extLst>
                </a:gridCol>
                <a:gridCol w="2105055">
                  <a:extLst>
                    <a:ext uri="{9D8B030D-6E8A-4147-A177-3AD203B41FA5}">
                      <a16:colId xmlns:a16="http://schemas.microsoft.com/office/drawing/2014/main" val="2025319261"/>
                    </a:ext>
                  </a:extLst>
                </a:gridCol>
              </a:tblGrid>
              <a:tr h="434836">
                <a:tc>
                  <a:txBody>
                    <a:bodyPr/>
                    <a:lstStyle/>
                    <a:p>
                      <a:pPr algn="ctr"/>
                      <a:r>
                        <a:rPr lang="en-US" b="0" dirty="0"/>
                        <a:t>Name of activity</a:t>
                      </a:r>
                    </a:p>
                  </a:txBody>
                  <a:tcPr/>
                </a:tc>
                <a:tc>
                  <a:txBody>
                    <a:bodyPr/>
                    <a:lstStyle/>
                    <a:p>
                      <a:pPr algn="ctr"/>
                      <a:r>
                        <a:rPr lang="en-US" b="0" dirty="0"/>
                        <a:t>Starting and finishing event</a:t>
                      </a:r>
                    </a:p>
                  </a:txBody>
                  <a:tcPr/>
                </a:tc>
                <a:tc>
                  <a:txBody>
                    <a:bodyPr/>
                    <a:lstStyle/>
                    <a:p>
                      <a:pPr algn="ctr"/>
                      <a:r>
                        <a:rPr lang="en-US" b="0" dirty="0"/>
                        <a:t>Description of activity</a:t>
                      </a:r>
                    </a:p>
                  </a:txBody>
                  <a:tcPr/>
                </a:tc>
                <a:tc>
                  <a:txBody>
                    <a:bodyPr/>
                    <a:lstStyle/>
                    <a:p>
                      <a:pPr algn="ctr"/>
                      <a:r>
                        <a:rPr lang="en-US" b="0" dirty="0"/>
                        <a:t>Predecessor</a:t>
                      </a:r>
                    </a:p>
                  </a:txBody>
                  <a:tcPr/>
                </a:tc>
                <a:tc>
                  <a:txBody>
                    <a:bodyPr/>
                    <a:lstStyle/>
                    <a:p>
                      <a:pPr algn="ctr"/>
                      <a:r>
                        <a:rPr lang="en-US" b="0" dirty="0"/>
                        <a:t>Duration (days)</a:t>
                      </a:r>
                    </a:p>
                  </a:txBody>
                  <a:tcPr/>
                </a:tc>
                <a:extLst>
                  <a:ext uri="{0D108BD9-81ED-4DB2-BD59-A6C34878D82A}">
                    <a16:rowId xmlns:a16="http://schemas.microsoft.com/office/drawing/2014/main" val="2176233553"/>
                  </a:ext>
                </a:extLst>
              </a:tr>
              <a:tr h="434836">
                <a:tc>
                  <a:txBody>
                    <a:bodyPr/>
                    <a:lstStyle/>
                    <a:p>
                      <a:pPr algn="ctr"/>
                      <a:r>
                        <a:rPr lang="en-US" dirty="0"/>
                        <a:t>A</a:t>
                      </a:r>
                    </a:p>
                  </a:txBody>
                  <a:tcPr/>
                </a:tc>
                <a:tc>
                  <a:txBody>
                    <a:bodyPr/>
                    <a:lstStyle/>
                    <a:p>
                      <a:pPr algn="ctr"/>
                      <a:r>
                        <a:rPr lang="en-US" dirty="0"/>
                        <a:t>(1,2)</a:t>
                      </a:r>
                    </a:p>
                  </a:txBody>
                  <a:tcPr/>
                </a:tc>
                <a:tc>
                  <a:txBody>
                    <a:bodyPr/>
                    <a:lstStyle/>
                    <a:p>
                      <a:r>
                        <a:rPr lang="en-US" dirty="0"/>
                        <a:t>Prepare the plan</a:t>
                      </a:r>
                    </a:p>
                  </a:txBody>
                  <a:tcPr/>
                </a:tc>
                <a:tc>
                  <a:txBody>
                    <a:bodyPr/>
                    <a:lstStyle/>
                    <a:p>
                      <a:pPr algn="ctr"/>
                      <a:r>
                        <a:rPr lang="en-US" dirty="0"/>
                        <a:t>--</a:t>
                      </a:r>
                    </a:p>
                  </a:txBody>
                  <a:tcPr/>
                </a:tc>
                <a:tc>
                  <a:txBody>
                    <a:bodyPr/>
                    <a:lstStyle/>
                    <a:p>
                      <a:pPr algn="ctr"/>
                      <a:r>
                        <a:rPr lang="en-US" dirty="0"/>
                        <a:t>4</a:t>
                      </a:r>
                    </a:p>
                  </a:txBody>
                  <a:tcPr/>
                </a:tc>
                <a:extLst>
                  <a:ext uri="{0D108BD9-81ED-4DB2-BD59-A6C34878D82A}">
                    <a16:rowId xmlns:a16="http://schemas.microsoft.com/office/drawing/2014/main" val="3589823237"/>
                  </a:ext>
                </a:extLst>
              </a:tr>
              <a:tr h="434836">
                <a:tc>
                  <a:txBody>
                    <a:bodyPr/>
                    <a:lstStyle/>
                    <a:p>
                      <a:pPr algn="ctr"/>
                      <a:r>
                        <a:rPr lang="en-US" dirty="0"/>
                        <a:t>B</a:t>
                      </a:r>
                    </a:p>
                  </a:txBody>
                  <a:tcPr/>
                </a:tc>
                <a:tc>
                  <a:txBody>
                    <a:bodyPr/>
                    <a:lstStyle/>
                    <a:p>
                      <a:pPr algn="ctr"/>
                      <a:r>
                        <a:rPr lang="en-US" dirty="0"/>
                        <a:t>(2,3)</a:t>
                      </a:r>
                    </a:p>
                  </a:txBody>
                  <a:tcPr/>
                </a:tc>
                <a:tc>
                  <a:txBody>
                    <a:bodyPr/>
                    <a:lstStyle/>
                    <a:p>
                      <a:r>
                        <a:rPr lang="en-US" dirty="0"/>
                        <a:t>Procure a supplier and labor </a:t>
                      </a:r>
                    </a:p>
                  </a:txBody>
                  <a:tcPr/>
                </a:tc>
                <a:tc>
                  <a:txBody>
                    <a:bodyPr/>
                    <a:lstStyle/>
                    <a:p>
                      <a:pPr algn="ctr"/>
                      <a:r>
                        <a:rPr lang="en-US" dirty="0"/>
                        <a:t>A</a:t>
                      </a:r>
                    </a:p>
                  </a:txBody>
                  <a:tcPr/>
                </a:tc>
                <a:tc>
                  <a:txBody>
                    <a:bodyPr/>
                    <a:lstStyle/>
                    <a:p>
                      <a:pPr algn="ctr"/>
                      <a:r>
                        <a:rPr lang="en-US" dirty="0"/>
                        <a:t>7</a:t>
                      </a:r>
                    </a:p>
                  </a:txBody>
                  <a:tcPr/>
                </a:tc>
                <a:extLst>
                  <a:ext uri="{0D108BD9-81ED-4DB2-BD59-A6C34878D82A}">
                    <a16:rowId xmlns:a16="http://schemas.microsoft.com/office/drawing/2014/main" val="628646877"/>
                  </a:ext>
                </a:extLst>
              </a:tr>
              <a:tr h="434836">
                <a:tc>
                  <a:txBody>
                    <a:bodyPr/>
                    <a:lstStyle/>
                    <a:p>
                      <a:pPr algn="ctr"/>
                      <a:r>
                        <a:rPr lang="en-US" dirty="0"/>
                        <a:t>C</a:t>
                      </a:r>
                    </a:p>
                  </a:txBody>
                  <a:tcPr/>
                </a:tc>
                <a:tc>
                  <a:txBody>
                    <a:bodyPr/>
                    <a:lstStyle/>
                    <a:p>
                      <a:pPr algn="ctr"/>
                      <a:r>
                        <a:rPr lang="en-US" dirty="0"/>
                        <a:t>(3,4)</a:t>
                      </a:r>
                    </a:p>
                  </a:txBody>
                  <a:tcPr/>
                </a:tc>
                <a:tc>
                  <a:txBody>
                    <a:bodyPr/>
                    <a:lstStyle/>
                    <a:p>
                      <a:r>
                        <a:rPr lang="en-US" dirty="0"/>
                        <a:t>Collect the materials for construction</a:t>
                      </a:r>
                    </a:p>
                  </a:txBody>
                  <a:tcPr/>
                </a:tc>
                <a:tc>
                  <a:txBody>
                    <a:bodyPr/>
                    <a:lstStyle/>
                    <a:p>
                      <a:pPr algn="ctr"/>
                      <a:r>
                        <a:rPr lang="en-US" dirty="0"/>
                        <a:t>B</a:t>
                      </a:r>
                    </a:p>
                  </a:txBody>
                  <a:tcPr/>
                </a:tc>
                <a:tc>
                  <a:txBody>
                    <a:bodyPr/>
                    <a:lstStyle/>
                    <a:p>
                      <a:pPr algn="ctr"/>
                      <a:r>
                        <a:rPr lang="en-US" dirty="0"/>
                        <a:t>14</a:t>
                      </a:r>
                    </a:p>
                  </a:txBody>
                  <a:tcPr/>
                </a:tc>
                <a:extLst>
                  <a:ext uri="{0D108BD9-81ED-4DB2-BD59-A6C34878D82A}">
                    <a16:rowId xmlns:a16="http://schemas.microsoft.com/office/drawing/2014/main" val="2456425596"/>
                  </a:ext>
                </a:extLst>
              </a:tr>
              <a:tr h="434836">
                <a:tc>
                  <a:txBody>
                    <a:bodyPr/>
                    <a:lstStyle/>
                    <a:p>
                      <a:pPr algn="ctr"/>
                      <a:r>
                        <a:rPr lang="en-US" dirty="0"/>
                        <a:t>D</a:t>
                      </a:r>
                    </a:p>
                  </a:txBody>
                  <a:tcPr/>
                </a:tc>
                <a:tc>
                  <a:txBody>
                    <a:bodyPr/>
                    <a:lstStyle/>
                    <a:p>
                      <a:pPr algn="ctr"/>
                      <a:r>
                        <a:rPr lang="en-US" dirty="0"/>
                        <a:t>(3,5)</a:t>
                      </a:r>
                    </a:p>
                  </a:txBody>
                  <a:tcPr/>
                </a:tc>
                <a:tc>
                  <a:txBody>
                    <a:bodyPr/>
                    <a:lstStyle/>
                    <a:p>
                      <a:r>
                        <a:rPr lang="en-US" dirty="0"/>
                        <a:t>Construct the poultry house</a:t>
                      </a:r>
                    </a:p>
                  </a:txBody>
                  <a:tcPr/>
                </a:tc>
                <a:tc>
                  <a:txBody>
                    <a:bodyPr/>
                    <a:lstStyle/>
                    <a:p>
                      <a:pPr algn="ctr"/>
                      <a:r>
                        <a:rPr lang="en-US" dirty="0"/>
                        <a:t>B</a:t>
                      </a:r>
                    </a:p>
                  </a:txBody>
                  <a:tcPr/>
                </a:tc>
                <a:tc>
                  <a:txBody>
                    <a:bodyPr/>
                    <a:lstStyle/>
                    <a:p>
                      <a:pPr algn="ctr"/>
                      <a:r>
                        <a:rPr lang="en-US" dirty="0"/>
                        <a:t>58</a:t>
                      </a:r>
                    </a:p>
                  </a:txBody>
                  <a:tcPr/>
                </a:tc>
                <a:extLst>
                  <a:ext uri="{0D108BD9-81ED-4DB2-BD59-A6C34878D82A}">
                    <a16:rowId xmlns:a16="http://schemas.microsoft.com/office/drawing/2014/main" val="1498847424"/>
                  </a:ext>
                </a:extLst>
              </a:tr>
              <a:tr h="434836">
                <a:tc>
                  <a:txBody>
                    <a:bodyPr/>
                    <a:lstStyle/>
                    <a:p>
                      <a:pPr algn="ctr"/>
                      <a:r>
                        <a:rPr lang="en-US" dirty="0"/>
                        <a:t>E</a:t>
                      </a:r>
                    </a:p>
                  </a:txBody>
                  <a:tcPr/>
                </a:tc>
                <a:tc>
                  <a:txBody>
                    <a:bodyPr/>
                    <a:lstStyle/>
                    <a:p>
                      <a:pPr algn="ctr"/>
                      <a:r>
                        <a:rPr lang="en-US" dirty="0"/>
                        <a:t>(4,6)</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Install wiring</a:t>
                      </a:r>
                    </a:p>
                  </a:txBody>
                  <a:tcPr/>
                </a:tc>
                <a:tc>
                  <a:txBody>
                    <a:bodyPr/>
                    <a:lstStyle/>
                    <a:p>
                      <a:pPr algn="ctr"/>
                      <a:r>
                        <a:rPr lang="en-US" dirty="0"/>
                        <a:t>C</a:t>
                      </a:r>
                    </a:p>
                  </a:txBody>
                  <a:tcPr/>
                </a:tc>
                <a:tc>
                  <a:txBody>
                    <a:bodyPr/>
                    <a:lstStyle/>
                    <a:p>
                      <a:pPr algn="ctr"/>
                      <a:r>
                        <a:rPr lang="en-US" dirty="0"/>
                        <a:t>5</a:t>
                      </a:r>
                    </a:p>
                  </a:txBody>
                  <a:tcPr/>
                </a:tc>
                <a:extLst>
                  <a:ext uri="{0D108BD9-81ED-4DB2-BD59-A6C34878D82A}">
                    <a16:rowId xmlns:a16="http://schemas.microsoft.com/office/drawing/2014/main" val="3560917278"/>
                  </a:ext>
                </a:extLst>
              </a:tr>
              <a:tr h="434836">
                <a:tc>
                  <a:txBody>
                    <a:bodyPr/>
                    <a:lstStyle/>
                    <a:p>
                      <a:pPr algn="ctr"/>
                      <a:r>
                        <a:rPr lang="en-US" dirty="0"/>
                        <a:t>F</a:t>
                      </a:r>
                    </a:p>
                  </a:txBody>
                  <a:tcPr/>
                </a:tc>
                <a:tc>
                  <a:txBody>
                    <a:bodyPr/>
                    <a:lstStyle/>
                    <a:p>
                      <a:pPr algn="ctr"/>
                      <a:r>
                        <a:rPr lang="en-US" dirty="0"/>
                        <a:t>(5,6)</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Finish and polish the poultry house</a:t>
                      </a:r>
                    </a:p>
                  </a:txBody>
                  <a:tcPr/>
                </a:tc>
                <a:tc>
                  <a:txBody>
                    <a:bodyPr/>
                    <a:lstStyle/>
                    <a:p>
                      <a:pPr algn="ctr"/>
                      <a:r>
                        <a:rPr lang="en-US" dirty="0"/>
                        <a:t>D</a:t>
                      </a:r>
                    </a:p>
                  </a:txBody>
                  <a:tcPr/>
                </a:tc>
                <a:tc>
                  <a:txBody>
                    <a:bodyPr/>
                    <a:lstStyle/>
                    <a:p>
                      <a:pPr algn="ctr"/>
                      <a:r>
                        <a:rPr lang="en-US" dirty="0"/>
                        <a:t>6</a:t>
                      </a:r>
                    </a:p>
                  </a:txBody>
                  <a:tcPr/>
                </a:tc>
                <a:extLst>
                  <a:ext uri="{0D108BD9-81ED-4DB2-BD59-A6C34878D82A}">
                    <a16:rowId xmlns:a16="http://schemas.microsoft.com/office/drawing/2014/main" val="238046053"/>
                  </a:ext>
                </a:extLst>
              </a:tr>
            </a:tbl>
          </a:graphicData>
        </a:graphic>
      </p:graphicFrame>
      <p:sp>
        <p:nvSpPr>
          <p:cNvPr id="4" name="Footer Placeholder 3">
            <a:extLst>
              <a:ext uri="{FF2B5EF4-FFF2-40B4-BE49-F238E27FC236}">
                <a16:creationId xmlns:a16="http://schemas.microsoft.com/office/drawing/2014/main" id="{FA1720DC-B727-2419-DBA1-4CBE876EA2E2}"/>
              </a:ext>
            </a:extLst>
          </p:cNvPr>
          <p:cNvSpPr>
            <a:spLocks noGrp="1"/>
          </p:cNvSpPr>
          <p:nvPr>
            <p:ph type="ftr" sz="quarter" idx="11"/>
          </p:nvPr>
        </p:nvSpPr>
        <p:spPr/>
        <p:txBody>
          <a:bodyPr/>
          <a:lstStyle/>
          <a:p>
            <a:r>
              <a:rPr lang="en-US"/>
              <a:t>Engr. Melanie D. Piedad, ABELE 2022 Topnotcher</a:t>
            </a:r>
            <a:endParaRPr lang="en-US" dirty="0"/>
          </a:p>
        </p:txBody>
      </p:sp>
      <p:sp>
        <p:nvSpPr>
          <p:cNvPr id="5" name="Slide Number Placeholder 4">
            <a:extLst>
              <a:ext uri="{FF2B5EF4-FFF2-40B4-BE49-F238E27FC236}">
                <a16:creationId xmlns:a16="http://schemas.microsoft.com/office/drawing/2014/main" id="{EF53AC8D-28CC-D25F-84EA-5BAA734D44E3}"/>
              </a:ext>
            </a:extLst>
          </p:cNvPr>
          <p:cNvSpPr>
            <a:spLocks noGrp="1"/>
          </p:cNvSpPr>
          <p:nvPr>
            <p:ph type="sldNum" sz="quarter" idx="12"/>
          </p:nvPr>
        </p:nvSpPr>
        <p:spPr/>
        <p:txBody>
          <a:bodyPr/>
          <a:lstStyle/>
          <a:p>
            <a:fld id="{D57F1E4F-1CFF-5643-939E-217C01CDF565}" type="slidenum">
              <a:rPr lang="en-US" smtClean="0"/>
              <a:pPr/>
              <a:t>12</a:t>
            </a:fld>
            <a:endParaRPr lang="en-US" dirty="0"/>
          </a:p>
        </p:txBody>
      </p:sp>
    </p:spTree>
    <p:extLst>
      <p:ext uri="{BB962C8B-B14F-4D97-AF65-F5344CB8AC3E}">
        <p14:creationId xmlns:p14="http://schemas.microsoft.com/office/powerpoint/2010/main" val="32699017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EDFA5F9-3B87-1E80-2C5A-DDFD36EED879}"/>
              </a:ext>
            </a:extLst>
          </p:cNvPr>
          <p:cNvSpPr txBox="1">
            <a:spLocks/>
          </p:cNvSpPr>
          <p:nvPr/>
        </p:nvSpPr>
        <p:spPr>
          <a:xfrm>
            <a:off x="947645" y="534990"/>
            <a:ext cx="8773871" cy="5913936"/>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rgbClr val="E18E2E"/>
                </a:solidFill>
                <a:latin typeface="Trebuchet MS" panose="020B0703020202090204" pitchFamily="34" charset="0"/>
              </a:rPr>
              <a:t>PERT and CPM</a:t>
            </a:r>
          </a:p>
          <a:p>
            <a:pPr algn="just"/>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algn="just"/>
            <a:r>
              <a:rPr lang="en-US" sz="2000" b="1" dirty="0">
                <a:solidFill>
                  <a:schemeClr val="accent1">
                    <a:lumMod val="50000"/>
                  </a:schemeClr>
                </a:solidFill>
                <a:latin typeface="Trebuchet MS" panose="020B0703020202090204" pitchFamily="34" charset="0"/>
              </a:rPr>
              <a:t>		</a:t>
            </a:r>
          </a:p>
          <a:p>
            <a:pPr marL="457200" indent="-457200">
              <a:buFont typeface="Wingdings" pitchFamily="2" charset="2"/>
              <a:buChar char="q"/>
            </a:pPr>
            <a:endParaRPr lang="en-US" sz="2800" b="1" dirty="0">
              <a:solidFill>
                <a:schemeClr val="accent1">
                  <a:lumMod val="50000"/>
                </a:schemeClr>
              </a:solidFill>
              <a:latin typeface="Trebuchet MS" panose="020B0703020202090204" pitchFamily="34" charset="0"/>
            </a:endParaRPr>
          </a:p>
        </p:txBody>
      </p:sp>
      <p:sp>
        <p:nvSpPr>
          <p:cNvPr id="3" name="Oval 2">
            <a:extLst>
              <a:ext uri="{FF2B5EF4-FFF2-40B4-BE49-F238E27FC236}">
                <a16:creationId xmlns:a16="http://schemas.microsoft.com/office/drawing/2014/main" id="{55FA2944-EDCB-9C09-6906-A62A19671245}"/>
              </a:ext>
            </a:extLst>
          </p:cNvPr>
          <p:cNvSpPr/>
          <p:nvPr/>
        </p:nvSpPr>
        <p:spPr>
          <a:xfrm>
            <a:off x="475239" y="3172427"/>
            <a:ext cx="842211" cy="8422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4" name="Oval 3">
            <a:extLst>
              <a:ext uri="{FF2B5EF4-FFF2-40B4-BE49-F238E27FC236}">
                <a16:creationId xmlns:a16="http://schemas.microsoft.com/office/drawing/2014/main" id="{C13E94DB-3033-3DAC-91F2-8BCED9BBC5CC}"/>
              </a:ext>
            </a:extLst>
          </p:cNvPr>
          <p:cNvSpPr/>
          <p:nvPr/>
        </p:nvSpPr>
        <p:spPr>
          <a:xfrm>
            <a:off x="4922616" y="3159373"/>
            <a:ext cx="842211" cy="8422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10" name="Straight Arrow Connector 9">
            <a:extLst>
              <a:ext uri="{FF2B5EF4-FFF2-40B4-BE49-F238E27FC236}">
                <a16:creationId xmlns:a16="http://schemas.microsoft.com/office/drawing/2014/main" id="{B5CA850F-EC89-14C3-630C-B5EEE772FC9D}"/>
              </a:ext>
            </a:extLst>
          </p:cNvPr>
          <p:cNvCxnSpPr>
            <a:cxnSpLocks/>
          </p:cNvCxnSpPr>
          <p:nvPr/>
        </p:nvCxnSpPr>
        <p:spPr>
          <a:xfrm>
            <a:off x="1317450" y="3615189"/>
            <a:ext cx="1282947"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A7D2B89-226C-54E2-0AAB-59040BBC9720}"/>
              </a:ext>
            </a:extLst>
          </p:cNvPr>
          <p:cNvCxnSpPr>
            <a:cxnSpLocks/>
            <a:endCxn id="4" idx="2"/>
          </p:cNvCxnSpPr>
          <p:nvPr/>
        </p:nvCxnSpPr>
        <p:spPr>
          <a:xfrm flipV="1">
            <a:off x="3455635" y="3580478"/>
            <a:ext cx="1466981" cy="3254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C61B575-1157-9902-18DA-1920835E7E43}"/>
              </a:ext>
            </a:extLst>
          </p:cNvPr>
          <p:cNvCxnSpPr>
            <a:cxnSpLocks/>
            <a:stCxn id="9" idx="6"/>
            <a:endCxn id="5" idx="3"/>
          </p:cNvCxnSpPr>
          <p:nvPr/>
        </p:nvCxnSpPr>
        <p:spPr>
          <a:xfrm flipV="1">
            <a:off x="7481598" y="3722420"/>
            <a:ext cx="1993452" cy="133647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Oval 1">
            <a:extLst>
              <a:ext uri="{FF2B5EF4-FFF2-40B4-BE49-F238E27FC236}">
                <a16:creationId xmlns:a16="http://schemas.microsoft.com/office/drawing/2014/main" id="{0BC9694E-4BCB-0C94-50A4-319FAB771581}"/>
              </a:ext>
            </a:extLst>
          </p:cNvPr>
          <p:cNvSpPr/>
          <p:nvPr/>
        </p:nvSpPr>
        <p:spPr>
          <a:xfrm>
            <a:off x="2600397" y="3172427"/>
            <a:ext cx="842211" cy="8422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5" name="Oval 4">
            <a:extLst>
              <a:ext uri="{FF2B5EF4-FFF2-40B4-BE49-F238E27FC236}">
                <a16:creationId xmlns:a16="http://schemas.microsoft.com/office/drawing/2014/main" id="{69CD8030-E65F-F973-3407-B5D00180EFA7}"/>
              </a:ext>
            </a:extLst>
          </p:cNvPr>
          <p:cNvSpPr/>
          <p:nvPr/>
        </p:nvSpPr>
        <p:spPr>
          <a:xfrm>
            <a:off x="9351711" y="3003549"/>
            <a:ext cx="842211" cy="8422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5" name="TextBox 14">
            <a:extLst>
              <a:ext uri="{FF2B5EF4-FFF2-40B4-BE49-F238E27FC236}">
                <a16:creationId xmlns:a16="http://schemas.microsoft.com/office/drawing/2014/main" id="{EAC385E2-68E1-A472-3CF8-E9427B97DD52}"/>
              </a:ext>
            </a:extLst>
          </p:cNvPr>
          <p:cNvSpPr txBox="1"/>
          <p:nvPr/>
        </p:nvSpPr>
        <p:spPr>
          <a:xfrm>
            <a:off x="1624253" y="3630404"/>
            <a:ext cx="493294" cy="461665"/>
          </a:xfrm>
          <a:prstGeom prst="rect">
            <a:avLst/>
          </a:prstGeom>
          <a:noFill/>
        </p:spPr>
        <p:txBody>
          <a:bodyPr wrap="square" rtlCol="0">
            <a:spAutoFit/>
          </a:bodyPr>
          <a:lstStyle/>
          <a:p>
            <a:pPr algn="ctr"/>
            <a:r>
              <a:rPr lang="en-US" sz="2400" dirty="0"/>
              <a:t>A</a:t>
            </a:r>
          </a:p>
        </p:txBody>
      </p:sp>
      <p:sp>
        <p:nvSpPr>
          <p:cNvPr id="16" name="TextBox 15">
            <a:extLst>
              <a:ext uri="{FF2B5EF4-FFF2-40B4-BE49-F238E27FC236}">
                <a16:creationId xmlns:a16="http://schemas.microsoft.com/office/drawing/2014/main" id="{5FE0F1C6-310E-3410-C0D0-036F65FC910F}"/>
              </a:ext>
            </a:extLst>
          </p:cNvPr>
          <p:cNvSpPr txBox="1"/>
          <p:nvPr/>
        </p:nvSpPr>
        <p:spPr>
          <a:xfrm>
            <a:off x="5891940" y="2413993"/>
            <a:ext cx="493294" cy="461665"/>
          </a:xfrm>
          <a:prstGeom prst="rect">
            <a:avLst/>
          </a:prstGeom>
          <a:noFill/>
        </p:spPr>
        <p:txBody>
          <a:bodyPr wrap="square" rtlCol="0">
            <a:spAutoFit/>
          </a:bodyPr>
          <a:lstStyle/>
          <a:p>
            <a:pPr algn="ctr"/>
            <a:r>
              <a:rPr lang="en-US" sz="2400" dirty="0"/>
              <a:t>C</a:t>
            </a:r>
          </a:p>
        </p:txBody>
      </p:sp>
      <p:sp>
        <p:nvSpPr>
          <p:cNvPr id="18" name="TextBox 17">
            <a:extLst>
              <a:ext uri="{FF2B5EF4-FFF2-40B4-BE49-F238E27FC236}">
                <a16:creationId xmlns:a16="http://schemas.microsoft.com/office/drawing/2014/main" id="{288C731D-BC82-A262-0EC6-9AD8D2ED28DE}"/>
              </a:ext>
            </a:extLst>
          </p:cNvPr>
          <p:cNvSpPr txBox="1"/>
          <p:nvPr/>
        </p:nvSpPr>
        <p:spPr>
          <a:xfrm>
            <a:off x="3878038" y="3612323"/>
            <a:ext cx="493294" cy="461665"/>
          </a:xfrm>
          <a:prstGeom prst="rect">
            <a:avLst/>
          </a:prstGeom>
          <a:noFill/>
        </p:spPr>
        <p:txBody>
          <a:bodyPr wrap="square" rtlCol="0">
            <a:spAutoFit/>
          </a:bodyPr>
          <a:lstStyle/>
          <a:p>
            <a:pPr algn="ctr"/>
            <a:r>
              <a:rPr lang="en-US" sz="2400" dirty="0"/>
              <a:t>B</a:t>
            </a:r>
          </a:p>
        </p:txBody>
      </p:sp>
      <p:sp>
        <p:nvSpPr>
          <p:cNvPr id="19" name="TextBox 18">
            <a:extLst>
              <a:ext uri="{FF2B5EF4-FFF2-40B4-BE49-F238E27FC236}">
                <a16:creationId xmlns:a16="http://schemas.microsoft.com/office/drawing/2014/main" id="{4DB45DD1-55CE-4454-2F7E-F173FD847EC3}"/>
              </a:ext>
            </a:extLst>
          </p:cNvPr>
          <p:cNvSpPr txBox="1"/>
          <p:nvPr/>
        </p:nvSpPr>
        <p:spPr>
          <a:xfrm>
            <a:off x="5514657" y="4390656"/>
            <a:ext cx="754566" cy="461665"/>
          </a:xfrm>
          <a:prstGeom prst="rect">
            <a:avLst/>
          </a:prstGeom>
          <a:noFill/>
        </p:spPr>
        <p:txBody>
          <a:bodyPr wrap="square" rtlCol="0">
            <a:spAutoFit/>
          </a:bodyPr>
          <a:lstStyle/>
          <a:p>
            <a:pPr algn="ctr"/>
            <a:r>
              <a:rPr lang="en-US" sz="2400" dirty="0"/>
              <a:t>D</a:t>
            </a:r>
          </a:p>
        </p:txBody>
      </p:sp>
      <p:sp>
        <p:nvSpPr>
          <p:cNvPr id="6" name="Oval 5">
            <a:extLst>
              <a:ext uri="{FF2B5EF4-FFF2-40B4-BE49-F238E27FC236}">
                <a16:creationId xmlns:a16="http://schemas.microsoft.com/office/drawing/2014/main" id="{7332867C-066E-EFA8-3BA6-7355B3B0BDEE}"/>
              </a:ext>
            </a:extLst>
          </p:cNvPr>
          <p:cNvSpPr/>
          <p:nvPr/>
        </p:nvSpPr>
        <p:spPr>
          <a:xfrm>
            <a:off x="7082442" y="1837894"/>
            <a:ext cx="842211" cy="8422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Oval 8">
            <a:extLst>
              <a:ext uri="{FF2B5EF4-FFF2-40B4-BE49-F238E27FC236}">
                <a16:creationId xmlns:a16="http://schemas.microsoft.com/office/drawing/2014/main" id="{C7C88FBC-B645-9DAA-DF20-444615505A94}"/>
              </a:ext>
            </a:extLst>
          </p:cNvPr>
          <p:cNvSpPr/>
          <p:nvPr/>
        </p:nvSpPr>
        <p:spPr>
          <a:xfrm>
            <a:off x="6639387" y="4637787"/>
            <a:ext cx="842211" cy="8422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29" name="Straight Arrow Connector 28">
            <a:extLst>
              <a:ext uri="{FF2B5EF4-FFF2-40B4-BE49-F238E27FC236}">
                <a16:creationId xmlns:a16="http://schemas.microsoft.com/office/drawing/2014/main" id="{E4A317DB-CE70-6049-872C-6E6221F11DAE}"/>
              </a:ext>
            </a:extLst>
          </p:cNvPr>
          <p:cNvCxnSpPr>
            <a:cxnSpLocks/>
            <a:stCxn id="4" idx="7"/>
          </p:cNvCxnSpPr>
          <p:nvPr/>
        </p:nvCxnSpPr>
        <p:spPr>
          <a:xfrm flipV="1">
            <a:off x="5641488" y="2468605"/>
            <a:ext cx="1487493" cy="81410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A6724C20-3145-803E-5836-7414E0682530}"/>
              </a:ext>
            </a:extLst>
          </p:cNvPr>
          <p:cNvCxnSpPr>
            <a:cxnSpLocks/>
            <a:stCxn id="4" idx="5"/>
            <a:endCxn id="9" idx="2"/>
          </p:cNvCxnSpPr>
          <p:nvPr/>
        </p:nvCxnSpPr>
        <p:spPr>
          <a:xfrm>
            <a:off x="5641488" y="3878244"/>
            <a:ext cx="997899" cy="118064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716C2353-27B9-F2B1-5B6E-8D231D45F6A1}"/>
              </a:ext>
            </a:extLst>
          </p:cNvPr>
          <p:cNvCxnSpPr>
            <a:cxnSpLocks/>
            <a:endCxn id="5" idx="1"/>
          </p:cNvCxnSpPr>
          <p:nvPr/>
        </p:nvCxnSpPr>
        <p:spPr>
          <a:xfrm>
            <a:off x="7948448" y="2297583"/>
            <a:ext cx="1526602" cy="82930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EE03CAB8-9858-C552-C0C0-8A93BFF90658}"/>
              </a:ext>
            </a:extLst>
          </p:cNvPr>
          <p:cNvSpPr txBox="1"/>
          <p:nvPr/>
        </p:nvSpPr>
        <p:spPr>
          <a:xfrm>
            <a:off x="8334466" y="2101553"/>
            <a:ext cx="754566" cy="461665"/>
          </a:xfrm>
          <a:prstGeom prst="rect">
            <a:avLst/>
          </a:prstGeom>
          <a:noFill/>
        </p:spPr>
        <p:txBody>
          <a:bodyPr wrap="square" rtlCol="0">
            <a:spAutoFit/>
          </a:bodyPr>
          <a:lstStyle/>
          <a:p>
            <a:pPr algn="ctr"/>
            <a:r>
              <a:rPr lang="en-US" sz="2400" dirty="0"/>
              <a:t>E</a:t>
            </a:r>
          </a:p>
        </p:txBody>
      </p:sp>
      <p:sp>
        <p:nvSpPr>
          <p:cNvPr id="37" name="TextBox 36">
            <a:extLst>
              <a:ext uri="{FF2B5EF4-FFF2-40B4-BE49-F238E27FC236}">
                <a16:creationId xmlns:a16="http://schemas.microsoft.com/office/drawing/2014/main" id="{3057891B-2F56-5116-67DC-7764A090560D}"/>
              </a:ext>
            </a:extLst>
          </p:cNvPr>
          <p:cNvSpPr txBox="1"/>
          <p:nvPr/>
        </p:nvSpPr>
        <p:spPr>
          <a:xfrm>
            <a:off x="8103646" y="4390656"/>
            <a:ext cx="754566" cy="461665"/>
          </a:xfrm>
          <a:prstGeom prst="rect">
            <a:avLst/>
          </a:prstGeom>
          <a:noFill/>
        </p:spPr>
        <p:txBody>
          <a:bodyPr wrap="square" rtlCol="0">
            <a:spAutoFit/>
          </a:bodyPr>
          <a:lstStyle/>
          <a:p>
            <a:pPr algn="ctr"/>
            <a:r>
              <a:rPr lang="en-US" sz="2400" dirty="0"/>
              <a:t>F</a:t>
            </a:r>
          </a:p>
        </p:txBody>
      </p:sp>
      <p:sp>
        <p:nvSpPr>
          <p:cNvPr id="8" name="Footer Placeholder 7">
            <a:extLst>
              <a:ext uri="{FF2B5EF4-FFF2-40B4-BE49-F238E27FC236}">
                <a16:creationId xmlns:a16="http://schemas.microsoft.com/office/drawing/2014/main" id="{6C8CD3A9-A6DE-7261-0A04-45B36EBF5A27}"/>
              </a:ext>
            </a:extLst>
          </p:cNvPr>
          <p:cNvSpPr>
            <a:spLocks noGrp="1"/>
          </p:cNvSpPr>
          <p:nvPr>
            <p:ph type="ftr" sz="quarter" idx="11"/>
          </p:nvPr>
        </p:nvSpPr>
        <p:spPr/>
        <p:txBody>
          <a:bodyPr/>
          <a:lstStyle/>
          <a:p>
            <a:r>
              <a:rPr lang="en-US"/>
              <a:t>Engr. Melanie D. Piedad, ABELE 2022 Topnotcher</a:t>
            </a:r>
            <a:endParaRPr lang="en-US" dirty="0"/>
          </a:p>
        </p:txBody>
      </p:sp>
      <p:sp>
        <p:nvSpPr>
          <p:cNvPr id="11" name="Slide Number Placeholder 10">
            <a:extLst>
              <a:ext uri="{FF2B5EF4-FFF2-40B4-BE49-F238E27FC236}">
                <a16:creationId xmlns:a16="http://schemas.microsoft.com/office/drawing/2014/main" id="{AE1C2214-4235-251A-3C85-C8C043F52FD8}"/>
              </a:ext>
            </a:extLst>
          </p:cNvPr>
          <p:cNvSpPr>
            <a:spLocks noGrp="1"/>
          </p:cNvSpPr>
          <p:nvPr>
            <p:ph type="sldNum" sz="quarter" idx="12"/>
          </p:nvPr>
        </p:nvSpPr>
        <p:spPr/>
        <p:txBody>
          <a:bodyPr/>
          <a:lstStyle/>
          <a:p>
            <a:fld id="{D57F1E4F-1CFF-5643-939E-217C01CDF565}" type="slidenum">
              <a:rPr lang="en-US" smtClean="0"/>
              <a:pPr/>
              <a:t>13</a:t>
            </a:fld>
            <a:endParaRPr lang="en-US" dirty="0"/>
          </a:p>
        </p:txBody>
      </p:sp>
    </p:spTree>
    <p:extLst>
      <p:ext uri="{BB962C8B-B14F-4D97-AF65-F5344CB8AC3E}">
        <p14:creationId xmlns:p14="http://schemas.microsoft.com/office/powerpoint/2010/main" val="18479006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3E1256D-5017-74B9-E4ED-4D9EB0521160}"/>
              </a:ext>
            </a:extLst>
          </p:cNvPr>
          <p:cNvSpPr>
            <a:spLocks noGrp="1"/>
          </p:cNvSpPr>
          <p:nvPr>
            <p:ph type="ctrTitle"/>
          </p:nvPr>
        </p:nvSpPr>
        <p:spPr>
          <a:xfrm>
            <a:off x="911550" y="673475"/>
            <a:ext cx="5966889" cy="608944"/>
          </a:xfrm>
        </p:spPr>
        <p:txBody>
          <a:bodyPr anchor="ctr"/>
          <a:lstStyle/>
          <a:p>
            <a:pPr algn="just"/>
            <a:r>
              <a:rPr lang="en-US" sz="4000" b="1" dirty="0">
                <a:solidFill>
                  <a:srgbClr val="E18E2E"/>
                </a:solidFill>
                <a:latin typeface="Trebuchet MS" panose="020B0703020202090204" pitchFamily="34" charset="0"/>
              </a:rPr>
              <a:t>Sample questions</a:t>
            </a:r>
          </a:p>
        </p:txBody>
      </p:sp>
      <p:sp>
        <p:nvSpPr>
          <p:cNvPr id="3" name="Title 1">
            <a:extLst>
              <a:ext uri="{FF2B5EF4-FFF2-40B4-BE49-F238E27FC236}">
                <a16:creationId xmlns:a16="http://schemas.microsoft.com/office/drawing/2014/main" id="{345F3751-F15A-426C-A1DA-41A065A128B5}"/>
              </a:ext>
            </a:extLst>
          </p:cNvPr>
          <p:cNvSpPr txBox="1">
            <a:spLocks/>
          </p:cNvSpPr>
          <p:nvPr/>
        </p:nvSpPr>
        <p:spPr>
          <a:xfrm>
            <a:off x="911550" y="1282419"/>
            <a:ext cx="8376829" cy="4504552"/>
          </a:xfrm>
          <a:prstGeom prst="rect">
            <a:avLst/>
          </a:prstGeom>
        </p:spPr>
        <p:txBody>
          <a:bodyPr vert="horz" lIns="91440" tIns="45720" rIns="91440" bIns="45720" rtlCol="0" anchor="t">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just"/>
            <a:r>
              <a:rPr lang="en-US" sz="2400" b="1" dirty="0">
                <a:solidFill>
                  <a:schemeClr val="accent1">
                    <a:lumMod val="50000"/>
                  </a:schemeClr>
                </a:solidFill>
                <a:ea typeface="Calibri" panose="020F0502020204030204" pitchFamily="34" charset="0"/>
                <a:cs typeface="Times New Roman" panose="02020603050405020304" pitchFamily="18" charset="0"/>
              </a:rPr>
              <a:t>Consider the project given on the table. Construct a network diagram  using the sequence of activities for agricultural building construction project.</a:t>
            </a:r>
          </a:p>
          <a:p>
            <a:pPr algn="just"/>
            <a:endParaRPr lang="en-US" sz="2400" b="1" dirty="0">
              <a:solidFill>
                <a:schemeClr val="accent1">
                  <a:lumMod val="50000"/>
                </a:schemeClr>
              </a:solidFill>
              <a:ea typeface="Calibri" panose="020F0502020204030204" pitchFamily="34" charset="0"/>
              <a:cs typeface="Times New Roman" panose="02020603050405020304" pitchFamily="18" charset="0"/>
            </a:endParaRPr>
          </a:p>
          <a:p>
            <a:pPr algn="just"/>
            <a:endParaRPr lang="en-US" sz="2400" b="1" dirty="0">
              <a:solidFill>
                <a:schemeClr val="accent1">
                  <a:lumMod val="50000"/>
                </a:schemeClr>
              </a:solidFill>
              <a:ea typeface="Calibri" panose="020F0502020204030204" pitchFamily="34" charset="0"/>
              <a:cs typeface="Times New Roman" panose="02020603050405020304" pitchFamily="18" charset="0"/>
            </a:endParaRPr>
          </a:p>
          <a:p>
            <a:pPr algn="just"/>
            <a:endParaRPr lang="en-US" sz="2400" b="1" dirty="0">
              <a:solidFill>
                <a:schemeClr val="accent1">
                  <a:lumMod val="50000"/>
                </a:schemeClr>
              </a:solidFill>
              <a:ea typeface="Calibri" panose="020F0502020204030204" pitchFamily="34"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EA2EF680-531D-FC4F-9CBE-A839E56137D8}"/>
              </a:ext>
            </a:extLst>
          </p:cNvPr>
          <p:cNvGraphicFramePr>
            <a:graphicFrameLocks noGrp="1"/>
          </p:cNvGraphicFramePr>
          <p:nvPr>
            <p:extLst>
              <p:ext uri="{D42A27DB-BD31-4B8C-83A1-F6EECF244321}">
                <p14:modId xmlns:p14="http://schemas.microsoft.com/office/powerpoint/2010/main" val="291315462"/>
              </p:ext>
            </p:extLst>
          </p:nvPr>
        </p:nvGraphicFramePr>
        <p:xfrm>
          <a:off x="911550" y="2524941"/>
          <a:ext cx="8628235" cy="3249096"/>
        </p:xfrm>
        <a:graphic>
          <a:graphicData uri="http://schemas.openxmlformats.org/drawingml/2006/table">
            <a:tbl>
              <a:tblPr firstRow="1" bandRow="1">
                <a:tableStyleId>{5C22544A-7EE6-4342-B048-85BDC9FD1C3A}</a:tableStyleId>
              </a:tblPr>
              <a:tblGrid>
                <a:gridCol w="1658817">
                  <a:extLst>
                    <a:ext uri="{9D8B030D-6E8A-4147-A177-3AD203B41FA5}">
                      <a16:colId xmlns:a16="http://schemas.microsoft.com/office/drawing/2014/main" val="1444544991"/>
                    </a:ext>
                  </a:extLst>
                </a:gridCol>
                <a:gridCol w="4232428">
                  <a:extLst>
                    <a:ext uri="{9D8B030D-6E8A-4147-A177-3AD203B41FA5}">
                      <a16:colId xmlns:a16="http://schemas.microsoft.com/office/drawing/2014/main" val="4153144543"/>
                    </a:ext>
                  </a:extLst>
                </a:gridCol>
                <a:gridCol w="2736990">
                  <a:extLst>
                    <a:ext uri="{9D8B030D-6E8A-4147-A177-3AD203B41FA5}">
                      <a16:colId xmlns:a16="http://schemas.microsoft.com/office/drawing/2014/main" val="2561281755"/>
                    </a:ext>
                  </a:extLst>
                </a:gridCol>
              </a:tblGrid>
              <a:tr h="434836">
                <a:tc>
                  <a:txBody>
                    <a:bodyPr/>
                    <a:lstStyle/>
                    <a:p>
                      <a:pPr algn="ctr"/>
                      <a:r>
                        <a:rPr lang="en-US" b="0" dirty="0"/>
                        <a:t>Name of activity</a:t>
                      </a:r>
                    </a:p>
                  </a:txBody>
                  <a:tcPr/>
                </a:tc>
                <a:tc>
                  <a:txBody>
                    <a:bodyPr/>
                    <a:lstStyle/>
                    <a:p>
                      <a:pPr algn="ctr"/>
                      <a:r>
                        <a:rPr lang="en-US" b="0" dirty="0"/>
                        <a:t>Description of activity</a:t>
                      </a:r>
                    </a:p>
                  </a:txBody>
                  <a:tcPr/>
                </a:tc>
                <a:tc>
                  <a:txBody>
                    <a:bodyPr/>
                    <a:lstStyle/>
                    <a:p>
                      <a:pPr algn="ctr"/>
                      <a:r>
                        <a:rPr lang="en-US" b="0" dirty="0"/>
                        <a:t>Predecessor</a:t>
                      </a:r>
                    </a:p>
                  </a:txBody>
                  <a:tcPr/>
                </a:tc>
                <a:extLst>
                  <a:ext uri="{0D108BD9-81ED-4DB2-BD59-A6C34878D82A}">
                    <a16:rowId xmlns:a16="http://schemas.microsoft.com/office/drawing/2014/main" val="2176233553"/>
                  </a:ext>
                </a:extLst>
              </a:tr>
              <a:tr h="434836">
                <a:tc>
                  <a:txBody>
                    <a:bodyPr/>
                    <a:lstStyle/>
                    <a:p>
                      <a:pPr algn="ctr"/>
                      <a:r>
                        <a:rPr lang="en-US" dirty="0"/>
                        <a:t>A</a:t>
                      </a:r>
                    </a:p>
                  </a:txBody>
                  <a:tcPr/>
                </a:tc>
                <a:tc>
                  <a:txBody>
                    <a:bodyPr/>
                    <a:lstStyle/>
                    <a:p>
                      <a:r>
                        <a:rPr lang="en-US" dirty="0"/>
                        <a:t>Purchase of land</a:t>
                      </a:r>
                    </a:p>
                  </a:txBody>
                  <a:tcPr/>
                </a:tc>
                <a:tc>
                  <a:txBody>
                    <a:bodyPr/>
                    <a:lstStyle/>
                    <a:p>
                      <a:pPr algn="ctr"/>
                      <a:r>
                        <a:rPr lang="en-US" dirty="0"/>
                        <a:t>--</a:t>
                      </a:r>
                    </a:p>
                  </a:txBody>
                  <a:tcPr/>
                </a:tc>
                <a:extLst>
                  <a:ext uri="{0D108BD9-81ED-4DB2-BD59-A6C34878D82A}">
                    <a16:rowId xmlns:a16="http://schemas.microsoft.com/office/drawing/2014/main" val="3589823237"/>
                  </a:ext>
                </a:extLst>
              </a:tr>
              <a:tr h="434836">
                <a:tc>
                  <a:txBody>
                    <a:bodyPr/>
                    <a:lstStyle/>
                    <a:p>
                      <a:pPr algn="ctr"/>
                      <a:r>
                        <a:rPr lang="en-US" dirty="0"/>
                        <a:t>B</a:t>
                      </a:r>
                    </a:p>
                  </a:txBody>
                  <a:tcPr/>
                </a:tc>
                <a:tc>
                  <a:txBody>
                    <a:bodyPr/>
                    <a:lstStyle/>
                    <a:p>
                      <a:r>
                        <a:rPr lang="en-US" dirty="0"/>
                        <a:t>Preparation of building plan</a:t>
                      </a:r>
                    </a:p>
                  </a:txBody>
                  <a:tcPr/>
                </a:tc>
                <a:tc>
                  <a:txBody>
                    <a:bodyPr/>
                    <a:lstStyle/>
                    <a:p>
                      <a:pPr algn="ctr"/>
                      <a:r>
                        <a:rPr lang="en-US" dirty="0"/>
                        <a:t>--</a:t>
                      </a:r>
                    </a:p>
                  </a:txBody>
                  <a:tcPr/>
                </a:tc>
                <a:extLst>
                  <a:ext uri="{0D108BD9-81ED-4DB2-BD59-A6C34878D82A}">
                    <a16:rowId xmlns:a16="http://schemas.microsoft.com/office/drawing/2014/main" val="628646877"/>
                  </a:ext>
                </a:extLst>
              </a:tr>
              <a:tr h="434836">
                <a:tc>
                  <a:txBody>
                    <a:bodyPr/>
                    <a:lstStyle/>
                    <a:p>
                      <a:pPr algn="ctr"/>
                      <a:r>
                        <a:rPr lang="en-US" dirty="0"/>
                        <a:t>C</a:t>
                      </a:r>
                    </a:p>
                  </a:txBody>
                  <a:tcPr/>
                </a:tc>
                <a:tc>
                  <a:txBody>
                    <a:bodyPr/>
                    <a:lstStyle/>
                    <a:p>
                      <a:r>
                        <a:rPr lang="en-US" dirty="0"/>
                        <a:t>Level or clean the land</a:t>
                      </a:r>
                    </a:p>
                  </a:txBody>
                  <a:tcPr/>
                </a:tc>
                <a:tc>
                  <a:txBody>
                    <a:bodyPr/>
                    <a:lstStyle/>
                    <a:p>
                      <a:pPr algn="ctr"/>
                      <a:r>
                        <a:rPr lang="en-US" dirty="0"/>
                        <a:t>A</a:t>
                      </a:r>
                    </a:p>
                  </a:txBody>
                  <a:tcPr/>
                </a:tc>
                <a:extLst>
                  <a:ext uri="{0D108BD9-81ED-4DB2-BD59-A6C34878D82A}">
                    <a16:rowId xmlns:a16="http://schemas.microsoft.com/office/drawing/2014/main" val="2456425596"/>
                  </a:ext>
                </a:extLst>
              </a:tr>
              <a:tr h="434836">
                <a:tc>
                  <a:txBody>
                    <a:bodyPr/>
                    <a:lstStyle/>
                    <a:p>
                      <a:pPr algn="ctr"/>
                      <a:r>
                        <a:rPr lang="en-US" dirty="0"/>
                        <a:t>D</a:t>
                      </a:r>
                    </a:p>
                  </a:txBody>
                  <a:tcPr/>
                </a:tc>
                <a:tc>
                  <a:txBody>
                    <a:bodyPr/>
                    <a:lstStyle/>
                    <a:p>
                      <a:r>
                        <a:rPr lang="en-US" dirty="0"/>
                        <a:t>Register and get approval</a:t>
                      </a:r>
                    </a:p>
                  </a:txBody>
                  <a:tcPr/>
                </a:tc>
                <a:tc>
                  <a:txBody>
                    <a:bodyPr/>
                    <a:lstStyle/>
                    <a:p>
                      <a:pPr algn="ctr"/>
                      <a:r>
                        <a:rPr lang="en-US" dirty="0"/>
                        <a:t>A,B</a:t>
                      </a:r>
                    </a:p>
                  </a:txBody>
                  <a:tcPr/>
                </a:tc>
                <a:extLst>
                  <a:ext uri="{0D108BD9-81ED-4DB2-BD59-A6C34878D82A}">
                    <a16:rowId xmlns:a16="http://schemas.microsoft.com/office/drawing/2014/main" val="1498847424"/>
                  </a:ext>
                </a:extLst>
              </a:tr>
              <a:tr h="434836">
                <a:tc>
                  <a:txBody>
                    <a:bodyPr/>
                    <a:lstStyle/>
                    <a:p>
                      <a:pPr algn="ctr"/>
                      <a:r>
                        <a:rPr lang="en-US" dirty="0"/>
                        <a:t>E</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Construct the building</a:t>
                      </a:r>
                    </a:p>
                  </a:txBody>
                  <a:tcPr/>
                </a:tc>
                <a:tc>
                  <a:txBody>
                    <a:bodyPr/>
                    <a:lstStyle/>
                    <a:p>
                      <a:pPr algn="ctr"/>
                      <a:r>
                        <a:rPr lang="en-US" dirty="0"/>
                        <a:t>C</a:t>
                      </a:r>
                    </a:p>
                  </a:txBody>
                  <a:tcPr/>
                </a:tc>
                <a:extLst>
                  <a:ext uri="{0D108BD9-81ED-4DB2-BD59-A6C34878D82A}">
                    <a16:rowId xmlns:a16="http://schemas.microsoft.com/office/drawing/2014/main" val="3560917278"/>
                  </a:ext>
                </a:extLst>
              </a:tr>
              <a:tr h="434836">
                <a:tc>
                  <a:txBody>
                    <a:bodyPr/>
                    <a:lstStyle/>
                    <a:p>
                      <a:pPr algn="ctr"/>
                      <a:r>
                        <a:rPr lang="en-US" dirty="0"/>
                        <a:t>F</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Finish and polish the building</a:t>
                      </a:r>
                    </a:p>
                  </a:txBody>
                  <a:tcPr/>
                </a:tc>
                <a:tc>
                  <a:txBody>
                    <a:bodyPr/>
                    <a:lstStyle/>
                    <a:p>
                      <a:pPr algn="ctr"/>
                      <a:r>
                        <a:rPr lang="en-US" dirty="0"/>
                        <a:t>D</a:t>
                      </a:r>
                    </a:p>
                  </a:txBody>
                  <a:tcPr/>
                </a:tc>
                <a:extLst>
                  <a:ext uri="{0D108BD9-81ED-4DB2-BD59-A6C34878D82A}">
                    <a16:rowId xmlns:a16="http://schemas.microsoft.com/office/drawing/2014/main" val="238046053"/>
                  </a:ext>
                </a:extLst>
              </a:tr>
            </a:tbl>
          </a:graphicData>
        </a:graphic>
      </p:graphicFrame>
      <p:sp>
        <p:nvSpPr>
          <p:cNvPr id="4" name="Footer Placeholder 3">
            <a:extLst>
              <a:ext uri="{FF2B5EF4-FFF2-40B4-BE49-F238E27FC236}">
                <a16:creationId xmlns:a16="http://schemas.microsoft.com/office/drawing/2014/main" id="{DEB0F531-1275-49AD-6E29-4BE7CF44C562}"/>
              </a:ext>
            </a:extLst>
          </p:cNvPr>
          <p:cNvSpPr>
            <a:spLocks noGrp="1"/>
          </p:cNvSpPr>
          <p:nvPr>
            <p:ph type="ftr" sz="quarter" idx="11"/>
          </p:nvPr>
        </p:nvSpPr>
        <p:spPr/>
        <p:txBody>
          <a:bodyPr/>
          <a:lstStyle/>
          <a:p>
            <a:r>
              <a:rPr lang="en-US"/>
              <a:t>Engr. Melanie D. Piedad, ABELE 2022 Topnotcher</a:t>
            </a:r>
            <a:endParaRPr lang="en-US" dirty="0"/>
          </a:p>
        </p:txBody>
      </p:sp>
      <p:sp>
        <p:nvSpPr>
          <p:cNvPr id="5" name="Slide Number Placeholder 4">
            <a:extLst>
              <a:ext uri="{FF2B5EF4-FFF2-40B4-BE49-F238E27FC236}">
                <a16:creationId xmlns:a16="http://schemas.microsoft.com/office/drawing/2014/main" id="{F8F45A2D-3127-8D77-241B-5570F55BA14C}"/>
              </a:ext>
            </a:extLst>
          </p:cNvPr>
          <p:cNvSpPr>
            <a:spLocks noGrp="1"/>
          </p:cNvSpPr>
          <p:nvPr>
            <p:ph type="sldNum" sz="quarter" idx="12"/>
          </p:nvPr>
        </p:nvSpPr>
        <p:spPr/>
        <p:txBody>
          <a:bodyPr/>
          <a:lstStyle/>
          <a:p>
            <a:fld id="{D57F1E4F-1CFF-5643-939E-217C01CDF565}" type="slidenum">
              <a:rPr lang="en-US" smtClean="0"/>
              <a:pPr/>
              <a:t>14</a:t>
            </a:fld>
            <a:endParaRPr lang="en-US" dirty="0"/>
          </a:p>
        </p:txBody>
      </p:sp>
    </p:spTree>
    <p:extLst>
      <p:ext uri="{BB962C8B-B14F-4D97-AF65-F5344CB8AC3E}">
        <p14:creationId xmlns:p14="http://schemas.microsoft.com/office/powerpoint/2010/main" val="13390469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EDFA5F9-3B87-1E80-2C5A-DDFD36EED879}"/>
              </a:ext>
            </a:extLst>
          </p:cNvPr>
          <p:cNvSpPr txBox="1">
            <a:spLocks/>
          </p:cNvSpPr>
          <p:nvPr/>
        </p:nvSpPr>
        <p:spPr>
          <a:xfrm>
            <a:off x="947645" y="534990"/>
            <a:ext cx="8773871" cy="5913936"/>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rgbClr val="E18E2E"/>
                </a:solidFill>
                <a:latin typeface="Trebuchet MS" panose="020B0703020202090204" pitchFamily="34" charset="0"/>
              </a:rPr>
              <a:t>PERT and CPM</a:t>
            </a:r>
          </a:p>
          <a:p>
            <a:pPr algn="just"/>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marL="457200" indent="-457200" algn="just">
              <a:buAutoNum type="arabicPeriod"/>
            </a:pPr>
            <a:endParaRPr lang="en-US" sz="2000" b="1" dirty="0">
              <a:solidFill>
                <a:schemeClr val="accent1">
                  <a:lumMod val="50000"/>
                </a:schemeClr>
              </a:solidFill>
              <a:latin typeface="Trebuchet MS" panose="020B0703020202090204" pitchFamily="34" charset="0"/>
            </a:endParaRPr>
          </a:p>
          <a:p>
            <a:pPr algn="just"/>
            <a:r>
              <a:rPr lang="en-US" sz="2000" b="1" dirty="0">
                <a:solidFill>
                  <a:schemeClr val="accent1">
                    <a:lumMod val="50000"/>
                  </a:schemeClr>
                </a:solidFill>
                <a:latin typeface="Trebuchet MS" panose="020B0703020202090204" pitchFamily="34" charset="0"/>
              </a:rPr>
              <a:t>		</a:t>
            </a:r>
          </a:p>
          <a:p>
            <a:pPr marL="457200" indent="-457200">
              <a:buFont typeface="Wingdings" pitchFamily="2" charset="2"/>
              <a:buChar char="q"/>
            </a:pPr>
            <a:endParaRPr lang="en-US" sz="2800" b="1" dirty="0">
              <a:solidFill>
                <a:schemeClr val="accent1">
                  <a:lumMod val="50000"/>
                </a:schemeClr>
              </a:solidFill>
              <a:latin typeface="Trebuchet MS" panose="020B0703020202090204" pitchFamily="34" charset="0"/>
            </a:endParaRPr>
          </a:p>
        </p:txBody>
      </p:sp>
      <p:sp>
        <p:nvSpPr>
          <p:cNvPr id="3" name="Oval 2">
            <a:extLst>
              <a:ext uri="{FF2B5EF4-FFF2-40B4-BE49-F238E27FC236}">
                <a16:creationId xmlns:a16="http://schemas.microsoft.com/office/drawing/2014/main" id="{55FA2944-EDCB-9C09-6906-A62A19671245}"/>
              </a:ext>
            </a:extLst>
          </p:cNvPr>
          <p:cNvSpPr/>
          <p:nvPr/>
        </p:nvSpPr>
        <p:spPr>
          <a:xfrm>
            <a:off x="475239" y="3172427"/>
            <a:ext cx="842211" cy="8422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 name="Oval 3">
            <a:extLst>
              <a:ext uri="{FF2B5EF4-FFF2-40B4-BE49-F238E27FC236}">
                <a16:creationId xmlns:a16="http://schemas.microsoft.com/office/drawing/2014/main" id="{C13E94DB-3033-3DAC-91F2-8BCED9BBC5CC}"/>
              </a:ext>
            </a:extLst>
          </p:cNvPr>
          <p:cNvSpPr/>
          <p:nvPr/>
        </p:nvSpPr>
        <p:spPr>
          <a:xfrm>
            <a:off x="3002660" y="4621687"/>
            <a:ext cx="842211" cy="8422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10" name="Straight Arrow Connector 9">
            <a:extLst>
              <a:ext uri="{FF2B5EF4-FFF2-40B4-BE49-F238E27FC236}">
                <a16:creationId xmlns:a16="http://schemas.microsoft.com/office/drawing/2014/main" id="{B5CA850F-EC89-14C3-630C-B5EEE772FC9D}"/>
              </a:ext>
            </a:extLst>
          </p:cNvPr>
          <p:cNvCxnSpPr>
            <a:cxnSpLocks/>
            <a:stCxn id="3" idx="7"/>
            <a:endCxn id="2" idx="2"/>
          </p:cNvCxnSpPr>
          <p:nvPr/>
        </p:nvCxnSpPr>
        <p:spPr>
          <a:xfrm flipV="1">
            <a:off x="1194111" y="2291130"/>
            <a:ext cx="1871162" cy="1004636"/>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A7D2B89-226C-54E2-0AAB-59040BBC9720}"/>
              </a:ext>
            </a:extLst>
          </p:cNvPr>
          <p:cNvCxnSpPr>
            <a:cxnSpLocks/>
            <a:stCxn id="3" idx="5"/>
            <a:endCxn id="4" idx="2"/>
          </p:cNvCxnSpPr>
          <p:nvPr/>
        </p:nvCxnSpPr>
        <p:spPr>
          <a:xfrm>
            <a:off x="1194111" y="3891298"/>
            <a:ext cx="1808549" cy="115149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C61B575-1157-9902-18DA-1920835E7E43}"/>
              </a:ext>
            </a:extLst>
          </p:cNvPr>
          <p:cNvCxnSpPr>
            <a:cxnSpLocks/>
            <a:stCxn id="9" idx="6"/>
            <a:endCxn id="5" idx="3"/>
          </p:cNvCxnSpPr>
          <p:nvPr/>
        </p:nvCxnSpPr>
        <p:spPr>
          <a:xfrm flipV="1">
            <a:off x="6995960" y="3722420"/>
            <a:ext cx="2479090" cy="1320173"/>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Oval 1">
            <a:extLst>
              <a:ext uri="{FF2B5EF4-FFF2-40B4-BE49-F238E27FC236}">
                <a16:creationId xmlns:a16="http://schemas.microsoft.com/office/drawing/2014/main" id="{0BC9694E-4BCB-0C94-50A4-319FAB771581}"/>
              </a:ext>
            </a:extLst>
          </p:cNvPr>
          <p:cNvSpPr/>
          <p:nvPr/>
        </p:nvSpPr>
        <p:spPr>
          <a:xfrm>
            <a:off x="3065273" y="1870025"/>
            <a:ext cx="842211" cy="8422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 name="Oval 4">
            <a:extLst>
              <a:ext uri="{FF2B5EF4-FFF2-40B4-BE49-F238E27FC236}">
                <a16:creationId xmlns:a16="http://schemas.microsoft.com/office/drawing/2014/main" id="{69CD8030-E65F-F973-3407-B5D00180EFA7}"/>
              </a:ext>
            </a:extLst>
          </p:cNvPr>
          <p:cNvSpPr/>
          <p:nvPr/>
        </p:nvSpPr>
        <p:spPr>
          <a:xfrm>
            <a:off x="9351711" y="3003549"/>
            <a:ext cx="842211" cy="8422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5" name="TextBox 14">
            <a:extLst>
              <a:ext uri="{FF2B5EF4-FFF2-40B4-BE49-F238E27FC236}">
                <a16:creationId xmlns:a16="http://schemas.microsoft.com/office/drawing/2014/main" id="{EAC385E2-68E1-A472-3CF8-E9427B97DD52}"/>
              </a:ext>
            </a:extLst>
          </p:cNvPr>
          <p:cNvSpPr txBox="1"/>
          <p:nvPr/>
        </p:nvSpPr>
        <p:spPr>
          <a:xfrm>
            <a:off x="1693799" y="2408479"/>
            <a:ext cx="493294" cy="461665"/>
          </a:xfrm>
          <a:prstGeom prst="rect">
            <a:avLst/>
          </a:prstGeom>
          <a:noFill/>
        </p:spPr>
        <p:txBody>
          <a:bodyPr wrap="square" rtlCol="0">
            <a:spAutoFit/>
          </a:bodyPr>
          <a:lstStyle/>
          <a:p>
            <a:pPr algn="ctr"/>
            <a:r>
              <a:rPr lang="en-US" sz="2400" dirty="0"/>
              <a:t>A</a:t>
            </a:r>
          </a:p>
        </p:txBody>
      </p:sp>
      <p:sp>
        <p:nvSpPr>
          <p:cNvPr id="16" name="TextBox 15">
            <a:extLst>
              <a:ext uri="{FF2B5EF4-FFF2-40B4-BE49-F238E27FC236}">
                <a16:creationId xmlns:a16="http://schemas.microsoft.com/office/drawing/2014/main" id="{5FE0F1C6-310E-3410-C0D0-036F65FC910F}"/>
              </a:ext>
            </a:extLst>
          </p:cNvPr>
          <p:cNvSpPr txBox="1"/>
          <p:nvPr/>
        </p:nvSpPr>
        <p:spPr>
          <a:xfrm>
            <a:off x="4821633" y="1815407"/>
            <a:ext cx="493294" cy="461665"/>
          </a:xfrm>
          <a:prstGeom prst="rect">
            <a:avLst/>
          </a:prstGeom>
          <a:noFill/>
        </p:spPr>
        <p:txBody>
          <a:bodyPr wrap="square" rtlCol="0">
            <a:spAutoFit/>
          </a:bodyPr>
          <a:lstStyle/>
          <a:p>
            <a:pPr algn="ctr"/>
            <a:r>
              <a:rPr lang="en-US" sz="2400" dirty="0"/>
              <a:t>C</a:t>
            </a:r>
          </a:p>
        </p:txBody>
      </p:sp>
      <p:sp>
        <p:nvSpPr>
          <p:cNvPr id="18" name="TextBox 17">
            <a:extLst>
              <a:ext uri="{FF2B5EF4-FFF2-40B4-BE49-F238E27FC236}">
                <a16:creationId xmlns:a16="http://schemas.microsoft.com/office/drawing/2014/main" id="{288C731D-BC82-A262-0EC6-9AD8D2ED28DE}"/>
              </a:ext>
            </a:extLst>
          </p:cNvPr>
          <p:cNvSpPr txBox="1"/>
          <p:nvPr/>
        </p:nvSpPr>
        <p:spPr>
          <a:xfrm>
            <a:off x="1636398" y="4549828"/>
            <a:ext cx="493294" cy="461665"/>
          </a:xfrm>
          <a:prstGeom prst="rect">
            <a:avLst/>
          </a:prstGeom>
          <a:noFill/>
        </p:spPr>
        <p:txBody>
          <a:bodyPr wrap="square" rtlCol="0">
            <a:spAutoFit/>
          </a:bodyPr>
          <a:lstStyle/>
          <a:p>
            <a:pPr algn="ctr"/>
            <a:r>
              <a:rPr lang="en-US" sz="2400" dirty="0"/>
              <a:t>B</a:t>
            </a:r>
          </a:p>
        </p:txBody>
      </p:sp>
      <p:sp>
        <p:nvSpPr>
          <p:cNvPr id="19" name="TextBox 18">
            <a:extLst>
              <a:ext uri="{FF2B5EF4-FFF2-40B4-BE49-F238E27FC236}">
                <a16:creationId xmlns:a16="http://schemas.microsoft.com/office/drawing/2014/main" id="{4DB45DD1-55CE-4454-2F7E-F173FD847EC3}"/>
              </a:ext>
            </a:extLst>
          </p:cNvPr>
          <p:cNvSpPr txBox="1"/>
          <p:nvPr/>
        </p:nvSpPr>
        <p:spPr>
          <a:xfrm>
            <a:off x="4655028" y="5063086"/>
            <a:ext cx="754566" cy="461665"/>
          </a:xfrm>
          <a:prstGeom prst="rect">
            <a:avLst/>
          </a:prstGeom>
          <a:noFill/>
        </p:spPr>
        <p:txBody>
          <a:bodyPr wrap="square" rtlCol="0">
            <a:spAutoFit/>
          </a:bodyPr>
          <a:lstStyle/>
          <a:p>
            <a:pPr algn="ctr"/>
            <a:r>
              <a:rPr lang="en-US" sz="2400" dirty="0"/>
              <a:t>D</a:t>
            </a:r>
          </a:p>
        </p:txBody>
      </p:sp>
      <p:sp>
        <p:nvSpPr>
          <p:cNvPr id="6" name="Oval 5">
            <a:extLst>
              <a:ext uri="{FF2B5EF4-FFF2-40B4-BE49-F238E27FC236}">
                <a16:creationId xmlns:a16="http://schemas.microsoft.com/office/drawing/2014/main" id="{7332867C-066E-EFA8-3BA6-7355B3B0BDEE}"/>
              </a:ext>
            </a:extLst>
          </p:cNvPr>
          <p:cNvSpPr/>
          <p:nvPr/>
        </p:nvSpPr>
        <p:spPr>
          <a:xfrm>
            <a:off x="6157138" y="1870025"/>
            <a:ext cx="842211" cy="8422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Oval 8">
            <a:extLst>
              <a:ext uri="{FF2B5EF4-FFF2-40B4-BE49-F238E27FC236}">
                <a16:creationId xmlns:a16="http://schemas.microsoft.com/office/drawing/2014/main" id="{C7C88FBC-B645-9DAA-DF20-444615505A94}"/>
              </a:ext>
            </a:extLst>
          </p:cNvPr>
          <p:cNvSpPr/>
          <p:nvPr/>
        </p:nvSpPr>
        <p:spPr>
          <a:xfrm>
            <a:off x="6153749" y="4621488"/>
            <a:ext cx="842211" cy="84221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29" name="Straight Arrow Connector 28">
            <a:extLst>
              <a:ext uri="{FF2B5EF4-FFF2-40B4-BE49-F238E27FC236}">
                <a16:creationId xmlns:a16="http://schemas.microsoft.com/office/drawing/2014/main" id="{E4A317DB-CE70-6049-872C-6E6221F11DAE}"/>
              </a:ext>
            </a:extLst>
          </p:cNvPr>
          <p:cNvCxnSpPr>
            <a:cxnSpLocks/>
            <a:stCxn id="2" idx="6"/>
            <a:endCxn id="6" idx="2"/>
          </p:cNvCxnSpPr>
          <p:nvPr/>
        </p:nvCxnSpPr>
        <p:spPr>
          <a:xfrm>
            <a:off x="3907484" y="2291130"/>
            <a:ext cx="2249654"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A6724C20-3145-803E-5836-7414E0682530}"/>
              </a:ext>
            </a:extLst>
          </p:cNvPr>
          <p:cNvCxnSpPr>
            <a:cxnSpLocks/>
            <a:stCxn id="4" idx="6"/>
            <a:endCxn id="9" idx="2"/>
          </p:cNvCxnSpPr>
          <p:nvPr/>
        </p:nvCxnSpPr>
        <p:spPr>
          <a:xfrm flipV="1">
            <a:off x="3844871" y="5042593"/>
            <a:ext cx="2308878" cy="199"/>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716C2353-27B9-F2B1-5B6E-8D231D45F6A1}"/>
              </a:ext>
            </a:extLst>
          </p:cNvPr>
          <p:cNvCxnSpPr>
            <a:cxnSpLocks/>
            <a:stCxn id="6" idx="6"/>
            <a:endCxn id="5" idx="1"/>
          </p:cNvCxnSpPr>
          <p:nvPr/>
        </p:nvCxnSpPr>
        <p:spPr>
          <a:xfrm>
            <a:off x="6999349" y="2291130"/>
            <a:ext cx="2475701" cy="83575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EE03CAB8-9858-C552-C0C0-8A93BFF90658}"/>
              </a:ext>
            </a:extLst>
          </p:cNvPr>
          <p:cNvSpPr txBox="1"/>
          <p:nvPr/>
        </p:nvSpPr>
        <p:spPr>
          <a:xfrm>
            <a:off x="8103646" y="2177646"/>
            <a:ext cx="754566" cy="461665"/>
          </a:xfrm>
          <a:prstGeom prst="rect">
            <a:avLst/>
          </a:prstGeom>
          <a:noFill/>
        </p:spPr>
        <p:txBody>
          <a:bodyPr wrap="square" rtlCol="0">
            <a:spAutoFit/>
          </a:bodyPr>
          <a:lstStyle/>
          <a:p>
            <a:pPr algn="ctr"/>
            <a:r>
              <a:rPr lang="en-US" sz="2400" dirty="0"/>
              <a:t>E</a:t>
            </a:r>
          </a:p>
        </p:txBody>
      </p:sp>
      <p:sp>
        <p:nvSpPr>
          <p:cNvPr id="37" name="TextBox 36">
            <a:extLst>
              <a:ext uri="{FF2B5EF4-FFF2-40B4-BE49-F238E27FC236}">
                <a16:creationId xmlns:a16="http://schemas.microsoft.com/office/drawing/2014/main" id="{3057891B-2F56-5116-67DC-7764A090560D}"/>
              </a:ext>
            </a:extLst>
          </p:cNvPr>
          <p:cNvSpPr txBox="1"/>
          <p:nvPr/>
        </p:nvSpPr>
        <p:spPr>
          <a:xfrm>
            <a:off x="8103646" y="4390656"/>
            <a:ext cx="754566" cy="461665"/>
          </a:xfrm>
          <a:prstGeom prst="rect">
            <a:avLst/>
          </a:prstGeom>
          <a:noFill/>
        </p:spPr>
        <p:txBody>
          <a:bodyPr wrap="square" rtlCol="0">
            <a:spAutoFit/>
          </a:bodyPr>
          <a:lstStyle/>
          <a:p>
            <a:pPr algn="ctr"/>
            <a:r>
              <a:rPr lang="en-US" sz="2400" dirty="0"/>
              <a:t>F</a:t>
            </a:r>
          </a:p>
        </p:txBody>
      </p:sp>
      <p:cxnSp>
        <p:nvCxnSpPr>
          <p:cNvPr id="32" name="Straight Arrow Connector 31">
            <a:extLst>
              <a:ext uri="{FF2B5EF4-FFF2-40B4-BE49-F238E27FC236}">
                <a16:creationId xmlns:a16="http://schemas.microsoft.com/office/drawing/2014/main" id="{F84EF684-4C28-FAF6-80CF-0A0C858970A5}"/>
              </a:ext>
            </a:extLst>
          </p:cNvPr>
          <p:cNvCxnSpPr>
            <a:cxnSpLocks/>
            <a:endCxn id="4" idx="0"/>
          </p:cNvCxnSpPr>
          <p:nvPr/>
        </p:nvCxnSpPr>
        <p:spPr>
          <a:xfrm flipH="1">
            <a:off x="3423766" y="2709009"/>
            <a:ext cx="62612" cy="1912678"/>
          </a:xfrm>
          <a:prstGeom prst="straightConnector1">
            <a:avLst/>
          </a:prstGeom>
          <a:ln w="571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8" name="Footer Placeholder 7">
            <a:extLst>
              <a:ext uri="{FF2B5EF4-FFF2-40B4-BE49-F238E27FC236}">
                <a16:creationId xmlns:a16="http://schemas.microsoft.com/office/drawing/2014/main" id="{4ADFFF31-4ED1-16EE-930B-378BDE175154}"/>
              </a:ext>
            </a:extLst>
          </p:cNvPr>
          <p:cNvSpPr>
            <a:spLocks noGrp="1"/>
          </p:cNvSpPr>
          <p:nvPr>
            <p:ph type="ftr" sz="quarter" idx="11"/>
          </p:nvPr>
        </p:nvSpPr>
        <p:spPr/>
        <p:txBody>
          <a:bodyPr/>
          <a:lstStyle/>
          <a:p>
            <a:r>
              <a:rPr lang="en-US"/>
              <a:t>Engr. Melanie D. Piedad, ABELE 2022 Topnotcher</a:t>
            </a:r>
            <a:endParaRPr lang="en-US" dirty="0"/>
          </a:p>
        </p:txBody>
      </p:sp>
      <p:sp>
        <p:nvSpPr>
          <p:cNvPr id="11" name="Slide Number Placeholder 10">
            <a:extLst>
              <a:ext uri="{FF2B5EF4-FFF2-40B4-BE49-F238E27FC236}">
                <a16:creationId xmlns:a16="http://schemas.microsoft.com/office/drawing/2014/main" id="{47DCC895-953D-1BDF-65ED-CCEAB69A8D77}"/>
              </a:ext>
            </a:extLst>
          </p:cNvPr>
          <p:cNvSpPr>
            <a:spLocks noGrp="1"/>
          </p:cNvSpPr>
          <p:nvPr>
            <p:ph type="sldNum" sz="quarter" idx="12"/>
          </p:nvPr>
        </p:nvSpPr>
        <p:spPr/>
        <p:txBody>
          <a:bodyPr/>
          <a:lstStyle/>
          <a:p>
            <a:fld id="{D57F1E4F-1CFF-5643-939E-217C01CDF565}" type="slidenum">
              <a:rPr lang="en-US" smtClean="0"/>
              <a:pPr/>
              <a:t>15</a:t>
            </a:fld>
            <a:endParaRPr lang="en-US" dirty="0"/>
          </a:p>
        </p:txBody>
      </p:sp>
    </p:spTree>
    <p:extLst>
      <p:ext uri="{BB962C8B-B14F-4D97-AF65-F5344CB8AC3E}">
        <p14:creationId xmlns:p14="http://schemas.microsoft.com/office/powerpoint/2010/main" val="29099409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EDFA5F9-3B87-1E80-2C5A-DDFD36EED879}"/>
              </a:ext>
            </a:extLst>
          </p:cNvPr>
          <p:cNvSpPr txBox="1">
            <a:spLocks/>
          </p:cNvSpPr>
          <p:nvPr/>
        </p:nvSpPr>
        <p:spPr>
          <a:xfrm>
            <a:off x="947645" y="534990"/>
            <a:ext cx="8773871" cy="5312357"/>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rgbClr val="E18E2E"/>
                </a:solidFill>
                <a:latin typeface="Trebuchet MS" panose="020B0703020202090204" pitchFamily="34" charset="0"/>
              </a:rPr>
              <a:t>Critical Path Analysis</a:t>
            </a:r>
          </a:p>
          <a:p>
            <a:endParaRPr lang="en-US" sz="2000" b="1" u="sng" dirty="0">
              <a:solidFill>
                <a:schemeClr val="accent1">
                  <a:lumMod val="50000"/>
                </a:schemeClr>
              </a:solidFill>
              <a:latin typeface="Trebuchet MS" panose="020B0703020202090204" pitchFamily="34" charset="0"/>
            </a:endParaRPr>
          </a:p>
          <a:p>
            <a:pPr algn="just"/>
            <a:r>
              <a:rPr lang="en-US" sz="2000" b="1" u="sng" dirty="0">
                <a:solidFill>
                  <a:schemeClr val="accent1">
                    <a:lumMod val="50000"/>
                  </a:schemeClr>
                </a:solidFill>
                <a:latin typeface="Trebuchet MS" panose="020B0703020202090204" pitchFamily="34" charset="0"/>
              </a:rPr>
              <a:t>Terminologies</a:t>
            </a:r>
          </a:p>
          <a:p>
            <a:pPr algn="just"/>
            <a:endParaRPr lang="en-US" sz="2000" b="1" u="sng" dirty="0">
              <a:solidFill>
                <a:schemeClr val="accent1">
                  <a:lumMod val="50000"/>
                </a:schemeClr>
              </a:solidFill>
              <a:latin typeface="Trebuchet MS" panose="020B0703020202090204" pitchFamily="34" charset="0"/>
            </a:endParaRPr>
          </a:p>
          <a:p>
            <a:pPr marL="342900" indent="-342900" algn="just">
              <a:buFont typeface="Arial" panose="020B0604020202020204" pitchFamily="34" charset="0"/>
              <a:buChar char="•"/>
            </a:pPr>
            <a:r>
              <a:rPr lang="en-US" sz="2000" b="1" dirty="0">
                <a:solidFill>
                  <a:schemeClr val="accent1">
                    <a:lumMod val="50000"/>
                  </a:schemeClr>
                </a:solidFill>
                <a:latin typeface="Trebuchet MS" panose="020B0703020202090204" pitchFamily="34" charset="0"/>
              </a:rPr>
              <a:t>Critical path </a:t>
            </a:r>
            <a:r>
              <a:rPr lang="en-US" sz="2000" dirty="0">
                <a:solidFill>
                  <a:schemeClr val="accent1">
                    <a:lumMod val="50000"/>
                  </a:schemeClr>
                </a:solidFill>
                <a:latin typeface="Trebuchet MS" panose="020B0703020202090204" pitchFamily="34" charset="0"/>
              </a:rPr>
              <a:t>– longest path through the entire network. This is the path on which any delay in the project will affect the project schedule. This is the shortest time allowable for the project completion.</a:t>
            </a:r>
          </a:p>
          <a:p>
            <a:pPr marL="342900" indent="-342900" algn="just">
              <a:buFont typeface="Arial" panose="020B0604020202020204" pitchFamily="34" charset="0"/>
              <a:buChar char="•"/>
            </a:pPr>
            <a:endParaRPr lang="en-US" sz="2000" dirty="0">
              <a:solidFill>
                <a:schemeClr val="accent1">
                  <a:lumMod val="50000"/>
                </a:schemeClr>
              </a:solidFill>
              <a:latin typeface="Trebuchet MS" panose="020B0703020202090204" pitchFamily="34" charset="0"/>
            </a:endParaRPr>
          </a:p>
          <a:p>
            <a:pPr marL="342900" indent="-342900" algn="just">
              <a:buFont typeface="Arial" panose="020B0604020202020204" pitchFamily="34" charset="0"/>
              <a:buChar char="•"/>
            </a:pPr>
            <a:r>
              <a:rPr lang="en-US" sz="2000" b="1" dirty="0">
                <a:solidFill>
                  <a:schemeClr val="accent1">
                    <a:lumMod val="50000"/>
                  </a:schemeClr>
                </a:solidFill>
                <a:latin typeface="Trebuchet MS" panose="020B0703020202090204" pitchFamily="34" charset="0"/>
              </a:rPr>
              <a:t>Total Float</a:t>
            </a:r>
            <a:r>
              <a:rPr lang="en-US" sz="2000" dirty="0">
                <a:solidFill>
                  <a:schemeClr val="accent1">
                    <a:lumMod val="50000"/>
                  </a:schemeClr>
                </a:solidFill>
                <a:latin typeface="Trebuchet MS" panose="020B0703020202090204" pitchFamily="34" charset="0"/>
              </a:rPr>
              <a:t> – difference between the latest start time and the earliest start time of that activity. Also called slack, float, or path float)</a:t>
            </a:r>
          </a:p>
          <a:p>
            <a:pPr marL="342900" indent="-342900" algn="just">
              <a:buFont typeface="Arial" panose="020B0604020202020204" pitchFamily="34" charset="0"/>
              <a:buChar char="•"/>
            </a:pPr>
            <a:endParaRPr lang="en-US" sz="2000" dirty="0">
              <a:solidFill>
                <a:schemeClr val="accent1">
                  <a:lumMod val="50000"/>
                </a:schemeClr>
              </a:solidFill>
              <a:latin typeface="Trebuchet MS" panose="020B0703020202090204" pitchFamily="34" charset="0"/>
            </a:endParaRPr>
          </a:p>
          <a:p>
            <a:pPr marL="342900" indent="-342900" algn="just">
              <a:buFont typeface="Arial" panose="020B0604020202020204" pitchFamily="34" charset="0"/>
              <a:buChar char="•"/>
            </a:pPr>
            <a:r>
              <a:rPr lang="en-US" sz="2000" b="1" dirty="0">
                <a:solidFill>
                  <a:schemeClr val="accent1">
                    <a:lumMod val="50000"/>
                  </a:schemeClr>
                </a:solidFill>
                <a:latin typeface="Trebuchet MS" panose="020B0703020202090204" pitchFamily="34" charset="0"/>
              </a:rPr>
              <a:t>Free float</a:t>
            </a:r>
            <a:r>
              <a:rPr lang="en-US" sz="2000" dirty="0">
                <a:solidFill>
                  <a:schemeClr val="accent1">
                    <a:lumMod val="50000"/>
                  </a:schemeClr>
                </a:solidFill>
                <a:latin typeface="Trebuchet MS" panose="020B0703020202090204" pitchFamily="34" charset="0"/>
              </a:rPr>
              <a:t> – time by which the completion of an activity can be delayed from its earliest finish time without affecting the earliest start of time of the succeeding activity.</a:t>
            </a:r>
          </a:p>
          <a:p>
            <a:pPr algn="just"/>
            <a:endParaRPr lang="en-US" sz="2000" b="1" dirty="0">
              <a:solidFill>
                <a:schemeClr val="accent1">
                  <a:lumMod val="50000"/>
                </a:schemeClr>
              </a:solidFill>
              <a:latin typeface="Trebuchet MS" panose="020B0703020202090204" pitchFamily="34" charset="0"/>
            </a:endParaRPr>
          </a:p>
          <a:p>
            <a:endParaRPr lang="en-US" sz="2000" b="1" dirty="0">
              <a:solidFill>
                <a:schemeClr val="accent1">
                  <a:lumMod val="50000"/>
                </a:schemeClr>
              </a:solidFill>
              <a:latin typeface="Trebuchet MS" panose="020B0703020202090204" pitchFamily="34" charset="0"/>
            </a:endParaRPr>
          </a:p>
          <a:p>
            <a:pPr marL="457200" indent="-457200">
              <a:buFont typeface="Wingdings" pitchFamily="2" charset="2"/>
              <a:buChar char="q"/>
            </a:pPr>
            <a:endParaRPr lang="en-US" sz="2800" b="1" dirty="0">
              <a:solidFill>
                <a:schemeClr val="accent1">
                  <a:lumMod val="50000"/>
                </a:schemeClr>
              </a:solidFill>
              <a:latin typeface="Trebuchet MS" panose="020B0703020202090204" pitchFamily="34" charset="0"/>
            </a:endParaRPr>
          </a:p>
          <a:p>
            <a:pPr marL="457200" indent="-457200">
              <a:buFont typeface="Wingdings" pitchFamily="2" charset="2"/>
              <a:buChar char="q"/>
            </a:pPr>
            <a:endParaRPr lang="en-US" sz="2800" b="1" dirty="0">
              <a:solidFill>
                <a:schemeClr val="accent1">
                  <a:lumMod val="50000"/>
                </a:schemeClr>
              </a:solidFill>
              <a:latin typeface="Trebuchet MS" panose="020B0703020202090204" pitchFamily="34" charset="0"/>
            </a:endParaRPr>
          </a:p>
        </p:txBody>
      </p:sp>
      <p:sp>
        <p:nvSpPr>
          <p:cNvPr id="2" name="Footer Placeholder 1">
            <a:extLst>
              <a:ext uri="{FF2B5EF4-FFF2-40B4-BE49-F238E27FC236}">
                <a16:creationId xmlns:a16="http://schemas.microsoft.com/office/drawing/2014/main" id="{D25550E1-2F73-E230-8D04-20C2FCAF550B}"/>
              </a:ext>
            </a:extLst>
          </p:cNvPr>
          <p:cNvSpPr>
            <a:spLocks noGrp="1"/>
          </p:cNvSpPr>
          <p:nvPr>
            <p:ph type="ftr" sz="quarter" idx="11"/>
          </p:nvPr>
        </p:nvSpPr>
        <p:spPr/>
        <p:txBody>
          <a:bodyPr/>
          <a:lstStyle/>
          <a:p>
            <a:r>
              <a:rPr lang="en-US"/>
              <a:t>Engr. Melanie D. Piedad, ABELE 2022 Topnotcher</a:t>
            </a:r>
            <a:endParaRPr lang="en-US" dirty="0"/>
          </a:p>
        </p:txBody>
      </p:sp>
      <p:sp>
        <p:nvSpPr>
          <p:cNvPr id="3" name="Slide Number Placeholder 2">
            <a:extLst>
              <a:ext uri="{FF2B5EF4-FFF2-40B4-BE49-F238E27FC236}">
                <a16:creationId xmlns:a16="http://schemas.microsoft.com/office/drawing/2014/main" id="{8109C441-C23B-4E0A-875F-E467169A2C37}"/>
              </a:ext>
            </a:extLst>
          </p:cNvPr>
          <p:cNvSpPr>
            <a:spLocks noGrp="1"/>
          </p:cNvSpPr>
          <p:nvPr>
            <p:ph type="sldNum" sz="quarter" idx="12"/>
          </p:nvPr>
        </p:nvSpPr>
        <p:spPr/>
        <p:txBody>
          <a:bodyPr/>
          <a:lstStyle/>
          <a:p>
            <a:fld id="{D57F1E4F-1CFF-5643-939E-217C01CDF565}" type="slidenum">
              <a:rPr lang="en-US" smtClean="0"/>
              <a:pPr/>
              <a:t>16</a:t>
            </a:fld>
            <a:endParaRPr lang="en-US" dirty="0"/>
          </a:p>
        </p:txBody>
      </p:sp>
    </p:spTree>
    <p:extLst>
      <p:ext uri="{BB962C8B-B14F-4D97-AF65-F5344CB8AC3E}">
        <p14:creationId xmlns:p14="http://schemas.microsoft.com/office/powerpoint/2010/main" val="5461440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EDFA5F9-3B87-1E80-2C5A-DDFD36EED879}"/>
              </a:ext>
            </a:extLst>
          </p:cNvPr>
          <p:cNvSpPr txBox="1">
            <a:spLocks/>
          </p:cNvSpPr>
          <p:nvPr/>
        </p:nvSpPr>
        <p:spPr>
          <a:xfrm>
            <a:off x="947645" y="534990"/>
            <a:ext cx="8773871" cy="5312357"/>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rgbClr val="E18E2E"/>
                </a:solidFill>
                <a:latin typeface="Trebuchet MS" panose="020B0703020202090204" pitchFamily="34" charset="0"/>
              </a:rPr>
              <a:t>Critical Path Analysis</a:t>
            </a:r>
          </a:p>
          <a:p>
            <a:endParaRPr lang="en-US" sz="2000" b="1" u="sng" dirty="0">
              <a:solidFill>
                <a:schemeClr val="accent1">
                  <a:lumMod val="50000"/>
                </a:schemeClr>
              </a:solidFill>
              <a:latin typeface="Trebuchet MS" panose="020B0703020202090204" pitchFamily="34" charset="0"/>
            </a:endParaRPr>
          </a:p>
          <a:p>
            <a:pPr algn="just"/>
            <a:r>
              <a:rPr lang="en-US" sz="2000" b="1" u="sng" dirty="0">
                <a:solidFill>
                  <a:schemeClr val="accent1">
                    <a:lumMod val="50000"/>
                  </a:schemeClr>
                </a:solidFill>
                <a:latin typeface="Trebuchet MS" panose="020B0703020202090204" pitchFamily="34" charset="0"/>
              </a:rPr>
              <a:t>Formula</a:t>
            </a:r>
          </a:p>
          <a:p>
            <a:pPr algn="just"/>
            <a:endParaRPr lang="en-US" sz="2000" b="1" u="sng" dirty="0">
              <a:solidFill>
                <a:schemeClr val="accent1">
                  <a:lumMod val="50000"/>
                </a:schemeClr>
              </a:solidFill>
              <a:latin typeface="Trebuchet MS" panose="020B0703020202090204" pitchFamily="34" charset="0"/>
            </a:endParaRPr>
          </a:p>
          <a:p>
            <a:pPr marL="342900" indent="-342900" algn="just">
              <a:buFont typeface="Arial" panose="020B0604020202020204" pitchFamily="34" charset="0"/>
              <a:buChar char="•"/>
            </a:pPr>
            <a:r>
              <a:rPr lang="en-US" sz="2000" b="1" dirty="0">
                <a:solidFill>
                  <a:schemeClr val="accent1">
                    <a:lumMod val="50000"/>
                  </a:schemeClr>
                </a:solidFill>
                <a:latin typeface="Trebuchet MS" panose="020B0703020202090204" pitchFamily="34" charset="0"/>
              </a:rPr>
              <a:t>Total Float</a:t>
            </a:r>
          </a:p>
          <a:p>
            <a:pPr algn="ctr"/>
            <a:r>
              <a:rPr lang="en-US" sz="2000" dirty="0">
                <a:solidFill>
                  <a:schemeClr val="accent1">
                    <a:lumMod val="50000"/>
                  </a:schemeClr>
                </a:solidFill>
                <a:latin typeface="Trebuchet MS" panose="020B0703020202090204" pitchFamily="34" charset="0"/>
              </a:rPr>
              <a:t>Late Finish (LF) – Early Finish (EF) = Total Float</a:t>
            </a:r>
          </a:p>
          <a:p>
            <a:pPr algn="ctr"/>
            <a:r>
              <a:rPr lang="en-US" sz="2000" dirty="0">
                <a:solidFill>
                  <a:schemeClr val="accent1">
                    <a:lumMod val="50000"/>
                  </a:schemeClr>
                </a:solidFill>
                <a:latin typeface="Trebuchet MS" panose="020B0703020202090204" pitchFamily="34" charset="0"/>
              </a:rPr>
              <a:t>Late Start (LS) – Early Start (ES) = Total Float</a:t>
            </a:r>
          </a:p>
          <a:p>
            <a:pPr algn="just"/>
            <a:endParaRPr lang="en-US" sz="2000" dirty="0">
              <a:solidFill>
                <a:schemeClr val="accent1">
                  <a:lumMod val="50000"/>
                </a:schemeClr>
              </a:solidFill>
              <a:latin typeface="Trebuchet MS" panose="020B0703020202090204" pitchFamily="34" charset="0"/>
            </a:endParaRPr>
          </a:p>
          <a:p>
            <a:pPr marL="342900" indent="-342900" algn="just">
              <a:buFont typeface="Arial" panose="020B0604020202020204" pitchFamily="34" charset="0"/>
              <a:buChar char="•"/>
            </a:pPr>
            <a:r>
              <a:rPr lang="en-US" sz="2000" b="1" dirty="0">
                <a:solidFill>
                  <a:schemeClr val="accent1">
                    <a:lumMod val="50000"/>
                  </a:schemeClr>
                </a:solidFill>
                <a:latin typeface="Trebuchet MS" panose="020B0703020202090204" pitchFamily="34" charset="0"/>
              </a:rPr>
              <a:t>Free float</a:t>
            </a:r>
            <a:r>
              <a:rPr lang="en-US" sz="2000" dirty="0">
                <a:solidFill>
                  <a:schemeClr val="accent1">
                    <a:lumMod val="50000"/>
                  </a:schemeClr>
                </a:solidFill>
                <a:latin typeface="Trebuchet MS" panose="020B0703020202090204" pitchFamily="34" charset="0"/>
              </a:rPr>
              <a:t> </a:t>
            </a:r>
          </a:p>
          <a:p>
            <a:pPr algn="ctr"/>
            <a:r>
              <a:rPr lang="en-US" sz="2000" dirty="0">
                <a:solidFill>
                  <a:schemeClr val="accent1">
                    <a:lumMod val="50000"/>
                  </a:schemeClr>
                </a:solidFill>
                <a:latin typeface="Trebuchet MS" panose="020B0703020202090204" pitchFamily="34" charset="0"/>
              </a:rPr>
              <a:t>(Early Finish (j) – Early Finish (</a:t>
            </a:r>
            <a:r>
              <a:rPr lang="en-US" sz="2000" dirty="0" err="1">
                <a:solidFill>
                  <a:schemeClr val="accent1">
                    <a:lumMod val="50000"/>
                  </a:schemeClr>
                </a:solidFill>
                <a:latin typeface="Trebuchet MS" panose="020B0703020202090204" pitchFamily="34" charset="0"/>
              </a:rPr>
              <a:t>i</a:t>
            </a:r>
            <a:r>
              <a:rPr lang="en-US" sz="2000" dirty="0">
                <a:solidFill>
                  <a:schemeClr val="accent1">
                    <a:lumMod val="50000"/>
                  </a:schemeClr>
                </a:solidFill>
                <a:latin typeface="Trebuchet MS" panose="020B0703020202090204" pitchFamily="34" charset="0"/>
              </a:rPr>
              <a:t>)) – duration of activity (</a:t>
            </a:r>
            <a:r>
              <a:rPr lang="en-US" sz="2000" dirty="0" err="1">
                <a:solidFill>
                  <a:schemeClr val="accent1">
                    <a:lumMod val="50000"/>
                  </a:schemeClr>
                </a:solidFill>
                <a:latin typeface="Trebuchet MS" panose="020B0703020202090204" pitchFamily="34" charset="0"/>
              </a:rPr>
              <a:t>ij</a:t>
            </a:r>
            <a:r>
              <a:rPr lang="en-US" sz="2000" dirty="0">
                <a:solidFill>
                  <a:schemeClr val="accent1">
                    <a:lumMod val="50000"/>
                  </a:schemeClr>
                </a:solidFill>
                <a:latin typeface="Trebuchet MS" panose="020B0703020202090204" pitchFamily="34" charset="0"/>
              </a:rPr>
              <a:t>)</a:t>
            </a:r>
          </a:p>
          <a:p>
            <a:pPr algn="just"/>
            <a:endParaRPr lang="en-US" sz="2000" dirty="0">
              <a:solidFill>
                <a:schemeClr val="accent1">
                  <a:lumMod val="50000"/>
                </a:schemeClr>
              </a:solidFill>
              <a:latin typeface="Trebuchet MS" panose="020B0703020202090204" pitchFamily="34" charset="0"/>
            </a:endParaRPr>
          </a:p>
          <a:p>
            <a:pPr marL="342900" indent="-342900" algn="just">
              <a:buFont typeface="Arial" panose="020B0604020202020204" pitchFamily="34" charset="0"/>
              <a:buChar char="•"/>
            </a:pPr>
            <a:r>
              <a:rPr lang="en-US" sz="2000" dirty="0">
                <a:solidFill>
                  <a:schemeClr val="accent1">
                    <a:lumMod val="50000"/>
                  </a:schemeClr>
                </a:solidFill>
                <a:latin typeface="Trebuchet MS" panose="020B0703020202090204" pitchFamily="34" charset="0"/>
              </a:rPr>
              <a:t>Critical path must satisfy the following:</a:t>
            </a:r>
          </a:p>
          <a:p>
            <a:pPr algn="just"/>
            <a:r>
              <a:rPr lang="en-US" sz="2000" dirty="0">
                <a:solidFill>
                  <a:schemeClr val="accent1">
                    <a:lumMod val="50000"/>
                  </a:schemeClr>
                </a:solidFill>
                <a:latin typeface="Trebuchet MS" panose="020B0703020202090204" pitchFamily="34" charset="0"/>
              </a:rPr>
              <a:t>	1. LF – ES = 0</a:t>
            </a:r>
          </a:p>
          <a:p>
            <a:pPr algn="just"/>
            <a:r>
              <a:rPr lang="en-US" sz="2000" dirty="0">
                <a:solidFill>
                  <a:schemeClr val="accent1">
                    <a:lumMod val="50000"/>
                  </a:schemeClr>
                </a:solidFill>
                <a:latin typeface="Trebuchet MS" panose="020B0703020202090204" pitchFamily="34" charset="0"/>
              </a:rPr>
              <a:t>	2. LF (j) – duration of (</a:t>
            </a:r>
            <a:r>
              <a:rPr lang="en-US" sz="2000" dirty="0" err="1">
                <a:solidFill>
                  <a:schemeClr val="accent1">
                    <a:lumMod val="50000"/>
                  </a:schemeClr>
                </a:solidFill>
                <a:latin typeface="Trebuchet MS" panose="020B0703020202090204" pitchFamily="34" charset="0"/>
              </a:rPr>
              <a:t>ij</a:t>
            </a:r>
            <a:r>
              <a:rPr lang="en-US" sz="2000" dirty="0">
                <a:solidFill>
                  <a:schemeClr val="accent1">
                    <a:lumMod val="50000"/>
                  </a:schemeClr>
                </a:solidFill>
                <a:latin typeface="Trebuchet MS" panose="020B0703020202090204" pitchFamily="34" charset="0"/>
              </a:rPr>
              <a:t>) – ES (j) = 0</a:t>
            </a:r>
          </a:p>
          <a:p>
            <a:endParaRPr lang="en-US" sz="2000" b="1" dirty="0">
              <a:solidFill>
                <a:schemeClr val="accent1">
                  <a:lumMod val="50000"/>
                </a:schemeClr>
              </a:solidFill>
              <a:latin typeface="Trebuchet MS" panose="020B0703020202090204" pitchFamily="34" charset="0"/>
            </a:endParaRPr>
          </a:p>
          <a:p>
            <a:pPr marL="457200" indent="-457200">
              <a:buFont typeface="Wingdings" pitchFamily="2" charset="2"/>
              <a:buChar char="q"/>
            </a:pPr>
            <a:endParaRPr lang="en-US" sz="2800" b="1" dirty="0">
              <a:solidFill>
                <a:schemeClr val="accent1">
                  <a:lumMod val="50000"/>
                </a:schemeClr>
              </a:solidFill>
              <a:latin typeface="Trebuchet MS" panose="020B0703020202090204" pitchFamily="34" charset="0"/>
            </a:endParaRPr>
          </a:p>
          <a:p>
            <a:pPr marL="457200" indent="-457200">
              <a:buFont typeface="Wingdings" pitchFamily="2" charset="2"/>
              <a:buChar char="q"/>
            </a:pPr>
            <a:endParaRPr lang="en-US" sz="2800" b="1" dirty="0">
              <a:solidFill>
                <a:schemeClr val="accent1">
                  <a:lumMod val="50000"/>
                </a:schemeClr>
              </a:solidFill>
              <a:latin typeface="Trebuchet MS" panose="020B0703020202090204" pitchFamily="34" charset="0"/>
            </a:endParaRPr>
          </a:p>
        </p:txBody>
      </p:sp>
      <p:sp>
        <p:nvSpPr>
          <p:cNvPr id="2" name="Footer Placeholder 1">
            <a:extLst>
              <a:ext uri="{FF2B5EF4-FFF2-40B4-BE49-F238E27FC236}">
                <a16:creationId xmlns:a16="http://schemas.microsoft.com/office/drawing/2014/main" id="{204FB9B5-EC67-3980-B20A-2A3ECB0AF8B0}"/>
              </a:ext>
            </a:extLst>
          </p:cNvPr>
          <p:cNvSpPr>
            <a:spLocks noGrp="1"/>
          </p:cNvSpPr>
          <p:nvPr>
            <p:ph type="ftr" sz="quarter" idx="11"/>
          </p:nvPr>
        </p:nvSpPr>
        <p:spPr/>
        <p:txBody>
          <a:bodyPr/>
          <a:lstStyle/>
          <a:p>
            <a:r>
              <a:rPr lang="en-US"/>
              <a:t>Engr. Melanie D. Piedad, ABELE 2022 Topnotcher</a:t>
            </a:r>
            <a:endParaRPr lang="en-US" dirty="0"/>
          </a:p>
        </p:txBody>
      </p:sp>
      <p:sp>
        <p:nvSpPr>
          <p:cNvPr id="3" name="Slide Number Placeholder 2">
            <a:extLst>
              <a:ext uri="{FF2B5EF4-FFF2-40B4-BE49-F238E27FC236}">
                <a16:creationId xmlns:a16="http://schemas.microsoft.com/office/drawing/2014/main" id="{14B6B6ED-1085-0F50-9096-895F818CAE0D}"/>
              </a:ext>
            </a:extLst>
          </p:cNvPr>
          <p:cNvSpPr>
            <a:spLocks noGrp="1"/>
          </p:cNvSpPr>
          <p:nvPr>
            <p:ph type="sldNum" sz="quarter" idx="12"/>
          </p:nvPr>
        </p:nvSpPr>
        <p:spPr/>
        <p:txBody>
          <a:bodyPr/>
          <a:lstStyle/>
          <a:p>
            <a:fld id="{D57F1E4F-1CFF-5643-939E-217C01CDF565}" type="slidenum">
              <a:rPr lang="en-US" smtClean="0"/>
              <a:pPr/>
              <a:t>17</a:t>
            </a:fld>
            <a:endParaRPr lang="en-US" dirty="0"/>
          </a:p>
        </p:txBody>
      </p:sp>
    </p:spTree>
    <p:extLst>
      <p:ext uri="{BB962C8B-B14F-4D97-AF65-F5344CB8AC3E}">
        <p14:creationId xmlns:p14="http://schemas.microsoft.com/office/powerpoint/2010/main" val="30757689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3E1256D-5017-74B9-E4ED-4D9EB0521160}"/>
              </a:ext>
            </a:extLst>
          </p:cNvPr>
          <p:cNvSpPr>
            <a:spLocks noGrp="1"/>
          </p:cNvSpPr>
          <p:nvPr>
            <p:ph type="ctrTitle"/>
          </p:nvPr>
        </p:nvSpPr>
        <p:spPr>
          <a:xfrm>
            <a:off x="911550" y="673475"/>
            <a:ext cx="5966889" cy="608944"/>
          </a:xfrm>
        </p:spPr>
        <p:txBody>
          <a:bodyPr anchor="ctr"/>
          <a:lstStyle/>
          <a:p>
            <a:pPr algn="just"/>
            <a:r>
              <a:rPr lang="en-US" sz="4000" b="1" dirty="0">
                <a:solidFill>
                  <a:srgbClr val="E18E2E"/>
                </a:solidFill>
                <a:latin typeface="Trebuchet MS" panose="020B0703020202090204" pitchFamily="34" charset="0"/>
              </a:rPr>
              <a:t>Sample questions</a:t>
            </a:r>
          </a:p>
        </p:txBody>
      </p:sp>
      <p:sp>
        <p:nvSpPr>
          <p:cNvPr id="3" name="Title 1">
            <a:extLst>
              <a:ext uri="{FF2B5EF4-FFF2-40B4-BE49-F238E27FC236}">
                <a16:creationId xmlns:a16="http://schemas.microsoft.com/office/drawing/2014/main" id="{345F3751-F15A-426C-A1DA-41A065A128B5}"/>
              </a:ext>
            </a:extLst>
          </p:cNvPr>
          <p:cNvSpPr txBox="1">
            <a:spLocks/>
          </p:cNvSpPr>
          <p:nvPr/>
        </p:nvSpPr>
        <p:spPr>
          <a:xfrm>
            <a:off x="911550" y="4749421"/>
            <a:ext cx="8376829" cy="1037550"/>
          </a:xfrm>
          <a:prstGeom prst="rect">
            <a:avLst/>
          </a:prstGeom>
        </p:spPr>
        <p:txBody>
          <a:bodyPr vert="horz" lIns="91440" tIns="45720" rIns="91440" bIns="45720" rtlCol="0" anchor="t">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just"/>
            <a:endParaRPr lang="en-US" sz="2400" b="1" dirty="0">
              <a:solidFill>
                <a:schemeClr val="accent1">
                  <a:lumMod val="50000"/>
                </a:schemeClr>
              </a:solidFill>
              <a:ea typeface="Calibri" panose="020F0502020204030204" pitchFamily="34" charset="0"/>
              <a:cs typeface="Times New Roman" panose="02020603050405020304" pitchFamily="18" charset="0"/>
            </a:endParaRPr>
          </a:p>
          <a:p>
            <a:pPr algn="just"/>
            <a:endParaRPr lang="en-US" sz="2400" b="1" dirty="0">
              <a:solidFill>
                <a:schemeClr val="accent1">
                  <a:lumMod val="50000"/>
                </a:schemeClr>
              </a:solidFill>
              <a:ea typeface="Calibri" panose="020F0502020204030204" pitchFamily="34" charset="0"/>
              <a:cs typeface="Times New Roman" panose="02020603050405020304" pitchFamily="18" charset="0"/>
            </a:endParaRPr>
          </a:p>
          <a:p>
            <a:pPr algn="just"/>
            <a:endParaRPr lang="en-US" sz="2400" b="1" dirty="0">
              <a:solidFill>
                <a:schemeClr val="accent1">
                  <a:lumMod val="50000"/>
                </a:schemeClr>
              </a:solidFill>
              <a:ea typeface="Calibri" panose="020F0502020204030204" pitchFamily="34"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6A4A8990-0F43-A65E-82C8-7141C6CB422D}"/>
              </a:ext>
            </a:extLst>
          </p:cNvPr>
          <p:cNvGraphicFramePr>
            <a:graphicFrameLocks noGrp="1"/>
          </p:cNvGraphicFramePr>
          <p:nvPr>
            <p:extLst>
              <p:ext uri="{D42A27DB-BD31-4B8C-83A1-F6EECF244321}">
                <p14:modId xmlns:p14="http://schemas.microsoft.com/office/powerpoint/2010/main" val="2587822161"/>
              </p:ext>
            </p:extLst>
          </p:nvPr>
        </p:nvGraphicFramePr>
        <p:xfrm>
          <a:off x="911550" y="1452173"/>
          <a:ext cx="8559996" cy="3006171"/>
        </p:xfrm>
        <a:graphic>
          <a:graphicData uri="http://schemas.openxmlformats.org/drawingml/2006/table">
            <a:tbl>
              <a:tblPr firstRow="1" bandRow="1">
                <a:tableStyleId>{5C22544A-7EE6-4342-B048-85BDC9FD1C3A}</a:tableStyleId>
              </a:tblPr>
              <a:tblGrid>
                <a:gridCol w="2853332">
                  <a:extLst>
                    <a:ext uri="{9D8B030D-6E8A-4147-A177-3AD203B41FA5}">
                      <a16:colId xmlns:a16="http://schemas.microsoft.com/office/drawing/2014/main" val="1342583855"/>
                    </a:ext>
                  </a:extLst>
                </a:gridCol>
                <a:gridCol w="2853332">
                  <a:extLst>
                    <a:ext uri="{9D8B030D-6E8A-4147-A177-3AD203B41FA5}">
                      <a16:colId xmlns:a16="http://schemas.microsoft.com/office/drawing/2014/main" val="3885598107"/>
                    </a:ext>
                  </a:extLst>
                </a:gridCol>
                <a:gridCol w="2853332">
                  <a:extLst>
                    <a:ext uri="{9D8B030D-6E8A-4147-A177-3AD203B41FA5}">
                      <a16:colId xmlns:a16="http://schemas.microsoft.com/office/drawing/2014/main" val="3521544160"/>
                    </a:ext>
                  </a:extLst>
                </a:gridCol>
              </a:tblGrid>
              <a:tr h="429453">
                <a:tc>
                  <a:txBody>
                    <a:bodyPr/>
                    <a:lstStyle/>
                    <a:p>
                      <a:pPr algn="ctr"/>
                      <a:r>
                        <a:rPr lang="en-US" dirty="0"/>
                        <a:t>Activity</a:t>
                      </a:r>
                    </a:p>
                  </a:txBody>
                  <a:tcPr/>
                </a:tc>
                <a:tc>
                  <a:txBody>
                    <a:bodyPr/>
                    <a:lstStyle/>
                    <a:p>
                      <a:pPr algn="ctr"/>
                      <a:r>
                        <a:rPr lang="en-US" dirty="0"/>
                        <a:t>Predecessor</a:t>
                      </a:r>
                    </a:p>
                  </a:txBody>
                  <a:tcPr/>
                </a:tc>
                <a:tc>
                  <a:txBody>
                    <a:bodyPr/>
                    <a:lstStyle/>
                    <a:p>
                      <a:pPr algn="ctr"/>
                      <a:r>
                        <a:rPr lang="en-US" dirty="0"/>
                        <a:t>Duration (days)</a:t>
                      </a:r>
                    </a:p>
                  </a:txBody>
                  <a:tcPr/>
                </a:tc>
                <a:extLst>
                  <a:ext uri="{0D108BD9-81ED-4DB2-BD59-A6C34878D82A}">
                    <a16:rowId xmlns:a16="http://schemas.microsoft.com/office/drawing/2014/main" val="357046385"/>
                  </a:ext>
                </a:extLst>
              </a:tr>
              <a:tr h="429453">
                <a:tc>
                  <a:txBody>
                    <a:bodyPr/>
                    <a:lstStyle/>
                    <a:p>
                      <a:pPr algn="ctr"/>
                      <a:r>
                        <a:rPr lang="en-US" dirty="0"/>
                        <a:t>A</a:t>
                      </a:r>
                    </a:p>
                  </a:txBody>
                  <a:tcPr/>
                </a:tc>
                <a:tc>
                  <a:txBody>
                    <a:bodyPr/>
                    <a:lstStyle/>
                    <a:p>
                      <a:pPr algn="ctr"/>
                      <a:r>
                        <a:rPr lang="en-US" dirty="0"/>
                        <a:t>-</a:t>
                      </a:r>
                    </a:p>
                  </a:txBody>
                  <a:tcPr/>
                </a:tc>
                <a:tc>
                  <a:txBody>
                    <a:bodyPr/>
                    <a:lstStyle/>
                    <a:p>
                      <a:pPr algn="ctr"/>
                      <a:r>
                        <a:rPr lang="en-US" dirty="0"/>
                        <a:t>3</a:t>
                      </a:r>
                    </a:p>
                  </a:txBody>
                  <a:tcPr/>
                </a:tc>
                <a:extLst>
                  <a:ext uri="{0D108BD9-81ED-4DB2-BD59-A6C34878D82A}">
                    <a16:rowId xmlns:a16="http://schemas.microsoft.com/office/drawing/2014/main" val="2543250099"/>
                  </a:ext>
                </a:extLst>
              </a:tr>
              <a:tr h="429453">
                <a:tc>
                  <a:txBody>
                    <a:bodyPr/>
                    <a:lstStyle/>
                    <a:p>
                      <a:pPr algn="ctr"/>
                      <a:r>
                        <a:rPr lang="en-US" dirty="0"/>
                        <a:t>B</a:t>
                      </a:r>
                    </a:p>
                  </a:txBody>
                  <a:tcPr/>
                </a:tc>
                <a:tc>
                  <a:txBody>
                    <a:bodyPr/>
                    <a:lstStyle/>
                    <a:p>
                      <a:pPr algn="ctr"/>
                      <a:r>
                        <a:rPr lang="en-US" dirty="0"/>
                        <a:t>A</a:t>
                      </a:r>
                    </a:p>
                  </a:txBody>
                  <a:tcPr/>
                </a:tc>
                <a:tc>
                  <a:txBody>
                    <a:bodyPr/>
                    <a:lstStyle/>
                    <a:p>
                      <a:pPr algn="ctr"/>
                      <a:r>
                        <a:rPr lang="en-US" dirty="0"/>
                        <a:t>5</a:t>
                      </a:r>
                    </a:p>
                  </a:txBody>
                  <a:tcPr/>
                </a:tc>
                <a:extLst>
                  <a:ext uri="{0D108BD9-81ED-4DB2-BD59-A6C34878D82A}">
                    <a16:rowId xmlns:a16="http://schemas.microsoft.com/office/drawing/2014/main" val="1520876555"/>
                  </a:ext>
                </a:extLst>
              </a:tr>
              <a:tr h="429453">
                <a:tc>
                  <a:txBody>
                    <a:bodyPr/>
                    <a:lstStyle/>
                    <a:p>
                      <a:pPr algn="ctr"/>
                      <a:r>
                        <a:rPr lang="en-US" dirty="0"/>
                        <a:t>C</a:t>
                      </a:r>
                    </a:p>
                  </a:txBody>
                  <a:tcPr/>
                </a:tc>
                <a:tc>
                  <a:txBody>
                    <a:bodyPr/>
                    <a:lstStyle/>
                    <a:p>
                      <a:pPr algn="ctr"/>
                      <a:r>
                        <a:rPr lang="en-US" dirty="0"/>
                        <a:t>A</a:t>
                      </a:r>
                    </a:p>
                  </a:txBody>
                  <a:tcPr/>
                </a:tc>
                <a:tc>
                  <a:txBody>
                    <a:bodyPr/>
                    <a:lstStyle/>
                    <a:p>
                      <a:pPr algn="ctr"/>
                      <a:r>
                        <a:rPr lang="en-US" dirty="0"/>
                        <a:t>7</a:t>
                      </a:r>
                    </a:p>
                  </a:txBody>
                  <a:tcPr/>
                </a:tc>
                <a:extLst>
                  <a:ext uri="{0D108BD9-81ED-4DB2-BD59-A6C34878D82A}">
                    <a16:rowId xmlns:a16="http://schemas.microsoft.com/office/drawing/2014/main" val="3904348995"/>
                  </a:ext>
                </a:extLst>
              </a:tr>
              <a:tr h="429453">
                <a:tc>
                  <a:txBody>
                    <a:bodyPr/>
                    <a:lstStyle/>
                    <a:p>
                      <a:pPr algn="ctr"/>
                      <a:r>
                        <a:rPr lang="en-US" dirty="0"/>
                        <a:t>D</a:t>
                      </a:r>
                    </a:p>
                  </a:txBody>
                  <a:tcPr/>
                </a:tc>
                <a:tc>
                  <a:txBody>
                    <a:bodyPr/>
                    <a:lstStyle/>
                    <a:p>
                      <a:pPr algn="ctr"/>
                      <a:r>
                        <a:rPr lang="en-US" dirty="0"/>
                        <a:t>B</a:t>
                      </a:r>
                    </a:p>
                  </a:txBody>
                  <a:tcPr/>
                </a:tc>
                <a:tc>
                  <a:txBody>
                    <a:bodyPr/>
                    <a:lstStyle/>
                    <a:p>
                      <a:pPr algn="ctr"/>
                      <a:r>
                        <a:rPr lang="en-US" dirty="0"/>
                        <a:t>10</a:t>
                      </a:r>
                    </a:p>
                  </a:txBody>
                  <a:tcPr/>
                </a:tc>
                <a:extLst>
                  <a:ext uri="{0D108BD9-81ED-4DB2-BD59-A6C34878D82A}">
                    <a16:rowId xmlns:a16="http://schemas.microsoft.com/office/drawing/2014/main" val="994197216"/>
                  </a:ext>
                </a:extLst>
              </a:tr>
              <a:tr h="429453">
                <a:tc>
                  <a:txBody>
                    <a:bodyPr/>
                    <a:lstStyle/>
                    <a:p>
                      <a:pPr algn="ctr"/>
                      <a:r>
                        <a:rPr lang="en-US" dirty="0"/>
                        <a:t>E</a:t>
                      </a:r>
                    </a:p>
                  </a:txBody>
                  <a:tcPr/>
                </a:tc>
                <a:tc>
                  <a:txBody>
                    <a:bodyPr/>
                    <a:lstStyle/>
                    <a:p>
                      <a:pPr algn="ctr"/>
                      <a:r>
                        <a:rPr lang="en-US" dirty="0"/>
                        <a:t>C</a:t>
                      </a:r>
                    </a:p>
                  </a:txBody>
                  <a:tcPr/>
                </a:tc>
                <a:tc>
                  <a:txBody>
                    <a:bodyPr/>
                    <a:lstStyle/>
                    <a:p>
                      <a:pPr algn="ctr"/>
                      <a:r>
                        <a:rPr lang="en-US" dirty="0"/>
                        <a:t>5</a:t>
                      </a:r>
                    </a:p>
                  </a:txBody>
                  <a:tcPr/>
                </a:tc>
                <a:extLst>
                  <a:ext uri="{0D108BD9-81ED-4DB2-BD59-A6C34878D82A}">
                    <a16:rowId xmlns:a16="http://schemas.microsoft.com/office/drawing/2014/main" val="2561273951"/>
                  </a:ext>
                </a:extLst>
              </a:tr>
              <a:tr h="429453">
                <a:tc>
                  <a:txBody>
                    <a:bodyPr/>
                    <a:lstStyle/>
                    <a:p>
                      <a:pPr algn="ctr"/>
                      <a:r>
                        <a:rPr lang="en-US" dirty="0"/>
                        <a:t>F</a:t>
                      </a:r>
                    </a:p>
                  </a:txBody>
                  <a:tcPr/>
                </a:tc>
                <a:tc>
                  <a:txBody>
                    <a:bodyPr/>
                    <a:lstStyle/>
                    <a:p>
                      <a:pPr algn="ctr"/>
                      <a:r>
                        <a:rPr lang="en-US" dirty="0"/>
                        <a:t>D,E</a:t>
                      </a:r>
                    </a:p>
                  </a:txBody>
                  <a:tcPr/>
                </a:tc>
                <a:tc>
                  <a:txBody>
                    <a:bodyPr/>
                    <a:lstStyle/>
                    <a:p>
                      <a:pPr algn="ctr"/>
                      <a:r>
                        <a:rPr lang="en-US" dirty="0"/>
                        <a:t>4</a:t>
                      </a:r>
                    </a:p>
                  </a:txBody>
                  <a:tcPr/>
                </a:tc>
                <a:extLst>
                  <a:ext uri="{0D108BD9-81ED-4DB2-BD59-A6C34878D82A}">
                    <a16:rowId xmlns:a16="http://schemas.microsoft.com/office/drawing/2014/main" val="3267443251"/>
                  </a:ext>
                </a:extLst>
              </a:tr>
            </a:tbl>
          </a:graphicData>
        </a:graphic>
      </p:graphicFrame>
      <p:sp>
        <p:nvSpPr>
          <p:cNvPr id="7" name="Title 1">
            <a:extLst>
              <a:ext uri="{FF2B5EF4-FFF2-40B4-BE49-F238E27FC236}">
                <a16:creationId xmlns:a16="http://schemas.microsoft.com/office/drawing/2014/main" id="{1558064D-19DC-86F9-40D6-E5502ACFCA2A}"/>
              </a:ext>
            </a:extLst>
          </p:cNvPr>
          <p:cNvSpPr txBox="1">
            <a:spLocks/>
          </p:cNvSpPr>
          <p:nvPr/>
        </p:nvSpPr>
        <p:spPr>
          <a:xfrm>
            <a:off x="1050302" y="4749421"/>
            <a:ext cx="9895202" cy="1189950"/>
          </a:xfrm>
          <a:prstGeom prst="rect">
            <a:avLst/>
          </a:prstGeom>
        </p:spPr>
        <p:txBody>
          <a:bodyPr vert="horz" lIns="91440" tIns="45720" rIns="91440" bIns="45720" rtlCol="0" anchor="t">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457200" indent="-457200" algn="just">
              <a:buAutoNum type="arabicPeriod"/>
            </a:pPr>
            <a:r>
              <a:rPr lang="en-US" sz="2200" dirty="0">
                <a:solidFill>
                  <a:schemeClr val="accent1">
                    <a:lumMod val="50000"/>
                  </a:schemeClr>
                </a:solidFill>
                <a:ea typeface="Calibri" panose="020F0502020204030204" pitchFamily="34" charset="0"/>
                <a:cs typeface="Times New Roman" panose="02020603050405020304" pitchFamily="18" charset="0"/>
              </a:rPr>
              <a:t>Determine the least duration of the project.</a:t>
            </a:r>
          </a:p>
          <a:p>
            <a:pPr marL="457200" indent="-457200" algn="just">
              <a:buAutoNum type="arabicPeriod"/>
            </a:pPr>
            <a:r>
              <a:rPr lang="en-US" sz="2200" dirty="0">
                <a:solidFill>
                  <a:schemeClr val="accent1">
                    <a:lumMod val="50000"/>
                  </a:schemeClr>
                </a:solidFill>
                <a:ea typeface="Calibri" panose="020F0502020204030204" pitchFamily="34" charset="0"/>
                <a:cs typeface="Times New Roman" panose="02020603050405020304" pitchFamily="18" charset="0"/>
              </a:rPr>
              <a:t>Determine the critical path.</a:t>
            </a:r>
          </a:p>
          <a:p>
            <a:pPr marL="457200" indent="-457200" algn="just">
              <a:buAutoNum type="arabicPeriod"/>
            </a:pPr>
            <a:r>
              <a:rPr lang="en-US" sz="2200" dirty="0">
                <a:solidFill>
                  <a:schemeClr val="accent1">
                    <a:lumMod val="50000"/>
                  </a:schemeClr>
                </a:solidFill>
                <a:ea typeface="Calibri" panose="020F0502020204030204" pitchFamily="34" charset="0"/>
                <a:cs typeface="Times New Roman" panose="02020603050405020304" pitchFamily="18" charset="0"/>
              </a:rPr>
              <a:t>Determine the slack time.</a:t>
            </a:r>
          </a:p>
          <a:p>
            <a:pPr algn="just"/>
            <a:endParaRPr lang="en-US" sz="2200" b="1" dirty="0">
              <a:solidFill>
                <a:schemeClr val="accent1">
                  <a:lumMod val="50000"/>
                </a:schemeClr>
              </a:solidFill>
              <a:ea typeface="Calibri" panose="020F0502020204030204" pitchFamily="34" charset="0"/>
              <a:cs typeface="Times New Roman" panose="02020603050405020304" pitchFamily="18" charset="0"/>
            </a:endParaRPr>
          </a:p>
          <a:p>
            <a:pPr algn="just"/>
            <a:endParaRPr lang="en-US" sz="2200" b="1" dirty="0">
              <a:solidFill>
                <a:schemeClr val="accent1">
                  <a:lumMod val="50000"/>
                </a:schemeClr>
              </a:solidFill>
              <a:ea typeface="Calibri" panose="020F0502020204030204" pitchFamily="34"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38605AB6-C421-9CC4-A84F-2A8BE649ECDE}"/>
              </a:ext>
            </a:extLst>
          </p:cNvPr>
          <p:cNvSpPr>
            <a:spLocks noGrp="1"/>
          </p:cNvSpPr>
          <p:nvPr>
            <p:ph type="ftr" sz="quarter" idx="11"/>
          </p:nvPr>
        </p:nvSpPr>
        <p:spPr/>
        <p:txBody>
          <a:bodyPr/>
          <a:lstStyle/>
          <a:p>
            <a:r>
              <a:rPr lang="en-US"/>
              <a:t>Engr. Melanie D. Piedad, ABELE 2022 Topnotcher</a:t>
            </a:r>
            <a:endParaRPr lang="en-US" dirty="0"/>
          </a:p>
        </p:txBody>
      </p:sp>
      <p:sp>
        <p:nvSpPr>
          <p:cNvPr id="4" name="Slide Number Placeholder 3">
            <a:extLst>
              <a:ext uri="{FF2B5EF4-FFF2-40B4-BE49-F238E27FC236}">
                <a16:creationId xmlns:a16="http://schemas.microsoft.com/office/drawing/2014/main" id="{46ADC402-FA70-C909-143C-DD42ED5FB3BE}"/>
              </a:ext>
            </a:extLst>
          </p:cNvPr>
          <p:cNvSpPr>
            <a:spLocks noGrp="1"/>
          </p:cNvSpPr>
          <p:nvPr>
            <p:ph type="sldNum" sz="quarter" idx="12"/>
          </p:nvPr>
        </p:nvSpPr>
        <p:spPr/>
        <p:txBody>
          <a:bodyPr/>
          <a:lstStyle/>
          <a:p>
            <a:fld id="{D57F1E4F-1CFF-5643-939E-217C01CDF565}" type="slidenum">
              <a:rPr lang="en-US" smtClean="0"/>
              <a:pPr/>
              <a:t>18</a:t>
            </a:fld>
            <a:endParaRPr lang="en-US" dirty="0"/>
          </a:p>
        </p:txBody>
      </p:sp>
    </p:spTree>
    <p:extLst>
      <p:ext uri="{BB962C8B-B14F-4D97-AF65-F5344CB8AC3E}">
        <p14:creationId xmlns:p14="http://schemas.microsoft.com/office/powerpoint/2010/main" val="19516635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3E1256D-5017-74B9-E4ED-4D9EB0521160}"/>
              </a:ext>
            </a:extLst>
          </p:cNvPr>
          <p:cNvSpPr>
            <a:spLocks noGrp="1"/>
          </p:cNvSpPr>
          <p:nvPr>
            <p:ph type="ctrTitle"/>
          </p:nvPr>
        </p:nvSpPr>
        <p:spPr>
          <a:xfrm>
            <a:off x="911550" y="673475"/>
            <a:ext cx="5966889" cy="608944"/>
          </a:xfrm>
        </p:spPr>
        <p:txBody>
          <a:bodyPr anchor="ctr"/>
          <a:lstStyle/>
          <a:p>
            <a:pPr algn="just"/>
            <a:r>
              <a:rPr lang="en-US" sz="4000" b="1" dirty="0">
                <a:solidFill>
                  <a:srgbClr val="E18E2E"/>
                </a:solidFill>
                <a:latin typeface="Trebuchet MS" panose="020B0703020202090204" pitchFamily="34" charset="0"/>
              </a:rPr>
              <a:t>Sample questions</a:t>
            </a:r>
          </a:p>
        </p:txBody>
      </p:sp>
      <p:sp>
        <p:nvSpPr>
          <p:cNvPr id="3" name="Title 1">
            <a:extLst>
              <a:ext uri="{FF2B5EF4-FFF2-40B4-BE49-F238E27FC236}">
                <a16:creationId xmlns:a16="http://schemas.microsoft.com/office/drawing/2014/main" id="{345F3751-F15A-426C-A1DA-41A065A128B5}"/>
              </a:ext>
            </a:extLst>
          </p:cNvPr>
          <p:cNvSpPr txBox="1">
            <a:spLocks/>
          </p:cNvSpPr>
          <p:nvPr/>
        </p:nvSpPr>
        <p:spPr>
          <a:xfrm>
            <a:off x="911550" y="1282419"/>
            <a:ext cx="8376829" cy="4504552"/>
          </a:xfrm>
          <a:prstGeom prst="rect">
            <a:avLst/>
          </a:prstGeom>
        </p:spPr>
        <p:txBody>
          <a:bodyPr vert="horz" lIns="91440" tIns="45720" rIns="91440" bIns="45720" rtlCol="0" anchor="t">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just"/>
            <a:endParaRPr lang="en-US" sz="2400" b="1" dirty="0">
              <a:solidFill>
                <a:schemeClr val="accent1">
                  <a:lumMod val="50000"/>
                </a:schemeClr>
              </a:solidFill>
              <a:ea typeface="Calibri" panose="020F0502020204030204" pitchFamily="34" charset="0"/>
              <a:cs typeface="Times New Roman" panose="02020603050405020304" pitchFamily="18" charset="0"/>
            </a:endParaRPr>
          </a:p>
          <a:p>
            <a:pPr algn="just"/>
            <a:endParaRPr lang="en-US" sz="2400" b="1" dirty="0">
              <a:solidFill>
                <a:schemeClr val="accent1">
                  <a:lumMod val="50000"/>
                </a:schemeClr>
              </a:solidFill>
              <a:ea typeface="Calibri" panose="020F0502020204030204" pitchFamily="34" charset="0"/>
              <a:cs typeface="Times New Roman" panose="02020603050405020304" pitchFamily="18" charset="0"/>
            </a:endParaRPr>
          </a:p>
          <a:p>
            <a:pPr algn="just"/>
            <a:endParaRPr lang="en-US" sz="2400" b="1" dirty="0">
              <a:solidFill>
                <a:schemeClr val="accent1">
                  <a:lumMod val="50000"/>
                </a:schemeClr>
              </a:solidFill>
              <a:ea typeface="Calibri" panose="020F0502020204030204" pitchFamily="34" charset="0"/>
              <a:cs typeface="Times New Roman" panose="02020603050405020304" pitchFamily="18" charset="0"/>
            </a:endParaRPr>
          </a:p>
        </p:txBody>
      </p:sp>
      <p:pic>
        <p:nvPicPr>
          <p:cNvPr id="2" name="Picture 2">
            <a:extLst>
              <a:ext uri="{FF2B5EF4-FFF2-40B4-BE49-F238E27FC236}">
                <a16:creationId xmlns:a16="http://schemas.microsoft.com/office/drawing/2014/main" id="{C8668514-C279-150A-0131-EAEED47D4FB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637" t="30911" r="9171"/>
          <a:stretch/>
        </p:blipFill>
        <p:spPr bwMode="auto">
          <a:xfrm>
            <a:off x="1825988" y="1450486"/>
            <a:ext cx="6547951" cy="47340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Footer Placeholder 3">
            <a:extLst>
              <a:ext uri="{FF2B5EF4-FFF2-40B4-BE49-F238E27FC236}">
                <a16:creationId xmlns:a16="http://schemas.microsoft.com/office/drawing/2014/main" id="{E1230AFF-4A4B-F99C-46F1-99419B144C5A}"/>
              </a:ext>
            </a:extLst>
          </p:cNvPr>
          <p:cNvSpPr>
            <a:spLocks noGrp="1"/>
          </p:cNvSpPr>
          <p:nvPr>
            <p:ph type="ftr" sz="quarter" idx="11"/>
          </p:nvPr>
        </p:nvSpPr>
        <p:spPr/>
        <p:txBody>
          <a:bodyPr/>
          <a:lstStyle/>
          <a:p>
            <a:r>
              <a:rPr lang="en-US"/>
              <a:t>Engr. Melanie D. Piedad, ABELE 2022 Topnotcher</a:t>
            </a:r>
            <a:endParaRPr lang="en-US" dirty="0"/>
          </a:p>
        </p:txBody>
      </p:sp>
      <p:sp>
        <p:nvSpPr>
          <p:cNvPr id="5" name="Slide Number Placeholder 4">
            <a:extLst>
              <a:ext uri="{FF2B5EF4-FFF2-40B4-BE49-F238E27FC236}">
                <a16:creationId xmlns:a16="http://schemas.microsoft.com/office/drawing/2014/main" id="{5961B12B-7467-7570-418D-BDB9BBCD21B1}"/>
              </a:ext>
            </a:extLst>
          </p:cNvPr>
          <p:cNvSpPr>
            <a:spLocks noGrp="1"/>
          </p:cNvSpPr>
          <p:nvPr>
            <p:ph type="sldNum" sz="quarter" idx="12"/>
          </p:nvPr>
        </p:nvSpPr>
        <p:spPr/>
        <p:txBody>
          <a:bodyPr/>
          <a:lstStyle/>
          <a:p>
            <a:fld id="{D57F1E4F-1CFF-5643-939E-217C01CDF565}" type="slidenum">
              <a:rPr lang="en-US" smtClean="0"/>
              <a:pPr/>
              <a:t>19</a:t>
            </a:fld>
            <a:endParaRPr lang="en-US" dirty="0"/>
          </a:p>
        </p:txBody>
      </p:sp>
    </p:spTree>
    <p:extLst>
      <p:ext uri="{BB962C8B-B14F-4D97-AF65-F5344CB8AC3E}">
        <p14:creationId xmlns:p14="http://schemas.microsoft.com/office/powerpoint/2010/main" val="42283032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3E1256D-5017-74B9-E4ED-4D9EB0521160}"/>
              </a:ext>
            </a:extLst>
          </p:cNvPr>
          <p:cNvSpPr>
            <a:spLocks noGrp="1"/>
          </p:cNvSpPr>
          <p:nvPr>
            <p:ph type="ctrTitle"/>
          </p:nvPr>
        </p:nvSpPr>
        <p:spPr>
          <a:xfrm>
            <a:off x="911550" y="673475"/>
            <a:ext cx="5966889" cy="608944"/>
          </a:xfrm>
        </p:spPr>
        <p:txBody>
          <a:bodyPr anchor="ctr"/>
          <a:lstStyle/>
          <a:p>
            <a:pPr algn="just"/>
            <a:r>
              <a:rPr lang="en-US" sz="4000" b="1" dirty="0">
                <a:solidFill>
                  <a:srgbClr val="E18E2E"/>
                </a:solidFill>
                <a:latin typeface="Trebuchet MS" panose="020B0703020202090204" pitchFamily="34" charset="0"/>
              </a:rPr>
              <a:t>Sample questions</a:t>
            </a:r>
          </a:p>
        </p:txBody>
      </p:sp>
      <p:sp>
        <p:nvSpPr>
          <p:cNvPr id="3" name="Title 1">
            <a:extLst>
              <a:ext uri="{FF2B5EF4-FFF2-40B4-BE49-F238E27FC236}">
                <a16:creationId xmlns:a16="http://schemas.microsoft.com/office/drawing/2014/main" id="{345F3751-F15A-426C-A1DA-41A065A128B5}"/>
              </a:ext>
            </a:extLst>
          </p:cNvPr>
          <p:cNvSpPr txBox="1">
            <a:spLocks/>
          </p:cNvSpPr>
          <p:nvPr/>
        </p:nvSpPr>
        <p:spPr>
          <a:xfrm>
            <a:off x="911550" y="1282419"/>
            <a:ext cx="8376829" cy="4504552"/>
          </a:xfrm>
          <a:prstGeom prst="rect">
            <a:avLst/>
          </a:prstGeom>
        </p:spPr>
        <p:txBody>
          <a:bodyPr vert="horz" lIns="91440" tIns="45720" rIns="91440" bIns="45720" rtlCol="0" anchor="t">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just"/>
            <a:endParaRPr lang="en-US" sz="2400" b="1" dirty="0">
              <a:solidFill>
                <a:schemeClr val="accent1">
                  <a:lumMod val="50000"/>
                </a:schemeClr>
              </a:solidFill>
              <a:ea typeface="Calibri" panose="020F0502020204030204" pitchFamily="34" charset="0"/>
              <a:cs typeface="Times New Roman" panose="02020603050405020304" pitchFamily="18" charset="0"/>
            </a:endParaRPr>
          </a:p>
          <a:p>
            <a:pPr algn="just"/>
            <a:endParaRPr lang="en-US" sz="2400" b="1" dirty="0">
              <a:solidFill>
                <a:schemeClr val="accent1">
                  <a:lumMod val="50000"/>
                </a:schemeClr>
              </a:solidFill>
              <a:ea typeface="Calibri" panose="020F0502020204030204" pitchFamily="34" charset="0"/>
              <a:cs typeface="Times New Roman" panose="02020603050405020304" pitchFamily="18" charset="0"/>
            </a:endParaRPr>
          </a:p>
          <a:p>
            <a:pPr algn="just"/>
            <a:endParaRPr lang="en-US" sz="2400" b="1" dirty="0">
              <a:solidFill>
                <a:schemeClr val="accent1">
                  <a:lumMod val="50000"/>
                </a:schemeClr>
              </a:solidFill>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2FD30853-AA6C-1D45-F2A8-E794FB9CCF56}"/>
              </a:ext>
            </a:extLst>
          </p:cNvPr>
          <p:cNvSpPr txBox="1">
            <a:spLocks/>
          </p:cNvSpPr>
          <p:nvPr/>
        </p:nvSpPr>
        <p:spPr>
          <a:xfrm>
            <a:off x="1063950" y="1434819"/>
            <a:ext cx="8513187" cy="4504552"/>
          </a:xfrm>
          <a:prstGeom prst="rect">
            <a:avLst/>
          </a:prstGeom>
        </p:spPr>
        <p:txBody>
          <a:bodyPr vert="horz" lIns="91440" tIns="45720" rIns="91440" bIns="45720" rtlCol="0" anchor="t">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just"/>
            <a:r>
              <a:rPr lang="en-US" sz="2000" b="1" dirty="0">
                <a:solidFill>
                  <a:schemeClr val="accent1">
                    <a:lumMod val="50000"/>
                  </a:schemeClr>
                </a:solidFill>
                <a:ea typeface="Calibri" panose="020F0502020204030204" pitchFamily="34" charset="0"/>
                <a:cs typeface="Times New Roman" panose="02020603050405020304" pitchFamily="18" charset="0"/>
              </a:rPr>
              <a:t>Forward Pass (to calculate Early Start)</a:t>
            </a:r>
          </a:p>
          <a:p>
            <a:pPr algn="just"/>
            <a:endParaRPr lang="en-US" sz="2000" b="1" u="sng" dirty="0">
              <a:solidFill>
                <a:schemeClr val="accent1">
                  <a:lumMod val="50000"/>
                </a:schemeClr>
              </a:solidFill>
              <a:ea typeface="Calibri" panose="020F0502020204030204" pitchFamily="34" charset="0"/>
              <a:cs typeface="Times New Roman" panose="02020603050405020304" pitchFamily="18" charset="0"/>
            </a:endParaRPr>
          </a:p>
          <a:p>
            <a:pPr algn="just"/>
            <a:r>
              <a:rPr lang="en-US" sz="2000" b="1" u="sng" dirty="0">
                <a:solidFill>
                  <a:schemeClr val="accent1">
                    <a:lumMod val="50000"/>
                  </a:schemeClr>
                </a:solidFill>
                <a:ea typeface="Calibri" panose="020F0502020204030204" pitchFamily="34" charset="0"/>
                <a:cs typeface="Times New Roman" panose="02020603050405020304" pitchFamily="18" charset="0"/>
              </a:rPr>
              <a:t>Step 1:</a:t>
            </a:r>
            <a:r>
              <a:rPr lang="en-US" sz="2000" b="1" dirty="0">
                <a:solidFill>
                  <a:schemeClr val="accent1">
                    <a:lumMod val="50000"/>
                  </a:schemeClr>
                </a:solidFill>
                <a:ea typeface="Calibri" panose="020F0502020204030204" pitchFamily="34" charset="0"/>
                <a:cs typeface="Times New Roman" panose="02020603050405020304" pitchFamily="18" charset="0"/>
              </a:rPr>
              <a:t> </a:t>
            </a:r>
            <a:r>
              <a:rPr lang="en-US" sz="2000" dirty="0">
                <a:solidFill>
                  <a:schemeClr val="accent1">
                    <a:lumMod val="50000"/>
                  </a:schemeClr>
                </a:solidFill>
                <a:ea typeface="Calibri" panose="020F0502020204030204" pitchFamily="34" charset="0"/>
                <a:cs typeface="Times New Roman" panose="02020603050405020304" pitchFamily="18" charset="0"/>
              </a:rPr>
              <a:t>Begin from the start event and move towards the end event.</a:t>
            </a:r>
          </a:p>
          <a:p>
            <a:pPr algn="just"/>
            <a:endParaRPr lang="en-US" sz="2000" dirty="0">
              <a:solidFill>
                <a:schemeClr val="accent1">
                  <a:lumMod val="50000"/>
                </a:schemeClr>
              </a:solidFill>
              <a:ea typeface="Calibri" panose="020F0502020204030204" pitchFamily="34" charset="0"/>
              <a:cs typeface="Times New Roman" panose="02020603050405020304" pitchFamily="18" charset="0"/>
            </a:endParaRPr>
          </a:p>
          <a:p>
            <a:pPr algn="just"/>
            <a:r>
              <a:rPr lang="en-US" sz="2000" b="1" u="sng" dirty="0">
                <a:solidFill>
                  <a:schemeClr val="accent1">
                    <a:lumMod val="50000"/>
                  </a:schemeClr>
                </a:solidFill>
                <a:ea typeface="Calibri" panose="020F0502020204030204" pitchFamily="34" charset="0"/>
                <a:cs typeface="Times New Roman" panose="02020603050405020304" pitchFamily="18" charset="0"/>
              </a:rPr>
              <a:t>Step 2:</a:t>
            </a:r>
            <a:r>
              <a:rPr lang="en-US" sz="2000" b="1" dirty="0">
                <a:solidFill>
                  <a:schemeClr val="accent1">
                    <a:lumMod val="50000"/>
                  </a:schemeClr>
                </a:solidFill>
                <a:ea typeface="Calibri" panose="020F0502020204030204" pitchFamily="34" charset="0"/>
                <a:cs typeface="Times New Roman" panose="02020603050405020304" pitchFamily="18" charset="0"/>
              </a:rPr>
              <a:t> </a:t>
            </a:r>
            <a:r>
              <a:rPr lang="en-US" sz="2000" dirty="0">
                <a:solidFill>
                  <a:schemeClr val="accent1">
                    <a:lumMod val="50000"/>
                  </a:schemeClr>
                </a:solidFill>
                <a:ea typeface="Calibri" panose="020F0502020204030204" pitchFamily="34" charset="0"/>
                <a:cs typeface="Times New Roman" panose="02020603050405020304" pitchFamily="18" charset="0"/>
              </a:rPr>
              <a:t>Put </a:t>
            </a:r>
            <a:r>
              <a:rPr lang="en-US" sz="2000" b="1" dirty="0">
                <a:solidFill>
                  <a:schemeClr val="accent1">
                    <a:lumMod val="50000"/>
                  </a:schemeClr>
                </a:solidFill>
                <a:ea typeface="Calibri" panose="020F0502020204030204" pitchFamily="34" charset="0"/>
                <a:cs typeface="Times New Roman" panose="02020603050405020304" pitchFamily="18" charset="0"/>
              </a:rPr>
              <a:t>ES = 0 </a:t>
            </a:r>
            <a:r>
              <a:rPr lang="en-US" sz="2000" dirty="0">
                <a:solidFill>
                  <a:schemeClr val="accent1">
                    <a:lumMod val="50000"/>
                  </a:schemeClr>
                </a:solidFill>
                <a:ea typeface="Calibri" panose="020F0502020204030204" pitchFamily="34" charset="0"/>
                <a:cs typeface="Times New Roman" panose="02020603050405020304" pitchFamily="18" charset="0"/>
              </a:rPr>
              <a:t>for the start event. </a:t>
            </a:r>
          </a:p>
          <a:p>
            <a:pPr algn="just"/>
            <a:endParaRPr lang="en-US" sz="2000" dirty="0">
              <a:solidFill>
                <a:schemeClr val="accent1">
                  <a:lumMod val="50000"/>
                </a:schemeClr>
              </a:solidFill>
              <a:ea typeface="Calibri" panose="020F0502020204030204" pitchFamily="34" charset="0"/>
              <a:cs typeface="Times New Roman" panose="02020603050405020304" pitchFamily="18" charset="0"/>
            </a:endParaRPr>
          </a:p>
          <a:p>
            <a:pPr algn="just"/>
            <a:r>
              <a:rPr lang="en-US" sz="2000" b="1" u="sng" dirty="0">
                <a:solidFill>
                  <a:schemeClr val="accent1">
                    <a:lumMod val="50000"/>
                  </a:schemeClr>
                </a:solidFill>
                <a:ea typeface="Calibri" panose="020F0502020204030204" pitchFamily="34" charset="0"/>
                <a:cs typeface="Times New Roman" panose="02020603050405020304" pitchFamily="18" charset="0"/>
              </a:rPr>
              <a:t>Step 3:</a:t>
            </a:r>
            <a:r>
              <a:rPr lang="en-US" sz="2000" b="1" dirty="0">
                <a:solidFill>
                  <a:schemeClr val="accent1">
                    <a:lumMod val="50000"/>
                  </a:schemeClr>
                </a:solidFill>
                <a:ea typeface="Calibri" panose="020F0502020204030204" pitchFamily="34" charset="0"/>
                <a:cs typeface="Times New Roman" panose="02020603050405020304" pitchFamily="18" charset="0"/>
              </a:rPr>
              <a:t> </a:t>
            </a:r>
            <a:r>
              <a:rPr lang="en-US" sz="2000" dirty="0">
                <a:solidFill>
                  <a:schemeClr val="accent1">
                    <a:lumMod val="50000"/>
                  </a:schemeClr>
                </a:solidFill>
                <a:ea typeface="Calibri" panose="020F0502020204030204" pitchFamily="34" charset="0"/>
                <a:cs typeface="Times New Roman" panose="02020603050405020304" pitchFamily="18" charset="0"/>
              </a:rPr>
              <a:t>Go to the next event (i.e., node 2) if there is an incoming activity for event 2, add calculate ES of previous event (i.e., event 1) and activity time. </a:t>
            </a:r>
          </a:p>
          <a:p>
            <a:pPr algn="just"/>
            <a:r>
              <a:rPr lang="en-US" sz="2000" b="1" dirty="0">
                <a:solidFill>
                  <a:schemeClr val="accent1">
                    <a:lumMod val="50000"/>
                  </a:schemeClr>
                </a:solidFill>
                <a:ea typeface="Calibri" panose="020F0502020204030204" pitchFamily="34" charset="0"/>
                <a:cs typeface="Times New Roman" panose="02020603050405020304" pitchFamily="18" charset="0"/>
              </a:rPr>
              <a:t>Note:</a:t>
            </a:r>
            <a:r>
              <a:rPr lang="en-US" sz="2000" dirty="0">
                <a:solidFill>
                  <a:schemeClr val="accent1">
                    <a:lumMod val="50000"/>
                  </a:schemeClr>
                </a:solidFill>
                <a:ea typeface="Calibri" panose="020F0502020204030204" pitchFamily="34" charset="0"/>
                <a:cs typeface="Times New Roman" panose="02020603050405020304" pitchFamily="18" charset="0"/>
              </a:rPr>
              <a:t> If there are more than one incoming activities, calculate ES for all incoming activities and take the maximum value. This value is the ES for event 2.</a:t>
            </a:r>
          </a:p>
          <a:p>
            <a:pPr algn="just"/>
            <a:endParaRPr lang="en-US" sz="2000" dirty="0">
              <a:solidFill>
                <a:schemeClr val="accent1">
                  <a:lumMod val="50000"/>
                </a:schemeClr>
              </a:solidFill>
              <a:ea typeface="Calibri" panose="020F0502020204030204" pitchFamily="34" charset="0"/>
              <a:cs typeface="Times New Roman" panose="02020603050405020304" pitchFamily="18" charset="0"/>
            </a:endParaRPr>
          </a:p>
          <a:p>
            <a:pPr algn="just"/>
            <a:r>
              <a:rPr lang="en-US" sz="2000" b="1" u="sng" dirty="0">
                <a:solidFill>
                  <a:schemeClr val="accent1">
                    <a:lumMod val="50000"/>
                  </a:schemeClr>
                </a:solidFill>
                <a:ea typeface="Calibri" panose="020F0502020204030204" pitchFamily="34" charset="0"/>
                <a:cs typeface="Times New Roman" panose="02020603050405020304" pitchFamily="18" charset="0"/>
              </a:rPr>
              <a:t>Step 4:</a:t>
            </a:r>
            <a:r>
              <a:rPr lang="en-US" sz="2000" b="1" dirty="0">
                <a:solidFill>
                  <a:schemeClr val="accent1">
                    <a:lumMod val="50000"/>
                  </a:schemeClr>
                </a:solidFill>
                <a:ea typeface="Calibri" panose="020F0502020204030204" pitchFamily="34" charset="0"/>
                <a:cs typeface="Times New Roman" panose="02020603050405020304" pitchFamily="18" charset="0"/>
              </a:rPr>
              <a:t> </a:t>
            </a:r>
            <a:r>
              <a:rPr lang="en-US" sz="2000" dirty="0">
                <a:solidFill>
                  <a:schemeClr val="accent1">
                    <a:lumMod val="50000"/>
                  </a:schemeClr>
                </a:solidFill>
                <a:ea typeface="Calibri" panose="020F0502020204030204" pitchFamily="34" charset="0"/>
                <a:cs typeface="Times New Roman" panose="02020603050405020304" pitchFamily="18" charset="0"/>
              </a:rPr>
              <a:t>Repeat the same procedure from step 3 till the end event.</a:t>
            </a:r>
          </a:p>
          <a:p>
            <a:pPr algn="just"/>
            <a:endParaRPr lang="en-US" sz="2000" b="1" dirty="0">
              <a:solidFill>
                <a:schemeClr val="accent1">
                  <a:lumMod val="50000"/>
                </a:schemeClr>
              </a:solidFill>
              <a:ea typeface="Calibri" panose="020F0502020204030204" pitchFamily="34" charset="0"/>
              <a:cs typeface="Times New Roman" panose="02020603050405020304" pitchFamily="18" charset="0"/>
            </a:endParaRPr>
          </a:p>
          <a:p>
            <a:pPr algn="just"/>
            <a:endParaRPr lang="en-US" sz="2000" b="1" dirty="0">
              <a:solidFill>
                <a:schemeClr val="accent1">
                  <a:lumMod val="50000"/>
                </a:schemeClr>
              </a:solidFill>
              <a:ea typeface="Calibri" panose="020F0502020204030204" pitchFamily="34"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A5CAA557-FD62-7417-5AE3-E74B898BF58A}"/>
              </a:ext>
            </a:extLst>
          </p:cNvPr>
          <p:cNvSpPr>
            <a:spLocks noGrp="1"/>
          </p:cNvSpPr>
          <p:nvPr>
            <p:ph type="ftr" sz="quarter" idx="11"/>
          </p:nvPr>
        </p:nvSpPr>
        <p:spPr/>
        <p:txBody>
          <a:bodyPr/>
          <a:lstStyle/>
          <a:p>
            <a:r>
              <a:rPr lang="en-US"/>
              <a:t>Engr. Melanie D. Piedad, ABELE 2022 Topnotcher</a:t>
            </a:r>
            <a:endParaRPr lang="en-US" dirty="0"/>
          </a:p>
        </p:txBody>
      </p:sp>
      <p:sp>
        <p:nvSpPr>
          <p:cNvPr id="5" name="Slide Number Placeholder 4">
            <a:extLst>
              <a:ext uri="{FF2B5EF4-FFF2-40B4-BE49-F238E27FC236}">
                <a16:creationId xmlns:a16="http://schemas.microsoft.com/office/drawing/2014/main" id="{89987BA1-6F6D-9A3F-D16C-50AD04B3C0AE}"/>
              </a:ext>
            </a:extLst>
          </p:cNvPr>
          <p:cNvSpPr>
            <a:spLocks noGrp="1"/>
          </p:cNvSpPr>
          <p:nvPr>
            <p:ph type="sldNum" sz="quarter" idx="12"/>
          </p:nvPr>
        </p:nvSpPr>
        <p:spPr/>
        <p:txBody>
          <a:bodyPr/>
          <a:lstStyle/>
          <a:p>
            <a:fld id="{D57F1E4F-1CFF-5643-939E-217C01CDF565}" type="slidenum">
              <a:rPr lang="en-US" smtClean="0"/>
              <a:pPr/>
              <a:t>20</a:t>
            </a:fld>
            <a:endParaRPr lang="en-US" dirty="0"/>
          </a:p>
        </p:txBody>
      </p:sp>
    </p:spTree>
    <p:extLst>
      <p:ext uri="{BB962C8B-B14F-4D97-AF65-F5344CB8AC3E}">
        <p14:creationId xmlns:p14="http://schemas.microsoft.com/office/powerpoint/2010/main" val="42210491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3E1256D-5017-74B9-E4ED-4D9EB0521160}"/>
              </a:ext>
            </a:extLst>
          </p:cNvPr>
          <p:cNvSpPr>
            <a:spLocks noGrp="1"/>
          </p:cNvSpPr>
          <p:nvPr>
            <p:ph type="ctrTitle"/>
          </p:nvPr>
        </p:nvSpPr>
        <p:spPr>
          <a:xfrm>
            <a:off x="911550" y="673475"/>
            <a:ext cx="5966889" cy="608944"/>
          </a:xfrm>
        </p:spPr>
        <p:txBody>
          <a:bodyPr anchor="ctr"/>
          <a:lstStyle/>
          <a:p>
            <a:pPr algn="just"/>
            <a:r>
              <a:rPr lang="en-US" sz="4000" b="1" dirty="0">
                <a:solidFill>
                  <a:srgbClr val="E18E2E"/>
                </a:solidFill>
                <a:latin typeface="Trebuchet MS" panose="020B0703020202090204" pitchFamily="34" charset="0"/>
              </a:rPr>
              <a:t>Sample questions</a:t>
            </a:r>
          </a:p>
        </p:txBody>
      </p:sp>
      <p:sp>
        <p:nvSpPr>
          <p:cNvPr id="3" name="Title 1">
            <a:extLst>
              <a:ext uri="{FF2B5EF4-FFF2-40B4-BE49-F238E27FC236}">
                <a16:creationId xmlns:a16="http://schemas.microsoft.com/office/drawing/2014/main" id="{345F3751-F15A-426C-A1DA-41A065A128B5}"/>
              </a:ext>
            </a:extLst>
          </p:cNvPr>
          <p:cNvSpPr txBox="1">
            <a:spLocks/>
          </p:cNvSpPr>
          <p:nvPr/>
        </p:nvSpPr>
        <p:spPr>
          <a:xfrm>
            <a:off x="911550" y="1282419"/>
            <a:ext cx="8376829" cy="4504552"/>
          </a:xfrm>
          <a:prstGeom prst="rect">
            <a:avLst/>
          </a:prstGeom>
        </p:spPr>
        <p:txBody>
          <a:bodyPr vert="horz" lIns="91440" tIns="45720" rIns="91440" bIns="45720" rtlCol="0" anchor="t">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just"/>
            <a:endParaRPr lang="en-US" sz="2400" b="1" dirty="0">
              <a:solidFill>
                <a:schemeClr val="accent1">
                  <a:lumMod val="50000"/>
                </a:schemeClr>
              </a:solidFill>
              <a:ea typeface="Calibri" panose="020F0502020204030204" pitchFamily="34" charset="0"/>
              <a:cs typeface="Times New Roman" panose="02020603050405020304" pitchFamily="18" charset="0"/>
            </a:endParaRPr>
          </a:p>
          <a:p>
            <a:pPr algn="just"/>
            <a:endParaRPr lang="en-US" sz="2400" b="1" dirty="0">
              <a:solidFill>
                <a:schemeClr val="accent1">
                  <a:lumMod val="50000"/>
                </a:schemeClr>
              </a:solidFill>
              <a:ea typeface="Calibri" panose="020F0502020204030204" pitchFamily="34" charset="0"/>
              <a:cs typeface="Times New Roman" panose="02020603050405020304" pitchFamily="18" charset="0"/>
            </a:endParaRPr>
          </a:p>
          <a:p>
            <a:pPr algn="just"/>
            <a:endParaRPr lang="en-US" sz="2400" b="1" dirty="0">
              <a:solidFill>
                <a:schemeClr val="accent1">
                  <a:lumMod val="50000"/>
                </a:schemeClr>
              </a:solidFill>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2FD30853-AA6C-1D45-F2A8-E794FB9CCF56}"/>
              </a:ext>
            </a:extLst>
          </p:cNvPr>
          <p:cNvSpPr txBox="1">
            <a:spLocks/>
          </p:cNvSpPr>
          <p:nvPr/>
        </p:nvSpPr>
        <p:spPr>
          <a:xfrm>
            <a:off x="1063950" y="1434819"/>
            <a:ext cx="8693661" cy="4749706"/>
          </a:xfrm>
          <a:prstGeom prst="rect">
            <a:avLst/>
          </a:prstGeom>
        </p:spPr>
        <p:txBody>
          <a:bodyPr vert="horz" lIns="91440" tIns="45720" rIns="91440" bIns="45720" rtlCol="0" anchor="t">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just"/>
            <a:r>
              <a:rPr lang="en-US" sz="2000" b="1" dirty="0">
                <a:solidFill>
                  <a:schemeClr val="accent1">
                    <a:lumMod val="50000"/>
                  </a:schemeClr>
                </a:solidFill>
                <a:ea typeface="Calibri" panose="020F0502020204030204" pitchFamily="34" charset="0"/>
                <a:cs typeface="Times New Roman" panose="02020603050405020304" pitchFamily="18" charset="0"/>
              </a:rPr>
              <a:t>Backward Pass (to calculate Late Finish) </a:t>
            </a:r>
          </a:p>
          <a:p>
            <a:pPr algn="just"/>
            <a:endParaRPr lang="en-US" sz="2000" dirty="0">
              <a:solidFill>
                <a:schemeClr val="accent1">
                  <a:lumMod val="50000"/>
                </a:schemeClr>
              </a:solidFill>
              <a:ea typeface="Calibri" panose="020F0502020204030204" pitchFamily="34" charset="0"/>
              <a:cs typeface="Times New Roman" panose="02020603050405020304" pitchFamily="18" charset="0"/>
            </a:endParaRPr>
          </a:p>
          <a:p>
            <a:pPr algn="just"/>
            <a:r>
              <a:rPr lang="en-US" sz="2000" b="1" u="sng" dirty="0">
                <a:solidFill>
                  <a:schemeClr val="accent1">
                    <a:lumMod val="50000"/>
                  </a:schemeClr>
                </a:solidFill>
                <a:ea typeface="Calibri" panose="020F0502020204030204" pitchFamily="34" charset="0"/>
                <a:cs typeface="Times New Roman" panose="02020603050405020304" pitchFamily="18" charset="0"/>
              </a:rPr>
              <a:t>Step 1:</a:t>
            </a:r>
            <a:r>
              <a:rPr lang="en-US" sz="2000" b="1" dirty="0">
                <a:solidFill>
                  <a:schemeClr val="accent1">
                    <a:lumMod val="50000"/>
                  </a:schemeClr>
                </a:solidFill>
                <a:ea typeface="Calibri" panose="020F0502020204030204" pitchFamily="34" charset="0"/>
                <a:cs typeface="Times New Roman" panose="02020603050405020304" pitchFamily="18" charset="0"/>
              </a:rPr>
              <a:t> </a:t>
            </a:r>
            <a:r>
              <a:rPr lang="en-US" sz="2000" dirty="0">
                <a:solidFill>
                  <a:schemeClr val="accent1">
                    <a:lumMod val="50000"/>
                  </a:schemeClr>
                </a:solidFill>
                <a:ea typeface="Calibri" panose="020F0502020204030204" pitchFamily="34" charset="0"/>
                <a:cs typeface="Times New Roman" panose="02020603050405020304" pitchFamily="18" charset="0"/>
              </a:rPr>
              <a:t>Begin from end event and move towards the start event. Assume that the direction of arrows is reversed. </a:t>
            </a:r>
          </a:p>
          <a:p>
            <a:pPr algn="just"/>
            <a:endParaRPr lang="en-US" sz="2000" dirty="0">
              <a:solidFill>
                <a:schemeClr val="accent1">
                  <a:lumMod val="50000"/>
                </a:schemeClr>
              </a:solidFill>
              <a:ea typeface="Calibri" panose="020F0502020204030204" pitchFamily="34" charset="0"/>
              <a:cs typeface="Times New Roman" panose="02020603050405020304" pitchFamily="18" charset="0"/>
            </a:endParaRPr>
          </a:p>
          <a:p>
            <a:pPr algn="just"/>
            <a:r>
              <a:rPr lang="en-US" sz="2000" b="1" u="sng" dirty="0">
                <a:solidFill>
                  <a:schemeClr val="accent1">
                    <a:lumMod val="50000"/>
                  </a:schemeClr>
                </a:solidFill>
                <a:ea typeface="Calibri" panose="020F0502020204030204" pitchFamily="34" charset="0"/>
                <a:cs typeface="Times New Roman" panose="02020603050405020304" pitchFamily="18" charset="0"/>
              </a:rPr>
              <a:t>Step 2:</a:t>
            </a:r>
            <a:r>
              <a:rPr lang="en-US" sz="2000" dirty="0">
                <a:solidFill>
                  <a:schemeClr val="accent1">
                    <a:lumMod val="50000"/>
                  </a:schemeClr>
                </a:solidFill>
                <a:ea typeface="Calibri" panose="020F0502020204030204" pitchFamily="34" charset="0"/>
                <a:cs typeface="Times New Roman" panose="02020603050405020304" pitchFamily="18" charset="0"/>
              </a:rPr>
              <a:t> Latest Time LF for the last event is the earliest time. ES of the last event. </a:t>
            </a:r>
          </a:p>
          <a:p>
            <a:pPr algn="just"/>
            <a:endParaRPr lang="en-US" sz="2000" dirty="0">
              <a:solidFill>
                <a:schemeClr val="accent1">
                  <a:lumMod val="50000"/>
                </a:schemeClr>
              </a:solidFill>
              <a:ea typeface="Calibri" panose="020F0502020204030204" pitchFamily="34" charset="0"/>
              <a:cs typeface="Times New Roman" panose="02020603050405020304" pitchFamily="18" charset="0"/>
            </a:endParaRPr>
          </a:p>
          <a:p>
            <a:pPr algn="just"/>
            <a:r>
              <a:rPr lang="en-US" sz="2000" b="1" u="sng" dirty="0">
                <a:solidFill>
                  <a:schemeClr val="accent1">
                    <a:lumMod val="50000"/>
                  </a:schemeClr>
                </a:solidFill>
                <a:ea typeface="Calibri" panose="020F0502020204030204" pitchFamily="34" charset="0"/>
                <a:cs typeface="Times New Roman" panose="02020603050405020304" pitchFamily="18" charset="0"/>
              </a:rPr>
              <a:t>Step 3:</a:t>
            </a:r>
            <a:r>
              <a:rPr lang="en-US" sz="2000" dirty="0">
                <a:solidFill>
                  <a:schemeClr val="accent1">
                    <a:lumMod val="50000"/>
                  </a:schemeClr>
                </a:solidFill>
                <a:ea typeface="Calibri" panose="020F0502020204030204" pitchFamily="34" charset="0"/>
                <a:cs typeface="Times New Roman" panose="02020603050405020304" pitchFamily="18" charset="0"/>
              </a:rPr>
              <a:t> Go to the next event, if there is an incoming activity, subtract the value of LF of previous event from the activity duration time. The arrived value is LF for that event. If there are more than one incoming activities, take the minimum ES value.</a:t>
            </a:r>
          </a:p>
          <a:p>
            <a:pPr algn="just"/>
            <a:endParaRPr lang="en-US" sz="2000" dirty="0">
              <a:solidFill>
                <a:schemeClr val="accent1">
                  <a:lumMod val="50000"/>
                </a:schemeClr>
              </a:solidFill>
              <a:ea typeface="Calibri" panose="020F0502020204030204" pitchFamily="34" charset="0"/>
              <a:cs typeface="Times New Roman" panose="02020603050405020304" pitchFamily="18" charset="0"/>
            </a:endParaRPr>
          </a:p>
          <a:p>
            <a:pPr algn="just"/>
            <a:r>
              <a:rPr lang="en-US" sz="2000" b="1" u="sng" dirty="0">
                <a:solidFill>
                  <a:schemeClr val="accent1">
                    <a:lumMod val="50000"/>
                  </a:schemeClr>
                </a:solidFill>
                <a:ea typeface="Calibri" panose="020F0502020204030204" pitchFamily="34" charset="0"/>
                <a:cs typeface="Times New Roman" panose="02020603050405020304" pitchFamily="18" charset="0"/>
              </a:rPr>
              <a:t>Step 4:</a:t>
            </a:r>
            <a:r>
              <a:rPr lang="en-US" sz="2000" dirty="0">
                <a:solidFill>
                  <a:schemeClr val="accent1">
                    <a:lumMod val="50000"/>
                  </a:schemeClr>
                </a:solidFill>
                <a:ea typeface="Calibri" panose="020F0502020204030204" pitchFamily="34" charset="0"/>
                <a:cs typeface="Times New Roman" panose="02020603050405020304" pitchFamily="18" charset="0"/>
              </a:rPr>
              <a:t> Repeat the same procedure from step 2 till the start event.</a:t>
            </a:r>
          </a:p>
        </p:txBody>
      </p:sp>
      <p:sp>
        <p:nvSpPr>
          <p:cNvPr id="4" name="Footer Placeholder 3">
            <a:extLst>
              <a:ext uri="{FF2B5EF4-FFF2-40B4-BE49-F238E27FC236}">
                <a16:creationId xmlns:a16="http://schemas.microsoft.com/office/drawing/2014/main" id="{8B3E297F-89CE-6640-31B4-9D91F366EE7C}"/>
              </a:ext>
            </a:extLst>
          </p:cNvPr>
          <p:cNvSpPr>
            <a:spLocks noGrp="1"/>
          </p:cNvSpPr>
          <p:nvPr>
            <p:ph type="ftr" sz="quarter" idx="11"/>
          </p:nvPr>
        </p:nvSpPr>
        <p:spPr/>
        <p:txBody>
          <a:bodyPr/>
          <a:lstStyle/>
          <a:p>
            <a:r>
              <a:rPr lang="en-US"/>
              <a:t>Engr. Melanie D. Piedad, ABELE 2022 Topnotcher</a:t>
            </a:r>
            <a:endParaRPr lang="en-US" dirty="0"/>
          </a:p>
        </p:txBody>
      </p:sp>
      <p:sp>
        <p:nvSpPr>
          <p:cNvPr id="5" name="Slide Number Placeholder 4">
            <a:extLst>
              <a:ext uri="{FF2B5EF4-FFF2-40B4-BE49-F238E27FC236}">
                <a16:creationId xmlns:a16="http://schemas.microsoft.com/office/drawing/2014/main" id="{A2431DA3-BDD3-5F39-4F59-A47B268DB203}"/>
              </a:ext>
            </a:extLst>
          </p:cNvPr>
          <p:cNvSpPr>
            <a:spLocks noGrp="1"/>
          </p:cNvSpPr>
          <p:nvPr>
            <p:ph type="sldNum" sz="quarter" idx="12"/>
          </p:nvPr>
        </p:nvSpPr>
        <p:spPr/>
        <p:txBody>
          <a:bodyPr/>
          <a:lstStyle/>
          <a:p>
            <a:fld id="{D57F1E4F-1CFF-5643-939E-217C01CDF565}" type="slidenum">
              <a:rPr lang="en-US" smtClean="0"/>
              <a:pPr/>
              <a:t>21</a:t>
            </a:fld>
            <a:endParaRPr lang="en-US" dirty="0"/>
          </a:p>
        </p:txBody>
      </p:sp>
    </p:spTree>
    <p:extLst>
      <p:ext uri="{BB962C8B-B14F-4D97-AF65-F5344CB8AC3E}">
        <p14:creationId xmlns:p14="http://schemas.microsoft.com/office/powerpoint/2010/main" val="23960478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3E1256D-5017-74B9-E4ED-4D9EB0521160}"/>
              </a:ext>
            </a:extLst>
          </p:cNvPr>
          <p:cNvSpPr>
            <a:spLocks noGrp="1"/>
          </p:cNvSpPr>
          <p:nvPr>
            <p:ph type="ctrTitle"/>
          </p:nvPr>
        </p:nvSpPr>
        <p:spPr>
          <a:xfrm>
            <a:off x="911550" y="673475"/>
            <a:ext cx="5966889" cy="608944"/>
          </a:xfrm>
        </p:spPr>
        <p:txBody>
          <a:bodyPr anchor="ctr"/>
          <a:lstStyle/>
          <a:p>
            <a:pPr algn="just"/>
            <a:r>
              <a:rPr lang="en-US" sz="4000" b="1" dirty="0">
                <a:solidFill>
                  <a:srgbClr val="E18E2E"/>
                </a:solidFill>
                <a:latin typeface="Trebuchet MS" panose="020B0703020202090204" pitchFamily="34" charset="0"/>
              </a:rPr>
              <a:t>Sample questions</a:t>
            </a:r>
          </a:p>
        </p:txBody>
      </p:sp>
      <p:sp>
        <p:nvSpPr>
          <p:cNvPr id="3" name="Title 1">
            <a:extLst>
              <a:ext uri="{FF2B5EF4-FFF2-40B4-BE49-F238E27FC236}">
                <a16:creationId xmlns:a16="http://schemas.microsoft.com/office/drawing/2014/main" id="{345F3751-F15A-426C-A1DA-41A065A128B5}"/>
              </a:ext>
            </a:extLst>
          </p:cNvPr>
          <p:cNvSpPr txBox="1">
            <a:spLocks/>
          </p:cNvSpPr>
          <p:nvPr/>
        </p:nvSpPr>
        <p:spPr>
          <a:xfrm>
            <a:off x="911550" y="4749421"/>
            <a:ext cx="8376829" cy="1037550"/>
          </a:xfrm>
          <a:prstGeom prst="rect">
            <a:avLst/>
          </a:prstGeom>
        </p:spPr>
        <p:txBody>
          <a:bodyPr vert="horz" lIns="91440" tIns="45720" rIns="91440" bIns="45720" rtlCol="0" anchor="t">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just"/>
            <a:endParaRPr lang="en-US" sz="2400" b="1" dirty="0">
              <a:solidFill>
                <a:schemeClr val="accent1">
                  <a:lumMod val="50000"/>
                </a:schemeClr>
              </a:solidFill>
              <a:ea typeface="Calibri" panose="020F0502020204030204" pitchFamily="34" charset="0"/>
              <a:cs typeface="Times New Roman" panose="02020603050405020304" pitchFamily="18" charset="0"/>
            </a:endParaRPr>
          </a:p>
          <a:p>
            <a:pPr algn="just"/>
            <a:endParaRPr lang="en-US" sz="2400" b="1" dirty="0">
              <a:solidFill>
                <a:schemeClr val="accent1">
                  <a:lumMod val="50000"/>
                </a:schemeClr>
              </a:solidFill>
              <a:ea typeface="Calibri" panose="020F0502020204030204" pitchFamily="34" charset="0"/>
              <a:cs typeface="Times New Roman" panose="02020603050405020304" pitchFamily="18" charset="0"/>
            </a:endParaRPr>
          </a:p>
          <a:p>
            <a:pPr algn="just"/>
            <a:endParaRPr lang="en-US" sz="2400" b="1" dirty="0">
              <a:solidFill>
                <a:schemeClr val="accent1">
                  <a:lumMod val="50000"/>
                </a:schemeClr>
              </a:solidFill>
              <a:ea typeface="Calibri" panose="020F0502020204030204" pitchFamily="34"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6A4A8990-0F43-A65E-82C8-7141C6CB422D}"/>
              </a:ext>
            </a:extLst>
          </p:cNvPr>
          <p:cNvGraphicFramePr>
            <a:graphicFrameLocks noGrp="1"/>
          </p:cNvGraphicFramePr>
          <p:nvPr>
            <p:extLst>
              <p:ext uri="{D42A27DB-BD31-4B8C-83A1-F6EECF244321}">
                <p14:modId xmlns:p14="http://schemas.microsoft.com/office/powerpoint/2010/main" val="2617303490"/>
              </p:ext>
            </p:extLst>
          </p:nvPr>
        </p:nvGraphicFramePr>
        <p:xfrm>
          <a:off x="911550" y="1452173"/>
          <a:ext cx="8559996" cy="3435624"/>
        </p:xfrm>
        <a:graphic>
          <a:graphicData uri="http://schemas.openxmlformats.org/drawingml/2006/table">
            <a:tbl>
              <a:tblPr firstRow="1" bandRow="1">
                <a:tableStyleId>{5C22544A-7EE6-4342-B048-85BDC9FD1C3A}</a:tableStyleId>
              </a:tblPr>
              <a:tblGrid>
                <a:gridCol w="2853332">
                  <a:extLst>
                    <a:ext uri="{9D8B030D-6E8A-4147-A177-3AD203B41FA5}">
                      <a16:colId xmlns:a16="http://schemas.microsoft.com/office/drawing/2014/main" val="1342583855"/>
                    </a:ext>
                  </a:extLst>
                </a:gridCol>
                <a:gridCol w="2853332">
                  <a:extLst>
                    <a:ext uri="{9D8B030D-6E8A-4147-A177-3AD203B41FA5}">
                      <a16:colId xmlns:a16="http://schemas.microsoft.com/office/drawing/2014/main" val="3885598107"/>
                    </a:ext>
                  </a:extLst>
                </a:gridCol>
                <a:gridCol w="2853332">
                  <a:extLst>
                    <a:ext uri="{9D8B030D-6E8A-4147-A177-3AD203B41FA5}">
                      <a16:colId xmlns:a16="http://schemas.microsoft.com/office/drawing/2014/main" val="3521544160"/>
                    </a:ext>
                  </a:extLst>
                </a:gridCol>
              </a:tblGrid>
              <a:tr h="429453">
                <a:tc>
                  <a:txBody>
                    <a:bodyPr/>
                    <a:lstStyle/>
                    <a:p>
                      <a:pPr algn="ctr"/>
                      <a:r>
                        <a:rPr lang="en-US" dirty="0"/>
                        <a:t>Activity</a:t>
                      </a:r>
                    </a:p>
                  </a:txBody>
                  <a:tcPr/>
                </a:tc>
                <a:tc>
                  <a:txBody>
                    <a:bodyPr/>
                    <a:lstStyle/>
                    <a:p>
                      <a:pPr algn="ctr"/>
                      <a:r>
                        <a:rPr lang="en-US" dirty="0"/>
                        <a:t>Predecessor</a:t>
                      </a:r>
                    </a:p>
                  </a:txBody>
                  <a:tcPr/>
                </a:tc>
                <a:tc>
                  <a:txBody>
                    <a:bodyPr/>
                    <a:lstStyle/>
                    <a:p>
                      <a:pPr algn="ctr"/>
                      <a:r>
                        <a:rPr lang="en-US" dirty="0"/>
                        <a:t>Duration (days)</a:t>
                      </a:r>
                    </a:p>
                  </a:txBody>
                  <a:tcPr/>
                </a:tc>
                <a:extLst>
                  <a:ext uri="{0D108BD9-81ED-4DB2-BD59-A6C34878D82A}">
                    <a16:rowId xmlns:a16="http://schemas.microsoft.com/office/drawing/2014/main" val="357046385"/>
                  </a:ext>
                </a:extLst>
              </a:tr>
              <a:tr h="429453">
                <a:tc>
                  <a:txBody>
                    <a:bodyPr/>
                    <a:lstStyle/>
                    <a:p>
                      <a:pPr algn="ctr"/>
                      <a:r>
                        <a:rPr lang="en-US" dirty="0"/>
                        <a:t>A</a:t>
                      </a:r>
                    </a:p>
                  </a:txBody>
                  <a:tcPr/>
                </a:tc>
                <a:tc>
                  <a:txBody>
                    <a:bodyPr/>
                    <a:lstStyle/>
                    <a:p>
                      <a:pPr algn="ctr"/>
                      <a:r>
                        <a:rPr lang="en-US" dirty="0"/>
                        <a:t>-</a:t>
                      </a:r>
                    </a:p>
                  </a:txBody>
                  <a:tcPr/>
                </a:tc>
                <a:tc>
                  <a:txBody>
                    <a:bodyPr/>
                    <a:lstStyle/>
                    <a:p>
                      <a:pPr algn="ctr"/>
                      <a:r>
                        <a:rPr lang="en-US" dirty="0"/>
                        <a:t>6</a:t>
                      </a:r>
                    </a:p>
                  </a:txBody>
                  <a:tcPr/>
                </a:tc>
                <a:extLst>
                  <a:ext uri="{0D108BD9-81ED-4DB2-BD59-A6C34878D82A}">
                    <a16:rowId xmlns:a16="http://schemas.microsoft.com/office/drawing/2014/main" val="2543250099"/>
                  </a:ext>
                </a:extLst>
              </a:tr>
              <a:tr h="429453">
                <a:tc>
                  <a:txBody>
                    <a:bodyPr/>
                    <a:lstStyle/>
                    <a:p>
                      <a:pPr algn="ctr"/>
                      <a:r>
                        <a:rPr lang="en-US" dirty="0"/>
                        <a:t>B</a:t>
                      </a:r>
                    </a:p>
                  </a:txBody>
                  <a:tcPr/>
                </a:tc>
                <a:tc>
                  <a:txBody>
                    <a:bodyPr/>
                    <a:lstStyle/>
                    <a:p>
                      <a:pPr algn="ctr"/>
                      <a:r>
                        <a:rPr lang="en-US" dirty="0"/>
                        <a:t>A</a:t>
                      </a:r>
                    </a:p>
                  </a:txBody>
                  <a:tcPr/>
                </a:tc>
                <a:tc>
                  <a:txBody>
                    <a:bodyPr/>
                    <a:lstStyle/>
                    <a:p>
                      <a:pPr algn="ctr"/>
                      <a:r>
                        <a:rPr lang="en-US" dirty="0"/>
                        <a:t>8</a:t>
                      </a:r>
                    </a:p>
                  </a:txBody>
                  <a:tcPr/>
                </a:tc>
                <a:extLst>
                  <a:ext uri="{0D108BD9-81ED-4DB2-BD59-A6C34878D82A}">
                    <a16:rowId xmlns:a16="http://schemas.microsoft.com/office/drawing/2014/main" val="1520876555"/>
                  </a:ext>
                </a:extLst>
              </a:tr>
              <a:tr h="429453">
                <a:tc>
                  <a:txBody>
                    <a:bodyPr/>
                    <a:lstStyle/>
                    <a:p>
                      <a:pPr algn="ctr"/>
                      <a:r>
                        <a:rPr lang="en-US" dirty="0"/>
                        <a:t>C</a:t>
                      </a:r>
                    </a:p>
                  </a:txBody>
                  <a:tcPr/>
                </a:tc>
                <a:tc>
                  <a:txBody>
                    <a:bodyPr/>
                    <a:lstStyle/>
                    <a:p>
                      <a:pPr algn="ctr"/>
                      <a:r>
                        <a:rPr lang="en-US" dirty="0"/>
                        <a:t>A</a:t>
                      </a:r>
                    </a:p>
                  </a:txBody>
                  <a:tcPr/>
                </a:tc>
                <a:tc>
                  <a:txBody>
                    <a:bodyPr/>
                    <a:lstStyle/>
                    <a:p>
                      <a:pPr algn="ctr"/>
                      <a:r>
                        <a:rPr lang="en-US" dirty="0"/>
                        <a:t>10</a:t>
                      </a:r>
                    </a:p>
                  </a:txBody>
                  <a:tcPr/>
                </a:tc>
                <a:extLst>
                  <a:ext uri="{0D108BD9-81ED-4DB2-BD59-A6C34878D82A}">
                    <a16:rowId xmlns:a16="http://schemas.microsoft.com/office/drawing/2014/main" val="3904348995"/>
                  </a:ext>
                </a:extLst>
              </a:tr>
              <a:tr h="429453">
                <a:tc>
                  <a:txBody>
                    <a:bodyPr/>
                    <a:lstStyle/>
                    <a:p>
                      <a:pPr algn="ctr"/>
                      <a:r>
                        <a:rPr lang="en-US" dirty="0"/>
                        <a:t>D</a:t>
                      </a:r>
                    </a:p>
                  </a:txBody>
                  <a:tcPr/>
                </a:tc>
                <a:tc>
                  <a:txBody>
                    <a:bodyPr/>
                    <a:lstStyle/>
                    <a:p>
                      <a:pPr algn="ctr"/>
                      <a:r>
                        <a:rPr lang="en-US" dirty="0"/>
                        <a:t>B</a:t>
                      </a:r>
                    </a:p>
                  </a:txBody>
                  <a:tcPr/>
                </a:tc>
                <a:tc>
                  <a:txBody>
                    <a:bodyPr/>
                    <a:lstStyle/>
                    <a:p>
                      <a:pPr algn="ctr"/>
                      <a:r>
                        <a:rPr lang="en-US" dirty="0"/>
                        <a:t>13</a:t>
                      </a:r>
                    </a:p>
                  </a:txBody>
                  <a:tcPr/>
                </a:tc>
                <a:extLst>
                  <a:ext uri="{0D108BD9-81ED-4DB2-BD59-A6C34878D82A}">
                    <a16:rowId xmlns:a16="http://schemas.microsoft.com/office/drawing/2014/main" val="994197216"/>
                  </a:ext>
                </a:extLst>
              </a:tr>
              <a:tr h="429453">
                <a:tc>
                  <a:txBody>
                    <a:bodyPr/>
                    <a:lstStyle/>
                    <a:p>
                      <a:pPr algn="ctr"/>
                      <a:r>
                        <a:rPr lang="en-US" dirty="0"/>
                        <a:t>E</a:t>
                      </a:r>
                    </a:p>
                  </a:txBody>
                  <a:tcPr/>
                </a:tc>
                <a:tc>
                  <a:txBody>
                    <a:bodyPr/>
                    <a:lstStyle/>
                    <a:p>
                      <a:pPr algn="ctr"/>
                      <a:r>
                        <a:rPr lang="en-US" dirty="0"/>
                        <a:t>C</a:t>
                      </a:r>
                    </a:p>
                  </a:txBody>
                  <a:tcPr/>
                </a:tc>
                <a:tc>
                  <a:txBody>
                    <a:bodyPr/>
                    <a:lstStyle/>
                    <a:p>
                      <a:pPr algn="ctr"/>
                      <a:r>
                        <a:rPr lang="en-US" dirty="0"/>
                        <a:t>8</a:t>
                      </a:r>
                    </a:p>
                  </a:txBody>
                  <a:tcPr/>
                </a:tc>
                <a:extLst>
                  <a:ext uri="{0D108BD9-81ED-4DB2-BD59-A6C34878D82A}">
                    <a16:rowId xmlns:a16="http://schemas.microsoft.com/office/drawing/2014/main" val="2561273951"/>
                  </a:ext>
                </a:extLst>
              </a:tr>
              <a:tr h="429453">
                <a:tc>
                  <a:txBody>
                    <a:bodyPr/>
                    <a:lstStyle/>
                    <a:p>
                      <a:pPr algn="ctr"/>
                      <a:r>
                        <a:rPr lang="en-US" dirty="0"/>
                        <a:t>F</a:t>
                      </a:r>
                    </a:p>
                  </a:txBody>
                  <a:tcPr/>
                </a:tc>
                <a:tc>
                  <a:txBody>
                    <a:bodyPr/>
                    <a:lstStyle/>
                    <a:p>
                      <a:pPr algn="ctr"/>
                      <a:r>
                        <a:rPr lang="en-US" dirty="0"/>
                        <a:t>D</a:t>
                      </a:r>
                    </a:p>
                  </a:txBody>
                  <a:tcPr/>
                </a:tc>
                <a:tc>
                  <a:txBody>
                    <a:bodyPr/>
                    <a:lstStyle/>
                    <a:p>
                      <a:pPr algn="ctr"/>
                      <a:r>
                        <a:rPr lang="en-US" dirty="0"/>
                        <a:t>9</a:t>
                      </a:r>
                    </a:p>
                  </a:txBody>
                  <a:tcPr/>
                </a:tc>
                <a:extLst>
                  <a:ext uri="{0D108BD9-81ED-4DB2-BD59-A6C34878D82A}">
                    <a16:rowId xmlns:a16="http://schemas.microsoft.com/office/drawing/2014/main" val="3267443251"/>
                  </a:ext>
                </a:extLst>
              </a:tr>
              <a:tr h="429453">
                <a:tc>
                  <a:txBody>
                    <a:bodyPr/>
                    <a:lstStyle/>
                    <a:p>
                      <a:pPr algn="ctr"/>
                      <a:r>
                        <a:rPr lang="en-US" dirty="0"/>
                        <a:t>G</a:t>
                      </a:r>
                    </a:p>
                  </a:txBody>
                  <a:tcPr/>
                </a:tc>
                <a:tc>
                  <a:txBody>
                    <a:bodyPr/>
                    <a:lstStyle/>
                    <a:p>
                      <a:pPr algn="ctr"/>
                      <a:r>
                        <a:rPr lang="en-US" dirty="0"/>
                        <a:t>E,F</a:t>
                      </a:r>
                    </a:p>
                  </a:txBody>
                  <a:tcPr/>
                </a:tc>
                <a:tc>
                  <a:txBody>
                    <a:bodyPr/>
                    <a:lstStyle/>
                    <a:p>
                      <a:pPr algn="ctr"/>
                      <a:r>
                        <a:rPr lang="en-US" dirty="0"/>
                        <a:t>14</a:t>
                      </a:r>
                    </a:p>
                  </a:txBody>
                  <a:tcPr/>
                </a:tc>
                <a:extLst>
                  <a:ext uri="{0D108BD9-81ED-4DB2-BD59-A6C34878D82A}">
                    <a16:rowId xmlns:a16="http://schemas.microsoft.com/office/drawing/2014/main" val="3144675734"/>
                  </a:ext>
                </a:extLst>
              </a:tr>
            </a:tbl>
          </a:graphicData>
        </a:graphic>
      </p:graphicFrame>
      <p:sp>
        <p:nvSpPr>
          <p:cNvPr id="7" name="Title 1">
            <a:extLst>
              <a:ext uri="{FF2B5EF4-FFF2-40B4-BE49-F238E27FC236}">
                <a16:creationId xmlns:a16="http://schemas.microsoft.com/office/drawing/2014/main" id="{1558064D-19DC-86F9-40D6-E5502ACFCA2A}"/>
              </a:ext>
            </a:extLst>
          </p:cNvPr>
          <p:cNvSpPr txBox="1">
            <a:spLocks/>
          </p:cNvSpPr>
          <p:nvPr/>
        </p:nvSpPr>
        <p:spPr>
          <a:xfrm>
            <a:off x="1050302" y="4833645"/>
            <a:ext cx="9895202" cy="1189950"/>
          </a:xfrm>
          <a:prstGeom prst="rect">
            <a:avLst/>
          </a:prstGeom>
        </p:spPr>
        <p:txBody>
          <a:bodyPr vert="horz" lIns="91440" tIns="45720" rIns="91440" bIns="45720" rtlCol="0" anchor="t">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457200" indent="-457200" algn="just">
              <a:buAutoNum type="arabicPeriod"/>
            </a:pPr>
            <a:r>
              <a:rPr lang="en-US" sz="2200" dirty="0">
                <a:solidFill>
                  <a:schemeClr val="accent1">
                    <a:lumMod val="50000"/>
                  </a:schemeClr>
                </a:solidFill>
                <a:ea typeface="Calibri" panose="020F0502020204030204" pitchFamily="34" charset="0"/>
                <a:cs typeface="Times New Roman" panose="02020603050405020304" pitchFamily="18" charset="0"/>
              </a:rPr>
              <a:t>Determine the least duration of the project.</a:t>
            </a:r>
          </a:p>
          <a:p>
            <a:pPr marL="457200" indent="-457200" algn="just">
              <a:buAutoNum type="arabicPeriod"/>
            </a:pPr>
            <a:r>
              <a:rPr lang="en-US" sz="2200" dirty="0">
                <a:solidFill>
                  <a:schemeClr val="accent1">
                    <a:lumMod val="50000"/>
                  </a:schemeClr>
                </a:solidFill>
                <a:ea typeface="Calibri" panose="020F0502020204030204" pitchFamily="34" charset="0"/>
                <a:cs typeface="Times New Roman" panose="02020603050405020304" pitchFamily="18" charset="0"/>
              </a:rPr>
              <a:t>Determine the critical path.</a:t>
            </a:r>
          </a:p>
          <a:p>
            <a:pPr marL="457200" indent="-457200" algn="just">
              <a:buAutoNum type="arabicPeriod"/>
            </a:pPr>
            <a:r>
              <a:rPr lang="en-US" sz="2200" dirty="0">
                <a:solidFill>
                  <a:schemeClr val="accent1">
                    <a:lumMod val="50000"/>
                  </a:schemeClr>
                </a:solidFill>
                <a:ea typeface="Calibri" panose="020F0502020204030204" pitchFamily="34" charset="0"/>
                <a:cs typeface="Times New Roman" panose="02020603050405020304" pitchFamily="18" charset="0"/>
              </a:rPr>
              <a:t>Determine the slack time.</a:t>
            </a:r>
          </a:p>
          <a:p>
            <a:pPr algn="just"/>
            <a:endParaRPr lang="en-US" sz="2200" b="1" dirty="0">
              <a:solidFill>
                <a:schemeClr val="accent1">
                  <a:lumMod val="50000"/>
                </a:schemeClr>
              </a:solidFill>
              <a:ea typeface="Calibri" panose="020F0502020204030204" pitchFamily="34" charset="0"/>
              <a:cs typeface="Times New Roman" panose="02020603050405020304" pitchFamily="18" charset="0"/>
            </a:endParaRPr>
          </a:p>
          <a:p>
            <a:pPr algn="just"/>
            <a:endParaRPr lang="en-US" sz="2200" b="1" dirty="0">
              <a:solidFill>
                <a:schemeClr val="accent1">
                  <a:lumMod val="50000"/>
                </a:schemeClr>
              </a:solidFill>
              <a:ea typeface="Calibri" panose="020F0502020204030204" pitchFamily="34"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38605AB6-C421-9CC4-A84F-2A8BE649ECDE}"/>
              </a:ext>
            </a:extLst>
          </p:cNvPr>
          <p:cNvSpPr>
            <a:spLocks noGrp="1"/>
          </p:cNvSpPr>
          <p:nvPr>
            <p:ph type="ftr" sz="quarter" idx="11"/>
          </p:nvPr>
        </p:nvSpPr>
        <p:spPr/>
        <p:txBody>
          <a:bodyPr/>
          <a:lstStyle/>
          <a:p>
            <a:r>
              <a:rPr lang="en-US"/>
              <a:t>Engr. Melanie D. Piedad, ABELE 2022 Topnotcher</a:t>
            </a:r>
            <a:endParaRPr lang="en-US" dirty="0"/>
          </a:p>
        </p:txBody>
      </p:sp>
      <p:sp>
        <p:nvSpPr>
          <p:cNvPr id="4" name="Slide Number Placeholder 3">
            <a:extLst>
              <a:ext uri="{FF2B5EF4-FFF2-40B4-BE49-F238E27FC236}">
                <a16:creationId xmlns:a16="http://schemas.microsoft.com/office/drawing/2014/main" id="{46ADC402-FA70-C909-143C-DD42ED5FB3BE}"/>
              </a:ext>
            </a:extLst>
          </p:cNvPr>
          <p:cNvSpPr>
            <a:spLocks noGrp="1"/>
          </p:cNvSpPr>
          <p:nvPr>
            <p:ph type="sldNum" sz="quarter" idx="12"/>
          </p:nvPr>
        </p:nvSpPr>
        <p:spPr/>
        <p:txBody>
          <a:bodyPr/>
          <a:lstStyle/>
          <a:p>
            <a:fld id="{D57F1E4F-1CFF-5643-939E-217C01CDF565}" type="slidenum">
              <a:rPr lang="en-US" smtClean="0"/>
              <a:pPr/>
              <a:t>22</a:t>
            </a:fld>
            <a:endParaRPr lang="en-US" dirty="0"/>
          </a:p>
        </p:txBody>
      </p:sp>
    </p:spTree>
    <p:extLst>
      <p:ext uri="{BB962C8B-B14F-4D97-AF65-F5344CB8AC3E}">
        <p14:creationId xmlns:p14="http://schemas.microsoft.com/office/powerpoint/2010/main" val="2465967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33E1256D-5017-74B9-E4ED-4D9EB0521160}"/>
              </a:ext>
            </a:extLst>
          </p:cNvPr>
          <p:cNvSpPr>
            <a:spLocks noGrp="1"/>
          </p:cNvSpPr>
          <p:nvPr>
            <p:ph type="ctrTitle"/>
          </p:nvPr>
        </p:nvSpPr>
        <p:spPr>
          <a:xfrm>
            <a:off x="854242" y="1010506"/>
            <a:ext cx="9156031" cy="4836988"/>
          </a:xfrm>
        </p:spPr>
        <p:txBody>
          <a:bodyPr anchor="t"/>
          <a:lstStyle/>
          <a:p>
            <a:pPr algn="ctr"/>
            <a:r>
              <a:rPr lang="en-US" b="1" dirty="0">
                <a:solidFill>
                  <a:srgbClr val="E18E2E"/>
                </a:solidFill>
                <a:latin typeface="Trebuchet MS" panose="020B0703020202090204" pitchFamily="34" charset="0"/>
              </a:rPr>
              <a:t>THANK YOU!!!</a:t>
            </a:r>
            <a:br>
              <a:rPr lang="en-US" b="1" dirty="0">
                <a:solidFill>
                  <a:srgbClr val="E18E2E"/>
                </a:solidFill>
                <a:latin typeface="Trebuchet MS" panose="020B0703020202090204" pitchFamily="34" charset="0"/>
              </a:rPr>
            </a:br>
            <a:r>
              <a:rPr lang="en-US" sz="4000" b="1" u="sng" dirty="0">
                <a:solidFill>
                  <a:schemeClr val="accent1">
                    <a:lumMod val="50000"/>
                  </a:schemeClr>
                </a:solidFill>
                <a:latin typeface="Trebuchet MS" panose="020B0703020202090204" pitchFamily="34" charset="0"/>
              </a:rPr>
              <a:t>Proverbs 3:5-6</a:t>
            </a:r>
            <a:br>
              <a:rPr lang="en-US" sz="4000" b="1" dirty="0">
                <a:solidFill>
                  <a:schemeClr val="accent1">
                    <a:lumMod val="50000"/>
                  </a:schemeClr>
                </a:solidFill>
                <a:latin typeface="Trebuchet MS" panose="020B0703020202090204" pitchFamily="34" charset="0"/>
              </a:rPr>
            </a:br>
            <a:r>
              <a:rPr lang="en-US" sz="4000" b="1" dirty="0">
                <a:solidFill>
                  <a:schemeClr val="accent1">
                    <a:lumMod val="50000"/>
                  </a:schemeClr>
                </a:solidFill>
                <a:latin typeface="Trebuchet MS" panose="020B0703020202090204" pitchFamily="34" charset="0"/>
              </a:rPr>
              <a:t>“Trust in the Lord with all your heart and lean not on your own understanding; in all your ways submit to Him, and He will make your paths straight”</a:t>
            </a:r>
            <a:endParaRPr lang="en-US" b="1" dirty="0">
              <a:solidFill>
                <a:schemeClr val="accent1">
                  <a:lumMod val="50000"/>
                </a:schemeClr>
              </a:solidFill>
              <a:latin typeface="Trebuchet MS" panose="020B0703020202090204" pitchFamily="34" charset="0"/>
            </a:endParaRPr>
          </a:p>
        </p:txBody>
      </p:sp>
      <p:sp>
        <p:nvSpPr>
          <p:cNvPr id="2" name="Footer Placeholder 1">
            <a:extLst>
              <a:ext uri="{FF2B5EF4-FFF2-40B4-BE49-F238E27FC236}">
                <a16:creationId xmlns:a16="http://schemas.microsoft.com/office/drawing/2014/main" id="{DF9A5B90-2A76-E7B5-025E-9D463FE1FD40}"/>
              </a:ext>
            </a:extLst>
          </p:cNvPr>
          <p:cNvSpPr>
            <a:spLocks noGrp="1"/>
          </p:cNvSpPr>
          <p:nvPr>
            <p:ph type="ftr" sz="quarter" idx="11"/>
          </p:nvPr>
        </p:nvSpPr>
        <p:spPr/>
        <p:txBody>
          <a:bodyPr/>
          <a:lstStyle/>
          <a:p>
            <a:r>
              <a:rPr lang="en-US"/>
              <a:t>Engr. Melanie D. Piedad, ABELE 2022 Topnotcher</a:t>
            </a:r>
            <a:endParaRPr lang="en-US" dirty="0"/>
          </a:p>
        </p:txBody>
      </p:sp>
      <p:sp>
        <p:nvSpPr>
          <p:cNvPr id="3" name="Slide Number Placeholder 2">
            <a:extLst>
              <a:ext uri="{FF2B5EF4-FFF2-40B4-BE49-F238E27FC236}">
                <a16:creationId xmlns:a16="http://schemas.microsoft.com/office/drawing/2014/main" id="{5E65ED29-5562-3C54-A537-CACB5CB4FBE4}"/>
              </a:ext>
            </a:extLst>
          </p:cNvPr>
          <p:cNvSpPr>
            <a:spLocks noGrp="1"/>
          </p:cNvSpPr>
          <p:nvPr>
            <p:ph type="sldNum" sz="quarter" idx="12"/>
          </p:nvPr>
        </p:nvSpPr>
        <p:spPr/>
        <p:txBody>
          <a:bodyPr/>
          <a:lstStyle/>
          <a:p>
            <a:fld id="{D57F1E4F-1CFF-5643-939E-217C01CDF565}" type="slidenum">
              <a:rPr lang="en-US" smtClean="0"/>
              <a:pPr/>
              <a:t>23</a:t>
            </a:fld>
            <a:endParaRPr lang="en-US" dirty="0"/>
          </a:p>
        </p:txBody>
      </p:sp>
    </p:spTree>
    <p:extLst>
      <p:ext uri="{BB962C8B-B14F-4D97-AF65-F5344CB8AC3E}">
        <p14:creationId xmlns:p14="http://schemas.microsoft.com/office/powerpoint/2010/main" val="2300463247"/>
      </p:ext>
    </p:extLst>
  </p:cSld>
  <p:clrMapOvr>
    <a:masterClrMapping/>
  </p:clrMapOvr>
</p:sld>
</file>

<file path=ppt/theme/theme1.xml><?xml version="1.0" encoding="utf-8"?>
<a:theme xmlns:a="http://schemas.openxmlformats.org/drawingml/2006/main" name="Facet">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2325</TotalTime>
  <Words>1492</Words>
  <Application>Microsoft Macintosh PowerPoint</Application>
  <PresentationFormat>Widescreen</PresentationFormat>
  <Paragraphs>372</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Tahoma</vt:lpstr>
      <vt:lpstr>Trebuchet MS</vt:lpstr>
      <vt:lpstr>Wingdings</vt:lpstr>
      <vt:lpstr>Wingdings 3</vt:lpstr>
      <vt:lpstr>Facet</vt:lpstr>
      <vt:lpstr>PowerPoint Presentation</vt:lpstr>
      <vt:lpstr>TOPIC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Sample questions</vt:lpstr>
      <vt:lpstr>PowerPoint Presentation</vt:lpstr>
      <vt:lpstr>Sample questions</vt:lpstr>
      <vt:lpstr>PowerPoint Presentation</vt:lpstr>
      <vt:lpstr>PowerPoint Presentation</vt:lpstr>
      <vt:lpstr>PowerPoint Presentation</vt:lpstr>
      <vt:lpstr>Sample questions</vt:lpstr>
      <vt:lpstr>Sample questions</vt:lpstr>
      <vt:lpstr>Sample questions</vt:lpstr>
      <vt:lpstr>Sample questions</vt:lpstr>
      <vt:lpstr>Sample questions</vt:lpstr>
      <vt:lpstr>THANK YOU!!! Proverbs 3:5-6 “Trust in the Lord with all your heart and lean not on your own understanding; in all your ways submit to Him, and He will make your paths straight”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Microsoft Office User</dc:creator>
  <cp:lastModifiedBy>Microsoft Office User</cp:lastModifiedBy>
  <cp:revision>22</cp:revision>
  <dcterms:created xsi:type="dcterms:W3CDTF">2024-07-11T10:28:40Z</dcterms:created>
  <dcterms:modified xsi:type="dcterms:W3CDTF">2024-08-14T16:21:47Z</dcterms:modified>
</cp:coreProperties>
</file>