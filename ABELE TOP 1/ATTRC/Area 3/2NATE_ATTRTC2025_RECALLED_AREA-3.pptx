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355" r:id="rId3"/>
    <p:sldId id="334" r:id="rId4"/>
    <p:sldId id="508" r:id="rId5"/>
    <p:sldId id="356" r:id="rId6"/>
    <p:sldId id="525" r:id="rId7"/>
    <p:sldId id="357" r:id="rId8"/>
    <p:sldId id="523" r:id="rId9"/>
    <p:sldId id="358" r:id="rId10"/>
    <p:sldId id="524" r:id="rId11"/>
    <p:sldId id="359" r:id="rId12"/>
    <p:sldId id="510" r:id="rId13"/>
    <p:sldId id="522" r:id="rId14"/>
    <p:sldId id="518" r:id="rId15"/>
    <p:sldId id="360" r:id="rId16"/>
    <p:sldId id="361" r:id="rId17"/>
    <p:sldId id="513" r:id="rId18"/>
    <p:sldId id="514" r:id="rId19"/>
    <p:sldId id="363" r:id="rId20"/>
    <p:sldId id="366" r:id="rId21"/>
    <p:sldId id="367" r:id="rId22"/>
    <p:sldId id="368" r:id="rId23"/>
    <p:sldId id="519" r:id="rId24"/>
    <p:sldId id="516" r:id="rId25"/>
    <p:sldId id="372" r:id="rId26"/>
    <p:sldId id="375" r:id="rId27"/>
    <p:sldId id="374" r:id="rId28"/>
    <p:sldId id="376" r:id="rId29"/>
    <p:sldId id="377" r:id="rId30"/>
    <p:sldId id="379" r:id="rId31"/>
    <p:sldId id="380" r:id="rId32"/>
    <p:sldId id="381" r:id="rId33"/>
    <p:sldId id="382" r:id="rId34"/>
    <p:sldId id="383" r:id="rId35"/>
    <p:sldId id="385" r:id="rId36"/>
    <p:sldId id="387" r:id="rId37"/>
    <p:sldId id="512" r:id="rId38"/>
    <p:sldId id="511" r:id="rId39"/>
    <p:sldId id="388" r:id="rId40"/>
    <p:sldId id="389" r:id="rId41"/>
    <p:sldId id="390" r:id="rId42"/>
    <p:sldId id="391" r:id="rId43"/>
    <p:sldId id="392" r:id="rId44"/>
    <p:sldId id="393" r:id="rId45"/>
    <p:sldId id="515" r:id="rId46"/>
    <p:sldId id="394" r:id="rId47"/>
    <p:sldId id="395" r:id="rId48"/>
    <p:sldId id="396" r:id="rId49"/>
    <p:sldId id="397" r:id="rId50"/>
    <p:sldId id="398" r:id="rId51"/>
    <p:sldId id="560" r:id="rId52"/>
    <p:sldId id="399" r:id="rId53"/>
    <p:sldId id="400" r:id="rId54"/>
    <p:sldId id="401" r:id="rId55"/>
    <p:sldId id="402" r:id="rId56"/>
    <p:sldId id="405" r:id="rId57"/>
    <p:sldId id="407" r:id="rId58"/>
    <p:sldId id="408" r:id="rId59"/>
    <p:sldId id="409" r:id="rId60"/>
    <p:sldId id="412" r:id="rId61"/>
    <p:sldId id="413" r:id="rId62"/>
    <p:sldId id="414" r:id="rId63"/>
    <p:sldId id="415" r:id="rId64"/>
    <p:sldId id="416" r:id="rId65"/>
    <p:sldId id="517" r:id="rId66"/>
    <p:sldId id="417" r:id="rId67"/>
    <p:sldId id="521" r:id="rId68"/>
    <p:sldId id="418" r:id="rId69"/>
    <p:sldId id="419" r:id="rId70"/>
    <p:sldId id="420" r:id="rId71"/>
    <p:sldId id="421" r:id="rId72"/>
    <p:sldId id="497" r:id="rId73"/>
    <p:sldId id="501" r:id="rId74"/>
    <p:sldId id="503" r:id="rId75"/>
    <p:sldId id="504" r:id="rId76"/>
    <p:sldId id="505" r:id="rId77"/>
    <p:sldId id="506" r:id="rId78"/>
    <p:sldId id="507" r:id="rId79"/>
    <p:sldId id="526" r:id="rId80"/>
    <p:sldId id="527" r:id="rId81"/>
    <p:sldId id="528" r:id="rId82"/>
    <p:sldId id="529" r:id="rId83"/>
    <p:sldId id="543" r:id="rId84"/>
    <p:sldId id="547" r:id="rId85"/>
    <p:sldId id="578" r:id="rId86"/>
    <p:sldId id="552" r:id="rId87"/>
    <p:sldId id="553" r:id="rId88"/>
    <p:sldId id="535" r:id="rId89"/>
    <p:sldId id="537" r:id="rId90"/>
    <p:sldId id="554" r:id="rId91"/>
    <p:sldId id="555" r:id="rId92"/>
    <p:sldId id="556" r:id="rId93"/>
    <p:sldId id="557" r:id="rId94"/>
    <p:sldId id="558" r:id="rId95"/>
    <p:sldId id="559" r:id="rId96"/>
    <p:sldId id="533" r:id="rId97"/>
    <p:sldId id="538" r:id="rId98"/>
    <p:sldId id="549" r:id="rId99"/>
    <p:sldId id="550" r:id="rId100"/>
    <p:sldId id="551" r:id="rId101"/>
    <p:sldId id="579" r:id="rId102"/>
    <p:sldId id="580" r:id="rId103"/>
    <p:sldId id="581" r:id="rId104"/>
    <p:sldId id="582" r:id="rId105"/>
    <p:sldId id="583" r:id="rId106"/>
    <p:sldId id="584" r:id="rId107"/>
    <p:sldId id="585" r:id="rId108"/>
    <p:sldId id="586" r:id="rId109"/>
    <p:sldId id="587" r:id="rId110"/>
    <p:sldId id="588" r:id="rId111"/>
    <p:sldId id="589" r:id="rId112"/>
    <p:sldId id="590" r:id="rId113"/>
    <p:sldId id="591" r:id="rId114"/>
    <p:sldId id="592" r:id="rId115"/>
    <p:sldId id="593" r:id="rId116"/>
    <p:sldId id="594" r:id="rId117"/>
    <p:sldId id="595" r:id="rId118"/>
    <p:sldId id="598" r:id="rId119"/>
    <p:sldId id="597" r:id="rId120"/>
    <p:sldId id="596" r:id="rId121"/>
    <p:sldId id="600" r:id="rId122"/>
    <p:sldId id="601" r:id="rId123"/>
    <p:sldId id="602" r:id="rId124"/>
    <p:sldId id="604" r:id="rId125"/>
    <p:sldId id="605" r:id="rId126"/>
    <p:sldId id="607" r:id="rId127"/>
    <p:sldId id="608" r:id="rId128"/>
    <p:sldId id="609" r:id="rId129"/>
    <p:sldId id="610" r:id="rId130"/>
    <p:sldId id="611" r:id="rId131"/>
    <p:sldId id="612" r:id="rId132"/>
    <p:sldId id="613" r:id="rId133"/>
    <p:sldId id="342" r:id="rId1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000"/>
    <a:srgbClr val="84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54" autoAdjust="0"/>
    <p:restoredTop sz="94366"/>
  </p:normalViewPr>
  <p:slideViewPr>
    <p:cSldViewPr snapToGrid="0">
      <p:cViewPr varScale="1">
        <p:scale>
          <a:sx n="104" d="100"/>
          <a:sy n="104" d="100"/>
        </p:scale>
        <p:origin x="12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546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593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669255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65027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73779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33443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76635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1578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9679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86005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2788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47922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172060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530457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79904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312020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73552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02F70C-18BC-4F4F-B31C-CB5991253EAE}" type="datetimeFigureOut">
              <a:rPr lang="en-PH" smtClean="0"/>
              <a:t>9/2/25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5C77405-4F90-4F20-9506-2465A178EF9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98512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.jp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5F1F-A61B-41AB-3705-1926F65E67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739589"/>
            <a:ext cx="12192000" cy="1370549"/>
          </a:xfrm>
        </p:spPr>
        <p:txBody>
          <a:bodyPr>
            <a:normAutofit/>
          </a:bodyPr>
          <a:lstStyle/>
          <a:p>
            <a:pPr algn="ctr"/>
            <a:r>
              <a:rPr kumimoji="0" lang="en-PH" sz="7800" u="none" strike="noStrike" kern="1200" cap="none" spc="0" normalizeH="0" baseline="0" noProof="0" dirty="0">
                <a:ln>
                  <a:noFill/>
                </a:ln>
                <a:solidFill>
                  <a:srgbClr val="840202"/>
                </a:solidFill>
                <a:uLnTx/>
                <a:uFillTx/>
                <a:latin typeface="Arial Black" panose="020B0A04020102020204" pitchFamily="34" charset="0"/>
              </a:rPr>
              <a:t>ABELE </a:t>
            </a:r>
            <a:r>
              <a:rPr kumimoji="0" lang="en-PH" sz="780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uLnTx/>
                <a:uFillTx/>
                <a:latin typeface="Arial Black" panose="020B0A04020102020204" pitchFamily="34" charset="0"/>
              </a:rPr>
              <a:t>AREA III</a:t>
            </a:r>
            <a:endParaRPr lang="en-PH" sz="7800" dirty="0">
              <a:solidFill>
                <a:srgbClr val="840202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2172E9-CCCA-1397-6755-0BF242529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" y="4828479"/>
            <a:ext cx="12191998" cy="2029521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PH" sz="2800" i="0" u="none" strike="noStrike" kern="1200" cap="none" spc="0" normalizeH="0" baseline="0" noProof="0" dirty="0">
                <a:ln>
                  <a:noFill/>
                </a:ln>
                <a:solidFill>
                  <a:srgbClr val="840202"/>
                </a:solidFill>
                <a:uLnTx/>
                <a:uFillTx/>
                <a:latin typeface="Arial Black" panose="020B0A04020102020204" pitchFamily="34" charset="0"/>
              </a:rPr>
              <a:t>ENGR. JOHN VINCENT A. NATE, MSc, PE </a:t>
            </a:r>
          </a:p>
          <a:p>
            <a:pPr marL="0" marR="0" lvl="0" indent="0" algn="ctr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PH" sz="3200" b="1" dirty="0">
                <a:solidFill>
                  <a:srgbClr val="FFC000"/>
                </a:solidFill>
                <a:latin typeface="Arial Narrow" panose="020B0606020202030204" pitchFamily="34" charset="0"/>
              </a:rPr>
              <a:t>University College Dublin, Ireland</a:t>
            </a:r>
            <a:r>
              <a:rPr kumimoji="0" lang="en-PH" sz="32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 Narrow" panose="020B0606020202030204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dirty="0">
                <a:solidFill>
                  <a:schemeClr val="tx1"/>
                </a:solidFill>
                <a:latin typeface="Arial Narrow" panose="020B0606020202030204" pitchFamily="34" charset="0"/>
              </a:rPr>
              <a:t>PhD in Biosystems and Food Engineering</a:t>
            </a:r>
          </a:p>
          <a:p>
            <a:pPr marL="0" marR="0" lvl="0" indent="0" algn="ctr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 Narrow" panose="020B0606020202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</a:endParaRPr>
          </a:p>
          <a:p>
            <a:pPr algn="ctr" defTabSz="914400">
              <a:lnSpc>
                <a:spcPts val="2500"/>
              </a:lnSpc>
              <a:spcBef>
                <a:spcPts val="0"/>
              </a:spcBef>
              <a:buClrTx/>
              <a:buSzTx/>
              <a:defRPr/>
            </a:pPr>
            <a:r>
              <a:rPr 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2019 Cum Laude | 8</a:t>
            </a:r>
            <a:r>
              <a:rPr lang="en-US" sz="2400" baseline="300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th</a:t>
            </a:r>
            <a:r>
              <a:rPr 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 Placer ABELE 2019 Topnotcher </a:t>
            </a:r>
            <a:endParaRPr lang="en-PH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PH" sz="24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 Narrow" panose="020B0606020202030204" pitchFamily="34" charset="0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PH" sz="2200" b="1" i="1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PH" sz="2200" b="1" i="1" dirty="0">
              <a:solidFill>
                <a:srgbClr val="FFB000"/>
              </a:solidFill>
              <a:latin typeface="+mj-lt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PH" sz="2200" b="1" i="1" u="none" strike="noStrike" kern="1200" cap="none" spc="0" normalizeH="0" baseline="0" noProof="0" dirty="0">
              <a:ln>
                <a:noFill/>
              </a:ln>
              <a:solidFill>
                <a:srgbClr val="FFB000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PH" sz="2200" b="1" i="1" u="none" strike="noStrike" kern="1200" cap="none" spc="0" normalizeH="0" baseline="0" noProof="0" dirty="0">
              <a:ln>
                <a:noFill/>
              </a:ln>
              <a:solidFill>
                <a:srgbClr val="FFB000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endParaRPr lang="en-P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107A8-07B0-4F99-AD00-7E02E552CE64}"/>
              </a:ext>
            </a:extLst>
          </p:cNvPr>
          <p:cNvSpPr txBox="1"/>
          <p:nvPr/>
        </p:nvSpPr>
        <p:spPr>
          <a:xfrm>
            <a:off x="0" y="3017188"/>
            <a:ext cx="12192000" cy="8236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3600" dirty="0">
                <a:latin typeface="Arial Narrow" panose="020B0606020202030204" pitchFamily="34" charset="0"/>
              </a:rPr>
              <a:t>AB Structures, Environment Engineering, Bioprocess Engineering </a:t>
            </a:r>
          </a:p>
          <a:p>
            <a:pPr algn="ctr">
              <a:lnSpc>
                <a:spcPts val="2800"/>
              </a:lnSpc>
            </a:pPr>
            <a:r>
              <a:rPr lang="en-US" sz="3600" dirty="0">
                <a:latin typeface="Arial Narrow" panose="020B0606020202030204" pitchFamily="34" charset="0"/>
              </a:rPr>
              <a:t>and Allied Subjects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0A7419-D691-43EA-ACE2-9DE7DF4BE9A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DF6FE7-39F3-C18B-B374-4ADD29D4F3C6}"/>
              </a:ext>
            </a:extLst>
          </p:cNvPr>
          <p:cNvSpPr txBox="1"/>
          <p:nvPr/>
        </p:nvSpPr>
        <p:spPr>
          <a:xfrm>
            <a:off x="700042" y="91440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073598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5551C82-599D-418F-AB1F-93A8FA62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103804"/>
            <a:ext cx="12176896" cy="650391"/>
          </a:xfrm>
        </p:spPr>
        <p:txBody>
          <a:bodyPr/>
          <a:lstStyle/>
          <a:p>
            <a:pPr algn="ctr"/>
            <a:r>
              <a:rPr lang="en-PH" b="1" dirty="0">
                <a:solidFill>
                  <a:srgbClr val="840202"/>
                </a:solidFill>
              </a:rPr>
              <a:t>ABELE Recalled Questions</a:t>
            </a:r>
            <a:endParaRPr lang="en-PH" dirty="0">
              <a:solidFill>
                <a:srgbClr val="84020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316B32-B909-4E0D-ADE7-AB362875FF2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07D186-F1BF-422F-80BD-FB01A56C454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08D78-213F-B99D-687B-BB86BCE83B1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377258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lighting requirement for sheep and goats.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22131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 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200 lux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4F5AF5-FF80-4154-9805-7CA502CC8A54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649823-0C50-F992-F9B1-D29256647DD2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145022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lighting requirement for swine.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81097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 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200 lux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B34628-C868-43A0-A56B-11FB60E7CF9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12A552-4475-C2BF-2992-45BC26F0FFD8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3612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lighting requirement for swine during the night.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4AF2E4-1774-4261-B76B-8936CFD5969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2857F7C1-E58D-4D80-989F-BA9322BD0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9881183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 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200 lux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E74B750-BBA7-4E21-8818-467D99C1F06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2BF5F5-E333-22DD-5863-326941DE8A8C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997896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is the recommended lighting intensity for growing and finishing?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4AF2E4-1774-4261-B76B-8936CFD5969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2857F7C1-E58D-4D80-989F-BA9322BD0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362846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 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 lux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150 lux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5998DE3-5307-4B8E-8E11-EB69CF5F5A64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EBB58F-B072-6EC6-8AA4-DBDF70D41962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97876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(Environment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CN Ratio for rapid composting.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498598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20:1 – 30:1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25:1 – 30:1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30:1 – 40:1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50:1 – 60:1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B44AAB-30A5-4839-81B1-675B903AE1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6C5DFA5-41CA-4BD7-98F6-2317A802D880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ED5113-682D-B5EC-0076-E0A167BD48D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40626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(Environment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How many percent of moisture content should be maintained to nourish the composting bacteria?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057297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 – 60 %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 – 40 %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40 – 50 %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 – 30 %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B44AAB-30A5-4839-81B1-675B903AE1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04A5B8C-FECA-4F40-AE45-2A9D1195C932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C8EB0C-861C-D535-8467-AB66ACD3715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71482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input capacity of Vegetable/Fruit washer peeler?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525613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 – 30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40 – 60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 – 40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 – 20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B216076-E733-4A28-B2E4-3D8329049F4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C549066-D060-4551-BA8C-B4A1847D0A6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7EF47B-20FE-2001-90F7-CEB1DA7B33A6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21996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is the apparatus use that is clean heavy glass with ground-on cover with knob.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12872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desiccant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evaporator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desiccator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humidifier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B216076-E733-4A28-B2E4-3D8329049F4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0F9012-AEB6-4566-A923-4E26B079BC92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601509-7F16-0249-4000-89A66DD276D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960286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Moisture content of corn for testing corn sheller.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85819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12% – 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20% –  30%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18% –  24%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15% - 25%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B2915BD-A6B3-46D9-9CFA-A540D918E9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DEEA0B-3D3B-4E27-92C5-F88170774753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BD5250-DDAF-5D1C-3C7B-F64F2DD72155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638196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Moisture content of peanut for testing peanut sheller.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B2915BD-A6B3-46D9-9CFA-A540D918E9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97DF7E61-01E4-4C1A-B222-5788C391A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312472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12% – 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20% –  30%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18% –  24%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15% - 25%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4D22F33-F3DE-4521-8E74-F07D04E55DA3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AE4AE1-C54D-49B1-18E2-2046B95DF89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47314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259265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storage area of a processing plant shall have a capacity for temporary storage of raw materials for how many days?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B2915BD-A6B3-46D9-9CFA-A540D918E9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97DF7E61-01E4-4C1A-B222-5788C391A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66281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 – 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 – 5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 – 10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 – 14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D5E17B-8F57-459C-9B28-F57B53D9A248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DFFC21-80B3-6CF2-15F3-1FDF51C2230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877313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Method of piling of grains that provides ventilation space between bags and allows circulation of convective air current which in turn becomes the medium for heat dissipation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B2915BD-A6B3-46D9-9CFA-A540D918E9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97DF7E61-01E4-4C1A-B222-5788C391A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53569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Indian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Japanese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Chinese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Korean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234A4E0-C9D7-42D9-83DC-6B90C92EA78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09239A-AE34-6727-E586-9653AF66EC4C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48725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Recommended/standard size of pallet/dunnage in warehouses.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87E7C1-BCF8-4AAC-8778-32E81653F6E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35889FF3-DACF-449B-949C-AFEFB59D2C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93962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153 cm x 64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159 cm x 65 cm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154 cm x 67 cm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152 cm x 61 cm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6CB47B7-6B47-4F99-879F-C3D034D7FAD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DFEBE3-5B16-7979-0F83-820120054FC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4973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(Environment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Recommended limit level of nematodes in irrigation water reuse from wastewater.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65302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F0780C-0ECE-4239-8BCD-4D7AA6B4811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C72A6B-D493-4523-A41B-1AC14FA5594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6DF077-7DF5-AE8E-5484-FD1456E544D8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580858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Glass sealed container that is used to preserve moisture-sensitive items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F0780C-0ECE-4239-8BCD-4D7AA6B4811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4A2561-22DD-4D73-BFD3-6A051F74A6E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56E64BF9-A233-47DB-A424-922FFB68B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475496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desiccant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evaporator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desiccator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humidifier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54770C3-668A-5954-F1E5-7E4C4C355DBC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85966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tank shall have heating device able to heat a complete charge of bituminous liquid to ____.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16651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120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180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9B5C90-12D6-43D0-A558-7202053B678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34CAAF1-22D5-43B8-9C8F-ABCBBF1E25E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99C531-3B20-74A3-ED0A-37CD42DEF380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113342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(Engineering Drawing)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If a sphere is cut by a plane from a distance from its diameter, what would be the shape of the region cut?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8846706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ellipse, circle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circle, circle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circle, ellipse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ellipse, ellipse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15D2A9-9370-4179-B414-9500AD14EB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E6BE1F0-C62D-4C0D-8973-D03D875F41C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07245-9F3F-64BD-D846-B58899B913A6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57181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Color of neutral wire in a 3-phase system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002945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white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black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5A784F7-8EBF-4D41-A6AE-F03F97AFDC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E2A0491-64F0-4D71-81A1-D95F732BD4A2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5F2546-3540-F405-449C-F0F5FBA2F015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010950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(Food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composition of HACCP Committee should be?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986619"/>
              </p:ext>
            </p:extLst>
          </p:nvPr>
        </p:nvGraphicFramePr>
        <p:xfrm>
          <a:off x="1092432" y="3483134"/>
          <a:ext cx="8932514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7487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4457636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Chair and 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Secretary, engineer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Chair, assistant, engineer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Chair, assistant, engineer, secretary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FFDA5E-6270-4E4B-84A0-25D5354B18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BDFBA4F-8F88-4AD8-B841-3C1B02EA322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0150ED-A4BF-527A-DB22-3E1A4D51A6F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3047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(Refrigeration Engineering)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Compute the COP of a certain refrigerator given the lowest and highest temperatures of 1000 ½ and 1500 ½ F, respectively.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6992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2.92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D5637-D9F9-45A0-81ED-2BA7F930B47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C00423C-45AC-4521-AB6B-9367DCCE9D2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252B09-A498-E7BE-B0D1-8C5D7E7C24C0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60456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(Thermodynamics)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Calculate absolute pressure given gauge pressure of 15 mm Hg.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962403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29.7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0.30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04B3CD9-FF71-4079-BA3F-D87EC84E48E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E3C2285-EC21-40BD-A081-45D176D5F623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B5E841-DB74-D576-DAA2-8399B21383D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68792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(Heat Transfer)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Compute the Reynold’s Number for a water flowing 1 </a:t>
            </a:r>
            <a:r>
              <a:rPr lang="en-US" sz="2800" dirty="0" err="1">
                <a:latin typeface="Arial Narrow" panose="020B0606020202030204" pitchFamily="34" charset="0"/>
              </a:rPr>
              <a:t>mps</a:t>
            </a:r>
            <a:r>
              <a:rPr lang="en-US" sz="2800" dirty="0">
                <a:latin typeface="Arial Narrow" panose="020B0606020202030204" pitchFamily="34" charset="0"/>
              </a:rPr>
              <a:t> in a 0.1-m diameter pipe. Given that the fluid dynamic viscosity at 100 kg/</a:t>
            </a:r>
            <a:r>
              <a:rPr lang="en-US" sz="2800" dirty="0" err="1">
                <a:latin typeface="Arial Narrow" panose="020B0606020202030204" pitchFamily="34" charset="0"/>
              </a:rPr>
              <a:t>ms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11868"/>
              </p:ext>
            </p:extLst>
          </p:nvPr>
        </p:nvGraphicFramePr>
        <p:xfrm>
          <a:off x="1092432" y="3708329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1BD2D1-FCB0-40A9-9DED-567526C7960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87EA2D-FA6F-45EE-913C-4D5AEF4A45AA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84C6EF-F34C-63E9-1D2B-A3A2660C6C43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97120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(Heat Transfer)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Stefan-</a:t>
            </a:r>
            <a:r>
              <a:rPr lang="en-US" sz="2800" dirty="0" err="1">
                <a:latin typeface="Arial Narrow" panose="020B0606020202030204" pitchFamily="34" charset="0"/>
              </a:rPr>
              <a:t>Boltzman</a:t>
            </a:r>
            <a:r>
              <a:rPr lang="en-US" sz="2800" dirty="0">
                <a:latin typeface="Arial Narrow" panose="020B0606020202030204" pitchFamily="34" charset="0"/>
              </a:rPr>
              <a:t> Law applied in what heat transfer mode?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68428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Conduction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Radiation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Convection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All of the above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	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7804C68-8CD4-46F6-82D4-0E3316D9038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65BE2-E9F5-452F-9A02-788A4FE18D3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8E831-BFC0-A31B-5BAC-8E46163FCE82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26671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How many cycles per second are there in 60 Hertz.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4190545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 RPS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60 RPS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 RPS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120 RPS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	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A4E827-8D3B-46DC-B5C7-DB0AB69FF8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E5EEB65-5DBF-4258-8F8E-40483913C7FA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BEB77C-0467-78A3-A344-59E9196E2FF9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63939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27892"/>
            <a:ext cx="8596668" cy="1115784"/>
          </a:xfrm>
        </p:spPr>
        <p:txBody>
          <a:bodyPr>
            <a:noAutofit/>
          </a:bodyPr>
          <a:lstStyle/>
          <a:p>
            <a:pPr fontAlgn="ctr"/>
            <a:r>
              <a:rPr lang="en-PH" sz="2800" dirty="0">
                <a:latin typeface="Arial" panose="020B0604020202020204" pitchFamily="34" charset="0"/>
                <a:cs typeface="Arial" panose="020B0604020202020204" pitchFamily="34" charset="0"/>
              </a:rPr>
              <a:t>A 4-pole motor connected to a 60 Hz supply, and its actual speed is 1750 RPM. Compute slippage. </a:t>
            </a: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520427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2.86%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2.78%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973485" y="4634633"/>
            <a:ext cx="925926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8402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ANSWER: </a:t>
            </a:r>
            <a:r>
              <a:rPr lang="en-US" sz="2400" b="1" dirty="0">
                <a:solidFill>
                  <a:srgbClr val="FFB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  <a:p>
            <a:endParaRPr lang="en-US" sz="2400" b="1" dirty="0">
              <a:solidFill>
                <a:srgbClr val="FFB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PH" sz="2400" b="1" dirty="0">
                <a:latin typeface="Arial" panose="020B0604020202020204" pitchFamily="34" charset="0"/>
                <a:cs typeface="Arial" panose="020B0604020202020204" pitchFamily="34" charset="0"/>
              </a:rPr>
              <a:t>Synchronous Speed:</a:t>
            </a:r>
            <a:r>
              <a:rPr lang="en-PH" sz="2400" dirty="0">
                <a:latin typeface="Arial" panose="020B0604020202020204" pitchFamily="34" charset="0"/>
                <a:cs typeface="Arial" panose="020B0604020202020204" pitchFamily="34" charset="0"/>
              </a:rPr>
              <a:t> Ns = (120 * 60) / 4 = 1800 RPM</a:t>
            </a:r>
          </a:p>
          <a:p>
            <a:r>
              <a:rPr lang="en-PH" sz="2400" b="1" dirty="0">
                <a:latin typeface="Arial" panose="020B0604020202020204" pitchFamily="34" charset="0"/>
                <a:cs typeface="Arial" panose="020B0604020202020204" pitchFamily="34" charset="0"/>
              </a:rPr>
              <a:t>Slip Speed:</a:t>
            </a:r>
            <a:r>
              <a:rPr lang="en-PH" sz="2400" dirty="0">
                <a:latin typeface="Arial" panose="020B0604020202020204" pitchFamily="34" charset="0"/>
                <a:cs typeface="Arial" panose="020B0604020202020204" pitchFamily="34" charset="0"/>
              </a:rPr>
              <a:t> 1800 RPM - 1750 RPM = 50 RPM</a:t>
            </a:r>
          </a:p>
          <a:p>
            <a:r>
              <a:rPr lang="en-PH" sz="2400" b="1" dirty="0">
                <a:latin typeface="Arial" panose="020B0604020202020204" pitchFamily="34" charset="0"/>
                <a:cs typeface="Arial" panose="020B0604020202020204" pitchFamily="34" charset="0"/>
              </a:rPr>
              <a:t>Percent Slip:</a:t>
            </a:r>
            <a:r>
              <a:rPr lang="en-PH" sz="2400" dirty="0">
                <a:latin typeface="Arial" panose="020B0604020202020204" pitchFamily="34" charset="0"/>
                <a:cs typeface="Arial" panose="020B0604020202020204" pitchFamily="34" charset="0"/>
              </a:rPr>
              <a:t> (50 / 1800) * 100 = 2.78%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66E042D-0D13-40B7-92F1-6FEFFF8061B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AC30A7-2F44-4E32-9444-9E96336EEC48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C5B526-2694-AD8C-52E9-075393D62229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647927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size of electric motor should be used when the operation is can be done by human?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366006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½ 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¼ 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1/3 hp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 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C28D6B9-25DA-4534-BBCA-A93DFEA8532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4D6A74-B647-419C-AEE9-84BB1F2E16F7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C17A3C-99E7-6806-FFE2-7620B265FB6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0317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(Food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is the written procedure which a food establishment develops and implements to prevent contamination or adulteration of a product?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815708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SSOP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GMP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HACCP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HAZOP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D30941D-4491-4D23-8936-69BC04345B3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09EB9C-CA1F-4149-A774-F5E7362C971E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8BBC45-93D5-DC4C-41DB-F6F2921B0FE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95325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(Engineering Drawing)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AutoCAD command in creating soft edges.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16459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Fillet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Spline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Chamfer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Extrude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DA296A-8257-4924-9F80-5767A8A22B8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242AFA6-1A91-44E7-B177-02B7992353C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DC9545-6287-7C5E-C37E-E35AAA5DD1BC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669796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(Heat Transfer)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Other term for the power dissipated.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484378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Power converted to Electricity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Reactive Power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Negative Power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Power converted to Heat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	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312C40-86EE-4FB1-8571-677964896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E1AEC5-BCD2-4205-AD8B-5FE364A7E61B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34B932-ED7A-9C98-4E90-3F9235A6973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742833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(Forest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do you call the defect of wood that causes abnormal growth which occurs at the starting point of a limb or branch of a tree?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89400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heartshake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knot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check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wane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3D38122-2DC5-4273-80AC-3CF27081776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44B137E-57A0-40B2-9355-BC356A8A058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E35187-1A22-AD22-4347-2F3382C47E1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557510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Size of AWG No. 10 in square millimeter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333368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5.5 mm</a:t>
                      </a:r>
                      <a:r>
                        <a:rPr lang="en-US" sz="2800" baseline="30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3.5 mm</a:t>
                      </a:r>
                      <a:r>
                        <a:rPr lang="en-US" sz="2800" baseline="30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10.0 mm</a:t>
                      </a:r>
                      <a:r>
                        <a:rPr lang="en-US" sz="2800" baseline="30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15.0 mm</a:t>
                      </a:r>
                      <a:r>
                        <a:rPr lang="en-US" sz="2800" baseline="30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E36702F-4242-4A96-A3E3-E789701E10C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648BEF-E74B-4508-802B-7802446740D9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6AF208-52D7-A7E8-53EF-3EC5AB11322E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588376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  <a:r>
              <a:rPr lang="en-US" b="1" dirty="0">
                <a:solidFill>
                  <a:srgbClr val="840202"/>
                </a:solidFill>
              </a:rPr>
              <a:t> </a:t>
            </a:r>
            <a:r>
              <a:rPr lang="en-US" b="1" dirty="0">
                <a:solidFill>
                  <a:srgbClr val="FFB000"/>
                </a:solidFill>
              </a:rPr>
              <a:t>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24588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According to the Comprehensive Land Use Plan of different LGUs, slaughterhouse, poultry house and piggery are all considered as?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14365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Agricultural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Commercial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Industrial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Institutional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73BD25B-4CDE-469A-8DA2-6DBC1C6FC97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6F6F23A-9A67-417A-B22C-4ADC5FE6EE23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9B4AF1-5E85-F1C5-FF5B-7D86EA29FF7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8346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(Environment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is the primary reason why infiltration of air must be prevented in the biogas chamber?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19117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Leading to aerobic digestion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Death of bacteria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Spoiling of digestate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Explode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4652A8-9BCE-4712-BF4B-2F2B2C180EA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0C1673-DE9E-4681-972C-8348730F3304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3B40F3-C029-0F3E-E971-CE4775544416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940048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(Computer Application)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Smallest set of data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19857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brix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byte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util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2C5604E-31EE-4FC9-AC06-237E1A8123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EE9577-55E8-4640-A7CD-AE932855BF79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E100CC-EA19-AF0C-3600-DF4ABF77AE28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2244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</a:t>
            </a:r>
            <a:r>
              <a:rPr lang="en-US" b="1" dirty="0">
                <a:solidFill>
                  <a:srgbClr val="FFB000"/>
                </a:solidFill>
              </a:rPr>
              <a:t> (Computer Application)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main platform where computer works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383038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Operating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brix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byte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util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2C5604E-31EE-4FC9-AC06-237E1A8123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83D8897-D502-4EB9-B9E5-6815FAD00B57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F8DB23-6036-CB67-8437-6B017697FEA9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99027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(Computer Application)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 system by which numbers, letters and other information are represented using only two symbols.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093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Octal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Decimal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Hexadecimal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2C5604E-31EE-4FC9-AC06-237E1A8123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37B507-1979-44FF-AE17-C2FDDE0C6128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C26B7F-997C-21FE-9C60-9CB423D76D62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5359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 type of motor in which the windings are connected in parallel.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3020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Back wound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Squirrel Cage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Centrifugal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Shunt wound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0089AF-02E7-47F1-AA4E-150EB4D6EEF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66EB425-DD26-4174-984E-03D47D3249E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47CABD-E420-66C0-5F30-8F30B6AEF45D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739955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24588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 multi-bladed wind turbine uses what kind of force?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705516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draft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lift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2527A0-881D-4D69-911D-E8B907E36C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7EC88A-1BE6-403F-8092-2B282FD2866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42B0B-D9AA-8318-4C81-DE56C5D544F9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001280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simplest method in structural analysis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118379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force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joint method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moment-area method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displacement method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	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4C1EAA3-9648-46A8-B158-F5CF1A04B93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99AFE08-A45E-4187-A917-26680FF28C7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A6E2FE-C2CE-8E9A-4692-73A24BBF3D2D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81374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</a:t>
            </a:r>
            <a:r>
              <a:rPr lang="en-US" b="1" dirty="0">
                <a:solidFill>
                  <a:srgbClr val="FFB000"/>
                </a:solidFill>
              </a:rPr>
              <a:t> (Thermodynamics)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Given the initial volume of 505 and initial pressure of 16 bar, the pressure changed to 35 bar, determine the change in volume.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433539"/>
              </p:ext>
            </p:extLst>
          </p:nvPr>
        </p:nvGraphicFramePr>
        <p:xfrm>
          <a:off x="1092432" y="3654038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C000"/>
                          </a:solidFill>
                          <a:latin typeface="Arial Narrow" panose="020B0606020202030204" pitchFamily="34" charset="0"/>
                        </a:rPr>
                        <a:t>274</a:t>
                      </a:r>
                      <a:endParaRPr lang="en-US" sz="2800" baseline="-25000" dirty="0">
                        <a:solidFill>
                          <a:srgbClr val="FFC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83156C-EFF6-4AD2-8355-F64A7363A5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E1A0AA-E4F9-4F66-9650-9960688BE816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E1D576-8193-21FE-F340-A22637697E2A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17288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(Heat Transfer)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1852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Which of the following is true regarding the sensible heat of metal?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8815204"/>
              </p:ext>
            </p:extLst>
          </p:nvPr>
        </p:nvGraphicFramePr>
        <p:xfrm>
          <a:off x="869795" y="2170668"/>
          <a:ext cx="9259266" cy="290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8570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4620696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9996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C000"/>
                          </a:solidFill>
                          <a:latin typeface="Arial Narrow" panose="020B0606020202030204" pitchFamily="34" charset="0"/>
                        </a:rPr>
                        <a:t>Metal with higher sensible heat can be greatly affected in temperature rise.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C000"/>
                          </a:solidFill>
                          <a:latin typeface="Arial Narrow" panose="020B0606020202030204" pitchFamily="34" charset="0"/>
                        </a:rPr>
                        <a:t>Metal with higher sensible heat can be greatly affected in melting. </a:t>
                      </a:r>
                    </a:p>
                    <a:p>
                      <a:endParaRPr lang="en-US" sz="16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99963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C000"/>
                          </a:solidFill>
                          <a:latin typeface="Arial Narrow" panose="020B0606020202030204" pitchFamily="34" charset="0"/>
                        </a:rPr>
                        <a:t>Metal with higher sensible heat has a minimal effect in temperature rise. </a:t>
                      </a:r>
                    </a:p>
                    <a:p>
                      <a:endParaRPr lang="en-US" sz="1600" baseline="-25000" dirty="0">
                        <a:solidFill>
                          <a:srgbClr val="840202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C000"/>
                          </a:solidFill>
                          <a:latin typeface="Arial Narrow" panose="020B0606020202030204" pitchFamily="34" charset="0"/>
                        </a:rPr>
                        <a:t>Metal with higher sensible heat has a minimal effect in melting. </a:t>
                      </a:r>
                      <a:endParaRPr lang="en-US" sz="2800" baseline="-25000" dirty="0">
                        <a:solidFill>
                          <a:srgbClr val="FFC000"/>
                        </a:solidFill>
                        <a:latin typeface="Arial Narrow" panose="020B0606020202030204" pitchFamily="34" charset="0"/>
                      </a:endParaRPr>
                    </a:p>
                    <a:p>
                      <a:endParaRPr lang="en-US" sz="16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869795" y="507642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 (change in T w/o change in form)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6F662EF-4810-434C-87EA-9B00738492C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994D1E-DBC1-4654-86AE-CC718252284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7EDBBF-764A-4590-31BE-D770B6305900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60651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(Heat Transfer)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065978"/>
            <a:ext cx="8596668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Differentiate latent heat and sensible heat.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0691147"/>
              </p:ext>
            </p:extLst>
          </p:nvPr>
        </p:nvGraphicFramePr>
        <p:xfrm>
          <a:off x="1092433" y="2751791"/>
          <a:ext cx="9088630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530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4535542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sensible heat is for change in T w/ change in form while latent heat changes substance form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sensible heat is for change in T w/ change in form while latent heat not changes substance form 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sensible heat is for change in T w/o change in form while latent heat not changes substance form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sensible heat is for change in T w/o change in form while latent heat changes substance form 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3" y="5685141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EDF31A-8C87-4295-B547-2DFC8691DA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50ADA0-8D95-4B85-928A-35AA16053992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FBD33-2AF3-D4A0-FF94-23298DC5DE0D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72706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(Heat Transfer)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energy needed for a material to change in temperature but not in phase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0290072"/>
              </p:ext>
            </p:extLst>
          </p:nvPr>
        </p:nvGraphicFramePr>
        <p:xfrm>
          <a:off x="1025526" y="3316807"/>
          <a:ext cx="8988269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02811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4485458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sensible heat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specific heat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latent heat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b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innate heat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25526" y="4576957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EDF31A-8C87-4295-B547-2DFC8691DA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A32D00-AF72-442F-91C3-8A74BAC60018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0AC66-F484-D6A3-26EA-25791376B8D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966222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(Heat Transfer)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Compute the change in temperature given Q= 200 kJ, mass is equal to 1 </a:t>
            </a:r>
            <a:r>
              <a:rPr lang="en-US" sz="2800" dirty="0" err="1">
                <a:latin typeface="Arial Narrow" panose="020B0606020202030204" pitchFamily="34" charset="0"/>
              </a:rPr>
              <a:t>tonne</a:t>
            </a:r>
            <a:r>
              <a:rPr lang="en-US" sz="2800" dirty="0">
                <a:latin typeface="Arial Narrow" panose="020B0606020202030204" pitchFamily="34" charset="0"/>
              </a:rPr>
              <a:t> and specific heat of 23 kJ/kg-K.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55814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8.70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0.0087 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0.87 K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0.087 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E3AC25A-4900-414F-8E4E-C5C609CAE3E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ECA09E2-67B5-4FF8-A963-B5935D26C05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614C8D-C562-2A14-3D44-EC6B312324B6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02013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It convert solar to electrical energy.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360515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transducer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inverter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photovoltaic cell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solar panel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FC47EE0-EE1C-4E87-A852-8BA5BAAA41B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0A6F737-0E47-4627-B37F-C95226CC2FD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367110-65B4-A9A7-483D-948549E45425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465858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do you call the solar incoming from sun that reaches the earth surface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180729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insolation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albedo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irradiation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radiation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3838FC-E733-4B2B-99AC-E057A8C30BE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C99A096-6667-48A6-BF7E-506CBD9F2370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3DB3F7-5A1D-F5DA-E4C7-CDF9B260CF79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69319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Given the rotor diameter (1 m) and velocity of a certain wind turbine (3 </a:t>
            </a:r>
            <a:r>
              <a:rPr lang="en-US" sz="2800" dirty="0" err="1">
                <a:latin typeface="Arial Narrow" panose="020B0606020202030204" pitchFamily="34" charset="0"/>
              </a:rPr>
              <a:t>mps</a:t>
            </a:r>
            <a:r>
              <a:rPr lang="en-US" sz="2800" dirty="0">
                <a:latin typeface="Arial Narrow" panose="020B0606020202030204" pitchFamily="34" charset="0"/>
              </a:rPr>
              <a:t>), compute for the power that can be converted to mechanical energy.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0230136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12.72 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2.12 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5.20 W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7.13 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018798"/>
            <a:ext cx="92592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  <a:p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                 0.1 multiplier only for usable mechanical energy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AB0AA0-A97D-4275-B1F3-ABDFC7C4334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DB8723-7C46-4CB6-9845-FBB0F940D422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C59D3A-127D-8CBE-7B22-AB1A163590F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07801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(Mechanics)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8935017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Compute for the Kinetic Energy of a 2-kg ball travelling at 10 </a:t>
            </a:r>
            <a:r>
              <a:rPr lang="en-US" sz="2800" dirty="0" err="1">
                <a:latin typeface="Arial Narrow" panose="020B0606020202030204" pitchFamily="34" charset="0"/>
              </a:rPr>
              <a:t>mps</a:t>
            </a:r>
            <a:r>
              <a:rPr lang="en-US" sz="2800" dirty="0">
                <a:latin typeface="Arial Narrow" panose="020B0606020202030204" pitchFamily="34" charset="0"/>
              </a:rPr>
              <a:t> 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436375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052DB8-2712-46CA-819D-265DA913A9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EB8533-C3E6-4578-8287-D688F432A58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1FEDC9-C061-549F-0973-B60AA3ADFBE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40378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This is defined as the half of the truss’ horizontal distance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13620-80F8-4D91-A3A9-1ADB6B495654}"/>
              </a:ext>
            </a:extLst>
          </p:cNvPr>
          <p:cNvSpPr txBox="1"/>
          <p:nvPr/>
        </p:nvSpPr>
        <p:spPr>
          <a:xfrm>
            <a:off x="869795" y="0"/>
            <a:ext cx="861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ATTRC Iligan - Agricultural &amp; Biosystems Engineer Licensure Examination (ABELE) Review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/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span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panel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8D2CD6F-2453-4191-A7EE-963AFE544C9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4843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</a:t>
            </a:r>
            <a:r>
              <a:rPr lang="en-US" b="1" dirty="0">
                <a:solidFill>
                  <a:srgbClr val="FFB000"/>
                </a:solidFill>
              </a:rPr>
              <a:t> (Environment Engineering)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Transformation of organic matter into ammonia.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81381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Nitrogen fixing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Ammonogenesis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Ammonification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Methanogenesis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DA1CC18-F2AB-4249-9258-190523F8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0C4B9CE-C983-4450-978D-AA9C2B95B33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36C3E3-55FA-29A6-2492-1538BB193C9E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22291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(Environment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Reduce solubility in soil or the soil stabilization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979187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solidification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liquification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complexation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hardening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  <a:p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                solidification = compaction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0A4DA3-A566-4DCA-A795-4939316346F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5C4914E-8A33-4579-855D-695EDEFF3C3B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C2CF0-C4E6-B393-04BA-4683FEC96A2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5369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Number of branch circuits for 15 amp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285679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10 - 12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 – 10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12 – 15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8 – 10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6414E0C-E730-4E6F-94DA-66A24423B9A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E870BD-C44A-46BB-8C31-F6CF841FEC34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8586F7-CF8A-B3A2-E337-37EF37B1FE4D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09568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</a:t>
            </a:r>
            <a:r>
              <a:rPr lang="en-US" b="1" dirty="0">
                <a:solidFill>
                  <a:srgbClr val="840202"/>
                </a:solidFill>
              </a:rPr>
              <a:t> </a:t>
            </a:r>
            <a:r>
              <a:rPr lang="en-US" b="1" dirty="0">
                <a:solidFill>
                  <a:srgbClr val="FFB000"/>
                </a:solidFill>
              </a:rPr>
              <a:t>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5804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Best material in constructing light weight frame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86828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Stainless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Aluminum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Carbon Steel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Galvanized Iron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645A4CD-7747-4563-A431-A1B002069E7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E762E7-19BC-4710-BB55-492A197DAA80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2E010D-C297-94D3-5AF2-5DD720435096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85839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is the main reason why newly built FMRs are covered with rice straws and the likes?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715649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drying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dehydrating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curing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blanching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CA392A5-3701-4869-9200-1C08A407E3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32092B9-4111-4EDD-81B8-1FE505D903A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E6FDCC-B0E6-AB19-B923-A5E70EDDB20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899082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If a wind mill rotor has a tip speed ratio of 1:1, what windspeed is required for its rotor tip to move at 3.3 </a:t>
            </a:r>
            <a:r>
              <a:rPr lang="en-US" sz="2800" dirty="0" err="1">
                <a:latin typeface="Arial Narrow" panose="020B0606020202030204" pitchFamily="34" charset="0"/>
              </a:rPr>
              <a:t>mps</a:t>
            </a:r>
            <a:r>
              <a:rPr lang="en-US" sz="2800" dirty="0">
                <a:latin typeface="Arial Narrow" panose="020B0606020202030204" pitchFamily="34" charset="0"/>
              </a:rPr>
              <a:t>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0671007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3.3 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mps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4.95 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mps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6.6 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mps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1.65 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mps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  <a:p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                 since, 1:1</a:t>
            </a:r>
          </a:p>
          <a:p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                 3.3 + 3.3 = 6.6 </a:t>
            </a:r>
            <a:r>
              <a:rPr lang="en-US" sz="2800" b="1" dirty="0" err="1">
                <a:solidFill>
                  <a:srgbClr val="FFB000"/>
                </a:solidFill>
                <a:latin typeface="Arial Narrow" panose="020B0606020202030204" pitchFamily="34" charset="0"/>
              </a:rPr>
              <a:t>mps</a:t>
            </a:r>
            <a:endParaRPr lang="en-US" sz="2800" b="1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702D4A-F688-4A3B-BF10-5BE8FB0E90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81B831-35AE-4703-9669-449436FE286B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7C0EBE-20E4-E9A9-84C3-E678A30FC8A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92227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diode is needed as protection against lighting in solar installations?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53092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Lightning arrester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Insulating diode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Bypass diode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Blocking diode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F514B61-B98C-47A2-936B-56AF02062A5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3F68C6-2F2D-48C8-BC8C-8616AB10441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2319-57C0-09BD-E21C-FD4D785FDA25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46021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is the proper mix class for solid concrete open channel beds and walls.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57505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Class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Class 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Class B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Class 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B165AD8-6224-4919-90C5-CC07CEFD8C3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BE824DF-B7E4-4F11-BD0C-A47E8FAD2DFB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C35DD7-1B6A-5822-224B-F3D213EA37F5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622414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Which of the following is not a characteristic of Alternating Current?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0513624"/>
              </p:ext>
            </p:extLst>
          </p:nvPr>
        </p:nvGraphicFramePr>
        <p:xfrm>
          <a:off x="1092432" y="3483134"/>
          <a:ext cx="9259266" cy="1889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8570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4620696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Can be inverted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can interrupt communication lines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Flowing sporadic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can be used in charging batteries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4551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01C132A-1CBD-4274-961F-EE90C530C56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41032F4-ADD4-40A8-96D4-4522F7056AD4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A8556C-776F-8A56-C64C-542D34CC0AA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91472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369915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 2.8 </a:t>
            </a:r>
            <a:r>
              <a:rPr lang="en-US" sz="2800" dirty="0" err="1">
                <a:latin typeface="Arial Narrow" panose="020B0606020202030204" pitchFamily="34" charset="0"/>
              </a:rPr>
              <a:t>tonne</a:t>
            </a:r>
            <a:r>
              <a:rPr lang="en-US" sz="2800" dirty="0">
                <a:latin typeface="Arial Narrow" panose="020B0606020202030204" pitchFamily="34" charset="0"/>
              </a:rPr>
              <a:t> capacity Jatropha oil expeller was loaded full with dried Jatropha seeds in 3 minutes. It produced 900 kg of crude oil in 2 hours. What is the crude oil production rate?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434836"/>
              </p:ext>
            </p:extLst>
          </p:nvPr>
        </p:nvGraphicFramePr>
        <p:xfrm>
          <a:off x="965316" y="3721657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439741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600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450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300 kg/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hr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965316" y="5213361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BCB3448-D60F-4168-8651-358511C98D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AF7A1CE-A828-467A-9183-7B0F082C77B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F1A109-5577-043F-A487-8779E88E890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403227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An electric pump has a total resistance of 9.5 ohms. If its power source is from 220-volt outlet. What should be the amperage of its safety fuse? Assume 27% surge current.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481099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23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16.8 Amp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6.2 Amp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29.2 Amp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14C2B12-2F91-46D0-AB57-4F7767A742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0B742E-52B8-4043-8B7B-CE5326926642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C3715-9615-744F-3469-A0E116F36D4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734087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(Environment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amount paid by the World Bank for carbon emission reduction projects.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598606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CVV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1391B-DD28-40FD-B604-683F28BF138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8F0D28-9BB8-42E9-A32E-EC6F376343B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24803B-00D7-228F-6CD3-569C41AE54D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63509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CPES rating for Time after construction.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188293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0.50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B628BB-038B-4E7B-9BEE-293B679E0A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0A0B0CF-6195-47B2-BCB1-25828C5D5852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75ED88-5120-B2CB-480D-F4B189ED676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55553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PD for the National Building Code of the Philippines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493278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1906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1609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B628BB-038B-4E7B-9BEE-293B679E0A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665C268-17A1-405E-AE68-2685EFBA00A7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7A2C7A-2D94-09CD-1B24-A1A653C5FAB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764300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(Refrigeration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condition is described when dry bulb temperature, wet bulb temperature and dew point temperature are equal.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717734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saturated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supercritical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dehydrated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subcritical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F57C0D-2B00-4ABD-9BD8-16AB4808D34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5D70E6E-F613-4C33-816E-2F0AFDD90F98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B5EE97-925E-A0EE-BBCF-9F6018392A4C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124613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(Refrigeration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What condition is described when dry bulb temperature and wet bulb temperature are equal in terms of RH?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36990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0% 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50% RH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1% 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F57C0D-2B00-4ABD-9BD8-16AB4808D34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41DA15-6E00-464F-86D3-9248A49C2F7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4308E2-9DB6-F1DA-404B-A235D8776CD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875644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(Refrigeration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It’s the temperature where the air become saturated.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38142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Dry bulb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Dew point temperature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Wet bulb temperature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Dew bulb temperature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552151-555E-40DE-A165-E71A0E6E6F1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8762B4-86E8-4760-90F4-783F464AE666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50A7C5-807B-6C27-EE9E-D4E351BE2AF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879014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</a:t>
            </a:r>
            <a:r>
              <a:rPr lang="en-US" b="1" dirty="0">
                <a:solidFill>
                  <a:srgbClr val="FFB000"/>
                </a:solidFill>
              </a:rPr>
              <a:t> (Refrigeration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psychrometric chart describes what properties of air?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524021"/>
              </p:ext>
            </p:extLst>
          </p:nvPr>
        </p:nvGraphicFramePr>
        <p:xfrm>
          <a:off x="1092432" y="3483134"/>
          <a:ext cx="9144388" cy="1889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1020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4563368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Physical and thermochemical properties of moist 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Physical and chemical properties of moist 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Physical and physiochemical properties of moist air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Physical and thermal properties of moist 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779752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EAAF16-9687-49F7-9E24-0D61BD6302D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0EC441-9017-427B-841B-A593740BE277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051815-3049-597C-C6FC-6890909691D0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028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(Refrigeration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proportional change in resistance of a conductor per degree temperature difference from some reference temperature.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2287123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l-GR" sz="2800" b="1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α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l-GR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γ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l-GR" sz="2800" b="1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β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l-GR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δ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</a:t>
            </a:r>
            <a:r>
              <a:rPr lang="el-GR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α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constant = temperature coefficient of resistance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6DAC71A-7C91-45DD-A3CB-E92D598546B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2A5D75F-63B2-4DE5-9F01-B5B2A1F6AE5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086902-F959-84BD-5894-132D4938AAD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13965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(Refrigeration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velocity in the suction line was decreased, what will happen to its suction capacity.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619898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Decreased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Constant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Increased 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Exponential increase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FF959DA-4314-401C-8A73-EA3A77BF60B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6BD450-1F0F-45AE-B485-6650B7C2BEA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35B166-F86D-E7DA-7441-63C62F657AD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155828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Estimate the time needed to cook a 20 kgs of rice.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513409"/>
              </p:ext>
            </p:extLst>
          </p:nvPr>
        </p:nvGraphicFramePr>
        <p:xfrm>
          <a:off x="1092432" y="3737245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28.6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4.9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11.9 min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20.5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 (Tc </a:t>
            </a:r>
            <a:r>
              <a:rPr lang="en-US" sz="2800" b="1" i="1" dirty="0">
                <a:solidFill>
                  <a:srgbClr val="FFB000"/>
                </a:solidFill>
                <a:latin typeface="Arial Narrow" panose="020B0606020202030204" pitchFamily="34" charset="0"/>
              </a:rPr>
              <a:t>sec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= 550 m^0.38)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AD578E-8E8E-4BB4-A6A4-A58475CB0C5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102C7CF-0B05-46AD-A8F7-7DF16649B3DD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89143-6FDB-36DC-9A8A-1652C0DBF13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9922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Primary gas produced in gasification.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532325"/>
              </p:ext>
            </p:extLst>
          </p:nvPr>
        </p:nvGraphicFramePr>
        <p:xfrm>
          <a:off x="1092432" y="3737245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CH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AD578E-8E8E-4BB4-A6A4-A58475CB0C5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E93D41-5660-4726-B715-B44F96267F1A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3348A-DA7C-1E21-0DF9-51166DA91C03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570679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ratio of the heat released by the fuel of a heated-air  mechanical dryer to the theoretical heat available from the fuel.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268246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Thermal 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Heating efficiency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Burning efficiency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Combustion efficiency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15AEE61-4259-40D1-AED2-4703742E938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D66AF1F-74B2-4071-A8CF-DF6BA56DE057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B749F9-C25C-0DFD-71D4-6A7FB74C1DA6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74402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and Bioprocess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Number of test required for mechanical grain dryer.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955922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 (PAES 202:2015) minimum of three test trials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15AEE61-4259-40D1-AED2-4703742E938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27A506-604A-44A9-AA19-C2F1B2D66C66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892FC7-350D-B2D0-AEE9-9B05F030FD9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87287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LPG is composed mainly of, what?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2164372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6,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C₃H₈,  and C₄H₁₀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and C₄H₁₀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</a:t>
                      </a:r>
                      <a:r>
                        <a:rPr lang="en-US" sz="2800" baseline="-250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and C₃H₈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C₃H₈ and C₄H₁₀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15AEE61-4259-40D1-AED2-4703742E938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A1FA3D6-6C8F-4337-95BD-C5440CE84391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A84157-1B53-31BC-1C5B-854CD10E386E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396378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device used in measuring the speed of aerogenerator  shaft or rotor.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238702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dynamometer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tachometer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accelerometer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rpm sensor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15AEE61-4259-40D1-AED2-4703742E938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3C9E5A-5A43-4D1B-8110-40AD67FEEA44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146BF-D117-6423-3ACA-C5D011652E9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71897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Burning of agricultural waste usually ranges from?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75A0F0FE-D228-4138-A35F-7CB6EE124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83861"/>
              </p:ext>
            </p:extLst>
          </p:nvPr>
        </p:nvGraphicFramePr>
        <p:xfrm>
          <a:off x="1092432" y="3483134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600 – 1000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300 – 400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300 – 600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200 – 300 </a:t>
                      </a:r>
                      <a:r>
                        <a:rPr lang="en-US" sz="2800" baseline="300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</a:t>
                      </a:r>
                      <a:r>
                        <a:rPr lang="en-US" sz="2800" dirty="0" err="1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</a:t>
                      </a:r>
                      <a:endParaRPr lang="en-US" sz="28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4974838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15AEE61-4259-40D1-AED2-4703742E938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F3F21B-D5FB-4F7C-9276-A744187893B8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89805B-9897-8426-58CB-DBEADAD62FBA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793183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(Strength of Materials)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 5-m beam loaded with a uniform load of 18 </a:t>
            </a:r>
            <a:r>
              <a:rPr lang="en-US" sz="2800" dirty="0" err="1">
                <a:latin typeface="Arial Narrow" panose="020B0606020202030204" pitchFamily="34" charset="0"/>
              </a:rPr>
              <a:t>kN</a:t>
            </a:r>
            <a:r>
              <a:rPr lang="en-US" sz="2800" dirty="0">
                <a:latin typeface="Arial Narrow" panose="020B0606020202030204" pitchFamily="34" charset="0"/>
              </a:rPr>
              <a:t>/m have a modulus of elasticity of 4 </a:t>
            </a:r>
            <a:r>
              <a:rPr lang="en-US" sz="2800" dirty="0" err="1">
                <a:latin typeface="Arial Narrow" panose="020B0606020202030204" pitchFamily="34" charset="0"/>
              </a:rPr>
              <a:t>GPa</a:t>
            </a:r>
            <a:r>
              <a:rPr lang="en-US" sz="2800" dirty="0">
                <a:latin typeface="Arial Narrow" panose="020B0606020202030204" pitchFamily="34" charset="0"/>
              </a:rPr>
              <a:t>. The rectangular beam have a cross sectional dimension of 5 in and 10 in for base and height, respectively. Compute for its maximum deflection.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/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211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112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121 mm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221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126C83E-360E-4F20-9BBD-A578DFB446E6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0A58E-1438-55E0-29A3-84BA09AEFDB0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13984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(Strength of Materials)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 5-m beam loaded with a uniform load of 18 </a:t>
            </a:r>
            <a:r>
              <a:rPr lang="en-US" sz="2800" dirty="0" err="1">
                <a:latin typeface="Arial Narrow" panose="020B0606020202030204" pitchFamily="34" charset="0"/>
              </a:rPr>
              <a:t>kN</a:t>
            </a:r>
            <a:r>
              <a:rPr lang="en-US" sz="2800" dirty="0">
                <a:latin typeface="Arial Narrow" panose="020B0606020202030204" pitchFamily="34" charset="0"/>
              </a:rPr>
              <a:t>/m have a modulus of elasticity of 4 </a:t>
            </a:r>
            <a:r>
              <a:rPr lang="en-US" sz="2800" dirty="0" err="1">
                <a:latin typeface="Arial Narrow" panose="020B0606020202030204" pitchFamily="34" charset="0"/>
              </a:rPr>
              <a:t>GPa</a:t>
            </a:r>
            <a:r>
              <a:rPr lang="en-US" sz="2800" dirty="0">
                <a:latin typeface="Arial Narrow" panose="020B0606020202030204" pitchFamily="34" charset="0"/>
              </a:rPr>
              <a:t>. The rectangular beam have a cross sectional dimension of 5 in and 10 in for base and height, respectively. Compute for its angle of deflection at beam’s end.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/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0.963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0.135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0.639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ACF52C4-3E9F-4311-9476-31E09EB15F89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D7B55-514E-7723-2AAB-42B9370E5AB2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905418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(Strength of Materials)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Compute for the deflection angle at the end of a 6-m cantilever beam loaded with a load of 60kN at its end. Assume a modulus of elasticity of 10 </a:t>
            </a:r>
            <a:r>
              <a:rPr lang="en-US" sz="2800" dirty="0" err="1">
                <a:latin typeface="Arial Narrow" panose="020B0606020202030204" pitchFamily="34" charset="0"/>
              </a:rPr>
              <a:t>GPa</a:t>
            </a:r>
            <a:r>
              <a:rPr lang="en-US" sz="2800" dirty="0">
                <a:latin typeface="Arial Narrow" panose="020B0606020202030204" pitchFamily="34" charset="0"/>
              </a:rPr>
              <a:t> and moment of inertia of 500 x 10^6 mm^4.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542489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0.163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0.216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0.623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0A39243-D926-4FB3-A798-57EA08F649B9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BE3B3A-56D0-AC11-6B97-5BC76046B47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68188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(Strength of Materials)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b="1" dirty="0">
                <a:highlight>
                  <a:srgbClr val="FFFF00"/>
                </a:highlight>
                <a:latin typeface="Arial Narrow" panose="020B0606020202030204" pitchFamily="34" charset="0"/>
              </a:rPr>
              <a:t>TRY THIS: </a:t>
            </a:r>
            <a:r>
              <a:rPr lang="en-US" sz="2800" dirty="0">
                <a:latin typeface="Arial Narrow" panose="020B0606020202030204" pitchFamily="34" charset="0"/>
              </a:rPr>
              <a:t>A 6-m beam is loaded with two 40 </a:t>
            </a:r>
            <a:r>
              <a:rPr lang="en-US" sz="2800" dirty="0" err="1">
                <a:latin typeface="Arial Narrow" panose="020B0606020202030204" pitchFamily="34" charset="0"/>
              </a:rPr>
              <a:t>kN</a:t>
            </a:r>
            <a:r>
              <a:rPr lang="en-US" sz="2800" dirty="0">
                <a:latin typeface="Arial Narrow" panose="020B0606020202030204" pitchFamily="34" charset="0"/>
              </a:rPr>
              <a:t> load located at 2-m away from its both ends. Given that the modulus of elasticity is 200,000 MPa while moment of inertia is 50 x 10^6 mm^4, compute for its maximum deflection. 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007964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96.73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36.79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63.97 mm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30.67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48F9979-A862-41CB-8646-3C1048DA3D3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4C119D-613C-C305-7B7B-11717AA771D7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00097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303008" cy="1320800"/>
          </a:xfrm>
        </p:spPr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(Farm Electrification)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01520"/>
            <a:ext cx="9402331" cy="448910"/>
          </a:xfrm>
        </p:spPr>
        <p:txBody>
          <a:bodyPr>
            <a:normAutofit lnSpcReduction="10000"/>
          </a:bodyPr>
          <a:lstStyle/>
          <a:p>
            <a:pPr lvl="1" algn="just"/>
            <a:r>
              <a:rPr lang="en-US" sz="2600" i="1" dirty="0">
                <a:latin typeface="Arial Narrow" panose="020B0606020202030204" pitchFamily="34" charset="0"/>
              </a:rPr>
              <a:t>Direct formula calculation only in ABELE: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570CC6-41CE-4617-97DB-3DF7ED0A5AEE}"/>
              </a:ext>
            </a:extLst>
          </p:cNvPr>
          <p:cNvSpPr txBox="1"/>
          <p:nvPr/>
        </p:nvSpPr>
        <p:spPr>
          <a:xfrm>
            <a:off x="-59474" y="6529813"/>
            <a:ext cx="8452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/>
            <a:r>
              <a:rPr lang="en-US" sz="1800" i="1" dirty="0">
                <a:latin typeface="Arial Narrow" panose="020B0606020202030204" pitchFamily="34" charset="0"/>
              </a:rPr>
              <a:t>Can be English units in ABELE; if metric (just convert to English units )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D6F6BAD-152B-4CA2-B911-8095C56F6412}"/>
              </a:ext>
            </a:extLst>
          </p:cNvPr>
          <p:cNvSpPr txBox="1">
            <a:spLocks/>
          </p:cNvSpPr>
          <p:nvPr/>
        </p:nvSpPr>
        <p:spPr>
          <a:xfrm>
            <a:off x="6282682" y="2079853"/>
            <a:ext cx="3697660" cy="4449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en-US" sz="2600" dirty="0">
                <a:latin typeface="Arial Narrow" panose="020B0606020202030204" pitchFamily="34" charset="0"/>
              </a:rPr>
              <a:t>What is 1-the power produced, if Nm torque running at 1000 rpm?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1B351A-B528-4324-9820-EBADB903CB85}"/>
              </a:ext>
            </a:extLst>
          </p:cNvPr>
          <p:cNvSpPr txBox="1"/>
          <p:nvPr/>
        </p:nvSpPr>
        <p:spPr>
          <a:xfrm>
            <a:off x="7036205" y="3781613"/>
            <a:ext cx="38571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1 Nm = 0.738 </a:t>
            </a:r>
            <a:r>
              <a:rPr lang="en-US" sz="2800" b="1" dirty="0" err="1">
                <a:solidFill>
                  <a:srgbClr val="FFB000"/>
                </a:solidFill>
                <a:latin typeface="Arial Narrow" panose="020B0606020202030204" pitchFamily="34" charset="0"/>
              </a:rPr>
              <a:t>lb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-ft</a:t>
            </a:r>
          </a:p>
          <a:p>
            <a:endParaRPr lang="en-US" sz="2800" b="1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602C5D-824A-4DFD-868E-766D74E452F6}"/>
              </a:ext>
            </a:extLst>
          </p:cNvPr>
          <p:cNvSpPr txBox="1"/>
          <p:nvPr/>
        </p:nvSpPr>
        <p:spPr>
          <a:xfrm>
            <a:off x="7049435" y="4658776"/>
            <a:ext cx="3224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0.14 hp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4A216B-46BC-F067-996E-0EAC30E96D0A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3143" y="2219578"/>
                <a:ext cx="6383062" cy="275153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600" i="0" dirty="0">
                    <a:latin typeface="Cambria Math" panose="02040503050406030204" pitchFamily="18" charset="0"/>
                  </a:rPr>
                  <a:t>James Watt made this up below:</a:t>
                </a:r>
                <a:br>
                  <a:rPr lang="en-US" sz="2600" i="0" dirty="0">
                    <a:latin typeface="Cambria Math" panose="02040503050406030204" pitchFamily="18" charset="0"/>
                  </a:rPr>
                </a:br>
                <a:endParaRPr lang="en-US" sz="2600" i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600" i="0" dirty="0" smtClean="0">
                          <a:latin typeface="Cambria Math" panose="02040503050406030204" pitchFamily="18" charset="0"/>
                        </a:rPr>
                        <m:t>1 </m:t>
                      </m:r>
                      <m:r>
                        <m:rPr>
                          <m:sty m:val="p"/>
                        </m:rPr>
                        <a:rPr lang="en-US" sz="2600" i="0" dirty="0" smtClean="0">
                          <a:latin typeface="Cambria Math" panose="02040503050406030204" pitchFamily="18" charset="0"/>
                        </a:rPr>
                        <m:t>HP</m:t>
                      </m:r>
                      <m:r>
                        <a:rPr lang="en-US" sz="26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33,000 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𝑙𝑏𝑓</m:t>
                          </m:r>
                        </m:num>
                        <m:den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den>
                      </m:f>
                    </m:oMath>
                  </m:oMathPara>
                </a14:m>
                <a:endParaRPr lang="en-US" sz="2600" dirty="0">
                  <a:latin typeface="Arial Narrow" panose="020B0606020202030204" pitchFamily="34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𝑆h𝑎𝑓𝑡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𝑅𝑜𝑡𝑎𝑡𝑖𝑜𝑛𝑎𝑙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𝑆𝑝𝑒𝑒𝑑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𝑇𝑜𝑟𝑞𝑢𝑒</m:t>
                      </m:r>
                    </m:oMath>
                  </m:oMathPara>
                </a14:m>
                <a:endParaRPr lang="en-US" sz="2600" dirty="0">
                  <a:latin typeface="Arial Narrow" panose="020B0606020202030204" pitchFamily="34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𝑆h𝑎𝑓𝑡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𝐻𝑃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𝑇𝑄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𝑙𝑏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𝑓𝑡</m:t>
                              </m:r>
                            </m:e>
                          </m:d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𝑥𝑅𝐸𝑉𝑆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𝑅𝑃𝑀</m:t>
                              </m:r>
                            </m:e>
                          </m:d>
                        </m:num>
                        <m:den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33,000</m:t>
                          </m:r>
                        </m:den>
                      </m:f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𝑥</m:t>
                      </m:r>
                      <m:f>
                        <m:f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2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𝑟𝑎𝑑𝑠</m:t>
                          </m:r>
                        </m:num>
                        <m:den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den>
                      </m:f>
                    </m:oMath>
                  </m:oMathPara>
                </a14:m>
                <a:endParaRPr lang="en-US" sz="2600" dirty="0">
                  <a:latin typeface="Arial Narrow" panose="020B0606020202030204" pitchFamily="34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𝑆h𝑎𝑓𝑡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𝐻𝑃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𝑇𝑄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𝑙𝑏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𝑓𝑡</m:t>
                              </m:r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𝑥𝑅𝐸𝑉𝑆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𝑅𝑃𝑀</m:t>
                              </m:r>
                            </m:e>
                          </m:d>
                        </m:num>
                        <m:den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5252</m:t>
                          </m:r>
                        </m:den>
                      </m:f>
                    </m:oMath>
                  </m:oMathPara>
                </a14:m>
                <a:endParaRPr lang="en-US" sz="2600" dirty="0">
                  <a:latin typeface="Arial Narrow" panose="020B0606020202030204" pitchFamily="34" charset="0"/>
                </a:endParaRPr>
              </a:p>
              <a:p>
                <a:pPr marL="457200" lvl="1" indent="0">
                  <a:buNone/>
                </a:pPr>
                <a:endParaRPr lang="en-US" sz="2600" dirty="0"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219578"/>
                <a:ext cx="6383062" cy="2751539"/>
              </a:xfrm>
              <a:prstGeom prst="rect">
                <a:avLst/>
              </a:prstGeom>
              <a:blipFill>
                <a:blip r:embed="rId3"/>
                <a:stretch>
                  <a:fillRect t="-1996" b="-4678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7781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(Strength of Materials)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Compute for the solid shaft diameter needed for a 3-Mpa torsional stress producing 10 Nm running at 1000 rpm.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/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1’’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 ¾’’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 ½’’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 ¾’’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0A39243-D926-4FB3-A798-57EA08F649B9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90514F-2FB5-E40C-7D23-232D04DFB04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325569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10676466" cy="1320800"/>
          </a:xfrm>
        </p:spPr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(Environment Engineering)</a:t>
            </a:r>
            <a:r>
              <a:rPr lang="en-US" b="1" dirty="0">
                <a:solidFill>
                  <a:srgbClr val="840202"/>
                </a:solidFill>
              </a:rPr>
              <a:t> </a:t>
            </a:r>
            <a:endParaRPr lang="en-US" b="1" dirty="0">
              <a:solidFill>
                <a:srgbClr val="FFB00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solidFill>
                  <a:schemeClr val="tx1"/>
                </a:solidFill>
                <a:latin typeface="Arial Narrow" panose="020B0606020202030204" pitchFamily="34" charset="0"/>
              </a:rPr>
              <a:t>The payment of the application fee of wastewater reuse according to the Department of Agriculture (in pesos)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C3205E6C-0745-7005-164C-FAFD8FD79F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439620"/>
              </p:ext>
            </p:extLst>
          </p:nvPr>
        </p:nvGraphicFramePr>
        <p:xfrm>
          <a:off x="1092432" y="428847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910C4FA-6786-659B-89AB-A4B7F2B14BAE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551960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Ratio of CH</a:t>
            </a:r>
            <a:r>
              <a:rPr lang="en-US" sz="2800" baseline="-25000" dirty="0">
                <a:latin typeface="Arial Narrow" panose="020B0606020202030204" pitchFamily="34" charset="0"/>
              </a:rPr>
              <a:t>4</a:t>
            </a:r>
            <a:r>
              <a:rPr lang="en-US" sz="2800" dirty="0">
                <a:latin typeface="Arial Narrow" panose="020B0606020202030204" pitchFamily="34" charset="0"/>
              </a:rPr>
              <a:t> and CO</a:t>
            </a:r>
            <a:r>
              <a:rPr lang="en-US" sz="2800" baseline="-25000" dirty="0">
                <a:latin typeface="Arial Narrow" panose="020B0606020202030204" pitchFamily="34" charset="0"/>
              </a:rPr>
              <a:t>2</a:t>
            </a:r>
            <a:r>
              <a:rPr lang="en-US" sz="2800" dirty="0">
                <a:latin typeface="Arial Narrow" panose="020B0606020202030204" pitchFamily="34" charset="0"/>
              </a:rPr>
              <a:t> in biogas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074488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60:40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40:60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80:20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20:80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8D2CD6F-2453-4191-A7EE-963AFE544C9C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32B3A3-B444-677F-55E4-1AE865593722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84825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These are sources of renewable energy in ocean except: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269940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wave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thermal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tidal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hydraulic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5DB017-45F2-D170-87B2-EC7ECD5F6A3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47481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Full meaning of OTEC: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639791"/>
              </p:ext>
            </p:extLst>
          </p:nvPr>
        </p:nvGraphicFramePr>
        <p:xfrm>
          <a:off x="1061569" y="3261961"/>
          <a:ext cx="9010573" cy="1889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13983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449659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Ocean Tidal Energy Conversion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Ocean Tide Energy Conversion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Oceanic Thermal Energy Conversion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Ocean Thermal Energy Conversion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02F3F0-2588-5287-9029-F389E8A00546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63792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The OTEC operates in a principle similar to: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923635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Boiling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Refrigerator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Car engine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Heater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3D29AE-7D17-B20C-1D96-8316F30A469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017224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Situational: A 25,000-kW geothermal power plant operates continuously for one year produces an annual capacity of 100,000,000 </a:t>
            </a:r>
            <a:r>
              <a:rPr lang="en-US" sz="2800" dirty="0" err="1">
                <a:latin typeface="Arial Narrow" panose="020B0606020202030204" pitchFamily="34" charset="0"/>
              </a:rPr>
              <a:t>kWhr</a:t>
            </a:r>
            <a:r>
              <a:rPr lang="en-US" sz="2800" dirty="0">
                <a:latin typeface="Arial Narrow" panose="020B0606020202030204" pitchFamily="34" charset="0"/>
              </a:rPr>
              <a:t> and peak load of 20 MW. Compute for load factor.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C 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(average/maximum capacity)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(average cap. = annual capacity in </a:t>
            </a:r>
            <a:r>
              <a:rPr lang="en-US" sz="2800" dirty="0" err="1">
                <a:solidFill>
                  <a:srgbClr val="FFB000"/>
                </a:solidFill>
                <a:latin typeface="Arial Narrow" panose="020B0606020202030204" pitchFamily="34" charset="0"/>
              </a:rPr>
              <a:t>kWhr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 ÷ operation time in </a:t>
            </a:r>
            <a:r>
              <a:rPr lang="en-US" sz="2800" dirty="0" err="1">
                <a:solidFill>
                  <a:srgbClr val="FFB000"/>
                </a:solidFill>
                <a:latin typeface="Arial Narrow" panose="020B0606020202030204" pitchFamily="34" charset="0"/>
              </a:rPr>
              <a:t>hr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(maximum capacity = peak load = 20,000 kW)</a:t>
            </a:r>
          </a:p>
          <a:p>
            <a:endParaRPr lang="en-US" sz="2800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853888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0.64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DA6BF-8799-FFDA-7E04-4BC10D4FA71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416901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Situational: A 25,000-kW geothermal power plant operates continuously for one year produces an annual capacity of 100,000,000 </a:t>
            </a:r>
            <a:r>
              <a:rPr lang="en-US" sz="2800" dirty="0" err="1">
                <a:latin typeface="Arial Narrow" panose="020B0606020202030204" pitchFamily="34" charset="0"/>
              </a:rPr>
              <a:t>kWhr</a:t>
            </a:r>
            <a:r>
              <a:rPr lang="en-US" sz="2800" dirty="0">
                <a:latin typeface="Arial Narrow" panose="020B0606020202030204" pitchFamily="34" charset="0"/>
              </a:rPr>
              <a:t> and peak load of 20 MW. Compute for plant capacity factor.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09A946DE-0A13-4214-9065-EDFBE46B1F10}"/>
              </a:ext>
            </a:extLst>
          </p:cNvPr>
          <p:cNvGraphicFramePr>
            <a:graphicFrameLocks noGrp="1"/>
          </p:cNvGraphicFramePr>
          <p:nvPr/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0.64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C4D41C9-5F19-4AA5-954B-282F6AF14BC0}"/>
              </a:ext>
            </a:extLst>
          </p:cNvPr>
          <p:cNvSpPr txBox="1"/>
          <p:nvPr/>
        </p:nvSpPr>
        <p:spPr>
          <a:xfrm>
            <a:off x="1092432" y="5407665"/>
            <a:ext cx="92592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 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(average/plant capacity)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(average cap. = annual capacity in </a:t>
            </a:r>
            <a:r>
              <a:rPr lang="en-US" sz="2800" dirty="0" err="1">
                <a:solidFill>
                  <a:srgbClr val="FFB000"/>
                </a:solidFill>
                <a:latin typeface="Arial Narrow" panose="020B0606020202030204" pitchFamily="34" charset="0"/>
              </a:rPr>
              <a:t>kWhr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 ÷ operation time in </a:t>
            </a:r>
            <a:r>
              <a:rPr lang="en-US" sz="2800" dirty="0" err="1">
                <a:solidFill>
                  <a:srgbClr val="FFB000"/>
                </a:solidFill>
                <a:latin typeface="Arial Narrow" panose="020B0606020202030204" pitchFamily="34" charset="0"/>
              </a:rPr>
              <a:t>hr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(plant capacity = 25,000 kW)</a:t>
            </a:r>
          </a:p>
          <a:p>
            <a:endParaRPr lang="en-US" sz="2800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62E3FE-B2A1-B786-CDB9-B8EDB33F56E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698481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Situational: A 25,000-kW geothermal power plant operates continuously for one year produces an annual capacity of 100,000,000 </a:t>
            </a:r>
            <a:r>
              <a:rPr lang="en-US" sz="2800" dirty="0" err="1">
                <a:latin typeface="Arial Narrow" panose="020B0606020202030204" pitchFamily="34" charset="0"/>
              </a:rPr>
              <a:t>kWhr</a:t>
            </a:r>
            <a:r>
              <a:rPr lang="en-US" sz="2800" dirty="0">
                <a:latin typeface="Arial Narrow" panose="020B0606020202030204" pitchFamily="34" charset="0"/>
              </a:rPr>
              <a:t> and peak load of 20 MW. Compute for utilization factor.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655451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0.8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0.75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3FE5DE-5630-4886-8840-F815DA9A6DA1}"/>
              </a:ext>
            </a:extLst>
          </p:cNvPr>
          <p:cNvSpPr txBox="1"/>
          <p:nvPr/>
        </p:nvSpPr>
        <p:spPr>
          <a:xfrm>
            <a:off x="1092432" y="5407665"/>
            <a:ext cx="92592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 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(maximum/plant capacity)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(maximum capacity = peak load = 20,000 kW)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(plant capacity = 25,000 kW)</a:t>
            </a:r>
          </a:p>
          <a:p>
            <a:endParaRPr lang="en-US" sz="2800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D0C2A5-0FB1-08D1-0E79-654C24F2962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102622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(Renewable Energy)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Situational: A 25,000-kW geothermal power plant operates continuously for one year produces an annual capacity of 100,000,000 </a:t>
            </a:r>
            <a:r>
              <a:rPr lang="en-US" sz="2800" dirty="0" err="1">
                <a:latin typeface="Arial Narrow" panose="020B0606020202030204" pitchFamily="34" charset="0"/>
              </a:rPr>
              <a:t>kWhr</a:t>
            </a:r>
            <a:r>
              <a:rPr lang="en-US" sz="2800" dirty="0">
                <a:latin typeface="Arial Narrow" panose="020B0606020202030204" pitchFamily="34" charset="0"/>
              </a:rPr>
              <a:t> and peak load of 20 MW. Compute for reserve capacity.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 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(plant capacity – maximum capacity)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(maximum capacity = peak load = 20,000 kW)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(plant capacity = 25,000 kW)</a:t>
            </a:r>
          </a:p>
          <a:p>
            <a:endParaRPr lang="en-US" sz="2800" b="1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301995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10,000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1E9BB8-E08A-FB14-D94E-1B7EB0EB9EA9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83529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(Forest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Given that  there are 5 pcs of 2” x 6” x 14’ lumber, compute for that total board food (</a:t>
            </a:r>
            <a:r>
              <a:rPr lang="en-US" sz="2800" dirty="0" err="1">
                <a:latin typeface="Arial Narrow" panose="020B0606020202030204" pitchFamily="34" charset="0"/>
              </a:rPr>
              <a:t>bdft</a:t>
            </a:r>
            <a:r>
              <a:rPr lang="en-US" sz="2800" dirty="0">
                <a:latin typeface="Arial Narrow" panose="020B0606020202030204" pitchFamily="34" charset="0"/>
              </a:rPr>
              <a:t>)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3846149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140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928A2F-1468-73DF-58FD-9F5D3DE509FF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838794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(Forest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Given that a 28-in diameter log was cut at 6-m long, compute for the log’s board foot.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052471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760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E45376-D1DA-DB61-EA5D-E77B6052C24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961921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Agency that spearheads and implement CPES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D 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(Construction Industry Authority of the Philippines)</a:t>
            </a:r>
          </a:p>
          <a:p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(under CIAP → Philippine Domestic Construction Board)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688610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DA-BAFE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PDCB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DA-BAFS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CIAP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5C8803-DFB4-861A-0BCF-051433C237C1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54668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(Agricultural Buildings and Structures)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Scopes of CPES includes the following except: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337228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public infrastructures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local constructors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private infrastructures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foreign constructors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8666E4-F90E-46DD-BBE6-82C339618E95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CA401C-D978-0240-D212-02773EC7B72B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629129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(AB Power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Diesel flash point in Celsius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288135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-40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-50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31F2E6C-1F15-4282-8889-D99860F4E9A9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BC6A95-F769-FECA-8882-28062AF239AA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15126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(AB Power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Gasoline flash point in Celsius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/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-40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50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-50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A62459F-E5FD-4CF5-BB6E-A36035C5DC53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566112-52E3-BA32-6442-DB315756838D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75708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(AB Power Engineering)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latin typeface="Arial Narrow" panose="020B0606020202030204" pitchFamily="34" charset="0"/>
              </a:rPr>
              <a:t>Gasoline engine thermal efficiency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</a:t>
            </a:r>
          </a:p>
          <a:p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                 B 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for diesel</a:t>
            </a:r>
          </a:p>
          <a:p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                  D </a:t>
            </a:r>
            <a:r>
              <a:rPr lang="en-US" sz="2800" dirty="0">
                <a:solidFill>
                  <a:srgbClr val="FFB000"/>
                </a:solidFill>
                <a:latin typeface="Arial Narrow" panose="020B0606020202030204" pitchFamily="34" charset="0"/>
              </a:rPr>
              <a:t>for ICE in general </a:t>
            </a:r>
            <a:endParaRPr lang="en-US" sz="2800" b="1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661273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25-32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40-50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32-38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20-30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342871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>
                <a:latin typeface="Arial Narrow" panose="020B0606020202030204" pitchFamily="34" charset="0"/>
              </a:rPr>
              <a:t>The refrigerating capacity of an R-12 system is 22 kW. Compressor power is 5.8 hp. Determine the COP 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838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D 	</a:t>
                </a:r>
                <a:r>
                  <a:rPr lang="en-PH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b="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5.8 </m:t>
                    </m:r>
                    <m:r>
                      <a:rPr lang="en-PH" sz="2800" b="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h𝑝</m:t>
                    </m:r>
                    <m:d>
                      <m:d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800" b="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0.746</m:t>
                            </m:r>
                            <m:r>
                              <a:rPr lang="en-PH" sz="2800" b="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𝑊𝑎𝑡𝑡𝑠</m:t>
                            </m:r>
                          </m:num>
                          <m:den>
                            <m:r>
                              <a:rPr lang="en-PH" sz="2800" b="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PH" sz="2800" b="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h𝑝</m:t>
                            </m:r>
                          </m:den>
                        </m:f>
                      </m:e>
                    </m:d>
                    <m:r>
                      <a:rPr lang="en-PH" sz="2800" b="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=4.33</m:t>
                    </m:r>
                    <m:r>
                      <a:rPr lang="en-PH" sz="2800" b="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𝑤𝑎𝑡𝑡𝑠</m:t>
                    </m:r>
                  </m:oMath>
                </a14:m>
                <a:r>
                  <a:rPr lang="en-PH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	    				 </a:t>
                </a:r>
                <a14:m>
                  <m:oMath xmlns:m="http://schemas.openxmlformats.org/officeDocument/2006/math">
                    <m:r>
                      <a:rPr lang="en-PH" sz="2800" b="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𝐶𝑂𝑃</m:t>
                    </m:r>
                    <m:r>
                      <a:rPr lang="en-PH" sz="2800" b="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800" b="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PH" sz="2800" b="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num>
                      <m:den>
                        <m:r>
                          <a:rPr lang="en-PH" sz="2800" b="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r>
                      <a:rPr lang="en-PH" sz="2800" b="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b="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22</m:t>
                        </m:r>
                        <m:r>
                          <a:rPr lang="en-PH" sz="2800" b="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𝑘𝑊</m:t>
                        </m:r>
                      </m:num>
                      <m:den>
                        <m:r>
                          <a:rPr lang="en-PH" sz="2800" b="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4.33</m:t>
                        </m:r>
                        <m:r>
                          <a:rPr lang="en-PH" sz="2800" b="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𝟎𝟖</m:t>
                    </m:r>
                  </m:oMath>
                </a14:m>
                <a:r>
                  <a:rPr lang="en-PH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 </a:t>
                </a:r>
              </a:p>
              <a:p>
                <a:endParaRPr lang="en-US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838901"/>
              </a:xfrm>
              <a:prstGeom prst="rect">
                <a:avLst/>
              </a:prstGeom>
              <a:blipFill>
                <a:blip r:embed="rId2"/>
                <a:stretch>
                  <a:fillRect l="-131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23348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5.48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5.68</a:t>
                      </a:r>
                      <a:endParaRPr lang="en-US" sz="2800" baseline="-2500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670043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>
                <a:latin typeface="Arial Narrow" panose="020B0606020202030204" pitchFamily="34" charset="0"/>
              </a:rPr>
              <a:t>Find the total board feet of lumber from 28 inches long by 40 ft. No. of diameter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2098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A 	</a:t>
                </a:r>
                <a:r>
                  <a:rPr lang="en-PH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	D = 28 in, L = 40 </a:t>
                </a:r>
                <a:r>
                  <a:rPr lang="en-PH" sz="2800" dirty="0" err="1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ft</a:t>
                </a:r>
                <a:r>
                  <a:rPr lang="en-PH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	</a:t>
                </a:r>
              </a:p>
              <a:p>
                <a:r>
                  <a:rPr lang="en-PH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𝑏𝑑𝑓𝑡</m:t>
                    </m:r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−4)</m:t>
                            </m:r>
                          </m:e>
                          <m:sup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(28</m:t>
                            </m:r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𝑖𝑛</m:t>
                            </m:r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−4)</m:t>
                            </m:r>
                          </m:e>
                          <m:sup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 40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𝑓𝑡</m:t>
                        </m:r>
                      </m:num>
                      <m:den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𝟏𝟒𝟒𝟎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𝒃𝒅𝒇𝒕</m:t>
                    </m:r>
                  </m:oMath>
                </a14:m>
                <a:endParaRPr lang="en-US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209883"/>
              </a:xfrm>
              <a:prstGeom prst="rect">
                <a:avLst/>
              </a:prstGeom>
              <a:blipFill>
                <a:blip r:embed="rId2"/>
                <a:stretch>
                  <a:fillRect l="-1317" t="-502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1377687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1440 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𝑏𝑑𝑓𝑡</m:t>
                              </m:r>
                            </m:oMath>
                          </a14:m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𝑏𝑑𝑓𝑡</m:t>
                              </m:r>
                            </m:oMath>
                          </a14:m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40 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𝑏𝑑𝑓𝑡</m:t>
                              </m:r>
                            </m:oMath>
                          </a14:m>
                          <a:endParaRPr lang="en-US" sz="2800" baseline="-250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40 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𝑏𝑑𝑓𝑡</m:t>
                              </m:r>
                            </m:oMath>
                          </a14:m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1377687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21898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334" y="2160589"/>
                <a:ext cx="9115252" cy="3880773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PH" sz="2800" dirty="0">
                    <a:latin typeface="Arial Narrow" panose="020B0606020202030204" pitchFamily="34" charset="0"/>
                  </a:rPr>
                  <a:t>A 10, 20, and 30 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PH" sz="2800" dirty="0">
                    <a:latin typeface="Arial Narrow" panose="020B0606020202030204" pitchFamily="34" charset="0"/>
                  </a:rPr>
                  <a:t> resistor are connected in parallel. What is the resistance? </a:t>
                </a:r>
                <a:endParaRPr lang="en-US" sz="2800" i="1" dirty="0">
                  <a:solidFill>
                    <a:srgbClr val="FF0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334" y="2160589"/>
                <a:ext cx="9115252" cy="3880773"/>
              </a:xfrm>
              <a:blipFill>
                <a:blip r:embed="rId2"/>
                <a:stretch>
                  <a:fillRect l="-803" t="-1570" r="-140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896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C 	</a:t>
                </a:r>
                <a:r>
                  <a:rPr lang="en-PH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f>
                          <m:f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PH" sz="2800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30</m:t>
                            </m:r>
                          </m:den>
                        </m:f>
                      </m:den>
                    </m:f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𝟒𝟓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en-US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896336"/>
              </a:xfrm>
              <a:prstGeom prst="rect">
                <a:avLst/>
              </a:prstGeom>
              <a:blipFill>
                <a:blip r:embed="rId3"/>
                <a:stretch>
                  <a:fillRect l="-131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2508061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  <m:r>
                                <m:rPr>
                                  <m:nor/>
                                </m:rPr>
                                <a:rPr lang="en-PH" sz="2800" b="0" dirty="0" smtClean="0">
                                  <a:solidFill>
                                    <a:srgbClr val="FFB000"/>
                                  </a:solidFill>
                                  <a:latin typeface="Arial Narrow" panose="020B0606020202030204" pitchFamily="34" charset="0"/>
                                </a:rPr>
                                <m:t>Ω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5.45</m:t>
                              </m:r>
                              <m:r>
                                <m:rPr>
                                  <m:nor/>
                                </m:rPr>
                                <a:rPr lang="en-PH" sz="2800" b="0" dirty="0" smtClean="0">
                                  <a:solidFill>
                                    <a:srgbClr val="FFB000"/>
                                  </a:solidFill>
                                  <a:latin typeface="Arial Narrow" panose="020B0606020202030204" pitchFamily="34" charset="0"/>
                                </a:rPr>
                                <m:t>Ω</m:t>
                              </m:r>
                            </m:oMath>
                          </a14:m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6.45</m:t>
                              </m:r>
                              <m:r>
                                <m:rPr>
                                  <m:nor/>
                                </m:rPr>
                                <a:rPr lang="en-PH" sz="2800" b="0" dirty="0" smtClean="0">
                                  <a:solidFill>
                                    <a:srgbClr val="FFB000"/>
                                  </a:solidFill>
                                  <a:latin typeface="Arial Narrow" panose="020B0606020202030204" pitchFamily="34" charset="0"/>
                                </a:rPr>
                                <m:t>Ω</m:t>
                              </m:r>
                            </m:oMath>
                          </a14:m>
                          <a:endParaRPr lang="en-US" sz="2800" baseline="-250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  <m:r>
                                <m:rPr>
                                  <m:nor/>
                                </m:rPr>
                                <a:rPr lang="en-PH" sz="2800" b="0" dirty="0" smtClean="0">
                                  <a:solidFill>
                                    <a:srgbClr val="FFB000"/>
                                  </a:solidFill>
                                  <a:latin typeface="Arial Narrow" panose="020B0606020202030204" pitchFamily="34" charset="0"/>
                                </a:rPr>
                                <m:t>Ω</m:t>
                              </m:r>
                            </m:oMath>
                          </a14:m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2508061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007815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>
                <a:latin typeface="Arial Narrow" panose="020B0606020202030204" pitchFamily="34" charset="0"/>
              </a:rPr>
              <a:t>What is the amount of current that will cause a 15 A fuse with a 120 V </a:t>
            </a:r>
            <a:r>
              <a:rPr lang="en-PH" sz="2800" dirty="0" err="1">
                <a:latin typeface="Arial Narrow" panose="020B0606020202030204" pitchFamily="34" charset="0"/>
              </a:rPr>
              <a:t>ckt</a:t>
            </a:r>
            <a:r>
              <a:rPr lang="en-PH" sz="2800" dirty="0">
                <a:latin typeface="Arial Narrow" panose="020B0606020202030204" pitchFamily="34" charset="0"/>
              </a:rPr>
              <a:t> to blow?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1455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A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  <a:r>
                  <a:rPr lang="en-PH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for 15A = 10 outlets	 					 				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𝑎𝑚𝑜𝑢𝑛𝑡</m:t>
                    </m:r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𝑐𝑢𝑟𝑟𝑒𝑛𝑡</m:t>
                    </m:r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num>
                      <m:den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𝟏𝟐</m:t>
                    </m:r>
                  </m:oMath>
                </a14:m>
                <a:endParaRPr lang="en-US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145570"/>
              </a:xfrm>
              <a:prstGeom prst="rect">
                <a:avLst/>
              </a:prstGeom>
              <a:blipFill>
                <a:blip r:embed="rId2"/>
                <a:stretch>
                  <a:fillRect l="-1317" t="-531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722538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oMath>
                          </a14:m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</m:t>
                              </m:r>
                            </m:oMath>
                          </a14:m>
                          <a:endParaRPr lang="en-US" sz="2800" baseline="-250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36</m:t>
                              </m:r>
                            </m:oMath>
                          </a14:m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722538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582419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motor has the following data: cycle = 60; pole = 4, Voltage and current are also given. What is the speed of the motor?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196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A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  <a:r>
                  <a:rPr lang="en-PH" sz="2800" dirty="0"/>
                  <a:t> </a:t>
                </a:r>
              </a:p>
              <a:p>
                <a:r>
                  <a:rPr lang="en-PH" sz="2800" dirty="0"/>
                  <a:t>		</a:t>
                </a:r>
                <a14:m>
                  <m:oMath xmlns:m="http://schemas.openxmlformats.org/officeDocument/2006/math">
                    <m:r>
                      <a:rPr lang="en-PH" sz="2800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r>
                      <a:rPr lang="en-PH" sz="2800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𝑛𝑜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𝑝𝑜𝑙𝑒𝑠</m:t>
                        </m:r>
                      </m:den>
                    </m:f>
                  </m:oMath>
                </a14:m>
                <a:r>
                  <a:rPr lang="en-PH" sz="2800" dirty="0">
                    <a:solidFill>
                      <a:srgbClr val="FFB000"/>
                    </a:solidFill>
                  </a:rPr>
                  <a:t>   		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120(60)</m:t>
                        </m:r>
                      </m:num>
                      <m:den>
                        <m:r>
                          <a:rPr lang="en-PH" sz="2800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PH" sz="2800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𝟏𝟖𝟎𝟎</m:t>
                    </m:r>
                    <m:r>
                      <a:rPr lang="en-PH" sz="2800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𝒓𝒑𝒎</m:t>
                    </m:r>
                  </m:oMath>
                </a14:m>
                <a:endParaRPr lang="en-PH" sz="2800" dirty="0">
                  <a:solidFill>
                    <a:srgbClr val="FFB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196610"/>
              </a:xfrm>
              <a:prstGeom prst="rect">
                <a:avLst/>
              </a:prstGeom>
              <a:blipFill>
                <a:blip r:embed="rId2"/>
                <a:stretch>
                  <a:fillRect l="-1317" t="-510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5646377"/>
                  </p:ext>
                </p:extLst>
              </p:nvPr>
            </p:nvGraphicFramePr>
            <p:xfrm>
              <a:off x="1092432" y="4141156"/>
              <a:ext cx="10261368" cy="146304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1800 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𝑟𝑝𝑚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𝑟𝑝𝑚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𝑟𝑝𝑚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𝑟𝑝𝑚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  <a:p>
                          <a:endParaRPr lang="en-US" sz="280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5646377"/>
                  </p:ext>
                </p:extLst>
              </p:nvPr>
            </p:nvGraphicFramePr>
            <p:xfrm>
              <a:off x="1092432" y="4141156"/>
              <a:ext cx="10261368" cy="146304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765" r="-99526" b="-18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765" b="-18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60897" r="-99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608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57419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An electric pump has total resistance of 9.5 ohms. If its power source is from a 220-volt outlet, what should be the amperage of its safety fuse? Assume 27 % surge current.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B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 1.27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solidFill>
                    <a:srgbClr val="FFB000"/>
                  </a:solidFill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						   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 = 1.27 (220/9.5)</m:t>
                    </m:r>
                  </m:oMath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						   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 = 1.27 (23.16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𝑎𝑚𝑝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						   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 = 29.4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𝑎𝑚𝑝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.,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𝑢𝑠𝑒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𝟑𝟎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𝒂𝒎𝒑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PH" b="1" dirty="0">
                  <a:solidFill>
                    <a:srgbClr val="FFB000"/>
                  </a:solidFill>
                </a:endParaRPr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631216"/>
              </a:xfrm>
              <a:prstGeom prst="rect">
                <a:avLst/>
              </a:prstGeom>
              <a:blipFill>
                <a:blip r:embed="rId2"/>
                <a:stretch>
                  <a:fillRect l="-1317" t="-52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7320997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45 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𝑎𝑚𝑝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𝑎𝑚𝑝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𝑎𝑚𝑝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𝑎𝑚𝑝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7320997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512846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011120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What is the peak solar power generation per charging channel of a solar battery charging station equipped with 12 units of 75 watt-peak 12-volt solar module? The system is divided into 3 charging channels, each channel has 4 modules connected in parallel. Assume 80% overall efficiency.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846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B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𝑁𝑜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𝑀𝑜𝑑𝑢𝑙𝑒𝑠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𝑐h𝑎𝑛𝑛𝑒𝑙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𝑀𝑜𝑑𝑢𝑙𝑒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𝑎𝑚𝑝𝑒𝑟𝑎𝑔𝑒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𝑟𝑎𝑡𝑖𝑛𝑔</m:t>
                      </m:r>
                    </m:oMath>
                  </m:oMathPara>
                </a14:m>
                <a:endParaRPr lang="en-PH" sz="2500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=(4)(75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𝑊𝑝</m:t>
                      </m:r>
                      <m:r>
                        <a:rPr lang="en-PH" sz="250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) (0.8)=</m:t>
                      </m:r>
                      <m:r>
                        <a:rPr lang="en-PH" sz="2500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𝟐𝟒𝟎</m:t>
                      </m:r>
                      <m:r>
                        <a:rPr lang="en-PH" sz="2500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𝑾𝒑</m:t>
                      </m:r>
                    </m:oMath>
                  </m:oMathPara>
                </a14:m>
                <a:endParaRPr lang="en-PH" sz="25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endParaRPr lang="en-PH" dirty="0">
                  <a:solidFill>
                    <a:srgbClr val="FFB000"/>
                  </a:solidFill>
                </a:endParaRPr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846659"/>
              </a:xfrm>
              <a:prstGeom prst="rect">
                <a:avLst/>
              </a:prstGeom>
              <a:blipFill>
                <a:blip r:embed="rId2"/>
                <a:stretch>
                  <a:fillRect l="-1317" t="-330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7915779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2.4 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𝑊𝑝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260 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𝑊𝑝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240 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𝑊𝑝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𝑊𝑝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7915779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973591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>
                <a:latin typeface="Arial Narrow" panose="020B0606020202030204" pitchFamily="34" charset="0"/>
              </a:rPr>
              <a:t>An industrial heater has 8 pieces heating plates of 6 ohms each. Plates are arranged in series. If the heater power source is from a 220-volt outlet, how much current will flow?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5081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C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1 + 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1 + … + 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12  = 8 (6 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ohms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) = 48 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Ohms</m:t>
                      </m:r>
                      <m:r>
                        <m:rPr>
                          <m:nor/>
                        </m:rPr>
                        <a:rPr lang="en-PH" smtClean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m:t>     </m:t>
                      </m:r>
                    </m:oMath>
                  </m:oMathPara>
                </a14:m>
                <a:endParaRPr lang="en-US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					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PH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I</m:t>
                    </m:r>
                    <m:r>
                      <m:rPr>
                        <m:nor/>
                      </m:rPr>
                      <a:rPr lang="en-PH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  = </m:t>
                    </m:r>
                    <m:r>
                      <m:rPr>
                        <m:nor/>
                      </m:rPr>
                      <a:rPr lang="en-PH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V</m:t>
                    </m:r>
                    <m:r>
                      <m:rPr>
                        <m:nor/>
                      </m:rPr>
                      <a:rPr lang="en-PH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/</m:t>
                    </m:r>
                    <m:r>
                      <m:rPr>
                        <m:nor/>
                      </m:rPr>
                      <a:rPr lang="en-PH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R</m:t>
                    </m:r>
                    <m:r>
                      <m:rPr>
                        <m:nor/>
                      </m:rPr>
                      <a:rPr lang="en-PH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   = 220/48   = </m:t>
                    </m:r>
                    <m:r>
                      <m:rPr>
                        <m:nor/>
                      </m:rPr>
                      <a:rPr lang="en-PH" b="1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4.58 </m:t>
                    </m:r>
                    <m:r>
                      <m:rPr>
                        <m:nor/>
                      </m:rPr>
                      <a:rPr lang="en-PH" b="1" smtClean="0">
                        <a:solidFill>
                          <a:srgbClr val="FFB000"/>
                        </a:solidFill>
                        <a:latin typeface="Arial Narrow" panose="020B0606020202030204" pitchFamily="34" charset="0"/>
                      </a:rPr>
                      <m:t>Amp</m:t>
                    </m:r>
                  </m:oMath>
                </a14:m>
                <a:endParaRPr lang="en-PH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endParaRPr lang="en-PH" sz="2800" dirty="0"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508105"/>
              </a:xfrm>
              <a:prstGeom prst="rect">
                <a:avLst/>
              </a:prstGeom>
              <a:blipFill>
                <a:blip r:embed="rId2"/>
                <a:stretch>
                  <a:fillRect l="-1317" t="-404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94997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94997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140456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What is the system voltage of a solar pumping system equipped with 2 units of 75 </a:t>
            </a:r>
            <a:r>
              <a:rPr lang="en-PH" sz="2800" dirty="0" err="1"/>
              <a:t>wattpeak</a:t>
            </a:r>
            <a:r>
              <a:rPr lang="en-PH" sz="2800" dirty="0"/>
              <a:t> solar modules? Each solar module has 4.16 amperes maximum, open circuit voltage of 21 volts maximum and nominal voltage of 12 volts. Modules are connected in series.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B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𝑁𝑜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𝑀𝑜𝑑𝑢𝑙𝑒𝑠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𝑀𝑜𝑑𝑢𝑙𝑒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𝑁𝑜𝑚𝑖𝑛𝑎𝑙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𝑉𝑜𝑙𝑡𝑎𝑔𝑒</m:t>
                    </m:r>
                  </m:oMath>
                </a14:m>
                <a:r>
                  <a:rPr lang="en-PH" dirty="0">
                    <a:solidFill>
                      <a:srgbClr val="FFB000"/>
                    </a:solidFill>
                  </a:rPr>
                  <a:t> </a:t>
                </a:r>
              </a:p>
              <a:p>
                <a:pPr algn="ctr"/>
                <a:r>
                  <a:rPr lang="en-PH" dirty="0">
                    <a:solidFill>
                      <a:srgbClr val="FFB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=(2)(12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𝑉𝑜𝑙𝑡𝑠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pPr algn="ctr"/>
                <a:r>
                  <a:rPr lang="en-PH" b="1" dirty="0">
                    <a:solidFill>
                      <a:srgbClr val="FFB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𝟐𝟒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𝑽𝒐𝒍𝒕𝒔</m:t>
                    </m:r>
                  </m:oMath>
                </a14:m>
                <a:endParaRPr lang="en-PH" b="1" dirty="0">
                  <a:solidFill>
                    <a:srgbClr val="FFB000"/>
                  </a:solidFill>
                </a:endParaRPr>
              </a:p>
              <a:p>
                <a:endParaRPr lang="en-PH" sz="2800" dirty="0"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785104"/>
              </a:xfrm>
              <a:prstGeom prst="rect">
                <a:avLst/>
              </a:prstGeom>
              <a:blipFill>
                <a:blip r:embed="rId2"/>
                <a:stretch>
                  <a:fillRect l="-1317" t="-341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6388167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𝑉𝑜𝑙𝑡𝑠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𝑉𝑜𝑙𝑡𝑠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24 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𝑉𝑜𝑙𝑡𝑠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0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𝑉𝑜𝑙𝑡𝑠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6388167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24738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dirty="0"/>
              <a:t>What should be the tilt angle from the horizontal of the glass solar collector of a hybrid biomass-solar dryer located somewhere in </a:t>
            </a:r>
            <a:r>
              <a:rPr lang="en-PH" dirty="0" err="1"/>
              <a:t>Surigao</a:t>
            </a:r>
            <a:r>
              <a:rPr lang="en-PH" dirty="0"/>
              <a:t>, Philippines, having a longitude of 125 degrees and latitude of 9 degrees? Since Philippines is in northern hemisphere, the solar collector faces south or opposite hemisphere for maximum energy collection.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A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r>
                  <a:rPr lang="en-PH" dirty="0"/>
                  <a:t>	</a:t>
                </a:r>
                <a:r>
                  <a:rPr lang="en-PH" dirty="0">
                    <a:solidFill>
                      <a:srgbClr val="FFB000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𝐿𝑎𝑡𝑖𝑡𝑢𝑑𝑒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𝑡h𝑒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𝑠𝑖𝑡𝑒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𝑏𝑢𝑡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𝑚𝑖𝑛𝑖𝑚𝑢𝑚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10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𝑑𝑒𝑔𝑟𝑒𝑒𝑠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𝑠𝑒𝑙𝑓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𝑐𝑙𝑒𝑎𝑛𝑖𝑛𝑔</m:t>
                    </m:r>
                  </m:oMath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	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𝑑𝑒𝑔𝑟𝑒𝑒𝑠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;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𝑏𝑢𝑡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𝑐𝑜𝑛𝑠𝑡𝑟𝑎𝑖𝑛𝑒𝑑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10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𝑑𝑒𝑔𝑟𝑒𝑒𝑠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𝑚𝑖𝑛𝑖𝑚𝑢𝑚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𝑠𝑒𝑙𝑓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𝑐𝑙𝑒𝑎𝑛𝑖𝑛𝑔</m:t>
                    </m:r>
                  </m:oMath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	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𝒅𝒆𝒈𝒓𝒆𝒆𝒔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𝒎𝒊𝒏𝒊𝒎𝒖𝒎</m:t>
                    </m:r>
                  </m:oMath>
                </a14:m>
                <a:endParaRPr lang="en-PH" b="1" dirty="0">
                  <a:solidFill>
                    <a:srgbClr val="FFB000"/>
                  </a:solidFill>
                </a:endParaRPr>
              </a:p>
              <a:p>
                <a:endParaRPr lang="en-PH" sz="2800" dirty="0"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785104"/>
              </a:xfrm>
              <a:prstGeom prst="rect">
                <a:avLst/>
              </a:prstGeom>
              <a:blipFill>
                <a:blip r:embed="rId2"/>
                <a:stretch>
                  <a:fillRect l="-1317" t="-341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0757473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𝑑𝑒𝑔𝑟𝑒𝑒𝑠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𝑑𝑒𝑔𝑟𝑒𝑒𝑠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𝑑𝑒𝑔𝑟𝑒𝑒𝑠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𝑑𝑒𝑔𝑟𝑒𝑒𝑠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0757473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789571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In a transformer, the resistance from the 5000-turn primary coil is 200 ohms, what will be the resistance produced on the secondary coil if it has 10,000 turns of copper wire?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9550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B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r>
                  <a:rPr lang="en-PH" dirty="0"/>
                  <a:t>	</a:t>
                </a:r>
                <a:r>
                  <a:rPr lang="en-PH" dirty="0">
                    <a:solidFill>
                      <a:srgbClr val="FFB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en-PH" dirty="0">
                    <a:solidFill>
                      <a:srgbClr val="FFB000"/>
                    </a:solidFill>
                  </a:rPr>
                  <a:t>		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10000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5000</m:t>
                        </m:r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200Ω</m:t>
                        </m:r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𝟒𝟎𝟎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en-PH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955005"/>
              </a:xfrm>
              <a:prstGeom prst="rect">
                <a:avLst/>
              </a:prstGeom>
              <a:blipFill>
                <a:blip r:embed="rId2"/>
                <a:stretch>
                  <a:fillRect l="-1317" t="-636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3877068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𝑜h𝑚𝑠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𝑜h𝑚𝑠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𝑜h𝑚𝑠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𝑜h𝑚𝑠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3877068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659638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1.5 tons coco expeller was loaded full. It produced 800 kg of crude oil in 2 hours. What is its crude oil production rate?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9273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D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𝑝𝑟𝑜𝑑𝑢𝑐𝑡𝑖𝑜𝑛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𝑟𝑎𝑡𝑒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800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𝑘𝑔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h𝑟</m:t>
                        </m:r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𝟒𝟎𝟎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𝒌𝒈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𝒉𝒓</m:t>
                    </m:r>
                  </m:oMath>
                </a14:m>
                <a:endParaRPr lang="en-PH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927370"/>
              </a:xfrm>
              <a:prstGeom prst="rect">
                <a:avLst/>
              </a:prstGeom>
              <a:blipFill>
                <a:blip r:embed="rId2"/>
                <a:stretch>
                  <a:fillRect l="-1317" t="-6579" b="-65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102286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𝑘𝑔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/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h𝑟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𝑘𝑔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/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h𝑟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𝑘𝑔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/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h𝑟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400 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𝑘𝑔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/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h𝑟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102286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42676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What is the wind power of a wind pump having 5 meter diameter rotor at a wind speed of 4 m/sec.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971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B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𝑤𝑖𝑛𝑑𝑝𝑢𝑚𝑝</m:t>
                        </m:r>
                      </m:sub>
                    </m:sSub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𝑎𝑖𝑟</m:t>
                        </m:r>
                      </m:sub>
                    </m:sSub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PH" dirty="0">
                    <a:solidFill>
                      <a:srgbClr val="FFB000"/>
                    </a:solidFill>
                  </a:rPr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𝑤𝑖𝑛𝑑𝑝𝑢𝑚𝑝</m:t>
                        </m:r>
                      </m:sub>
                    </m:sSub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1.25</m:t>
                            </m:r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𝑘𝑔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p>
                                <m: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den>
                        </m:f>
                      </m:e>
                    </m:d>
                    <m:d>
                      <m:d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PH" i="1">
                                        <a:solidFill>
                                          <a:srgbClr val="FFB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PH" i="1">
                                        <a:solidFill>
                                          <a:srgbClr val="FFB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en-PH" i="1">
                                        <a:solidFill>
                                          <a:srgbClr val="FFB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(4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𝑠𝑒𝑐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𝟕𝟖𝟓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𝟒𝟎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𝒘𝒂𝒕𝒕𝒔</m:t>
                    </m:r>
                  </m:oMath>
                </a14:m>
                <a:endParaRPr lang="en-PH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971613"/>
              </a:xfrm>
              <a:prstGeom prst="rect">
                <a:avLst/>
              </a:prstGeom>
              <a:blipFill>
                <a:blip r:embed="rId2"/>
                <a:stretch>
                  <a:fillRect l="-1317" t="-628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9221218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753.6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𝑤𝑎𝑡𝑡𝑠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21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30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𝑤𝑎𝑡𝑡𝑠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785.40 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𝑤𝑎𝑡𝑡𝑠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43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20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𝑤𝑎𝑡𝑡𝑠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9221218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589346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wooden pole (SG=0.65), 9 cm by 9 cm by 5 m long, hangs vertically from a string in such a way that 3 m is submerged in water and 2 m is above the surface. What is the tension in the string?  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A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pPr algn="ctr"/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1.5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𝑀𝑁</m:t>
                        </m:r>
                      </m:num>
                      <m:den>
                        <m:sSup>
                          <m:sSup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PH" dirty="0">
                    <a:solidFill>
                      <a:srgbClr val="FFB000"/>
                    </a:solidFill>
                  </a:rPr>
                  <a:t>   	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1.5(9)(5)</m:t>
                        </m:r>
                      </m:num>
                      <m:den>
                        <m:sSup>
                          <m:sSup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(2)</m:t>
                            </m:r>
                          </m:e>
                          <m:sup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+3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𝟏𝟗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𝟖𝟕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PH" b="1" dirty="0">
                  <a:solidFill>
                    <a:srgbClr val="FFB000"/>
                  </a:solidFill>
                </a:endParaRPr>
              </a:p>
              <a:p>
                <a:endParaRPr lang="en-US" sz="2800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384995"/>
              </a:xfrm>
              <a:prstGeom prst="rect">
                <a:avLst/>
              </a:prstGeom>
              <a:blipFill>
                <a:blip r:embed="rId2"/>
                <a:stretch>
                  <a:fillRect l="-1317" t="-440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7220896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19.87 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8.96 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7.89 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6.97 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7220896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153233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How much energy is needed for a 5-volt source to move 4 coulombs of charge? 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5081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C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		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𝑄𝑉</m:t>
                    </m:r>
                  </m:oMath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   = (4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)(5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𝟐𝟎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𝑱𝒐𝒖𝒍𝒆𝒔</m:t>
                      </m:r>
                    </m:oMath>
                  </m:oMathPara>
                </a14:m>
                <a:endParaRPr lang="en-US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endParaRPr lang="en-US" sz="2800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508105"/>
              </a:xfrm>
              <a:prstGeom prst="rect">
                <a:avLst/>
              </a:prstGeom>
              <a:blipFill>
                <a:blip r:embed="rId2"/>
                <a:stretch>
                  <a:fillRect l="-1317" t="-404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05825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0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𝐽𝑜𝑢𝑙𝑒𝑠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𝐽𝑜𝑢𝑙𝑒𝑠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0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𝐽𝑜𝑢𝑙𝑒𝑠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𝐽𝑜𝑢𝑙𝑒𝑠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05825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582950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r>
              <a:rPr lang="en-PH" sz="2800" dirty="0"/>
              <a:t>A motor draws 10 A from a 220 V supply at a power factor of 0.75. If the power delivered is 1.4 </a:t>
            </a:r>
            <a:r>
              <a:rPr lang="en-PH" sz="2800" dirty="0" err="1"/>
              <a:t>hp</a:t>
            </a:r>
            <a:r>
              <a:rPr lang="en-PH" sz="2800" dirty="0"/>
              <a:t>, what is the efficiency of the motor? </a:t>
            </a:r>
          </a:p>
          <a:p>
            <a:br>
              <a:rPr lang="en-PH" sz="2800" dirty="0"/>
            </a:b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322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D 	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  <a14:m>
                  <m:oMath xmlns:m="http://schemas.openxmlformats.org/officeDocument/2006/math"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0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=220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0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𝑃𝑓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=0.75</m:t>
                    </m:r>
                    <m:r>
                      <a:rPr lang="en-US" b="0" i="0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=1.4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h𝑝</m:t>
                    </m:r>
                  </m:oMath>
                </a14:m>
                <a:endParaRPr lang="en-PH" dirty="0">
                  <a:solidFill>
                    <a:srgbClr val="FFB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𝐸𝑓𝑓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US" b="0" i="0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≫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𝐸𝑓𝑓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1.4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h𝑝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746</m:t>
                              </m:r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𝑤𝑎𝑡𝑡𝑠</m:t>
                              </m:r>
                            </m:num>
                            <m:den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PH" i="1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h𝑝</m:t>
                              </m:r>
                            </m:den>
                          </m:f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(220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)(10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)(0.75)</m:t>
                          </m:r>
                        </m:den>
                      </m:f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b="0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100=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𝟔𝟑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PH" b="1" dirty="0">
                  <a:solidFill>
                    <a:srgbClr val="FFB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322285"/>
              </a:xfrm>
              <a:prstGeom prst="rect">
                <a:avLst/>
              </a:prstGeom>
              <a:blipFill>
                <a:blip r:embed="rId2"/>
                <a:stretch>
                  <a:fillRect l="-1317" t="-460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574785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.3%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.3%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.3%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.3%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574785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976564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r>
              <a:rPr lang="en-PH" sz="2800" dirty="0"/>
              <a:t>The pressure of a boiler is 9.5 kg/cm</a:t>
            </a:r>
            <a:r>
              <a:rPr lang="en-PH" sz="2800" baseline="30000" dirty="0"/>
              <a:t>2</a:t>
            </a:r>
            <a:r>
              <a:rPr lang="en-PH" sz="2800" dirty="0"/>
              <a:t>. The barometric pressure of atmosphere is 768 mmHg. Find the absolute pressure in the boiler. </a:t>
            </a:r>
          </a:p>
          <a:p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 	</a:t>
            </a:r>
            <a:endParaRPr lang="en-P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3504088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  <m:r>
                                    <a:rPr lang="en-PH" sz="2800" b="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.55</m:t>
                                  </m:r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𝑘𝑔</m:t>
                                  </m:r>
                                  <m:r>
                                    <a:rPr lang="en-US" sz="2800" b="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</m:t>
                                  </m:r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𝑐𝑚</m:t>
                                  </m:r>
                                </m:e>
                                <m:sup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PH" sz="2800" b="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.55</m:t>
                                  </m:r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𝑘𝑔</m:t>
                                  </m:r>
                                  <m:r>
                                    <a:rPr lang="en-US" sz="2800" b="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</m:t>
                                  </m:r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𝑐𝑚</m:t>
                                  </m:r>
                                </m:e>
                                <m:sup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10.55</m:t>
                                  </m:r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𝑘𝑔</m:t>
                                  </m:r>
                                  <m:r>
                                    <a:rPr lang="en-US" sz="2800" b="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</m:t>
                                  </m:r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𝑐𝑚</m:t>
                                  </m:r>
                                </m:e>
                                <m:sup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  <m:r>
                                    <a:rPr lang="en-PH" sz="2800" b="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.55</m:t>
                                  </m:r>
                                  <m:r>
                                    <a:rPr lang="en-PH" sz="280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𝑘𝑔</m:t>
                                  </m:r>
                                  <m:r>
                                    <a:rPr lang="en-US" sz="2800" b="0" i="1" kern="1200" smtClean="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</m:t>
                                  </m:r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𝑐𝑚</m:t>
                                  </m:r>
                                </m:e>
                                <m:sup>
                                  <m:r>
                                    <a:rPr lang="en-PH" sz="2800" i="1" kern="1200">
                                      <a:solidFill>
                                        <a:srgbClr val="FFB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3504088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08832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334" y="2160589"/>
                <a:ext cx="9115252" cy="388077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PH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Solution: </a:t>
                </a:r>
                <a:r>
                  <a:rPr lang="en-PH" sz="2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Patm</a:t>
                </a:r>
                <a:r>
                  <a:rPr lang="en-PH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=768mmHg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𝑎𝑏𝑠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𝑎𝑡𝑚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endParaRPr lang="en-PH" sz="2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PH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  </a:t>
                </a:r>
                <a:r>
                  <a:rPr lang="en-PH" sz="2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Pg</a:t>
                </a:r>
                <a:r>
                  <a:rPr lang="en-PH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=9.5 kg/cm</a:t>
                </a:r>
                <a:r>
                  <a:rPr lang="en-PH" sz="2800" baseline="30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	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𝑎𝑏𝑠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=768</m:t>
                    </m:r>
                    <m:r>
                      <a:rPr lang="en-P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𝑚𝑚𝐻𝑔</m:t>
                    </m:r>
                    <m:r>
                      <a:rPr lang="en-P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9.5</m:t>
                        </m:r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𝑘𝑔</m:t>
                        </m:r>
                      </m:num>
                      <m:den>
                        <m:sSup>
                          <m:sSupPr>
                            <m:ctrlPr>
                              <a:rPr lang="en-PH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𝑐𝑚</m:t>
                            </m:r>
                          </m:e>
                          <m:sup>
                            <m:r>
                              <a:rPr lang="en-PH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PH" sz="2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PH" sz="2800" baseline="30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</a:t>
                </a:r>
                <a:r>
                  <a:rPr lang="en-PH" sz="2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Pabs</a:t>
                </a:r>
                <a:r>
                  <a:rPr lang="en-PH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=?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𝑎𝑏𝑠</m:t>
                          </m:r>
                        </m:sub>
                      </m:sSub>
                      <m:r>
                        <a:rPr lang="en-PH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=768</m:t>
                      </m:r>
                      <m:r>
                        <a:rPr lang="en-PH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𝑚𝑚𝐻𝑔</m:t>
                      </m:r>
                      <m:r>
                        <a:rPr lang="en-PH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14.7</m:t>
                              </m:r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𝑙𝑏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𝑖𝑛</m:t>
                                  </m:r>
                                </m:e>
                                <m:sup>
                                  <m: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num>
                        <m:den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760</m:t>
                          </m:r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𝑚𝑚𝐻𝑔</m:t>
                          </m:r>
                        </m:den>
                      </m:f>
                      <m:r>
                        <a:rPr lang="en-PH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)(</m:t>
                      </m:r>
                      <m:f>
                        <m:fPr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𝑘𝑔</m:t>
                          </m:r>
                        </m:num>
                        <m:den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2.2</m:t>
                          </m:r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𝑙𝑏</m:t>
                          </m:r>
                        </m:den>
                      </m:f>
                      <m:r>
                        <a:rPr lang="en-PH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𝑖𝑛</m:t>
                                  </m:r>
                                </m:num>
                                <m:den>
                                  <m: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2.54</m:t>
                                  </m:r>
                                  <m:r>
                                    <a:rPr lang="en-PH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𝑐𝑚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9.5</m:t>
                          </m:r>
                          <m: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𝑘𝑔</m:t>
                          </m:r>
                        </m:num>
                        <m:den>
                          <m:sSup>
                            <m:sSupPr>
                              <m:ctrlP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𝑐𝑚</m:t>
                              </m:r>
                            </m:e>
                            <m:sup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PH" sz="2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PH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𝑎𝑏𝑠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=1.05+9.5</m:t>
                    </m:r>
                  </m:oMath>
                </a14:m>
                <a:endParaRPr lang="en-PH" sz="2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PH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𝒂𝒃𝒔</m:t>
                        </m:r>
                      </m:sub>
                    </m:sSub>
                    <m:r>
                      <a:rPr lang="en-PH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𝟏𝟎</m:t>
                        </m:r>
                        <m: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𝟓𝟓</m:t>
                        </m:r>
                        <m:r>
                          <a:rPr lang="en-PH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𝒌𝒈</m:t>
                        </m:r>
                      </m:num>
                      <m:den>
                        <m:sSup>
                          <m:sSupPr>
                            <m:ctrlPr>
                              <a:rPr lang="en-PH" sz="2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sz="2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𝒄𝒎</m:t>
                            </m:r>
                          </m:e>
                          <m:sup>
                            <m:r>
                              <a:rPr lang="en-PH" sz="2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den>
                    </m:f>
                  </m:oMath>
                </a14:m>
                <a:endParaRPr lang="en-PH" sz="28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800" i="1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334" y="2160589"/>
                <a:ext cx="9115252" cy="3880773"/>
              </a:xfrm>
              <a:blipFill>
                <a:blip r:embed="rId2"/>
                <a:stretch>
                  <a:fillRect l="-669" t="-235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00848749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Calculate the quantity of heat energy required to boil 10 kg of water from an initial temperature of 23°C.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A 	</a:t>
            </a:r>
            <a:endParaRPr lang="en-P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1418992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=3226.3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𝑘𝐽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</a:t>
                          </a:r>
                          <a:r>
                            <a:rPr lang="en-US" sz="2800" b="0" kern="1200" dirty="0">
                              <a:solidFill>
                                <a:srgbClr val="FFB000"/>
                              </a:solidFill>
                              <a:effectLst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=3176.3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𝑘𝐽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=3366.3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𝑘𝐽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=3416.3 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𝑘𝐽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1418992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94148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334" y="2160589"/>
                <a:ext cx="9115252" cy="388077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PH" sz="2800" dirty="0">
                    <a:latin typeface="Arial Narrow" panose="020B0606020202030204" pitchFamily="34" charset="0"/>
                  </a:rPr>
                  <a:t>M = 10kg 	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𝑀𝐶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PH" sz="2800" dirty="0">
                  <a:latin typeface="Arial Narrow" panose="020B0606020202030204" pitchFamily="34" charset="0"/>
                </a:endParaRPr>
              </a:p>
              <a:p>
                <a:pPr marL="0" indent="0">
                  <a:buNone/>
                </a:pPr>
                <a:r>
                  <a:rPr lang="en-PH" sz="2800" dirty="0">
                    <a:latin typeface="Arial Narrow" panose="020B0606020202030204" pitchFamily="34" charset="0"/>
                  </a:rPr>
                  <a:t>	T=23°C		     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=10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4.19</m:t>
                        </m:r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𝑘𝐽</m:t>
                        </m:r>
                      </m:num>
                      <m:den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𝑘𝑔</m:t>
                        </m:r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PH" sz="2800" i="1">
                        <a:latin typeface="Cambria Math" panose="02040503050406030204" pitchFamily="18" charset="0"/>
                      </a:rPr>
                      <m:t>)(100°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−23°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PH" sz="2800" dirty="0">
                  <a:latin typeface="Arial Narrow" panose="020B0606020202030204" pitchFamily="34" charset="0"/>
                </a:endParaRPr>
              </a:p>
              <a:p>
                <a:pPr marL="0" indent="0">
                  <a:buNone/>
                </a:pPr>
                <a:r>
                  <a:rPr lang="en-PH" sz="2800" dirty="0">
                    <a:latin typeface="Arial Narrow" panose="020B0606020202030204" pitchFamily="34" charset="0"/>
                  </a:rPr>
                  <a:t>	C=4.19 kJ/</a:t>
                </a:r>
                <a:r>
                  <a:rPr lang="en-PH" sz="2800" dirty="0" err="1">
                    <a:latin typeface="Arial Narrow" panose="020B0606020202030204" pitchFamily="34" charset="0"/>
                  </a:rPr>
                  <a:t>kg.C</a:t>
                </a:r>
                <a:r>
                  <a:rPr lang="en-PH" sz="2800" b="1" dirty="0">
                    <a:latin typeface="Arial Narrow" panose="020B060602020203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PH" sz="2800" b="1" i="1">
                        <a:latin typeface="Cambria Math" panose="02040503050406030204" pitchFamily="18" charset="0"/>
                      </a:rPr>
                      <m:t>𝑸</m:t>
                    </m:r>
                    <m:r>
                      <a:rPr lang="en-PH" sz="28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b="1" i="1">
                        <a:latin typeface="Cambria Math" panose="02040503050406030204" pitchFamily="18" charset="0"/>
                      </a:rPr>
                      <m:t>𝟑𝟐𝟐𝟔</m:t>
                    </m:r>
                    <m:r>
                      <a:rPr lang="en-PH" sz="2800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sz="2800" b="1" i="1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PH" sz="2800" b="1" i="1">
                        <a:latin typeface="Cambria Math" panose="02040503050406030204" pitchFamily="18" charset="0"/>
                      </a:rPr>
                      <m:t>𝒌𝑱</m:t>
                    </m:r>
                  </m:oMath>
                </a14:m>
                <a:endParaRPr lang="en-PH" sz="2800" b="1" dirty="0">
                  <a:latin typeface="Arial Narrow" panose="020B0606020202030204" pitchFamily="34" charset="0"/>
                </a:endParaRPr>
              </a:p>
              <a:p>
                <a:endParaRPr lang="en-US" sz="2800" i="1" dirty="0">
                  <a:solidFill>
                    <a:srgbClr val="FF0000"/>
                  </a:solidFill>
                  <a:latin typeface="Arial Narrow" panose="020B060602020203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334" y="2160589"/>
                <a:ext cx="9115252" cy="3880773"/>
              </a:xfrm>
              <a:blipFill>
                <a:blip r:embed="rId2"/>
                <a:stretch>
                  <a:fillRect l="-1338" t="-157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07569516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40 watt fluorescent lamp 120 cm long produces 3200 lumens of light in a room having a general dimension of 10x20 ft. find the illumination on the floor.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4800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D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PH" i="1" smtClean="0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3200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𝑙𝑢𝑚𝑒𝑛𝑠</m:t>
                          </m:r>
                        </m:num>
                        <m:den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𝟏𝟔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𝒇𝒕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𝒄𝒂𝒏𝒅𝒍𝒆</m:t>
                      </m:r>
                    </m:oMath>
                  </m:oMathPara>
                </a14:m>
                <a:endParaRPr lang="en-PH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	</a:t>
                </a:r>
                <a:endParaRPr lang="en-PH" sz="2800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480021"/>
              </a:xfrm>
              <a:prstGeom prst="rect">
                <a:avLst/>
              </a:prstGeom>
              <a:blipFill>
                <a:blip r:embed="rId2"/>
                <a:stretch>
                  <a:fillRect l="-1317" t="-411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4708170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16 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4708170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637587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Compute the brightness of a fixture with a 1’x4’ plastic diffuser having a transmittance of 0.6 and illuminated by 2 pcs of 3200lm lamp assuming 100% use of light flux.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050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A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3200</m:t>
                      </m:r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2=</m:t>
                      </m:r>
                      <m:f>
                        <m:fPr>
                          <m:ctrlP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(1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4)</m:t>
                          </m:r>
                        </m:num>
                        <m:den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0.6</m:t>
                          </m:r>
                        </m:den>
                      </m:f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𝟗𝟔𝟎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𝒇𝒕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𝒄𝒂𝒏𝒅𝒍𝒆</m:t>
                      </m:r>
                    </m:oMath>
                  </m:oMathPara>
                </a14:m>
                <a:endParaRPr lang="en-PH" b="1" dirty="0">
                  <a:solidFill>
                    <a:srgbClr val="FFB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050800"/>
              </a:xfrm>
              <a:prstGeom prst="rect">
                <a:avLst/>
              </a:prstGeom>
              <a:blipFill>
                <a:blip r:embed="rId2"/>
                <a:stretch>
                  <a:fillRect l="-1317" t="-581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4401335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960 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16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660 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46</m:t>
                              </m:r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𝑓𝑜𝑜𝑡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en-US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𝑐𝑎𝑛𝑑𝑙𝑒𝑠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4401335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537378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school classroom with a general dimension of 24 </a:t>
            </a:r>
            <a:r>
              <a:rPr lang="en-PH" sz="2800" dirty="0" err="1"/>
              <a:t>ft</a:t>
            </a:r>
            <a:r>
              <a:rPr lang="en-PH" sz="2800" dirty="0"/>
              <a:t> by 30 </a:t>
            </a:r>
            <a:r>
              <a:rPr lang="en-PH" sz="2800" dirty="0" err="1"/>
              <a:t>ft</a:t>
            </a:r>
            <a:r>
              <a:rPr lang="en-PH" sz="2800" dirty="0"/>
              <a:t> is lighted with 10 fixtures of four F40 T10 fluorescent lamp (3550 lumens). Calculate the maintained illumination and lumens produced assuming that CU is 0.35 and LLF is 0.70.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6364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D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</a:p>
              <a:p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				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3550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4=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(24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30)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0.35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0.70</m:t>
                        </m:r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𝟒𝟖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𝟑𝟐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𝒇𝒕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𝒄𝒂𝒏𝒅𝒍𝒆</m:t>
                    </m:r>
                  </m:oMath>
                </a14:m>
                <a:r>
                  <a:rPr lang="en-PH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     </a:t>
                </a:r>
              </a:p>
              <a:p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				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3550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4=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𝟏𝟒𝟐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𝒍𝒎</m:t>
                    </m:r>
                  </m:oMath>
                </a14:m>
                <a:endParaRPr lang="en-PH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endParaRPr lang="en-US" sz="2800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636474"/>
              </a:xfrm>
              <a:prstGeom prst="rect">
                <a:avLst/>
              </a:prstGeom>
              <a:blipFill>
                <a:blip r:embed="rId2"/>
                <a:stretch>
                  <a:fillRect l="-1317" t="-371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6075647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895130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366238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42.32 </a:t>
                      </a:r>
                      <a:r>
                        <a:rPr lang="en-PH" sz="2800" b="0" kern="1200" dirty="0" err="1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ft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-candle and 144,000 lm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44.32 </a:t>
                      </a:r>
                      <a:r>
                        <a:rPr lang="en-PH" sz="2800" b="0" kern="1200" dirty="0" err="1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ft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-candle and 148,000 lm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46.32 </a:t>
                      </a:r>
                      <a:r>
                        <a:rPr lang="en-PH" sz="2800" b="0" kern="1200" dirty="0" err="1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ft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-candle and 143,000 lm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48.32 </a:t>
                      </a:r>
                      <a:r>
                        <a:rPr lang="en-PH" sz="2800" b="0" kern="1200" dirty="0" err="1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ft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-candle and 142,000 lm</a:t>
                      </a:r>
                      <a:r>
                        <a:rPr lang="en-PH" sz="280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.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425848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2.4-tonne capacity Jatropha oil expeller was loaded full with dried Jatropha seeds in 4 minutes. It produced 600 kg of crude oil in 2 hours. What is its crude oil production rate?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0491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A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𝑜𝑖𝑙</m:t>
                      </m:r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𝑝𝑟𝑜𝑑𝑢𝑐𝑡𝑖𝑜𝑛</m:t>
                      </m:r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𝑟𝑎𝑡𝑒</m:t>
                      </m:r>
                      <m:r>
                        <a:rPr lang="en-PH" i="1" smtClean="0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600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𝑘𝑔</m:t>
                          </m:r>
                        </m:num>
                        <m:den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2 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h𝑟𝑠</m:t>
                          </m:r>
                        </m:den>
                      </m:f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𝟑𝟎𝟎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𝒌𝒈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𝒉𝒓</m:t>
                      </m:r>
                    </m:oMath>
                  </m:oMathPara>
                </a14:m>
                <a:endParaRPr lang="en-US" sz="2800" b="1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049198"/>
              </a:xfrm>
              <a:prstGeom prst="rect">
                <a:avLst/>
              </a:prstGeom>
              <a:blipFill>
                <a:blip r:embed="rId2"/>
                <a:stretch>
                  <a:fillRect l="-1317" t="-581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37500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300 kg/h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600 kg/h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 kg/h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600 kg/min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966324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What is the peak amperage of a solar battery charging station equipped with 16 units of 75 watt-peak 4.16-ampere solar module? The system is divided into 4 charging channels, each channel has 4 modules connected in parallel.   </a:t>
            </a:r>
          </a:p>
          <a:p>
            <a:pPr algn="just"/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C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 </a:t>
                </a:r>
                <a:endParaRPr lang="en-PH" i="1" dirty="0">
                  <a:solidFill>
                    <a:srgbClr val="FFB000"/>
                  </a:solidFill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</a:rPr>
                  <a:t> 				</a:t>
                </a:r>
                <a14:m>
                  <m:oMath xmlns:m="http://schemas.openxmlformats.org/officeDocument/2006/math"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𝑁𝑜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𝑀𝑜𝑑𝑢𝑙𝑒𝑠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𝑐h𝑎𝑛𝑛𝑒𝑙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𝑀𝑜𝑑𝑢𝑙𝑒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𝑎𝑚𝑝𝑒𝑟𝑎𝑔𝑒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𝑟𝑎𝑡𝑖𝑛𝑔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PH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    			 	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=(4) (4.16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  </a:t>
                </a:r>
              </a:p>
              <a:p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   				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=16.64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PH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 </a:t>
                </a:r>
                <a:endParaRPr lang="en-PH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  <a:p>
                <a:endParaRPr lang="en-US" sz="2800" dirty="0">
                  <a:solidFill>
                    <a:srgbClr val="FFB000"/>
                  </a:solidFill>
                  <a:latin typeface="Arial Narrow" panose="020B0606020202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785104"/>
              </a:xfrm>
              <a:prstGeom prst="rect">
                <a:avLst/>
              </a:prstGeom>
              <a:blipFill>
                <a:blip r:embed="rId2"/>
                <a:stretch>
                  <a:fillRect l="-1317" t="-341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212760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32.2A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16.6A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25.4A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NOTA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41922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How many 75 watt-peak solar modules are needed for a solar powered incubator having a power rating of 144 watts, system voltage of 48 volts and amperage of 6 amperes? All solar modules used have 12 volts nominal voltage and 4.6 amperes peak amperage.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</a:rPr>
              <a:t>B </a:t>
            </a:r>
            <a:endParaRPr lang="en-PH" dirty="0"/>
          </a:p>
          <a:p>
            <a:endParaRPr lang="en-US" sz="2800" dirty="0">
              <a:solidFill>
                <a:srgbClr val="FFB000"/>
              </a:solidFill>
              <a:latin typeface="Arial Narrow" panose="020B0606020202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80733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 modules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 modules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 modules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NOTA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4258577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334" y="1597881"/>
                <a:ext cx="9115252" cy="388077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𝑁𝑜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𝑀𝑜𝑑𝑢𝑙𝑒𝑠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𝑠𝑒𝑟𝑖𝑒𝑠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𝑁𝑜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𝑀𝑜𝑑𝑢𝑙𝑒𝑠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𝑝𝑎𝑟𝑎𝑙𝑙𝑒𝑙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PH" sz="2800" dirty="0"/>
                  <a:t>      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𝑁𝑜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𝑀𝑜𝑑𝑢𝑙𝑒𝑠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𝑟𝑜𝑢𝑛𝑑𝑒𝑑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𝑢𝑝</m:t>
                    </m:r>
                  </m:oMath>
                </a14:m>
                <a:endParaRPr lang="en-PH" sz="2800" dirty="0"/>
              </a:p>
              <a:p>
                <a:pPr marL="0" indent="0">
                  <a:buNone/>
                </a:pPr>
                <a:r>
                  <a:rPr lang="en-PH" sz="2800" dirty="0"/>
                  <a:t>                              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𝑆𝑦𝑠𝑡𝑒𝑚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𝑣𝑜𝑙𝑡𝑎𝑔𝑒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𝑁𝑜𝑚𝑖𝑛𝑎𝑙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𝑣𝑜𝑙𝑡𝑎𝑔𝑒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)(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𝑆𝑦𝑠𝑡𝑒𝑚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𝑎𝑚𝑝𝑒𝑟𝑎𝑔𝑒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𝑚𝑜𝑑𝑢𝑙𝑒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𝑎𝑚𝑝𝑒𝑟𝑎𝑔𝑒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PH" sz="2800" dirty="0"/>
              </a:p>
              <a:p>
                <a:pPr marL="0" indent="0">
                  <a:buNone/>
                </a:pPr>
                <a:r>
                  <a:rPr lang="en-PH" sz="2800" dirty="0"/>
                  <a:t>		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=(48/12)(6/4.16)</m:t>
                    </m:r>
                  </m:oMath>
                </a14:m>
                <a:endParaRPr lang="en-PH" sz="2800" dirty="0"/>
              </a:p>
              <a:p>
                <a:pPr marL="0" indent="0">
                  <a:buNone/>
                </a:pPr>
                <a:r>
                  <a:rPr lang="en-PH" sz="2800" dirty="0"/>
                  <a:t>		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=(4)(1.3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𝑟𝑜𝑢𝑛𝑑𝑒𝑑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𝑢𝑝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2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𝑎𝑣𝑜𝑖𝑑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𝑢𝑛𝑑𝑒𝑟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𝑐𝑢𝑟𝑟𝑒𝑛𝑡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PH" sz="2800" dirty="0"/>
              </a:p>
              <a:p>
                <a:pPr marL="0" indent="0">
                  <a:buNone/>
                </a:pPr>
                <a:r>
                  <a:rPr lang="en-PH" sz="2800" dirty="0"/>
                  <a:t>		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=8 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𝑚𝑜𝑑𝑢𝑙𝑒𝑠</m:t>
                    </m:r>
                  </m:oMath>
                </a14:m>
                <a:endParaRPr lang="en-PH" sz="2800" dirty="0"/>
              </a:p>
              <a:p>
                <a:endParaRPr lang="en-US" sz="2800" i="1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334" y="1597881"/>
                <a:ext cx="9115252" cy="3880773"/>
              </a:xfrm>
              <a:blipFill>
                <a:blip r:embed="rId2"/>
                <a:stretch>
                  <a:fillRect b="-2182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335568968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beam needs 4 pcs of 20 mm RSB. If there is no available 20 mm RSB, how many 16 mm RSB can substitute for 20 mm?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2470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D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</a:rPr>
                  <a:t>SOLUTION:</a:t>
                </a:r>
              </a:p>
              <a:p>
                <a:pPr algn="ctr"/>
                <a:r>
                  <a:rPr lang="en-PH" dirty="0">
                    <a:solidFill>
                      <a:srgbClr val="FFB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𝑛𝑜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𝑅𝑆𝐵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f>
                          <m:f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  <m:t>(20)</m:t>
                                </m:r>
                              </m:e>
                              <m:sup>
                                <m: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num>
                      <m:den>
                        <m:f>
                          <m:fPr>
                            <m:ctrlP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  <m:t>(16)</m:t>
                                </m:r>
                              </m:e>
                              <m:sup>
                                <m:r>
                                  <a:rPr lang="en-PH" i="1">
                                    <a:solidFill>
                                      <a:srgbClr val="FFB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PH" i="1">
                                <a:solidFill>
                                  <a:srgbClr val="FFB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=6.25≈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𝟕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𝒑𝒄𝒔</m:t>
                    </m:r>
                  </m:oMath>
                </a14:m>
                <a:endParaRPr lang="en-PH" b="1" dirty="0">
                  <a:solidFill>
                    <a:srgbClr val="FFB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247073"/>
              </a:xfrm>
              <a:prstGeom prst="rect">
                <a:avLst/>
              </a:prstGeom>
              <a:blipFill>
                <a:blip r:embed="rId2"/>
                <a:stretch>
                  <a:fillRect l="-1317" t="-487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5931904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4</a:t>
                      </a:r>
                      <a:r>
                        <a:rPr lang="en-US" sz="2800" baseline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pcs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6</a:t>
                      </a:r>
                      <a:r>
                        <a:rPr lang="en-US" sz="2800" baseline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pcs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5</a:t>
                      </a:r>
                      <a:r>
                        <a:rPr lang="en-US" sz="2800" baseline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pcs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US" sz="280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7</a:t>
                      </a:r>
                      <a:r>
                        <a:rPr lang="en-US" sz="2800" baseline="0" dirty="0">
                          <a:solidFill>
                            <a:srgbClr val="FFB000"/>
                          </a:solidFill>
                          <a:latin typeface="Arial Narrow" panose="020B0606020202030204" pitchFamily="34" charset="0"/>
                        </a:rPr>
                        <a:t> pcs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8778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For an 8-A current to produce 10-C charge, how much time is needed?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447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C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SOLUTION: </a:t>
                </a:r>
              </a:p>
              <a:p>
                <a:r>
                  <a:rPr lang="en-PH" dirty="0">
                    <a:latin typeface="Arial Narrow" panose="020B0606020202030204" pitchFamily="34" charset="0"/>
                    <a:cs typeface="Arial" panose="020B0604020202020204" pitchFamily="34" charset="0"/>
                  </a:rPr>
                  <a:t>					 </a:t>
                </a:r>
                <a14:m>
                  <m:oMath xmlns:m="http://schemas.openxmlformats.org/officeDocument/2006/math"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PH" i="1" smtClean="0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 	   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𝐶𝑜𝑢𝑙𝑜𝑚𝑏𝑠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 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PH" i="1">
                              <a:solidFill>
                                <a:srgbClr val="FFB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en-PH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𝟐𝟓</m:t>
                      </m:r>
                      <m:r>
                        <a:rPr lang="en-PH" b="1" i="1">
                          <a:solidFill>
                            <a:srgbClr val="FFB000"/>
                          </a:solidFill>
                          <a:latin typeface="Cambria Math" panose="02040503050406030204" pitchFamily="18" charset="0"/>
                        </a:rPr>
                        <m:t>𝒔𝒆𝒄</m:t>
                      </m:r>
                    </m:oMath>
                  </m:oMathPara>
                </a14:m>
                <a:endParaRPr lang="en-PH" b="1" dirty="0">
                  <a:solidFill>
                    <a:srgbClr val="FFB000"/>
                  </a:solidFill>
                  <a:latin typeface="Arial Narrow" panose="020B060602020203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447704"/>
              </a:xfrm>
              <a:prstGeom prst="rect">
                <a:avLst/>
              </a:prstGeom>
              <a:blipFill>
                <a:blip r:embed="rId2"/>
                <a:stretch>
                  <a:fillRect l="-1317" t="-420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58035992-2F82-4BDB-BF16-DFB2FD205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683154"/>
              </p:ext>
            </p:extLst>
          </p:nvPr>
        </p:nvGraphicFramePr>
        <p:xfrm>
          <a:off x="1092432" y="4141156"/>
          <a:ext cx="10261368" cy="103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40588">
                  <a:extLst>
                    <a:ext uri="{9D8B030D-6E8A-4147-A177-3AD203B41FA5}">
                      <a16:colId xmlns:a16="http://schemas.microsoft.com/office/drawing/2014/main" val="1687645108"/>
                    </a:ext>
                  </a:extLst>
                </a:gridCol>
                <a:gridCol w="5120780">
                  <a:extLst>
                    <a:ext uri="{9D8B030D-6E8A-4147-A177-3AD203B41FA5}">
                      <a16:colId xmlns:a16="http://schemas.microsoft.com/office/drawing/2014/main" val="2798258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A.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0.80 sec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C.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1.25 sec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B.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0.16 sec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rgbClr val="840202"/>
                          </a:solidFill>
                          <a:latin typeface="Arial Narrow" panose="020B0606020202030204" pitchFamily="34" charset="0"/>
                        </a:rPr>
                        <a:t>D. </a:t>
                      </a:r>
                      <a:r>
                        <a:rPr lang="en-PH" sz="2800" b="0" kern="1200" dirty="0">
                          <a:solidFill>
                            <a:srgbClr val="FFB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1.80 sec </a:t>
                      </a:r>
                      <a:endParaRPr lang="en-PH" sz="2800" b="0" dirty="0">
                        <a:solidFill>
                          <a:srgbClr val="FFB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54518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606418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Given: voltage=120 V; current=2 A; charge= 10 C. what is the time.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/>
              <p:nvPr/>
            </p:nvSpPr>
            <p:spPr>
              <a:xfrm>
                <a:off x="1092432" y="5407665"/>
                <a:ext cx="9259266" cy="12002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840202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ANSWER: </a:t>
                </a:r>
                <a:r>
                  <a:rPr lang="en-US" sz="2800" b="1" dirty="0">
                    <a:solidFill>
                      <a:srgbClr val="FFB000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A </a:t>
                </a:r>
                <a:r>
                  <a:rPr lang="en-US" sz="2800" dirty="0">
                    <a:solidFill>
                      <a:srgbClr val="FFB000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SOLUTION: </a:t>
                </a:r>
              </a:p>
              <a:p>
                <a:r>
                  <a:rPr lang="en-PH" dirty="0">
                    <a:latin typeface="Arial Narrow" panose="020B0606020202030204" pitchFamily="34" charset="0"/>
                    <a:cs typeface="Arial" panose="020B0604020202020204" pitchFamily="34" charset="0"/>
                  </a:rPr>
                  <a:t>	</a:t>
                </a:r>
                <a:r>
                  <a:rPr lang="en-PH" dirty="0">
                    <a:solidFill>
                      <a:srgbClr val="FFB000"/>
                    </a:solidFill>
                    <a:latin typeface="Arial Narrow" panose="020B0606020202030204" pitchFamily="34" charset="0"/>
                    <a:cs typeface="Arial" panose="020B0604020202020204" pitchFamily="34" charset="0"/>
                  </a:rPr>
                  <a:t>			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PH" dirty="0">
                    <a:solidFill>
                      <a:srgbClr val="FFB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en-PH" dirty="0">
                    <a:solidFill>
                      <a:srgbClr val="FFB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PH" i="1">
                            <a:solidFill>
                              <a:srgbClr val="FFB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den>
                    </m:f>
                    <m:r>
                      <a:rPr lang="en-PH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PH" b="1" i="1">
                        <a:solidFill>
                          <a:srgbClr val="FFB000"/>
                        </a:solidFill>
                        <a:latin typeface="Cambria Math" panose="02040503050406030204" pitchFamily="18" charset="0"/>
                      </a:rPr>
                      <m:t>𝒔𝒆𝒄</m:t>
                    </m:r>
                  </m:oMath>
                </a14:m>
                <a:r>
                  <a:rPr lang="en-PH" dirty="0"/>
                  <a:t>	</a:t>
                </a:r>
              </a:p>
              <a:p>
                <a:endParaRPr lang="en-PH" dirty="0">
                  <a:latin typeface="Arial Narrow" panose="020B060602020203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27E28-9CE3-4281-B38B-A78E2D75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32" y="5407665"/>
                <a:ext cx="9259266" cy="1200265"/>
              </a:xfrm>
              <a:prstGeom prst="rect">
                <a:avLst/>
              </a:prstGeom>
              <a:blipFill>
                <a:blip r:embed="rId2"/>
                <a:stretch>
                  <a:fillRect l="-1317" t="-507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84711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PH" sz="2800" b="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PH" sz="280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𝑠𝑒𝑐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9 </m:t>
                              </m:r>
                              <m:r>
                                <a:rPr lang="en-PH" sz="280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𝑠𝑒𝑐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7 </m:t>
                              </m:r>
                              <m:r>
                                <a:rPr lang="en-PH" sz="280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𝑠𝑒𝑐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11 </m:t>
                              </m:r>
                              <m:r>
                                <a:rPr lang="en-PH" sz="2800" i="1" smtClean="0">
                                  <a:solidFill>
                                    <a:srgbClr val="FFB000"/>
                                  </a:solidFill>
                                  <a:latin typeface="Cambria Math" panose="02040503050406030204" pitchFamily="18" charset="0"/>
                                </a:rPr>
                                <m:t>𝑠𝑒𝑐</m:t>
                              </m:r>
                            </m:oMath>
                          </a14:m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84711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28804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9CF12B1-7D3F-4C3E-BC23-AC574B16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840202"/>
                </a:solidFill>
              </a:rPr>
              <a:t>QUESTION </a:t>
            </a:r>
            <a:r>
              <a:rPr lang="en-US" b="1" dirty="0">
                <a:solidFill>
                  <a:srgbClr val="FFB000"/>
                </a:solidFill>
              </a:rPr>
              <a:t>(</a:t>
            </a:r>
            <a:r>
              <a:rPr lang="en-PH" b="1" dirty="0">
                <a:solidFill>
                  <a:srgbClr val="FFB000"/>
                </a:solidFill>
              </a:rPr>
              <a:t>Area 3: Recalled Problems</a:t>
            </a:r>
            <a:r>
              <a:rPr lang="en-US" b="1" dirty="0">
                <a:solidFill>
                  <a:srgbClr val="FFB000"/>
                </a:solidFill>
              </a:rPr>
              <a:t>)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4AB62E-D26E-4901-855F-D378CBBB7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15252" cy="3880773"/>
          </a:xfrm>
        </p:spPr>
        <p:txBody>
          <a:bodyPr>
            <a:normAutofit/>
          </a:bodyPr>
          <a:lstStyle/>
          <a:p>
            <a:pPr algn="just"/>
            <a:r>
              <a:rPr lang="en-PH" sz="2800" dirty="0"/>
              <a:t>A 300 KW alternator has an efficiency of 90% at full load. Calculate the power losses. </a:t>
            </a:r>
            <a:endParaRPr lang="en-US" sz="2800" i="1" dirty="0">
              <a:solidFill>
                <a:srgbClr val="FF0000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27E28-9CE3-4281-B38B-A78E2D757975}"/>
              </a:ext>
            </a:extLst>
          </p:cNvPr>
          <p:cNvSpPr txBox="1"/>
          <p:nvPr/>
        </p:nvSpPr>
        <p:spPr>
          <a:xfrm>
            <a:off x="1092432" y="5407665"/>
            <a:ext cx="9259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840202"/>
                </a:solidFill>
                <a:latin typeface="Arial Narrow" panose="020B0606020202030204" pitchFamily="34" charset="0"/>
                <a:cs typeface="Arial" panose="020B0604020202020204" pitchFamily="34" charset="0"/>
              </a:rPr>
              <a:t>ANSWER: </a:t>
            </a:r>
            <a:r>
              <a:rPr lang="en-US" sz="2800" b="1" dirty="0">
                <a:solidFill>
                  <a:srgbClr val="FFB000"/>
                </a:solidFill>
                <a:latin typeface="Arial Narrow" panose="020B0606020202030204" pitchFamily="34" charset="0"/>
                <a:cs typeface="Arial" panose="020B0604020202020204" pitchFamily="34" charset="0"/>
              </a:rPr>
              <a:t>B </a:t>
            </a:r>
            <a:r>
              <a:rPr lang="en-PH" dirty="0">
                <a:latin typeface="Arial Narrow" panose="020B0606020202030204" pitchFamily="34" charset="0"/>
                <a:cs typeface="Arial" panose="020B0604020202020204" pitchFamily="34" charset="0"/>
              </a:rPr>
              <a:t>	</a:t>
            </a:r>
            <a:r>
              <a:rPr lang="en-PH" dirty="0">
                <a:solidFill>
                  <a:srgbClr val="FFB000"/>
                </a:solidFill>
                <a:latin typeface="Arial Narrow" panose="020B0606020202030204" pitchFamily="34" charset="0"/>
                <a:cs typeface="Arial" panose="020B0604020202020204" pitchFamily="34" charset="0"/>
              </a:rPr>
              <a:t>			</a:t>
            </a:r>
            <a:endParaRPr lang="en-PH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456144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A.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210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𝑘𝑊</m:t>
                              </m:r>
                            </m:oMath>
                          </a14:m>
                          <a:r>
                            <a:rPr lang="en-PH" sz="2800" kern="1200" dirty="0">
                              <a:solidFill>
                                <a:srgbClr val="FFB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C.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263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𝑘𝑊</m:t>
                              </m:r>
                            </m:oMath>
                          </a14:m>
                          <a:r>
                            <a:rPr lang="en-PH" sz="2800" kern="1200" dirty="0">
                              <a:solidFill>
                                <a:srgbClr val="FFB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B.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33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𝑘𝑊</m:t>
                              </m:r>
                            </m:oMath>
                          </a14:m>
                          <a:r>
                            <a:rPr lang="en-PH" sz="2800" kern="1200" dirty="0">
                              <a:solidFill>
                                <a:srgbClr val="FFB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rgbClr val="840202"/>
                              </a:solidFill>
                              <a:latin typeface="Arial Narrow" panose="020B0606020202030204" pitchFamily="34" charset="0"/>
                            </a:rPr>
                            <a:t>D.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90</m:t>
                              </m:r>
                              <m:r>
                                <a:rPr lang="en-PH" sz="2800" i="1" kern="1200" smtClean="0">
                                  <a:solidFill>
                                    <a:srgbClr val="FFB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𝑘𝑊</m:t>
                              </m:r>
                            </m:oMath>
                          </a14:m>
                          <a:r>
                            <a:rPr lang="en-PH" sz="2800" kern="1200" dirty="0">
                              <a:solidFill>
                                <a:srgbClr val="FFB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endParaRPr lang="en-PH" sz="2800" b="0" dirty="0">
                            <a:solidFill>
                              <a:srgbClr val="FFB000"/>
                            </a:solidFill>
                            <a:latin typeface="Arial Narrow" panose="020B0606020202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58035992-2F82-4BDB-BF16-DFB2FD205F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4561444"/>
                  </p:ext>
                </p:extLst>
              </p:nvPr>
            </p:nvGraphicFramePr>
            <p:xfrm>
              <a:off x="1092432" y="4141156"/>
              <a:ext cx="10261368" cy="10363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140588">
                      <a:extLst>
                        <a:ext uri="{9D8B030D-6E8A-4147-A177-3AD203B41FA5}">
                          <a16:colId xmlns:a16="http://schemas.microsoft.com/office/drawing/2014/main" val="1687645108"/>
                        </a:ext>
                      </a:extLst>
                    </a:gridCol>
                    <a:gridCol w="5120780">
                      <a:extLst>
                        <a:ext uri="{9D8B030D-6E8A-4147-A177-3AD203B41FA5}">
                          <a16:colId xmlns:a16="http://schemas.microsoft.com/office/drawing/2014/main" val="2798258818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1628" r="-99526" b="-1302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6" t="-11628" b="-1302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37761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12941" r="-99526" b="-3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6" t="-112941" b="-3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2545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2350348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334" y="1597881"/>
                <a:ext cx="9115252" cy="388077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PH" sz="2800" dirty="0"/>
                  <a:t>Solution: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𝑜𝑢𝑡𝑝𝑢𝑡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</a:rPr>
                      <m:t>=300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𝑘𝑊</m:t>
                    </m:r>
                  </m:oMath>
                </a14:m>
                <a:r>
                  <a:rPr lang="en-PH" sz="2800" dirty="0"/>
                  <a:t> 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𝐸𝑓𝑓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.=</m:t>
                    </m:r>
                    <m:f>
                      <m:f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PH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PH" sz="2800" i="1">
                                <a:latin typeface="Cambria Math" panose="02040503050406030204" pitchFamily="18" charset="0"/>
                              </a:rPr>
                              <m:t>𝑜𝑢𝑡𝑝𝑢𝑡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PH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PH" sz="2800" i="1">
                                <a:latin typeface="Cambria Math" panose="02040503050406030204" pitchFamily="18" charset="0"/>
                              </a:rPr>
                              <m:t>𝑖𝑛𝑝𝑢𝑡</m:t>
                            </m:r>
                          </m:sub>
                        </m:sSub>
                      </m:den>
                    </m:f>
                    <m:r>
                      <a:rPr lang="en-PH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PH" sz="28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300</m:t>
                        </m:r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𝑘𝑊</m:t>
                        </m:r>
                      </m:num>
                      <m:den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90</m:t>
                        </m:r>
                      </m:den>
                    </m:f>
                    <m:r>
                      <a:rPr lang="en-PH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100=333.33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𝑘𝑊</m:t>
                    </m:r>
                  </m:oMath>
                </a14:m>
                <a:endParaRPr lang="en-PH" sz="2800" dirty="0"/>
              </a:p>
              <a:p>
                <a:pPr marL="0" indent="0">
                  <a:buNone/>
                </a:pPr>
                <a:r>
                  <a:rPr lang="en-PH" sz="2800" dirty="0"/>
                  <a:t>	</a:t>
                </a: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</a:rPr>
                      <m:t>𝐸𝑓𝑓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.=90%</m:t>
                    </m:r>
                  </m:oMath>
                </a14:m>
                <a:r>
                  <a:rPr lang="en-PH" sz="28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𝑙𝑜𝑠𝑠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𝑜𝑢𝑡𝑝𝑢𝑡</m:t>
                        </m:r>
                      </m:sub>
                    </m:sSub>
                  </m:oMath>
                </a14:m>
                <a:r>
                  <a:rPr lang="en-PH" sz="2800" dirty="0"/>
                  <a:t>    </a:t>
                </a:r>
              </a:p>
              <a:p>
                <a:pPr marL="0" indent="0">
                  <a:buNone/>
                </a:pPr>
                <a:r>
                  <a:rPr lang="en-PH" sz="2800" dirty="0"/>
                  <a:t>		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i="1">
                            <a:latin typeface="Cambria Math" panose="02040503050406030204" pitchFamily="18" charset="0"/>
                          </a:rPr>
                          <m:t>𝑙𝑜𝑠𝑠</m:t>
                        </m:r>
                      </m:sub>
                    </m:sSub>
                    <m:r>
                      <a:rPr lang="en-PH" sz="2800" i="1">
                        <a:latin typeface="Cambria Math" panose="02040503050406030204" pitchFamily="18" charset="0"/>
                      </a:rPr>
                      <m:t>=333.33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𝑘𝑊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=300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𝑘𝑊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=33</m:t>
                    </m:r>
                    <m:r>
                      <a:rPr lang="en-PH" sz="2800" i="1">
                        <a:latin typeface="Cambria Math" panose="02040503050406030204" pitchFamily="18" charset="0"/>
                      </a:rPr>
                      <m:t>𝑘𝑊</m:t>
                    </m:r>
                  </m:oMath>
                </a14:m>
                <a:r>
                  <a:rPr lang="en-PH" sz="2800" dirty="0"/>
                  <a:t> </a:t>
                </a:r>
              </a:p>
              <a:p>
                <a:endParaRPr lang="en-US" sz="2800" i="1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D4AB62E-D26E-4901-855F-D378CBBB7E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334" y="1597881"/>
                <a:ext cx="9115252" cy="3880773"/>
              </a:xfrm>
              <a:blipFill>
                <a:blip r:embed="rId2"/>
                <a:stretch>
                  <a:fillRect l="-1338" t="-172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3AA884A8-C211-4BF5-855A-DD372DC90C6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05FA88-3CE9-4E48-A7DB-A2B6D2091FBF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24AD00-5956-82BC-8661-F655B9100534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73882337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5EFA890-A2CD-4C71-8E45-354C53F1F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85395" y="2766218"/>
            <a:ext cx="12176894" cy="1325563"/>
          </a:xfrm>
        </p:spPr>
        <p:txBody>
          <a:bodyPr>
            <a:normAutofit/>
          </a:bodyPr>
          <a:lstStyle/>
          <a:p>
            <a:pPr algn="ctr"/>
            <a:r>
              <a:rPr lang="en-US" sz="4500" b="1" dirty="0">
                <a:solidFill>
                  <a:srgbClr val="840202"/>
                </a:solidFill>
                <a:latin typeface="Arial Black" panose="020B0A04020102020204" pitchFamily="34" charset="0"/>
              </a:rPr>
              <a:t>GOODLUCK! </a:t>
            </a:r>
            <a:r>
              <a:rPr kumimoji="0" lang="en-PH" sz="6000" u="none" strike="noStrike" kern="1200" cap="none" spc="0" normalizeH="0" baseline="0" noProof="0" dirty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uLnTx/>
                <a:uFillTx/>
                <a:latin typeface="Freestyle Script" panose="030804020302050B0404" pitchFamily="66" charset="0"/>
              </a:rPr>
              <a:t>Future </a:t>
            </a:r>
            <a:r>
              <a:rPr kumimoji="0" lang="en-PH" sz="4500" u="none" strike="noStrike" kern="1200" cap="none" spc="0" normalizeH="0" baseline="0" noProof="0" dirty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rial Black" panose="020B0A04020102020204" pitchFamily="34" charset="0"/>
              </a:rPr>
              <a:t>AB </a:t>
            </a:r>
            <a:r>
              <a:rPr lang="en-US" sz="4500" b="1" dirty="0">
                <a:solidFill>
                  <a:srgbClr val="FFB000"/>
                </a:solidFill>
                <a:latin typeface="Arial Black" panose="020B0A04020102020204" pitchFamily="34" charset="0"/>
              </a:rPr>
              <a:t>Engineers</a:t>
            </a:r>
            <a:endParaRPr lang="en-PH" sz="4500" b="1" dirty="0">
              <a:solidFill>
                <a:srgbClr val="840202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DB2A43-BBD8-4BCC-9331-04F828B2725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1" t="2892" r="22078" b="43373"/>
          <a:stretch/>
        </p:blipFill>
        <p:spPr>
          <a:xfrm>
            <a:off x="11072191" y="91440"/>
            <a:ext cx="1063797" cy="103632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9AA00C1-E67C-460D-9234-4EA9779F02C6}"/>
              </a:ext>
            </a:extLst>
          </p:cNvPr>
          <p:cNvSpPr txBox="1"/>
          <p:nvPr/>
        </p:nvSpPr>
        <p:spPr>
          <a:xfrm rot="5400000">
            <a:off x="8085665" y="3105835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PREPARED &amp; PRESENTED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ENGR. JOHN VINCENT A. NATE, M.Sc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5EB42C-1439-1FF0-71BD-C006E3189C23}"/>
              </a:ext>
            </a:extLst>
          </p:cNvPr>
          <p:cNvSpPr txBox="1"/>
          <p:nvPr/>
        </p:nvSpPr>
        <p:spPr>
          <a:xfrm>
            <a:off x="551187" y="56153"/>
            <a:ext cx="8848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40202"/>
                </a:solidFill>
                <a:latin typeface="Impact" panose="020B0806030902050204" pitchFamily="34" charset="0"/>
              </a:rPr>
              <a:t>ATTRTC Iligan – Agricultural and Biosystems Engineers Licensure Examination (ABELE) Review  </a:t>
            </a:r>
          </a:p>
        </p:txBody>
      </p:sp>
    </p:spTree>
    <p:extLst>
      <p:ext uri="{BB962C8B-B14F-4D97-AF65-F5344CB8AC3E}">
        <p14:creationId xmlns:p14="http://schemas.microsoft.com/office/powerpoint/2010/main" val="189877785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Custom 12">
      <a:majorFont>
        <a:latin typeface="Trebuchet MS"/>
        <a:ea typeface=""/>
        <a:cs typeface=""/>
      </a:majorFont>
      <a:minorFont>
        <a:latin typeface="Arial Narrow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2397</TotalTime>
  <Words>10903</Words>
  <Application>Microsoft Macintosh PowerPoint</Application>
  <PresentationFormat>Widescreen</PresentationFormat>
  <Paragraphs>1372</Paragraphs>
  <Slides>133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133</vt:i4>
      </vt:variant>
    </vt:vector>
  </HeadingPairs>
  <TitlesOfParts>
    <vt:vector size="142" baseType="lpstr">
      <vt:lpstr>Arial</vt:lpstr>
      <vt:lpstr>Arial Black</vt:lpstr>
      <vt:lpstr>Arial Narrow</vt:lpstr>
      <vt:lpstr>Cambria Math</vt:lpstr>
      <vt:lpstr>Freestyle Script</vt:lpstr>
      <vt:lpstr>Impact</vt:lpstr>
      <vt:lpstr>Trebuchet MS</vt:lpstr>
      <vt:lpstr>Wingdings 3</vt:lpstr>
      <vt:lpstr>Facet</vt:lpstr>
      <vt:lpstr>ABELE AREA III</vt:lpstr>
      <vt:lpstr>ABELE Recalled Questions</vt:lpstr>
      <vt:lpstr>QUESTION (Agricultural Buildings and Structures) </vt:lpstr>
      <vt:lpstr>QUESTION (Agricultural Buildings and Structures) </vt:lpstr>
      <vt:lpstr>QUESTION (Agricultural Buildings and Structures)  </vt:lpstr>
      <vt:lpstr>QUESTION (Agricultural Buildings and Structures)  </vt:lpstr>
      <vt:lpstr>QUESTION (Environment Engineering)</vt:lpstr>
      <vt:lpstr>QUESTION (Environment Engineering)</vt:lpstr>
      <vt:lpstr>QUESTION (Agricultural and Bioprocess Engineering)</vt:lpstr>
      <vt:lpstr>QUESTION (Agricultural and Bioprocess Engineering)</vt:lpstr>
      <vt:lpstr>QUESTION (Agricultural and Bioprocess Engineering)</vt:lpstr>
      <vt:lpstr>QUESTION (Agricultural and Bioprocess Engineering)</vt:lpstr>
      <vt:lpstr>QUESTION (Agricultural and Bioprocess Engineering)</vt:lpstr>
      <vt:lpstr>QUESTION (Agricultural and Bioprocess Engineering)</vt:lpstr>
      <vt:lpstr>QUESTION (Agricultural Buildings and Structures) </vt:lpstr>
      <vt:lpstr>QUESTION (Environment Engineering) </vt:lpstr>
      <vt:lpstr>QUESTION (Agricultural and Bioprocess Engineering)</vt:lpstr>
      <vt:lpstr>QUESTION (Agricultural Buildings and Structures) </vt:lpstr>
      <vt:lpstr>QUESTION (Engineering Drawing)</vt:lpstr>
      <vt:lpstr>QUESTION (Farm Electrification) </vt:lpstr>
      <vt:lpstr>QUESTION (Food Engineering) </vt:lpstr>
      <vt:lpstr>QUESTION (Refrigeration Engineering)  </vt:lpstr>
      <vt:lpstr>QUESTION (Thermodynamics) </vt:lpstr>
      <vt:lpstr>QUESTION (Heat Transfer) </vt:lpstr>
      <vt:lpstr>QUESTION (Heat Transfer) </vt:lpstr>
      <vt:lpstr>QUESTION (Farm Electrification) </vt:lpstr>
      <vt:lpstr>QUESTION (Farm Electrification) </vt:lpstr>
      <vt:lpstr>QUESTION (Farm Electrification) </vt:lpstr>
      <vt:lpstr>QUESTION (Food Engineering) </vt:lpstr>
      <vt:lpstr>QUESTION (Engineering Drawing) </vt:lpstr>
      <vt:lpstr>QUESTION (Heat Transfer) </vt:lpstr>
      <vt:lpstr>QUESTION (Forest Engineering) </vt:lpstr>
      <vt:lpstr>QUESTION (Farm Electrification) </vt:lpstr>
      <vt:lpstr>QUESTION (Agricultural Buildings and Structures)   </vt:lpstr>
      <vt:lpstr>QUESTION (Environment Engineering) </vt:lpstr>
      <vt:lpstr>QUESTION (Computer Application)</vt:lpstr>
      <vt:lpstr>QUESTION (Computer Application)</vt:lpstr>
      <vt:lpstr>QUESTION (Computer Application) </vt:lpstr>
      <vt:lpstr>QUESTION (Farm Electrification) </vt:lpstr>
      <vt:lpstr>QUESTION (Renewable Energy) </vt:lpstr>
      <vt:lpstr>QUESTION (Agricultural Buildings and Structures) </vt:lpstr>
      <vt:lpstr>QUESTION (Thermodynamics) </vt:lpstr>
      <vt:lpstr>QUESTION (Heat Transfer) </vt:lpstr>
      <vt:lpstr>QUESTION (Heat Transfer) </vt:lpstr>
      <vt:lpstr>QUESTION (Heat Transfer) </vt:lpstr>
      <vt:lpstr>QUESTION (Heat Transfer) </vt:lpstr>
      <vt:lpstr>QUESTION (Farm Electrification) </vt:lpstr>
      <vt:lpstr>QUESTION (Farm Electrification) </vt:lpstr>
      <vt:lpstr>QUESTION (Renewable Energy) </vt:lpstr>
      <vt:lpstr>QUESTION (Mechanics) </vt:lpstr>
      <vt:lpstr>QUESTION (Agricultural Buildings and Structures) </vt:lpstr>
      <vt:lpstr>QUESTION (Environment Engineering)</vt:lpstr>
      <vt:lpstr>QUESTION (Environment Engineering) </vt:lpstr>
      <vt:lpstr>QUESTION (Farm Electrification) </vt:lpstr>
      <vt:lpstr>QUESTION (Agricultural Buildings and Structures)  </vt:lpstr>
      <vt:lpstr>QUESTION (Agricultural Buildings and Structures) </vt:lpstr>
      <vt:lpstr>QUESTION (Renewable Energy) </vt:lpstr>
      <vt:lpstr>QUESTION (Renewable Energy) </vt:lpstr>
      <vt:lpstr>QUESTION (Agricultural Buildings and Structures) </vt:lpstr>
      <vt:lpstr>QUESTION (Farm Electrification) </vt:lpstr>
      <vt:lpstr>QUESTION (Agricultural and Bioprocess Engineering) </vt:lpstr>
      <vt:lpstr>QUESTION (Farm Electrification)</vt:lpstr>
      <vt:lpstr>QUESTION (Environment Engineering) </vt:lpstr>
      <vt:lpstr>QUESTION (Agricultural Buildings and Structures) </vt:lpstr>
      <vt:lpstr>QUESTION (Agricultural Buildings and Structures)</vt:lpstr>
      <vt:lpstr>QUESTION (Refrigeration Engineering) </vt:lpstr>
      <vt:lpstr>QUESTION (Refrigeration Engineering) </vt:lpstr>
      <vt:lpstr>QUESTION (Refrigeration Engineering) </vt:lpstr>
      <vt:lpstr>QUESTION (Refrigeration Engineering) </vt:lpstr>
      <vt:lpstr>QUESTION (Refrigeration Engineering) </vt:lpstr>
      <vt:lpstr>QUESTION (Refrigeration Engineering) </vt:lpstr>
      <vt:lpstr>QUESTION (Agricultural and Bioprocess Engineering) </vt:lpstr>
      <vt:lpstr>QUESTION (Renewable Energy) </vt:lpstr>
      <vt:lpstr>QUESTION (Agricultural and Bioprocess Engineering) </vt:lpstr>
      <vt:lpstr>QUESTION (Agricultural and Bioprocess Engineering) </vt:lpstr>
      <vt:lpstr>QUESTION (Renewable Energy) </vt:lpstr>
      <vt:lpstr>QUESTION (Renewable Energy) </vt:lpstr>
      <vt:lpstr>QUESTION (Renewable Energy) </vt:lpstr>
      <vt:lpstr>QUESTION (Strength of Materials)</vt:lpstr>
      <vt:lpstr>QUESTION (Strength of Materials)</vt:lpstr>
      <vt:lpstr>QUESTION (Strength of Materials)</vt:lpstr>
      <vt:lpstr>QUESTION (Strength of Materials)</vt:lpstr>
      <vt:lpstr>QUESTION (Farm Electrification)</vt:lpstr>
      <vt:lpstr>QUESTION (Strength of Materials)</vt:lpstr>
      <vt:lpstr>QUESTION (Environment Engineering) </vt:lpstr>
      <vt:lpstr>QUESTION (Renewable Energy) </vt:lpstr>
      <vt:lpstr>QUESTION (Renewable Energy) </vt:lpstr>
      <vt:lpstr>QUESTION (Renewable Energy) </vt:lpstr>
      <vt:lpstr>QUESTION (Renewable Energy) </vt:lpstr>
      <vt:lpstr>QUESTION (Renewable Energy) </vt:lpstr>
      <vt:lpstr>QUESTION (Renewable Energy) </vt:lpstr>
      <vt:lpstr>QUESTION (Renewable Energy) </vt:lpstr>
      <vt:lpstr>QUESTION (Renewable Energy) </vt:lpstr>
      <vt:lpstr>QUESTION (Forest Engineering) </vt:lpstr>
      <vt:lpstr>QUESTION (Forest Engineering) </vt:lpstr>
      <vt:lpstr>QUESTION (Agricultural Buildings and Structures)</vt:lpstr>
      <vt:lpstr>QUESTION (Agricultural Buildings and Structures)</vt:lpstr>
      <vt:lpstr>QUESTION (AB Power Engineering) </vt:lpstr>
      <vt:lpstr>QUESTION (AB Power Engineering) </vt:lpstr>
      <vt:lpstr>QUESTION (AB Power Engineering)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PowerPoint Presentation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PowerPoint Presentation</vt:lpstr>
      <vt:lpstr>QUESTION (Area 3: Recalled Problems) </vt:lpstr>
      <vt:lpstr>QUESTION (Area 3: Recalled Problems) </vt:lpstr>
      <vt:lpstr>QUESTION (Area 3: Recalled Problems) </vt:lpstr>
      <vt:lpstr>QUESTION (Area 3: Recalled Problems) </vt:lpstr>
      <vt:lpstr>PowerPoint Presentation</vt:lpstr>
      <vt:lpstr>GOODLUCK! Future AB Engineers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fffAUTOMATION</dc:title>
  <dc:creator>Engr. John Vincent A. Nate</dc:creator>
  <cp:lastModifiedBy>John Vincent Nate</cp:lastModifiedBy>
  <cp:revision>287</cp:revision>
  <dcterms:created xsi:type="dcterms:W3CDTF">2024-06-21T00:30:09Z</dcterms:created>
  <dcterms:modified xsi:type="dcterms:W3CDTF">2025-09-02T09:38:43Z</dcterms:modified>
</cp:coreProperties>
</file>